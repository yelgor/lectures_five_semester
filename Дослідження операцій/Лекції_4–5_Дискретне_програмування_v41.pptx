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33d0030c3c4238" /><Relationship Type="http://schemas.openxmlformats.org/officeDocument/2006/relationships/extended-properties" Target="/docProps/app.xml" Id="R7769438d15da42ff" /><Relationship Type="http://schemas.openxmlformats.org/officeDocument/2006/relationships/officeDocument" Target="/ppt/presentation.xml" Id="Re0502af39658412d" /></Relationships>
</file>

<file path=ppt/presentation.xml><?xml version="1.0" encoding="utf-8"?>
<p:presentation xmlns:p="http://schemas.openxmlformats.org/presentationml/2006/main">
  <p:sldMasterIdLst>
    <p:sldMasterId xmlns:r="http://schemas.openxmlformats.org/officeDocument/2006/relationships" id="2147483648" r:id="R3f85e5df3e3a4afd"/>
  </p:sldMasterIdLst>
  <p:notesMasterIdLst>
    <p:notesMasterId xmlns:r="http://schemas.openxmlformats.org/officeDocument/2006/relationships" r:id="Rc6d22f6944e6411f"/>
  </p:notesMasterIdLst>
  <p:sldIdLst>
    <p:sldId xmlns:r="http://schemas.openxmlformats.org/officeDocument/2006/relationships" id="256" r:id="R56dff627b46a40ee"/>
    <p:sldId xmlns:r="http://schemas.openxmlformats.org/officeDocument/2006/relationships" id="257" r:id="Rcca9e9503b0e493e"/>
    <p:sldId xmlns:r="http://schemas.openxmlformats.org/officeDocument/2006/relationships" id="258" r:id="R05f3b1a04d184c9d"/>
    <p:sldId xmlns:r="http://schemas.openxmlformats.org/officeDocument/2006/relationships" id="259" r:id="R3f1f834067c7455c"/>
    <p:sldId xmlns:r="http://schemas.openxmlformats.org/officeDocument/2006/relationships" id="260" r:id="R8551723777904956"/>
    <p:sldId xmlns:r="http://schemas.openxmlformats.org/officeDocument/2006/relationships" id="261" r:id="R7b7f51d66fe24966"/>
    <p:sldId xmlns:r="http://schemas.openxmlformats.org/officeDocument/2006/relationships" id="262" r:id="Radf68063063a4207"/>
    <p:sldId xmlns:r="http://schemas.openxmlformats.org/officeDocument/2006/relationships" id="263" r:id="R2441292c78c04925"/>
    <p:sldId xmlns:r="http://schemas.openxmlformats.org/officeDocument/2006/relationships" id="264" r:id="R26b8e22dc9754d24"/>
    <p:sldId xmlns:r="http://schemas.openxmlformats.org/officeDocument/2006/relationships" id="265" r:id="Rbbe01d9cb2b742ca"/>
    <p:sldId xmlns:r="http://schemas.openxmlformats.org/officeDocument/2006/relationships" id="266" r:id="R651a8bc66d694a11"/>
    <p:sldId xmlns:r="http://schemas.openxmlformats.org/officeDocument/2006/relationships" id="267" r:id="R1a57983e7afb4b9a"/>
    <p:sldId xmlns:r="http://schemas.openxmlformats.org/officeDocument/2006/relationships" id="268" r:id="R592dc4bb4b354317"/>
    <p:sldId xmlns:r="http://schemas.openxmlformats.org/officeDocument/2006/relationships" id="269" r:id="Rc6c658e2d84940b0"/>
    <p:sldId xmlns:r="http://schemas.openxmlformats.org/officeDocument/2006/relationships" id="270" r:id="R6061b26de3b8436b"/>
    <p:sldId xmlns:r="http://schemas.openxmlformats.org/officeDocument/2006/relationships" id="271" r:id="R92b396e3717d492c"/>
    <p:sldId xmlns:r="http://schemas.openxmlformats.org/officeDocument/2006/relationships" id="272" r:id="R561a9658af8d4a9b"/>
    <p:sldId xmlns:r="http://schemas.openxmlformats.org/officeDocument/2006/relationships" id="273" r:id="Rf725417823ff4a8f"/>
    <p:sldId xmlns:r="http://schemas.openxmlformats.org/officeDocument/2006/relationships" id="274" r:id="R2bd390eaa1994293"/>
    <p:sldId xmlns:r="http://schemas.openxmlformats.org/officeDocument/2006/relationships" id="275" r:id="Rf3e47419ff2f42a7"/>
    <p:sldId xmlns:r="http://schemas.openxmlformats.org/officeDocument/2006/relationships" id="276" r:id="R99a0270d43f14491"/>
    <p:sldId xmlns:r="http://schemas.openxmlformats.org/officeDocument/2006/relationships" id="277" r:id="R9bcbeca4392b40a5"/>
    <p:sldId xmlns:r="http://schemas.openxmlformats.org/officeDocument/2006/relationships" id="278" r:id="Rab2f394c68ba4084"/>
    <p:sldId xmlns:r="http://schemas.openxmlformats.org/officeDocument/2006/relationships" id="279" r:id="Rb92cd623357f4080"/>
    <p:sldId xmlns:r="http://schemas.openxmlformats.org/officeDocument/2006/relationships" id="280" r:id="Rb8d43db744f24f8a"/>
    <p:sldId xmlns:r="http://schemas.openxmlformats.org/officeDocument/2006/relationships" id="281" r:id="R4c85a03f961540fe"/>
    <p:sldId xmlns:r="http://schemas.openxmlformats.org/officeDocument/2006/relationships" id="282" r:id="Rd2301f77f6c941ea"/>
    <p:sldId xmlns:r="http://schemas.openxmlformats.org/officeDocument/2006/relationships" id="283" r:id="R0d7161687b654a5d"/>
    <p:sldId xmlns:r="http://schemas.openxmlformats.org/officeDocument/2006/relationships" id="284" r:id="Rb99fceca607047fd"/>
    <p:sldId xmlns:r="http://schemas.openxmlformats.org/officeDocument/2006/relationships" id="285" r:id="Rce3ae446f1504665"/>
    <p:sldId xmlns:r="http://schemas.openxmlformats.org/officeDocument/2006/relationships" id="286" r:id="Ra6fe577644eb47c9"/>
    <p:sldId xmlns:r="http://schemas.openxmlformats.org/officeDocument/2006/relationships" id="287" r:id="R70ceedaa22a14ae9"/>
    <p:sldId xmlns:r="http://schemas.openxmlformats.org/officeDocument/2006/relationships" id="288" r:id="R7600248562714468"/>
    <p:sldId xmlns:r="http://schemas.openxmlformats.org/officeDocument/2006/relationships" id="289" r:id="R9c5623599cb34c54"/>
    <p:sldId xmlns:r="http://schemas.openxmlformats.org/officeDocument/2006/relationships" id="290" r:id="Rf4ac90a83b994e35"/>
    <p:sldId xmlns:r="http://schemas.openxmlformats.org/officeDocument/2006/relationships" id="291" r:id="Red63806cb6004f64"/>
    <p:sldId xmlns:r="http://schemas.openxmlformats.org/officeDocument/2006/relationships" id="292" r:id="R0e75b40fea364593"/>
    <p:sldId xmlns:r="http://schemas.openxmlformats.org/officeDocument/2006/relationships" id="293" r:id="R6e54348108a3475f"/>
    <p:sldId xmlns:r="http://schemas.openxmlformats.org/officeDocument/2006/relationships" id="294" r:id="Refbe8971bacb4375"/>
    <p:sldId xmlns:r="http://schemas.openxmlformats.org/officeDocument/2006/relationships" id="295" r:id="R7ff02620dfef4a8f"/>
    <p:sldId xmlns:r="http://schemas.openxmlformats.org/officeDocument/2006/relationships" id="296" r:id="R8a54fa4e67fa4e8a"/>
    <p:sldId xmlns:r="http://schemas.openxmlformats.org/officeDocument/2006/relationships" id="297" r:id="R6377dc1f50eb4b8f"/>
    <p:sldId xmlns:r="http://schemas.openxmlformats.org/officeDocument/2006/relationships" id="298" r:id="R2b74428a28cd4dbb"/>
    <p:sldId xmlns:r="http://schemas.openxmlformats.org/officeDocument/2006/relationships" id="299" r:id="Rfbf47f83ff194148"/>
    <p:sldId xmlns:r="http://schemas.openxmlformats.org/officeDocument/2006/relationships" id="300" r:id="Reaf2bd876cac431e"/>
    <p:sldId xmlns:r="http://schemas.openxmlformats.org/officeDocument/2006/relationships" id="301" r:id="R685c7666d37643c0"/>
    <p:sldId xmlns:r="http://schemas.openxmlformats.org/officeDocument/2006/relationships" id="302" r:id="Re96e937539bf48d9"/>
    <p:sldId xmlns:r="http://schemas.openxmlformats.org/officeDocument/2006/relationships" id="303" r:id="R01af9ad4a95640b6"/>
    <p:sldId xmlns:r="http://schemas.openxmlformats.org/officeDocument/2006/relationships" id="304" r:id="R30161d46832b42fc"/>
    <p:sldId xmlns:r="http://schemas.openxmlformats.org/officeDocument/2006/relationships" id="305" r:id="Ra760384eeed748ff"/>
    <p:sldId xmlns:r="http://schemas.openxmlformats.org/officeDocument/2006/relationships" id="306" r:id="R3f30d80f2a0c4112"/>
    <p:sldId xmlns:r="http://schemas.openxmlformats.org/officeDocument/2006/relationships" id="307" r:id="Rdbb841b8d9a04db3"/>
    <p:sldId xmlns:r="http://schemas.openxmlformats.org/officeDocument/2006/relationships" id="308" r:id="Rb68790ed87894565"/>
    <p:sldId xmlns:r="http://schemas.openxmlformats.org/officeDocument/2006/relationships" id="309" r:id="Re01457b4a8924db9"/>
    <p:sldId xmlns:r="http://schemas.openxmlformats.org/officeDocument/2006/relationships" id="310" r:id="R2682251e57254514"/>
    <p:sldId xmlns:r="http://schemas.openxmlformats.org/officeDocument/2006/relationships" id="311" r:id="R6633506b755946d1"/>
    <p:sldId xmlns:r="http://schemas.openxmlformats.org/officeDocument/2006/relationships" id="312" r:id="R27f211b5f6444f0f"/>
    <p:sldId xmlns:r="http://schemas.openxmlformats.org/officeDocument/2006/relationships" id="313" r:id="R0bd6f9ee78c44859"/>
    <p:sldId xmlns:r="http://schemas.openxmlformats.org/officeDocument/2006/relationships" id="314" r:id="Re2fd359926b048c4"/>
    <p:sldId xmlns:r="http://schemas.openxmlformats.org/officeDocument/2006/relationships" id="315" r:id="R6df5946fb860465e"/>
    <p:sldId xmlns:r="http://schemas.openxmlformats.org/officeDocument/2006/relationships" id="316" r:id="R21173a0974de4f40"/>
    <p:sldId xmlns:r="http://schemas.openxmlformats.org/officeDocument/2006/relationships" id="317" r:id="Rba92b737464e4e05"/>
    <p:sldId xmlns:r="http://schemas.openxmlformats.org/officeDocument/2006/relationships" id="318" r:id="R207f034f603444bd"/>
    <p:sldId xmlns:r="http://schemas.openxmlformats.org/officeDocument/2006/relationships" id="319" r:id="R70c7c5bb09d542de"/>
    <p:sldId xmlns:r="http://schemas.openxmlformats.org/officeDocument/2006/relationships" id="320" r:id="Rd11135cc36494cad"/>
    <p:sldId xmlns:r="http://schemas.openxmlformats.org/officeDocument/2006/relationships" id="321" r:id="Rb1502359afed4d2c"/>
    <p:sldId xmlns:r="http://schemas.openxmlformats.org/officeDocument/2006/relationships" id="322" r:id="R143975551ada44f0"/>
    <p:sldId xmlns:r="http://schemas.openxmlformats.org/officeDocument/2006/relationships" id="323" r:id="R90ebb0dd87074fd1"/>
    <p:sldId xmlns:r="http://schemas.openxmlformats.org/officeDocument/2006/relationships" id="324" r:id="R4a8eb23bc7d74894"/>
    <p:sldId xmlns:r="http://schemas.openxmlformats.org/officeDocument/2006/relationships" id="325" r:id="Rbcc91544d99242fb"/>
    <p:sldId xmlns:r="http://schemas.openxmlformats.org/officeDocument/2006/relationships" id="326" r:id="Rf0d5db3987604a2b"/>
    <p:sldId xmlns:r="http://schemas.openxmlformats.org/officeDocument/2006/relationships" id="327" r:id="Rec6d6e24dbc2430a"/>
    <p:sldId xmlns:r="http://schemas.openxmlformats.org/officeDocument/2006/relationships" id="328" r:id="Re10810f0b1eb4ca8"/>
    <p:sldId xmlns:r="http://schemas.openxmlformats.org/officeDocument/2006/relationships" id="329" r:id="R5ef3210511414d48"/>
    <p:sldId xmlns:r="http://schemas.openxmlformats.org/officeDocument/2006/relationships" id="330" r:id="Rdc48ba2d393c4c32"/>
    <p:sldId xmlns:r="http://schemas.openxmlformats.org/officeDocument/2006/relationships" id="331" r:id="R695e7581d01546c6"/>
    <p:sldId xmlns:r="http://schemas.openxmlformats.org/officeDocument/2006/relationships" id="332" r:id="Refdb4881c6fc4819"/>
    <p:sldId xmlns:r="http://schemas.openxmlformats.org/officeDocument/2006/relationships" id="333" r:id="R94d5019de1e64e5d"/>
    <p:sldId xmlns:r="http://schemas.openxmlformats.org/officeDocument/2006/relationships" id="334" r:id="R3ec2f0233b7a4f76"/>
    <p:sldId xmlns:r="http://schemas.openxmlformats.org/officeDocument/2006/relationships" id="335" r:id="R570b33f7b55a4c07"/>
    <p:sldId xmlns:r="http://schemas.openxmlformats.org/officeDocument/2006/relationships" id="336" r:id="R2f1fedc7fcb44b47"/>
    <p:sldId xmlns:r="http://schemas.openxmlformats.org/officeDocument/2006/relationships" id="337" r:id="R31251a5b62d04302"/>
    <p:sldId xmlns:r="http://schemas.openxmlformats.org/officeDocument/2006/relationships" id="338" r:id="R1df6249ad43a437b"/>
    <p:sldId xmlns:r="http://schemas.openxmlformats.org/officeDocument/2006/relationships" id="339" r:id="R7b7ef25f905b4058"/>
    <p:sldId xmlns:r="http://schemas.openxmlformats.org/officeDocument/2006/relationships" id="340" r:id="Rf9fe15e1f12f4f90"/>
    <p:sldId xmlns:r="http://schemas.openxmlformats.org/officeDocument/2006/relationships" id="341" r:id="R1c88a3744e9e4072"/>
    <p:sldId xmlns:r="http://schemas.openxmlformats.org/officeDocument/2006/relationships" id="342" r:id="R92d724f58bb14e63"/>
    <p:sldId xmlns:r="http://schemas.openxmlformats.org/officeDocument/2006/relationships" id="343" r:id="R4d97a88433564b82"/>
    <p:sldId xmlns:r="http://schemas.openxmlformats.org/officeDocument/2006/relationships" id="344" r:id="R5332d3b29e564acf"/>
    <p:sldId xmlns:r="http://schemas.openxmlformats.org/officeDocument/2006/relationships" id="345" r:id="Rcfb6afc476a84f1c"/>
    <p:sldId xmlns:r="http://schemas.openxmlformats.org/officeDocument/2006/relationships" id="346" r:id="R93431b6f32004e34"/>
    <p:sldId xmlns:r="http://schemas.openxmlformats.org/officeDocument/2006/relationships" id="347" r:id="Re80f54ccf3c34391"/>
    <p:sldId xmlns:r="http://schemas.openxmlformats.org/officeDocument/2006/relationships" id="348" r:id="R9e8aeecf50ac45da"/>
    <p:sldId xmlns:r="http://schemas.openxmlformats.org/officeDocument/2006/relationships" id="349" r:id="Rc8c36e666b0a4007"/>
    <p:sldId xmlns:r="http://schemas.openxmlformats.org/officeDocument/2006/relationships" id="350" r:id="R1e04256a5498460d"/>
    <p:sldId xmlns:r="http://schemas.openxmlformats.org/officeDocument/2006/relationships" id="351" r:id="Rb92820bbe810432d"/>
    <p:sldId xmlns:r="http://schemas.openxmlformats.org/officeDocument/2006/relationships" id="352" r:id="R58339412c37c4be4"/>
    <p:sldId xmlns:r="http://schemas.openxmlformats.org/officeDocument/2006/relationships" id="353" r:id="R900fb55919994ab0"/>
    <p:sldId xmlns:r="http://schemas.openxmlformats.org/officeDocument/2006/relationships" id="354" r:id="R0115d7c70d5a44a6"/>
    <p:sldId xmlns:r="http://schemas.openxmlformats.org/officeDocument/2006/relationships" id="355" r:id="R5ee36b5a900d47c8"/>
    <p:sldId xmlns:r="http://schemas.openxmlformats.org/officeDocument/2006/relationships" id="356" r:id="R119ee3f16e67424f"/>
    <p:sldId xmlns:r="http://schemas.openxmlformats.org/officeDocument/2006/relationships" id="357" r:id="R69b1d0b516f44e47"/>
    <p:sldId xmlns:r="http://schemas.openxmlformats.org/officeDocument/2006/relationships" id="358" r:id="R6b0a42f9ca88454c"/>
    <p:sldId xmlns:r="http://schemas.openxmlformats.org/officeDocument/2006/relationships" id="359" r:id="R7a34d0feba4a41b2"/>
    <p:sldId xmlns:r="http://schemas.openxmlformats.org/officeDocument/2006/relationships" id="360" r:id="R3b424b550e984f6f"/>
    <p:sldId xmlns:r="http://schemas.openxmlformats.org/officeDocument/2006/relationships" id="361" r:id="Rf5727ff6a1c34b65"/>
    <p:sldId xmlns:r="http://schemas.openxmlformats.org/officeDocument/2006/relationships" id="362" r:id="R730ba6eb9e49462c"/>
    <p:sldId xmlns:r="http://schemas.openxmlformats.org/officeDocument/2006/relationships" id="363" r:id="R1b9e8013d5b74669"/>
    <p:sldId xmlns:r="http://schemas.openxmlformats.org/officeDocument/2006/relationships" id="364" r:id="R154dbe6a6738471c"/>
    <p:sldId xmlns:r="http://schemas.openxmlformats.org/officeDocument/2006/relationships" id="365" r:id="R19436b9a45094e55"/>
    <p:sldId xmlns:r="http://schemas.openxmlformats.org/officeDocument/2006/relationships" id="366" r:id="Rb3cdcf003cf04001"/>
    <p:sldId xmlns:r="http://schemas.openxmlformats.org/officeDocument/2006/relationships" id="367" r:id="R543cecdc4bd148f8"/>
    <p:sldId xmlns:r="http://schemas.openxmlformats.org/officeDocument/2006/relationships" id="368" r:id="Ra6bbff68fd4048dc"/>
    <p:sldId xmlns:r="http://schemas.openxmlformats.org/officeDocument/2006/relationships" id="369" r:id="R6481f0c145db4aa9"/>
    <p:sldId xmlns:r="http://schemas.openxmlformats.org/officeDocument/2006/relationships" id="370" r:id="Rf772917d4d5f434e"/>
    <p:sldId xmlns:r="http://schemas.openxmlformats.org/officeDocument/2006/relationships" id="371" r:id="R666b5bac4b344ecf"/>
    <p:sldId xmlns:r="http://schemas.openxmlformats.org/officeDocument/2006/relationships" id="372" r:id="Rd4a4548f108748b0"/>
    <p:sldId xmlns:r="http://schemas.openxmlformats.org/officeDocument/2006/relationships" id="373" r:id="R9dd7457a356d46a9"/>
    <p:sldId xmlns:r="http://schemas.openxmlformats.org/officeDocument/2006/relationships" id="374" r:id="Rcf850682b51f4b4a"/>
    <p:sldId xmlns:r="http://schemas.openxmlformats.org/officeDocument/2006/relationships" id="375" r:id="Rd6fc9f141ebe4524"/>
    <p:sldId xmlns:r="http://schemas.openxmlformats.org/officeDocument/2006/relationships" id="376" r:id="Rdab825a0171e41e6"/>
    <p:sldId xmlns:r="http://schemas.openxmlformats.org/officeDocument/2006/relationships" id="377" r:id="Rf5ff12a5a01641de"/>
    <p:sldId xmlns:r="http://schemas.openxmlformats.org/officeDocument/2006/relationships" id="378" r:id="Ra0a1b65e7a8243bd"/>
    <p:sldId xmlns:r="http://schemas.openxmlformats.org/officeDocument/2006/relationships" id="379" r:id="R756202132b554132"/>
    <p:sldId xmlns:r="http://schemas.openxmlformats.org/officeDocument/2006/relationships" id="380" r:id="R7ed58603e35f4a2a"/>
    <p:sldId xmlns:r="http://schemas.openxmlformats.org/officeDocument/2006/relationships" id="381" r:id="Ra84ee085db13443b"/>
    <p:sldId xmlns:r="http://schemas.openxmlformats.org/officeDocument/2006/relationships" id="382" r:id="R4ba285f30969433e"/>
    <p:sldId xmlns:r="http://schemas.openxmlformats.org/officeDocument/2006/relationships" id="383" r:id="R3b1a594ddb8748a9"/>
    <p:sldId xmlns:r="http://schemas.openxmlformats.org/officeDocument/2006/relationships" id="384" r:id="R5264c0651ce446d8"/>
    <p:sldId xmlns:r="http://schemas.openxmlformats.org/officeDocument/2006/relationships" id="385" r:id="R29344f6476984b1b"/>
    <p:sldId xmlns:r="http://schemas.openxmlformats.org/officeDocument/2006/relationships" id="386" r:id="R852c9c624a6f445e"/>
    <p:sldId xmlns:r="http://schemas.openxmlformats.org/officeDocument/2006/relationships" id="387" r:id="R0bb2bb464cb045e2"/>
    <p:sldId xmlns:r="http://schemas.openxmlformats.org/officeDocument/2006/relationships" id="388" r:id="R1942b5e682954d02"/>
    <p:sldId xmlns:r="http://schemas.openxmlformats.org/officeDocument/2006/relationships" id="389" r:id="R67775de67cad42b4"/>
    <p:sldId xmlns:r="http://schemas.openxmlformats.org/officeDocument/2006/relationships" id="390" r:id="Rae0cac8743364b5f"/>
    <p:sldId xmlns:r="http://schemas.openxmlformats.org/officeDocument/2006/relationships" id="391" r:id="R58b1b2fea6c64f06"/>
    <p:sldId xmlns:r="http://schemas.openxmlformats.org/officeDocument/2006/relationships" id="392" r:id="R90c1b41a96254e0e"/>
    <p:sldId xmlns:r="http://schemas.openxmlformats.org/officeDocument/2006/relationships" id="393" r:id="R0b4c9b449ead42bb"/>
    <p:sldId xmlns:r="http://schemas.openxmlformats.org/officeDocument/2006/relationships" id="394" r:id="Rfbd10a6776a14d4c"/>
    <p:sldId xmlns:r="http://schemas.openxmlformats.org/officeDocument/2006/relationships" id="395" r:id="Ra78cfc7a3bb64292"/>
    <p:sldId xmlns:r="http://schemas.openxmlformats.org/officeDocument/2006/relationships" id="396" r:id="R98bcf79b0fa04cf7"/>
    <p:sldId xmlns:r="http://schemas.openxmlformats.org/officeDocument/2006/relationships" id="397" r:id="R304e4a04aa7b4498"/>
    <p:sldId xmlns:r="http://schemas.openxmlformats.org/officeDocument/2006/relationships" id="398" r:id="R2e34581ea97f4d36"/>
    <p:sldId xmlns:r="http://schemas.openxmlformats.org/officeDocument/2006/relationships" id="399" r:id="Rc792e8b6257443a8"/>
    <p:sldId xmlns:r="http://schemas.openxmlformats.org/officeDocument/2006/relationships" id="400" r:id="R130df3d4fdcd4401"/>
    <p:sldId xmlns:r="http://schemas.openxmlformats.org/officeDocument/2006/relationships" id="401" r:id="Rcfe6ebf9d86f4123"/>
    <p:sldId xmlns:r="http://schemas.openxmlformats.org/officeDocument/2006/relationships" id="402" r:id="R93d33da41a794b90"/>
    <p:sldId xmlns:r="http://schemas.openxmlformats.org/officeDocument/2006/relationships" id="403" r:id="R100938ef1a7445b1"/>
    <p:sldId xmlns:r="http://schemas.openxmlformats.org/officeDocument/2006/relationships" id="404" r:id="R30ba4353306d46b0"/>
    <p:sldId xmlns:r="http://schemas.openxmlformats.org/officeDocument/2006/relationships" id="405" r:id="Ra209f2539f4d4eb9"/>
    <p:sldId xmlns:r="http://schemas.openxmlformats.org/officeDocument/2006/relationships" id="406" r:id="Rc18baa320a91432e"/>
  </p:sldIdLst>
  <p:sldSz cx="12192000" cy="6858000"/>
  <p:notesSz cx="6858000" cy="9144000"/>
  <p:custShowLst>
    <p:custShow name="Лекція 4" id="1">
      <p:sldLst>
        <p:sld xmlns:ns1="http://schemas.openxmlformats.org/officeDocument/2006/relationships" ns1:id="R56dff627b46a40ee"/>
        <p:sld xmlns:ns2="http://schemas.openxmlformats.org/officeDocument/2006/relationships" ns2:id="Rcca9e9503b0e493e"/>
        <p:sld xmlns:ns3="http://schemas.openxmlformats.org/officeDocument/2006/relationships" ns3:id="R3f1f834067c7455c"/>
        <p:sld xmlns:ns4="http://schemas.openxmlformats.org/officeDocument/2006/relationships" ns4:id="R8551723777904956"/>
        <p:sld xmlns:ns5="http://schemas.openxmlformats.org/officeDocument/2006/relationships" ns5:id="R7b7f51d66fe24966"/>
        <p:sld xmlns:ns6="http://schemas.openxmlformats.org/officeDocument/2006/relationships" ns6:id="Radf68063063a4207"/>
        <p:sld xmlns:ns7="http://schemas.openxmlformats.org/officeDocument/2006/relationships" ns7:id="R2441292c78c04925"/>
        <p:sld xmlns:ns8="http://schemas.openxmlformats.org/officeDocument/2006/relationships" ns8:id="R26b8e22dc9754d24"/>
        <p:sld xmlns:ns9="http://schemas.openxmlformats.org/officeDocument/2006/relationships" ns9:id="Rbbe01d9cb2b742ca"/>
        <p:sld xmlns:ns10="http://schemas.openxmlformats.org/officeDocument/2006/relationships" ns10:id="R651a8bc66d694a11"/>
        <p:sld xmlns:ns11="http://schemas.openxmlformats.org/officeDocument/2006/relationships" ns11:id="R1a57983e7afb4b9a"/>
        <p:sld xmlns:ns12="http://schemas.openxmlformats.org/officeDocument/2006/relationships" ns12:id="R592dc4bb4b354317"/>
        <p:sld xmlns:ns13="http://schemas.openxmlformats.org/officeDocument/2006/relationships" ns13:id="Rc6c658e2d84940b0"/>
        <p:sld xmlns:ns14="http://schemas.openxmlformats.org/officeDocument/2006/relationships" ns14:id="R6061b26de3b8436b"/>
        <p:sld xmlns:ns15="http://schemas.openxmlformats.org/officeDocument/2006/relationships" ns15:id="R92b396e3717d492c"/>
        <p:sld xmlns:ns16="http://schemas.openxmlformats.org/officeDocument/2006/relationships" ns16:id="R561a9658af8d4a9b"/>
        <p:sld xmlns:ns17="http://schemas.openxmlformats.org/officeDocument/2006/relationships" ns17:id="Rf725417823ff4a8f"/>
        <p:sld xmlns:ns18="http://schemas.openxmlformats.org/officeDocument/2006/relationships" ns18:id="R2bd390eaa1994293"/>
        <p:sld xmlns:ns19="http://schemas.openxmlformats.org/officeDocument/2006/relationships" ns19:id="Rf3e47419ff2f42a7"/>
        <p:sld xmlns:ns20="http://schemas.openxmlformats.org/officeDocument/2006/relationships" ns20:id="R99a0270d43f14491"/>
        <p:sld xmlns:ns21="http://schemas.openxmlformats.org/officeDocument/2006/relationships" ns21:id="Rab2f394c68ba4084"/>
        <p:sld xmlns:ns22="http://schemas.openxmlformats.org/officeDocument/2006/relationships" ns22:id="Rb8d43db744f24f8a"/>
        <p:sld xmlns:ns23="http://schemas.openxmlformats.org/officeDocument/2006/relationships" ns23:id="R4c85a03f961540fe"/>
        <p:sld xmlns:ns24="http://schemas.openxmlformats.org/officeDocument/2006/relationships" ns24:id="Ra6fe577644eb47c9"/>
        <p:sld xmlns:ns25="http://schemas.openxmlformats.org/officeDocument/2006/relationships" ns25:id="R7600248562714468"/>
        <p:sld xmlns:ns26="http://schemas.openxmlformats.org/officeDocument/2006/relationships" ns26:id="R9c5623599cb34c54"/>
        <p:sld xmlns:ns27="http://schemas.openxmlformats.org/officeDocument/2006/relationships" ns27:id="Rf4ac90a83b994e35"/>
        <p:sld xmlns:ns28="http://schemas.openxmlformats.org/officeDocument/2006/relationships" ns28:id="Red63806cb6004f64"/>
      </p:sldLst>
    </p:custShow>
    <p:custShow name="Лекція 5" id="2">
      <p:sldLst>
        <p:sld xmlns:ns29="http://schemas.openxmlformats.org/officeDocument/2006/relationships" ns29:id="R0e75b40fea364593"/>
        <p:sld xmlns:ns30="http://schemas.openxmlformats.org/officeDocument/2006/relationships" ns30:id="R6e54348108a3475f"/>
        <p:sld xmlns:ns31="http://schemas.openxmlformats.org/officeDocument/2006/relationships" ns31:id="R7ff02620dfef4a8f"/>
        <p:sld xmlns:ns32="http://schemas.openxmlformats.org/officeDocument/2006/relationships" ns32:id="R8a54fa4e67fa4e8a"/>
        <p:sld xmlns:ns33="http://schemas.openxmlformats.org/officeDocument/2006/relationships" ns33:id="R6377dc1f50eb4b8f"/>
        <p:sld xmlns:ns34="http://schemas.openxmlformats.org/officeDocument/2006/relationships" ns34:id="R2b74428a28cd4dbb"/>
        <p:sld xmlns:ns35="http://schemas.openxmlformats.org/officeDocument/2006/relationships" ns35:id="Rfbf47f83ff194148"/>
        <p:sld xmlns:ns36="http://schemas.openxmlformats.org/officeDocument/2006/relationships" ns36:id="Reaf2bd876cac431e"/>
        <p:sld xmlns:ns37="http://schemas.openxmlformats.org/officeDocument/2006/relationships" ns37:id="R685c7666d37643c0"/>
        <p:sld xmlns:ns38="http://schemas.openxmlformats.org/officeDocument/2006/relationships" ns38:id="Re96e937539bf48d9"/>
        <p:sld xmlns:ns39="http://schemas.openxmlformats.org/officeDocument/2006/relationships" ns39:id="R01af9ad4a95640b6"/>
        <p:sld xmlns:ns40="http://schemas.openxmlformats.org/officeDocument/2006/relationships" ns40:id="R30161d46832b42fc"/>
        <p:sld xmlns:ns41="http://schemas.openxmlformats.org/officeDocument/2006/relationships" ns41:id="Ra760384eeed748ff"/>
        <p:sld xmlns:ns42="http://schemas.openxmlformats.org/officeDocument/2006/relationships" ns42:id="Rdbb841b8d9a04db3"/>
        <p:sld xmlns:ns43="http://schemas.openxmlformats.org/officeDocument/2006/relationships" ns43:id="Rb68790ed87894565"/>
        <p:sld xmlns:ns44="http://schemas.openxmlformats.org/officeDocument/2006/relationships" ns44:id="Re01457b4a8924db9"/>
        <p:sld xmlns:ns45="http://schemas.openxmlformats.org/officeDocument/2006/relationships" ns45:id="R2682251e57254514"/>
        <p:sld xmlns:ns46="http://schemas.openxmlformats.org/officeDocument/2006/relationships" ns46:id="R27f211b5f6444f0f"/>
        <p:sld xmlns:ns47="http://schemas.openxmlformats.org/officeDocument/2006/relationships" ns47:id="R0bd6f9ee78c44859"/>
        <p:sld xmlns:ns48="http://schemas.openxmlformats.org/officeDocument/2006/relationships" ns48:id="R143975551ada44f0"/>
        <p:sld xmlns:ns49="http://schemas.openxmlformats.org/officeDocument/2006/relationships" ns49:id="R90ebb0dd87074fd1"/>
        <p:sld xmlns:ns50="http://schemas.openxmlformats.org/officeDocument/2006/relationships" ns50:id="R4a8eb23bc7d74894"/>
        <p:sld xmlns:ns51="http://schemas.openxmlformats.org/officeDocument/2006/relationships" ns51:id="Rbcc91544d99242fb"/>
        <p:sld xmlns:ns52="http://schemas.openxmlformats.org/officeDocument/2006/relationships" ns52:id="Rf0d5db3987604a2b"/>
        <p:sld xmlns:ns53="http://schemas.openxmlformats.org/officeDocument/2006/relationships" ns53:id="Rec6d6e24dbc2430a"/>
        <p:sld xmlns:ns54="http://schemas.openxmlformats.org/officeDocument/2006/relationships" ns54:id="Re10810f0b1eb4ca8"/>
        <p:sld xmlns:ns55="http://schemas.openxmlformats.org/officeDocument/2006/relationships" ns55:id="R5ef3210511414d48"/>
        <p:sld xmlns:ns56="http://schemas.openxmlformats.org/officeDocument/2006/relationships" ns56:id="Rdc48ba2d393c4c32"/>
        <p:sld xmlns:ns57="http://schemas.openxmlformats.org/officeDocument/2006/relationships" ns57:id="R695e7581d01546c6"/>
        <p:sld xmlns:ns58="http://schemas.openxmlformats.org/officeDocument/2006/relationships" ns58:id="Refdb4881c6fc4819"/>
        <p:sld xmlns:ns59="http://schemas.openxmlformats.org/officeDocument/2006/relationships" ns59:id="R94d5019de1e64e5d"/>
        <p:sld xmlns:ns60="http://schemas.openxmlformats.org/officeDocument/2006/relationships" ns60:id="R1e04256a5498460d"/>
        <p:sld xmlns:ns61="http://schemas.openxmlformats.org/officeDocument/2006/relationships" ns61:id="Rb92820bbe810432d"/>
        <p:sld xmlns:ns62="http://schemas.openxmlformats.org/officeDocument/2006/relationships" ns62:id="R58339412c37c4be4"/>
        <p:sld xmlns:ns63="http://schemas.openxmlformats.org/officeDocument/2006/relationships" ns63:id="R119ee3f16e67424f"/>
        <p:sld xmlns:ns64="http://schemas.openxmlformats.org/officeDocument/2006/relationships" ns64:id="R69b1d0b516f44e47"/>
        <p:sld xmlns:ns65="http://schemas.openxmlformats.org/officeDocument/2006/relationships" ns65:id="R6b0a42f9ca88454c"/>
        <p:sld xmlns:ns66="http://schemas.openxmlformats.org/officeDocument/2006/relationships" ns66:id="R7a34d0feba4a41b2"/>
        <p:sld xmlns:ns67="http://schemas.openxmlformats.org/officeDocument/2006/relationships" ns67:id="R3b424b550e984f6f"/>
        <p:sld xmlns:ns68="http://schemas.openxmlformats.org/officeDocument/2006/relationships" ns68:id="Rf5727ff6a1c34b65"/>
        <p:sld xmlns:ns69="http://schemas.openxmlformats.org/officeDocument/2006/relationships" ns69:id="R154dbe6a6738471c"/>
        <p:sld xmlns:ns70="http://schemas.openxmlformats.org/officeDocument/2006/relationships" ns70:id="R19436b9a45094e55"/>
        <p:sld xmlns:ns71="http://schemas.openxmlformats.org/officeDocument/2006/relationships" ns71:id="Rb3cdcf003cf04001"/>
        <p:sld xmlns:ns72="http://schemas.openxmlformats.org/officeDocument/2006/relationships" ns72:id="R304e4a04aa7b4498"/>
      </p:sldLst>
    </p:custShow>
    <p:custShow name="Практикум" id="3">
      <p:sldLst>
        <p:sld xmlns:ns73="http://schemas.openxmlformats.org/officeDocument/2006/relationships" ns73:id="R05f3b1a04d184c9d"/>
        <p:sld xmlns:ns74="http://schemas.openxmlformats.org/officeDocument/2006/relationships" ns74:id="R9bcbeca4392b40a5"/>
        <p:sld xmlns:ns75="http://schemas.openxmlformats.org/officeDocument/2006/relationships" ns75:id="Rb92cd623357f4080"/>
        <p:sld xmlns:ns76="http://schemas.openxmlformats.org/officeDocument/2006/relationships" ns76:id="Rd2301f77f6c941ea"/>
        <p:sld xmlns:ns77="http://schemas.openxmlformats.org/officeDocument/2006/relationships" ns77:id="R0d7161687b654a5d"/>
        <p:sld xmlns:ns78="http://schemas.openxmlformats.org/officeDocument/2006/relationships" ns78:id="Rb99fceca607047fd"/>
        <p:sld xmlns:ns79="http://schemas.openxmlformats.org/officeDocument/2006/relationships" ns79:id="Rce3ae446f1504665"/>
        <p:sld xmlns:ns80="http://schemas.openxmlformats.org/officeDocument/2006/relationships" ns80:id="R70ceedaa22a14ae9"/>
        <p:sld xmlns:ns81="http://schemas.openxmlformats.org/officeDocument/2006/relationships" ns81:id="Refbe8971bacb4375"/>
        <p:sld xmlns:ns82="http://schemas.openxmlformats.org/officeDocument/2006/relationships" ns82:id="R3f30d80f2a0c4112"/>
        <p:sld xmlns:ns83="http://schemas.openxmlformats.org/officeDocument/2006/relationships" ns83:id="R6633506b755946d1"/>
        <p:sld xmlns:ns84="http://schemas.openxmlformats.org/officeDocument/2006/relationships" ns84:id="Re2fd359926b048c4"/>
        <p:sld xmlns:ns85="http://schemas.openxmlformats.org/officeDocument/2006/relationships" ns85:id="R6df5946fb860465e"/>
        <p:sld xmlns:ns86="http://schemas.openxmlformats.org/officeDocument/2006/relationships" ns86:id="R21173a0974de4f40"/>
        <p:sld xmlns:ns87="http://schemas.openxmlformats.org/officeDocument/2006/relationships" ns87:id="Rba92b737464e4e05"/>
        <p:sld xmlns:ns88="http://schemas.openxmlformats.org/officeDocument/2006/relationships" ns88:id="R207f034f603444bd"/>
        <p:sld xmlns:ns89="http://schemas.openxmlformats.org/officeDocument/2006/relationships" ns89:id="R70c7c5bb09d542de"/>
        <p:sld xmlns:ns90="http://schemas.openxmlformats.org/officeDocument/2006/relationships" ns90:id="Rd11135cc36494cad"/>
        <p:sld xmlns:ns91="http://schemas.openxmlformats.org/officeDocument/2006/relationships" ns91:id="Rb1502359afed4d2c"/>
        <p:sld xmlns:ns92="http://schemas.openxmlformats.org/officeDocument/2006/relationships" ns92:id="R3ec2f0233b7a4f76"/>
        <p:sld xmlns:ns93="http://schemas.openxmlformats.org/officeDocument/2006/relationships" ns93:id="R570b33f7b55a4c07"/>
        <p:sld xmlns:ns94="http://schemas.openxmlformats.org/officeDocument/2006/relationships" ns94:id="R2f1fedc7fcb44b47"/>
        <p:sld xmlns:ns95="http://schemas.openxmlformats.org/officeDocument/2006/relationships" ns95:id="R31251a5b62d04302"/>
        <p:sld xmlns:ns96="http://schemas.openxmlformats.org/officeDocument/2006/relationships" ns96:id="R1df6249ad43a437b"/>
        <p:sld xmlns:ns97="http://schemas.openxmlformats.org/officeDocument/2006/relationships" ns97:id="R7b7ef25f905b4058"/>
        <p:sld xmlns:ns98="http://schemas.openxmlformats.org/officeDocument/2006/relationships" ns98:id="Rf9fe15e1f12f4f90"/>
        <p:sld xmlns:ns99="http://schemas.openxmlformats.org/officeDocument/2006/relationships" ns99:id="R1c88a3744e9e4072"/>
        <p:sld xmlns:ns100="http://schemas.openxmlformats.org/officeDocument/2006/relationships" ns100:id="R730ba6eb9e49462c"/>
        <p:sld xmlns:ns101="http://schemas.openxmlformats.org/officeDocument/2006/relationships" ns101:id="R1b9e8013d5b74669"/>
        <p:sld xmlns:ns102="http://schemas.openxmlformats.org/officeDocument/2006/relationships" ns102:id="R543cecdc4bd148f8"/>
        <p:sld xmlns:ns103="http://schemas.openxmlformats.org/officeDocument/2006/relationships" ns103:id="Ra6bbff68fd4048dc"/>
        <p:sld xmlns:ns104="http://schemas.openxmlformats.org/officeDocument/2006/relationships" ns104:id="R6481f0c145db4aa9"/>
        <p:sld xmlns:ns105="http://schemas.openxmlformats.org/officeDocument/2006/relationships" ns105:id="Rf772917d4d5f434e"/>
        <p:sld xmlns:ns106="http://schemas.openxmlformats.org/officeDocument/2006/relationships" ns106:id="R666b5bac4b344ecf"/>
        <p:sld xmlns:ns107="http://schemas.openxmlformats.org/officeDocument/2006/relationships" ns107:id="Rd4a4548f108748b0"/>
        <p:sld xmlns:ns108="http://schemas.openxmlformats.org/officeDocument/2006/relationships" ns108:id="R9dd7457a356d46a9"/>
        <p:sld xmlns:ns109="http://schemas.openxmlformats.org/officeDocument/2006/relationships" ns109:id="Rcf850682b51f4b4a"/>
        <p:sld xmlns:ns110="http://schemas.openxmlformats.org/officeDocument/2006/relationships" ns110:id="Rfbd10a6776a14d4c"/>
        <p:sld xmlns:ns111="http://schemas.openxmlformats.org/officeDocument/2006/relationships" ns111:id="Ra78cfc7a3bb64292"/>
        <p:sld xmlns:ns112="http://schemas.openxmlformats.org/officeDocument/2006/relationships" ns112:id="R98bcf79b0fa04cf7"/>
      </p:sldLst>
    </p:custShow>
    <p:custShow name="Дискретне програмування" id="4">
      <p:sldLst>
        <p:sld xmlns:ns0="http://schemas.openxmlformats.org/officeDocument/2006/relationships" ns0:id="R92d724f58bb14e63"/>
        <p:sld xmlns:ns1="http://schemas.openxmlformats.org/officeDocument/2006/relationships" ns1:id="R4d97a88433564b82"/>
        <p:sld xmlns:ns2="http://schemas.openxmlformats.org/officeDocument/2006/relationships" ns2:id="R5332d3b29e564acf"/>
        <p:sld xmlns:ns3="http://schemas.openxmlformats.org/officeDocument/2006/relationships" ns3:id="Rcfb6afc476a84f1c"/>
        <p:sld xmlns:ns4="http://schemas.openxmlformats.org/officeDocument/2006/relationships" ns4:id="R93431b6f32004e34"/>
        <p:sld xmlns:ns5="http://schemas.openxmlformats.org/officeDocument/2006/relationships" ns5:id="Re80f54ccf3c34391"/>
        <p:sld xmlns:ns6="http://schemas.openxmlformats.org/officeDocument/2006/relationships" ns6:id="R9e8aeecf50ac45da"/>
        <p:sld xmlns:ns7="http://schemas.openxmlformats.org/officeDocument/2006/relationships" ns7:id="Rc8c36e666b0a4007"/>
        <p:sld xmlns:ns8="http://schemas.openxmlformats.org/officeDocument/2006/relationships" ns8:id="R1e04256a5498460d"/>
        <p:sld xmlns:ns9="http://schemas.openxmlformats.org/officeDocument/2006/relationships" ns9:id="Rb92820bbe810432d"/>
        <p:sld xmlns:ns10="http://schemas.openxmlformats.org/officeDocument/2006/relationships" ns10:id="R58339412c37c4be4"/>
        <p:sld xmlns:ns11="http://schemas.openxmlformats.org/officeDocument/2006/relationships" ns11:id="R900fb55919994ab0"/>
        <p:sld xmlns:ns12="http://schemas.openxmlformats.org/officeDocument/2006/relationships" ns12:id="R0115d7c70d5a44a6"/>
        <p:sld xmlns:ns13="http://schemas.openxmlformats.org/officeDocument/2006/relationships" ns13:id="R5ee36b5a900d47c8"/>
        <p:sld xmlns:ns14="http://schemas.openxmlformats.org/officeDocument/2006/relationships" ns14:id="R119ee3f16e67424f"/>
        <p:sld xmlns:ns15="http://schemas.openxmlformats.org/officeDocument/2006/relationships" ns15:id="R69b1d0b516f44e47"/>
        <p:sld xmlns:ns16="http://schemas.openxmlformats.org/officeDocument/2006/relationships" ns16:id="R6b0a42f9ca88454c"/>
        <p:sld xmlns:ns17="http://schemas.openxmlformats.org/officeDocument/2006/relationships" ns17:id="R7a34d0feba4a41b2"/>
        <p:sld xmlns:ns18="http://schemas.openxmlformats.org/officeDocument/2006/relationships" ns18:id="R3b424b550e984f6f"/>
        <p:sld xmlns:ns19="http://schemas.openxmlformats.org/officeDocument/2006/relationships" ns19:id="Rf5727ff6a1c34b65"/>
        <p:sld xmlns:ns20="http://schemas.openxmlformats.org/officeDocument/2006/relationships" ns20:id="R730ba6eb9e49462c"/>
        <p:sld xmlns:ns21="http://schemas.openxmlformats.org/officeDocument/2006/relationships" ns21:id="R1b9e8013d5b74669"/>
        <p:sld xmlns:ns22="http://schemas.openxmlformats.org/officeDocument/2006/relationships" ns22:id="R154dbe6a6738471c"/>
        <p:sld xmlns:ns23="http://schemas.openxmlformats.org/officeDocument/2006/relationships" ns23:id="R19436b9a45094e55"/>
        <p:sld xmlns:ns24="http://schemas.openxmlformats.org/officeDocument/2006/relationships" ns24:id="Rb3cdcf003cf04001"/>
        <p:sld xmlns:ns25="http://schemas.openxmlformats.org/officeDocument/2006/relationships" ns25:id="R543cecdc4bd148f8"/>
        <p:sld xmlns:ns26="http://schemas.openxmlformats.org/officeDocument/2006/relationships" ns26:id="Ra6bbff68fd4048dc"/>
        <p:sld xmlns:ns27="http://schemas.openxmlformats.org/officeDocument/2006/relationships" ns27:id="R6481f0c145db4aa9"/>
        <p:sld xmlns:ns28="http://schemas.openxmlformats.org/officeDocument/2006/relationships" ns28:id="Rf772917d4d5f434e"/>
        <p:sld xmlns:ns29="http://schemas.openxmlformats.org/officeDocument/2006/relationships" ns29:id="R666b5bac4b344ecf"/>
        <p:sld xmlns:ns30="http://schemas.openxmlformats.org/officeDocument/2006/relationships" ns30:id="Rd4a4548f108748b0"/>
        <p:sld xmlns:ns31="http://schemas.openxmlformats.org/officeDocument/2006/relationships" ns31:id="R9dd7457a356d46a9"/>
        <p:sld xmlns:ns32="http://schemas.openxmlformats.org/officeDocument/2006/relationships" ns32:id="Rcf850682b51f4b4a"/>
        <p:sld xmlns:ns33="http://schemas.openxmlformats.org/officeDocument/2006/relationships" ns33:id="Rd6fc9f141ebe4524"/>
        <p:sld xmlns:ns34="http://schemas.openxmlformats.org/officeDocument/2006/relationships" ns34:id="Rdab825a0171e41e6"/>
        <p:sld xmlns:ns35="http://schemas.openxmlformats.org/officeDocument/2006/relationships" ns35:id="Rf5ff12a5a01641de"/>
        <p:sld xmlns:ns36="http://schemas.openxmlformats.org/officeDocument/2006/relationships" ns36:id="Ra0a1b65e7a8243bd"/>
        <p:sld xmlns:ns37="http://schemas.openxmlformats.org/officeDocument/2006/relationships" ns37:id="R756202132b554132"/>
        <p:sld xmlns:ns38="http://schemas.openxmlformats.org/officeDocument/2006/relationships" ns38:id="R7ed58603e35f4a2a"/>
        <p:sld xmlns:ns39="http://schemas.openxmlformats.org/officeDocument/2006/relationships" ns39:id="Ra84ee085db13443b"/>
        <p:sld xmlns:ns40="http://schemas.openxmlformats.org/officeDocument/2006/relationships" ns40:id="R4ba285f30969433e"/>
        <p:sld xmlns:ns41="http://schemas.openxmlformats.org/officeDocument/2006/relationships" ns41:id="R3b1a594ddb8748a9"/>
        <p:sld xmlns:ns42="http://schemas.openxmlformats.org/officeDocument/2006/relationships" ns42:id="R5264c0651ce446d8"/>
        <p:sld xmlns:ns43="http://schemas.openxmlformats.org/officeDocument/2006/relationships" ns43:id="R29344f6476984b1b"/>
        <p:sld xmlns:ns44="http://schemas.openxmlformats.org/officeDocument/2006/relationships" ns44:id="R852c9c624a6f445e"/>
        <p:sld xmlns:ns45="http://schemas.openxmlformats.org/officeDocument/2006/relationships" ns45:id="R0bb2bb464cb045e2"/>
        <p:sld xmlns:ns46="http://schemas.openxmlformats.org/officeDocument/2006/relationships" ns46:id="R1942b5e682954d02"/>
        <p:sld xmlns:ns47="http://schemas.openxmlformats.org/officeDocument/2006/relationships" ns47:id="R67775de67cad42b4"/>
        <p:sld xmlns:ns48="http://schemas.openxmlformats.org/officeDocument/2006/relationships" ns48:id="Rae0cac8743364b5f"/>
        <p:sld xmlns:ns49="http://schemas.openxmlformats.org/officeDocument/2006/relationships" ns49:id="R58b1b2fea6c64f06"/>
        <p:sld xmlns:ns50="http://schemas.openxmlformats.org/officeDocument/2006/relationships" ns50:id="R90c1b41a96254e0e"/>
        <p:sld xmlns:ns51="http://schemas.openxmlformats.org/officeDocument/2006/relationships" ns51:id="R0b4c9b449ead42bb"/>
        <p:sld xmlns:ns52="http://schemas.openxmlformats.org/officeDocument/2006/relationships" ns52:id="R30ba4353306d46b0"/>
        <p:sld xmlns:ns53="http://schemas.openxmlformats.org/officeDocument/2006/relationships" ns53:id="Ra209f2539f4d4eb9"/>
        <p:sld xmlns:ns54="http://schemas.openxmlformats.org/officeDocument/2006/relationships" ns54:id="Rc18baa320a91432e"/>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c05c9e993a45be" /><Relationship Type="http://schemas.openxmlformats.org/officeDocument/2006/relationships/slideMaster" Target="/ppt/slideMasters/slideMaster1.xml" Id="R3f85e5df3e3a4afd" /><Relationship Type="http://schemas.openxmlformats.org/officeDocument/2006/relationships/notesMaster" Target="/ppt/notesMasters/notesMaster1.xml" Id="Rc6d22f6944e6411f" /><Relationship Type="http://schemas.openxmlformats.org/officeDocument/2006/relationships/presProps" Target="/ppt/presProps.xml" Id="Re299426f12b94530" /><Relationship Type="http://schemas.openxmlformats.org/officeDocument/2006/relationships/tableStyles" Target="/ppt/tableStyles.xml" Id="R1f629b07ade849ab" /><Relationship Type="http://schemas.openxmlformats.org/officeDocument/2006/relationships/slide" Target="/ppt/slides/slide1.xml" Id="R56dff627b46a40ee" /><Relationship Type="http://schemas.openxmlformats.org/officeDocument/2006/relationships/slide" Target="/ppt/slides/slide2.xml" Id="Rcca9e9503b0e493e" /><Relationship Type="http://schemas.openxmlformats.org/officeDocument/2006/relationships/slide" Target="/ppt/slides/slide3.xml" Id="R05f3b1a04d184c9d" /><Relationship Type="http://schemas.openxmlformats.org/officeDocument/2006/relationships/slide" Target="/ppt/slides/slide4.xml" Id="R3f1f834067c7455c" /><Relationship Type="http://schemas.openxmlformats.org/officeDocument/2006/relationships/slide" Target="/ppt/slides/slide5.xml" Id="R8551723777904956" /><Relationship Type="http://schemas.openxmlformats.org/officeDocument/2006/relationships/slide" Target="/ppt/slides/slide6.xml" Id="R7b7f51d66fe24966" /><Relationship Type="http://schemas.openxmlformats.org/officeDocument/2006/relationships/slide" Target="/ppt/slides/slide7.xml" Id="Radf68063063a4207" /><Relationship Type="http://schemas.openxmlformats.org/officeDocument/2006/relationships/slide" Target="/ppt/slides/slide8.xml" Id="R2441292c78c04925" /><Relationship Type="http://schemas.openxmlformats.org/officeDocument/2006/relationships/slide" Target="/ppt/slides/slide9.xml" Id="R26b8e22dc9754d24" /><Relationship Type="http://schemas.openxmlformats.org/officeDocument/2006/relationships/slide" Target="/ppt/slides/slide10.xml" Id="Rbbe01d9cb2b742ca" /><Relationship Type="http://schemas.openxmlformats.org/officeDocument/2006/relationships/slide" Target="/ppt/slides/slide11.xml" Id="R651a8bc66d694a11" /><Relationship Type="http://schemas.openxmlformats.org/officeDocument/2006/relationships/slide" Target="/ppt/slides/slide12.xml" Id="R1a57983e7afb4b9a" /><Relationship Type="http://schemas.openxmlformats.org/officeDocument/2006/relationships/slide" Target="/ppt/slides/slide13.xml" Id="R592dc4bb4b354317" /><Relationship Type="http://schemas.openxmlformats.org/officeDocument/2006/relationships/slide" Target="/ppt/slides/slide14.xml" Id="Rc6c658e2d84940b0" /><Relationship Type="http://schemas.openxmlformats.org/officeDocument/2006/relationships/slide" Target="/ppt/slides/slide15.xml" Id="R6061b26de3b8436b" /><Relationship Type="http://schemas.openxmlformats.org/officeDocument/2006/relationships/slide" Target="/ppt/slides/slide16.xml" Id="R92b396e3717d492c" /><Relationship Type="http://schemas.openxmlformats.org/officeDocument/2006/relationships/slide" Target="/ppt/slides/slide17.xml" Id="R561a9658af8d4a9b" /><Relationship Type="http://schemas.openxmlformats.org/officeDocument/2006/relationships/slide" Target="/ppt/slides/slide18.xml" Id="Rf725417823ff4a8f" /><Relationship Type="http://schemas.openxmlformats.org/officeDocument/2006/relationships/slide" Target="/ppt/slides/slide19.xml" Id="R2bd390eaa1994293" /><Relationship Type="http://schemas.openxmlformats.org/officeDocument/2006/relationships/slide" Target="/ppt/slides/slide20.xml" Id="Rf3e47419ff2f42a7" /><Relationship Type="http://schemas.openxmlformats.org/officeDocument/2006/relationships/slide" Target="/ppt/slides/slide21.xml" Id="R99a0270d43f14491" /><Relationship Type="http://schemas.openxmlformats.org/officeDocument/2006/relationships/slide" Target="/ppt/slides/slide22.xml" Id="R9bcbeca4392b40a5" /><Relationship Type="http://schemas.openxmlformats.org/officeDocument/2006/relationships/slide" Target="/ppt/slides/slide23.xml" Id="Rab2f394c68ba4084" /><Relationship Type="http://schemas.openxmlformats.org/officeDocument/2006/relationships/slide" Target="/ppt/slides/slide24.xml" Id="Rb92cd623357f4080" /><Relationship Type="http://schemas.openxmlformats.org/officeDocument/2006/relationships/slide" Target="/ppt/slides/slide25.xml" Id="Rb8d43db744f24f8a" /><Relationship Type="http://schemas.openxmlformats.org/officeDocument/2006/relationships/slide" Target="/ppt/slides/slide26.xml" Id="R4c85a03f961540fe" /><Relationship Type="http://schemas.openxmlformats.org/officeDocument/2006/relationships/slide" Target="/ppt/slides/slide27.xml" Id="Rd2301f77f6c941ea" /><Relationship Type="http://schemas.openxmlformats.org/officeDocument/2006/relationships/slide" Target="/ppt/slides/slide28.xml" Id="R0d7161687b654a5d" /><Relationship Type="http://schemas.openxmlformats.org/officeDocument/2006/relationships/slide" Target="/ppt/slides/slide29.xml" Id="Rb99fceca607047fd" /><Relationship Type="http://schemas.openxmlformats.org/officeDocument/2006/relationships/slide" Target="/ppt/slides/slide30.xml" Id="Rce3ae446f1504665" /><Relationship Type="http://schemas.openxmlformats.org/officeDocument/2006/relationships/slide" Target="/ppt/slides/slide31.xml" Id="Ra6fe577644eb47c9" /><Relationship Type="http://schemas.openxmlformats.org/officeDocument/2006/relationships/slide" Target="/ppt/slides/slide32.xml" Id="R70ceedaa22a14ae9" /><Relationship Type="http://schemas.openxmlformats.org/officeDocument/2006/relationships/slide" Target="/ppt/slides/slide33.xml" Id="R7600248562714468" /><Relationship Type="http://schemas.openxmlformats.org/officeDocument/2006/relationships/slide" Target="/ppt/slides/slide34.xml" Id="R9c5623599cb34c54" /><Relationship Type="http://schemas.openxmlformats.org/officeDocument/2006/relationships/slide" Target="/ppt/slides/slide35.xml" Id="Rf4ac90a83b994e35" /><Relationship Type="http://schemas.openxmlformats.org/officeDocument/2006/relationships/slide" Target="/ppt/slides/slide36.xml" Id="Red63806cb6004f64" /><Relationship Type="http://schemas.openxmlformats.org/officeDocument/2006/relationships/slide" Target="/ppt/slides/slide37.xml" Id="R0e75b40fea364593" /><Relationship Type="http://schemas.openxmlformats.org/officeDocument/2006/relationships/slide" Target="/ppt/slides/slide38.xml" Id="R6e54348108a3475f" /><Relationship Type="http://schemas.openxmlformats.org/officeDocument/2006/relationships/slide" Target="/ppt/slides/slide39.xml" Id="Refbe8971bacb4375" /><Relationship Type="http://schemas.openxmlformats.org/officeDocument/2006/relationships/slide" Target="/ppt/slides/slide40.xml" Id="R7ff02620dfef4a8f" /><Relationship Type="http://schemas.openxmlformats.org/officeDocument/2006/relationships/slide" Target="/ppt/slides/slide41.xml" Id="R8a54fa4e67fa4e8a" /><Relationship Type="http://schemas.openxmlformats.org/officeDocument/2006/relationships/slide" Target="/ppt/slides/slide42.xml" Id="R6377dc1f50eb4b8f" /><Relationship Type="http://schemas.openxmlformats.org/officeDocument/2006/relationships/slide" Target="/ppt/slides/slide43.xml" Id="R2b74428a28cd4dbb" /><Relationship Type="http://schemas.openxmlformats.org/officeDocument/2006/relationships/slide" Target="/ppt/slides/slide44.xml" Id="Rfbf47f83ff194148" /><Relationship Type="http://schemas.openxmlformats.org/officeDocument/2006/relationships/slide" Target="/ppt/slides/slide45.xml" Id="Reaf2bd876cac431e" /><Relationship Type="http://schemas.openxmlformats.org/officeDocument/2006/relationships/slide" Target="/ppt/slides/slide46.xml" Id="R685c7666d37643c0" /><Relationship Type="http://schemas.openxmlformats.org/officeDocument/2006/relationships/slide" Target="/ppt/slides/slide47.xml" Id="Re96e937539bf48d9" /><Relationship Type="http://schemas.openxmlformats.org/officeDocument/2006/relationships/slide" Target="/ppt/slides/slide48.xml" Id="R01af9ad4a95640b6" /><Relationship Type="http://schemas.openxmlformats.org/officeDocument/2006/relationships/slide" Target="/ppt/slides/slide49.xml" Id="R30161d46832b42fc" /><Relationship Type="http://schemas.openxmlformats.org/officeDocument/2006/relationships/slide" Target="/ppt/slides/slide50.xml" Id="Ra760384eeed748ff" /><Relationship Type="http://schemas.openxmlformats.org/officeDocument/2006/relationships/slide" Target="/ppt/slides/slide51.xml" Id="R3f30d80f2a0c4112" /><Relationship Type="http://schemas.openxmlformats.org/officeDocument/2006/relationships/slide" Target="/ppt/slides/slide52.xml" Id="Rdbb841b8d9a04db3" /><Relationship Type="http://schemas.openxmlformats.org/officeDocument/2006/relationships/slide" Target="/ppt/slides/slide53.xml" Id="Rb68790ed87894565" /><Relationship Type="http://schemas.openxmlformats.org/officeDocument/2006/relationships/slide" Target="/ppt/slides/slide54.xml" Id="Re01457b4a8924db9" /><Relationship Type="http://schemas.openxmlformats.org/officeDocument/2006/relationships/slide" Target="/ppt/slides/slide55.xml" Id="R2682251e57254514" /><Relationship Type="http://schemas.openxmlformats.org/officeDocument/2006/relationships/slide" Target="/ppt/slides/slide56.xml" Id="R6633506b755946d1" /><Relationship Type="http://schemas.openxmlformats.org/officeDocument/2006/relationships/slide" Target="/ppt/slides/slide57.xml" Id="R27f211b5f6444f0f" /><Relationship Type="http://schemas.openxmlformats.org/officeDocument/2006/relationships/slide" Target="/ppt/slides/slide58.xml" Id="R0bd6f9ee78c44859" /><Relationship Type="http://schemas.openxmlformats.org/officeDocument/2006/relationships/slide" Target="/ppt/slides/slide59.xml" Id="Re2fd359926b048c4" /><Relationship Type="http://schemas.openxmlformats.org/officeDocument/2006/relationships/slide" Target="/ppt/slides/slide60.xml" Id="R6df5946fb860465e" /><Relationship Type="http://schemas.openxmlformats.org/officeDocument/2006/relationships/slide" Target="/ppt/slides/slide61.xml" Id="R21173a0974de4f40" /><Relationship Type="http://schemas.openxmlformats.org/officeDocument/2006/relationships/slide" Target="/ppt/slides/slide62.xml" Id="Rba92b737464e4e05" /><Relationship Type="http://schemas.openxmlformats.org/officeDocument/2006/relationships/slide" Target="/ppt/slides/slide63.xml" Id="R207f034f603444bd" /><Relationship Type="http://schemas.openxmlformats.org/officeDocument/2006/relationships/slide" Target="/ppt/slides/slide64.xml" Id="R70c7c5bb09d542de" /><Relationship Type="http://schemas.openxmlformats.org/officeDocument/2006/relationships/slide" Target="/ppt/slides/slide65.xml" Id="Rd11135cc36494cad" /><Relationship Type="http://schemas.openxmlformats.org/officeDocument/2006/relationships/slide" Target="/ppt/slides/slide66.xml" Id="Rb1502359afed4d2c" /><Relationship Type="http://schemas.openxmlformats.org/officeDocument/2006/relationships/slide" Target="/ppt/slides/slide67.xml" Id="R143975551ada44f0" /><Relationship Type="http://schemas.openxmlformats.org/officeDocument/2006/relationships/slide" Target="/ppt/slides/slide68.xml" Id="R90ebb0dd87074fd1" /><Relationship Type="http://schemas.openxmlformats.org/officeDocument/2006/relationships/slide" Target="/ppt/slides/slide69.xml" Id="R4a8eb23bc7d74894" /><Relationship Type="http://schemas.openxmlformats.org/officeDocument/2006/relationships/slide" Target="/ppt/slides/slide70.xml" Id="Rbcc91544d99242fb" /><Relationship Type="http://schemas.openxmlformats.org/officeDocument/2006/relationships/slide" Target="/ppt/slides/slide71.xml" Id="Rf0d5db3987604a2b" /><Relationship Type="http://schemas.openxmlformats.org/officeDocument/2006/relationships/slide" Target="/ppt/slides/slide72.xml" Id="Rec6d6e24dbc2430a" /><Relationship Type="http://schemas.openxmlformats.org/officeDocument/2006/relationships/slide" Target="/ppt/slides/slide73.xml" Id="Re10810f0b1eb4ca8" /><Relationship Type="http://schemas.openxmlformats.org/officeDocument/2006/relationships/slide" Target="/ppt/slides/slide74.xml" Id="R5ef3210511414d48" /><Relationship Type="http://schemas.openxmlformats.org/officeDocument/2006/relationships/slide" Target="/ppt/slides/slide75.xml" Id="Rdc48ba2d393c4c32" /><Relationship Type="http://schemas.openxmlformats.org/officeDocument/2006/relationships/slide" Target="/ppt/slides/slide76.xml" Id="R695e7581d01546c6" /><Relationship Type="http://schemas.openxmlformats.org/officeDocument/2006/relationships/slide" Target="/ppt/slides/slide77.xml" Id="Refdb4881c6fc4819" /><Relationship Type="http://schemas.openxmlformats.org/officeDocument/2006/relationships/slide" Target="/ppt/slides/slide78.xml" Id="R94d5019de1e64e5d" /><Relationship Type="http://schemas.openxmlformats.org/officeDocument/2006/relationships/slide" Target="/ppt/slides/slide79.xml" Id="R3ec2f0233b7a4f76" /><Relationship Type="http://schemas.openxmlformats.org/officeDocument/2006/relationships/slide" Target="/ppt/slides/slide80.xml" Id="R570b33f7b55a4c07" /><Relationship Type="http://schemas.openxmlformats.org/officeDocument/2006/relationships/slide" Target="/ppt/slides/slide81.xml" Id="R2f1fedc7fcb44b47" /><Relationship Type="http://schemas.openxmlformats.org/officeDocument/2006/relationships/slide" Target="/ppt/slides/slide82.xml" Id="R31251a5b62d04302" /><Relationship Type="http://schemas.openxmlformats.org/officeDocument/2006/relationships/slide" Target="/ppt/slides/slide83.xml" Id="R1df6249ad43a437b" /><Relationship Type="http://schemas.openxmlformats.org/officeDocument/2006/relationships/slide" Target="/ppt/slides/slide84.xml" Id="R7b7ef25f905b4058" /><Relationship Type="http://schemas.openxmlformats.org/officeDocument/2006/relationships/slide" Target="/ppt/slides/slide85.xml" Id="Rf9fe15e1f12f4f90" /><Relationship Type="http://schemas.openxmlformats.org/officeDocument/2006/relationships/slide" Target="/ppt/slides/slide86.xml" Id="R1c88a3744e9e4072" /><Relationship Type="http://schemas.openxmlformats.org/officeDocument/2006/relationships/slide" Target="/ppt/slides/slide87.xml" Id="R92d724f58bb14e63" /><Relationship Type="http://schemas.openxmlformats.org/officeDocument/2006/relationships/slide" Target="/ppt/slides/slide88.xml" Id="R4d97a88433564b82" /><Relationship Type="http://schemas.openxmlformats.org/officeDocument/2006/relationships/slide" Target="/ppt/slides/slide89.xml" Id="R5332d3b29e564acf" /><Relationship Type="http://schemas.openxmlformats.org/officeDocument/2006/relationships/slide" Target="/ppt/slides/slide90.xml" Id="Rcfb6afc476a84f1c" /><Relationship Type="http://schemas.openxmlformats.org/officeDocument/2006/relationships/slide" Target="/ppt/slides/slide91.xml" Id="R93431b6f32004e34" /><Relationship Type="http://schemas.openxmlformats.org/officeDocument/2006/relationships/slide" Target="/ppt/slides/slide92.xml" Id="Re80f54ccf3c34391" /><Relationship Type="http://schemas.openxmlformats.org/officeDocument/2006/relationships/slide" Target="/ppt/slides/slide93.xml" Id="R9e8aeecf50ac45da" /><Relationship Type="http://schemas.openxmlformats.org/officeDocument/2006/relationships/slide" Target="/ppt/slides/slide94.xml" Id="Rc8c36e666b0a4007" /><Relationship Type="http://schemas.openxmlformats.org/officeDocument/2006/relationships/slide" Target="/ppt/slides/slide95.xml" Id="R1e04256a5498460d" /><Relationship Type="http://schemas.openxmlformats.org/officeDocument/2006/relationships/slide" Target="/ppt/slides/slide96.xml" Id="Rb92820bbe810432d" /><Relationship Type="http://schemas.openxmlformats.org/officeDocument/2006/relationships/slide" Target="/ppt/slides/slide97.xml" Id="R58339412c37c4be4" /><Relationship Type="http://schemas.openxmlformats.org/officeDocument/2006/relationships/slide" Target="/ppt/slides/slide98.xml" Id="R900fb55919994ab0" /><Relationship Type="http://schemas.openxmlformats.org/officeDocument/2006/relationships/slide" Target="/ppt/slides/slide99.xml" Id="R0115d7c70d5a44a6" /><Relationship Type="http://schemas.openxmlformats.org/officeDocument/2006/relationships/slide" Target="/ppt/slides/slide100.xml" Id="R5ee36b5a900d47c8" /><Relationship Type="http://schemas.openxmlformats.org/officeDocument/2006/relationships/slide" Target="/ppt/slides/slide101.xml" Id="R119ee3f16e67424f" /><Relationship Type="http://schemas.openxmlformats.org/officeDocument/2006/relationships/slide" Target="/ppt/slides/slide102.xml" Id="R69b1d0b516f44e47" /><Relationship Type="http://schemas.openxmlformats.org/officeDocument/2006/relationships/slide" Target="/ppt/slides/slide103.xml" Id="R6b0a42f9ca88454c" /><Relationship Type="http://schemas.openxmlformats.org/officeDocument/2006/relationships/slide" Target="/ppt/slides/slide104.xml" Id="R7a34d0feba4a41b2" /><Relationship Type="http://schemas.openxmlformats.org/officeDocument/2006/relationships/slide" Target="/ppt/slides/slide105.xml" Id="R3b424b550e984f6f" /><Relationship Type="http://schemas.openxmlformats.org/officeDocument/2006/relationships/slide" Target="/ppt/slides/slide106.xml" Id="Rf5727ff6a1c34b65" /><Relationship Type="http://schemas.openxmlformats.org/officeDocument/2006/relationships/slide" Target="/ppt/slides/slide107.xml" Id="R730ba6eb9e49462c" /><Relationship Type="http://schemas.openxmlformats.org/officeDocument/2006/relationships/slide" Target="/ppt/slides/slide108.xml" Id="R1b9e8013d5b74669" /><Relationship Type="http://schemas.openxmlformats.org/officeDocument/2006/relationships/slide" Target="/ppt/slides/slide109.xml" Id="R154dbe6a6738471c" /><Relationship Type="http://schemas.openxmlformats.org/officeDocument/2006/relationships/slide" Target="/ppt/slides/slide110.xml" Id="R19436b9a45094e55" /><Relationship Type="http://schemas.openxmlformats.org/officeDocument/2006/relationships/slide" Target="/ppt/slides/slide111.xml" Id="Rb3cdcf003cf04001" /><Relationship Type="http://schemas.openxmlformats.org/officeDocument/2006/relationships/slide" Target="/ppt/slides/slide112.xml" Id="R543cecdc4bd148f8" /><Relationship Type="http://schemas.openxmlformats.org/officeDocument/2006/relationships/slide" Target="/ppt/slides/slide113.xml" Id="Ra6bbff68fd4048dc" /><Relationship Type="http://schemas.openxmlformats.org/officeDocument/2006/relationships/slide" Target="/ppt/slides/slide114.xml" Id="R6481f0c145db4aa9" /><Relationship Type="http://schemas.openxmlformats.org/officeDocument/2006/relationships/slide" Target="/ppt/slides/slide115.xml" Id="Rf772917d4d5f434e" /><Relationship Type="http://schemas.openxmlformats.org/officeDocument/2006/relationships/slide" Target="/ppt/slides/slide116.xml" Id="R666b5bac4b344ecf" /><Relationship Type="http://schemas.openxmlformats.org/officeDocument/2006/relationships/slide" Target="/ppt/slides/slide117.xml" Id="Rd4a4548f108748b0" /><Relationship Type="http://schemas.openxmlformats.org/officeDocument/2006/relationships/slide" Target="/ppt/slides/slide118.xml" Id="R9dd7457a356d46a9" /><Relationship Type="http://schemas.openxmlformats.org/officeDocument/2006/relationships/slide" Target="/ppt/slides/slide119.xml" Id="Rcf850682b51f4b4a" /><Relationship Type="http://schemas.openxmlformats.org/officeDocument/2006/relationships/slide" Target="/ppt/slides/slide120.xml" Id="Rd6fc9f141ebe4524" /><Relationship Type="http://schemas.openxmlformats.org/officeDocument/2006/relationships/slide" Target="/ppt/slides/slide121.xml" Id="Rdab825a0171e41e6" /><Relationship Type="http://schemas.openxmlformats.org/officeDocument/2006/relationships/slide" Target="/ppt/slides/slide122.xml" Id="Rf5ff12a5a01641de" /><Relationship Type="http://schemas.openxmlformats.org/officeDocument/2006/relationships/slide" Target="/ppt/slides/slide123.xml" Id="Ra0a1b65e7a8243bd" /><Relationship Type="http://schemas.openxmlformats.org/officeDocument/2006/relationships/slide" Target="/ppt/slides/slide124.xml" Id="R756202132b554132" /><Relationship Type="http://schemas.openxmlformats.org/officeDocument/2006/relationships/slide" Target="/ppt/slides/slide125.xml" Id="R7ed58603e35f4a2a" /><Relationship Type="http://schemas.openxmlformats.org/officeDocument/2006/relationships/slide" Target="/ppt/slides/slide126.xml" Id="Ra84ee085db13443b" /><Relationship Type="http://schemas.openxmlformats.org/officeDocument/2006/relationships/slide" Target="/ppt/slides/slide127.xml" Id="R4ba285f30969433e" /><Relationship Type="http://schemas.openxmlformats.org/officeDocument/2006/relationships/slide" Target="/ppt/slides/slide128.xml" Id="R3b1a594ddb8748a9" /><Relationship Type="http://schemas.openxmlformats.org/officeDocument/2006/relationships/slide" Target="/ppt/slides/slide129.xml" Id="R5264c0651ce446d8" /><Relationship Type="http://schemas.openxmlformats.org/officeDocument/2006/relationships/slide" Target="/ppt/slides/slide130.xml" Id="R29344f6476984b1b" /><Relationship Type="http://schemas.openxmlformats.org/officeDocument/2006/relationships/slide" Target="/ppt/slides/slide131.xml" Id="R852c9c624a6f445e" /><Relationship Type="http://schemas.openxmlformats.org/officeDocument/2006/relationships/slide" Target="/ppt/slides/slide132.xml" Id="R0bb2bb464cb045e2" /><Relationship Type="http://schemas.openxmlformats.org/officeDocument/2006/relationships/slide" Target="/ppt/slides/slide133.xml" Id="R1942b5e682954d02" /><Relationship Type="http://schemas.openxmlformats.org/officeDocument/2006/relationships/slide" Target="/ppt/slides/slide134.xml" Id="R67775de67cad42b4" /><Relationship Type="http://schemas.openxmlformats.org/officeDocument/2006/relationships/slide" Target="/ppt/slides/slide135.xml" Id="Rae0cac8743364b5f" /><Relationship Type="http://schemas.openxmlformats.org/officeDocument/2006/relationships/slide" Target="/ppt/slides/slide136.xml" Id="R58b1b2fea6c64f06" /><Relationship Type="http://schemas.openxmlformats.org/officeDocument/2006/relationships/slide" Target="/ppt/slides/slide137.xml" Id="R90c1b41a96254e0e" /><Relationship Type="http://schemas.openxmlformats.org/officeDocument/2006/relationships/slide" Target="/ppt/slides/slide138.xml" Id="R0b4c9b449ead42bb" /><Relationship Type="http://schemas.openxmlformats.org/officeDocument/2006/relationships/slide" Target="/ppt/slides/slide139.xml" Id="Rfbd10a6776a14d4c" /><Relationship Type="http://schemas.openxmlformats.org/officeDocument/2006/relationships/slide" Target="/ppt/slides/slide140.xml" Id="Ra78cfc7a3bb64292" /><Relationship Type="http://schemas.openxmlformats.org/officeDocument/2006/relationships/slide" Target="/ppt/slides/slide141.xml" Id="R98bcf79b0fa04cf7" /><Relationship Type="http://schemas.openxmlformats.org/officeDocument/2006/relationships/slide" Target="/ppt/slides/slide142.xml" Id="R304e4a04aa7b4498" /><Relationship Type="http://schemas.openxmlformats.org/officeDocument/2006/relationships/slide" Target="/ppt/slides/slide143.xml" Id="R2e34581ea97f4d36" /><Relationship Type="http://schemas.openxmlformats.org/officeDocument/2006/relationships/slide" Target="/ppt/slides/slide144.xml" Id="Rc792e8b6257443a8" /><Relationship Type="http://schemas.openxmlformats.org/officeDocument/2006/relationships/slide" Target="/ppt/slides/slide145.xml" Id="R130df3d4fdcd4401" /><Relationship Type="http://schemas.openxmlformats.org/officeDocument/2006/relationships/slide" Target="/ppt/slides/slide146.xml" Id="Rcfe6ebf9d86f4123" /><Relationship Type="http://schemas.openxmlformats.org/officeDocument/2006/relationships/slide" Target="/ppt/slides/slide147.xml" Id="R93d33da41a794b90" /><Relationship Type="http://schemas.openxmlformats.org/officeDocument/2006/relationships/slide" Target="/ppt/slides/slide148.xml" Id="R100938ef1a7445b1" /><Relationship Type="http://schemas.openxmlformats.org/officeDocument/2006/relationships/slide" Target="/ppt/slides/slide149.xml" Id="R30ba4353306d46b0" /><Relationship Type="http://schemas.openxmlformats.org/officeDocument/2006/relationships/slide" Target="/ppt/slides/slide150.xml" Id="Ra209f2539f4d4eb9" /><Relationship Type="http://schemas.openxmlformats.org/officeDocument/2006/relationships/slide" Target="/ppt/slides/slide151.xml" Id="Rc18baa320a9143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0cfa3a049948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2922660950488c" /><Relationship Type="http://schemas.openxmlformats.org/officeDocument/2006/relationships/notesMaster" Target="/ppt/notesMasters/notesMaster1.xml" Id="R2dbeba978e124f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d4555693da4428" /><Relationship Type="http://schemas.openxmlformats.org/officeDocument/2006/relationships/notesMaster" Target="/ppt/notesMasters/notesMaster1.xml" Id="Rbdcc78c9ba864e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75a33392744a66" /><Relationship Type="http://schemas.openxmlformats.org/officeDocument/2006/relationships/notesMaster" Target="/ppt/notesMasters/notesMaster1.xml" Id="Rff59b0a9c23e46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5639b1a4f04c94" /><Relationship Type="http://schemas.openxmlformats.org/officeDocument/2006/relationships/notesMaster" Target="/ppt/notesMasters/notesMaster1.xml" Id="Rdd84b7fd78f541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8f82ff78384c55" /><Relationship Type="http://schemas.openxmlformats.org/officeDocument/2006/relationships/notesMaster" Target="/ppt/notesMasters/notesMaster1.xml" Id="R07fbf53efe1949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5fef76fd3b4984" /><Relationship Type="http://schemas.openxmlformats.org/officeDocument/2006/relationships/notesMaster" Target="/ppt/notesMasters/notesMaster1.xml" Id="R2b709ff6b96745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fd8228a4eb4d1c" /><Relationship Type="http://schemas.openxmlformats.org/officeDocument/2006/relationships/notesMaster" Target="/ppt/notesMasters/notesMaster1.xml" Id="Ra5209f331acb46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9171f2d20c4775" /><Relationship Type="http://schemas.openxmlformats.org/officeDocument/2006/relationships/notesMaster" Target="/ppt/notesMasters/notesMaster1.xml" Id="R7c4bda04b5174b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8e6e054e324fe6" /><Relationship Type="http://schemas.openxmlformats.org/officeDocument/2006/relationships/notesMaster" Target="/ppt/notesMasters/notesMaster1.xml" Id="R6d81803ec35445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beda15f80d4fe1" /><Relationship Type="http://schemas.openxmlformats.org/officeDocument/2006/relationships/notesMaster" Target="/ppt/notesMasters/notesMaster1.xml" Id="Ra71d1ac863f84b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e2ebf59a914114" /><Relationship Type="http://schemas.openxmlformats.org/officeDocument/2006/relationships/notesMaster" Target="/ppt/notesMasters/notesMaster1.xml" Id="Refaf4604cabc4b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a4bc66fe634327" /><Relationship Type="http://schemas.openxmlformats.org/officeDocument/2006/relationships/notesMaster" Target="/ppt/notesMasters/notesMaster1.xml" Id="R3b579bc379e24e4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46eaba3c344a9b" /><Relationship Type="http://schemas.openxmlformats.org/officeDocument/2006/relationships/notesMaster" Target="/ppt/notesMasters/notesMaster1.xml" Id="Rbfdf223b644d4be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4252f582c74dff" /><Relationship Type="http://schemas.openxmlformats.org/officeDocument/2006/relationships/notesMaster" Target="/ppt/notesMasters/notesMaster1.xml" Id="R37e07c66f03448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a39c0ffe9042c5" /><Relationship Type="http://schemas.openxmlformats.org/officeDocument/2006/relationships/notesMaster" Target="/ppt/notesMasters/notesMaster1.xml" Id="R8a11d541b5db49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d54faf392940ee" /><Relationship Type="http://schemas.openxmlformats.org/officeDocument/2006/relationships/notesMaster" Target="/ppt/notesMasters/notesMaster1.xml" Id="Rdac28f84634f483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b2d910f5794583" /><Relationship Type="http://schemas.openxmlformats.org/officeDocument/2006/relationships/notesMaster" Target="/ppt/notesMasters/notesMaster1.xml" Id="R718a2af929534c9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0ff8643e2864819" /><Relationship Type="http://schemas.openxmlformats.org/officeDocument/2006/relationships/notesMaster" Target="/ppt/notesMasters/notesMaster1.xml" Id="R03736311a7aa42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d3de06c46784f41" /><Relationship Type="http://schemas.openxmlformats.org/officeDocument/2006/relationships/notesMaster" Target="/ppt/notesMasters/notesMaster1.xml" Id="R134f008927a44e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7aafd6b0c044f4" /><Relationship Type="http://schemas.openxmlformats.org/officeDocument/2006/relationships/notesMaster" Target="/ppt/notesMasters/notesMaster1.xml" Id="Rdaeb3650e7ff4f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7c039c10e4445e8" /><Relationship Type="http://schemas.openxmlformats.org/officeDocument/2006/relationships/notesMaster" Target="/ppt/notesMasters/notesMaster1.xml" Id="R544aa38eee624c5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ffc0005f1bf4342" /><Relationship Type="http://schemas.openxmlformats.org/officeDocument/2006/relationships/notesMaster" Target="/ppt/notesMasters/notesMaster1.xml" Id="Rb6c7a42a045f414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9fc5600e110446a" /><Relationship Type="http://schemas.openxmlformats.org/officeDocument/2006/relationships/notesMaster" Target="/ppt/notesMasters/notesMaster1.xml" Id="R510211ebf5124a5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224102d84a94c06" /><Relationship Type="http://schemas.openxmlformats.org/officeDocument/2006/relationships/notesMaster" Target="/ppt/notesMasters/notesMaster1.xml" Id="R05cc265096b548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921ec9d3423432a" /><Relationship Type="http://schemas.openxmlformats.org/officeDocument/2006/relationships/notesMaster" Target="/ppt/notesMasters/notesMaster1.xml" Id="R56ec219a5f00442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78108e5b8804843" /><Relationship Type="http://schemas.openxmlformats.org/officeDocument/2006/relationships/notesMaster" Target="/ppt/notesMasters/notesMaster1.xml" Id="Ref1da04197354f8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161524b4414b43" /><Relationship Type="http://schemas.openxmlformats.org/officeDocument/2006/relationships/notesMaster" Target="/ppt/notesMasters/notesMaster1.xml" Id="Ra35a4e7223ad487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903d6c1cbc24b3f" /><Relationship Type="http://schemas.openxmlformats.org/officeDocument/2006/relationships/notesMaster" Target="/ppt/notesMasters/notesMaster1.xml" Id="Rd07c7792da9c41a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6431c25a6994799" /><Relationship Type="http://schemas.openxmlformats.org/officeDocument/2006/relationships/notesMaster" Target="/ppt/notesMasters/notesMaster1.xml" Id="R10f984204266471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35391c608604472" /><Relationship Type="http://schemas.openxmlformats.org/officeDocument/2006/relationships/notesMaster" Target="/ppt/notesMasters/notesMaster1.xml" Id="R1da7276840b7429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49debcd18f64ddf" /><Relationship Type="http://schemas.openxmlformats.org/officeDocument/2006/relationships/notesMaster" Target="/ppt/notesMasters/notesMaster1.xml" Id="R49324705bdcb43b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30c3c0a9f844210" /><Relationship Type="http://schemas.openxmlformats.org/officeDocument/2006/relationships/notesMaster" Target="/ppt/notesMasters/notesMaster1.xml" Id="Rcb8afb9008a94e9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8052a71b7d94846" /><Relationship Type="http://schemas.openxmlformats.org/officeDocument/2006/relationships/notesMaster" Target="/ppt/notesMasters/notesMaster1.xml" Id="Rf82cf0c2d8484cb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7d082ad90db4fca" /><Relationship Type="http://schemas.openxmlformats.org/officeDocument/2006/relationships/notesMaster" Target="/ppt/notesMasters/notesMaster1.xml" Id="Rc94a02be52f3497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5ea05e7b03541de" /><Relationship Type="http://schemas.openxmlformats.org/officeDocument/2006/relationships/notesMaster" Target="/ppt/notesMasters/notesMaster1.xml" Id="R4e8c05bc6cf54d8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97093ecf9574514" /><Relationship Type="http://schemas.openxmlformats.org/officeDocument/2006/relationships/notesMaster" Target="/ppt/notesMasters/notesMaster1.xml" Id="Ra4d8e9d12bbd4d0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fb237ec33b84bda" /><Relationship Type="http://schemas.openxmlformats.org/officeDocument/2006/relationships/notesMaster" Target="/ppt/notesMasters/notesMaster1.xml" Id="R7d415d5efd794c4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ab01aff565c43e8" /><Relationship Type="http://schemas.openxmlformats.org/officeDocument/2006/relationships/notesMaster" Target="/ppt/notesMasters/notesMaster1.xml" Id="R579b5a90494f400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2945ee499534365" /><Relationship Type="http://schemas.openxmlformats.org/officeDocument/2006/relationships/notesMaster" Target="/ppt/notesMasters/notesMaster1.xml" Id="Rc828855e5e2749e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512e715cb52489d" /><Relationship Type="http://schemas.openxmlformats.org/officeDocument/2006/relationships/notesMaster" Target="/ppt/notesMasters/notesMaster1.xml" Id="R277fd1a984fd407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bc83bd840f743d4" /><Relationship Type="http://schemas.openxmlformats.org/officeDocument/2006/relationships/notesMaster" Target="/ppt/notesMasters/notesMaster1.xml" Id="R4025b32d5c534c5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93ba923de5a4c81" /><Relationship Type="http://schemas.openxmlformats.org/officeDocument/2006/relationships/notesMaster" Target="/ppt/notesMasters/notesMaster1.xml" Id="Rd8f29a4228d944a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9da97fa1c1e4173" /><Relationship Type="http://schemas.openxmlformats.org/officeDocument/2006/relationships/notesMaster" Target="/ppt/notesMasters/notesMaster1.xml" Id="R8287fd1df8f84d2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10f8477c29b442b" /><Relationship Type="http://schemas.openxmlformats.org/officeDocument/2006/relationships/notesMaster" Target="/ppt/notesMasters/notesMaster1.xml" Id="Rc541f574a80b480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13f870d6c57435f" /><Relationship Type="http://schemas.openxmlformats.org/officeDocument/2006/relationships/notesMaster" Target="/ppt/notesMasters/notesMaster1.xml" Id="Ree3a30954e16430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7388ec7d4b643f8" /><Relationship Type="http://schemas.openxmlformats.org/officeDocument/2006/relationships/notesMaster" Target="/ppt/notesMasters/notesMaster1.xml" Id="Rae496615ef86453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699cc09e6be41fb" /><Relationship Type="http://schemas.openxmlformats.org/officeDocument/2006/relationships/notesMaster" Target="/ppt/notesMasters/notesMaster1.xml" Id="R7891becc40104f6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d44fa3544b04499" /><Relationship Type="http://schemas.openxmlformats.org/officeDocument/2006/relationships/notesMaster" Target="/ppt/notesMasters/notesMaster1.xml" Id="R3322cf73ae49493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9a9a3c6c21a4b63" /><Relationship Type="http://schemas.openxmlformats.org/officeDocument/2006/relationships/notesMaster" Target="/ppt/notesMasters/notesMaster1.xml" Id="Ra95144db1a07489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8b77277691447cd" /><Relationship Type="http://schemas.openxmlformats.org/officeDocument/2006/relationships/notesMaster" Target="/ppt/notesMasters/notesMaster1.xml" Id="Rcacd9e272b5345e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059fc988cde469d" /><Relationship Type="http://schemas.openxmlformats.org/officeDocument/2006/relationships/notesMaster" Target="/ppt/notesMasters/notesMaster1.xml" Id="R183435f9168e43e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167e289b4ce4db5" /><Relationship Type="http://schemas.openxmlformats.org/officeDocument/2006/relationships/notesMaster" Target="/ppt/notesMasters/notesMaster1.xml" Id="R705eff6c0cd74c6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ecfe641115148f6" /><Relationship Type="http://schemas.openxmlformats.org/officeDocument/2006/relationships/notesMaster" Target="/ppt/notesMasters/notesMaster1.xml" Id="Re4d2349b63f1474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3714b4c23f54bc3" /><Relationship Type="http://schemas.openxmlformats.org/officeDocument/2006/relationships/notesMaster" Target="/ppt/notesMasters/notesMaster1.xml" Id="Rb504653244dc47c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6d4730d5e5641c2" /><Relationship Type="http://schemas.openxmlformats.org/officeDocument/2006/relationships/notesMaster" Target="/ppt/notesMasters/notesMaster1.xml" Id="R561444e6f6e1404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cd7efbec50e4150" /><Relationship Type="http://schemas.openxmlformats.org/officeDocument/2006/relationships/notesMaster" Target="/ppt/notesMasters/notesMaster1.xml" Id="Rf33c6cddd5a4408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bac22a11a6f4a29" /><Relationship Type="http://schemas.openxmlformats.org/officeDocument/2006/relationships/notesMaster" Target="/ppt/notesMasters/notesMaster1.xml" Id="R8fcccf006455467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e44c4b4e4d14e6b" /><Relationship Type="http://schemas.openxmlformats.org/officeDocument/2006/relationships/notesMaster" Target="/ppt/notesMasters/notesMaster1.xml" Id="R9050245408354fb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9981e934a9f48fd" /><Relationship Type="http://schemas.openxmlformats.org/officeDocument/2006/relationships/notesMaster" Target="/ppt/notesMasters/notesMaster1.xml" Id="Rf308f88c217b438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6697c7d3d204fae" /><Relationship Type="http://schemas.openxmlformats.org/officeDocument/2006/relationships/notesMaster" Target="/ppt/notesMasters/notesMaster1.xml" Id="R308e647d8f0a4eb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fc3a683ed4a40e6" /><Relationship Type="http://schemas.openxmlformats.org/officeDocument/2006/relationships/notesMaster" Target="/ppt/notesMasters/notesMaster1.xml" Id="Rcbeba69e4969457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58c15b20cd5407f" /><Relationship Type="http://schemas.openxmlformats.org/officeDocument/2006/relationships/notesMaster" Target="/ppt/notesMasters/notesMaster1.xml" Id="Rc0b280bba25c48f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a84df94597d43b7" /><Relationship Type="http://schemas.openxmlformats.org/officeDocument/2006/relationships/notesMaster" Target="/ppt/notesMasters/notesMaster1.xml" Id="R52aebeb761964f5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409e2a15cef84a45" /><Relationship Type="http://schemas.openxmlformats.org/officeDocument/2006/relationships/notesMaster" Target="/ppt/notesMasters/notesMaster1.xml" Id="R8e0e52b1da0d4da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9e7ff74f656463d" /><Relationship Type="http://schemas.openxmlformats.org/officeDocument/2006/relationships/notesMaster" Target="/ppt/notesMasters/notesMaster1.xml" Id="R783f917e7b7d4f7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c9b449489624f4b" /><Relationship Type="http://schemas.openxmlformats.org/officeDocument/2006/relationships/notesMaster" Target="/ppt/notesMasters/notesMaster1.xml" Id="R1b5d9faefc824285"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5251a69d26d84eb3" /><Relationship Type="http://schemas.openxmlformats.org/officeDocument/2006/relationships/notesMaster" Target="/ppt/notesMasters/notesMaster1.xml" Id="R4e207a6f6e554a2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e4664e2e7b94772" /><Relationship Type="http://schemas.openxmlformats.org/officeDocument/2006/relationships/notesMaster" Target="/ppt/notesMasters/notesMaster1.xml" Id="Rff4da9cd113447b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c5684a9233446b8" /><Relationship Type="http://schemas.openxmlformats.org/officeDocument/2006/relationships/notesMaster" Target="/ppt/notesMasters/notesMaster1.xml" Id="Rf540d47cc1ee475a"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faff2b38430a477e" /><Relationship Type="http://schemas.openxmlformats.org/officeDocument/2006/relationships/notesMaster" Target="/ppt/notesMasters/notesMaster1.xml" Id="R5eb2f0e2c22746a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161ea8e186b44437" /><Relationship Type="http://schemas.openxmlformats.org/officeDocument/2006/relationships/notesMaster" Target="/ppt/notesMasters/notesMaster1.xml" Id="Rf318c64f9ca843a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25c6e1178f124cba" /><Relationship Type="http://schemas.openxmlformats.org/officeDocument/2006/relationships/notesMaster" Target="/ppt/notesMasters/notesMaster1.xml" Id="Rc2a5b7a3b18546c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18f0a0bae2464613" /><Relationship Type="http://schemas.openxmlformats.org/officeDocument/2006/relationships/notesMaster" Target="/ppt/notesMasters/notesMaster1.xml" Id="R11cfc78a1c2649af"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866ca8087d94086" /><Relationship Type="http://schemas.openxmlformats.org/officeDocument/2006/relationships/notesMaster" Target="/ppt/notesMasters/notesMaster1.xml" Id="Re5fe738a91e54720"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c875b19a9e8a494d" /><Relationship Type="http://schemas.openxmlformats.org/officeDocument/2006/relationships/notesMaster" Target="/ppt/notesMasters/notesMaster1.xml" Id="R9eec8407f051457e"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0f2fef17ef6a4ba7" /><Relationship Type="http://schemas.openxmlformats.org/officeDocument/2006/relationships/notesMaster" Target="/ppt/notesMasters/notesMaster1.xml" Id="R954f6cd4ee9548f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c1945ae5e0134acb" /><Relationship Type="http://schemas.openxmlformats.org/officeDocument/2006/relationships/notesMaster" Target="/ppt/notesMasters/notesMaster1.xml" Id="R89ce4b747737426b"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f9bfae81edd340f2" /><Relationship Type="http://schemas.openxmlformats.org/officeDocument/2006/relationships/notesMaster" Target="/ppt/notesMasters/notesMaster1.xml" Id="R9ae8a60222144817"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669b83a687f4459c" /><Relationship Type="http://schemas.openxmlformats.org/officeDocument/2006/relationships/notesMaster" Target="/ppt/notesMasters/notesMaster1.xml" Id="R555b8e96dfb14861"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52de074cec794370" /><Relationship Type="http://schemas.openxmlformats.org/officeDocument/2006/relationships/notesMaster" Target="/ppt/notesMasters/notesMaster1.xml" Id="Rfa63cc56cad84e4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619d5aff0a184d4f" /><Relationship Type="http://schemas.openxmlformats.org/officeDocument/2006/relationships/notesMaster" Target="/ppt/notesMasters/notesMaster1.xml" Id="Rfcf9b45f963e4c95"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121924ed6e2f495f" /><Relationship Type="http://schemas.openxmlformats.org/officeDocument/2006/relationships/notesMaster" Target="/ppt/notesMasters/notesMaster1.xml" Id="R191534c5fcb5401b"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dbd50d3fc8304759" /><Relationship Type="http://schemas.openxmlformats.org/officeDocument/2006/relationships/notesMaster" Target="/ppt/notesMasters/notesMaster1.xml" Id="R37a883c403cd44a2"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904b859094a43fa" /><Relationship Type="http://schemas.openxmlformats.org/officeDocument/2006/relationships/notesMaster" Target="/ppt/notesMasters/notesMaster1.xml" Id="R243409b59a344ed2"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b110991d33a74046" /><Relationship Type="http://schemas.openxmlformats.org/officeDocument/2006/relationships/notesMaster" Target="/ppt/notesMasters/notesMaster1.xml" Id="Rfb5c7588dc8a484f"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b6004d6dc8f648c4" /><Relationship Type="http://schemas.openxmlformats.org/officeDocument/2006/relationships/notesMaster" Target="/ppt/notesMasters/notesMaster1.xml" Id="Rfabe6e043c294555"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87b2da4c7d4e40cf" /><Relationship Type="http://schemas.openxmlformats.org/officeDocument/2006/relationships/notesMaster" Target="/ppt/notesMasters/notesMaster1.xml" Id="R3e60f9cb1cd940c6"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886cccce98d840e0" /><Relationship Type="http://schemas.openxmlformats.org/officeDocument/2006/relationships/notesMaster" Target="/ppt/notesMasters/notesMaster1.xml" Id="R5bc00befe74e4d11"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9c8b8e70b53a452e" /><Relationship Type="http://schemas.openxmlformats.org/officeDocument/2006/relationships/notesMaster" Target="/ppt/notesMasters/notesMaster1.xml" Id="Ra01124c0b3f849d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3643a2b5d4f0404b" /><Relationship Type="http://schemas.openxmlformats.org/officeDocument/2006/relationships/notesMaster" Target="/ppt/notesMasters/notesMaster1.xml" Id="Ra5bb94ad5bf6490c"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bc451039e1b54740" /><Relationship Type="http://schemas.openxmlformats.org/officeDocument/2006/relationships/notesMaster" Target="/ppt/notesMasters/notesMaster1.xml" Id="Rdd7ff2819b6e485a"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65735e335207447c" /><Relationship Type="http://schemas.openxmlformats.org/officeDocument/2006/relationships/notesMaster" Target="/ppt/notesMasters/notesMaster1.xml" Id="R78092405497144e9"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9a83e752f76c41b6" /><Relationship Type="http://schemas.openxmlformats.org/officeDocument/2006/relationships/notesMaster" Target="/ppt/notesMasters/notesMaster1.xml" Id="R0f59b2bd3be24fe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857e39e1c4cd44df" /><Relationship Type="http://schemas.openxmlformats.org/officeDocument/2006/relationships/notesMaster" Target="/ppt/notesMasters/notesMaster1.xml" Id="R113a0b2253d34c76"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399db56c7ed04ca2" /><Relationship Type="http://schemas.openxmlformats.org/officeDocument/2006/relationships/notesMaster" Target="/ppt/notesMasters/notesMaster1.xml" Id="R72599983ac5d4d4f"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9f2b77d667624c43" /><Relationship Type="http://schemas.openxmlformats.org/officeDocument/2006/relationships/notesMaster" Target="/ppt/notesMasters/notesMaster1.xml" Id="Ra9332c1924b34e49"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20145f7d95fe4028" /><Relationship Type="http://schemas.openxmlformats.org/officeDocument/2006/relationships/notesMaster" Target="/ppt/notesMasters/notesMaster1.xml" Id="R86798967bce34209"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140a4290ef4b45a6" /><Relationship Type="http://schemas.openxmlformats.org/officeDocument/2006/relationships/notesMaster" Target="/ppt/notesMasters/notesMaster1.xml" Id="R8548c4082ec54edc"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76a09a0f08ee4e2c" /><Relationship Type="http://schemas.openxmlformats.org/officeDocument/2006/relationships/notesMaster" Target="/ppt/notesMasters/notesMaster1.xml" Id="Ra93a9aec3c114a96"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1ff61dc7502d4c8c" /><Relationship Type="http://schemas.openxmlformats.org/officeDocument/2006/relationships/notesMaster" Target="/ppt/notesMasters/notesMaster1.xml" Id="Rdadac719d35b4956"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2d64667c2fb348c0" /><Relationship Type="http://schemas.openxmlformats.org/officeDocument/2006/relationships/notesMaster" Target="/ppt/notesMasters/notesMaster1.xml" Id="Rc02fc2be1d56474b"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042524a3f5f24d18" /><Relationship Type="http://schemas.openxmlformats.org/officeDocument/2006/relationships/notesMaster" Target="/ppt/notesMasters/notesMaster1.xml" Id="Rc54e8acacf2b4a54"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95d49362588342c2" /><Relationship Type="http://schemas.openxmlformats.org/officeDocument/2006/relationships/notesMaster" Target="/ppt/notesMasters/notesMaster1.xml" Id="Rdbf9704dd04948fa"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2d67b48a4e4e47e0" /><Relationship Type="http://schemas.openxmlformats.org/officeDocument/2006/relationships/notesMaster" Target="/ppt/notesMasters/notesMaster1.xml" Id="Rdaa8f19dc52c456d"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2ae4f2e080c0456b" /><Relationship Type="http://schemas.openxmlformats.org/officeDocument/2006/relationships/notesMaster" Target="/ppt/notesMasters/notesMaster1.xml" Id="Rc48ca24c1a3441c1"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34c4bf8dd4794387" /><Relationship Type="http://schemas.openxmlformats.org/officeDocument/2006/relationships/notesMaster" Target="/ppt/notesMasters/notesMaster1.xml" Id="R2d4f4589729a4ea9"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a9af17e6e717416b" /><Relationship Type="http://schemas.openxmlformats.org/officeDocument/2006/relationships/notesMaster" Target="/ppt/notesMasters/notesMaster1.xml" Id="R7d5ebdba7fc24e50"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55bb7821fb1c413b" /><Relationship Type="http://schemas.openxmlformats.org/officeDocument/2006/relationships/notesMaster" Target="/ppt/notesMasters/notesMaster1.xml" Id="R46739cd1eec44c05"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9bb3d1722eca4073" /><Relationship Type="http://schemas.openxmlformats.org/officeDocument/2006/relationships/notesMaster" Target="/ppt/notesMasters/notesMaster1.xml" Id="R34a28efead0443ca"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d37abedcb226467c" /><Relationship Type="http://schemas.openxmlformats.org/officeDocument/2006/relationships/notesMaster" Target="/ppt/notesMasters/notesMaster1.xml" Id="Rbeb49751619c44b4"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c85b272f91824a5a" /><Relationship Type="http://schemas.openxmlformats.org/officeDocument/2006/relationships/notesMaster" Target="/ppt/notesMasters/notesMaster1.xml" Id="R39569f05fb5e4c8f"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fa34e8e7e3514af8" /><Relationship Type="http://schemas.openxmlformats.org/officeDocument/2006/relationships/notesMaster" Target="/ppt/notesMasters/notesMaster1.xml" Id="R6b0cef06e39c46d6"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34d94f820fb14e33" /><Relationship Type="http://schemas.openxmlformats.org/officeDocument/2006/relationships/notesMaster" Target="/ppt/notesMasters/notesMaster1.xml" Id="R6045494e98bc4614"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9ba9a97ae7774307" /><Relationship Type="http://schemas.openxmlformats.org/officeDocument/2006/relationships/notesMaster" Target="/ppt/notesMasters/notesMaster1.xml" Id="R927f91a6b23d4012"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d32b16c0194f4447" /><Relationship Type="http://schemas.openxmlformats.org/officeDocument/2006/relationships/notesMaster" Target="/ppt/notesMasters/notesMaster1.xml" Id="R7161b4af9eed490c"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ab91ea4747c4ec2" /><Relationship Type="http://schemas.openxmlformats.org/officeDocument/2006/relationships/notesMaster" Target="/ppt/notesMasters/notesMaster1.xml" Id="Rae6bfb159bc6414a"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5b5532b875c74d17" /><Relationship Type="http://schemas.openxmlformats.org/officeDocument/2006/relationships/notesMaster" Target="/ppt/notesMasters/notesMaster1.xml" Id="R83df25934bd74b89"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81087b8b82aa4819" /><Relationship Type="http://schemas.openxmlformats.org/officeDocument/2006/relationships/notesMaster" Target="/ppt/notesMasters/notesMaster1.xml" Id="Re29ab12f691a41e4"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4481df250c564b07" /><Relationship Type="http://schemas.openxmlformats.org/officeDocument/2006/relationships/notesMaster" Target="/ppt/notesMasters/notesMaster1.xml" Id="R0c1fd8d58700431b"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f0af2bc04273476a" /><Relationship Type="http://schemas.openxmlformats.org/officeDocument/2006/relationships/notesMaster" Target="/ppt/notesMasters/notesMaster1.xml" Id="R29f9f63be4c046f0"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4523562742034b5f" /><Relationship Type="http://schemas.openxmlformats.org/officeDocument/2006/relationships/notesMaster" Target="/ppt/notesMasters/notesMaster1.xml" Id="Rfd8479c53fe44d7d"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7902003e0c5d465d" /><Relationship Type="http://schemas.openxmlformats.org/officeDocument/2006/relationships/notesMaster" Target="/ppt/notesMasters/notesMaster1.xml" Id="R42c794f15749439f"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d0de638398134387" /><Relationship Type="http://schemas.openxmlformats.org/officeDocument/2006/relationships/notesMaster" Target="/ppt/notesMasters/notesMaster1.xml" Id="R47dc98ec84994d53"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43789bc6ed8047aa" /><Relationship Type="http://schemas.openxmlformats.org/officeDocument/2006/relationships/notesMaster" Target="/ppt/notesMasters/notesMaster1.xml" Id="R35826ff1d143476e"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5ae8e53cc06f4c24" /><Relationship Type="http://schemas.openxmlformats.org/officeDocument/2006/relationships/notesMaster" Target="/ppt/notesMasters/notesMaster1.xml" Id="R092ee19513544765"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9e9ca43827834e7e" /><Relationship Type="http://schemas.openxmlformats.org/officeDocument/2006/relationships/notesMaster" Target="/ppt/notesMasters/notesMaster1.xml" Id="Rc2e7eeecc3074c72"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2b99aa36800743ac" /><Relationship Type="http://schemas.openxmlformats.org/officeDocument/2006/relationships/notesMaster" Target="/ppt/notesMasters/notesMaster1.xml" Id="Rd2b53f4fd3b64ad4"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ce9c6ba0ea264a92" /><Relationship Type="http://schemas.openxmlformats.org/officeDocument/2006/relationships/notesMaster" Target="/ppt/notesMasters/notesMaster1.xml" Id="R52467fc1fec64a6d"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cdce8071e2794250" /><Relationship Type="http://schemas.openxmlformats.org/officeDocument/2006/relationships/notesMaster" Target="/ppt/notesMasters/notesMaster1.xml" Id="R9acd5e6b451b46aa"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fcb865a0c0344299" /><Relationship Type="http://schemas.openxmlformats.org/officeDocument/2006/relationships/notesMaster" Target="/ppt/notesMasters/notesMaster1.xml" Id="R4198bfc211dc48f1"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7b7397da1dfb496b" /><Relationship Type="http://schemas.openxmlformats.org/officeDocument/2006/relationships/notesMaster" Target="/ppt/notesMasters/notesMaster1.xml" Id="Rfabf695043d84644"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1bc9dcc240cd4f6a" /><Relationship Type="http://schemas.openxmlformats.org/officeDocument/2006/relationships/notesMaster" Target="/ppt/notesMasters/notesMaster1.xml" Id="Re8feb62739b5481d"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f16d00a2fa3b41da" /><Relationship Type="http://schemas.openxmlformats.org/officeDocument/2006/relationships/notesMaster" Target="/ppt/notesMasters/notesMaster1.xml" Id="Ra827647d8521409f"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ce88e21dea3f4b20" /><Relationship Type="http://schemas.openxmlformats.org/officeDocument/2006/relationships/notesMaster" Target="/ppt/notesMasters/notesMaster1.xml" Id="Rf9957e516e34420d"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815ec70ed2db45b9" /><Relationship Type="http://schemas.openxmlformats.org/officeDocument/2006/relationships/notesMaster" Target="/ppt/notesMasters/notesMaster1.xml" Id="R8637c61701e041fc"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41a77ddb3f0248e9" /><Relationship Type="http://schemas.openxmlformats.org/officeDocument/2006/relationships/notesMaster" Target="/ppt/notesMasters/notesMaster1.xml" Id="R69a143cc4d5c4c77"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4f85a914516e4887" /><Relationship Type="http://schemas.openxmlformats.org/officeDocument/2006/relationships/notesMaster" Target="/ppt/notesMasters/notesMaster1.xml" Id="Rd9a2b73d29074c8e"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3776e0aa7802486f" /><Relationship Type="http://schemas.openxmlformats.org/officeDocument/2006/relationships/notesMaster" Target="/ppt/notesMasters/notesMaster1.xml" Id="R685e48bf12954885"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b8d03e4670324d46" /><Relationship Type="http://schemas.openxmlformats.org/officeDocument/2006/relationships/notesMaster" Target="/ppt/notesMasters/notesMaster1.xml" Id="R912ef8c69bfe4d69"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9d8da6a96e8b4b82" /><Relationship Type="http://schemas.openxmlformats.org/officeDocument/2006/relationships/notesMaster" Target="/ppt/notesMasters/notesMaster1.xml" Id="R7f9da26fc1e947cc"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c96b1e88967d4d27" /><Relationship Type="http://schemas.openxmlformats.org/officeDocument/2006/relationships/notesMaster" Target="/ppt/notesMasters/notesMaster1.xml" Id="R4ef026fdaeb143f0"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e5c50178230e498a" /><Relationship Type="http://schemas.openxmlformats.org/officeDocument/2006/relationships/notesMaster" Target="/ppt/notesMasters/notesMaster1.xml" Id="Rc5947ccc253348df"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145add1b4fce43f9" /><Relationship Type="http://schemas.openxmlformats.org/officeDocument/2006/relationships/notesMaster" Target="/ppt/notesMasters/notesMaster1.xml" Id="R9b35d0b450224c91"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04c976e2efbb465e" /><Relationship Type="http://schemas.openxmlformats.org/officeDocument/2006/relationships/notesMaster" Target="/ppt/notesMasters/notesMaster1.xml" Id="R73cec138e7954f8c"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865675242bf24813" /><Relationship Type="http://schemas.openxmlformats.org/officeDocument/2006/relationships/notesMaster" Target="/ppt/notesMasters/notesMaster1.xml" Id="Rc99c5380c798401c"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cc15aa7626c5495c" /><Relationship Type="http://schemas.openxmlformats.org/officeDocument/2006/relationships/notesMaster" Target="/ppt/notesMasters/notesMaster1.xml" Id="R3aa66a5736304c73"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dad4c77aa22a454d" /><Relationship Type="http://schemas.openxmlformats.org/officeDocument/2006/relationships/notesMaster" Target="/ppt/notesMasters/notesMaster1.xml" Id="Ra875e52a87e1415b"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9ad141757fc246a3" /><Relationship Type="http://schemas.openxmlformats.org/officeDocument/2006/relationships/notesMaster" Target="/ppt/notesMasters/notesMaster1.xml" Id="Rf04c82cff5724b29"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864b871d300940d2" /><Relationship Type="http://schemas.openxmlformats.org/officeDocument/2006/relationships/notesMaster" Target="/ppt/notesMasters/notesMaster1.xml" Id="Rd715dd1cb89a443f"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20d122bc29094b44" /><Relationship Type="http://schemas.openxmlformats.org/officeDocument/2006/relationships/notesMaster" Target="/ppt/notesMasters/notesMaster1.xml" Id="R92772c9f48424038"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80b116956b494884" /><Relationship Type="http://schemas.openxmlformats.org/officeDocument/2006/relationships/notesMaster" Target="/ppt/notesMasters/notesMaster1.xml" Id="R939572c5421b41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Тема силабусу: ідея симплекс-методу, програмне розв’язання, активні обмеження, елементарний аналіз чутливості.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 — нормовані блоки роботи; блок можна ділити. CPU та RAM — одночасно зарезервовані ресурси. Для неділимих окремих завдань потрібні цілі змінні.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Одиниці CPU, пам’яті та користі умовні. Один рядок описує один пакет відповідного типу.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Визначаємо, що саме обирає планувальник, перш ніж записувати формули.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Коефіцієнти мети — користь одного пакета; коефіцієнти обмежень — витрати ресурсів.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Форма max з ≤ та x≥0. Рівності, ≥ та інші межі перетворювали в лекції3.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Однаковий масштаб осей: 8 px на одиницю. CPU: сегмент (25,50)–(50,0), обидва кінці задовольняють 2x₁+x₂=100. RAM: (0,40)–(60,10). Вершини ОПР (0,0),(50,0),(40,20),(0,40). Лінії рівня 4x₁+3x₂=120 та 220. Градієнт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Обчислюємо Z=4x₁+3x₂ у вершинах припустимої області.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Однаковий масштаб осей: 8 px на одиницю. CPU: сегмент (25,50)–(50,0), обидва кінці задовольняють 2x₁+x₂=100. RAM: (0,40)–(60,10). Вершини ОПР (0,0),(50,0),(40,20),(0,40). Лінії рівня 4x₁+3x₂=120 та 220. Градієнт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Відповідь CPU:100/2=50&lt;80/1=80. ВиходитьsCPU.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Змінні запасу перетворюють нерівності на рівності. У початковій вершині базисними є sCPU і sMEM, а небазисними x₁=x₂=0.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R1=[2,1,1,0|100]/2=[1,1/2,1/2,0|50]. R2=[1,2,0,1|80]−R1new=[0,3/2,−1/2,1|30]. Δ=cj−cB*column: x2=3−4/2=1, sCPU=−2. Z=4*50=200.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 x₂=0 обмеження дають верхні межі для x₁. Найменше відношення визначає ресурс, який скінчиться першим.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 показує коефіцієнти приросту, а в останній клітинці подано значення Z. Тому при відніманні рядка для Δ перераховуємо коефіцієнти, а Z збільшуємо на Δвхідна * bведуча.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межі CPU збільшення x₂ потребує зменшити x₁, але сумарна користь ще зростає.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Порівнюємо допустимі сусідні вершини. Жоден перехід з (40,20) не збільшує 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Навчальна схема для max Z за описом BYU: https://labs.acme.byu.edu/Volume2/Simplex/Simplex.html. Для необмеженого напряму потрібна окрема перевірка; у прикладі напрям обмежений.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Коефіцієнти користі 4 і 3 залишаються додатними. SciPy linprog приймає задачу мінімізації, тому передаємо їй математично еквівалентну ціль зі знаком мінус.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SciPy1.17.0. https://docs.scipy.org/doc/scipy/reference/generated/scipy.optimize.linprog.html . HiGHS не підтримує callback,x0. integrality працює лише зmethod=highs. Типи0неперервна,1ціла,2напівнеперервна,3напівціла.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https://docs.scipy.org/doc/scipy-1.17.0/reference/optimize.linprog-highs.html . callback та x0 не підтримуються HiGHS. Цей запуск розбираємо у слайді з фактичним журналом.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Результат з моделі max4x1+3x2 та ресурсами100,80. marginals — похідні значення мінімізації за правими частинами нерівностей, не за змінними рішення. https://docs.scipy.org/doc/scipy-1.17.0/reference/optimize.linprog-highs.html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Порядок змінних у c збігається з порядком стовпців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Вивід перевірено виконанням коду зі слайдів на SciPy 1.17.0, NumPy 2.3.5.</a:t>
            </a:r>
          </a:p>
          <a:p xmlns:a="http://schemas.openxmlformats.org/drawingml/2006/main">
            <a:r>
              <a:t>40.0 20.0 220.0</a:t>
            </a:r>
          </a:p>
          <a:p xmlns:a="http://schemas.openxmlformats.org/drawingml/2006/main">
            <a:r>
              <a:t>[0. 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ФактичнийфрагментHiGHS1.8.0,SciPy1.17.0,Python3.12.14. Повнийstdoutвlecture4_5_traces_output.txt. ФазаPh1тавнутрішнійдвоїстийсимплексвідрізняютьсявіднавчальногопрямого.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Фрагмент навчальної реалізації. Повна програма додається окремим файлом; SciPy перевіряє фінальну відповідь.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Stdout після запуску навчальної програми lecture4_5_traces.py; рядки нижче отримані виконанням коду.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Програмна відповідь має виконувати початкові умови задачі.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Активні обмеження виявляють ресурси, що стримують план. Сценарії з новими запасами показують, чи варто розширювати потужність.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Розв’язуємо ту саму модель після зміни лише одного запасу. Кожного разу порівнюємо план та користь з вихідним результатом.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 невеликій зміні запасів навколо (100,80) порівнюємо приріст Z на одну одиницю.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Пам’ять фіксована на 80. Після CPU=160 додатковий CPU не підвищує користь.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Тема силабусу: транспортна задача, базові цілочисельні та бінарні моделі, програмне розв’язання.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Два датацентри розподіляють 50 пакетів обробки між трьома кластерами. Ілюстрація показує можливі зв’язки; точні дані — на наступному слайді.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Вартість за один пакет наведено у клітинках; останні рядок і стовпець задають обсяг.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xAP означає кількість пакетів із A до P; аналогічно задаємо ще п’ять маршрутів.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Два рівняння відповідають запасам датацентрів; три — попиту кластерів.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Якщо запас дозволено не використати, джерела≤aᵢ. При нестачі треба моделювати дефіцит чи зовнішнє постачання. Суми редаговані; індекси рознесено підΣ.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збалансованій задачі: попит вичерпано — наступний стовпець; запас — наступний рядок. За одночасного вичерпання внутрішньої клітинки зберігаємо одну незалежну нульову базисну клітинку без циклу, щоб мати m+n−1 клітинок. У фінальній клітинці доповнення не потрібне.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Власна таблиця за алгоритмом Е. С. Вентцель, «Исследование операций», розділ про транспортну задачу: https://studfile.net/preview/1190177/page:20/ . Вартість клітинки не впливає на вибір. Кроки AP=10, AQ=20, BR=20.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Запис у клітинці: собівартість c і обсяг x. Початковий стан: усі x порожні. Кроки: AP=10, AQ=20, BR=20. При одночасному вичерпанні запасу A та попиту Q базис доповнюємо BQ=0. План має 2+3−1=4 базисні клітинки. Повна собівартість 10·2+20·4+20·1=120.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Відповідь:позитивнихпотоків3,рангбалансів4. BQз’єднуєкомпонентибезциклу.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Навчальний транспортний симплекс: https://web.mit.edu/15.053/www/AMP-Chapter-08.pdf; SciPy linprog розв’язує модель через HiGHS.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Той самий приклад транспортної задачі. План північно-західного кута [10,20,0;0,0,20] уже має оптимальну вартість 120. Щоб показати реальну ітерацію потенціалів, окремо беремо інший допустимий план [0,20,10;10,0,10] з вартістю 200. Обидва задовольняють запаси 30,20 і попит 10,20,20.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базисних клітинок uᵢ+vⱼ=cᵢⱼ. Задаємо uA=0 і послідовно знаходимо інші. https://web.mit.edu/15.053/www/AMP-Chapter-08.pdf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ВідповідьAP. Требазберегтибалансичерезцикл.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альтернативного плану базис AQ, AR, BP, BR. Покладаємо uA=0. З умов u_i+v_j=c_ij на базисних клітинках одержуємо vQ=4, vR=5, uB=−4, vP=10. Для вільних клітинок ΔAP=2−0−10=−8, ΔBQ=3−(−4)−4=3. Від’ємна оцінка AP означає зниження вартості на 8 за одиницю циклічного перерозподілу.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мінімізації від’ємна оцінка Δᵢⱼ=cᵢⱼ−uᵢ−vⱼ означає можливість зменшити витрати. https://web.mit.edu/15.053/www/AMP-Chapter-08.pdf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Вихідний план A=[0,20,10], B=[10,0,10]. Маршрут AP має оцінку −8. На циклі чергуємо + і −; θ=min(AR=10,BP=10)=10. Новий план A=[10,20,0], B=[0,0,20], вартість 120.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Задаємо uA=0. AP дає vP=2, AQ дає vQ=4, AR дає vR=5. BR дає uB=1−5=−4. Вільні BP та BQ мають Δ8 та3.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Stdout навчальної програми для допустимого плану C=200; це інший старт, ніж північно-західний кут.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транспортній матриці cost рядок A=[2,4,5], рядок B=[6,3,1]. NumPy cost.ravel() за замовчуванням повертає плаский вектор у порядку рядків: [2,4,5,6,3,1]. Порядок змінних x=(x_AP,x_AQ,x_AR,x_BP,x_BQ,x_BR) має бути таким самим, як порядок стовпців A_eq на наступному слайді. Так c @ x утворює сумарну вартість. Документація SciPy linprog: https://docs.scipy.org/doc/scipy/reference/generated/scipy.optimize.linprog.html ; NumPy ravel: https://numpy.org/doc/stable/reference/generated/numpy.ravel.html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Порядок стовпців A_eq збігається з вектором c. Документація: https://docs.scipy.org/doc/scipy/reference/generated/scipy.optimize.linprog.html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np.allclose враховує числову похибку. Один з п’яти балансів залежний, ранг A_eq=4. Це відповідає m+n−1 базисним клітинкам.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 окрема бібліотека NetworkX, її встановлення: pip install networkx. В SciPy транспортну модель розв’язуємо через scipy.optimize.linprog; окремої функції minimum-cost flow в стандартному API scipy.optimize / scipy.sparse.csgraph немає. network_simplex повертає вартість і словник потоків. Вузол-джерело має від’ємний demand, приймач — додатний. Цілочисельні запаси й вартості в прикладі відповідають рекомендації NetworkX щодо цілочисельних параметрів. Фактичний stdout перевірено. Документація: https://networkx.org/documentation/stable/reference/algorithms/generated/networkx.algorithms.flow.network_simplex.html ; https://docs.scipy.org/doc/scipy/reference/generated/scipy.optimize.linprog.html ; https://docs.scipy.org/doc/scipy/reference/sparse.csgraph.html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NetworkX 3.7: https://networkx.org/documentation/stable/reference/algorithms/generated/networkx.algorithms.flow.network_simplex.html . Використано цілі ваги та demand. Для дробових значень документація рекомендує масштабування.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Вимір 2 жовтня 2026: 20 прогрівів, 7 серій×1000 викликів. Python3.12.14, NumPy2.3.5, SciPy1.17.0, NetworkX3.7, Linuxx86_64. Точні часи: 1.061996мс і0.050088мс. Код lecture4_5_examples.py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Із A йде 10 у P та 20 у Q; із B — 20 у 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Три сервери мають отримати три різні завдання. Кожен сервер виконує одне завдання, кожне завдання має одного виконавця.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Клітинка показує витрату, якщо відповідний сервер виконує саме це завдання.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Позначимо I, A, B — інференс, аналітику, бекап. zᵢⱼ=1 означає, що вузол i отримав завдання 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Квадратна класична задача: по одному призначенню в кожному рядку і стовпці. Прямокутна linear_sum_assignment призначає min(m,n) пар.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Незалежні нулі — клітинки в різних рядках і стовпцях. Покриття має мінімальну кількість ліній.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Відняти від кожної клітинки мінімум її рядка. Оптимальні пари не зміняться: будь-який план містить рівно одну клітинку з кожного рядка. https://abel.math.harvard.edu/archive/20_fall_04/lectures/Hungarian.pdf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Стовпцеві мінімуми дорівнюють нулю, тому матриця після редукції не змінюється. https://abel.math.harvard.edu/archive/20_fall_04/lectures/Hungarian.pdf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Приклад 2. Початкові витрати [[4,1,3],[3,1,6],[3,2,2]]. Мінімум кожного рядка [1,1,2]; після редукції рядків [[3,0,2],[2,0,5],[1,0,0]]. Мінімум стовпців цієї матриці [1,0,0]; після редукції стовпців [[2,0,2],[1,0,5],[0,0,0]]. Див. оригінальну схему Harvard у додатку. https://abel.math.harvard.edu/archive/20_fall_04/lectures/Hungarian.pdf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Приклад 2. Початкова матриця [[4,1,3],[3,1,6],[3,2,2]]. Редукована матриця і крок покриття нулів показують той самий алгоритм, але оптимальна вартість становить 6. За мотивами https://abel.math.harvard.edu/archive/20_fall_04/lectures/Hungarian.pdf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Потрібне максимальне за кількістю пар призначення на нулях, а не довільний жадний вибір. S1 і S2 мають нуль лише в A, тому три незалежні нулі неможливі. Множина позначених рядків S1,S2, позначений стовпецьA. Мінімальне покриття: непозначений S3 та позначенийA. Джерело: https://abel.math.harvard.edu/archive/20_fall_04/lectures/Hungarian.pdf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Запитайте до показу відповіді: які клітинки зменшаться наδ? Непокриті S1/I,S1/B,S2/I,S2/B зменшуються; перетин S3/A збільшується. Одноразово покриті незмінні.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прикладі 2 мінімум непокритих елементів дорівнює 1. Після корекції оптимальні пари: S1→A, S2→I, S3→B. Початкова вартість 1+3+2=6.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Фактичний вивід lecture4_5_traces.py для прикладу 2. Незалежні нулі після корекції дають C=6.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SciPy1.17.0. https://docs.scipy.org/doc/scipy/reference/generated/scipy.optimize.linear_sum_assignment.html . Модифікований Джонкер–Фольгенант, не навчальна траса угорського методу. Рядки rows відсортовані; у квадратній задачі rows=np.arange(n).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linear_sum_assignment приймає матрицю вартостей. Документація: https://docs.scipy.org/doc/scipy/reference/generated/scipy.optimize.linear_sum_assignment.html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Вивід перевірено виконанням коду зі слайдів на SciPy 1.17.0, NumPy 2.3.5.</a:t>
            </a:r>
          </a:p>
          <a:p xmlns:a="http://schemas.openxmlformats.org/drawingml/2006/main">
            <a:r>
              <a:t>0 1 1</a:t>
            </a:r>
          </a:p>
          <a:p xmlns:a="http://schemas.openxmlformats.org/drawingml/2006/main">
            <a:r>
              <a:t>1 0 2</a:t>
            </a:r>
          </a:p>
          <a:p xmlns:a="http://schemas.openxmlformats.org/drawingml/2006/main">
            <a:r>
              <a:t>2 2 2</a:t>
            </a:r>
          </a:p>
          <a:p xmlns:a="http://schemas.openxmlformats.org/drawingml/2006/main">
            <a:r>
              <a:t>5</a:t>
            </a:r>
          </a:p>
          <a:p xmlns:a="http://schemas.openxmlformats.org/drawingml/2006/main">
            <a:r>
              <a:t>rows і cols обчислено linear_sum_assignment на попередньому слайді.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Гарантія — існування оптимальної цілої вершини, а не цілість будь-якої оптимальної комбінації вершин. Округлення застосовуємо лише після перевірки близькості до0/1.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Тут розміщення означає взаємно однозначне призначення трьох задач трьом вузлам. Для кожного рядка і стовпця сума x_ij дорівнює 1. Обмеження 0≤x≤1. За цієї структури матриця обмежень є цілком унімодулярною, тому ЛП має цілочисельний оптимальний крайній план. Для загальної задачі відкриття майданчиків із бінарними рішеннями потрібна MILP-модель. Вивід перевірено на SciPy 1.17.0. https://people.math.carleton.ca/~kcheung/math/notes/MATH5801/07/7_3_total_unimodularity.html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Вимір2жовтня2026,20прогрівів,7серій×1000. SciPy1.17.0, NumPy2.3.5, Python3.12.14,Linuxx86_64. LSA0.000929мс=0.929мкс, LP1.032966мс. Код lecture4_5_examples.py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Додатковий навчальний модуль до лекції 5. Для одного заняття основа: типи моделей, VM, маршрутний приклад і GPU-завдання з трьома LP-вузлами. Код, API та відсічення можна опрацьовувати на практикумі. Числові приклади синтетичні, ціни не є ринковими тарифами.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https://docs.scipy.org/doc/scipy-1.17.0/reference/generated/scipy.optimize.milp.html</a:t>
            </a:r>
          </a:p>
          <a:p xmlns:a="http://schemas.openxmlformats.org/drawingml/2006/main">
            <a:r>
              <a:t>Дискретне програмування описує клас моделей. Динамічне програмування є методом розв’язання окремих структурованих задач. Загальний MILP може бути складним, але спеціальні транспортні й класичні задачі про призначення мають ефективні методи.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https://docs.scipy.org/doc/scipy-1.17.0/reference/generated/scipy.optimize.milp.html</a:t>
            </a:r>
          </a:p>
          <a:p xmlns:a="http://schemas.openxmlformats.org/drawingml/2006/main">
            <a:r>
              <a:t>J — множина індексів цілих змінних. Вони можуть бути від’ємними, якщо це дозволяє модель. У наших прикладах кількості й потоки невід’ємні. Бінарність вимагає одночасно цілочисельності й меж 0 та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Навчальні VM-конфігурації й умовні витрати за годину. Потрібно не менше 11 vCPU. Модель враховує лише CPU і вартість. Немає прихованої вимоги по RAM. Перебір усіх 20 обмежених цілочисельних пар незалежно перевіряє оптимум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Множимо тариф за одну VM на кількість VM. 3x1+5x2 — сумарна кількість доступних vCPU. Нерівність ≥ допускає надлишок CPU, бо VM неподільні. Змінні не є кількістю окремих vCPU.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Фактичні результати discrete_examples.py. Послаблення мінімізує ту саму ціль без вимоги цілочисельності. Найближче округлення порушує попит. Округлення вгору допустиме, але дорожче. Також загальне округлення вгору може порушити верхні ресурсні обмеження. Тут перевіряємо лише конкретний приклад.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https://docs.scipy.org/doc/scipy-1.17.0/reference/generated/scipy.optimize.milp.html</a:t>
            </a:r>
          </a:p>
          <a:p xmlns:a="http://schemas.openxmlformats.org/drawingml/2006/main">
            <a:r>
              <a:t>Самодостатній код. SciPy 1.17.0, NumPy 2.3.5. MILP із нульовою відносною щілиною розв’язано до оптимуму в межах числових допусків.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Повний перебір обмежених x1=0..4, x2=0..3 підтверджує унікальний оптимум (2,1). Таблиця містить чотири можливі плани, а не весь перебір.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Потрібно передати 60 пакетів трьома маршрутами. Для маршруту A є разова плата, якщо його використовують.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Потоки подільні у нормованих одиницях. Лише запуск бінарний. Послаблення255 зyA0.75 недопустиме для початкової задачі.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 ціна одиниці потоку;f — запуск;u — місткість;D — попит. B,C основного прикладу постійно доступні.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 лінійний зв’язок потоку з бінарним запуском. Він не примушує користуватися маршрутом після запуску: за yA=1 допускається і xA=0. Додатна плата 100 робить непотрібний запуск невигідним. Числовий приклад не потребує добутку xA*yA.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Фактичний запуск discrete_examples.py. Залишаємо окрему фізичну межу xA≤40. За M=1000 цілі плани ті самі, проте LP-послаблення допускає малу дробову плату за запуск. В інших задачах надмірне M також може погіршувати числову стійкість. Немає твердження про конкретне прискорення на цій малій задачі.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15.053, Lecture 13, Integer programming techniques 2: cutting planes. https://ocw.mit.edu/courses/15-053-optimization-methods-in-management-science-spring-2013/resources/mit15_053s13_lec13/</a:t>
            </a:r>
          </a:p>
          <a:p xmlns:a="http://schemas.openxmlformats.org/drawingml/2006/main">
            <a:r>
              <a:t>Навчальні приклади бінарного моделювання. xA,xB,xC тут означають вибір завдань, а не трафік попередньої моделі. Для імплікації перевірити обидва випадки xC=0 та xC=1.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Після кожної дії беремо наступний вузол з черги. Для min: L — нижня LP-межа,U — вартість найкращого цілого плану. Загальна ціла змінна v2.7 дає гілки≤2,≥3.</a:t>
            </a:r>
          </a:p>
          <a:p xmlns:a="http://schemas.openxmlformats.org/drawingml/2006/main">
            <a:r>
              <a:t>Схема стосується обмежених LP-вузлів. Недопустимість означає доведену порожню ОПР, а не довільну помилку розв’язувача. Якщо LP-вузол необмежений або зупинився через ліміт, його не можна відсіяти як недопустимий. У цьому прикладі всі змінні мають скінченні верхні межі.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для обмеженої MILP із скінченними межами дискретних змінних і точним завершенням пошуку. Якщо жодний допустимий план не знайдено після вичерпання черги, задача недопустима. Навчальний алгоритм не охоплює ліміти часу чи числові збої.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навчальному прикладі дозвіл yA∈[0,1] дає нижню межу задачі мінімізації. https://kitchingroup.cheme.cmu.edu/discopt/notebooks/tutorial_milp.html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Пояснення:сплачується75%фіксованогозапуску,чогоумованедозволяє.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Фіксуємо yA=0 і розв’язуємо відповідну неперервну задачу. https://kitchingroup.cheme.cmu.edu/discopt/notebooks/tutorial_milp.html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Фіксуємо yA=1. Разова плата 100 уже сплачена, тому потоки порівнюємо за питомими витратами. https://kitchingroup.cheme.cmu.edu/discopt/notebooks/tutorial_milp.html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Розглядаємо мінімізацію. Корінь LP дає нижню межу L=255, yA=0,75 і ще не дає допустимого цілого плану, тому U=∞. У гілці yA=0 оптимум 270 та U=270. У гілці yA=1 оптимум 260 та U=260. В обох листках yA ціле, подальших гілок немає. Тому мінімум 260. Ілюстрація повного дерева є на наступних слайдах, оригінальне дерево MIT у додатку.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цієї задачі yA єдина бінарна змінна, тому після гілок 0 і 1 дерево вичерпано. https://kitchingroup.cheme.cmu.edu/discopt/notebooks/tutorial_milp.html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LP-послаблення дає нижню межу 255, але yA=0,75 дробове. Єдина бінарна змінна має дві гілки: yA=0 дає 270, yA=1 дає 260. Інших гілок немає.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Усі 7 вузлів і обмеження відтворено з Figure9.15. Модель max5x1+8x2 за x1+x2&lt;=6,5x1+9x2&lt;=45, x&gt;=0 цілі. Джерело https://web.mit.edu/15.053/www/AMP-Chapter-09.pdf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Один коректний порядок обходу:0,1,4,6,5,3,2. Для L5 і L2 спочатку обчислюємо їх LP-межі, і вже після цього застосовуємо відсів, коли результат40 від L6 відомий. У повному оригіналі наведено також цілі плани в L5 і L2. Правило відсіву за межею достатнє для пошуку одного оптимуму. Для переліку всіх оптимумів рівність потребує іншого правила. Джерело https://web.mit.edu/15.053/www/AMP-Chapter-09.pdf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Фактичний SciPy1.17.0:mip_node_count1,mip_dual_bound260,mip_gap0. Навчальна програма розв’язує3LP.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SciPy1.17.0:https://docs.scipy.org/doc/scipy/reference/generated/scipy.optimize.milp.html . Тип2 —0абозначеннявмежах;3 —0абоцілевмежах. Результат success,status,message,x,fun,mip_node_count,mip_dual_bound,mip_gap.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Bounds(lb,ub,keep_feasible=False). LinearConstraint(A,lb=-inf,ub=inf,keep_feasible=False). milp ігнорує keep_feasible. lb=ub задає рівність; нескінченна межа — односторонню умову.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milp, Bounds та integrality: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Вивід перевірено виконанням коду зі слайдів на SciPy 1.17.0, NumPy 2.3.5.</a:t>
            </a:r>
          </a:p>
          <a:p xmlns:a="http://schemas.openxmlformats.org/drawingml/2006/main">
            <a:r>
              <a:t>[40.  0. 20.  1.]</a:t>
            </a:r>
          </a:p>
          <a:p xmlns:a="http://schemas.openxmlformats.org/drawingml/2006/main">
            <a:r>
              <a:t>260.0</a:t>
            </a:r>
          </a:p>
          <a:p xmlns:a="http://schemas.openxmlformats.org/drawingml/2006/main">
            <a:r>
              <a:t>Змінні c, bounds та integrality задано на попередньому слайді.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scipy.optimize.linprog параметр integrality працює для method="highs". Значення 0 задає неперервну змінну, 1 — цілу. Разом з bounds=(0,1) змінна yA стає бінарною. У LP-послабленні yA=0.75, що відповідає xA=30, але фізично 75% запуску маршруту недопустимі. Цілочисельний план має yA=1, xA=40, xC=20, вартість 260. Код і stdout перевірено на SciPy 1.17.0. Документація: https://docs.scipy.org/doc/scipy/reference/generated/scipy.optimize.linprog.html ;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integrality вlinprog працює лише зmethod=highs. highs-ds таhighs-ipm цю вимогу не використовують. ОкругленняyA0.75 не розв’язуєMILP.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Синтетичні неподільні завдання. Одне завдання або повністю виконуємо в цьому інтервалі, або відкладаємо. Користь — умовні бали. Обсяг GPU-годин адитивний. Приклад не є календарним плануванням паралельних GPU з дедлайнами.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Кожний коефіцієнт узято з попередньої таблиці. Загальна задача про рюкзак: max vᵀx, wᵀx≤W, компоненти x бінарні. Дві різні величини: користь в умовних балах і GPU-години.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Фактичні discrete_examples.py й незалежний перебір усіх 16 бінарних планів. LP допускає 75% неподільного завдання B, що не є допустимим планом початкової моделі.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15.053, Lecture 12, Integer programming techniques 1: branch and bound. https://ocw.mit.edu/courses/15-053-optimization-methods-in-management-science-spring-2013/resources/mit15_053s13_lec12/</a:t>
            </a:r>
          </a:p>
          <a:p xmlns:a="http://schemas.openxmlformats.org/drawingml/2006/main">
            <a:r>
              <a:t>Таблиця використовує фізичні назви нижня/верхня межа, без перевизначення символів. У max LP дає верхню межу, допустимий план — нижню. У min навпаки. Щоб відсікти за рівністю, достатньо шукати один оптимальний план. Для переліку всіх оптимальних планів це правило треба змінити.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15.053, Lecture 12, Integer programming techniques 1: branch and bound. https://ocw.mit.edu/courses/15-053-optimization-methods-in-management-science-spring-2013/resources/mit15_053s13_lec12/</a:t>
            </a:r>
          </a:p>
          <a:p xmlns:a="http://schemas.openxmlformats.org/drawingml/2006/main">
            <a:r>
              <a:t>Фактична траса branch_bound_steps.py. DFS, x2=0 першим. Правило: гілкувати першу дробову компоненту. У корені x2=0.75. Відсів останнього вузла за верхньою межею. Немає твердження, що журнал промислового розв’язувача має це саме дерево.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15.053, Lecture 12, Integer programming techniques 1: branch and bound. https://ocw.mit.edu/courses/15-053-optimization-methods-in-management-science-spring-2013/resources/mit15_053s13_lec12/</a:t>
            </a:r>
          </a:p>
          <a:p xmlns:a="http://schemas.openxmlformats.org/drawingml/2006/main">
            <a:r>
              <a:t>Повне дерево окремої навчальної траси, три вузли. Послідовність 0,1,2. Гілки x2=0 та x2=1 охоплюють усі бінарні значення x2. Останній вузол зберігає дробовий LP-план, який служить лише оцінкою.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Фрагмент branch_bound_steps.py. Усі змінні в LP неперервні. Перша дробова компонента визначає змінну для наступного розгалуження. Повна програма з чергою та перевірками є у практикумі. MIT 15.053, Lecture 12, Integer programming techniques 1: branch and bound. https://ocw.mit.edu/courses/15-053-optimization-methods-in-management-science-spring-2013/resources/mit15_053s13_lec12/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Продовження фрагмента з попереднього слайда. Тут усі змінні бінарні. Для загальної цілої змінної додаємо xj≤floor(xj*) або xj≥ceil(xj*), а не обов’язково 0 та 1. incumbent — найкраща знайдена користь. MIT 15.053, Lecture 12, Integer programming techniques 1: branch and bound. https://ocw.mit.edu/courses/15-053-optimization-methods-in-management-science-spring-2013/resources/mit15_053s13_lec12/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Повний фактичний stdout branch_bound_steps.py, SciPy 1.17.0. Знаковий нуль -0. є звичайним нулем.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https://docs.scipy.org/doc/scipy-1.17.0/reference/generated/scipy.optimize.milp.html</a:t>
            </a:r>
          </a:p>
          <a:p xmlns:a="http://schemas.openxmlformats.org/drawingml/2006/main">
            <a:r>
              <a:t>Самодостатній приклад. Фактичний stdout може містити -0. для нульової компоненти: це звичайний числовий нуль. Зміна знака цілі не змінює допустимі плани.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https://docs.scipy.org/doc/scipy-1.17.0/reference/generated/scipy.optimize.LinearConstraint.html</a:t>
            </a:r>
          </a:p>
          <a:p xmlns:a="http://schemas.openxmlformats.org/drawingml/2006/main">
            <a:r>
              <a:t>У цій новій ситуації залежність є додатковим припущенням. Початковий приклад її не мав. Незалежний перебір із перевіркою x3≤x2 дає оптимум 13: A,D. Код використовує w,v,Bounds з попереднього прикладу, а r перераховує модель.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15.053, Lecture 13, Integer programming techniques 2: cutting planes. https://ocw.mit.edu/courses/15-053-optimization-methods-in-management-science-spring-2013/resources/mit15_053s13_lec13/</a:t>
            </a:r>
          </a:p>
          <a:p xmlns:a="http://schemas.openxmlformats.org/drawingml/2006/main">
            <a:r>
              <a:t>Самостійний навчальний приклад із новими даними: в інтервалі доступно 3 GPU-години, кожне неподільне завдання типу 1 чи 2 потребує 2 GPU-години, користь 3 чи 2. x1,x2 є кількостями завдань. Нерівність x1+x2≤1 отримуємо округленням правої частини для цілого лівого виразу. Це просте відсічення за цілочисельністю, не повний алгоритм дробових відсічень Гоморі.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15.053, Lecture 13, Integer programming techniques 2: cutting planes. https://ocw.mit.edu/courses/15-053-optimization-methods-in-management-science-spring-2013/resources/mit15_053s13_lec13/</a:t>
            </a:r>
          </a:p>
          <a:p xmlns:a="http://schemas.openxmlformats.org/drawingml/2006/main">
            <a:r>
              <a:t>Самодостатній фрагмент. Перед додаванням нерівності необхідно математично обґрунтувати, що вона зберігає всі цілі допустимі плани. В інших задачах одне відсічення не обов’язково дає цілий оптимум.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https://docs.scipy.org/doc/scipy-1.17.0/reference/generated/scipy.optimize.milp.html</a:t>
            </a:r>
          </a:p>
          <a:p xmlns:a="http://schemas.openxmlformats.org/drawingml/2006/main">
            <a:r>
              <a:t>Для всіх полів спершу перевірити статус і наявність значень. mip_dual_bound — нижня межа мінімізованої функції. Якщо мінімізуємо -F, верхня межа початкової max F дорівнює -r.mip_dual_bound. mip_node_count може бути 0 після presolve. Значення залежать від версії й моделі.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https://docs.scipy.org/doc/scipy-1.17.0/reference/generated/scipy.optimize.milp.html</a:t>
            </a:r>
          </a:p>
          <a:p xmlns:a="http://schemas.openxmlformats.org/drawingml/2006/main">
            <a:r>
              <a:t>Успіх і оптимальність трактуємо з урахуванням заданого mip_rel_gap та числових допусків. status=1 може повернути допустимий план, а може не мати x. За відсутності x не можна звертатися до r.x для розрахунків. status=2/3 лише для відповідної доведеної властивості початкової MILP.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https://docs.scipy.org/doc/scipy-1.17.0/reference/generated/scipy.optimize.milp.html</a:t>
            </a:r>
          </a:p>
          <a:p xmlns:a="http://schemas.openxmlformats.org/drawingml/2006/main">
            <a:r>
              <a:t>Продовження маршрутного коду. A,lo,hi,c та r задано там. Допуск 1e-7 обрано для малих добре масштабованих прикладів. Для великих значень допуски й масштабування слід узгодити з розв’язувачем. Не округляємо весь вектор: це могло б змінити неперервні потоки. Bounds теж перевіряємо.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15.053, Lecture 12, Integer programming techniques 1: branch and bound. https://ocw.mit.edu/courses/15-053-optimization-methods-in-management-science-spring-2013/resources/mit15_053s13_lec12/</a:t>
            </a:r>
          </a:p>
          <a:p xmlns:a="http://schemas.openxmlformats.org/drawingml/2006/main">
            <a:r>
              <a:t>MIT 15.053, Lecture 13, Integer programming techniques 2: cutting planes. https://ocw.mit.edu/courses/15-053-optimization-methods-in-management-science-spring-2013/resources/mit15_053s13_lec13/</a:t>
            </a:r>
          </a:p>
          <a:p xmlns:a="http://schemas.openxmlformats.org/drawingml/2006/main">
            <a:r>
              <a:t>Динамічне програмування для рюкзака з цілими вагами має псевдополіноміальну складність O(nW), не є загальним швидким методом усіх MILP. Евристика дає допустимий план лише за коректної обробки обмежень і зазвичай не доводить оптимальність.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Відповіді для викладача: 1) CPU=10&lt;11. 2) x3-x2≤0. 3) U=15≤L=15 не дозволяє поліпшення. 4) За заданої логіки й знайденого допустимого плану можна повідомляти план, ціль і межу/gap, але не доведену точну оптимальність.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Підсумок розширеного модуля. Практична вправа: змінити CPU-попит 11 на 12, потім GPU-бюджет 8 на 9, перерахувати модель, пояснити дискретну зміну плану. Очікувано: VM(4,0), C=20; GPU(A,B), F=17. Додаткова залежність C→B перевіряється лише в сценарії, де її ввели.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Моделі та API: https://docs.scipy.org/doc/scipy/reference/generated/scipy.optimize.linprog.html ; https://docs.scipy.org/doc/scipy/reference/generated/scipy.optimize.linear_sum_assignment.html ; https://docs.scipy.org/doc/scipy/reference/generated/scipy.optimize.milp.html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disp=True — журнал, не повна навчальна траса. callback дляHiGHS не підтримується. nit належить результатуЛП; milp має mip_node_count,mip_dual_bound,mip_gap.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нашій MILP bounds містить істотну місткість C=30, тому передаємо його і в короткому виклику. types=[0,0,0,1], Bounds([0,0,0,0],[40,50,30,1]), con задає попит та запуск A. Повний приклад у розділі MILP. SciPy1.17.0 https://docs.scipy.org/doc/scipy-1.17.0/reference/generated/scipy.optimize.milp.html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Оригінальні рисунки з першоджерел у додатку. Повний навчальний код для основних задач: lecture4_5_traces.py.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BYU ACME,The Simplex Method,Figure1.1. https://labs.acme.byu.edu/Volume2/Simplex/Simplex.html . Показано геометрію ОПР; наша блок-схема прямого симплексу міститься у розділіЛП.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Applied Mathematical Programming, Chapter 8, Figure 8.8, сторінка 241, PDF сторінка 15. https://web.mit.edu/15.053/www/AMP-Chapter-08.pdf. Це інші вихідні дані, ніж у наших слайдах.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MITchapter8: https://web.mit.edu/15.053/www/AMP-Chapter-08.pdf . Оригінальна таблиця та потенціали. Наш транспортний приклад2×3. Перевіркабазиснихдуг:uᵢ+vⱼ=cᵢⱼ.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https://abel.math.harvard.edu/archive/20_fall_04/lectures/Hungarian.pdf . Оригінал5×5; наш приклад3×3. Крок4 — далі.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https://abel.math.harvard.edu/archive/20_fall_04/lectures/Hungarian.pdf . Друкарська помилкаolumn уджерелі означаєcolumn.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MITchapter9,p292,Figure9.15: https://web.mit.edu/15.053/www/AMP-Chapter-09.pdf . max5x1+8x2; x1+x2≤6;5x1+9x2≤45; x≥0цілі. Дляmax LPдаєверхнюмежу,цілийпланнижню.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Офіційна SciPy https://docs.scipy.org/doc/scipy/reference/optimize.html . BYU: https://labs.acme.byu.edu/Volume2/Simplex/Simplex.html ; MIT8 https://web.mit.edu/15.053/www/AMP-Chapter-08.pdf ; MIT9 https://web.mit.edu/15.053/www/AMP-Chapter-09.pdf ; Harvard https://abel.math.harvard.edu/archive/20_fall_04/lectures/Hungarian.pdf . Код і схеми — у відповідних тематичних розділах.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SciPy 1.17.0: https://docs.scipy.org/doc/scipy-1.17.0/reference/generated/scipy.optimize.milp.html</a:t>
            </a:r>
          </a:p>
          <a:p xmlns:a="http://schemas.openxmlformats.org/drawingml/2006/main">
            <a:r>
              <a:t>SciPy 1.17.0: https://docs.scipy.org/doc/scipy-1.17.0/reference/generated/scipy.optimize.LinearConstraint.html</a:t>
            </a:r>
          </a:p>
          <a:p xmlns:a="http://schemas.openxmlformats.org/drawingml/2006/main">
            <a:r>
              <a:t>MIT 15.053, Lecture 12, Integer programming techniques 1: branch and bound. https://ocw.mit.edu/courses/15-053-optimization-methods-in-management-science-spring-2013/resources/mit15_053s13_lec12/</a:t>
            </a:r>
          </a:p>
          <a:p xmlns:a="http://schemas.openxmlformats.org/drawingml/2006/main">
            <a:r>
              <a:t>MIT 15.053, Lecture 13, Integer programming techniques 2: cutting planes. https://ocw.mit.edu/courses/15-053-optimization-methods-in-management-science-spring-2013/resources/mit15_053s13_lec13/</a:t>
            </a:r>
          </a:p>
          <a:p xmlns:a="http://schemas.openxmlformats.org/drawingml/2006/main">
            <a:r>
              <a:t>Числові VM, GPU та відсічення — окремі навчальні приклади, обчислені в SciPy 1.17.0. Це не запозичені дані MIT. Повний код і фактичні журнали у Дискретне_програмування_Практикум_Python.zip.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d1080976ca41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873b8ea4f14524" /><Relationship Type="http://schemas.openxmlformats.org/officeDocument/2006/relationships/slideLayout" Target="/ppt/slideLayouts/slideLayout1.xml" Id="R9cbe6ebcfdcd4c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be6ebcfdcd4c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f4ecaf758d46ab" /><Relationship Type="http://schemas.openxmlformats.org/officeDocument/2006/relationships/notesSlide" Target="/ppt/notesSlides/notesSlide1.xml" Id="Rcf5000ccdb7a4c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c0b588ce144c93" /><Relationship Type="http://schemas.openxmlformats.org/officeDocument/2006/relationships/notesSlide" Target="/ppt/notesSlides/notesSlide2.xml" Id="R32487459936f42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e75107f66947b1" /><Relationship Type="http://schemas.openxmlformats.org/officeDocument/2006/relationships/notesSlide" Target="/ppt/notesSlides/notesSlide3.xml" Id="R2f7cf8479d6f4c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cecbc9508e4f49" /><Relationship Type="http://schemas.openxmlformats.org/officeDocument/2006/relationships/notesSlide" Target="/ppt/notesSlides/notesSlide4.xml" Id="Rcdca51beb30245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3bb489d64f4d13" /><Relationship Type="http://schemas.openxmlformats.org/officeDocument/2006/relationships/notesSlide" Target="/ppt/notesSlides/notesSlide5.xml" Id="Ra2e177ce812446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ed722457b324124" /><Relationship Type="http://schemas.openxmlformats.org/officeDocument/2006/relationships/notesSlide" Target="/ppt/notesSlides/notesSlide6.xml" Id="R65d9307ea3ac45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88fc771a0041a4" /><Relationship Type="http://schemas.openxmlformats.org/officeDocument/2006/relationships/notesSlide" Target="/ppt/notesSlides/notesSlide7.xml" Id="R6b60dec1ca8646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c9da7b12f6459f" /><Relationship Type="http://schemas.openxmlformats.org/officeDocument/2006/relationships/notesSlide" Target="/ppt/notesSlides/notesSlide8.xml" Id="R2f46b83233f240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b8da27ad494bed" /><Relationship Type="http://schemas.openxmlformats.org/officeDocument/2006/relationships/notesSlide" Target="/ppt/notesSlides/notesSlide9.xml" Id="R9d82bee6f86d43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c4257e8d7a4f40" /><Relationship Type="http://schemas.openxmlformats.org/officeDocument/2006/relationships/notesSlide" Target="/ppt/notesSlides/notesSlide10.xml" Id="Rccdf056c92bf40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95bc5dd6f149f4" /><Relationship Type="http://schemas.openxmlformats.org/officeDocument/2006/relationships/notesSlide" Target="/ppt/notesSlides/notesSlide11.xml" Id="Rd02611d6a6f346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473cd0920d470d" /><Relationship Type="http://schemas.openxmlformats.org/officeDocument/2006/relationships/notesSlide" Target="/ppt/notesSlides/notesSlide12.xml" Id="R59cae253428643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ffbccf554e4744" /><Relationship Type="http://schemas.openxmlformats.org/officeDocument/2006/relationships/notesSlide" Target="/ppt/notesSlides/notesSlide13.xml" Id="R4f2b1a3ef3fd44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a32edf27f5b4ccd" /><Relationship Type="http://schemas.openxmlformats.org/officeDocument/2006/relationships/notesSlide" Target="/ppt/notesSlides/notesSlide14.xml" Id="Rca27600be0204b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ac7d1116a54d4c" /><Relationship Type="http://schemas.openxmlformats.org/officeDocument/2006/relationships/notesSlide" Target="/ppt/notesSlides/notesSlide15.xml" Id="R428ab08d1e8f47f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e64291144a4197" /><Relationship Type="http://schemas.openxmlformats.org/officeDocument/2006/relationships/notesSlide" Target="/ppt/notesSlides/notesSlide16.xml" Id="Rd7f1404d36ed4f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6243f9011745fd" /><Relationship Type="http://schemas.openxmlformats.org/officeDocument/2006/relationships/notesSlide" Target="/ppt/notesSlides/notesSlide17.xml" Id="R38ae4a3746a448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6120cf2694b4a87" /><Relationship Type="http://schemas.openxmlformats.org/officeDocument/2006/relationships/notesSlide" Target="/ppt/notesSlides/notesSlide18.xml" Id="Rf1f6d787e01443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61065a89e54463f" /><Relationship Type="http://schemas.openxmlformats.org/officeDocument/2006/relationships/notesSlide" Target="/ppt/notesSlides/notesSlide19.xml" Id="R4e9686748a4541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d6718dc585449fa" /><Relationship Type="http://schemas.openxmlformats.org/officeDocument/2006/relationships/notesSlide" Target="/ppt/notesSlides/notesSlide20.xml" Id="R5c0da226acc6406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22eee27d61c4412" /><Relationship Type="http://schemas.openxmlformats.org/officeDocument/2006/relationships/notesSlide" Target="/ppt/notesSlides/notesSlide21.xml" Id="R0917f517f9d140c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3d6e1d0880d4910" /><Relationship Type="http://schemas.openxmlformats.org/officeDocument/2006/relationships/notesSlide" Target="/ppt/notesSlides/notesSlide22.xml" Id="Rcec9ed10306245f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9b8cf3c2d1e4727" /><Relationship Type="http://schemas.openxmlformats.org/officeDocument/2006/relationships/notesSlide" Target="/ppt/notesSlides/notesSlide23.xml" Id="R69fd66ae49bc4f9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12128c8ee9b45ea" /><Relationship Type="http://schemas.openxmlformats.org/officeDocument/2006/relationships/notesSlide" Target="/ppt/notesSlides/notesSlide24.xml" Id="Rdf598453931f4ca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cbd4616c5ac48f9" /><Relationship Type="http://schemas.openxmlformats.org/officeDocument/2006/relationships/notesSlide" Target="/ppt/notesSlides/notesSlide25.xml" Id="R741dd31fd1784a9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aa8fe84f6e54bd2" /><Relationship Type="http://schemas.openxmlformats.org/officeDocument/2006/relationships/notesSlide" Target="/ppt/notesSlides/notesSlide26.xml" Id="R2bca2c5de1d348f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820d9ff20364f13" /><Relationship Type="http://schemas.openxmlformats.org/officeDocument/2006/relationships/notesSlide" Target="/ppt/notesSlides/notesSlide27.xml" Id="R5c04a5842f1e40c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4729740c9d941e3" /><Relationship Type="http://schemas.openxmlformats.org/officeDocument/2006/relationships/notesSlide" Target="/ppt/notesSlides/notesSlide28.xml" Id="Rf74bcfcbb8234e2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a27dc82c97f4390" /><Relationship Type="http://schemas.openxmlformats.org/officeDocument/2006/relationships/notesSlide" Target="/ppt/notesSlides/notesSlide29.xml" Id="R0425129d73b1489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5a1b3fd1d3b4448" /><Relationship Type="http://schemas.openxmlformats.org/officeDocument/2006/relationships/notesSlide" Target="/ppt/notesSlides/notesSlide30.xml" Id="R3e73281e05364b7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337e3e22bd44c16" /><Relationship Type="http://schemas.openxmlformats.org/officeDocument/2006/relationships/notesSlide" Target="/ppt/notesSlides/notesSlide31.xml" Id="R20a1f3687557431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427ab88a70f4a59" /><Relationship Type="http://schemas.openxmlformats.org/officeDocument/2006/relationships/notesSlide" Target="/ppt/notesSlides/notesSlide32.xml" Id="R53e76490a3f34fc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93ba89474c6476d" /><Relationship Type="http://schemas.openxmlformats.org/officeDocument/2006/relationships/notesSlide" Target="/ppt/notesSlides/notesSlide33.xml" Id="R0410c22f53d844b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8f8ef503c424b1e" /><Relationship Type="http://schemas.openxmlformats.org/officeDocument/2006/relationships/notesSlide" Target="/ppt/notesSlides/notesSlide34.xml" Id="R6346dadf7e73497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0581b5133084d61" /><Relationship Type="http://schemas.openxmlformats.org/officeDocument/2006/relationships/chart" Target="/ppt/slides/charts/chart1.xml" Id="R4d0c4fc7ef404271" /><Relationship Type="http://schemas.openxmlformats.org/officeDocument/2006/relationships/notesSlide" Target="/ppt/notesSlides/notesSlide35.xml" Id="R6efb17f4cc2d43c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3975f3b0f384b30" /><Relationship Type="http://schemas.openxmlformats.org/officeDocument/2006/relationships/notesSlide" Target="/ppt/notesSlides/notesSlide36.xml" Id="Ree384c6982e946b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f2c8f24dc4b464b" /><Relationship Type="http://schemas.openxmlformats.org/officeDocument/2006/relationships/notesSlide" Target="/ppt/notesSlides/notesSlide37.xml" Id="Rf8a782bedc8943a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f1fa38ff3884495" /><Relationship Type="http://schemas.openxmlformats.org/officeDocument/2006/relationships/notesSlide" Target="/ppt/notesSlides/notesSlide38.xml" Id="R7cce25ad213f475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00a4b56a4a943c8" /><Relationship Type="http://schemas.openxmlformats.org/officeDocument/2006/relationships/notesSlide" Target="/ppt/notesSlides/notesSlide39.xml" Id="R4476c6dd755e4d9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91fde52a16a4cb6" /><Relationship Type="http://schemas.openxmlformats.org/officeDocument/2006/relationships/image" Target="/ppt/media/image.png" Id="Rd55b650f71ef4ce0" /><Relationship Type="http://schemas.openxmlformats.org/officeDocument/2006/relationships/notesSlide" Target="/ppt/notesSlides/notesSlide40.xml" Id="R844c6762027a438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17c869485394463" /><Relationship Type="http://schemas.openxmlformats.org/officeDocument/2006/relationships/notesSlide" Target="/ppt/notesSlides/notesSlide41.xml" Id="Ra8698184fb6c463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4b0331ac6a444aa" /><Relationship Type="http://schemas.openxmlformats.org/officeDocument/2006/relationships/notesSlide" Target="/ppt/notesSlides/notesSlide42.xml" Id="Rf05444fa75f6453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3637e1f7f1d442f" /><Relationship Type="http://schemas.openxmlformats.org/officeDocument/2006/relationships/notesSlide" Target="/ppt/notesSlides/notesSlide43.xml" Id="R63b481f60e4445d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e160291e968445f" /><Relationship Type="http://schemas.openxmlformats.org/officeDocument/2006/relationships/notesSlide" Target="/ppt/notesSlides/notesSlide44.xml" Id="Rdc2ce018c1d8419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590a8e6cc75411d" /><Relationship Type="http://schemas.openxmlformats.org/officeDocument/2006/relationships/notesSlide" Target="/ppt/notesSlides/notesSlide45.xml" Id="Rc9fcaf905ab9431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2ca5e8616304f89" /><Relationship Type="http://schemas.openxmlformats.org/officeDocument/2006/relationships/notesSlide" Target="/ppt/notesSlides/notesSlide46.xml" Id="R5b7691b0935a495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a2362ffeb6a4352" /><Relationship Type="http://schemas.openxmlformats.org/officeDocument/2006/relationships/notesSlide" Target="/ppt/notesSlides/notesSlide47.xml" Id="R4088b5a93891464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83d419479ca46c1" /><Relationship Type="http://schemas.openxmlformats.org/officeDocument/2006/relationships/notesSlide" Target="/ppt/notesSlides/notesSlide48.xml" Id="Rca20da7bd08a48f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7a3a7224abd4812" /><Relationship Type="http://schemas.openxmlformats.org/officeDocument/2006/relationships/notesSlide" Target="/ppt/notesSlides/notesSlide49.xml" Id="R64c1611c339f42e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25e05f7cf6c4501" /><Relationship Type="http://schemas.openxmlformats.org/officeDocument/2006/relationships/notesSlide" Target="/ppt/notesSlides/notesSlide50.xml" Id="Re63562b874db440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d3b01630bf04f0f" /><Relationship Type="http://schemas.openxmlformats.org/officeDocument/2006/relationships/notesSlide" Target="/ppt/notesSlides/notesSlide51.xml" Id="R8e4bff34ec08461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dd3982d33e84a27" /><Relationship Type="http://schemas.openxmlformats.org/officeDocument/2006/relationships/notesSlide" Target="/ppt/notesSlides/notesSlide52.xml" Id="Rda2ab3456d524dd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c949052970c4135" /><Relationship Type="http://schemas.openxmlformats.org/officeDocument/2006/relationships/notesSlide" Target="/ppt/notesSlides/notesSlide53.xml" Id="Racd84fb2c40e49e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9d1849a92b4744fc" /><Relationship Type="http://schemas.openxmlformats.org/officeDocument/2006/relationships/notesSlide" Target="/ppt/notesSlides/notesSlide54.xml" Id="R3439f3aac6804bc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c71e1ae78ba471d" /><Relationship Type="http://schemas.openxmlformats.org/officeDocument/2006/relationships/notesSlide" Target="/ppt/notesSlides/notesSlide55.xml" Id="Rdbf030da318140e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b01c5ca806e465d" /><Relationship Type="http://schemas.openxmlformats.org/officeDocument/2006/relationships/notesSlide" Target="/ppt/notesSlides/notesSlide56.xml" Id="R7b7f3e69ea3246a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453c22f67f04697" /><Relationship Type="http://schemas.openxmlformats.org/officeDocument/2006/relationships/notesSlide" Target="/ppt/notesSlides/notesSlide57.xml" Id="Rbeb7c5413cb4459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dae1ca7132b492b" /><Relationship Type="http://schemas.openxmlformats.org/officeDocument/2006/relationships/notesSlide" Target="/ppt/notesSlides/notesSlide58.xml" Id="R601ad8a96a7b441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f035c785fa94792" /><Relationship Type="http://schemas.openxmlformats.org/officeDocument/2006/relationships/notesSlide" Target="/ppt/notesSlides/notesSlide59.xml" Id="Rf3836d6e92864ba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a93673be02494eb4" /><Relationship Type="http://schemas.openxmlformats.org/officeDocument/2006/relationships/notesSlide" Target="/ppt/notesSlides/notesSlide60.xml" Id="R4ccb465786d3424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3a136ac2ed63480d" /><Relationship Type="http://schemas.openxmlformats.org/officeDocument/2006/relationships/notesSlide" Target="/ppt/notesSlides/notesSlide61.xml" Id="R3b39b3199bcd4b3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1c42db1df36f4c83" /><Relationship Type="http://schemas.openxmlformats.org/officeDocument/2006/relationships/notesSlide" Target="/ppt/notesSlides/notesSlide62.xml" Id="Rd7f42c64748f428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b1fded5d61a34556" /><Relationship Type="http://schemas.openxmlformats.org/officeDocument/2006/relationships/notesSlide" Target="/ppt/notesSlides/notesSlide63.xml" Id="R532401ed492b4ad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d312bcca0c3b4304" /><Relationship Type="http://schemas.openxmlformats.org/officeDocument/2006/relationships/notesSlide" Target="/ppt/notesSlides/notesSlide64.xml" Id="R188d964ba0764f6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892ef77f00e44dc7" /><Relationship Type="http://schemas.openxmlformats.org/officeDocument/2006/relationships/notesSlide" Target="/ppt/notesSlides/notesSlide65.xml" Id="R90615b5beda045d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bb9b5c277114441" /><Relationship Type="http://schemas.openxmlformats.org/officeDocument/2006/relationships/notesSlide" Target="/ppt/notesSlides/notesSlide66.xml" Id="Rff71e3d5d82a4aba"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7d508569d5434545" /><Relationship Type="http://schemas.openxmlformats.org/officeDocument/2006/relationships/image" Target="/ppt/media/image2.png" Id="Rc35b64b7fa494fd3" /><Relationship Type="http://schemas.openxmlformats.org/officeDocument/2006/relationships/notesSlide" Target="/ppt/notesSlides/notesSlide67.xml" Id="R02e66d79804f4e7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0769a0df62e14882" /><Relationship Type="http://schemas.openxmlformats.org/officeDocument/2006/relationships/notesSlide" Target="/ppt/notesSlides/notesSlide68.xml" Id="Rbe32cfb3148547a1"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c331e88de88243f5" /><Relationship Type="http://schemas.openxmlformats.org/officeDocument/2006/relationships/notesSlide" Target="/ppt/notesSlides/notesSlide69.xml" Id="Re1111a76d1ce4e8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d0648b76fea645b4" /><Relationship Type="http://schemas.openxmlformats.org/officeDocument/2006/relationships/notesSlide" Target="/ppt/notesSlides/notesSlide70.xml" Id="R169e0311814c472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362eab3105574504" /><Relationship Type="http://schemas.openxmlformats.org/officeDocument/2006/relationships/notesSlide" Target="/ppt/notesSlides/notesSlide71.xml" Id="Rbe17ad73741f4659"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bec40299e76447b1" /><Relationship Type="http://schemas.openxmlformats.org/officeDocument/2006/relationships/notesSlide" Target="/ppt/notesSlides/notesSlide72.xml" Id="R1f19b25ec9b74839"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d2f16d48bc6493e" /><Relationship Type="http://schemas.openxmlformats.org/officeDocument/2006/relationships/notesSlide" Target="/ppt/notesSlides/notesSlide73.xml" Id="R9b5b13b2cd3e4ef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634344ea82b14cd7" /><Relationship Type="http://schemas.openxmlformats.org/officeDocument/2006/relationships/notesSlide" Target="/ppt/notesSlides/notesSlide74.xml" Id="Rd683934c3b144a7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07541c9f7eb54239" /><Relationship Type="http://schemas.openxmlformats.org/officeDocument/2006/relationships/notesSlide" Target="/ppt/notesSlides/notesSlide75.xml" Id="Re1ab272ded92400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91640029dae643f5" /><Relationship Type="http://schemas.openxmlformats.org/officeDocument/2006/relationships/notesSlide" Target="/ppt/notesSlides/notesSlide76.xml" Id="Rf79c6589b9ec4075"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2f7bf06a4e654492" /><Relationship Type="http://schemas.openxmlformats.org/officeDocument/2006/relationships/notesSlide" Target="/ppt/notesSlides/notesSlide77.xml" Id="R560a78cee1ce4592"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1c5776a2d6a24cc8" /><Relationship Type="http://schemas.openxmlformats.org/officeDocument/2006/relationships/notesSlide" Target="/ppt/notesSlides/notesSlide78.xml" Id="Rf527399a31364530"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0f4dee051cb24b3a" /><Relationship Type="http://schemas.openxmlformats.org/officeDocument/2006/relationships/notesSlide" Target="/ppt/notesSlides/notesSlide79.xml" Id="R8600de89da974ac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82a3592824844b7a" /><Relationship Type="http://schemas.openxmlformats.org/officeDocument/2006/relationships/notesSlide" Target="/ppt/notesSlides/notesSlide80.xml" Id="Refb6db9c47244c27"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cbc2df60879d44e5" /><Relationship Type="http://schemas.openxmlformats.org/officeDocument/2006/relationships/notesSlide" Target="/ppt/notesSlides/notesSlide81.xml" Id="Rdb7462367322475f"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666337f8c1ef4c09" /><Relationship Type="http://schemas.openxmlformats.org/officeDocument/2006/relationships/notesSlide" Target="/ppt/notesSlides/notesSlide82.xml" Id="Rc8388bca958942a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bf78da9789464c06" /><Relationship Type="http://schemas.openxmlformats.org/officeDocument/2006/relationships/notesSlide" Target="/ppt/notesSlides/notesSlide83.xml" Id="R06f1528540174896"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a5a22aa9e348453f" /><Relationship Type="http://schemas.openxmlformats.org/officeDocument/2006/relationships/notesSlide" Target="/ppt/notesSlides/notesSlide84.xml" Id="Re8626c908f9a443b"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6ce96dfbeea647c8" /><Relationship Type="http://schemas.openxmlformats.org/officeDocument/2006/relationships/notesSlide" Target="/ppt/notesSlides/notesSlide85.xml" Id="R6e3e57bc57574b4d"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f7e2fdec1b214088" /><Relationship Type="http://schemas.openxmlformats.org/officeDocument/2006/relationships/notesSlide" Target="/ppt/notesSlides/notesSlide86.xml" Id="R57d71ddfb73c425a"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24e5bd45e29b4552" /><Relationship Type="http://schemas.openxmlformats.org/officeDocument/2006/relationships/notesSlide" Target="/ppt/notesSlides/notesSlide87.xml" Id="R96d80b89be054518"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aa6780134eea4cfc" /><Relationship Type="http://schemas.openxmlformats.org/officeDocument/2006/relationships/notesSlide" Target="/ppt/notesSlides/notesSlide88.xml" Id="Rc80cd502a60848eb"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277a2fb0333c4ee6" /><Relationship Type="http://schemas.openxmlformats.org/officeDocument/2006/relationships/notesSlide" Target="/ppt/notesSlides/notesSlide89.xml" Id="R6f839c101a5846f0"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9a8600ad68e04a5c" /><Relationship Type="http://schemas.openxmlformats.org/officeDocument/2006/relationships/notesSlide" Target="/ppt/notesSlides/notesSlide90.xml" Id="Rdd54c4f6e6f34de3"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f77367ba59e4490c" /><Relationship Type="http://schemas.openxmlformats.org/officeDocument/2006/relationships/notesSlide" Target="/ppt/notesSlides/notesSlide91.xml" Id="R4a4daac0ff224bff"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86105cd3d6c3400a" /><Relationship Type="http://schemas.openxmlformats.org/officeDocument/2006/relationships/notesSlide" Target="/ppt/notesSlides/notesSlide92.xml" Id="Rdc385561b62142da"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66dd59ba5f374959" /><Relationship Type="http://schemas.openxmlformats.org/officeDocument/2006/relationships/notesSlide" Target="/ppt/notesSlides/notesSlide93.xml" Id="R066a0fd009c24e60"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a169140d92b14f7d" /><Relationship Type="http://schemas.openxmlformats.org/officeDocument/2006/relationships/notesSlide" Target="/ppt/notesSlides/notesSlide94.xml" Id="Re729b90f8ca946dc"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b4db7a2cf49f4904" /><Relationship Type="http://schemas.openxmlformats.org/officeDocument/2006/relationships/image" Target="/ppt/media/image3.png" Id="Rd6200a1d191d4167" /><Relationship Type="http://schemas.openxmlformats.org/officeDocument/2006/relationships/notesSlide" Target="/ppt/notesSlides/notesSlide95.xml" Id="R2835244c8523418f"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cfc08d8a492a4245" /><Relationship Type="http://schemas.openxmlformats.org/officeDocument/2006/relationships/notesSlide" Target="/ppt/notesSlides/notesSlide96.xml" Id="R4fd1f7f52af54158"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2b600b2bdfbe4275" /><Relationship Type="http://schemas.openxmlformats.org/officeDocument/2006/relationships/notesSlide" Target="/ppt/notesSlides/notesSlide97.xml" Id="R68d1fe1df7ed4fca"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c4aee6ee9fb949f5" /><Relationship Type="http://schemas.openxmlformats.org/officeDocument/2006/relationships/notesSlide" Target="/ppt/notesSlides/notesSlide98.xml" Id="R55fc64d04640431d"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94e84d94a44e4ac5" /><Relationship Type="http://schemas.openxmlformats.org/officeDocument/2006/relationships/notesSlide" Target="/ppt/notesSlides/notesSlide99.xml" Id="R8e271665ea0d44b2"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72a6e073889744d5" /><Relationship Type="http://schemas.openxmlformats.org/officeDocument/2006/relationships/notesSlide" Target="/ppt/notesSlides/notesSlide100.xml" Id="Rac57ce7796364a18"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2b293492c5a64026" /><Relationship Type="http://schemas.openxmlformats.org/officeDocument/2006/relationships/notesSlide" Target="/ppt/notesSlides/notesSlide101.xml" Id="Rc0dae934cfca468a"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4f59f980fe57459b" /><Relationship Type="http://schemas.openxmlformats.org/officeDocument/2006/relationships/notesSlide" Target="/ppt/notesSlides/notesSlide102.xml" Id="Rcdd093e18d27444e"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5733ba2cc12747cb" /><Relationship Type="http://schemas.openxmlformats.org/officeDocument/2006/relationships/notesSlide" Target="/ppt/notesSlides/notesSlide103.xml" Id="R5ed830ee1cd14942"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099590d30fa243b3" /><Relationship Type="http://schemas.openxmlformats.org/officeDocument/2006/relationships/notesSlide" Target="/ppt/notesSlides/notesSlide104.xml" Id="Rb0b03718586f42ef"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xml" Id="R2bd2a150b40e4a4e" /><Relationship Type="http://schemas.openxmlformats.org/officeDocument/2006/relationships/notesSlide" Target="/ppt/notesSlides/notesSlide105.xml" Id="Ra3e191e42edb4476"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aa4064a4258649e0" /><Relationship Type="http://schemas.openxmlformats.org/officeDocument/2006/relationships/notesSlide" Target="/ppt/notesSlides/notesSlide106.xml" Id="Re9dacde76cd348a8"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d27737d7a3504e85" /><Relationship Type="http://schemas.openxmlformats.org/officeDocument/2006/relationships/notesSlide" Target="/ppt/notesSlides/notesSlide107.xml" Id="Ra1df71b40e034ded"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e079c35ca92648c4" /><Relationship Type="http://schemas.openxmlformats.org/officeDocument/2006/relationships/notesSlide" Target="/ppt/notesSlides/notesSlide108.xml" Id="R30ce1ab204b443c3"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30adac087bb74b8a" /><Relationship Type="http://schemas.openxmlformats.org/officeDocument/2006/relationships/notesSlide" Target="/ppt/notesSlides/notesSlide109.xml" Id="Rafa900ba72634ca0"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9b8b7c0dfca344ec" /><Relationship Type="http://schemas.openxmlformats.org/officeDocument/2006/relationships/notesSlide" Target="/ppt/notesSlides/notesSlide110.xml" Id="R1dbed0c87a0c4484"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xml" Id="R1f332591c4ff4381" /><Relationship Type="http://schemas.openxmlformats.org/officeDocument/2006/relationships/notesSlide" Target="/ppt/notesSlides/notesSlide111.xml" Id="R0774cc499e6c4271"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f59fd4e145fc44fe" /><Relationship Type="http://schemas.openxmlformats.org/officeDocument/2006/relationships/notesSlide" Target="/ppt/notesSlides/notesSlide112.xml" Id="R465a30cc0fe7426d"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c0e8983412674206" /><Relationship Type="http://schemas.openxmlformats.org/officeDocument/2006/relationships/notesSlide" Target="/ppt/notesSlides/notesSlide113.xml" Id="R1be800373e9b4f4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58fb9be8aea942c1" /><Relationship Type="http://schemas.openxmlformats.org/officeDocument/2006/relationships/notesSlide" Target="/ppt/notesSlides/notesSlide114.xml" Id="Rbe65f62756b64b03"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xml" Id="R73de1774d7904930" /><Relationship Type="http://schemas.openxmlformats.org/officeDocument/2006/relationships/notesSlide" Target="/ppt/notesSlides/notesSlide115.xml" Id="Rfba597d64470458e"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xml" Id="Ra75c60b09be3461c" /><Relationship Type="http://schemas.openxmlformats.org/officeDocument/2006/relationships/notesSlide" Target="/ppt/notesSlides/notesSlide116.xml" Id="R07bfe03944ec40a6"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xml" Id="R6b3b1d82202a4378" /><Relationship Type="http://schemas.openxmlformats.org/officeDocument/2006/relationships/notesSlide" Target="/ppt/notesSlides/notesSlide117.xml" Id="R2dc108b9eb014c5e"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xml" Id="Raa4d1e01216740e6" /><Relationship Type="http://schemas.openxmlformats.org/officeDocument/2006/relationships/notesSlide" Target="/ppt/notesSlides/notesSlide118.xml" Id="R8709c30b9587459e"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xml" Id="R20dd2dcb316f4daf" /><Relationship Type="http://schemas.openxmlformats.org/officeDocument/2006/relationships/notesSlide" Target="/ppt/notesSlides/notesSlide119.xml" Id="R29c3c686bb144993"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xml" Id="Rc5c9ff08e91f4089" /><Relationship Type="http://schemas.openxmlformats.org/officeDocument/2006/relationships/notesSlide" Target="/ppt/notesSlides/notesSlide120.xml" Id="R1a2e0402f2074f65"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xml" Id="R062392cb81384548" /><Relationship Type="http://schemas.openxmlformats.org/officeDocument/2006/relationships/notesSlide" Target="/ppt/notesSlides/notesSlide121.xml" Id="R319212edfcf1445e"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xml" Id="R399c91cd900c412c" /><Relationship Type="http://schemas.openxmlformats.org/officeDocument/2006/relationships/notesSlide" Target="/ppt/notesSlides/notesSlide122.xml" Id="R7b55fcbb19f74ef2"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xml" Id="Rde994e4572254549" /><Relationship Type="http://schemas.openxmlformats.org/officeDocument/2006/relationships/notesSlide" Target="/ppt/notesSlides/notesSlide123.xml" Id="R9542fa4a95c14e74"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xml" Id="Rbfe526e353a24e8c" /><Relationship Type="http://schemas.openxmlformats.org/officeDocument/2006/relationships/notesSlide" Target="/ppt/notesSlides/notesSlide124.xml" Id="R17891cbbd73a46b2"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xml" Id="R6735eceba8fe4d55" /><Relationship Type="http://schemas.openxmlformats.org/officeDocument/2006/relationships/notesSlide" Target="/ppt/notesSlides/notesSlide125.xml" Id="R341c2aa3c3c643bc"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xml" Id="Rc19ee22eaee1422c" /><Relationship Type="http://schemas.openxmlformats.org/officeDocument/2006/relationships/notesSlide" Target="/ppt/notesSlides/notesSlide126.xml" Id="Rfb5ff2231d6a44c7"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xml" Id="R54ca3b3344e2455d" /><Relationship Type="http://schemas.openxmlformats.org/officeDocument/2006/relationships/notesSlide" Target="/ppt/notesSlides/notesSlide127.xml" Id="R75421a44e3614fbb"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xml" Id="R953ef592588b466a" /><Relationship Type="http://schemas.openxmlformats.org/officeDocument/2006/relationships/notesSlide" Target="/ppt/notesSlides/notesSlide128.xml" Id="R2baff128851a4e47"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da962e6152d04bd2" /><Relationship Type="http://schemas.openxmlformats.org/officeDocument/2006/relationships/notesSlide" Target="/ppt/notesSlides/notesSlide129.xml" Id="Rdf39c4a9c3624005"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e5b34a7fab4e40ac" /><Relationship Type="http://schemas.openxmlformats.org/officeDocument/2006/relationships/notesSlide" Target="/ppt/notesSlides/notesSlide130.xml" Id="Rfb701dcec69f4ae3"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xml" Id="R0a41ed40f1764e6e" /><Relationship Type="http://schemas.openxmlformats.org/officeDocument/2006/relationships/notesSlide" Target="/ppt/notesSlides/notesSlide131.xml" Id="R9397604cfc31421e"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xml" Id="R6b66064505734408" /><Relationship Type="http://schemas.openxmlformats.org/officeDocument/2006/relationships/notesSlide" Target="/ppt/notesSlides/notesSlide132.xml" Id="R46ad9a04376445c6"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xml" Id="R40a1f7d7afaf49f3" /><Relationship Type="http://schemas.openxmlformats.org/officeDocument/2006/relationships/notesSlide" Target="/ppt/notesSlides/notesSlide133.xml" Id="Rc7f88e15fa324eea"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xml" Id="Rc06a6359145d4092" /><Relationship Type="http://schemas.openxmlformats.org/officeDocument/2006/relationships/notesSlide" Target="/ppt/notesSlides/notesSlide134.xml" Id="R0dd72ba07f484510"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xml" Id="R55901a13e44f4a26" /><Relationship Type="http://schemas.openxmlformats.org/officeDocument/2006/relationships/notesSlide" Target="/ppt/notesSlides/notesSlide135.xml" Id="R12f36989da6543a5"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xml" Id="Re2a82596da444abf" /><Relationship Type="http://schemas.openxmlformats.org/officeDocument/2006/relationships/notesSlide" Target="/ppt/notesSlides/notesSlide136.xml" Id="R653240fd7b364bdf"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xml" Id="Rce7d548ba0f149d2" /><Relationship Type="http://schemas.openxmlformats.org/officeDocument/2006/relationships/notesSlide" Target="/ppt/notesSlides/notesSlide137.xml" Id="R4f8267e1f8a74224"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xml" Id="R3e7d2f2276cb4f5f" /><Relationship Type="http://schemas.openxmlformats.org/officeDocument/2006/relationships/notesSlide" Target="/ppt/notesSlides/notesSlide138.xml" Id="R24a8a89456924981"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xml" Id="Rf159060adb9e44bb" /><Relationship Type="http://schemas.openxmlformats.org/officeDocument/2006/relationships/notesSlide" Target="/ppt/notesSlides/notesSlide139.xml" Id="R039bbf1ecfc24d46"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xml" Id="Rd6e480f1ba294f43" /><Relationship Type="http://schemas.openxmlformats.org/officeDocument/2006/relationships/notesSlide" Target="/ppt/notesSlides/notesSlide140.xml" Id="R8a65da6012c648b8"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xml" Id="Rf42c80010963486f" /><Relationship Type="http://schemas.openxmlformats.org/officeDocument/2006/relationships/notesSlide" Target="/ppt/notesSlides/notesSlide141.xml" Id="R5bc34eb5001e4692"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xml" Id="R2c8f801e413b4048" /><Relationship Type="http://schemas.openxmlformats.org/officeDocument/2006/relationships/notesSlide" Target="/ppt/notesSlides/notesSlide142.xml" Id="R21e08bb831d640f9"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xml" Id="Rfcec27a2214d4fdd" /><Relationship Type="http://schemas.openxmlformats.org/officeDocument/2006/relationships/notesSlide" Target="/ppt/notesSlides/notesSlide143.xml" Id="R6dccb7ce65554a0d"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xml" Id="R5a04921b6a47459a" /><Relationship Type="http://schemas.openxmlformats.org/officeDocument/2006/relationships/image" Target="/ppt/media/image4.png" Id="R9fa0a3dede0a4566" /><Relationship Type="http://schemas.openxmlformats.org/officeDocument/2006/relationships/notesSlide" Target="/ppt/notesSlides/notesSlide144.xml" Id="Rcc0679f5922b466f"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xml" Id="R6d5dfc13aebb448e" /><Relationship Type="http://schemas.openxmlformats.org/officeDocument/2006/relationships/image" Target="/ppt/media/image5.png" Id="R37badccdfd7f436e" /><Relationship Type="http://schemas.openxmlformats.org/officeDocument/2006/relationships/notesSlide" Target="/ppt/notesSlides/notesSlide145.xml" Id="R2dbcc04addf04887"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xml" Id="R9ecd74c132254ac9" /><Relationship Type="http://schemas.openxmlformats.org/officeDocument/2006/relationships/image" Target="/ppt/media/image6.png" Id="Rcda4bb5332fb4dbf" /><Relationship Type="http://schemas.openxmlformats.org/officeDocument/2006/relationships/notesSlide" Target="/ppt/notesSlides/notesSlide146.xml" Id="R54f3cdc63a7848d3"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xml" Id="Rf96e1b17091543bb" /><Relationship Type="http://schemas.openxmlformats.org/officeDocument/2006/relationships/image" Target="/ppt/media/image7.png" Id="R047f26af2d0b4af3" /><Relationship Type="http://schemas.openxmlformats.org/officeDocument/2006/relationships/notesSlide" Target="/ppt/notesSlides/notesSlide147.xml" Id="R0d620ba1255d4ba1"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xml" Id="R1533d5c6b7fb4da8" /><Relationship Type="http://schemas.openxmlformats.org/officeDocument/2006/relationships/image" Target="/ppt/media/image8.png" Id="R39262951b259468f" /><Relationship Type="http://schemas.openxmlformats.org/officeDocument/2006/relationships/notesSlide" Target="/ppt/notesSlides/notesSlide148.xml" Id="Ra35a8e03722c4264"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xml" Id="R01d430f968b9459b" /><Relationship Type="http://schemas.openxmlformats.org/officeDocument/2006/relationships/image" Target="/ppt/media/image9.png" Id="Rd8f7f3ea16d64b2e" /><Relationship Type="http://schemas.openxmlformats.org/officeDocument/2006/relationships/notesSlide" Target="/ppt/notesSlides/notesSlide149.xml" Id="R2cfcdb4e73084542"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xml" Id="R91a82888827c4937" /><Relationship Type="http://schemas.openxmlformats.org/officeDocument/2006/relationships/notesSlide" Target="/ppt/notesSlides/notesSlide150.xml" Id="R3a6dd147099441a0"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xml" Id="Red0a9ef3798a44f1" /><Relationship Type="http://schemas.openxmlformats.org/officeDocument/2006/relationships/notesSlide" Target="/ppt/notesSlides/notesSlide151.xml" Id="R28614ca8dc65435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c:lang val="en-US"/>
  <c:chart>
    <c:plotArea>
      <c:scatterChart>
        <c:scatterStyle val="lineMarker"/>
        <c:ser>
          <c:idx val="0"/>
          <c:order val="0"/>
          <c:tx>
            <c:v>Z</c:v>
          </c:tx>
          <c:spPr>
            <a:ln xmlns:a="http://schemas.openxmlformats.org/drawingml/2006/main" w="38100">
              <a:solidFill>
                <a:srgbClr val="00857D"/>
              </a:solidFill>
            </a:ln>
          </c:spPr>
          <c:marker>
            <c:symbol val="circle"/>
            <c:size val="10"/>
          </c:marker>
          <c:dLbls>
            <c:dLbl>
              <c:idx val="0"/>
              <c:tx>
                <c:rich>
                  <a:bodyPr xmlns:a="http://schemas.openxmlformats.org/drawingml/2006/main"/>
                  <a:lstStyle xmlns:a="http://schemas.openxmlformats.org/drawingml/2006/main"/>
                  <a:p xmlns:a="http://schemas.openxmlformats.org/drawingml/2006/main">
                    <a:r>
                      <a:rPr sz="1950" b="1">
                        <a:solidFill>
                          <a:srgbClr val="566779"/>
                        </a:solidFill>
                        <a:latin typeface="Arial"/>
                        <a:ea typeface="Arial"/>
                        <a:cs typeface="Arial"/>
                      </a:rPr>
                      <a:t>220</a:t>
                    </a:r>
                  </a:p>
                </c:rich>
              </c:tx>
              <c:txPr>
                <a:bodyPr xmlns:a="http://schemas.openxmlformats.org/drawingml/2006/main" anchorCtr="1"/>
                <a:lstStyle xmlns:a="http://schemas.openxmlformats.org/drawingml/2006/main"/>
                <a:p xmlns:a="http://schemas.openxmlformats.org/drawingml/2006/main">
                  <a:pPr>
                    <a:defRPr sz="1950" b="1">
                      <a:solidFill>
                        <a:srgbClr val="566779"/>
                      </a:solidFill>
                      <a:latin typeface="Arial"/>
                      <a:ea typeface="Arial"/>
                      <a:cs typeface="Arial"/>
                    </a:defRPr>
                  </a:pPr>
                </a:p>
              </c:txPr>
              <c:showVal val="0"/>
            </c:dLbl>
            <c:dLbl>
              <c:idx val="1"/>
              <c:tx>
                <c:rich>
                  <a:bodyPr xmlns:a="http://schemas.openxmlformats.org/drawingml/2006/main"/>
                  <a:lstStyle xmlns:a="http://schemas.openxmlformats.org/drawingml/2006/main"/>
                  <a:p xmlns:a="http://schemas.openxmlformats.org/drawingml/2006/main">
                    <a:r>
                      <a:rPr sz="1950" b="1">
                        <a:solidFill>
                          <a:srgbClr val="566779"/>
                        </a:solidFill>
                        <a:latin typeface="Arial"/>
                        <a:ea typeface="Arial"/>
                        <a:cs typeface="Arial"/>
                      </a:rPr>
                      <a:t>253,33</a:t>
                    </a:r>
                  </a:p>
                </c:rich>
              </c:tx>
              <c:txPr>
                <a:bodyPr xmlns:a="http://schemas.openxmlformats.org/drawingml/2006/main" anchorCtr="1"/>
                <a:lstStyle xmlns:a="http://schemas.openxmlformats.org/drawingml/2006/main"/>
                <a:p xmlns:a="http://schemas.openxmlformats.org/drawingml/2006/main">
                  <a:pPr>
                    <a:defRPr sz="1950" b="1">
                      <a:solidFill>
                        <a:srgbClr val="566779"/>
                      </a:solidFill>
                      <a:latin typeface="Arial"/>
                      <a:ea typeface="Arial"/>
                      <a:cs typeface="Arial"/>
                    </a:defRPr>
                  </a:pPr>
                </a:p>
              </c:txPr>
              <c:showVal val="0"/>
            </c:dLbl>
            <c:dLbl>
              <c:idx val="2"/>
              <c:tx>
                <c:rich>
                  <a:bodyPr xmlns:a="http://schemas.openxmlformats.org/drawingml/2006/main"/>
                  <a:lstStyle xmlns:a="http://schemas.openxmlformats.org/drawingml/2006/main"/>
                  <a:p xmlns:a="http://schemas.openxmlformats.org/drawingml/2006/main">
                    <a:r>
                      <a:rPr sz="1950" b="1">
                        <a:solidFill>
                          <a:srgbClr val="566779"/>
                        </a:solidFill>
                        <a:latin typeface="Arial"/>
                        <a:ea typeface="Arial"/>
                        <a:cs typeface="Arial"/>
                      </a:rPr>
                      <a:t>286,67</a:t>
                    </a:r>
                  </a:p>
                </c:rich>
              </c:tx>
              <c:txPr>
                <a:bodyPr xmlns:a="http://schemas.openxmlformats.org/drawingml/2006/main" anchorCtr="1"/>
                <a:lstStyle xmlns:a="http://schemas.openxmlformats.org/drawingml/2006/main"/>
                <a:p xmlns:a="http://schemas.openxmlformats.org/drawingml/2006/main">
                  <a:pPr>
                    <a:defRPr sz="1950" b="1">
                      <a:solidFill>
                        <a:srgbClr val="566779"/>
                      </a:solidFill>
                      <a:latin typeface="Arial"/>
                      <a:ea typeface="Arial"/>
                      <a:cs typeface="Arial"/>
                    </a:defRPr>
                  </a:pPr>
                </a:p>
              </c:txPr>
              <c:showVal val="0"/>
            </c:dLbl>
            <c:dLbl>
              <c:idx val="3"/>
              <c:tx>
                <c:rich>
                  <a:bodyPr xmlns:a="http://schemas.openxmlformats.org/drawingml/2006/main"/>
                  <a:lstStyle xmlns:a="http://schemas.openxmlformats.org/drawingml/2006/main"/>
                  <a:p xmlns:a="http://schemas.openxmlformats.org/drawingml/2006/main">
                    <a:r>
                      <a:rPr sz="1950" b="1">
                        <a:solidFill>
                          <a:srgbClr val="566779"/>
                        </a:solidFill>
                        <a:latin typeface="Arial"/>
                        <a:ea typeface="Arial"/>
                        <a:cs typeface="Arial"/>
                      </a:rPr>
                      <a:t>320</a:t>
                    </a:r>
                  </a:p>
                </c:rich>
              </c:tx>
              <c:txPr>
                <a:bodyPr xmlns:a="http://schemas.openxmlformats.org/drawingml/2006/main" anchorCtr="1"/>
                <a:lstStyle xmlns:a="http://schemas.openxmlformats.org/drawingml/2006/main"/>
                <a:p xmlns:a="http://schemas.openxmlformats.org/drawingml/2006/main">
                  <a:pPr>
                    <a:defRPr sz="1950" b="1">
                      <a:solidFill>
                        <a:srgbClr val="566779"/>
                      </a:solidFill>
                      <a:latin typeface="Arial"/>
                      <a:ea typeface="Arial"/>
                      <a:cs typeface="Arial"/>
                    </a:defRPr>
                  </a:pPr>
                </a:p>
              </c:txPr>
              <c:showVal val="0"/>
            </c:dLbl>
            <c:dLbl>
              <c:idx val="4"/>
              <c:tx>
                <c:rich>
                  <a:bodyPr xmlns:a="http://schemas.openxmlformats.org/drawingml/2006/main"/>
                  <a:lstStyle xmlns:a="http://schemas.openxmlformats.org/drawingml/2006/main"/>
                  <a:p xmlns:a="http://schemas.openxmlformats.org/drawingml/2006/main">
                    <a:r>
                      <a:rPr sz="1950" b="1">
                        <a:solidFill>
                          <a:srgbClr val="566779"/>
                        </a:solidFill>
                        <a:latin typeface="Arial"/>
                        <a:ea typeface="Arial"/>
                        <a:cs typeface="Arial"/>
                      </a:rPr>
                      <a:t>320</a:t>
                    </a:r>
                  </a:p>
                </c:rich>
              </c:tx>
              <c:txPr>
                <a:bodyPr xmlns:a="http://schemas.openxmlformats.org/drawingml/2006/main" anchorCtr="1"/>
                <a:lstStyle xmlns:a="http://schemas.openxmlformats.org/drawingml/2006/main"/>
                <a:p xmlns:a="http://schemas.openxmlformats.org/drawingml/2006/main">
                  <a:pPr>
                    <a:defRPr sz="1950" b="1">
                      <a:solidFill>
                        <a:srgbClr val="566779"/>
                      </a:solidFill>
                      <a:latin typeface="Arial"/>
                      <a:ea typeface="Arial"/>
                      <a:cs typeface="Arial"/>
                    </a:defRPr>
                  </a:pPr>
                </a:p>
              </c:txPr>
              <c:showVal val="0"/>
            </c:dLbl>
          </c:dLbls>
          <c:xVal>
            <c:numRef>
              <c:f>'Chart Data'!$A$2:$A$6</c:f>
              <c:numCache>
                <c:formatCode>General</c:formatCode>
                <c:ptCount val="5"/>
                <c:pt idx="0">
                  <c:v>100</c:v>
                </c:pt>
                <c:pt idx="1">
                  <c:v>120</c:v>
                </c:pt>
                <c:pt idx="2">
                  <c:v>140</c:v>
                </c:pt>
                <c:pt idx="3">
                  <c:v>160</c:v>
                </c:pt>
                <c:pt idx="4">
                  <c:v>170</c:v>
                </c:pt>
              </c:numCache>
            </c:numRef>
          </c:xVal>
          <c:yVal>
            <c:numRef>
              <c:f>'Chart Data'!$B$2:$B$6</c:f>
              <c:numCache>
                <c:formatCode>General</c:formatCode>
                <c:ptCount val="5"/>
                <c:pt idx="0">
                  <c:v>220</c:v>
                </c:pt>
                <c:pt idx="1">
                  <c:v>253.333333333</c:v>
                </c:pt>
                <c:pt idx="2">
                  <c:v>286.666666667</c:v>
                </c:pt>
                <c:pt idx="3">
                  <c:v>320</c:v>
                </c:pt>
                <c:pt idx="4">
                  <c:v>320</c:v>
                </c:pt>
              </c:numCache>
            </c:numRef>
          </c:y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showLegendKey val="0"/>
          <c:showVal val="1"/>
          <c:showCatName val="0"/>
          <c:showSerName val="0"/>
          <c:showPercent val="0"/>
          <c:showBubbleSize val="0"/>
          <c:showLeaderLines val="0"/>
        </c:dLbls>
        <c:axId val="48650112"/>
        <c:axId val="48672768"/>
      </c:scatterChart>
      <c:valAx>
        <c:axId val="48672768"/>
        <c:scaling>
          <c:orientation val="minMax"/>
          <c:max val="340"/>
          <c:min val="200"/>
        </c:scaling>
        <c:delete val="0"/>
        <c:axPos val="l"/>
        <c:majorGridlines>
          <c:spPr>
            <a:ln xmlns:a="http://schemas.openxmlformats.org/drawingml/2006/main" w="9525">
              <a:solidFill>
                <a:srgbClr val="CDD8E1"/>
              </a:solidFill>
            </a:ln>
          </c:spPr>
        </c:majorGridlines>
        <c:title>
          <c:tx>
            <c:rich>
              <a:bodyPr xmlns:a="http://schemas.openxmlformats.org/drawingml/2006/main"/>
              <a:lstStyle xmlns:a="http://schemas.openxmlformats.org/drawingml/2006/main"/>
              <a:p xmlns:a="http://schemas.openxmlformats.org/drawingml/2006/main">
                <a:r>
                  <a:rPr sz="2025">
                    <a:latin typeface="Arial"/>
                    <a:ea typeface="Arial"/>
                    <a:cs typeface="Arial"/>
                  </a:rPr>
                  <a:t>Користь Z</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majorUnit val="20"/>
      </c:valAx>
      <c:valAx>
        <c:axId val="48650112"/>
        <c:scaling>
          <c:orientation val="minMax"/>
          <c:max val="170"/>
          <c:min val="100"/>
        </c:scaling>
        <c:delete val="0"/>
        <c:axPos val="b"/>
        <c:title>
          <c:tx>
            <c:rich>
              <a:bodyPr xmlns:a="http://schemas.openxmlformats.org/drawingml/2006/main"/>
              <a:lstStyle xmlns:a="http://schemas.openxmlformats.org/drawingml/2006/main"/>
              <a:p xmlns:a="http://schemas.openxmlformats.org/drawingml/2006/main">
                <a:r>
                  <a:rPr sz="2025">
                    <a:latin typeface="Arial"/>
                    <a:ea typeface="Arial"/>
                    <a:cs typeface="Arial"/>
                  </a:rPr>
                  <a:t>Запас CPU</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BA5E2E-2536-439C-8CF9-F5E5AA51E5CC}"/>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Лекція 4. Розв’язання задачі ЛП</a:t>
            </a:r>
          </a:p>
        </p:txBody>
      </p:sp>
      <p:sp>
        <p:nvSpPr>
          <p:cNvPr id="3" name="">
            <a:extLst xmlns:a="http://schemas.openxmlformats.org/drawingml/2006/main">
              <a:ext uri="{FF2B5EF4-FFF2-40B4-BE49-F238E27FC236}">
                <a16:creationId xmlns:a16="http://schemas.microsoft.com/office/drawing/2014/main" id="{F66EE44E-C224-4920-9874-2D03EE768661}"/>
              </a:ext>
            </a:extLst>
          </p:cNvPr>
          <p:cNvSpPr>
            <a:spLocks xmlns:a="http://schemas.openxmlformats.org/drawingml/2006/main" noGrp="1"/>
          </p:cNvSpPr>
          <p:nvPr/>
        </p:nvSpPr>
        <p:spPr>
          <a:xfrm xmlns:a="http://schemas.openxmlformats.org/drawingml/2006/main">
            <a:off x="809625" y="1933575"/>
            <a:ext cx="10429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86F9F"/>
                </a:solidFill>
                <a:latin typeface="DejaVu Sans"/>
                <a:ea typeface="DejaVu Sans"/>
                <a:cs typeface="DejaVu Sans"/>
              </a:defRPr>
            </a:pPr>
            <a:r>
              <a:rPr sz="2400" b="1">
                <a:solidFill>
                  <a:srgbClr val="086F9F"/>
                </a:solidFill>
                <a:latin typeface="Arial"/>
                <a:ea typeface="Arial"/>
                <a:cs typeface="Arial"/>
              </a:rPr>
              <a:t>Один приклад: розподіл ресурсів сервера</a:t>
            </a:r>
          </a:p>
        </p:txBody>
      </p:sp>
      <p:sp>
        <p:nvSpPr>
          <p:cNvPr id="4" name="">
            <a:extLst xmlns:a="http://schemas.openxmlformats.org/drawingml/2006/main">
              <a:ext uri="{FF2B5EF4-FFF2-40B4-BE49-F238E27FC236}">
                <a16:creationId xmlns:a16="http://schemas.microsoft.com/office/drawing/2014/main" id="{4EB835F7-043A-4BE5-95CF-F8703279DFB5}"/>
              </a:ext>
            </a:extLst>
          </p:cNvPr>
          <p:cNvSpPr>
            <a:spLocks xmlns:a="http://schemas.openxmlformats.org/drawingml/2006/main" noGrp="1"/>
          </p:cNvSpPr>
          <p:nvPr/>
        </p:nvSpPr>
        <p:spPr>
          <a:xfrm xmlns:a="http://schemas.openxmlformats.org/drawingml/2006/main">
            <a:off x="809625" y="3095625"/>
            <a:ext cx="102774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C42"/>
                </a:solidFill>
                <a:latin typeface="DejaVu Sans"/>
                <a:ea typeface="DejaVu Sans"/>
                <a:cs typeface="DejaVu Sans"/>
              </a:defRPr>
            </a:pPr>
            <a:r>
              <a:rPr sz="2325" b="0">
                <a:solidFill>
                  <a:srgbClr val="152C42"/>
                </a:solidFill>
                <a:latin typeface="Arial"/>
                <a:ea typeface="Arial"/>
                <a:cs typeface="Arial"/>
              </a:rPr>
              <a:t>Від постановки й моделі до коду, перевірки та сценаріїв.</a:t>
            </a:r>
          </a:p>
        </p:txBody>
      </p:sp>
      <p:sp>
        <p:nvSpPr>
          <p:cNvPr id="5" name="">
            <a:extLst xmlns:a="http://schemas.openxmlformats.org/drawingml/2006/main">
              <a:ext uri="{FF2B5EF4-FFF2-40B4-BE49-F238E27FC236}">
                <a16:creationId xmlns:a16="http://schemas.microsoft.com/office/drawing/2014/main" id="{34518626-6680-4E04-85F2-28CC2DAE59DC}"/>
              </a:ext>
            </a:extLst>
          </p:cNvPr>
          <p:cNvSpPr>
            <a:spLocks xmlns:a="http://schemas.openxmlformats.org/drawingml/2006/main" noGrp="1"/>
          </p:cNvSpPr>
          <p:nvPr/>
        </p:nvSpPr>
        <p:spPr>
          <a:xfrm xmlns:a="http://schemas.openxmlformats.org/drawingml/2006/main">
            <a:off x="819150" y="525780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Питання лекції: </a:t>
            </a:r>
            <a:r>
              <a:rPr sz="1875" b="1">
                <a:solidFill>
                  <a:srgbClr val="08786F"/>
                </a:solidFill>
                <a:latin typeface="Arial"/>
                <a:ea typeface="Arial"/>
                <a:cs typeface="Arial"/>
              </a:rPr>
              <a:t>яке навантаження запланувати</a:t>
            </a:r>
            <a:r>
              <a:rPr sz="1875" b="1">
                <a:solidFill>
                  <a:srgbClr val="08786F"/>
                </a:solidFill>
                <a:latin typeface="Arial"/>
                <a:ea typeface="Arial"/>
                <a:cs typeface="Arial"/>
              </a:rPr>
              <a:t> й що зміниться, якщо додати ресурс?</a:t>
            </a:r>
          </a:p>
        </p:txBody>
      </p:sp>
      <p:sp>
        <p:nvSpPr>
          <p:cNvPr id="7" name="">
            <a:extLst xmlns:a="http://schemas.openxmlformats.org/drawingml/2006/main">
              <a:ext uri="{FF2B5EF4-FFF2-40B4-BE49-F238E27FC236}">
                <a16:creationId xmlns:a16="http://schemas.microsoft.com/office/drawing/2014/main" id="{8C83AB26-7F09-4F35-A505-A2649AA17721}"/>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a:t>
            </a:r>
          </a:p>
        </p:txBody>
      </p:sp>
    </p:spTree>
    <p:extLst>
      <p:ext uri="{BB962C8B-B14F-4D97-AF65-F5344CB8AC3E}">
        <p14:creationId xmlns:p14="http://schemas.microsoft.com/office/powerpoint/2010/main" val="66136748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E55FDF-E6DB-45B3-9DB2-21A5C6F60855}"/>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Лекція 4: маршрут заняття</a:t>
            </a:r>
          </a:p>
        </p:txBody>
      </p:sp>
      <p:sp>
        <p:nvSpPr>
          <p:cNvPr id="2" name="">
            <a:extLst xmlns:a="http://schemas.openxmlformats.org/drawingml/2006/main">
              <a:ext uri="{FF2B5EF4-FFF2-40B4-BE49-F238E27FC236}">
                <a16:creationId xmlns:a16="http://schemas.microsoft.com/office/drawing/2014/main" id="{34274D0C-D2F3-4ACA-96C2-C99C84944EF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Основний показ PowerPoint «Лекція 4». Деталі API та журнал: показ «Практикум».</a:t>
            </a:r>
          </a:p>
        </p:txBody>
      </p:sp>
      <p:sp>
        <p:nvSpPr>
          <p:cNvPr id="3" name="">
            <a:extLst xmlns:a="http://schemas.openxmlformats.org/drawingml/2006/main">
              <a:ext uri="{FF2B5EF4-FFF2-40B4-BE49-F238E27FC236}">
                <a16:creationId xmlns:a16="http://schemas.microsoft.com/office/drawing/2014/main" id="{E50E245B-E1AC-4861-8C27-0308D78F0CD1}"/>
              </a:ext>
            </a:extLst>
          </p:cNvPr>
          <p:cNvSpPr>
            <a:spLocks xmlns:a="http://schemas.openxmlformats.org/drawingml/2006/main" noGrp="1"/>
          </p:cNvSpPr>
          <p:nvPr/>
        </p:nvSpPr>
        <p:spPr>
          <a:xfrm xmlns:a="http://schemas.openxmlformats.org/drawingml/2006/main">
            <a:off x="762000" y="1647825"/>
            <a:ext cx="1066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1. ІТ-постановка та математична модель</a:t>
            </a:r>
          </a:p>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2. ОПР і геометрія оптимуму</a:t>
            </a:r>
          </a:p>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3. Симплекс: вибір та перерахунок базису</a:t>
            </a:r>
          </a:p>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4. Python: розв’язання та перевірка</a:t>
            </a:r>
          </a:p>
          <a:p xmlns:a="http://schemas.openxmlformats.org/drawingml/2006/main">
            <a:pPr algn="l">
              <a:buNone/>
              <a:defRPr sz="2700" b="0">
                <a:solidFill>
                  <a:srgbClr val="173047"/>
                </a:solidFill>
                <a:latin typeface="Arial"/>
                <a:ea typeface="Arial"/>
                <a:cs typeface="Arial"/>
              </a:defRPr>
            </a:pPr>
            <a:r>
              <a:rPr sz="2700" b="0">
                <a:solidFill>
                  <a:srgbClr val="173047"/>
                </a:solidFill>
                <a:latin typeface="Arial"/>
                <a:ea typeface="Arial"/>
                <a:cs typeface="Arial"/>
              </a:rPr>
              <a:t>5. Цінність ресурсів і сценарії</a:t>
            </a:r>
          </a:p>
        </p:txBody>
      </p:sp>
      <p:sp>
        <p:nvSpPr>
          <p:cNvPr id="4" name="">
            <a:extLst xmlns:a="http://schemas.openxmlformats.org/drawingml/2006/main">
              <a:ext uri="{FF2B5EF4-FFF2-40B4-BE49-F238E27FC236}">
                <a16:creationId xmlns:a16="http://schemas.microsoft.com/office/drawing/2014/main" id="{9CCDD8EB-81D0-4AFE-BFDF-447FE618379D}"/>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a:t>
            </a:r>
          </a:p>
        </p:txBody>
      </p:sp>
    </p:spTree>
    <p:extLst>
      <p:ext uri="{BB962C8B-B14F-4D97-AF65-F5344CB8AC3E}">
        <p14:creationId xmlns:p14="http://schemas.microsoft.com/office/powerpoint/2010/main" val="69071563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C198B3-78A6-44D2-A22B-2868E7CE72D8}"/>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Словник: від моделі до алгоритму</a:t>
            </a:r>
          </a:p>
        </p:txBody>
      </p:sp>
      <p:sp>
        <p:nvSpPr>
          <p:cNvPr id="2" name="">
            <a:extLst xmlns:a="http://schemas.openxmlformats.org/drawingml/2006/main">
              <a:ext uri="{FF2B5EF4-FFF2-40B4-BE49-F238E27FC236}">
                <a16:creationId xmlns:a16="http://schemas.microsoft.com/office/drawing/2014/main" id="{EF09AC29-E264-44EE-B4BD-C4543F29CCC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ОПР — область припустимих розв’язків.</a:t>
            </a:r>
          </a:p>
        </p:txBody>
      </p:sp>
      <p:graphicFrame>
        <p:nvGraphicFramePr>
          <p:cNvPr id="10" name="">
            <a:extLst xmlns:a="http://schemas.openxmlformats.org/drawingml/2006/main">
              <a:ext uri="{FF2B5EF4-FFF2-40B4-BE49-F238E27FC236}">
                <a16:creationId xmlns:a16="http://schemas.microsoft.com/office/drawing/2014/main" id="{25CFF2A6-0452-4EE9-8746-558823A37912}"/>
              </a:ext>
            </a:extLst>
          </p:cNvPr>
          <p:cNvGraphicFramePr/>
          <p:nvPr/>
        </p:nvGraphicFramePr>
        <p:xfrm>
          <a:off xmlns:a="http://schemas.openxmlformats.org/drawingml/2006/main" x="762000" y="1562100"/>
          <a:ext xmlns:a="http://schemas.openxmlformats.org/drawingml/2006/main" cx="10668000" cy="3810000"/>
        </p:xfrm>
        <a:graphic xmlns:a="http://schemas.openxmlformats.org/drawingml/2006/main">
          <a:graphicData uri="http://schemas.openxmlformats.org/drawingml/2006/table">
            <a:tbl>
              <a:tblPr/>
              <a:tblGrid>
                <a:gridCol w="3333750"/>
                <a:gridCol w="7334250"/>
              </a:tblGrid>
              <a:tr h="762000">
                <a:tc>
                  <a:txBody>
                    <a:bodyPr/>
                    <a:lstStyle/>
                    <a:p>
                      <a:r>
                        <a:rPr sz="2175" b="1">
                          <a:solidFill>
                            <a:srgbClr val="FFFFFF"/>
                          </a:solidFill>
                          <a:latin typeface="Arial"/>
                          <a:ea typeface="Arial"/>
                          <a:cs typeface="Arial"/>
                        </a:rPr>
                        <a:t>Термін</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Просте пояснення</a:t>
                      </a:r>
                    </a:p>
                  </a:txBody>
                  <a:tcPr marL="114300" marR="114300" marT="66675" marB="66675" anchor="ctr">
                    <a:solidFill>
                      <a:srgbClr val="173047"/>
                    </a:solidFill>
                  </a:tcPr>
                </a:tc>
              </a:tr>
              <a:tr h="762000">
                <a:tc>
                  <a:txBody>
                    <a:bodyPr/>
                    <a:lstStyle/>
                    <a:p>
                      <a:r>
                        <a:rPr sz="2175">
                          <a:solidFill>
                            <a:srgbClr val="173047"/>
                          </a:solidFill>
                          <a:latin typeface="Arial"/>
                          <a:ea typeface="Arial"/>
                          <a:cs typeface="Arial"/>
                        </a:rPr>
                        <a:t>Базис</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Незалежні стовпці; змінні знаходимо з рівнянь</a:t>
                      </a:r>
                    </a:p>
                  </a:txBody>
                  <a:tcPr marL="114300" marR="114300" marT="66675" marB="66675" anchor="ctr">
                    <a:solidFill>
                      <a:srgbClr val="FFFFFF"/>
                    </a:solidFill>
                  </a:tcPr>
                </a:tc>
              </a:tr>
              <a:tr h="762000">
                <a:tc>
                  <a:txBody>
                    <a:bodyPr/>
                    <a:lstStyle/>
                    <a:p>
                      <a:r>
                        <a:rPr sz="2175">
                          <a:solidFill>
                            <a:srgbClr val="173047"/>
                          </a:solidFill>
                          <a:latin typeface="Arial"/>
                          <a:ea typeface="Arial"/>
                          <a:cs typeface="Arial"/>
                        </a:rPr>
                        <a:t>Небазисна змінна</a:t>
                      </a:r>
                    </a:p>
                  </a:txBody>
                  <a:tcPr marL="114300" marR="114300" marT="66675" marB="66675" anchor="ctr">
                    <a:solidFill>
                      <a:srgbClr val="FFFFFF"/>
                    </a:solidFill>
                  </a:tcPr>
                </a:tc>
                <a:tc>
                  <a:txBody>
                    <a:bodyPr/>
                    <a:lstStyle/>
                    <a:p>
                      <a:r>
                        <a:rPr sz="2175">
                          <a:solidFill>
                            <a:srgbClr val="173047"/>
                          </a:solidFill>
                          <a:latin typeface="Arial"/>
                          <a:ea typeface="Arial"/>
                          <a:cs typeface="Arial"/>
                        </a:rPr>
                        <a:t>У поточному базисному плані дорівнює нулю</a:t>
                      </a:r>
                    </a:p>
                  </a:txBody>
                  <a:tcPr marL="114300" marR="114300" marT="66675" marB="66675" anchor="ctr">
                    <a:solidFill>
                      <a:srgbClr val="FFFFFF"/>
                    </a:solidFill>
                  </a:tcPr>
                </a:tc>
              </a:tr>
              <a:tr h="762000">
                <a:tc>
                  <a:txBody>
                    <a:bodyPr/>
                    <a:lstStyle/>
                    <a:p>
                      <a:r>
                        <a:rPr sz="2175">
                          <a:solidFill>
                            <a:srgbClr val="173047"/>
                          </a:solidFill>
                          <a:latin typeface="Arial"/>
                          <a:ea typeface="Arial"/>
                          <a:cs typeface="Arial"/>
                        </a:rPr>
                        <a:t>Приведена оцінка</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Зміна цілі при вході змінної в поточний базис</a:t>
                      </a:r>
                    </a:p>
                  </a:txBody>
                  <a:tcPr marL="114300" marR="114300" marT="66675" marB="66675" anchor="ctr">
                    <a:solidFill>
                      <a:srgbClr val="FFFFFF"/>
                    </a:solidFill>
                  </a:tcPr>
                </a:tc>
              </a:tr>
              <a:tr h="762000">
                <a:tc>
                  <a:txBody>
                    <a:bodyPr/>
                    <a:lstStyle/>
                    <a:p>
                      <a:r>
                        <a:rPr sz="2175">
                          <a:solidFill>
                            <a:srgbClr val="173047"/>
                          </a:solidFill>
                          <a:latin typeface="Arial"/>
                          <a:ea typeface="Arial"/>
                          <a:cs typeface="Arial"/>
                        </a:rPr>
                        <a:t>Розв’язувач</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Програма, яка реалізує алгоритм оптимізації</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B598C31-E6C7-4687-AA2A-3F868DFA2237}"/>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a:t>
            </a:r>
          </a:p>
        </p:txBody>
      </p:sp>
    </p:spTree>
    <p:extLst>
      <p:ext uri="{BB962C8B-B14F-4D97-AF65-F5344CB8AC3E}">
        <p14:creationId xmlns:p14="http://schemas.microsoft.com/office/powerpoint/2010/main" val="11079214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5DAAB9-448F-4E8C-9E2F-063016EEDC6E}"/>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Постановка: інференс і аналітика</a:t>
            </a:r>
          </a:p>
        </p:txBody>
      </p:sp>
      <p:sp>
        <p:nvSpPr>
          <p:cNvPr id="2" name="">
            <a:extLst xmlns:a="http://schemas.openxmlformats.org/drawingml/2006/main">
              <a:ext uri="{FF2B5EF4-FFF2-40B4-BE49-F238E27FC236}">
                <a16:creationId xmlns:a16="http://schemas.microsoft.com/office/drawing/2014/main" id="{AC0B0B69-038C-44FE-96EB-4C57C3FED17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Плануємо одночасно зарезервоване подільне навантаження.</a:t>
            </a:r>
          </a:p>
        </p:txBody>
      </p:sp>
      <p:sp>
        <p:nvSpPr>
          <p:cNvPr id="3" name="">
            <a:extLst xmlns:a="http://schemas.openxmlformats.org/drawingml/2006/main">
              <a:ext uri="{FF2B5EF4-FFF2-40B4-BE49-F238E27FC236}">
                <a16:creationId xmlns:a16="http://schemas.microsoft.com/office/drawing/2014/main" id="{C58C5C96-2FF1-41C5-A264-D17E757DCE03}"/>
              </a:ext>
            </a:extLst>
          </p:cNvPr>
          <p:cNvSpPr>
            <a:spLocks xmlns:a="http://schemas.openxmlformats.org/drawingml/2006/main" noGrp="1"/>
          </p:cNvSpPr>
          <p:nvPr/>
        </p:nvSpPr>
        <p:spPr>
          <a:xfrm xmlns:a="http://schemas.openxmlformats.org/drawingml/2006/main">
            <a:off x="762000" y="171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Два типи роботи: інференс та пакетна аналітика.</a:t>
            </a:r>
          </a:p>
        </p:txBody>
      </p:sp>
      <p:sp>
        <p:nvSpPr>
          <p:cNvPr id="4" name="">
            <a:extLst xmlns:a="http://schemas.openxmlformats.org/drawingml/2006/main">
              <a:ext uri="{FF2B5EF4-FFF2-40B4-BE49-F238E27FC236}">
                <a16:creationId xmlns:a16="http://schemas.microsoft.com/office/drawing/2014/main" id="{850EA32B-6C96-4AC1-9350-A65D65F14E3D}"/>
              </a:ext>
            </a:extLst>
          </p:cNvPr>
          <p:cNvSpPr>
            <a:spLocks xmlns:a="http://schemas.openxmlformats.org/drawingml/2006/main" noGrp="1"/>
          </p:cNvSpPr>
          <p:nvPr/>
        </p:nvSpPr>
        <p:spPr>
          <a:xfrm xmlns:a="http://schemas.openxmlformats.org/drawingml/2006/main">
            <a:off x="762000" y="27146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Доступно 100 умовних одиниць CPU</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та 80 одиниць пам’яті.</a:t>
            </a:r>
          </a:p>
        </p:txBody>
      </p:sp>
      <p:sp>
        <p:nvSpPr>
          <p:cNvPr id="5" name="">
            <a:extLst xmlns:a="http://schemas.openxmlformats.org/drawingml/2006/main">
              <a:ext uri="{FF2B5EF4-FFF2-40B4-BE49-F238E27FC236}">
                <a16:creationId xmlns:a16="http://schemas.microsoft.com/office/drawing/2014/main" id="{8532CB87-C129-459D-8975-311192B19E0A}"/>
              </a:ext>
            </a:extLst>
          </p:cNvPr>
          <p:cNvSpPr>
            <a:spLocks xmlns:a="http://schemas.openxmlformats.org/drawingml/2006/main" noGrp="1"/>
          </p:cNvSpPr>
          <p:nvPr/>
        </p:nvSpPr>
        <p:spPr>
          <a:xfrm xmlns:a="http://schemas.openxmlformats.org/drawingml/2006/main">
            <a:off x="762000" y="40957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Мета — найбільша сумарна користь</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запланованої роботи.</a:t>
            </a:r>
          </a:p>
        </p:txBody>
      </p:sp>
      <p:sp>
        <p:nvSpPr>
          <p:cNvPr id="8" name="">
            <a:extLst xmlns:a="http://schemas.openxmlformats.org/drawingml/2006/main">
              <a:ext uri="{FF2B5EF4-FFF2-40B4-BE49-F238E27FC236}">
                <a16:creationId xmlns:a16="http://schemas.microsoft.com/office/drawing/2014/main" id="{EF028B03-46E9-4D16-ABFB-68732D7AA62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a:t>
            </a:r>
          </a:p>
        </p:txBody>
      </p:sp>
    </p:spTree>
    <p:extLst>
      <p:ext uri="{BB962C8B-B14F-4D97-AF65-F5344CB8AC3E}">
        <p14:creationId xmlns:p14="http://schemas.microsoft.com/office/powerpoint/2010/main" val="14600013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A4FD455-F90F-4A4A-98B8-BE5940DE4E0F}"/>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Вихідні дані задачі</a:t>
            </a:r>
          </a:p>
        </p:txBody>
      </p:sp>
      <p:sp>
        <p:nvSpPr>
          <p:cNvPr id="3" name="">
            <a:extLst xmlns:a="http://schemas.openxmlformats.org/drawingml/2006/main">
              <a:ext uri="{FF2B5EF4-FFF2-40B4-BE49-F238E27FC236}">
                <a16:creationId xmlns:a16="http://schemas.microsoft.com/office/drawing/2014/main" id="{A00E83C9-4202-405C-AE30-2AEE38830BCC}"/>
              </a:ext>
            </a:extLst>
          </p:cNvPr>
          <p:cNvSpPr>
            <a:spLocks xmlns:a="http://schemas.openxmlformats.org/drawingml/2006/main" noGrp="1"/>
          </p:cNvSpPr>
          <p:nvPr/>
        </p:nvSpPr>
        <p:spPr>
          <a:xfrm xmlns:a="http://schemas.openxmlformats.org/drawingml/2006/main">
            <a:off x="742950" y="2247900"/>
            <a:ext cx="3619500" cy="8953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754B64A4-8495-4FC3-9032-01E5A5D55E55}"/>
              </a:ext>
            </a:extLst>
          </p:cNvPr>
          <p:cNvSpPr>
            <a:spLocks xmlns:a="http://schemas.openxmlformats.org/drawingml/2006/main" noGrp="1"/>
          </p:cNvSpPr>
          <p:nvPr/>
        </p:nvSpPr>
        <p:spPr>
          <a:xfrm xmlns:a="http://schemas.openxmlformats.org/drawingml/2006/main">
            <a:off x="838200" y="2324100"/>
            <a:ext cx="342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Блок роботи</a:t>
            </a:r>
          </a:p>
        </p:txBody>
      </p:sp>
      <p:sp>
        <p:nvSpPr>
          <p:cNvPr id="5" name="">
            <a:extLst xmlns:a="http://schemas.openxmlformats.org/drawingml/2006/main">
              <a:ext uri="{FF2B5EF4-FFF2-40B4-BE49-F238E27FC236}">
                <a16:creationId xmlns:a16="http://schemas.microsoft.com/office/drawing/2014/main" id="{5E067F68-60C3-4CAF-8150-EB8DB7E62B0F}"/>
              </a:ext>
            </a:extLst>
          </p:cNvPr>
          <p:cNvSpPr>
            <a:spLocks xmlns:a="http://schemas.openxmlformats.org/drawingml/2006/main" noGrp="1"/>
          </p:cNvSpPr>
          <p:nvPr/>
        </p:nvSpPr>
        <p:spPr>
          <a:xfrm xmlns:a="http://schemas.openxmlformats.org/drawingml/2006/main">
            <a:off x="4362450" y="2247900"/>
            <a:ext cx="2238375" cy="8953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C7EE87E7-E863-40EA-84C2-E4EDA6152F2A}"/>
              </a:ext>
            </a:extLst>
          </p:cNvPr>
          <p:cNvSpPr>
            <a:spLocks xmlns:a="http://schemas.openxmlformats.org/drawingml/2006/main" noGrp="1"/>
          </p:cNvSpPr>
          <p:nvPr/>
        </p:nvSpPr>
        <p:spPr>
          <a:xfrm xmlns:a="http://schemas.openxmlformats.org/drawingml/2006/main">
            <a:off x="4457700" y="2324100"/>
            <a:ext cx="2047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CPU</a:t>
            </a:r>
          </a:p>
        </p:txBody>
      </p:sp>
      <p:sp>
        <p:nvSpPr>
          <p:cNvPr id="7" name="">
            <a:extLst xmlns:a="http://schemas.openxmlformats.org/drawingml/2006/main">
              <a:ext uri="{FF2B5EF4-FFF2-40B4-BE49-F238E27FC236}">
                <a16:creationId xmlns:a16="http://schemas.microsoft.com/office/drawing/2014/main" id="{A63E31E1-5C24-42BB-94C4-4327215193CB}"/>
              </a:ext>
            </a:extLst>
          </p:cNvPr>
          <p:cNvSpPr>
            <a:spLocks xmlns:a="http://schemas.openxmlformats.org/drawingml/2006/main" noGrp="1"/>
          </p:cNvSpPr>
          <p:nvPr/>
        </p:nvSpPr>
        <p:spPr>
          <a:xfrm xmlns:a="http://schemas.openxmlformats.org/drawingml/2006/main">
            <a:off x="6600825" y="2247900"/>
            <a:ext cx="2428875" cy="8953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E51E7087-9D9D-4367-B483-8D43F5289AFE}"/>
              </a:ext>
            </a:extLst>
          </p:cNvPr>
          <p:cNvSpPr>
            <a:spLocks xmlns:a="http://schemas.openxmlformats.org/drawingml/2006/main" noGrp="1"/>
          </p:cNvSpPr>
          <p:nvPr/>
        </p:nvSpPr>
        <p:spPr>
          <a:xfrm xmlns:a="http://schemas.openxmlformats.org/drawingml/2006/main">
            <a:off x="6696075" y="2324100"/>
            <a:ext cx="2238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Пам’ять</a:t>
            </a:r>
          </a:p>
        </p:txBody>
      </p:sp>
      <p:sp>
        <p:nvSpPr>
          <p:cNvPr id="9" name="">
            <a:extLst xmlns:a="http://schemas.openxmlformats.org/drawingml/2006/main">
              <a:ext uri="{FF2B5EF4-FFF2-40B4-BE49-F238E27FC236}">
                <a16:creationId xmlns:a16="http://schemas.microsoft.com/office/drawing/2014/main" id="{FFD93CBB-6ED9-4992-BD29-93ECDE431F10}"/>
              </a:ext>
            </a:extLst>
          </p:cNvPr>
          <p:cNvSpPr>
            <a:spLocks xmlns:a="http://schemas.openxmlformats.org/drawingml/2006/main" noGrp="1"/>
          </p:cNvSpPr>
          <p:nvPr/>
        </p:nvSpPr>
        <p:spPr>
          <a:xfrm xmlns:a="http://schemas.openxmlformats.org/drawingml/2006/main">
            <a:off x="9029700" y="2247900"/>
            <a:ext cx="2419350" cy="8953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341B7F4E-6331-4E91-ACE1-128CEBD2C36A}"/>
              </a:ext>
            </a:extLst>
          </p:cNvPr>
          <p:cNvSpPr>
            <a:spLocks xmlns:a="http://schemas.openxmlformats.org/drawingml/2006/main" noGrp="1"/>
          </p:cNvSpPr>
          <p:nvPr/>
        </p:nvSpPr>
        <p:spPr>
          <a:xfrm xmlns:a="http://schemas.openxmlformats.org/drawingml/2006/main">
            <a:off x="9124950" y="2324100"/>
            <a:ext cx="2228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Користь</a:t>
            </a:r>
          </a:p>
        </p:txBody>
      </p:sp>
      <p:sp>
        <p:nvSpPr>
          <p:cNvPr id="11" name="">
            <a:extLst xmlns:a="http://schemas.openxmlformats.org/drawingml/2006/main">
              <a:ext uri="{FF2B5EF4-FFF2-40B4-BE49-F238E27FC236}">
                <a16:creationId xmlns:a16="http://schemas.microsoft.com/office/drawing/2014/main" id="{303C05C8-026F-4351-AFDE-260E73615353}"/>
              </a:ext>
            </a:extLst>
          </p:cNvPr>
          <p:cNvSpPr>
            <a:spLocks xmlns:a="http://schemas.openxmlformats.org/drawingml/2006/main" noGrp="1"/>
          </p:cNvSpPr>
          <p:nvPr/>
        </p:nvSpPr>
        <p:spPr>
          <a:xfrm xmlns:a="http://schemas.openxmlformats.org/drawingml/2006/main">
            <a:off x="742950" y="3143250"/>
            <a:ext cx="3619500" cy="8953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88452504-8E7D-494C-A8CA-D8299655E848}"/>
              </a:ext>
            </a:extLst>
          </p:cNvPr>
          <p:cNvSpPr>
            <a:spLocks xmlns:a="http://schemas.openxmlformats.org/drawingml/2006/main" noGrp="1"/>
          </p:cNvSpPr>
          <p:nvPr/>
        </p:nvSpPr>
        <p:spPr>
          <a:xfrm xmlns:a="http://schemas.openxmlformats.org/drawingml/2006/main">
            <a:off x="838200" y="3219450"/>
            <a:ext cx="342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Інференс</a:t>
            </a:r>
          </a:p>
        </p:txBody>
      </p:sp>
      <p:sp>
        <p:nvSpPr>
          <p:cNvPr id="13" name="">
            <a:extLst xmlns:a="http://schemas.openxmlformats.org/drawingml/2006/main">
              <a:ext uri="{FF2B5EF4-FFF2-40B4-BE49-F238E27FC236}">
                <a16:creationId xmlns:a16="http://schemas.microsoft.com/office/drawing/2014/main" id="{32AD2761-111F-4367-977E-53889E7BCF96}"/>
              </a:ext>
            </a:extLst>
          </p:cNvPr>
          <p:cNvSpPr>
            <a:spLocks xmlns:a="http://schemas.openxmlformats.org/drawingml/2006/main" noGrp="1"/>
          </p:cNvSpPr>
          <p:nvPr/>
        </p:nvSpPr>
        <p:spPr>
          <a:xfrm xmlns:a="http://schemas.openxmlformats.org/drawingml/2006/main">
            <a:off x="4362450" y="3143250"/>
            <a:ext cx="2238375" cy="8953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A05F7658-2716-40DE-A92B-1402B02F143F}"/>
              </a:ext>
            </a:extLst>
          </p:cNvPr>
          <p:cNvSpPr>
            <a:spLocks xmlns:a="http://schemas.openxmlformats.org/drawingml/2006/main" noGrp="1"/>
          </p:cNvSpPr>
          <p:nvPr/>
        </p:nvSpPr>
        <p:spPr>
          <a:xfrm xmlns:a="http://schemas.openxmlformats.org/drawingml/2006/main">
            <a:off x="4457700" y="3219450"/>
            <a:ext cx="2047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74A18C98-D914-4121-A249-7CA1C6F6B696}"/>
              </a:ext>
            </a:extLst>
          </p:cNvPr>
          <p:cNvSpPr>
            <a:spLocks xmlns:a="http://schemas.openxmlformats.org/drawingml/2006/main" noGrp="1"/>
          </p:cNvSpPr>
          <p:nvPr/>
        </p:nvSpPr>
        <p:spPr>
          <a:xfrm xmlns:a="http://schemas.openxmlformats.org/drawingml/2006/main">
            <a:off x="6600825" y="3143250"/>
            <a:ext cx="2428875" cy="8953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409D6253-BFC9-46C0-8165-E665DA6F30A5}"/>
              </a:ext>
            </a:extLst>
          </p:cNvPr>
          <p:cNvSpPr>
            <a:spLocks xmlns:a="http://schemas.openxmlformats.org/drawingml/2006/main" noGrp="1"/>
          </p:cNvSpPr>
          <p:nvPr/>
        </p:nvSpPr>
        <p:spPr>
          <a:xfrm xmlns:a="http://schemas.openxmlformats.org/drawingml/2006/main">
            <a:off x="6696075" y="3219450"/>
            <a:ext cx="2238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12280ACB-B2DA-47EE-A18B-402E48313B2A}"/>
              </a:ext>
            </a:extLst>
          </p:cNvPr>
          <p:cNvSpPr>
            <a:spLocks xmlns:a="http://schemas.openxmlformats.org/drawingml/2006/main" noGrp="1"/>
          </p:cNvSpPr>
          <p:nvPr/>
        </p:nvSpPr>
        <p:spPr>
          <a:xfrm xmlns:a="http://schemas.openxmlformats.org/drawingml/2006/main">
            <a:off x="9029700" y="3143250"/>
            <a:ext cx="2419350" cy="8953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1E6C3DAA-2ECD-4A61-8523-ED877BA46F2A}"/>
              </a:ext>
            </a:extLst>
          </p:cNvPr>
          <p:cNvSpPr>
            <a:spLocks xmlns:a="http://schemas.openxmlformats.org/drawingml/2006/main" noGrp="1"/>
          </p:cNvSpPr>
          <p:nvPr/>
        </p:nvSpPr>
        <p:spPr>
          <a:xfrm xmlns:a="http://schemas.openxmlformats.org/drawingml/2006/main">
            <a:off x="9124950" y="3219450"/>
            <a:ext cx="2228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A5DDFD50-F7FE-47AC-9B5A-6DE6D7005DB8}"/>
              </a:ext>
            </a:extLst>
          </p:cNvPr>
          <p:cNvSpPr>
            <a:spLocks xmlns:a="http://schemas.openxmlformats.org/drawingml/2006/main" noGrp="1"/>
          </p:cNvSpPr>
          <p:nvPr/>
        </p:nvSpPr>
        <p:spPr>
          <a:xfrm xmlns:a="http://schemas.openxmlformats.org/drawingml/2006/main">
            <a:off x="742950" y="4038600"/>
            <a:ext cx="361950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6391F079-0560-408C-A280-F199BDCFA62B}"/>
              </a:ext>
            </a:extLst>
          </p:cNvPr>
          <p:cNvSpPr>
            <a:spLocks xmlns:a="http://schemas.openxmlformats.org/drawingml/2006/main" noGrp="1"/>
          </p:cNvSpPr>
          <p:nvPr/>
        </p:nvSpPr>
        <p:spPr>
          <a:xfrm xmlns:a="http://schemas.openxmlformats.org/drawingml/2006/main">
            <a:off x="838200" y="4114800"/>
            <a:ext cx="342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Аналітика</a:t>
            </a:r>
          </a:p>
        </p:txBody>
      </p:sp>
      <p:sp>
        <p:nvSpPr>
          <p:cNvPr id="21" name="">
            <a:extLst xmlns:a="http://schemas.openxmlformats.org/drawingml/2006/main">
              <a:ext uri="{FF2B5EF4-FFF2-40B4-BE49-F238E27FC236}">
                <a16:creationId xmlns:a16="http://schemas.microsoft.com/office/drawing/2014/main" id="{C917F203-9479-4C48-AEB1-D46C394E7D1F}"/>
              </a:ext>
            </a:extLst>
          </p:cNvPr>
          <p:cNvSpPr>
            <a:spLocks xmlns:a="http://schemas.openxmlformats.org/drawingml/2006/main" noGrp="1"/>
          </p:cNvSpPr>
          <p:nvPr/>
        </p:nvSpPr>
        <p:spPr>
          <a:xfrm xmlns:a="http://schemas.openxmlformats.org/drawingml/2006/main">
            <a:off x="4362450" y="4038600"/>
            <a:ext cx="2238375"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AFF2721C-BE7B-4932-A57A-64DCA283B6E7}"/>
              </a:ext>
            </a:extLst>
          </p:cNvPr>
          <p:cNvSpPr>
            <a:spLocks xmlns:a="http://schemas.openxmlformats.org/drawingml/2006/main" noGrp="1"/>
          </p:cNvSpPr>
          <p:nvPr/>
        </p:nvSpPr>
        <p:spPr>
          <a:xfrm xmlns:a="http://schemas.openxmlformats.org/drawingml/2006/main">
            <a:off x="4457700" y="4114800"/>
            <a:ext cx="2047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a:t>
            </a:r>
          </a:p>
        </p:txBody>
      </p:sp>
      <p:sp>
        <p:nvSpPr>
          <p:cNvPr id="23" name="">
            <a:extLst xmlns:a="http://schemas.openxmlformats.org/drawingml/2006/main">
              <a:ext uri="{FF2B5EF4-FFF2-40B4-BE49-F238E27FC236}">
                <a16:creationId xmlns:a16="http://schemas.microsoft.com/office/drawing/2014/main" id="{AB744BE6-FB73-4D6A-B5E5-45672C2F5942}"/>
              </a:ext>
            </a:extLst>
          </p:cNvPr>
          <p:cNvSpPr>
            <a:spLocks xmlns:a="http://schemas.openxmlformats.org/drawingml/2006/main" noGrp="1"/>
          </p:cNvSpPr>
          <p:nvPr/>
        </p:nvSpPr>
        <p:spPr>
          <a:xfrm xmlns:a="http://schemas.openxmlformats.org/drawingml/2006/main">
            <a:off x="6600825" y="4038600"/>
            <a:ext cx="2428875"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817EBB1A-5A6E-415B-B339-4E70F3B6CF41}"/>
              </a:ext>
            </a:extLst>
          </p:cNvPr>
          <p:cNvSpPr>
            <a:spLocks xmlns:a="http://schemas.openxmlformats.org/drawingml/2006/main" noGrp="1"/>
          </p:cNvSpPr>
          <p:nvPr/>
        </p:nvSpPr>
        <p:spPr>
          <a:xfrm xmlns:a="http://schemas.openxmlformats.org/drawingml/2006/main">
            <a:off x="6696075" y="4114800"/>
            <a:ext cx="2238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a:t>
            </a:r>
          </a:p>
        </p:txBody>
      </p:sp>
      <p:sp>
        <p:nvSpPr>
          <p:cNvPr id="25" name="">
            <a:extLst xmlns:a="http://schemas.openxmlformats.org/drawingml/2006/main">
              <a:ext uri="{FF2B5EF4-FFF2-40B4-BE49-F238E27FC236}">
                <a16:creationId xmlns:a16="http://schemas.microsoft.com/office/drawing/2014/main" id="{2D41BC19-F25F-4BD2-B36C-B088F7534809}"/>
              </a:ext>
            </a:extLst>
          </p:cNvPr>
          <p:cNvSpPr>
            <a:spLocks xmlns:a="http://schemas.openxmlformats.org/drawingml/2006/main" noGrp="1"/>
          </p:cNvSpPr>
          <p:nvPr/>
        </p:nvSpPr>
        <p:spPr>
          <a:xfrm xmlns:a="http://schemas.openxmlformats.org/drawingml/2006/main">
            <a:off x="9029700" y="4038600"/>
            <a:ext cx="2419350" cy="8953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69C11585-AE1B-43C5-A5A7-44BDE298179A}"/>
              </a:ext>
            </a:extLst>
          </p:cNvPr>
          <p:cNvSpPr>
            <a:spLocks xmlns:a="http://schemas.openxmlformats.org/drawingml/2006/main" noGrp="1"/>
          </p:cNvSpPr>
          <p:nvPr/>
        </p:nvSpPr>
        <p:spPr>
          <a:xfrm xmlns:a="http://schemas.openxmlformats.org/drawingml/2006/main">
            <a:off x="9124950" y="4114800"/>
            <a:ext cx="2228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3</a:t>
            </a:r>
          </a:p>
        </p:txBody>
      </p:sp>
      <p:sp>
        <p:nvSpPr>
          <p:cNvPr id="27" name="">
            <a:extLst xmlns:a="http://schemas.openxmlformats.org/drawingml/2006/main">
              <a:ext uri="{FF2B5EF4-FFF2-40B4-BE49-F238E27FC236}">
                <a16:creationId xmlns:a16="http://schemas.microsoft.com/office/drawing/2014/main" id="{D3F9FEDB-6A50-425D-A199-341FCF448EFD}"/>
              </a:ext>
            </a:extLst>
          </p:cNvPr>
          <p:cNvSpPr>
            <a:spLocks xmlns:a="http://schemas.openxmlformats.org/drawingml/2006/main" noGrp="1"/>
          </p:cNvSpPr>
          <p:nvPr/>
        </p:nvSpPr>
        <p:spPr>
          <a:xfrm xmlns:a="http://schemas.openxmlformats.org/drawingml/2006/main">
            <a:off x="819150" y="53149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Сервер має 100 CPU та 80 одиниць пам’яті.</a:t>
            </a:r>
          </a:p>
        </p:txBody>
      </p:sp>
      <p:sp>
        <p:nvSpPr>
          <p:cNvPr id="29" name="">
            <a:extLst xmlns:a="http://schemas.openxmlformats.org/drawingml/2006/main">
              <a:ext uri="{FF2B5EF4-FFF2-40B4-BE49-F238E27FC236}">
                <a16:creationId xmlns:a16="http://schemas.microsoft.com/office/drawing/2014/main" id="{6A5B90C3-079E-47A5-BEE8-945B8D0D965E}"/>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a:t>
            </a:r>
          </a:p>
        </p:txBody>
      </p:sp>
    </p:spTree>
    <p:extLst>
      <p:ext uri="{BB962C8B-B14F-4D97-AF65-F5344CB8AC3E}">
        <p14:creationId xmlns:p14="http://schemas.microsoft.com/office/powerpoint/2010/main" val="1608491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5812CB-3323-4F85-B2BF-4BF417BF97A2}"/>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Змінні рішення</a:t>
            </a:r>
          </a:p>
        </p:txBody>
      </p:sp>
      <p:sp>
        <p:nvSpPr>
          <p:cNvPr id="3" name="">
            <a:extLst xmlns:a="http://schemas.openxmlformats.org/drawingml/2006/main">
              <a:ext uri="{FF2B5EF4-FFF2-40B4-BE49-F238E27FC236}">
                <a16:creationId xmlns:a16="http://schemas.microsoft.com/office/drawing/2014/main" id="{6DCCEDD9-ED43-43D6-B837-5138B8BCBC37}"/>
              </a:ext>
            </a:extLst>
          </p:cNvPr>
          <p:cNvSpPr>
            <a:spLocks xmlns:a="http://schemas.openxmlformats.org/drawingml/2006/main" noGrp="1"/>
          </p:cNvSpPr>
          <p:nvPr/>
        </p:nvSpPr>
        <p:spPr>
          <a:xfrm xmlns:a="http://schemas.openxmlformats.org/drawingml/2006/main">
            <a:off x="781050" y="2057400"/>
            <a:ext cx="4953000" cy="3019425"/>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BDA471-79B3-409C-AFA2-A06E19D384E6}"/>
              </a:ext>
            </a:extLst>
          </p:cNvPr>
          <p:cNvSpPr>
            <a:spLocks xmlns:a="http://schemas.openxmlformats.org/drawingml/2006/main" noGrp="1"/>
          </p:cNvSpPr>
          <p:nvPr/>
        </p:nvSpPr>
        <p:spPr>
          <a:xfrm xmlns:a="http://schemas.openxmlformats.org/drawingml/2006/main">
            <a:off x="6257925" y="2057400"/>
            <a:ext cx="5143500" cy="3019425"/>
          </a:xfrm>
          <a:prstGeom xmlns:a="http://schemas.openxmlformats.org/drawingml/2006/main" prst="rect">
            <a:avLst/>
          </a:prstGeom>
          <a:solidFill xmlns:a="http://schemas.openxmlformats.org/drawingml/2006/main">
            <a:srgbClr val="E1F3F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50B6D7-0063-4481-8FB7-F713A55FE0A6}"/>
              </a:ext>
            </a:extLst>
          </p:cNvPr>
          <p:cNvSpPr>
            <a:spLocks xmlns:a="http://schemas.openxmlformats.org/drawingml/2006/main" noGrp="1"/>
          </p:cNvSpPr>
          <p:nvPr/>
        </p:nvSpPr>
        <p:spPr>
          <a:xfrm xmlns:a="http://schemas.openxmlformats.org/drawingml/2006/main">
            <a:off x="1019175" y="2276475"/>
            <a:ext cx="4448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6F9F"/>
                </a:solidFill>
                <a:latin typeface="DejaVu Sans"/>
                <a:ea typeface="DejaVu Sans"/>
                <a:cs typeface="DejaVu Sans"/>
              </a:defRPr>
            </a:pPr>
            <a:r>
              <a:rPr sz="2100" b="1">
                <a:solidFill>
                  <a:srgbClr val="086F9F"/>
                </a:solidFill>
                <a:latin typeface="Arial"/>
                <a:ea typeface="Arial"/>
                <a:cs typeface="Arial"/>
              </a:rPr>
              <a:t>x₁</a:t>
            </a:r>
          </a:p>
        </p:txBody>
      </p:sp>
      <p:sp>
        <p:nvSpPr>
          <p:cNvPr id="6" name="">
            <a:extLst xmlns:a="http://schemas.openxmlformats.org/drawingml/2006/main">
              <a:ext uri="{FF2B5EF4-FFF2-40B4-BE49-F238E27FC236}">
                <a16:creationId xmlns:a16="http://schemas.microsoft.com/office/drawing/2014/main" id="{A57E7D93-383C-4087-969D-B9953B5DF65B}"/>
              </a:ext>
            </a:extLst>
          </p:cNvPr>
          <p:cNvSpPr>
            <a:spLocks xmlns:a="http://schemas.openxmlformats.org/drawingml/2006/main" noGrp="1"/>
          </p:cNvSpPr>
          <p:nvPr/>
        </p:nvSpPr>
        <p:spPr>
          <a:xfrm xmlns:a="http://schemas.openxmlformats.org/drawingml/2006/main">
            <a:off x="6496050" y="2276475"/>
            <a:ext cx="4600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786F"/>
                </a:solidFill>
                <a:latin typeface="DejaVu Sans"/>
                <a:ea typeface="DejaVu Sans"/>
                <a:cs typeface="DejaVu Sans"/>
              </a:defRPr>
            </a:pPr>
            <a:r>
              <a:rPr sz="2100" b="1">
                <a:solidFill>
                  <a:srgbClr val="08786F"/>
                </a:solidFill>
                <a:latin typeface="Arial"/>
                <a:ea typeface="Arial"/>
                <a:cs typeface="Arial"/>
              </a:rPr>
              <a:t>x₂</a:t>
            </a:r>
          </a:p>
        </p:txBody>
      </p:sp>
      <p:sp>
        <p:nvSpPr>
          <p:cNvPr id="7" name="">
            <a:extLst xmlns:a="http://schemas.openxmlformats.org/drawingml/2006/main">
              <a:ext uri="{FF2B5EF4-FFF2-40B4-BE49-F238E27FC236}">
                <a16:creationId xmlns:a16="http://schemas.microsoft.com/office/drawing/2014/main" id="{61951BE7-4480-4B63-A798-1897647DC3A6}"/>
              </a:ext>
            </a:extLst>
          </p:cNvPr>
          <p:cNvSpPr>
            <a:spLocks xmlns:a="http://schemas.openxmlformats.org/drawingml/2006/main" noGrp="1"/>
          </p:cNvSpPr>
          <p:nvPr/>
        </p:nvSpPr>
        <p:spPr>
          <a:xfrm xmlns:a="http://schemas.openxmlformats.org/drawingml/2006/main">
            <a:off x="1019175" y="2847975"/>
            <a:ext cx="4476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Обсяг інференсу</a:t>
            </a:r>
          </a:p>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в нормованих блоках</a:t>
            </a:r>
          </a:p>
        </p:txBody>
      </p:sp>
      <p:sp>
        <p:nvSpPr>
          <p:cNvPr id="8" name="">
            <a:extLst xmlns:a="http://schemas.openxmlformats.org/drawingml/2006/main">
              <a:ext uri="{FF2B5EF4-FFF2-40B4-BE49-F238E27FC236}">
                <a16:creationId xmlns:a16="http://schemas.microsoft.com/office/drawing/2014/main" id="{8B5CCF96-8F3A-42FD-A5CA-81AA851C8526}"/>
              </a:ext>
            </a:extLst>
          </p:cNvPr>
          <p:cNvSpPr>
            <a:spLocks xmlns:a="http://schemas.openxmlformats.org/drawingml/2006/main" noGrp="1"/>
          </p:cNvSpPr>
          <p:nvPr/>
        </p:nvSpPr>
        <p:spPr>
          <a:xfrm xmlns:a="http://schemas.openxmlformats.org/drawingml/2006/main">
            <a:off x="6496050" y="2847975"/>
            <a:ext cx="4619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Обсяг аналітики</a:t>
            </a:r>
          </a:p>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в нормованих блоках</a:t>
            </a:r>
          </a:p>
        </p:txBody>
      </p:sp>
      <p:sp>
        <p:nvSpPr>
          <p:cNvPr id="9" name="">
            <a:extLst xmlns:a="http://schemas.openxmlformats.org/drawingml/2006/main">
              <a:ext uri="{FF2B5EF4-FFF2-40B4-BE49-F238E27FC236}">
                <a16:creationId xmlns:a16="http://schemas.microsoft.com/office/drawing/2014/main" id="{03B0979E-E154-4194-B233-43D9514C7F4E}"/>
              </a:ext>
            </a:extLst>
          </p:cNvPr>
          <p:cNvSpPr>
            <a:spLocks xmlns:a="http://schemas.openxmlformats.org/drawingml/2006/main" noGrp="1"/>
          </p:cNvSpPr>
          <p:nvPr/>
        </p:nvSpPr>
        <p:spPr>
          <a:xfrm xmlns:a="http://schemas.openxmlformats.org/drawingml/2006/main">
            <a:off x="819150" y="53435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x₁, x₂ ≥ 0; тут розглядаємо подільне навантаження.</a:t>
            </a:r>
          </a:p>
        </p:txBody>
      </p:sp>
      <p:sp>
        <p:nvSpPr>
          <p:cNvPr id="11" name="">
            <a:extLst xmlns:a="http://schemas.openxmlformats.org/drawingml/2006/main">
              <a:ext uri="{FF2B5EF4-FFF2-40B4-BE49-F238E27FC236}">
                <a16:creationId xmlns:a16="http://schemas.microsoft.com/office/drawing/2014/main" id="{0751A28A-58CE-4AE9-97CC-308E6B449A4D}"/>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a:t>
            </a:r>
          </a:p>
        </p:txBody>
      </p:sp>
    </p:spTree>
    <p:extLst>
      <p:ext uri="{BB962C8B-B14F-4D97-AF65-F5344CB8AC3E}">
        <p14:creationId xmlns:p14="http://schemas.microsoft.com/office/powerpoint/2010/main" val="12661896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858A9A-5238-4230-8B41-F19B0F1FC850}"/>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Математична модель прикладу</a:t>
            </a:r>
          </a:p>
        </p:txBody>
      </p:sp>
      <p:sp>
        <p:nvSpPr>
          <p:cNvPr id="3" name="">
            <a:extLst xmlns:a="http://schemas.openxmlformats.org/drawingml/2006/main">
              <a:ext uri="{FF2B5EF4-FFF2-40B4-BE49-F238E27FC236}">
                <a16:creationId xmlns:a16="http://schemas.microsoft.com/office/drawing/2014/main" id="{124CC539-41BC-4B79-97B5-8FDDF2FA134D}"/>
              </a:ext>
            </a:extLst>
          </p:cNvPr>
          <p:cNvSpPr>
            <a:spLocks xmlns:a="http://schemas.openxmlformats.org/drawingml/2006/main" noGrp="1"/>
          </p:cNvSpPr>
          <p:nvPr/>
        </p:nvSpPr>
        <p:spPr>
          <a:xfrm xmlns:a="http://schemas.openxmlformats.org/drawingml/2006/main">
            <a:off x="790575" y="2019300"/>
            <a:ext cx="10620375" cy="102870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CF78ED-EE27-47A2-B85E-6F98751AB867}"/>
              </a:ext>
            </a:extLst>
          </p:cNvPr>
          <p:cNvSpPr>
            <a:spLocks xmlns:a="http://schemas.openxmlformats.org/drawingml/2006/main" noGrp="1"/>
          </p:cNvSpPr>
          <p:nvPr/>
        </p:nvSpPr>
        <p:spPr>
          <a:xfrm xmlns:a="http://schemas.openxmlformats.org/drawingml/2006/main">
            <a:off x="1009650" y="2247900"/>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86F9F"/>
                </a:solidFill>
                <a:latin typeface="DejaVu Sans"/>
                <a:ea typeface="DejaVu Sans"/>
                <a:cs typeface="DejaVu Sans"/>
              </a:defRPr>
            </a:pPr>
            <a:r>
              <a:rPr sz="2400" b="1">
                <a:solidFill>
                  <a:srgbClr val="086F9F"/>
                </a:solidFill>
                <a:latin typeface="Arial"/>
                <a:ea typeface="Arial"/>
                <a:cs typeface="Arial"/>
              </a:rPr>
              <a:t>max  Z = 4x₁ + 3x₂</a:t>
            </a:r>
          </a:p>
        </p:txBody>
      </p:sp>
      <p:sp>
        <p:nvSpPr>
          <p:cNvPr id="5" name="">
            <a:extLst xmlns:a="http://schemas.openxmlformats.org/drawingml/2006/main">
              <a:ext uri="{FF2B5EF4-FFF2-40B4-BE49-F238E27FC236}">
                <a16:creationId xmlns:a16="http://schemas.microsoft.com/office/drawing/2014/main" id="{B675F34E-6CC3-4949-9BDB-17FE6538B049}"/>
              </a:ext>
            </a:extLst>
          </p:cNvPr>
          <p:cNvSpPr>
            <a:spLocks xmlns:a="http://schemas.openxmlformats.org/drawingml/2006/main" noGrp="1"/>
          </p:cNvSpPr>
          <p:nvPr/>
        </p:nvSpPr>
        <p:spPr>
          <a:xfrm xmlns:a="http://schemas.openxmlformats.org/drawingml/2006/main">
            <a:off x="857250" y="33528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475B6C"/>
                </a:solidFill>
                <a:latin typeface="DejaVu Sans"/>
                <a:ea typeface="DejaVu Sans"/>
                <a:cs typeface="DejaVu Sans"/>
              </a:defRPr>
            </a:pPr>
            <a:r>
              <a:rPr sz="2025" b="0">
                <a:solidFill>
                  <a:srgbClr val="475B6C"/>
                </a:solidFill>
                <a:latin typeface="Arial"/>
                <a:ea typeface="Arial"/>
                <a:cs typeface="Arial"/>
              </a:rPr>
              <a:t>Збільшуємо сумарну користь.</a:t>
            </a:r>
          </a:p>
        </p:txBody>
      </p:sp>
      <p:sp>
        <p:nvSpPr>
          <p:cNvPr id="6" name="">
            <a:extLst xmlns:a="http://schemas.openxmlformats.org/drawingml/2006/main">
              <a:ext uri="{FF2B5EF4-FFF2-40B4-BE49-F238E27FC236}">
                <a16:creationId xmlns:a16="http://schemas.microsoft.com/office/drawing/2014/main" id="{89C04E01-507A-4F66-8F61-00556603CF01}"/>
              </a:ext>
            </a:extLst>
          </p:cNvPr>
          <p:cNvSpPr>
            <a:spLocks xmlns:a="http://schemas.openxmlformats.org/drawingml/2006/main" noGrp="1"/>
          </p:cNvSpPr>
          <p:nvPr/>
        </p:nvSpPr>
        <p:spPr>
          <a:xfrm xmlns:a="http://schemas.openxmlformats.org/drawingml/2006/main">
            <a:off x="895350" y="3781425"/>
            <a:ext cx="10134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C42"/>
                </a:solidFill>
                <a:latin typeface="DejaVu Sans"/>
                <a:ea typeface="DejaVu Sans"/>
                <a:cs typeface="DejaVu Sans"/>
              </a:defRPr>
            </a:pPr>
            <a:r>
              <a:rPr sz="2250" b="0">
                <a:solidFill>
                  <a:srgbClr val="152C42"/>
                </a:solidFill>
                <a:latin typeface="Arial"/>
                <a:ea typeface="Arial"/>
                <a:cs typeface="Arial"/>
              </a:rPr>
              <a:t>CPU: 2x₁ + x₂ ≤ 100</a:t>
            </a:r>
          </a:p>
        </p:txBody>
      </p:sp>
      <p:sp>
        <p:nvSpPr>
          <p:cNvPr id="7" name="">
            <a:extLst xmlns:a="http://schemas.openxmlformats.org/drawingml/2006/main">
              <a:ext uri="{FF2B5EF4-FFF2-40B4-BE49-F238E27FC236}">
                <a16:creationId xmlns:a16="http://schemas.microsoft.com/office/drawing/2014/main" id="{6863AF1D-91BB-42EA-90B3-64CA187F6A78}"/>
              </a:ext>
            </a:extLst>
          </p:cNvPr>
          <p:cNvSpPr>
            <a:spLocks xmlns:a="http://schemas.openxmlformats.org/drawingml/2006/main" noGrp="1"/>
          </p:cNvSpPr>
          <p:nvPr/>
        </p:nvSpPr>
        <p:spPr>
          <a:xfrm xmlns:a="http://schemas.openxmlformats.org/drawingml/2006/main">
            <a:off x="895350" y="4524375"/>
            <a:ext cx="10134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C42"/>
                </a:solidFill>
                <a:latin typeface="DejaVu Sans"/>
                <a:ea typeface="DejaVu Sans"/>
                <a:cs typeface="DejaVu Sans"/>
              </a:defRPr>
            </a:pPr>
            <a:r>
              <a:rPr sz="2250" b="0">
                <a:solidFill>
                  <a:srgbClr val="152C42"/>
                </a:solidFill>
                <a:latin typeface="Arial"/>
                <a:ea typeface="Arial"/>
                <a:cs typeface="Arial"/>
              </a:rPr>
              <a:t>Пам’ять: x₁ + 2x₂ ≤ 80</a:t>
            </a:r>
          </a:p>
        </p:txBody>
      </p:sp>
      <p:sp>
        <p:nvSpPr>
          <p:cNvPr id="8" name="">
            <a:extLst xmlns:a="http://schemas.openxmlformats.org/drawingml/2006/main">
              <a:ext uri="{FF2B5EF4-FFF2-40B4-BE49-F238E27FC236}">
                <a16:creationId xmlns:a16="http://schemas.microsoft.com/office/drawing/2014/main" id="{B36FB869-7144-4D88-9E5D-6E61D8B1ECBC}"/>
              </a:ext>
            </a:extLst>
          </p:cNvPr>
          <p:cNvSpPr>
            <a:spLocks xmlns:a="http://schemas.openxmlformats.org/drawingml/2006/main" noGrp="1"/>
          </p:cNvSpPr>
          <p:nvPr/>
        </p:nvSpPr>
        <p:spPr>
          <a:xfrm xmlns:a="http://schemas.openxmlformats.org/drawingml/2006/main">
            <a:off x="819150" y="54959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Невід’ємність: x₁ ≥ 0, x₂ ≥ 0.</a:t>
            </a:r>
          </a:p>
        </p:txBody>
      </p:sp>
      <p:sp>
        <p:nvSpPr>
          <p:cNvPr id="10" name="">
            <a:extLst xmlns:a="http://schemas.openxmlformats.org/drawingml/2006/main">
              <a:ext uri="{FF2B5EF4-FFF2-40B4-BE49-F238E27FC236}">
                <a16:creationId xmlns:a16="http://schemas.microsoft.com/office/drawing/2014/main" id="{DA1240DF-150B-4DAF-BC43-0E739475946E}"/>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a:t>
            </a:r>
          </a:p>
        </p:txBody>
      </p:sp>
    </p:spTree>
    <p:extLst>
      <p:ext uri="{BB962C8B-B14F-4D97-AF65-F5344CB8AC3E}">
        <p14:creationId xmlns:p14="http://schemas.microsoft.com/office/powerpoint/2010/main" val="491354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A227F5-34BE-4636-B201-08CA9924B97C}"/>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Ресурсна форма задачі ЛП</a:t>
            </a:r>
          </a:p>
        </p:txBody>
      </p:sp>
      <p:sp>
        <p:nvSpPr>
          <p:cNvPr id="3" name="">
            <a:extLst xmlns:a="http://schemas.openxmlformats.org/drawingml/2006/main">
              <a:ext uri="{FF2B5EF4-FFF2-40B4-BE49-F238E27FC236}">
                <a16:creationId xmlns:a16="http://schemas.microsoft.com/office/drawing/2014/main" id="{6625947A-F73D-4FF2-8CE2-E1BB58D555EF}"/>
              </a:ext>
            </a:extLst>
          </p:cNvPr>
          <p:cNvSpPr>
            <a:spLocks xmlns:a="http://schemas.openxmlformats.org/drawingml/2006/main" noGrp="1"/>
          </p:cNvSpPr>
          <p:nvPr/>
        </p:nvSpPr>
        <p:spPr>
          <a:xfrm xmlns:a="http://schemas.openxmlformats.org/drawingml/2006/main">
            <a:off x="790575" y="2124075"/>
            <a:ext cx="10620375" cy="1181100"/>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98FC92C-5B0A-4C14-82BE-8F115990A580}"/>
              </a:ext>
            </a:extLst>
          </p:cNvPr>
          <p:cNvSpPr>
            <a:spLocks xmlns:a="http://schemas.openxmlformats.org/drawingml/2006/main" noGrp="1"/>
          </p:cNvSpPr>
          <p:nvPr/>
        </p:nvSpPr>
        <p:spPr>
          <a:xfrm xmlns:a="http://schemas.openxmlformats.org/drawingml/2006/main">
            <a:off x="1009650" y="23526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86F9F"/>
                </a:solidFill>
                <a:latin typeface="DejaVu Sans"/>
                <a:ea typeface="DejaVu Sans"/>
                <a:cs typeface="DejaVu Sans"/>
              </a:defRPr>
            </a:pPr>
            <a:r>
              <a:rPr sz="2475" b="1">
                <a:solidFill>
                  <a:srgbClr val="086F9F"/>
                </a:solidFill>
                <a:latin typeface="Arial"/>
                <a:ea typeface="Arial"/>
                <a:cs typeface="Arial"/>
              </a:rPr>
              <a:t>max  cᵀx     за умов Ax ≤ b,  x ≥ 0</a:t>
            </a:r>
          </a:p>
        </p:txBody>
      </p:sp>
      <p:sp>
        <p:nvSpPr>
          <p:cNvPr id="5" name="">
            <a:extLst xmlns:a="http://schemas.openxmlformats.org/drawingml/2006/main">
              <a:ext uri="{FF2B5EF4-FFF2-40B4-BE49-F238E27FC236}">
                <a16:creationId xmlns:a16="http://schemas.microsoft.com/office/drawing/2014/main" id="{6F051A8B-E6B8-4114-8ADA-009A62CA0C23}"/>
              </a:ext>
            </a:extLst>
          </p:cNvPr>
          <p:cNvSpPr>
            <a:spLocks xmlns:a="http://schemas.openxmlformats.org/drawingml/2006/main" noGrp="1"/>
          </p:cNvSpPr>
          <p:nvPr/>
        </p:nvSpPr>
        <p:spPr>
          <a:xfrm xmlns:a="http://schemas.openxmlformats.org/drawingml/2006/main">
            <a:off x="857250" y="36099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475B6C"/>
                </a:solidFill>
                <a:latin typeface="DejaVu Sans"/>
                <a:ea typeface="DejaVu Sans"/>
                <a:cs typeface="DejaVu Sans"/>
              </a:defRPr>
            </a:pPr>
            <a:r>
              <a:rPr sz="2025" b="0">
                <a:solidFill>
                  <a:srgbClr val="475B6C"/>
                </a:solidFill>
                <a:latin typeface="Arial"/>
                <a:ea typeface="Arial"/>
                <a:cs typeface="Arial"/>
              </a:rPr>
              <a:t>x — план; c — користь; A — норми витрат; b — запаси ресурсів.</a:t>
            </a:r>
          </a:p>
        </p:txBody>
      </p:sp>
      <p:sp>
        <p:nvSpPr>
          <p:cNvPr id="6" name="">
            <a:extLst xmlns:a="http://schemas.openxmlformats.org/drawingml/2006/main">
              <a:ext uri="{FF2B5EF4-FFF2-40B4-BE49-F238E27FC236}">
                <a16:creationId xmlns:a16="http://schemas.microsoft.com/office/drawing/2014/main" id="{3D6EB106-C72D-42C7-B6BB-D5E72E0A50DE}"/>
              </a:ext>
            </a:extLst>
          </p:cNvPr>
          <p:cNvSpPr>
            <a:spLocks xmlns:a="http://schemas.openxmlformats.org/drawingml/2006/main" noGrp="1"/>
          </p:cNvSpPr>
          <p:nvPr/>
        </p:nvSpPr>
        <p:spPr>
          <a:xfrm xmlns:a="http://schemas.openxmlformats.org/drawingml/2006/main">
            <a:off x="819150" y="49720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У прикладі x=(x₁,x₂), c=(4,3), а в A два рядки: CPU та пам’ять.</a:t>
            </a:r>
          </a:p>
        </p:txBody>
      </p:sp>
      <p:sp>
        <p:nvSpPr>
          <p:cNvPr id="8" name="">
            <a:extLst xmlns:a="http://schemas.openxmlformats.org/drawingml/2006/main">
              <a:ext uri="{FF2B5EF4-FFF2-40B4-BE49-F238E27FC236}">
                <a16:creationId xmlns:a16="http://schemas.microsoft.com/office/drawing/2014/main" id="{BAE92AEA-2FA2-48DB-B511-475A3A41E9DE}"/>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a:t>
            </a:r>
          </a:p>
        </p:txBody>
      </p:sp>
    </p:spTree>
    <p:extLst>
      <p:ext uri="{BB962C8B-B14F-4D97-AF65-F5344CB8AC3E}">
        <p14:creationId xmlns:p14="http://schemas.microsoft.com/office/powerpoint/2010/main" val="123046963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2DF71548-049C-42A2-9D99-AB356830705D}"/>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ОПР і напрям збільшення користі</a:t>
            </a:r>
          </a:p>
        </p:txBody>
      </p:sp>
      <p:sp>
        <p:nvSpPr>
          <p:cNvPr id="2" name="">
            <a:extLst xmlns:a="http://schemas.openxmlformats.org/drawingml/2006/main">
              <a:ext uri="{FF2B5EF4-FFF2-40B4-BE49-F238E27FC236}">
                <a16:creationId xmlns:a16="http://schemas.microsoft.com/office/drawing/2014/main" id="{59B60298-AEA1-4127-A00D-89C60142EE9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Оптимум — останнє положення лінії рівня, що має спільну точку з ОПР.</a:t>
            </a:r>
          </a:p>
        </p:txBody>
      </p:sp>
      <p:sp>
        <p:nvSpPr>
          <p:cNvPr id="3" name="Feasible region">
            <a:extLst xmlns:a="http://schemas.openxmlformats.org/drawingml/2006/main">
              <a:ext uri="{FF2B5EF4-FFF2-40B4-BE49-F238E27FC236}">
                <a16:creationId xmlns:a16="http://schemas.microsoft.com/office/drawing/2014/main" id="{EAEEC5B9-7933-462D-A6AC-F03721C27C45}"/>
              </a:ext>
            </a:extLst>
          </p:cNvPr>
          <p:cNvSpPr>
            <a:spLocks xmlns:a="http://schemas.openxmlformats.org/drawingml/2006/main" noGrp="1"/>
          </p:cNvSpPr>
          <p:nvPr/>
        </p:nvSpPr>
        <p:spPr>
          <a:xfrm xmlns:a="http://schemas.openxmlformats.org/drawingml/2006/main">
            <a:off x="1190625" y="2286000"/>
            <a:ext cx="3810000" cy="3048000"/>
          </a:xfrm>
          <a:custGeom xmlns:a="http://schemas.openxmlformats.org/drawingml/2006/main">
            <a:pathLst>
              <a:path w="3810000" h="3048000">
                <a:moveTo>
                  <a:pt x="0" y="3048000"/>
                </a:moveTo>
                <a:lnTo>
                  <a:pt x="3810000" y="3048000"/>
                </a:lnTo>
                <a:lnTo>
                  <a:pt x="3048000" y="1524000"/>
                </a:lnTo>
                <a:lnTo>
                  <a:pt x="0" y="0"/>
                </a:lnTo>
                <a:close/>
              </a:path>
            </a:pathLst>
          </a:custGeom>
          <a:solidFill xmlns:a="http://schemas.openxmlformats.org/drawingml/2006/main">
            <a:srgbClr val="D9EFEA"/>
          </a:solidFill>
          <a:ln xmlns:a="http://schemas.openxmlformats.org/drawingml/2006/main" w="19050">
            <a:solidFill>
              <a:srgbClr val="00857D"/>
            </a:solidFill>
          </a:ln>
        </p:spPr>
      </p:sp>
      <p:sp>
        <p:nvSpPr>
          <p:cNvPr id="4" name="">
            <a:extLst xmlns:a="http://schemas.openxmlformats.org/drawingml/2006/main">
              <a:ext uri="{FF2B5EF4-FFF2-40B4-BE49-F238E27FC236}">
                <a16:creationId xmlns:a16="http://schemas.microsoft.com/office/drawing/2014/main" id="{807D1F84-4681-44CB-837C-A87D67E0DCFB}"/>
              </a:ext>
            </a:extLst>
          </p:cNvPr>
          <p:cNvSpPr>
            <a:spLocks xmlns:a="http://schemas.openxmlformats.org/drawingml/2006/main" noGrp="1"/>
          </p:cNvSpPr>
          <p:nvPr/>
        </p:nvSpPr>
        <p:spPr>
          <a:xfrm xmlns:a="http://schemas.openxmlformats.org/drawingml/2006/main">
            <a:off x="1181100" y="5324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E3A435-F0D1-4A25-A24F-A3CD7091D74D}"/>
              </a:ext>
            </a:extLst>
          </p:cNvPr>
          <p:cNvSpPr>
            <a:spLocks xmlns:a="http://schemas.openxmlformats.org/drawingml/2006/main" noGrp="1"/>
          </p:cNvSpPr>
          <p:nvPr/>
        </p:nvSpPr>
        <p:spPr>
          <a:xfrm xmlns:a="http://schemas.openxmlformats.org/drawingml/2006/main">
            <a:off x="6057900" y="5324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5" name="">
            <a:extLst xmlns:a="http://schemas.openxmlformats.org/drawingml/2006/main">
              <a:ext uri="{FF2B5EF4-FFF2-40B4-BE49-F238E27FC236}">
                <a16:creationId xmlns:a16="http://schemas.microsoft.com/office/drawing/2014/main" id="{C86E7492-FF25-4A66-A4D2-B87CE5E2F542}"/>
              </a:ext>
            </a:extLst>
          </p:cNvPr>
          <p:cNvCxnSpPr>
            <a:stCxn xmlns:a="http://schemas.openxmlformats.org/drawingml/2006/main" id="4" idx="3"/>
            <a:endCxn xmlns:a="http://schemas.openxmlformats.org/drawingml/2006/main" id="5" idx="1"/>
          </p:cNvCxnSpPr>
          <p:nvPr/>
        </p:nvCxnSpPr>
        <p:spPr>
          <a:xfrm xmlns:a="http://schemas.openxmlformats.org/drawingml/2006/main">
            <a:off x="1200150" y="5334000"/>
            <a:ext cx="4857750" cy="0"/>
          </a:xfrm>
          <a:prstGeom xmlns:a="http://schemas.openxmlformats.org/drawingml/2006/main" prst="straightConnector1">
            <a:avLst/>
          </a:prstGeom>
          <a:ln xmlns:a="http://schemas.openxmlformats.org/drawingml/2006/main" w="19050">
            <a:solidFill>
              <a:srgbClr val="173047"/>
            </a:solidFill>
            <a:tailEnd type="triangle" w="med" len="med"/>
          </a:ln>
        </p:spPr>
      </p:cxnSp>
      <p:sp>
        <p:nvSpPr>
          <p:cNvPr id="7" name="">
            <a:extLst xmlns:a="http://schemas.openxmlformats.org/drawingml/2006/main">
              <a:ext uri="{FF2B5EF4-FFF2-40B4-BE49-F238E27FC236}">
                <a16:creationId xmlns:a16="http://schemas.microsoft.com/office/drawing/2014/main" id="{F52CE626-1086-4670-B1CE-0EA056A65749}"/>
              </a:ext>
            </a:extLst>
          </p:cNvPr>
          <p:cNvSpPr>
            <a:spLocks xmlns:a="http://schemas.openxmlformats.org/drawingml/2006/main" noGrp="1"/>
          </p:cNvSpPr>
          <p:nvPr/>
        </p:nvSpPr>
        <p:spPr>
          <a:xfrm xmlns:a="http://schemas.openxmlformats.org/drawingml/2006/main">
            <a:off x="1181100" y="5324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B544FE-6428-4771-87CF-B065C505C380}"/>
              </a:ext>
            </a:extLst>
          </p:cNvPr>
          <p:cNvSpPr>
            <a:spLocks xmlns:a="http://schemas.openxmlformats.org/drawingml/2006/main" noGrp="1"/>
          </p:cNvSpPr>
          <p:nvPr/>
        </p:nvSpPr>
        <p:spPr>
          <a:xfrm xmlns:a="http://schemas.openxmlformats.org/drawingml/2006/main">
            <a:off x="1181100" y="1438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8" name="">
            <a:extLst xmlns:a="http://schemas.openxmlformats.org/drawingml/2006/main">
              <a:ext uri="{FF2B5EF4-FFF2-40B4-BE49-F238E27FC236}">
                <a16:creationId xmlns:a16="http://schemas.microsoft.com/office/drawing/2014/main" id="{85F082C5-8FC3-48DF-B867-114719734F7C}"/>
              </a:ext>
            </a:extLst>
          </p:cNvPr>
          <p:cNvCxnSpPr>
            <a:stCxn xmlns:a="http://schemas.openxmlformats.org/drawingml/2006/main" id="7" idx="3"/>
            <a:endCxn xmlns:a="http://schemas.openxmlformats.org/drawingml/2006/main" id="8" idx="1"/>
          </p:cNvCxnSpPr>
          <p:nvPr/>
        </p:nvCxnSpPr>
        <p:spPr>
          <a:xfrm xmlns:a="http://schemas.openxmlformats.org/drawingml/2006/main" flipH="1" flipV="1">
            <a:off x="1181100" y="1447800"/>
            <a:ext cx="19050" cy="3886200"/>
          </a:xfrm>
          <a:prstGeom xmlns:a="http://schemas.openxmlformats.org/drawingml/2006/main" prst="straightConnector1">
            <a:avLst/>
          </a:prstGeom>
          <a:ln xmlns:a="http://schemas.openxmlformats.org/drawingml/2006/main" w="19050">
            <a:solidFill>
              <a:srgbClr val="173047"/>
            </a:solidFill>
            <a:tailEnd type="triangle" w="med" len="med"/>
          </a:ln>
        </p:spPr>
      </p:cxnSp>
      <p:sp>
        <p:nvSpPr>
          <p:cNvPr id="10" name="">
            <a:extLst xmlns:a="http://schemas.openxmlformats.org/drawingml/2006/main">
              <a:ext uri="{FF2B5EF4-FFF2-40B4-BE49-F238E27FC236}">
                <a16:creationId xmlns:a16="http://schemas.microsoft.com/office/drawing/2014/main" id="{B9A38A42-10B9-426C-B210-843259F39973}"/>
              </a:ext>
            </a:extLst>
          </p:cNvPr>
          <p:cNvSpPr>
            <a:spLocks xmlns:a="http://schemas.openxmlformats.org/drawingml/2006/main" noGrp="1"/>
          </p:cNvSpPr>
          <p:nvPr/>
        </p:nvSpPr>
        <p:spPr>
          <a:xfrm xmlns:a="http://schemas.openxmlformats.org/drawingml/2006/main" flipV="0">
            <a:off x="1190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1" name="">
            <a:extLst xmlns:a="http://schemas.openxmlformats.org/drawingml/2006/main">
              <a:ext uri="{FF2B5EF4-FFF2-40B4-BE49-F238E27FC236}">
                <a16:creationId xmlns:a16="http://schemas.microsoft.com/office/drawing/2014/main" id="{54229522-9623-4AF2-96BA-ED786EE920F2}"/>
              </a:ext>
            </a:extLst>
          </p:cNvPr>
          <p:cNvSpPr>
            <a:spLocks xmlns:a="http://schemas.openxmlformats.org/drawingml/2006/main" noGrp="1"/>
          </p:cNvSpPr>
          <p:nvPr/>
        </p:nvSpPr>
        <p:spPr>
          <a:xfrm xmlns:a="http://schemas.openxmlformats.org/drawingml/2006/main">
            <a:off x="1057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0</a:t>
            </a:r>
          </a:p>
        </p:txBody>
      </p:sp>
      <p:sp>
        <p:nvSpPr>
          <p:cNvPr id="12" name="">
            <a:extLst xmlns:a="http://schemas.openxmlformats.org/drawingml/2006/main">
              <a:ext uri="{FF2B5EF4-FFF2-40B4-BE49-F238E27FC236}">
                <a16:creationId xmlns:a16="http://schemas.microsoft.com/office/drawing/2014/main" id="{2255B3A3-B2A5-4AFF-949E-115E8F738FB1}"/>
              </a:ext>
            </a:extLst>
          </p:cNvPr>
          <p:cNvSpPr>
            <a:spLocks xmlns:a="http://schemas.openxmlformats.org/drawingml/2006/main" noGrp="1"/>
          </p:cNvSpPr>
          <p:nvPr/>
        </p:nvSpPr>
        <p:spPr>
          <a:xfrm xmlns:a="http://schemas.openxmlformats.org/drawingml/2006/main" flipV="0">
            <a:off x="1952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3" name="">
            <a:extLst xmlns:a="http://schemas.openxmlformats.org/drawingml/2006/main">
              <a:ext uri="{FF2B5EF4-FFF2-40B4-BE49-F238E27FC236}">
                <a16:creationId xmlns:a16="http://schemas.microsoft.com/office/drawing/2014/main" id="{96329E7F-622A-479D-9F3A-500C6A7CF2F3}"/>
              </a:ext>
            </a:extLst>
          </p:cNvPr>
          <p:cNvSpPr>
            <a:spLocks xmlns:a="http://schemas.openxmlformats.org/drawingml/2006/main" noGrp="1"/>
          </p:cNvSpPr>
          <p:nvPr/>
        </p:nvSpPr>
        <p:spPr>
          <a:xfrm xmlns:a="http://schemas.openxmlformats.org/drawingml/2006/main">
            <a:off x="1819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10</a:t>
            </a:r>
          </a:p>
        </p:txBody>
      </p:sp>
      <p:sp>
        <p:nvSpPr>
          <p:cNvPr id="14" name="">
            <a:extLst xmlns:a="http://schemas.openxmlformats.org/drawingml/2006/main">
              <a:ext uri="{FF2B5EF4-FFF2-40B4-BE49-F238E27FC236}">
                <a16:creationId xmlns:a16="http://schemas.microsoft.com/office/drawing/2014/main" id="{3CAF9F83-B9B1-42E9-B3A4-E60A1E9BE610}"/>
              </a:ext>
            </a:extLst>
          </p:cNvPr>
          <p:cNvSpPr>
            <a:spLocks xmlns:a="http://schemas.openxmlformats.org/drawingml/2006/main" noGrp="1"/>
          </p:cNvSpPr>
          <p:nvPr/>
        </p:nvSpPr>
        <p:spPr>
          <a:xfrm xmlns:a="http://schemas.openxmlformats.org/drawingml/2006/main" flipV="0">
            <a:off x="2714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5" name="">
            <a:extLst xmlns:a="http://schemas.openxmlformats.org/drawingml/2006/main">
              <a:ext uri="{FF2B5EF4-FFF2-40B4-BE49-F238E27FC236}">
                <a16:creationId xmlns:a16="http://schemas.microsoft.com/office/drawing/2014/main" id="{A14E67EE-944A-4D8C-97F4-D018F02CF9D9}"/>
              </a:ext>
            </a:extLst>
          </p:cNvPr>
          <p:cNvSpPr>
            <a:spLocks xmlns:a="http://schemas.openxmlformats.org/drawingml/2006/main" noGrp="1"/>
          </p:cNvSpPr>
          <p:nvPr/>
        </p:nvSpPr>
        <p:spPr>
          <a:xfrm xmlns:a="http://schemas.openxmlformats.org/drawingml/2006/main">
            <a:off x="2581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20</a:t>
            </a:r>
          </a:p>
        </p:txBody>
      </p:sp>
      <p:sp>
        <p:nvSpPr>
          <p:cNvPr id="16" name="">
            <a:extLst xmlns:a="http://schemas.openxmlformats.org/drawingml/2006/main">
              <a:ext uri="{FF2B5EF4-FFF2-40B4-BE49-F238E27FC236}">
                <a16:creationId xmlns:a16="http://schemas.microsoft.com/office/drawing/2014/main" id="{F017C3B4-90A8-4BDB-88DE-7CFEC88BCB51}"/>
              </a:ext>
            </a:extLst>
          </p:cNvPr>
          <p:cNvSpPr>
            <a:spLocks xmlns:a="http://schemas.openxmlformats.org/drawingml/2006/main" noGrp="1"/>
          </p:cNvSpPr>
          <p:nvPr/>
        </p:nvSpPr>
        <p:spPr>
          <a:xfrm xmlns:a="http://schemas.openxmlformats.org/drawingml/2006/main" flipV="0">
            <a:off x="3476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7" name="">
            <a:extLst xmlns:a="http://schemas.openxmlformats.org/drawingml/2006/main">
              <a:ext uri="{FF2B5EF4-FFF2-40B4-BE49-F238E27FC236}">
                <a16:creationId xmlns:a16="http://schemas.microsoft.com/office/drawing/2014/main" id="{E63E3A70-E026-469A-AE3F-B82C89A6E4FF}"/>
              </a:ext>
            </a:extLst>
          </p:cNvPr>
          <p:cNvSpPr>
            <a:spLocks xmlns:a="http://schemas.openxmlformats.org/drawingml/2006/main" noGrp="1"/>
          </p:cNvSpPr>
          <p:nvPr/>
        </p:nvSpPr>
        <p:spPr>
          <a:xfrm xmlns:a="http://schemas.openxmlformats.org/drawingml/2006/main">
            <a:off x="3343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30</a:t>
            </a:r>
          </a:p>
        </p:txBody>
      </p:sp>
      <p:sp>
        <p:nvSpPr>
          <p:cNvPr id="18" name="">
            <a:extLst xmlns:a="http://schemas.openxmlformats.org/drawingml/2006/main">
              <a:ext uri="{FF2B5EF4-FFF2-40B4-BE49-F238E27FC236}">
                <a16:creationId xmlns:a16="http://schemas.microsoft.com/office/drawing/2014/main" id="{D35B5738-0E1F-4079-A95B-A7B020988CCF}"/>
              </a:ext>
            </a:extLst>
          </p:cNvPr>
          <p:cNvSpPr>
            <a:spLocks xmlns:a="http://schemas.openxmlformats.org/drawingml/2006/main" noGrp="1"/>
          </p:cNvSpPr>
          <p:nvPr/>
        </p:nvSpPr>
        <p:spPr>
          <a:xfrm xmlns:a="http://schemas.openxmlformats.org/drawingml/2006/main" flipV="0">
            <a:off x="4238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9" name="">
            <a:extLst xmlns:a="http://schemas.openxmlformats.org/drawingml/2006/main">
              <a:ext uri="{FF2B5EF4-FFF2-40B4-BE49-F238E27FC236}">
                <a16:creationId xmlns:a16="http://schemas.microsoft.com/office/drawing/2014/main" id="{FCAF1F3E-C233-455D-A42D-8F1E981EE9AE}"/>
              </a:ext>
            </a:extLst>
          </p:cNvPr>
          <p:cNvSpPr>
            <a:spLocks xmlns:a="http://schemas.openxmlformats.org/drawingml/2006/main" noGrp="1"/>
          </p:cNvSpPr>
          <p:nvPr/>
        </p:nvSpPr>
        <p:spPr>
          <a:xfrm xmlns:a="http://schemas.openxmlformats.org/drawingml/2006/main">
            <a:off x="4105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40</a:t>
            </a:r>
          </a:p>
        </p:txBody>
      </p:sp>
      <p:sp>
        <p:nvSpPr>
          <p:cNvPr id="20" name="">
            <a:extLst xmlns:a="http://schemas.openxmlformats.org/drawingml/2006/main">
              <a:ext uri="{FF2B5EF4-FFF2-40B4-BE49-F238E27FC236}">
                <a16:creationId xmlns:a16="http://schemas.microsoft.com/office/drawing/2014/main" id="{1DBCC67E-83AC-477D-BB58-F26ABED4E365}"/>
              </a:ext>
            </a:extLst>
          </p:cNvPr>
          <p:cNvSpPr>
            <a:spLocks xmlns:a="http://schemas.openxmlformats.org/drawingml/2006/main" noGrp="1"/>
          </p:cNvSpPr>
          <p:nvPr/>
        </p:nvSpPr>
        <p:spPr>
          <a:xfrm xmlns:a="http://schemas.openxmlformats.org/drawingml/2006/main" flipV="0">
            <a:off x="5000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1" name="">
            <a:extLst xmlns:a="http://schemas.openxmlformats.org/drawingml/2006/main">
              <a:ext uri="{FF2B5EF4-FFF2-40B4-BE49-F238E27FC236}">
                <a16:creationId xmlns:a16="http://schemas.microsoft.com/office/drawing/2014/main" id="{EB61C261-8E91-4B32-89EE-8A4392347B7F}"/>
              </a:ext>
            </a:extLst>
          </p:cNvPr>
          <p:cNvSpPr>
            <a:spLocks xmlns:a="http://schemas.openxmlformats.org/drawingml/2006/main" noGrp="1"/>
          </p:cNvSpPr>
          <p:nvPr/>
        </p:nvSpPr>
        <p:spPr>
          <a:xfrm xmlns:a="http://schemas.openxmlformats.org/drawingml/2006/main">
            <a:off x="4867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50</a:t>
            </a:r>
          </a:p>
        </p:txBody>
      </p:sp>
      <p:sp>
        <p:nvSpPr>
          <p:cNvPr id="22" name="">
            <a:extLst xmlns:a="http://schemas.openxmlformats.org/drawingml/2006/main">
              <a:ext uri="{FF2B5EF4-FFF2-40B4-BE49-F238E27FC236}">
                <a16:creationId xmlns:a16="http://schemas.microsoft.com/office/drawing/2014/main" id="{64BE045C-EAAC-488C-9F5F-E8AF6D34036B}"/>
              </a:ext>
            </a:extLst>
          </p:cNvPr>
          <p:cNvSpPr>
            <a:spLocks xmlns:a="http://schemas.openxmlformats.org/drawingml/2006/main" noGrp="1"/>
          </p:cNvSpPr>
          <p:nvPr/>
        </p:nvSpPr>
        <p:spPr>
          <a:xfrm xmlns:a="http://schemas.openxmlformats.org/drawingml/2006/main" flipV="0">
            <a:off x="5762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3" name="">
            <a:extLst xmlns:a="http://schemas.openxmlformats.org/drawingml/2006/main">
              <a:ext uri="{FF2B5EF4-FFF2-40B4-BE49-F238E27FC236}">
                <a16:creationId xmlns:a16="http://schemas.microsoft.com/office/drawing/2014/main" id="{940A167B-2B9F-48F2-B62F-42FBFBC6AB43}"/>
              </a:ext>
            </a:extLst>
          </p:cNvPr>
          <p:cNvSpPr>
            <a:spLocks xmlns:a="http://schemas.openxmlformats.org/drawingml/2006/main" noGrp="1"/>
          </p:cNvSpPr>
          <p:nvPr/>
        </p:nvSpPr>
        <p:spPr>
          <a:xfrm xmlns:a="http://schemas.openxmlformats.org/drawingml/2006/main">
            <a:off x="5629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60</a:t>
            </a:r>
          </a:p>
        </p:txBody>
      </p:sp>
      <p:sp>
        <p:nvSpPr>
          <p:cNvPr id="24" name="">
            <a:extLst xmlns:a="http://schemas.openxmlformats.org/drawingml/2006/main">
              <a:ext uri="{FF2B5EF4-FFF2-40B4-BE49-F238E27FC236}">
                <a16:creationId xmlns:a16="http://schemas.microsoft.com/office/drawing/2014/main" id="{E249CBD2-D26B-4652-B36D-9A138BC83C94}"/>
              </a:ext>
            </a:extLst>
          </p:cNvPr>
          <p:cNvSpPr>
            <a:spLocks xmlns:a="http://schemas.openxmlformats.org/drawingml/2006/main" noGrp="1"/>
          </p:cNvSpPr>
          <p:nvPr/>
        </p:nvSpPr>
        <p:spPr>
          <a:xfrm xmlns:a="http://schemas.openxmlformats.org/drawingml/2006/main" flipV="0">
            <a:off x="1143000" y="4572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5" name="">
            <a:extLst xmlns:a="http://schemas.openxmlformats.org/drawingml/2006/main">
              <a:ext uri="{FF2B5EF4-FFF2-40B4-BE49-F238E27FC236}">
                <a16:creationId xmlns:a16="http://schemas.microsoft.com/office/drawing/2014/main" id="{798E1D79-C3BE-47F4-B599-90A31F38EA96}"/>
              </a:ext>
            </a:extLst>
          </p:cNvPr>
          <p:cNvSpPr>
            <a:spLocks xmlns:a="http://schemas.openxmlformats.org/drawingml/2006/main" noGrp="1"/>
          </p:cNvSpPr>
          <p:nvPr/>
        </p:nvSpPr>
        <p:spPr>
          <a:xfrm xmlns:a="http://schemas.openxmlformats.org/drawingml/2006/main">
            <a:off x="742950" y="4410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10</a:t>
            </a:r>
          </a:p>
        </p:txBody>
      </p:sp>
      <p:sp>
        <p:nvSpPr>
          <p:cNvPr id="26" name="">
            <a:extLst xmlns:a="http://schemas.openxmlformats.org/drawingml/2006/main">
              <a:ext uri="{FF2B5EF4-FFF2-40B4-BE49-F238E27FC236}">
                <a16:creationId xmlns:a16="http://schemas.microsoft.com/office/drawing/2014/main" id="{59E54CCA-5EC4-468C-810D-E2AE63673D88}"/>
              </a:ext>
            </a:extLst>
          </p:cNvPr>
          <p:cNvSpPr>
            <a:spLocks xmlns:a="http://schemas.openxmlformats.org/drawingml/2006/main" noGrp="1"/>
          </p:cNvSpPr>
          <p:nvPr/>
        </p:nvSpPr>
        <p:spPr>
          <a:xfrm xmlns:a="http://schemas.openxmlformats.org/drawingml/2006/main" flipV="0">
            <a:off x="1143000" y="3810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7" name="">
            <a:extLst xmlns:a="http://schemas.openxmlformats.org/drawingml/2006/main">
              <a:ext uri="{FF2B5EF4-FFF2-40B4-BE49-F238E27FC236}">
                <a16:creationId xmlns:a16="http://schemas.microsoft.com/office/drawing/2014/main" id="{6933EDB8-0A40-4620-90D2-DCF7FF1B2953}"/>
              </a:ext>
            </a:extLst>
          </p:cNvPr>
          <p:cNvSpPr>
            <a:spLocks xmlns:a="http://schemas.openxmlformats.org/drawingml/2006/main" noGrp="1"/>
          </p:cNvSpPr>
          <p:nvPr/>
        </p:nvSpPr>
        <p:spPr>
          <a:xfrm xmlns:a="http://schemas.openxmlformats.org/drawingml/2006/main">
            <a:off x="742950" y="3648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20</a:t>
            </a:r>
          </a:p>
        </p:txBody>
      </p:sp>
      <p:sp>
        <p:nvSpPr>
          <p:cNvPr id="28" name="">
            <a:extLst xmlns:a="http://schemas.openxmlformats.org/drawingml/2006/main">
              <a:ext uri="{FF2B5EF4-FFF2-40B4-BE49-F238E27FC236}">
                <a16:creationId xmlns:a16="http://schemas.microsoft.com/office/drawing/2014/main" id="{BDA137FD-A508-4B54-87F8-B8CE4E356E95}"/>
              </a:ext>
            </a:extLst>
          </p:cNvPr>
          <p:cNvSpPr>
            <a:spLocks xmlns:a="http://schemas.openxmlformats.org/drawingml/2006/main" noGrp="1"/>
          </p:cNvSpPr>
          <p:nvPr/>
        </p:nvSpPr>
        <p:spPr>
          <a:xfrm xmlns:a="http://schemas.openxmlformats.org/drawingml/2006/main" flipV="0">
            <a:off x="1143000" y="3048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9" name="">
            <a:extLst xmlns:a="http://schemas.openxmlformats.org/drawingml/2006/main">
              <a:ext uri="{FF2B5EF4-FFF2-40B4-BE49-F238E27FC236}">
                <a16:creationId xmlns:a16="http://schemas.microsoft.com/office/drawing/2014/main" id="{ACE6EE2B-8EC0-4024-9EDF-854C1935AF02}"/>
              </a:ext>
            </a:extLst>
          </p:cNvPr>
          <p:cNvSpPr>
            <a:spLocks xmlns:a="http://schemas.openxmlformats.org/drawingml/2006/main" noGrp="1"/>
          </p:cNvSpPr>
          <p:nvPr/>
        </p:nvSpPr>
        <p:spPr>
          <a:xfrm xmlns:a="http://schemas.openxmlformats.org/drawingml/2006/main">
            <a:off x="742950" y="2886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30</a:t>
            </a:r>
          </a:p>
        </p:txBody>
      </p:sp>
      <p:sp>
        <p:nvSpPr>
          <p:cNvPr id="30" name="">
            <a:extLst xmlns:a="http://schemas.openxmlformats.org/drawingml/2006/main">
              <a:ext uri="{FF2B5EF4-FFF2-40B4-BE49-F238E27FC236}">
                <a16:creationId xmlns:a16="http://schemas.microsoft.com/office/drawing/2014/main" id="{31D5CF7B-8A47-428E-B2FB-3332E63B5380}"/>
              </a:ext>
            </a:extLst>
          </p:cNvPr>
          <p:cNvSpPr>
            <a:spLocks xmlns:a="http://schemas.openxmlformats.org/drawingml/2006/main" noGrp="1"/>
          </p:cNvSpPr>
          <p:nvPr/>
        </p:nvSpPr>
        <p:spPr>
          <a:xfrm xmlns:a="http://schemas.openxmlformats.org/drawingml/2006/main" flipV="0">
            <a:off x="1143000" y="2286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31" name="">
            <a:extLst xmlns:a="http://schemas.openxmlformats.org/drawingml/2006/main">
              <a:ext uri="{FF2B5EF4-FFF2-40B4-BE49-F238E27FC236}">
                <a16:creationId xmlns:a16="http://schemas.microsoft.com/office/drawing/2014/main" id="{BB2A3D56-C114-4915-84D1-193DFE8C7451}"/>
              </a:ext>
            </a:extLst>
          </p:cNvPr>
          <p:cNvSpPr>
            <a:spLocks xmlns:a="http://schemas.openxmlformats.org/drawingml/2006/main" noGrp="1"/>
          </p:cNvSpPr>
          <p:nvPr/>
        </p:nvSpPr>
        <p:spPr>
          <a:xfrm xmlns:a="http://schemas.openxmlformats.org/drawingml/2006/main">
            <a:off x="742950" y="2124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40</a:t>
            </a:r>
          </a:p>
        </p:txBody>
      </p:sp>
      <p:sp>
        <p:nvSpPr>
          <p:cNvPr id="32" name="">
            <a:extLst xmlns:a="http://schemas.openxmlformats.org/drawingml/2006/main">
              <a:ext uri="{FF2B5EF4-FFF2-40B4-BE49-F238E27FC236}">
                <a16:creationId xmlns:a16="http://schemas.microsoft.com/office/drawing/2014/main" id="{970AAD84-2322-4EDA-A616-37D298DAF1C3}"/>
              </a:ext>
            </a:extLst>
          </p:cNvPr>
          <p:cNvSpPr>
            <a:spLocks xmlns:a="http://schemas.openxmlformats.org/drawingml/2006/main" noGrp="1"/>
          </p:cNvSpPr>
          <p:nvPr/>
        </p:nvSpPr>
        <p:spPr>
          <a:xfrm xmlns:a="http://schemas.openxmlformats.org/drawingml/2006/main" flipV="0">
            <a:off x="1143000" y="1524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33" name="">
            <a:extLst xmlns:a="http://schemas.openxmlformats.org/drawingml/2006/main">
              <a:ext uri="{FF2B5EF4-FFF2-40B4-BE49-F238E27FC236}">
                <a16:creationId xmlns:a16="http://schemas.microsoft.com/office/drawing/2014/main" id="{32EF77FB-070E-4DBB-A804-CA69177CCDCA}"/>
              </a:ext>
            </a:extLst>
          </p:cNvPr>
          <p:cNvSpPr>
            <a:spLocks xmlns:a="http://schemas.openxmlformats.org/drawingml/2006/main" noGrp="1"/>
          </p:cNvSpPr>
          <p:nvPr/>
        </p:nvSpPr>
        <p:spPr>
          <a:xfrm xmlns:a="http://schemas.openxmlformats.org/drawingml/2006/main">
            <a:off x="742950" y="1362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50</a:t>
            </a:r>
          </a:p>
        </p:txBody>
      </p:sp>
      <p:sp>
        <p:nvSpPr>
          <p:cNvPr id="34" name="CPU: 2*x1+x2=100">
            <a:extLst xmlns:a="http://schemas.openxmlformats.org/drawingml/2006/main">
              <a:ext uri="{FF2B5EF4-FFF2-40B4-BE49-F238E27FC236}">
                <a16:creationId xmlns:a16="http://schemas.microsoft.com/office/drawing/2014/main" id="{0E88918C-B285-4DD1-81DD-DDDA931D8152}"/>
              </a:ext>
            </a:extLst>
          </p:cNvPr>
          <p:cNvSpPr>
            <a:spLocks xmlns:a="http://schemas.openxmlformats.org/drawingml/2006/main" noGrp="1"/>
          </p:cNvSpPr>
          <p:nvPr/>
        </p:nvSpPr>
        <p:spPr>
          <a:xfrm xmlns:a="http://schemas.openxmlformats.org/drawingml/2006/main">
            <a:off x="3095625" y="1524000"/>
            <a:ext cx="1905000" cy="3810000"/>
          </a:xfrm>
          <a:prstGeom xmlns:a="http://schemas.openxmlformats.org/drawingml/2006/main" prst="line">
            <a:avLst/>
          </a:prstGeom>
          <a:noFill xmlns:a="http://schemas.openxmlformats.org/drawingml/2006/main"/>
          <a:ln xmlns:a="http://schemas.openxmlformats.org/drawingml/2006/main" w="28575">
            <a:solidFill>
              <a:srgbClr val="1479AE"/>
            </a:solidFill>
          </a:ln>
        </p:spPr>
      </p:sp>
      <p:sp>
        <p:nvSpPr>
          <p:cNvPr id="35" name="">
            <a:extLst xmlns:a="http://schemas.openxmlformats.org/drawingml/2006/main">
              <a:ext uri="{FF2B5EF4-FFF2-40B4-BE49-F238E27FC236}">
                <a16:creationId xmlns:a16="http://schemas.microsoft.com/office/drawing/2014/main" id="{EF8BC96D-77C7-4AA4-935C-250271D54125}"/>
              </a:ext>
            </a:extLst>
          </p:cNvPr>
          <p:cNvSpPr>
            <a:spLocks xmlns:a="http://schemas.openxmlformats.org/drawingml/2006/main" noGrp="1"/>
          </p:cNvSpPr>
          <p:nvPr/>
        </p:nvSpPr>
        <p:spPr>
          <a:xfrm xmlns:a="http://schemas.openxmlformats.org/drawingml/2006/main" flipV="0">
            <a:off x="1190625" y="2286000"/>
            <a:ext cx="4572000" cy="2286000"/>
          </a:xfrm>
          <a:prstGeom xmlns:a="http://schemas.openxmlformats.org/drawingml/2006/main" prst="line">
            <a:avLst/>
          </a:prstGeom>
          <a:noFill xmlns:a="http://schemas.openxmlformats.org/drawingml/2006/main"/>
          <a:ln xmlns:a="http://schemas.openxmlformats.org/drawingml/2006/main" w="28575">
            <a:solidFill>
              <a:srgbClr val="7A55A3"/>
            </a:solidFill>
          </a:ln>
        </p:spPr>
      </p:sp>
      <p:sp>
        <p:nvSpPr>
          <p:cNvPr id="36" name="">
            <a:extLst xmlns:a="http://schemas.openxmlformats.org/drawingml/2006/main">
              <a:ext uri="{FF2B5EF4-FFF2-40B4-BE49-F238E27FC236}">
                <a16:creationId xmlns:a16="http://schemas.microsoft.com/office/drawing/2014/main" id="{CCD17B0E-0A1C-44D9-8039-55CA5981D7B9}"/>
              </a:ext>
            </a:extLst>
          </p:cNvPr>
          <p:cNvSpPr>
            <a:spLocks xmlns:a="http://schemas.openxmlformats.org/drawingml/2006/main" noGrp="1"/>
          </p:cNvSpPr>
          <p:nvPr/>
        </p:nvSpPr>
        <p:spPr>
          <a:xfrm xmlns:a="http://schemas.openxmlformats.org/drawingml/2006/main" flipV="0">
            <a:off x="1190625" y="2286000"/>
            <a:ext cx="2286000" cy="3048000"/>
          </a:xfrm>
          <a:prstGeom xmlns:a="http://schemas.openxmlformats.org/drawingml/2006/main" prst="line">
            <a:avLst/>
          </a:prstGeom>
          <a:noFill xmlns:a="http://schemas.openxmlformats.org/drawingml/2006/main"/>
          <a:ln xmlns:a="http://schemas.openxmlformats.org/drawingml/2006/main" w="19050">
            <a:solidFill>
              <a:srgbClr val="B59B5C"/>
            </a:solidFill>
          </a:ln>
        </p:spPr>
      </p:sp>
      <p:sp>
        <p:nvSpPr>
          <p:cNvPr id="37" name="">
            <a:extLst xmlns:a="http://schemas.openxmlformats.org/drawingml/2006/main">
              <a:ext uri="{FF2B5EF4-FFF2-40B4-BE49-F238E27FC236}">
                <a16:creationId xmlns:a16="http://schemas.microsoft.com/office/drawing/2014/main" id="{CECC6910-941F-428B-8733-F09A1EEF53B4}"/>
              </a:ext>
            </a:extLst>
          </p:cNvPr>
          <p:cNvSpPr>
            <a:spLocks xmlns:a="http://schemas.openxmlformats.org/drawingml/2006/main" noGrp="1"/>
          </p:cNvSpPr>
          <p:nvPr/>
        </p:nvSpPr>
        <p:spPr>
          <a:xfrm xmlns:a="http://schemas.openxmlformats.org/drawingml/2006/main" flipV="0">
            <a:off x="2524125" y="1524000"/>
            <a:ext cx="2857500" cy="3810000"/>
          </a:xfrm>
          <a:prstGeom xmlns:a="http://schemas.openxmlformats.org/drawingml/2006/main" prst="line">
            <a:avLst/>
          </a:prstGeom>
          <a:noFill xmlns:a="http://schemas.openxmlformats.org/drawingml/2006/main"/>
          <a:ln xmlns:a="http://schemas.openxmlformats.org/drawingml/2006/main" w="28575">
            <a:solidFill>
              <a:srgbClr val="E5B74A"/>
            </a:solidFill>
          </a:ln>
        </p:spPr>
      </p:sp>
      <p:sp>
        <p:nvSpPr>
          <p:cNvPr id="38" name="">
            <a:extLst xmlns:a="http://schemas.openxmlformats.org/drawingml/2006/main">
              <a:ext uri="{FF2B5EF4-FFF2-40B4-BE49-F238E27FC236}">
                <a16:creationId xmlns:a16="http://schemas.microsoft.com/office/drawing/2014/main" id="{458AF36E-1482-4994-AC00-64A7DDDC4690}"/>
              </a:ext>
            </a:extLst>
          </p:cNvPr>
          <p:cNvSpPr>
            <a:spLocks xmlns:a="http://schemas.openxmlformats.org/drawingml/2006/main" noGrp="1"/>
          </p:cNvSpPr>
          <p:nvPr/>
        </p:nvSpPr>
        <p:spPr>
          <a:xfrm xmlns:a="http://schemas.openxmlformats.org/drawingml/2006/main">
            <a:off x="1419225" y="27432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8C7128"/>
                </a:solidFill>
                <a:latin typeface="Arial"/>
                <a:ea typeface="Arial"/>
                <a:cs typeface="Arial"/>
              </a:defRPr>
            </a:pPr>
            <a:r>
              <a:rPr sz="1800" b="0">
                <a:solidFill>
                  <a:srgbClr val="8C7128"/>
                </a:solidFill>
                <a:latin typeface="Arial"/>
                <a:ea typeface="Arial"/>
                <a:cs typeface="Arial"/>
              </a:rPr>
              <a:t>Z=120</a:t>
            </a:r>
          </a:p>
        </p:txBody>
      </p:sp>
      <p:sp>
        <p:nvSpPr>
          <p:cNvPr id="39" name="">
            <a:extLst xmlns:a="http://schemas.openxmlformats.org/drawingml/2006/main">
              <a:ext uri="{FF2B5EF4-FFF2-40B4-BE49-F238E27FC236}">
                <a16:creationId xmlns:a16="http://schemas.microsoft.com/office/drawing/2014/main" id="{370EC258-D25A-45AA-A96B-124F70A7E0C9}"/>
              </a:ext>
            </a:extLst>
          </p:cNvPr>
          <p:cNvSpPr>
            <a:spLocks xmlns:a="http://schemas.openxmlformats.org/drawingml/2006/main" noGrp="1"/>
          </p:cNvSpPr>
          <p:nvPr/>
        </p:nvSpPr>
        <p:spPr>
          <a:xfrm xmlns:a="http://schemas.openxmlformats.org/drawingml/2006/main">
            <a:off x="3009900" y="3343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8EE6356-BA56-4CA0-BB22-43A5A8EC82F2}"/>
              </a:ext>
            </a:extLst>
          </p:cNvPr>
          <p:cNvSpPr>
            <a:spLocks xmlns:a="http://schemas.openxmlformats.org/drawingml/2006/main" noGrp="1"/>
          </p:cNvSpPr>
          <p:nvPr/>
        </p:nvSpPr>
        <p:spPr>
          <a:xfrm xmlns:a="http://schemas.openxmlformats.org/drawingml/2006/main">
            <a:off x="3924300" y="2657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0" name="">
            <a:extLst xmlns:a="http://schemas.openxmlformats.org/drawingml/2006/main">
              <a:ext uri="{FF2B5EF4-FFF2-40B4-BE49-F238E27FC236}">
                <a16:creationId xmlns:a16="http://schemas.microsoft.com/office/drawing/2014/main" id="{F1624C85-86DF-4704-94F8-241F40A6F613}"/>
              </a:ext>
            </a:extLst>
          </p:cNvPr>
          <p:cNvCxnSpPr>
            <a:stCxn xmlns:a="http://schemas.openxmlformats.org/drawingml/2006/main" id="39" idx="3"/>
            <a:endCxn xmlns:a="http://schemas.openxmlformats.org/drawingml/2006/main" id="40" idx="1"/>
          </p:cNvCxnSpPr>
          <p:nvPr/>
        </p:nvCxnSpPr>
        <p:spPr>
          <a:xfrm xmlns:a="http://schemas.openxmlformats.org/drawingml/2006/main" flipV="1">
            <a:off x="3028950" y="2667000"/>
            <a:ext cx="895350" cy="685800"/>
          </a:xfrm>
          <a:prstGeom xmlns:a="http://schemas.openxmlformats.org/drawingml/2006/main" prst="straightConnector1">
            <a:avLst/>
          </a:prstGeom>
          <a:ln xmlns:a="http://schemas.openxmlformats.org/drawingml/2006/main" w="38100">
            <a:solidFill>
              <a:srgbClr val="B64436"/>
            </a:solidFill>
            <a:tailEnd type="triangle" w="med" len="med"/>
          </a:ln>
        </p:spPr>
      </p:cxnSp>
      <p:sp>
        <p:nvSpPr>
          <p:cNvPr id="42" name="">
            <a:extLst xmlns:a="http://schemas.openxmlformats.org/drawingml/2006/main">
              <a:ext uri="{FF2B5EF4-FFF2-40B4-BE49-F238E27FC236}">
                <a16:creationId xmlns:a16="http://schemas.microsoft.com/office/drawing/2014/main" id="{10745CE9-BD5B-4E6E-AEAD-8D870DE36413}"/>
              </a:ext>
            </a:extLst>
          </p:cNvPr>
          <p:cNvSpPr>
            <a:spLocks xmlns:a="http://schemas.openxmlformats.org/drawingml/2006/main" noGrp="1"/>
          </p:cNvSpPr>
          <p:nvPr/>
        </p:nvSpPr>
        <p:spPr>
          <a:xfrm xmlns:a="http://schemas.openxmlformats.org/drawingml/2006/main">
            <a:off x="3476625" y="220027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B64436"/>
                </a:solidFill>
                <a:latin typeface="Arial"/>
                <a:ea typeface="Arial"/>
                <a:cs typeface="Arial"/>
              </a:defRPr>
            </a:pPr>
            <a:r>
              <a:rPr sz="1950" b="1">
                <a:solidFill>
                  <a:srgbClr val="B64436"/>
                </a:solidFill>
                <a:latin typeface="Arial"/>
                <a:ea typeface="Arial"/>
                <a:cs typeface="Arial"/>
              </a:rPr>
              <a:t>(4,3)</a:t>
            </a:r>
          </a:p>
        </p:txBody>
      </p:sp>
      <p:sp>
        <p:nvSpPr>
          <p:cNvPr id="43" name="">
            <a:extLst xmlns:a="http://schemas.openxmlformats.org/drawingml/2006/main">
              <a:ext uri="{FF2B5EF4-FFF2-40B4-BE49-F238E27FC236}">
                <a16:creationId xmlns:a16="http://schemas.microsoft.com/office/drawing/2014/main" id="{1B827DA7-AA90-448F-B4C8-770DC8911ACB}"/>
              </a:ext>
            </a:extLst>
          </p:cNvPr>
          <p:cNvSpPr>
            <a:spLocks xmlns:a="http://schemas.openxmlformats.org/drawingml/2006/main" noGrp="1"/>
          </p:cNvSpPr>
          <p:nvPr/>
        </p:nvSpPr>
        <p:spPr>
          <a:xfrm xmlns:a="http://schemas.openxmlformats.org/drawingml/2006/main">
            <a:off x="1143000" y="5286375"/>
            <a:ext cx="95250" cy="95250"/>
          </a:xfrm>
          <a:prstGeom xmlns:a="http://schemas.openxmlformats.org/drawingml/2006/main" prst="ellipse">
            <a:avLst/>
          </a:prstGeom>
          <a:solidFill xmlns:a="http://schemas.openxmlformats.org/drawingml/2006/main">
            <a:srgbClr val="00857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24FE88A-7269-4CCC-A561-AF86049DE4D5}"/>
              </a:ext>
            </a:extLst>
          </p:cNvPr>
          <p:cNvSpPr>
            <a:spLocks xmlns:a="http://schemas.openxmlformats.org/drawingml/2006/main" noGrp="1"/>
          </p:cNvSpPr>
          <p:nvPr/>
        </p:nvSpPr>
        <p:spPr>
          <a:xfrm xmlns:a="http://schemas.openxmlformats.org/drawingml/2006/main">
            <a:off x="4953000" y="5286375"/>
            <a:ext cx="95250" cy="95250"/>
          </a:xfrm>
          <a:prstGeom xmlns:a="http://schemas.openxmlformats.org/drawingml/2006/main" prst="ellipse">
            <a:avLst/>
          </a:prstGeom>
          <a:solidFill xmlns:a="http://schemas.openxmlformats.org/drawingml/2006/main">
            <a:srgbClr val="00857D"/>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A6226F4-A839-497F-800D-9CE027505050}"/>
              </a:ext>
            </a:extLst>
          </p:cNvPr>
          <p:cNvSpPr>
            <a:spLocks xmlns:a="http://schemas.openxmlformats.org/drawingml/2006/main" noGrp="1"/>
          </p:cNvSpPr>
          <p:nvPr/>
        </p:nvSpPr>
        <p:spPr>
          <a:xfrm xmlns:a="http://schemas.openxmlformats.org/drawingml/2006/main">
            <a:off x="4191000" y="3762375"/>
            <a:ext cx="95250" cy="95250"/>
          </a:xfrm>
          <a:prstGeom xmlns:a="http://schemas.openxmlformats.org/drawingml/2006/main" prst="ellipse">
            <a:avLst/>
          </a:prstGeom>
          <a:solidFill xmlns:a="http://schemas.openxmlformats.org/drawingml/2006/main">
            <a:srgbClr val="00857D"/>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6E3F4BA-CDB4-4A40-9540-3781FDFF1003}"/>
              </a:ext>
            </a:extLst>
          </p:cNvPr>
          <p:cNvSpPr>
            <a:spLocks xmlns:a="http://schemas.openxmlformats.org/drawingml/2006/main" noGrp="1"/>
          </p:cNvSpPr>
          <p:nvPr/>
        </p:nvSpPr>
        <p:spPr>
          <a:xfrm xmlns:a="http://schemas.openxmlformats.org/drawingml/2006/main">
            <a:off x="1143000" y="2238375"/>
            <a:ext cx="95250" cy="95250"/>
          </a:xfrm>
          <a:prstGeom xmlns:a="http://schemas.openxmlformats.org/drawingml/2006/main" prst="ellipse">
            <a:avLst/>
          </a:prstGeom>
          <a:solidFill xmlns:a="http://schemas.openxmlformats.org/drawingml/2006/main">
            <a:srgbClr val="00857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827DC26-22DE-45C8-8A7B-54841E611E59}"/>
              </a:ext>
            </a:extLst>
          </p:cNvPr>
          <p:cNvSpPr>
            <a:spLocks xmlns:a="http://schemas.openxmlformats.org/drawingml/2006/main" noGrp="1"/>
          </p:cNvSpPr>
          <p:nvPr/>
        </p:nvSpPr>
        <p:spPr>
          <a:xfrm xmlns:a="http://schemas.openxmlformats.org/drawingml/2006/main">
            <a:off x="1323975" y="4905375"/>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857D"/>
                </a:solidFill>
                <a:latin typeface="Arial"/>
                <a:ea typeface="Arial"/>
                <a:cs typeface="Arial"/>
              </a:defRPr>
            </a:pPr>
            <a:r>
              <a:rPr sz="1875" b="1">
                <a:solidFill>
                  <a:srgbClr val="00857D"/>
                </a:solidFill>
                <a:latin typeface="Arial"/>
                <a:ea typeface="Arial"/>
                <a:cs typeface="Arial"/>
              </a:rPr>
              <a:t>(0,0)</a:t>
            </a:r>
          </a:p>
        </p:txBody>
      </p:sp>
      <p:sp>
        <p:nvSpPr>
          <p:cNvPr id="48" name="">
            <a:extLst xmlns:a="http://schemas.openxmlformats.org/drawingml/2006/main">
              <a:ext uri="{FF2B5EF4-FFF2-40B4-BE49-F238E27FC236}">
                <a16:creationId xmlns:a16="http://schemas.microsoft.com/office/drawing/2014/main" id="{F251A2A6-DE6D-443B-BDE7-1AFD349D4DF7}"/>
              </a:ext>
            </a:extLst>
          </p:cNvPr>
          <p:cNvSpPr>
            <a:spLocks xmlns:a="http://schemas.openxmlformats.org/drawingml/2006/main" noGrp="1"/>
          </p:cNvSpPr>
          <p:nvPr/>
        </p:nvSpPr>
        <p:spPr>
          <a:xfrm xmlns:a="http://schemas.openxmlformats.org/drawingml/2006/main">
            <a:off x="1314450"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857D"/>
                </a:solidFill>
                <a:latin typeface="Arial"/>
                <a:ea typeface="Arial"/>
                <a:cs typeface="Arial"/>
              </a:defRPr>
            </a:pPr>
            <a:r>
              <a:rPr sz="1875" b="1">
                <a:solidFill>
                  <a:srgbClr val="00857D"/>
                </a:solidFill>
                <a:latin typeface="Arial"/>
                <a:ea typeface="Arial"/>
                <a:cs typeface="Arial"/>
              </a:rPr>
              <a:t>(0,40)</a:t>
            </a:r>
          </a:p>
        </p:txBody>
      </p:sp>
      <p:sp>
        <p:nvSpPr>
          <p:cNvPr id="49" name="">
            <a:extLst xmlns:a="http://schemas.openxmlformats.org/drawingml/2006/main">
              <a:ext uri="{FF2B5EF4-FFF2-40B4-BE49-F238E27FC236}">
                <a16:creationId xmlns:a16="http://schemas.microsoft.com/office/drawing/2014/main" id="{A4F3DD37-0096-4EDE-A1FE-78FBF98224D8}"/>
              </a:ext>
            </a:extLst>
          </p:cNvPr>
          <p:cNvSpPr>
            <a:spLocks xmlns:a="http://schemas.openxmlformats.org/drawingml/2006/main" noGrp="1"/>
          </p:cNvSpPr>
          <p:nvPr/>
        </p:nvSpPr>
        <p:spPr>
          <a:xfrm xmlns:a="http://schemas.openxmlformats.org/drawingml/2006/main">
            <a:off x="5095875" y="4905375"/>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857D"/>
                </a:solidFill>
                <a:latin typeface="Arial"/>
                <a:ea typeface="Arial"/>
                <a:cs typeface="Arial"/>
              </a:defRPr>
            </a:pPr>
            <a:r>
              <a:rPr sz="1875" b="1">
                <a:solidFill>
                  <a:srgbClr val="00857D"/>
                </a:solidFill>
                <a:latin typeface="Arial"/>
                <a:ea typeface="Arial"/>
                <a:cs typeface="Arial"/>
              </a:rPr>
              <a:t>(50,0)</a:t>
            </a:r>
          </a:p>
        </p:txBody>
      </p:sp>
      <p:sp>
        <p:nvSpPr>
          <p:cNvPr id="50" name="">
            <a:extLst xmlns:a="http://schemas.openxmlformats.org/drawingml/2006/main">
              <a:ext uri="{FF2B5EF4-FFF2-40B4-BE49-F238E27FC236}">
                <a16:creationId xmlns:a16="http://schemas.microsoft.com/office/drawing/2014/main" id="{2E4511C0-93E5-4309-B4EE-450DEE89EC3E}"/>
              </a:ext>
            </a:extLst>
          </p:cNvPr>
          <p:cNvSpPr>
            <a:spLocks xmlns:a="http://schemas.openxmlformats.org/drawingml/2006/main" noGrp="1"/>
          </p:cNvSpPr>
          <p:nvPr/>
        </p:nvSpPr>
        <p:spPr>
          <a:xfrm xmlns:a="http://schemas.openxmlformats.org/drawingml/2006/main" flipV="1">
            <a:off x="4295775" y="3695700"/>
            <a:ext cx="1085850" cy="114300"/>
          </a:xfrm>
          <a:prstGeom xmlns:a="http://schemas.openxmlformats.org/drawingml/2006/main" prst="line">
            <a:avLst/>
          </a:prstGeom>
          <a:noFill xmlns:a="http://schemas.openxmlformats.org/drawingml/2006/main"/>
          <a:ln xmlns:a="http://schemas.openxmlformats.org/drawingml/2006/main" w="19050">
            <a:solidFill>
              <a:srgbClr val="00857D"/>
            </a:solidFill>
          </a:ln>
        </p:spPr>
      </p:sp>
      <p:sp>
        <p:nvSpPr>
          <p:cNvPr id="51" name="">
            <a:extLst xmlns:a="http://schemas.openxmlformats.org/drawingml/2006/main">
              <a:ext uri="{FF2B5EF4-FFF2-40B4-BE49-F238E27FC236}">
                <a16:creationId xmlns:a16="http://schemas.microsoft.com/office/drawing/2014/main" id="{4D7D5E1C-2FD4-47E8-8D67-A567BB8D0EE2}"/>
              </a:ext>
            </a:extLst>
          </p:cNvPr>
          <p:cNvSpPr>
            <a:spLocks xmlns:a="http://schemas.openxmlformats.org/drawingml/2006/main" noGrp="1"/>
          </p:cNvSpPr>
          <p:nvPr/>
        </p:nvSpPr>
        <p:spPr>
          <a:xfrm xmlns:a="http://schemas.openxmlformats.org/drawingml/2006/main">
            <a:off x="5429250" y="34480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00857D"/>
                </a:solidFill>
                <a:latin typeface="Arial"/>
                <a:ea typeface="Arial"/>
                <a:cs typeface="Arial"/>
              </a:defRPr>
            </a:pPr>
            <a:r>
              <a:rPr sz="1950" b="1">
                <a:solidFill>
                  <a:srgbClr val="00857D"/>
                </a:solidFill>
                <a:latin typeface="Arial"/>
                <a:ea typeface="Arial"/>
                <a:cs typeface="Arial"/>
              </a:rPr>
              <a:t>(40,20)</a:t>
            </a:r>
          </a:p>
        </p:txBody>
      </p:sp>
      <p:sp>
        <p:nvSpPr>
          <p:cNvPr id="52" name="">
            <a:extLst xmlns:a="http://schemas.openxmlformats.org/drawingml/2006/main">
              <a:ext uri="{FF2B5EF4-FFF2-40B4-BE49-F238E27FC236}">
                <a16:creationId xmlns:a16="http://schemas.microsoft.com/office/drawing/2014/main" id="{96EB3B8C-0A9B-4DFB-A71D-CD9CE80C524D}"/>
              </a:ext>
            </a:extLst>
          </p:cNvPr>
          <p:cNvSpPr>
            <a:spLocks xmlns:a="http://schemas.openxmlformats.org/drawingml/2006/main" noGrp="1"/>
          </p:cNvSpPr>
          <p:nvPr/>
        </p:nvSpPr>
        <p:spPr>
          <a:xfrm xmlns:a="http://schemas.openxmlformats.org/drawingml/2006/main">
            <a:off x="4095750" y="56388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x₁: інференс</a:t>
            </a:r>
          </a:p>
        </p:txBody>
      </p:sp>
      <p:sp>
        <p:nvSpPr>
          <p:cNvPr id="53" name="">
            <a:extLst xmlns:a="http://schemas.openxmlformats.org/drawingml/2006/main">
              <a:ext uri="{FF2B5EF4-FFF2-40B4-BE49-F238E27FC236}">
                <a16:creationId xmlns:a16="http://schemas.microsoft.com/office/drawing/2014/main" id="{FA717FF4-CD5B-4393-8399-598F784D353B}"/>
              </a:ext>
            </a:extLst>
          </p:cNvPr>
          <p:cNvSpPr>
            <a:spLocks xmlns:a="http://schemas.openxmlformats.org/drawingml/2006/main" noGrp="1"/>
          </p:cNvSpPr>
          <p:nvPr/>
        </p:nvSpPr>
        <p:spPr>
          <a:xfrm xmlns:a="http://schemas.openxmlformats.org/drawingml/2006/main">
            <a:off x="1381125" y="13525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73047"/>
                </a:solidFill>
                <a:latin typeface="Arial"/>
                <a:ea typeface="Arial"/>
                <a:cs typeface="Arial"/>
              </a:defRPr>
            </a:pPr>
            <a:r>
              <a:rPr sz="1950" b="0">
                <a:solidFill>
                  <a:srgbClr val="173047"/>
                </a:solidFill>
                <a:latin typeface="Arial"/>
                <a:ea typeface="Arial"/>
                <a:cs typeface="Arial"/>
              </a:rPr>
              <a:t>x₂</a:t>
            </a:r>
          </a:p>
        </p:txBody>
      </p:sp>
      <p:sp>
        <p:nvSpPr>
          <p:cNvPr id="54" name="">
            <a:extLst xmlns:a="http://schemas.openxmlformats.org/drawingml/2006/main">
              <a:ext uri="{FF2B5EF4-FFF2-40B4-BE49-F238E27FC236}">
                <a16:creationId xmlns:a16="http://schemas.microsoft.com/office/drawing/2014/main" id="{727E1EAD-1325-49D7-B1CD-CC9B865E5EAD}"/>
              </a:ext>
            </a:extLst>
          </p:cNvPr>
          <p:cNvSpPr>
            <a:spLocks xmlns:a="http://schemas.openxmlformats.org/drawingml/2006/main" noGrp="1"/>
          </p:cNvSpPr>
          <p:nvPr/>
        </p:nvSpPr>
        <p:spPr>
          <a:xfrm xmlns:a="http://schemas.openxmlformats.org/drawingml/2006/main">
            <a:off x="7239000" y="16859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1479AE"/>
                </a:solidFill>
                <a:latin typeface="Arial"/>
                <a:ea typeface="Arial"/>
                <a:cs typeface="Arial"/>
              </a:defRPr>
            </a:pPr>
            <a:r>
              <a:rPr sz="2550" b="1">
                <a:solidFill>
                  <a:srgbClr val="1479AE"/>
                </a:solidFill>
                <a:latin typeface="Arial"/>
                <a:ea typeface="Arial"/>
                <a:cs typeface="Arial"/>
              </a:rPr>
              <a:t>CPU: 2x₁+x₂=100</a:t>
            </a:r>
          </a:p>
        </p:txBody>
      </p:sp>
      <p:sp>
        <p:nvSpPr>
          <p:cNvPr id="55" name="">
            <a:extLst xmlns:a="http://schemas.openxmlformats.org/drawingml/2006/main">
              <a:ext uri="{FF2B5EF4-FFF2-40B4-BE49-F238E27FC236}">
                <a16:creationId xmlns:a16="http://schemas.microsoft.com/office/drawing/2014/main" id="{ACCC42E5-B1C0-4AFE-B597-BB15D266132E}"/>
              </a:ext>
            </a:extLst>
          </p:cNvPr>
          <p:cNvSpPr>
            <a:spLocks xmlns:a="http://schemas.openxmlformats.org/drawingml/2006/main" noGrp="1"/>
          </p:cNvSpPr>
          <p:nvPr/>
        </p:nvSpPr>
        <p:spPr>
          <a:xfrm xmlns:a="http://schemas.openxmlformats.org/drawingml/2006/main">
            <a:off x="7239000" y="25241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7A55A3"/>
                </a:solidFill>
                <a:latin typeface="Arial"/>
                <a:ea typeface="Arial"/>
                <a:cs typeface="Arial"/>
              </a:defRPr>
            </a:pPr>
            <a:r>
              <a:rPr sz="2550" b="1">
                <a:solidFill>
                  <a:srgbClr val="7A55A3"/>
                </a:solidFill>
                <a:latin typeface="Arial"/>
                <a:ea typeface="Arial"/>
                <a:cs typeface="Arial"/>
              </a:rPr>
              <a:t>RAM: x₁+2x₂=80</a:t>
            </a:r>
          </a:p>
        </p:txBody>
      </p:sp>
      <p:sp>
        <p:nvSpPr>
          <p:cNvPr id="56" name="">
            <a:extLst xmlns:a="http://schemas.openxmlformats.org/drawingml/2006/main">
              <a:ext uri="{FF2B5EF4-FFF2-40B4-BE49-F238E27FC236}">
                <a16:creationId xmlns:a16="http://schemas.microsoft.com/office/drawing/2014/main" id="{DE903BD7-0214-4609-B4DB-0E4D7917F1D6}"/>
              </a:ext>
            </a:extLst>
          </p:cNvPr>
          <p:cNvSpPr>
            <a:spLocks xmlns:a="http://schemas.openxmlformats.org/drawingml/2006/main" noGrp="1"/>
          </p:cNvSpPr>
          <p:nvPr/>
        </p:nvSpPr>
        <p:spPr>
          <a:xfrm xmlns:a="http://schemas.openxmlformats.org/drawingml/2006/main">
            <a:off x="7239000" y="327660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8C7128"/>
                </a:solidFill>
                <a:latin typeface="Arial"/>
                <a:ea typeface="Arial"/>
                <a:cs typeface="Arial"/>
              </a:defRPr>
            </a:pPr>
            <a:r>
              <a:rPr sz="2250" b="0">
                <a:solidFill>
                  <a:srgbClr val="8C7128"/>
                </a:solidFill>
                <a:latin typeface="Arial"/>
                <a:ea typeface="Arial"/>
                <a:cs typeface="Arial"/>
              </a:rPr>
              <a:t>Рівні: Z=120 та 220</a:t>
            </a:r>
          </a:p>
        </p:txBody>
      </p:sp>
      <p:sp>
        <p:nvSpPr>
          <p:cNvPr id="57" name="">
            <a:extLst xmlns:a="http://schemas.openxmlformats.org/drawingml/2006/main">
              <a:ext uri="{FF2B5EF4-FFF2-40B4-BE49-F238E27FC236}">
                <a16:creationId xmlns:a16="http://schemas.microsoft.com/office/drawing/2014/main" id="{9F82F3C0-4D17-41EE-A9FC-DF744C30A531}"/>
              </a:ext>
            </a:extLst>
          </p:cNvPr>
          <p:cNvSpPr>
            <a:spLocks xmlns:a="http://schemas.openxmlformats.org/drawingml/2006/main" noGrp="1"/>
          </p:cNvSpPr>
          <p:nvPr/>
        </p:nvSpPr>
        <p:spPr>
          <a:xfrm xmlns:a="http://schemas.openxmlformats.org/drawingml/2006/main">
            <a:off x="7239000" y="38766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75" b="1">
                <a:solidFill>
                  <a:srgbClr val="173047"/>
                </a:solidFill>
                <a:latin typeface="Arial"/>
                <a:ea typeface="Arial"/>
                <a:cs typeface="Arial"/>
              </a:defRPr>
            </a:pPr>
            <a:r>
              <a:rPr sz="2475" b="1">
                <a:solidFill>
                  <a:srgbClr val="173047"/>
                </a:solidFill>
                <a:latin typeface="Arial"/>
                <a:ea typeface="Arial"/>
                <a:cs typeface="Arial"/>
              </a:rPr>
              <a:t>Найкраща вершина</a:t>
            </a:r>
          </a:p>
          <a:p xmlns:a="http://schemas.openxmlformats.org/drawingml/2006/main">
            <a:pPr algn="l">
              <a:buNone/>
              <a:defRPr sz="2475" b="1">
                <a:solidFill>
                  <a:srgbClr val="173047"/>
                </a:solidFill>
                <a:latin typeface="Arial"/>
                <a:ea typeface="Arial"/>
                <a:cs typeface="Arial"/>
              </a:defRPr>
            </a:pPr>
            <a:r>
              <a:rPr sz="2475" b="1">
                <a:solidFill>
                  <a:srgbClr val="173047"/>
                </a:solidFill>
                <a:latin typeface="Arial"/>
                <a:ea typeface="Arial"/>
                <a:cs typeface="Arial"/>
              </a:rPr>
              <a:t>x=(40,20)</a:t>
            </a:r>
          </a:p>
        </p:txBody>
      </p:sp>
      <p:sp>
        <p:nvSpPr>
          <p:cNvPr id="58" name="">
            <a:extLst xmlns:a="http://schemas.openxmlformats.org/drawingml/2006/main">
              <a:ext uri="{FF2B5EF4-FFF2-40B4-BE49-F238E27FC236}">
                <a16:creationId xmlns:a16="http://schemas.microsoft.com/office/drawing/2014/main" id="{F73C1F25-3B90-4E75-B30A-4A709E8C4BBC}"/>
              </a:ext>
            </a:extLst>
          </p:cNvPr>
          <p:cNvSpPr>
            <a:spLocks xmlns:a="http://schemas.openxmlformats.org/drawingml/2006/main" noGrp="1"/>
          </p:cNvSpPr>
          <p:nvPr/>
        </p:nvSpPr>
        <p:spPr>
          <a:xfrm xmlns:a="http://schemas.openxmlformats.org/drawingml/2006/main">
            <a:off x="7239000" y="4848225"/>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450" b="1">
                <a:solidFill>
                  <a:srgbClr val="00857D"/>
                </a:solidFill>
                <a:latin typeface="Arial"/>
                <a:ea typeface="Arial"/>
                <a:cs typeface="Arial"/>
              </a:defRPr>
            </a:pPr>
            <a:r>
              <a:rPr sz="3450" b="1">
                <a:solidFill>
                  <a:srgbClr val="00857D"/>
                </a:solidFill>
                <a:latin typeface="Arial"/>
                <a:ea typeface="Arial"/>
                <a:cs typeface="Arial"/>
              </a:rPr>
              <a:t>Z = 220</a:t>
            </a:r>
          </a:p>
        </p:txBody>
      </p:sp>
      <p:sp>
        <p:nvSpPr>
          <p:cNvPr id="59" name="">
            <a:extLst xmlns:a="http://schemas.openxmlformats.org/drawingml/2006/main">
              <a:ext uri="{FF2B5EF4-FFF2-40B4-BE49-F238E27FC236}">
                <a16:creationId xmlns:a16="http://schemas.microsoft.com/office/drawing/2014/main" id="{1FDD6463-068B-435A-8171-4E432DB15832}"/>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a:t>
            </a:r>
          </a:p>
        </p:txBody>
      </p:sp>
    </p:spTree>
    <p:extLst>
      <p:ext uri="{BB962C8B-B14F-4D97-AF65-F5344CB8AC3E}">
        <p14:creationId xmlns:p14="http://schemas.microsoft.com/office/powerpoint/2010/main" val="9222225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C767E306-0870-4651-91CA-FDBE21013159}"/>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Порівняння кутових планів</a:t>
            </a:r>
          </a:p>
        </p:txBody>
      </p:sp>
      <p:sp>
        <p:nvSpPr>
          <p:cNvPr id="3" name="">
            <a:extLst xmlns:a="http://schemas.openxmlformats.org/drawingml/2006/main">
              <a:ext uri="{FF2B5EF4-FFF2-40B4-BE49-F238E27FC236}">
                <a16:creationId xmlns:a16="http://schemas.microsoft.com/office/drawing/2014/main" id="{D12B4DF5-A726-4C04-88C1-50E1E25D0C78}"/>
              </a:ext>
            </a:extLst>
          </p:cNvPr>
          <p:cNvSpPr>
            <a:spLocks xmlns:a="http://schemas.openxmlformats.org/drawingml/2006/main" noGrp="1"/>
          </p:cNvSpPr>
          <p:nvPr/>
        </p:nvSpPr>
        <p:spPr>
          <a:xfrm xmlns:a="http://schemas.openxmlformats.org/drawingml/2006/main">
            <a:off x="742950" y="1866900"/>
            <a:ext cx="3124200" cy="8001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0705F141-B2EC-4D74-98AB-83F2D05026A6}"/>
              </a:ext>
            </a:extLst>
          </p:cNvPr>
          <p:cNvSpPr>
            <a:spLocks xmlns:a="http://schemas.openxmlformats.org/drawingml/2006/main" noGrp="1"/>
          </p:cNvSpPr>
          <p:nvPr/>
        </p:nvSpPr>
        <p:spPr>
          <a:xfrm xmlns:a="http://schemas.openxmlformats.org/drawingml/2006/main">
            <a:off x="838200" y="1943100"/>
            <a:ext cx="2933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План (x₁,x₂)</a:t>
            </a:r>
          </a:p>
        </p:txBody>
      </p:sp>
      <p:sp>
        <p:nvSpPr>
          <p:cNvPr id="5" name="">
            <a:extLst xmlns:a="http://schemas.openxmlformats.org/drawingml/2006/main">
              <a:ext uri="{FF2B5EF4-FFF2-40B4-BE49-F238E27FC236}">
                <a16:creationId xmlns:a16="http://schemas.microsoft.com/office/drawing/2014/main" id="{CB60DF33-2E79-49A6-834C-B4A66B2D16C5}"/>
              </a:ext>
            </a:extLst>
          </p:cNvPr>
          <p:cNvSpPr>
            <a:spLocks xmlns:a="http://schemas.openxmlformats.org/drawingml/2006/main" noGrp="1"/>
          </p:cNvSpPr>
          <p:nvPr/>
        </p:nvSpPr>
        <p:spPr>
          <a:xfrm xmlns:a="http://schemas.openxmlformats.org/drawingml/2006/main">
            <a:off x="3867150" y="1866900"/>
            <a:ext cx="2381250" cy="8001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FF78772E-775F-434D-B2FB-41F718CC4946}"/>
              </a:ext>
            </a:extLst>
          </p:cNvPr>
          <p:cNvSpPr>
            <a:spLocks xmlns:a="http://schemas.openxmlformats.org/drawingml/2006/main" noGrp="1"/>
          </p:cNvSpPr>
          <p:nvPr/>
        </p:nvSpPr>
        <p:spPr>
          <a:xfrm xmlns:a="http://schemas.openxmlformats.org/drawingml/2006/main">
            <a:off x="3962400" y="1943100"/>
            <a:ext cx="2190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CPU</a:t>
            </a:r>
          </a:p>
        </p:txBody>
      </p:sp>
      <p:sp>
        <p:nvSpPr>
          <p:cNvPr id="7" name="">
            <a:extLst xmlns:a="http://schemas.openxmlformats.org/drawingml/2006/main">
              <a:ext uri="{FF2B5EF4-FFF2-40B4-BE49-F238E27FC236}">
                <a16:creationId xmlns:a16="http://schemas.microsoft.com/office/drawing/2014/main" id="{95E0069A-7C8E-4A9B-9D65-E91EE2167E1B}"/>
              </a:ext>
            </a:extLst>
          </p:cNvPr>
          <p:cNvSpPr>
            <a:spLocks xmlns:a="http://schemas.openxmlformats.org/drawingml/2006/main" noGrp="1"/>
          </p:cNvSpPr>
          <p:nvPr/>
        </p:nvSpPr>
        <p:spPr>
          <a:xfrm xmlns:a="http://schemas.openxmlformats.org/drawingml/2006/main">
            <a:off x="6248400" y="1866900"/>
            <a:ext cx="2838450" cy="8001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F9772161-7A86-4791-B63F-1C78B39CA0E8}"/>
              </a:ext>
            </a:extLst>
          </p:cNvPr>
          <p:cNvSpPr>
            <a:spLocks xmlns:a="http://schemas.openxmlformats.org/drawingml/2006/main" noGrp="1"/>
          </p:cNvSpPr>
          <p:nvPr/>
        </p:nvSpPr>
        <p:spPr>
          <a:xfrm xmlns:a="http://schemas.openxmlformats.org/drawingml/2006/main">
            <a:off x="6343650" y="1943100"/>
            <a:ext cx="2647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Пам’ять</a:t>
            </a:r>
          </a:p>
        </p:txBody>
      </p:sp>
      <p:sp>
        <p:nvSpPr>
          <p:cNvPr id="9" name="">
            <a:extLst xmlns:a="http://schemas.openxmlformats.org/drawingml/2006/main">
              <a:ext uri="{FF2B5EF4-FFF2-40B4-BE49-F238E27FC236}">
                <a16:creationId xmlns:a16="http://schemas.microsoft.com/office/drawing/2014/main" id="{BCB85889-ACBF-4C30-B4EA-45DD0A103DD0}"/>
              </a:ext>
            </a:extLst>
          </p:cNvPr>
          <p:cNvSpPr>
            <a:spLocks xmlns:a="http://schemas.openxmlformats.org/drawingml/2006/main" noGrp="1"/>
          </p:cNvSpPr>
          <p:nvPr/>
        </p:nvSpPr>
        <p:spPr>
          <a:xfrm xmlns:a="http://schemas.openxmlformats.org/drawingml/2006/main">
            <a:off x="9086850" y="1866900"/>
            <a:ext cx="2362200" cy="8001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B6BDEAB9-0CA7-47D2-9F39-7F9AFD62475B}"/>
              </a:ext>
            </a:extLst>
          </p:cNvPr>
          <p:cNvSpPr>
            <a:spLocks xmlns:a="http://schemas.openxmlformats.org/drawingml/2006/main" noGrp="1"/>
          </p:cNvSpPr>
          <p:nvPr/>
        </p:nvSpPr>
        <p:spPr>
          <a:xfrm xmlns:a="http://schemas.openxmlformats.org/drawingml/2006/main">
            <a:off x="9182100" y="1943100"/>
            <a:ext cx="2171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Z</a:t>
            </a:r>
          </a:p>
        </p:txBody>
      </p:sp>
      <p:sp>
        <p:nvSpPr>
          <p:cNvPr id="11" name="">
            <a:extLst xmlns:a="http://schemas.openxmlformats.org/drawingml/2006/main">
              <a:ext uri="{FF2B5EF4-FFF2-40B4-BE49-F238E27FC236}">
                <a16:creationId xmlns:a16="http://schemas.microsoft.com/office/drawing/2014/main" id="{0E4C7609-9A15-43F2-9027-862CEBD9B72F}"/>
              </a:ext>
            </a:extLst>
          </p:cNvPr>
          <p:cNvSpPr>
            <a:spLocks xmlns:a="http://schemas.openxmlformats.org/drawingml/2006/main" noGrp="1"/>
          </p:cNvSpPr>
          <p:nvPr/>
        </p:nvSpPr>
        <p:spPr>
          <a:xfrm xmlns:a="http://schemas.openxmlformats.org/drawingml/2006/main">
            <a:off x="742950" y="2667000"/>
            <a:ext cx="3124200" cy="8001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602E559B-3194-488F-A17C-B7540EE520E8}"/>
              </a:ext>
            </a:extLst>
          </p:cNvPr>
          <p:cNvSpPr>
            <a:spLocks xmlns:a="http://schemas.openxmlformats.org/drawingml/2006/main" noGrp="1"/>
          </p:cNvSpPr>
          <p:nvPr/>
        </p:nvSpPr>
        <p:spPr>
          <a:xfrm xmlns:a="http://schemas.openxmlformats.org/drawingml/2006/main">
            <a:off x="838200" y="2743200"/>
            <a:ext cx="2933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(0,0)</a:t>
            </a:r>
          </a:p>
        </p:txBody>
      </p:sp>
      <p:sp>
        <p:nvSpPr>
          <p:cNvPr id="13" name="">
            <a:extLst xmlns:a="http://schemas.openxmlformats.org/drawingml/2006/main">
              <a:ext uri="{FF2B5EF4-FFF2-40B4-BE49-F238E27FC236}">
                <a16:creationId xmlns:a16="http://schemas.microsoft.com/office/drawing/2014/main" id="{C6D0C89F-40C7-4E68-9A51-2F662F2E9DDE}"/>
              </a:ext>
            </a:extLst>
          </p:cNvPr>
          <p:cNvSpPr>
            <a:spLocks xmlns:a="http://schemas.openxmlformats.org/drawingml/2006/main" noGrp="1"/>
          </p:cNvSpPr>
          <p:nvPr/>
        </p:nvSpPr>
        <p:spPr>
          <a:xfrm xmlns:a="http://schemas.openxmlformats.org/drawingml/2006/main">
            <a:off x="3867150" y="2667000"/>
            <a:ext cx="2381250" cy="8001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410B7379-10D2-457B-8127-DEBBBC0C24A4}"/>
              </a:ext>
            </a:extLst>
          </p:cNvPr>
          <p:cNvSpPr>
            <a:spLocks xmlns:a="http://schemas.openxmlformats.org/drawingml/2006/main" noGrp="1"/>
          </p:cNvSpPr>
          <p:nvPr/>
        </p:nvSpPr>
        <p:spPr>
          <a:xfrm xmlns:a="http://schemas.openxmlformats.org/drawingml/2006/main">
            <a:off x="3962400" y="2743200"/>
            <a:ext cx="2190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a:t>
            </a:r>
          </a:p>
        </p:txBody>
      </p:sp>
      <p:sp>
        <p:nvSpPr>
          <p:cNvPr id="15" name="">
            <a:extLst xmlns:a="http://schemas.openxmlformats.org/drawingml/2006/main">
              <a:ext uri="{FF2B5EF4-FFF2-40B4-BE49-F238E27FC236}">
                <a16:creationId xmlns:a16="http://schemas.microsoft.com/office/drawing/2014/main" id="{394429C2-36B6-4FF1-A7E8-F4BCECE59760}"/>
              </a:ext>
            </a:extLst>
          </p:cNvPr>
          <p:cNvSpPr>
            <a:spLocks xmlns:a="http://schemas.openxmlformats.org/drawingml/2006/main" noGrp="1"/>
          </p:cNvSpPr>
          <p:nvPr/>
        </p:nvSpPr>
        <p:spPr>
          <a:xfrm xmlns:a="http://schemas.openxmlformats.org/drawingml/2006/main">
            <a:off x="6248400" y="2667000"/>
            <a:ext cx="2838450" cy="8001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E9598190-1E9E-40D2-897B-BA400F576188}"/>
              </a:ext>
            </a:extLst>
          </p:cNvPr>
          <p:cNvSpPr>
            <a:spLocks xmlns:a="http://schemas.openxmlformats.org/drawingml/2006/main" noGrp="1"/>
          </p:cNvSpPr>
          <p:nvPr/>
        </p:nvSpPr>
        <p:spPr>
          <a:xfrm xmlns:a="http://schemas.openxmlformats.org/drawingml/2006/main">
            <a:off x="6343650" y="2743200"/>
            <a:ext cx="2647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a:t>
            </a:r>
          </a:p>
        </p:txBody>
      </p:sp>
      <p:sp>
        <p:nvSpPr>
          <p:cNvPr id="17" name="">
            <a:extLst xmlns:a="http://schemas.openxmlformats.org/drawingml/2006/main">
              <a:ext uri="{FF2B5EF4-FFF2-40B4-BE49-F238E27FC236}">
                <a16:creationId xmlns:a16="http://schemas.microsoft.com/office/drawing/2014/main" id="{54785E2D-502D-46F5-A911-52885D702D27}"/>
              </a:ext>
            </a:extLst>
          </p:cNvPr>
          <p:cNvSpPr>
            <a:spLocks xmlns:a="http://schemas.openxmlformats.org/drawingml/2006/main" noGrp="1"/>
          </p:cNvSpPr>
          <p:nvPr/>
        </p:nvSpPr>
        <p:spPr>
          <a:xfrm xmlns:a="http://schemas.openxmlformats.org/drawingml/2006/main">
            <a:off x="9086850" y="2667000"/>
            <a:ext cx="2362200" cy="8001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641B6312-BB72-4E0F-89CA-26C43652AFB8}"/>
              </a:ext>
            </a:extLst>
          </p:cNvPr>
          <p:cNvSpPr>
            <a:spLocks xmlns:a="http://schemas.openxmlformats.org/drawingml/2006/main" noGrp="1"/>
          </p:cNvSpPr>
          <p:nvPr/>
        </p:nvSpPr>
        <p:spPr>
          <a:xfrm xmlns:a="http://schemas.openxmlformats.org/drawingml/2006/main">
            <a:off x="9182100" y="2743200"/>
            <a:ext cx="2171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a:t>
            </a:r>
          </a:p>
        </p:txBody>
      </p:sp>
      <p:sp>
        <p:nvSpPr>
          <p:cNvPr id="19" name="">
            <a:extLst xmlns:a="http://schemas.openxmlformats.org/drawingml/2006/main">
              <a:ext uri="{FF2B5EF4-FFF2-40B4-BE49-F238E27FC236}">
                <a16:creationId xmlns:a16="http://schemas.microsoft.com/office/drawing/2014/main" id="{73AD4CC6-F19D-427C-A5EE-03E28227EC32}"/>
              </a:ext>
            </a:extLst>
          </p:cNvPr>
          <p:cNvSpPr>
            <a:spLocks xmlns:a="http://schemas.openxmlformats.org/drawingml/2006/main" noGrp="1"/>
          </p:cNvSpPr>
          <p:nvPr/>
        </p:nvSpPr>
        <p:spPr>
          <a:xfrm xmlns:a="http://schemas.openxmlformats.org/drawingml/2006/main">
            <a:off x="742950" y="3467100"/>
            <a:ext cx="3124200" cy="8001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10D0E53C-9312-40E8-B679-D3B82A92DDD6}"/>
              </a:ext>
            </a:extLst>
          </p:cNvPr>
          <p:cNvSpPr>
            <a:spLocks xmlns:a="http://schemas.openxmlformats.org/drawingml/2006/main" noGrp="1"/>
          </p:cNvSpPr>
          <p:nvPr/>
        </p:nvSpPr>
        <p:spPr>
          <a:xfrm xmlns:a="http://schemas.openxmlformats.org/drawingml/2006/main">
            <a:off x="838200" y="3543300"/>
            <a:ext cx="2933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(50,0)</a:t>
            </a:r>
          </a:p>
        </p:txBody>
      </p:sp>
      <p:sp>
        <p:nvSpPr>
          <p:cNvPr id="21" name="">
            <a:extLst xmlns:a="http://schemas.openxmlformats.org/drawingml/2006/main">
              <a:ext uri="{FF2B5EF4-FFF2-40B4-BE49-F238E27FC236}">
                <a16:creationId xmlns:a16="http://schemas.microsoft.com/office/drawing/2014/main" id="{DDC0A942-40AF-41A8-AC15-C9329E6D1191}"/>
              </a:ext>
            </a:extLst>
          </p:cNvPr>
          <p:cNvSpPr>
            <a:spLocks xmlns:a="http://schemas.openxmlformats.org/drawingml/2006/main" noGrp="1"/>
          </p:cNvSpPr>
          <p:nvPr/>
        </p:nvSpPr>
        <p:spPr>
          <a:xfrm xmlns:a="http://schemas.openxmlformats.org/drawingml/2006/main">
            <a:off x="3867150" y="3467100"/>
            <a:ext cx="2381250" cy="8001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A0AE7D62-DB0F-4186-AB3B-D9F124A3D8C1}"/>
              </a:ext>
            </a:extLst>
          </p:cNvPr>
          <p:cNvSpPr>
            <a:spLocks xmlns:a="http://schemas.openxmlformats.org/drawingml/2006/main" noGrp="1"/>
          </p:cNvSpPr>
          <p:nvPr/>
        </p:nvSpPr>
        <p:spPr>
          <a:xfrm xmlns:a="http://schemas.openxmlformats.org/drawingml/2006/main">
            <a:off x="3962400" y="3543300"/>
            <a:ext cx="2190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100</a:t>
            </a:r>
          </a:p>
        </p:txBody>
      </p:sp>
      <p:sp>
        <p:nvSpPr>
          <p:cNvPr id="23" name="">
            <a:extLst xmlns:a="http://schemas.openxmlformats.org/drawingml/2006/main">
              <a:ext uri="{FF2B5EF4-FFF2-40B4-BE49-F238E27FC236}">
                <a16:creationId xmlns:a16="http://schemas.microsoft.com/office/drawing/2014/main" id="{DEBDE44D-9E2A-45A2-8CE2-EF16AD489570}"/>
              </a:ext>
            </a:extLst>
          </p:cNvPr>
          <p:cNvSpPr>
            <a:spLocks xmlns:a="http://schemas.openxmlformats.org/drawingml/2006/main" noGrp="1"/>
          </p:cNvSpPr>
          <p:nvPr/>
        </p:nvSpPr>
        <p:spPr>
          <a:xfrm xmlns:a="http://schemas.openxmlformats.org/drawingml/2006/main">
            <a:off x="6248400" y="3467100"/>
            <a:ext cx="2838450" cy="8001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167C3D9D-10B7-45D7-9E32-C117C81612DE}"/>
              </a:ext>
            </a:extLst>
          </p:cNvPr>
          <p:cNvSpPr>
            <a:spLocks xmlns:a="http://schemas.openxmlformats.org/drawingml/2006/main" noGrp="1"/>
          </p:cNvSpPr>
          <p:nvPr/>
        </p:nvSpPr>
        <p:spPr>
          <a:xfrm xmlns:a="http://schemas.openxmlformats.org/drawingml/2006/main">
            <a:off x="6343650" y="3543300"/>
            <a:ext cx="2647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50</a:t>
            </a:r>
          </a:p>
        </p:txBody>
      </p:sp>
      <p:sp>
        <p:nvSpPr>
          <p:cNvPr id="25" name="">
            <a:extLst xmlns:a="http://schemas.openxmlformats.org/drawingml/2006/main">
              <a:ext uri="{FF2B5EF4-FFF2-40B4-BE49-F238E27FC236}">
                <a16:creationId xmlns:a16="http://schemas.microsoft.com/office/drawing/2014/main" id="{995D6D3C-6482-4E0D-8ABE-0237BFEFDAE7}"/>
              </a:ext>
            </a:extLst>
          </p:cNvPr>
          <p:cNvSpPr>
            <a:spLocks xmlns:a="http://schemas.openxmlformats.org/drawingml/2006/main" noGrp="1"/>
          </p:cNvSpPr>
          <p:nvPr/>
        </p:nvSpPr>
        <p:spPr>
          <a:xfrm xmlns:a="http://schemas.openxmlformats.org/drawingml/2006/main">
            <a:off x="9086850" y="3467100"/>
            <a:ext cx="2362200" cy="8001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B26A4962-050D-47F6-818F-5DB737CA5F26}"/>
              </a:ext>
            </a:extLst>
          </p:cNvPr>
          <p:cNvSpPr>
            <a:spLocks xmlns:a="http://schemas.openxmlformats.org/drawingml/2006/main" noGrp="1"/>
          </p:cNvSpPr>
          <p:nvPr/>
        </p:nvSpPr>
        <p:spPr>
          <a:xfrm xmlns:a="http://schemas.openxmlformats.org/drawingml/2006/main">
            <a:off x="9182100" y="3543300"/>
            <a:ext cx="2171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200</a:t>
            </a:r>
          </a:p>
        </p:txBody>
      </p:sp>
      <p:sp>
        <p:nvSpPr>
          <p:cNvPr id="27" name="">
            <a:extLst xmlns:a="http://schemas.openxmlformats.org/drawingml/2006/main">
              <a:ext uri="{FF2B5EF4-FFF2-40B4-BE49-F238E27FC236}">
                <a16:creationId xmlns:a16="http://schemas.microsoft.com/office/drawing/2014/main" id="{8C9C1B3B-455E-4CED-9994-2AD1A2D33AA2}"/>
              </a:ext>
            </a:extLst>
          </p:cNvPr>
          <p:cNvSpPr>
            <a:spLocks xmlns:a="http://schemas.openxmlformats.org/drawingml/2006/main" noGrp="1"/>
          </p:cNvSpPr>
          <p:nvPr/>
        </p:nvSpPr>
        <p:spPr>
          <a:xfrm xmlns:a="http://schemas.openxmlformats.org/drawingml/2006/main">
            <a:off x="742950" y="4267200"/>
            <a:ext cx="3124200" cy="8001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8" name="">
            <a:extLst xmlns:a="http://schemas.openxmlformats.org/drawingml/2006/main">
              <a:ext uri="{FF2B5EF4-FFF2-40B4-BE49-F238E27FC236}">
                <a16:creationId xmlns:a16="http://schemas.microsoft.com/office/drawing/2014/main" id="{817CBDC3-2148-4BAF-9BF2-9E5C34994831}"/>
              </a:ext>
            </a:extLst>
          </p:cNvPr>
          <p:cNvSpPr>
            <a:spLocks xmlns:a="http://schemas.openxmlformats.org/drawingml/2006/main" noGrp="1"/>
          </p:cNvSpPr>
          <p:nvPr/>
        </p:nvSpPr>
        <p:spPr>
          <a:xfrm xmlns:a="http://schemas.openxmlformats.org/drawingml/2006/main">
            <a:off x="838200" y="4343400"/>
            <a:ext cx="2933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(40,20)</a:t>
            </a:r>
          </a:p>
        </p:txBody>
      </p:sp>
      <p:sp>
        <p:nvSpPr>
          <p:cNvPr id="29" name="">
            <a:extLst xmlns:a="http://schemas.openxmlformats.org/drawingml/2006/main">
              <a:ext uri="{FF2B5EF4-FFF2-40B4-BE49-F238E27FC236}">
                <a16:creationId xmlns:a16="http://schemas.microsoft.com/office/drawing/2014/main" id="{C846363C-7E1B-42A6-9A90-B9FB1716EF2A}"/>
              </a:ext>
            </a:extLst>
          </p:cNvPr>
          <p:cNvSpPr>
            <a:spLocks xmlns:a="http://schemas.openxmlformats.org/drawingml/2006/main" noGrp="1"/>
          </p:cNvSpPr>
          <p:nvPr/>
        </p:nvSpPr>
        <p:spPr>
          <a:xfrm xmlns:a="http://schemas.openxmlformats.org/drawingml/2006/main">
            <a:off x="3867150" y="4267200"/>
            <a:ext cx="2381250" cy="8001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0" name="">
            <a:extLst xmlns:a="http://schemas.openxmlformats.org/drawingml/2006/main">
              <a:ext uri="{FF2B5EF4-FFF2-40B4-BE49-F238E27FC236}">
                <a16:creationId xmlns:a16="http://schemas.microsoft.com/office/drawing/2014/main" id="{30621B8B-C9DD-4438-A03E-AEBED2875E7B}"/>
              </a:ext>
            </a:extLst>
          </p:cNvPr>
          <p:cNvSpPr>
            <a:spLocks xmlns:a="http://schemas.openxmlformats.org/drawingml/2006/main" noGrp="1"/>
          </p:cNvSpPr>
          <p:nvPr/>
        </p:nvSpPr>
        <p:spPr>
          <a:xfrm xmlns:a="http://schemas.openxmlformats.org/drawingml/2006/main">
            <a:off x="3962400" y="4343400"/>
            <a:ext cx="2190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100</a:t>
            </a:r>
          </a:p>
        </p:txBody>
      </p:sp>
      <p:sp>
        <p:nvSpPr>
          <p:cNvPr id="31" name="">
            <a:extLst xmlns:a="http://schemas.openxmlformats.org/drawingml/2006/main">
              <a:ext uri="{FF2B5EF4-FFF2-40B4-BE49-F238E27FC236}">
                <a16:creationId xmlns:a16="http://schemas.microsoft.com/office/drawing/2014/main" id="{2A6A178F-A479-4913-8DD7-60BED8F250A9}"/>
              </a:ext>
            </a:extLst>
          </p:cNvPr>
          <p:cNvSpPr>
            <a:spLocks xmlns:a="http://schemas.openxmlformats.org/drawingml/2006/main" noGrp="1"/>
          </p:cNvSpPr>
          <p:nvPr/>
        </p:nvSpPr>
        <p:spPr>
          <a:xfrm xmlns:a="http://schemas.openxmlformats.org/drawingml/2006/main">
            <a:off x="6248400" y="4267200"/>
            <a:ext cx="2838450" cy="8001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2" name="">
            <a:extLst xmlns:a="http://schemas.openxmlformats.org/drawingml/2006/main">
              <a:ext uri="{FF2B5EF4-FFF2-40B4-BE49-F238E27FC236}">
                <a16:creationId xmlns:a16="http://schemas.microsoft.com/office/drawing/2014/main" id="{0DBAD78F-65E3-4B70-A9F0-3614A636A330}"/>
              </a:ext>
            </a:extLst>
          </p:cNvPr>
          <p:cNvSpPr>
            <a:spLocks xmlns:a="http://schemas.openxmlformats.org/drawingml/2006/main" noGrp="1"/>
          </p:cNvSpPr>
          <p:nvPr/>
        </p:nvSpPr>
        <p:spPr>
          <a:xfrm xmlns:a="http://schemas.openxmlformats.org/drawingml/2006/main">
            <a:off x="6343650" y="4343400"/>
            <a:ext cx="2647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80</a:t>
            </a:r>
          </a:p>
        </p:txBody>
      </p:sp>
      <p:sp>
        <p:nvSpPr>
          <p:cNvPr id="33" name="">
            <a:extLst xmlns:a="http://schemas.openxmlformats.org/drawingml/2006/main">
              <a:ext uri="{FF2B5EF4-FFF2-40B4-BE49-F238E27FC236}">
                <a16:creationId xmlns:a16="http://schemas.microsoft.com/office/drawing/2014/main" id="{E016EAC2-BD6E-4F7E-87B6-4C87E818D8E3}"/>
              </a:ext>
            </a:extLst>
          </p:cNvPr>
          <p:cNvSpPr>
            <a:spLocks xmlns:a="http://schemas.openxmlformats.org/drawingml/2006/main" noGrp="1"/>
          </p:cNvSpPr>
          <p:nvPr/>
        </p:nvSpPr>
        <p:spPr>
          <a:xfrm xmlns:a="http://schemas.openxmlformats.org/drawingml/2006/main">
            <a:off x="9086850" y="4267200"/>
            <a:ext cx="2362200" cy="8001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4" name="">
            <a:extLst xmlns:a="http://schemas.openxmlformats.org/drawingml/2006/main">
              <a:ext uri="{FF2B5EF4-FFF2-40B4-BE49-F238E27FC236}">
                <a16:creationId xmlns:a16="http://schemas.microsoft.com/office/drawing/2014/main" id="{5D0588B0-D648-4DE4-91DE-6CB383D02EC9}"/>
              </a:ext>
            </a:extLst>
          </p:cNvPr>
          <p:cNvSpPr>
            <a:spLocks xmlns:a="http://schemas.openxmlformats.org/drawingml/2006/main" noGrp="1"/>
          </p:cNvSpPr>
          <p:nvPr/>
        </p:nvSpPr>
        <p:spPr>
          <a:xfrm xmlns:a="http://schemas.openxmlformats.org/drawingml/2006/main">
            <a:off x="9182100" y="4343400"/>
            <a:ext cx="2171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220</a:t>
            </a:r>
          </a:p>
        </p:txBody>
      </p:sp>
      <p:sp>
        <p:nvSpPr>
          <p:cNvPr id="35" name="">
            <a:extLst xmlns:a="http://schemas.openxmlformats.org/drawingml/2006/main">
              <a:ext uri="{FF2B5EF4-FFF2-40B4-BE49-F238E27FC236}">
                <a16:creationId xmlns:a16="http://schemas.microsoft.com/office/drawing/2014/main" id="{90D1BF31-F5ED-4AA1-AFB5-4A9E637E6165}"/>
              </a:ext>
            </a:extLst>
          </p:cNvPr>
          <p:cNvSpPr>
            <a:spLocks xmlns:a="http://schemas.openxmlformats.org/drawingml/2006/main" noGrp="1"/>
          </p:cNvSpPr>
          <p:nvPr/>
        </p:nvSpPr>
        <p:spPr>
          <a:xfrm xmlns:a="http://schemas.openxmlformats.org/drawingml/2006/main">
            <a:off x="742950" y="5067300"/>
            <a:ext cx="3124200" cy="8001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36" name="">
            <a:extLst xmlns:a="http://schemas.openxmlformats.org/drawingml/2006/main">
              <a:ext uri="{FF2B5EF4-FFF2-40B4-BE49-F238E27FC236}">
                <a16:creationId xmlns:a16="http://schemas.microsoft.com/office/drawing/2014/main" id="{BBFB9588-87EA-42E2-AFC3-30F6E59D7F88}"/>
              </a:ext>
            </a:extLst>
          </p:cNvPr>
          <p:cNvSpPr>
            <a:spLocks xmlns:a="http://schemas.openxmlformats.org/drawingml/2006/main" noGrp="1"/>
          </p:cNvSpPr>
          <p:nvPr/>
        </p:nvSpPr>
        <p:spPr>
          <a:xfrm xmlns:a="http://schemas.openxmlformats.org/drawingml/2006/main">
            <a:off x="838200" y="5143500"/>
            <a:ext cx="2933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(0,40)</a:t>
            </a:r>
          </a:p>
        </p:txBody>
      </p:sp>
      <p:sp>
        <p:nvSpPr>
          <p:cNvPr id="37" name="">
            <a:extLst xmlns:a="http://schemas.openxmlformats.org/drawingml/2006/main">
              <a:ext uri="{FF2B5EF4-FFF2-40B4-BE49-F238E27FC236}">
                <a16:creationId xmlns:a16="http://schemas.microsoft.com/office/drawing/2014/main" id="{86EA262C-E41A-41A5-98B3-9076C6E96B20}"/>
              </a:ext>
            </a:extLst>
          </p:cNvPr>
          <p:cNvSpPr>
            <a:spLocks xmlns:a="http://schemas.openxmlformats.org/drawingml/2006/main" noGrp="1"/>
          </p:cNvSpPr>
          <p:nvPr/>
        </p:nvSpPr>
        <p:spPr>
          <a:xfrm xmlns:a="http://schemas.openxmlformats.org/drawingml/2006/main">
            <a:off x="3867150" y="5067300"/>
            <a:ext cx="2381250" cy="8001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38" name="">
            <a:extLst xmlns:a="http://schemas.openxmlformats.org/drawingml/2006/main">
              <a:ext uri="{FF2B5EF4-FFF2-40B4-BE49-F238E27FC236}">
                <a16:creationId xmlns:a16="http://schemas.microsoft.com/office/drawing/2014/main" id="{0FDF8E09-3A23-490E-B1D6-7668AFC1C8EE}"/>
              </a:ext>
            </a:extLst>
          </p:cNvPr>
          <p:cNvSpPr>
            <a:spLocks xmlns:a="http://schemas.openxmlformats.org/drawingml/2006/main" noGrp="1"/>
          </p:cNvSpPr>
          <p:nvPr/>
        </p:nvSpPr>
        <p:spPr>
          <a:xfrm xmlns:a="http://schemas.openxmlformats.org/drawingml/2006/main">
            <a:off x="3962400" y="5143500"/>
            <a:ext cx="2190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40</a:t>
            </a:r>
          </a:p>
        </p:txBody>
      </p:sp>
      <p:sp>
        <p:nvSpPr>
          <p:cNvPr id="39" name="">
            <a:extLst xmlns:a="http://schemas.openxmlformats.org/drawingml/2006/main">
              <a:ext uri="{FF2B5EF4-FFF2-40B4-BE49-F238E27FC236}">
                <a16:creationId xmlns:a16="http://schemas.microsoft.com/office/drawing/2014/main" id="{ECB217E9-CC46-4653-9A89-FD537D65BC16}"/>
              </a:ext>
            </a:extLst>
          </p:cNvPr>
          <p:cNvSpPr>
            <a:spLocks xmlns:a="http://schemas.openxmlformats.org/drawingml/2006/main" noGrp="1"/>
          </p:cNvSpPr>
          <p:nvPr/>
        </p:nvSpPr>
        <p:spPr>
          <a:xfrm xmlns:a="http://schemas.openxmlformats.org/drawingml/2006/main">
            <a:off x="6248400" y="5067300"/>
            <a:ext cx="2838450" cy="8001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40" name="">
            <a:extLst xmlns:a="http://schemas.openxmlformats.org/drawingml/2006/main">
              <a:ext uri="{FF2B5EF4-FFF2-40B4-BE49-F238E27FC236}">
                <a16:creationId xmlns:a16="http://schemas.microsoft.com/office/drawing/2014/main" id="{CC0012D5-3384-46EE-A7D1-03A29112C0CE}"/>
              </a:ext>
            </a:extLst>
          </p:cNvPr>
          <p:cNvSpPr>
            <a:spLocks xmlns:a="http://schemas.openxmlformats.org/drawingml/2006/main" noGrp="1"/>
          </p:cNvSpPr>
          <p:nvPr/>
        </p:nvSpPr>
        <p:spPr>
          <a:xfrm xmlns:a="http://schemas.openxmlformats.org/drawingml/2006/main">
            <a:off x="6343650" y="5143500"/>
            <a:ext cx="2647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80</a:t>
            </a:r>
          </a:p>
        </p:txBody>
      </p:sp>
      <p:sp>
        <p:nvSpPr>
          <p:cNvPr id="41" name="">
            <a:extLst xmlns:a="http://schemas.openxmlformats.org/drawingml/2006/main">
              <a:ext uri="{FF2B5EF4-FFF2-40B4-BE49-F238E27FC236}">
                <a16:creationId xmlns:a16="http://schemas.microsoft.com/office/drawing/2014/main" id="{04052A02-AE13-4883-B8B5-47AEF7618698}"/>
              </a:ext>
            </a:extLst>
          </p:cNvPr>
          <p:cNvSpPr>
            <a:spLocks xmlns:a="http://schemas.openxmlformats.org/drawingml/2006/main" noGrp="1"/>
          </p:cNvSpPr>
          <p:nvPr/>
        </p:nvSpPr>
        <p:spPr>
          <a:xfrm xmlns:a="http://schemas.openxmlformats.org/drawingml/2006/main">
            <a:off x="9086850" y="5067300"/>
            <a:ext cx="2362200" cy="8001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42" name="">
            <a:extLst xmlns:a="http://schemas.openxmlformats.org/drawingml/2006/main">
              <a:ext uri="{FF2B5EF4-FFF2-40B4-BE49-F238E27FC236}">
                <a16:creationId xmlns:a16="http://schemas.microsoft.com/office/drawing/2014/main" id="{7E057A3C-A09A-4D69-81B4-4B6A5FBBCD36}"/>
              </a:ext>
            </a:extLst>
          </p:cNvPr>
          <p:cNvSpPr>
            <a:spLocks xmlns:a="http://schemas.openxmlformats.org/drawingml/2006/main" noGrp="1"/>
          </p:cNvSpPr>
          <p:nvPr/>
        </p:nvSpPr>
        <p:spPr>
          <a:xfrm xmlns:a="http://schemas.openxmlformats.org/drawingml/2006/main">
            <a:off x="9182100" y="5143500"/>
            <a:ext cx="2171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120</a:t>
            </a:r>
          </a:p>
        </p:txBody>
      </p:sp>
      <p:sp>
        <p:nvSpPr>
          <p:cNvPr id="43" name="">
            <a:extLst xmlns:a="http://schemas.openxmlformats.org/drawingml/2006/main">
              <a:ext uri="{FF2B5EF4-FFF2-40B4-BE49-F238E27FC236}">
                <a16:creationId xmlns:a16="http://schemas.microsoft.com/office/drawing/2014/main" id="{C86A2E2C-F985-46D9-A86E-563C14646F61}"/>
              </a:ext>
            </a:extLst>
          </p:cNvPr>
          <p:cNvSpPr>
            <a:spLocks xmlns:a="http://schemas.openxmlformats.org/drawingml/2006/main" noGrp="1"/>
          </p:cNvSpPr>
          <p:nvPr/>
        </p:nvSpPr>
        <p:spPr>
          <a:xfrm xmlns:a="http://schemas.openxmlformats.org/drawingml/2006/main">
            <a:off x="819150" y="59626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Найкраща вершина: x=(40,20), Z=220.</a:t>
            </a:r>
          </a:p>
        </p:txBody>
      </p:sp>
      <p:sp>
        <p:nvSpPr>
          <p:cNvPr id="45" name="">
            <a:extLst xmlns:a="http://schemas.openxmlformats.org/drawingml/2006/main">
              <a:ext uri="{FF2B5EF4-FFF2-40B4-BE49-F238E27FC236}">
                <a16:creationId xmlns:a16="http://schemas.microsoft.com/office/drawing/2014/main" id="{CEB36190-777D-40F1-B7D1-7456F2A9367B}"/>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a:t>
            </a:r>
          </a:p>
        </p:txBody>
      </p:sp>
    </p:spTree>
    <p:extLst>
      <p:ext uri="{BB962C8B-B14F-4D97-AF65-F5344CB8AC3E}">
        <p14:creationId xmlns:p14="http://schemas.microsoft.com/office/powerpoint/2010/main" val="6477311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C92B1E28-8DF6-4BF6-AF77-CA00CB073C6E}"/>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Симплекс: шлях між вершинами</a:t>
            </a:r>
          </a:p>
        </p:txBody>
      </p:sp>
      <p:sp>
        <p:nvSpPr>
          <p:cNvPr id="2" name="">
            <a:extLst xmlns:a="http://schemas.openxmlformats.org/drawingml/2006/main">
              <a:ext uri="{FF2B5EF4-FFF2-40B4-BE49-F238E27FC236}">
                <a16:creationId xmlns:a16="http://schemas.microsoft.com/office/drawing/2014/main" id="{D6867D3B-3696-48F8-B787-6A4C8F9152C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За обраним правилом: (0,0), потім (50,0), далі (40,20).</a:t>
            </a:r>
          </a:p>
        </p:txBody>
      </p:sp>
      <p:sp>
        <p:nvSpPr>
          <p:cNvPr id="3" name="Feasible region">
            <a:extLst xmlns:a="http://schemas.openxmlformats.org/drawingml/2006/main">
              <a:ext uri="{FF2B5EF4-FFF2-40B4-BE49-F238E27FC236}">
                <a16:creationId xmlns:a16="http://schemas.microsoft.com/office/drawing/2014/main" id="{BBB651C1-6A4B-4FFD-B864-E0A5D180D3B5}"/>
              </a:ext>
            </a:extLst>
          </p:cNvPr>
          <p:cNvSpPr>
            <a:spLocks xmlns:a="http://schemas.openxmlformats.org/drawingml/2006/main" noGrp="1"/>
          </p:cNvSpPr>
          <p:nvPr/>
        </p:nvSpPr>
        <p:spPr>
          <a:xfrm xmlns:a="http://schemas.openxmlformats.org/drawingml/2006/main">
            <a:off x="1190625" y="2286000"/>
            <a:ext cx="3810000" cy="3048000"/>
          </a:xfrm>
          <a:custGeom xmlns:a="http://schemas.openxmlformats.org/drawingml/2006/main">
            <a:pathLst>
              <a:path w="3810000" h="3048000">
                <a:moveTo>
                  <a:pt x="0" y="3048000"/>
                </a:moveTo>
                <a:lnTo>
                  <a:pt x="3810000" y="3048000"/>
                </a:lnTo>
                <a:lnTo>
                  <a:pt x="3048000" y="1524000"/>
                </a:lnTo>
                <a:lnTo>
                  <a:pt x="0" y="0"/>
                </a:lnTo>
                <a:close/>
              </a:path>
            </a:pathLst>
          </a:custGeom>
          <a:solidFill xmlns:a="http://schemas.openxmlformats.org/drawingml/2006/main">
            <a:srgbClr val="D9EFEA"/>
          </a:solidFill>
          <a:ln xmlns:a="http://schemas.openxmlformats.org/drawingml/2006/main" w="19050">
            <a:solidFill>
              <a:srgbClr val="00857D"/>
            </a:solidFill>
          </a:ln>
        </p:spPr>
      </p:sp>
      <p:sp>
        <p:nvSpPr>
          <p:cNvPr id="4" name="">
            <a:extLst xmlns:a="http://schemas.openxmlformats.org/drawingml/2006/main">
              <a:ext uri="{FF2B5EF4-FFF2-40B4-BE49-F238E27FC236}">
                <a16:creationId xmlns:a16="http://schemas.microsoft.com/office/drawing/2014/main" id="{633DE98C-D37C-4AF1-8CC3-4FC74B949F79}"/>
              </a:ext>
            </a:extLst>
          </p:cNvPr>
          <p:cNvSpPr>
            <a:spLocks xmlns:a="http://schemas.openxmlformats.org/drawingml/2006/main" noGrp="1"/>
          </p:cNvSpPr>
          <p:nvPr/>
        </p:nvSpPr>
        <p:spPr>
          <a:xfrm xmlns:a="http://schemas.openxmlformats.org/drawingml/2006/main">
            <a:off x="1181100" y="5324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C63242-9599-48B8-A576-D1DF2494FB2A}"/>
              </a:ext>
            </a:extLst>
          </p:cNvPr>
          <p:cNvSpPr>
            <a:spLocks xmlns:a="http://schemas.openxmlformats.org/drawingml/2006/main" noGrp="1"/>
          </p:cNvSpPr>
          <p:nvPr/>
        </p:nvSpPr>
        <p:spPr>
          <a:xfrm xmlns:a="http://schemas.openxmlformats.org/drawingml/2006/main">
            <a:off x="6057900" y="5324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1" name="">
            <a:extLst xmlns:a="http://schemas.openxmlformats.org/drawingml/2006/main">
              <a:ext uri="{FF2B5EF4-FFF2-40B4-BE49-F238E27FC236}">
                <a16:creationId xmlns:a16="http://schemas.microsoft.com/office/drawing/2014/main" id="{8695BECF-2022-4F28-8AE5-1466DA13D065}"/>
              </a:ext>
            </a:extLst>
          </p:cNvPr>
          <p:cNvCxnSpPr>
            <a:stCxn xmlns:a="http://schemas.openxmlformats.org/drawingml/2006/main" id="4" idx="3"/>
            <a:endCxn xmlns:a="http://schemas.openxmlformats.org/drawingml/2006/main" id="5" idx="1"/>
          </p:cNvCxnSpPr>
          <p:nvPr/>
        </p:nvCxnSpPr>
        <p:spPr>
          <a:xfrm xmlns:a="http://schemas.openxmlformats.org/drawingml/2006/main">
            <a:off x="1200150" y="5334000"/>
            <a:ext cx="4857750" cy="0"/>
          </a:xfrm>
          <a:prstGeom xmlns:a="http://schemas.openxmlformats.org/drawingml/2006/main" prst="straightConnector1">
            <a:avLst/>
          </a:prstGeom>
          <a:ln xmlns:a="http://schemas.openxmlformats.org/drawingml/2006/main" w="19050">
            <a:solidFill>
              <a:srgbClr val="173047"/>
            </a:solidFill>
            <a:tailEnd type="triangle" w="med" len="med"/>
          </a:ln>
        </p:spPr>
      </p:cxnSp>
      <p:sp>
        <p:nvSpPr>
          <p:cNvPr id="7" name="">
            <a:extLst xmlns:a="http://schemas.openxmlformats.org/drawingml/2006/main">
              <a:ext uri="{FF2B5EF4-FFF2-40B4-BE49-F238E27FC236}">
                <a16:creationId xmlns:a16="http://schemas.microsoft.com/office/drawing/2014/main" id="{93398CC1-B99D-413F-896A-23E28FF8841A}"/>
              </a:ext>
            </a:extLst>
          </p:cNvPr>
          <p:cNvSpPr>
            <a:spLocks xmlns:a="http://schemas.openxmlformats.org/drawingml/2006/main" noGrp="1"/>
          </p:cNvSpPr>
          <p:nvPr/>
        </p:nvSpPr>
        <p:spPr>
          <a:xfrm xmlns:a="http://schemas.openxmlformats.org/drawingml/2006/main">
            <a:off x="1181100" y="5324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8D030E3-CA67-459F-876C-9FB0ADA2ECA7}"/>
              </a:ext>
            </a:extLst>
          </p:cNvPr>
          <p:cNvSpPr>
            <a:spLocks xmlns:a="http://schemas.openxmlformats.org/drawingml/2006/main" noGrp="1"/>
          </p:cNvSpPr>
          <p:nvPr/>
        </p:nvSpPr>
        <p:spPr>
          <a:xfrm xmlns:a="http://schemas.openxmlformats.org/drawingml/2006/main">
            <a:off x="1181100" y="1438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4" name="">
            <a:extLst xmlns:a="http://schemas.openxmlformats.org/drawingml/2006/main">
              <a:ext uri="{FF2B5EF4-FFF2-40B4-BE49-F238E27FC236}">
                <a16:creationId xmlns:a16="http://schemas.microsoft.com/office/drawing/2014/main" id="{C9A96655-7E5C-4212-BCD6-E14A93F77CED}"/>
              </a:ext>
            </a:extLst>
          </p:cNvPr>
          <p:cNvCxnSpPr>
            <a:stCxn xmlns:a="http://schemas.openxmlformats.org/drawingml/2006/main" id="7" idx="3"/>
            <a:endCxn xmlns:a="http://schemas.openxmlformats.org/drawingml/2006/main" id="8" idx="1"/>
          </p:cNvCxnSpPr>
          <p:nvPr/>
        </p:nvCxnSpPr>
        <p:spPr>
          <a:xfrm xmlns:a="http://schemas.openxmlformats.org/drawingml/2006/main" flipH="1" flipV="1">
            <a:off x="1181100" y="1447800"/>
            <a:ext cx="19050" cy="3886200"/>
          </a:xfrm>
          <a:prstGeom xmlns:a="http://schemas.openxmlformats.org/drawingml/2006/main" prst="straightConnector1">
            <a:avLst/>
          </a:prstGeom>
          <a:ln xmlns:a="http://schemas.openxmlformats.org/drawingml/2006/main" w="19050">
            <a:solidFill>
              <a:srgbClr val="173047"/>
            </a:solidFill>
            <a:tailEnd type="triangle" w="med" len="med"/>
          </a:ln>
        </p:spPr>
      </p:cxnSp>
      <p:sp>
        <p:nvSpPr>
          <p:cNvPr id="10" name="">
            <a:extLst xmlns:a="http://schemas.openxmlformats.org/drawingml/2006/main">
              <a:ext uri="{FF2B5EF4-FFF2-40B4-BE49-F238E27FC236}">
                <a16:creationId xmlns:a16="http://schemas.microsoft.com/office/drawing/2014/main" id="{A8E24AA6-9EBE-4D0D-A5B1-B09CE99B367A}"/>
              </a:ext>
            </a:extLst>
          </p:cNvPr>
          <p:cNvSpPr>
            <a:spLocks xmlns:a="http://schemas.openxmlformats.org/drawingml/2006/main" noGrp="1"/>
          </p:cNvSpPr>
          <p:nvPr/>
        </p:nvSpPr>
        <p:spPr>
          <a:xfrm xmlns:a="http://schemas.openxmlformats.org/drawingml/2006/main" flipV="0">
            <a:off x="1190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1" name="">
            <a:extLst xmlns:a="http://schemas.openxmlformats.org/drawingml/2006/main">
              <a:ext uri="{FF2B5EF4-FFF2-40B4-BE49-F238E27FC236}">
                <a16:creationId xmlns:a16="http://schemas.microsoft.com/office/drawing/2014/main" id="{14611E27-2CC3-414B-B631-4C69A989664F}"/>
              </a:ext>
            </a:extLst>
          </p:cNvPr>
          <p:cNvSpPr>
            <a:spLocks xmlns:a="http://schemas.openxmlformats.org/drawingml/2006/main" noGrp="1"/>
          </p:cNvSpPr>
          <p:nvPr/>
        </p:nvSpPr>
        <p:spPr>
          <a:xfrm xmlns:a="http://schemas.openxmlformats.org/drawingml/2006/main">
            <a:off x="1057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0</a:t>
            </a:r>
          </a:p>
        </p:txBody>
      </p:sp>
      <p:sp>
        <p:nvSpPr>
          <p:cNvPr id="12" name="">
            <a:extLst xmlns:a="http://schemas.openxmlformats.org/drawingml/2006/main">
              <a:ext uri="{FF2B5EF4-FFF2-40B4-BE49-F238E27FC236}">
                <a16:creationId xmlns:a16="http://schemas.microsoft.com/office/drawing/2014/main" id="{F4A2AAAD-5380-4DEF-A71D-FE18B5DD993C}"/>
              </a:ext>
            </a:extLst>
          </p:cNvPr>
          <p:cNvSpPr>
            <a:spLocks xmlns:a="http://schemas.openxmlformats.org/drawingml/2006/main" noGrp="1"/>
          </p:cNvSpPr>
          <p:nvPr/>
        </p:nvSpPr>
        <p:spPr>
          <a:xfrm xmlns:a="http://schemas.openxmlformats.org/drawingml/2006/main" flipV="0">
            <a:off x="1952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3" name="">
            <a:extLst xmlns:a="http://schemas.openxmlformats.org/drawingml/2006/main">
              <a:ext uri="{FF2B5EF4-FFF2-40B4-BE49-F238E27FC236}">
                <a16:creationId xmlns:a16="http://schemas.microsoft.com/office/drawing/2014/main" id="{E5FDF642-4D54-49BB-99E0-11BBD13DC31E}"/>
              </a:ext>
            </a:extLst>
          </p:cNvPr>
          <p:cNvSpPr>
            <a:spLocks xmlns:a="http://schemas.openxmlformats.org/drawingml/2006/main" noGrp="1"/>
          </p:cNvSpPr>
          <p:nvPr/>
        </p:nvSpPr>
        <p:spPr>
          <a:xfrm xmlns:a="http://schemas.openxmlformats.org/drawingml/2006/main">
            <a:off x="1819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10</a:t>
            </a:r>
          </a:p>
        </p:txBody>
      </p:sp>
      <p:sp>
        <p:nvSpPr>
          <p:cNvPr id="14" name="">
            <a:extLst xmlns:a="http://schemas.openxmlformats.org/drawingml/2006/main">
              <a:ext uri="{FF2B5EF4-FFF2-40B4-BE49-F238E27FC236}">
                <a16:creationId xmlns:a16="http://schemas.microsoft.com/office/drawing/2014/main" id="{0EEE1072-5F8C-4693-A50C-0A9FC9293394}"/>
              </a:ext>
            </a:extLst>
          </p:cNvPr>
          <p:cNvSpPr>
            <a:spLocks xmlns:a="http://schemas.openxmlformats.org/drawingml/2006/main" noGrp="1"/>
          </p:cNvSpPr>
          <p:nvPr/>
        </p:nvSpPr>
        <p:spPr>
          <a:xfrm xmlns:a="http://schemas.openxmlformats.org/drawingml/2006/main" flipV="0">
            <a:off x="2714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5" name="">
            <a:extLst xmlns:a="http://schemas.openxmlformats.org/drawingml/2006/main">
              <a:ext uri="{FF2B5EF4-FFF2-40B4-BE49-F238E27FC236}">
                <a16:creationId xmlns:a16="http://schemas.microsoft.com/office/drawing/2014/main" id="{99D6A344-9EFE-4FF3-894D-E0A1FE127CE3}"/>
              </a:ext>
            </a:extLst>
          </p:cNvPr>
          <p:cNvSpPr>
            <a:spLocks xmlns:a="http://schemas.openxmlformats.org/drawingml/2006/main" noGrp="1"/>
          </p:cNvSpPr>
          <p:nvPr/>
        </p:nvSpPr>
        <p:spPr>
          <a:xfrm xmlns:a="http://schemas.openxmlformats.org/drawingml/2006/main">
            <a:off x="2581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20</a:t>
            </a:r>
          </a:p>
        </p:txBody>
      </p:sp>
      <p:sp>
        <p:nvSpPr>
          <p:cNvPr id="16" name="">
            <a:extLst xmlns:a="http://schemas.openxmlformats.org/drawingml/2006/main">
              <a:ext uri="{FF2B5EF4-FFF2-40B4-BE49-F238E27FC236}">
                <a16:creationId xmlns:a16="http://schemas.microsoft.com/office/drawing/2014/main" id="{97475C33-B2B7-40E9-8C45-7B4DC22514F5}"/>
              </a:ext>
            </a:extLst>
          </p:cNvPr>
          <p:cNvSpPr>
            <a:spLocks xmlns:a="http://schemas.openxmlformats.org/drawingml/2006/main" noGrp="1"/>
          </p:cNvSpPr>
          <p:nvPr/>
        </p:nvSpPr>
        <p:spPr>
          <a:xfrm xmlns:a="http://schemas.openxmlformats.org/drawingml/2006/main" flipV="0">
            <a:off x="3476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7" name="">
            <a:extLst xmlns:a="http://schemas.openxmlformats.org/drawingml/2006/main">
              <a:ext uri="{FF2B5EF4-FFF2-40B4-BE49-F238E27FC236}">
                <a16:creationId xmlns:a16="http://schemas.microsoft.com/office/drawing/2014/main" id="{3F52752D-FCF0-4E01-8F23-248BFA427E4F}"/>
              </a:ext>
            </a:extLst>
          </p:cNvPr>
          <p:cNvSpPr>
            <a:spLocks xmlns:a="http://schemas.openxmlformats.org/drawingml/2006/main" noGrp="1"/>
          </p:cNvSpPr>
          <p:nvPr/>
        </p:nvSpPr>
        <p:spPr>
          <a:xfrm xmlns:a="http://schemas.openxmlformats.org/drawingml/2006/main">
            <a:off x="3343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30</a:t>
            </a:r>
          </a:p>
        </p:txBody>
      </p:sp>
      <p:sp>
        <p:nvSpPr>
          <p:cNvPr id="18" name="">
            <a:extLst xmlns:a="http://schemas.openxmlformats.org/drawingml/2006/main">
              <a:ext uri="{FF2B5EF4-FFF2-40B4-BE49-F238E27FC236}">
                <a16:creationId xmlns:a16="http://schemas.microsoft.com/office/drawing/2014/main" id="{4B1C0D09-DA2D-4C33-86C9-04D6B9ED6324}"/>
              </a:ext>
            </a:extLst>
          </p:cNvPr>
          <p:cNvSpPr>
            <a:spLocks xmlns:a="http://schemas.openxmlformats.org/drawingml/2006/main" noGrp="1"/>
          </p:cNvSpPr>
          <p:nvPr/>
        </p:nvSpPr>
        <p:spPr>
          <a:xfrm xmlns:a="http://schemas.openxmlformats.org/drawingml/2006/main" flipV="0">
            <a:off x="4238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19" name="">
            <a:extLst xmlns:a="http://schemas.openxmlformats.org/drawingml/2006/main">
              <a:ext uri="{FF2B5EF4-FFF2-40B4-BE49-F238E27FC236}">
                <a16:creationId xmlns:a16="http://schemas.microsoft.com/office/drawing/2014/main" id="{1D9F8BC6-336F-4064-82CF-F903E92B204B}"/>
              </a:ext>
            </a:extLst>
          </p:cNvPr>
          <p:cNvSpPr>
            <a:spLocks xmlns:a="http://schemas.openxmlformats.org/drawingml/2006/main" noGrp="1"/>
          </p:cNvSpPr>
          <p:nvPr/>
        </p:nvSpPr>
        <p:spPr>
          <a:xfrm xmlns:a="http://schemas.openxmlformats.org/drawingml/2006/main">
            <a:off x="4105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40</a:t>
            </a:r>
          </a:p>
        </p:txBody>
      </p:sp>
      <p:sp>
        <p:nvSpPr>
          <p:cNvPr id="20" name="">
            <a:extLst xmlns:a="http://schemas.openxmlformats.org/drawingml/2006/main">
              <a:ext uri="{FF2B5EF4-FFF2-40B4-BE49-F238E27FC236}">
                <a16:creationId xmlns:a16="http://schemas.microsoft.com/office/drawing/2014/main" id="{566C7FD5-B340-47A2-8D20-37940E5F596F}"/>
              </a:ext>
            </a:extLst>
          </p:cNvPr>
          <p:cNvSpPr>
            <a:spLocks xmlns:a="http://schemas.openxmlformats.org/drawingml/2006/main" noGrp="1"/>
          </p:cNvSpPr>
          <p:nvPr/>
        </p:nvSpPr>
        <p:spPr>
          <a:xfrm xmlns:a="http://schemas.openxmlformats.org/drawingml/2006/main" flipV="0">
            <a:off x="5000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1" name="">
            <a:extLst xmlns:a="http://schemas.openxmlformats.org/drawingml/2006/main">
              <a:ext uri="{FF2B5EF4-FFF2-40B4-BE49-F238E27FC236}">
                <a16:creationId xmlns:a16="http://schemas.microsoft.com/office/drawing/2014/main" id="{51457BAB-4F35-4F96-AC18-82B73C9B3B5C}"/>
              </a:ext>
            </a:extLst>
          </p:cNvPr>
          <p:cNvSpPr>
            <a:spLocks xmlns:a="http://schemas.openxmlformats.org/drawingml/2006/main" noGrp="1"/>
          </p:cNvSpPr>
          <p:nvPr/>
        </p:nvSpPr>
        <p:spPr>
          <a:xfrm xmlns:a="http://schemas.openxmlformats.org/drawingml/2006/main">
            <a:off x="4867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50</a:t>
            </a:r>
          </a:p>
        </p:txBody>
      </p:sp>
      <p:sp>
        <p:nvSpPr>
          <p:cNvPr id="22" name="">
            <a:extLst xmlns:a="http://schemas.openxmlformats.org/drawingml/2006/main">
              <a:ext uri="{FF2B5EF4-FFF2-40B4-BE49-F238E27FC236}">
                <a16:creationId xmlns:a16="http://schemas.microsoft.com/office/drawing/2014/main" id="{20D15D5E-28E7-42E0-9388-A4B9CA01469C}"/>
              </a:ext>
            </a:extLst>
          </p:cNvPr>
          <p:cNvSpPr>
            <a:spLocks xmlns:a="http://schemas.openxmlformats.org/drawingml/2006/main" noGrp="1"/>
          </p:cNvSpPr>
          <p:nvPr/>
        </p:nvSpPr>
        <p:spPr>
          <a:xfrm xmlns:a="http://schemas.openxmlformats.org/drawingml/2006/main" flipV="0">
            <a:off x="5762625" y="5286375"/>
            <a:ext cx="0" cy="9525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3" name="">
            <a:extLst xmlns:a="http://schemas.openxmlformats.org/drawingml/2006/main">
              <a:ext uri="{FF2B5EF4-FFF2-40B4-BE49-F238E27FC236}">
                <a16:creationId xmlns:a16="http://schemas.microsoft.com/office/drawing/2014/main" id="{43DA8CF3-4F45-4673-A0CE-F7AC55BF85D6}"/>
              </a:ext>
            </a:extLst>
          </p:cNvPr>
          <p:cNvSpPr>
            <a:spLocks xmlns:a="http://schemas.openxmlformats.org/drawingml/2006/main" noGrp="1"/>
          </p:cNvSpPr>
          <p:nvPr/>
        </p:nvSpPr>
        <p:spPr>
          <a:xfrm xmlns:a="http://schemas.openxmlformats.org/drawingml/2006/main">
            <a:off x="5629275" y="54197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60</a:t>
            </a:r>
          </a:p>
        </p:txBody>
      </p:sp>
      <p:sp>
        <p:nvSpPr>
          <p:cNvPr id="24" name="">
            <a:extLst xmlns:a="http://schemas.openxmlformats.org/drawingml/2006/main">
              <a:ext uri="{FF2B5EF4-FFF2-40B4-BE49-F238E27FC236}">
                <a16:creationId xmlns:a16="http://schemas.microsoft.com/office/drawing/2014/main" id="{215F7B26-F0EB-4F92-A9E3-3FCF37FDB53F}"/>
              </a:ext>
            </a:extLst>
          </p:cNvPr>
          <p:cNvSpPr>
            <a:spLocks xmlns:a="http://schemas.openxmlformats.org/drawingml/2006/main" noGrp="1"/>
          </p:cNvSpPr>
          <p:nvPr/>
        </p:nvSpPr>
        <p:spPr>
          <a:xfrm xmlns:a="http://schemas.openxmlformats.org/drawingml/2006/main" flipV="0">
            <a:off x="1143000" y="4572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5" name="">
            <a:extLst xmlns:a="http://schemas.openxmlformats.org/drawingml/2006/main">
              <a:ext uri="{FF2B5EF4-FFF2-40B4-BE49-F238E27FC236}">
                <a16:creationId xmlns:a16="http://schemas.microsoft.com/office/drawing/2014/main" id="{095433FC-7469-4389-A34A-69808AB92F0B}"/>
              </a:ext>
            </a:extLst>
          </p:cNvPr>
          <p:cNvSpPr>
            <a:spLocks xmlns:a="http://schemas.openxmlformats.org/drawingml/2006/main" noGrp="1"/>
          </p:cNvSpPr>
          <p:nvPr/>
        </p:nvSpPr>
        <p:spPr>
          <a:xfrm xmlns:a="http://schemas.openxmlformats.org/drawingml/2006/main">
            <a:off x="742950" y="4410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10</a:t>
            </a:r>
          </a:p>
        </p:txBody>
      </p:sp>
      <p:sp>
        <p:nvSpPr>
          <p:cNvPr id="26" name="">
            <a:extLst xmlns:a="http://schemas.openxmlformats.org/drawingml/2006/main">
              <a:ext uri="{FF2B5EF4-FFF2-40B4-BE49-F238E27FC236}">
                <a16:creationId xmlns:a16="http://schemas.microsoft.com/office/drawing/2014/main" id="{E4764FEF-88E0-42CE-9C95-DBD7DC862184}"/>
              </a:ext>
            </a:extLst>
          </p:cNvPr>
          <p:cNvSpPr>
            <a:spLocks xmlns:a="http://schemas.openxmlformats.org/drawingml/2006/main" noGrp="1"/>
          </p:cNvSpPr>
          <p:nvPr/>
        </p:nvSpPr>
        <p:spPr>
          <a:xfrm xmlns:a="http://schemas.openxmlformats.org/drawingml/2006/main" flipV="0">
            <a:off x="1143000" y="3810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7" name="">
            <a:extLst xmlns:a="http://schemas.openxmlformats.org/drawingml/2006/main">
              <a:ext uri="{FF2B5EF4-FFF2-40B4-BE49-F238E27FC236}">
                <a16:creationId xmlns:a16="http://schemas.microsoft.com/office/drawing/2014/main" id="{2AB662C3-CECF-4108-9843-4D7724E6B987}"/>
              </a:ext>
            </a:extLst>
          </p:cNvPr>
          <p:cNvSpPr>
            <a:spLocks xmlns:a="http://schemas.openxmlformats.org/drawingml/2006/main" noGrp="1"/>
          </p:cNvSpPr>
          <p:nvPr/>
        </p:nvSpPr>
        <p:spPr>
          <a:xfrm xmlns:a="http://schemas.openxmlformats.org/drawingml/2006/main">
            <a:off x="742950" y="3648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20</a:t>
            </a:r>
          </a:p>
        </p:txBody>
      </p:sp>
      <p:sp>
        <p:nvSpPr>
          <p:cNvPr id="28" name="">
            <a:extLst xmlns:a="http://schemas.openxmlformats.org/drawingml/2006/main">
              <a:ext uri="{FF2B5EF4-FFF2-40B4-BE49-F238E27FC236}">
                <a16:creationId xmlns:a16="http://schemas.microsoft.com/office/drawing/2014/main" id="{99A189A6-3EB0-48B0-81E0-1AA5248678D7}"/>
              </a:ext>
            </a:extLst>
          </p:cNvPr>
          <p:cNvSpPr>
            <a:spLocks xmlns:a="http://schemas.openxmlformats.org/drawingml/2006/main" noGrp="1"/>
          </p:cNvSpPr>
          <p:nvPr/>
        </p:nvSpPr>
        <p:spPr>
          <a:xfrm xmlns:a="http://schemas.openxmlformats.org/drawingml/2006/main" flipV="0">
            <a:off x="1143000" y="3048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29" name="">
            <a:extLst xmlns:a="http://schemas.openxmlformats.org/drawingml/2006/main">
              <a:ext uri="{FF2B5EF4-FFF2-40B4-BE49-F238E27FC236}">
                <a16:creationId xmlns:a16="http://schemas.microsoft.com/office/drawing/2014/main" id="{805BD752-65AF-44FB-8B59-FC0D4F5BCBE6}"/>
              </a:ext>
            </a:extLst>
          </p:cNvPr>
          <p:cNvSpPr>
            <a:spLocks xmlns:a="http://schemas.openxmlformats.org/drawingml/2006/main" noGrp="1"/>
          </p:cNvSpPr>
          <p:nvPr/>
        </p:nvSpPr>
        <p:spPr>
          <a:xfrm xmlns:a="http://schemas.openxmlformats.org/drawingml/2006/main">
            <a:off x="742950" y="2886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30</a:t>
            </a:r>
          </a:p>
        </p:txBody>
      </p:sp>
      <p:sp>
        <p:nvSpPr>
          <p:cNvPr id="30" name="">
            <a:extLst xmlns:a="http://schemas.openxmlformats.org/drawingml/2006/main">
              <a:ext uri="{FF2B5EF4-FFF2-40B4-BE49-F238E27FC236}">
                <a16:creationId xmlns:a16="http://schemas.microsoft.com/office/drawing/2014/main" id="{B30DCDA3-478D-4599-BFE0-29EB08335038}"/>
              </a:ext>
            </a:extLst>
          </p:cNvPr>
          <p:cNvSpPr>
            <a:spLocks xmlns:a="http://schemas.openxmlformats.org/drawingml/2006/main" noGrp="1"/>
          </p:cNvSpPr>
          <p:nvPr/>
        </p:nvSpPr>
        <p:spPr>
          <a:xfrm xmlns:a="http://schemas.openxmlformats.org/drawingml/2006/main" flipV="0">
            <a:off x="1143000" y="2286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31" name="">
            <a:extLst xmlns:a="http://schemas.openxmlformats.org/drawingml/2006/main">
              <a:ext uri="{FF2B5EF4-FFF2-40B4-BE49-F238E27FC236}">
                <a16:creationId xmlns:a16="http://schemas.microsoft.com/office/drawing/2014/main" id="{2B223412-4451-4AF5-856F-A4EC00032184}"/>
              </a:ext>
            </a:extLst>
          </p:cNvPr>
          <p:cNvSpPr>
            <a:spLocks xmlns:a="http://schemas.openxmlformats.org/drawingml/2006/main" noGrp="1"/>
          </p:cNvSpPr>
          <p:nvPr/>
        </p:nvSpPr>
        <p:spPr>
          <a:xfrm xmlns:a="http://schemas.openxmlformats.org/drawingml/2006/main">
            <a:off x="742950" y="2124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40</a:t>
            </a:r>
          </a:p>
        </p:txBody>
      </p:sp>
      <p:sp>
        <p:nvSpPr>
          <p:cNvPr id="32" name="">
            <a:extLst xmlns:a="http://schemas.openxmlformats.org/drawingml/2006/main">
              <a:ext uri="{FF2B5EF4-FFF2-40B4-BE49-F238E27FC236}">
                <a16:creationId xmlns:a16="http://schemas.microsoft.com/office/drawing/2014/main" id="{63BD42E4-CAFE-473D-AE2E-E1F599145060}"/>
              </a:ext>
            </a:extLst>
          </p:cNvPr>
          <p:cNvSpPr>
            <a:spLocks xmlns:a="http://schemas.openxmlformats.org/drawingml/2006/main" noGrp="1"/>
          </p:cNvSpPr>
          <p:nvPr/>
        </p:nvSpPr>
        <p:spPr>
          <a:xfrm xmlns:a="http://schemas.openxmlformats.org/drawingml/2006/main" flipV="0">
            <a:off x="1143000" y="1524000"/>
            <a:ext cx="95250" cy="0"/>
          </a:xfrm>
          <a:prstGeom xmlns:a="http://schemas.openxmlformats.org/drawingml/2006/main" prst="line">
            <a:avLst/>
          </a:prstGeom>
          <a:noFill xmlns:a="http://schemas.openxmlformats.org/drawingml/2006/main"/>
          <a:ln xmlns:a="http://schemas.openxmlformats.org/drawingml/2006/main" w="19050">
            <a:solidFill>
              <a:srgbClr val="173047"/>
            </a:solidFill>
          </a:ln>
        </p:spPr>
      </p:sp>
      <p:sp>
        <p:nvSpPr>
          <p:cNvPr id="33" name="">
            <a:extLst xmlns:a="http://schemas.openxmlformats.org/drawingml/2006/main">
              <a:ext uri="{FF2B5EF4-FFF2-40B4-BE49-F238E27FC236}">
                <a16:creationId xmlns:a16="http://schemas.microsoft.com/office/drawing/2014/main" id="{BDB572DA-07A4-4918-A312-DBD390A6C3D0}"/>
              </a:ext>
            </a:extLst>
          </p:cNvPr>
          <p:cNvSpPr>
            <a:spLocks xmlns:a="http://schemas.openxmlformats.org/drawingml/2006/main" noGrp="1"/>
          </p:cNvSpPr>
          <p:nvPr/>
        </p:nvSpPr>
        <p:spPr>
          <a:xfrm xmlns:a="http://schemas.openxmlformats.org/drawingml/2006/main">
            <a:off x="742950" y="1362075"/>
            <a:ext cx="38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566779"/>
                </a:solidFill>
                <a:latin typeface="Arial"/>
                <a:ea typeface="Arial"/>
                <a:cs typeface="Arial"/>
              </a:defRPr>
            </a:pPr>
            <a:r>
              <a:rPr sz="1800" b="0">
                <a:solidFill>
                  <a:srgbClr val="566779"/>
                </a:solidFill>
                <a:latin typeface="Arial"/>
                <a:ea typeface="Arial"/>
                <a:cs typeface="Arial"/>
              </a:rPr>
              <a:t>50</a:t>
            </a:r>
          </a:p>
        </p:txBody>
      </p:sp>
      <p:sp>
        <p:nvSpPr>
          <p:cNvPr id="34" name="CPU: 2*x1+x2=100">
            <a:extLst xmlns:a="http://schemas.openxmlformats.org/drawingml/2006/main">
              <a:ext uri="{FF2B5EF4-FFF2-40B4-BE49-F238E27FC236}">
                <a16:creationId xmlns:a16="http://schemas.microsoft.com/office/drawing/2014/main" id="{9E07C44E-50EE-45AE-BDB0-1E7606075758}"/>
              </a:ext>
            </a:extLst>
          </p:cNvPr>
          <p:cNvSpPr>
            <a:spLocks xmlns:a="http://schemas.openxmlformats.org/drawingml/2006/main" noGrp="1"/>
          </p:cNvSpPr>
          <p:nvPr/>
        </p:nvSpPr>
        <p:spPr>
          <a:xfrm xmlns:a="http://schemas.openxmlformats.org/drawingml/2006/main">
            <a:off x="3095625" y="1524000"/>
            <a:ext cx="1905000" cy="3810000"/>
          </a:xfrm>
          <a:prstGeom xmlns:a="http://schemas.openxmlformats.org/drawingml/2006/main" prst="line">
            <a:avLst/>
          </a:prstGeom>
          <a:noFill xmlns:a="http://schemas.openxmlformats.org/drawingml/2006/main"/>
          <a:ln xmlns:a="http://schemas.openxmlformats.org/drawingml/2006/main" w="28575">
            <a:solidFill>
              <a:srgbClr val="1479AE"/>
            </a:solidFill>
          </a:ln>
        </p:spPr>
      </p:sp>
      <p:sp>
        <p:nvSpPr>
          <p:cNvPr id="35" name="">
            <a:extLst xmlns:a="http://schemas.openxmlformats.org/drawingml/2006/main">
              <a:ext uri="{FF2B5EF4-FFF2-40B4-BE49-F238E27FC236}">
                <a16:creationId xmlns:a16="http://schemas.microsoft.com/office/drawing/2014/main" id="{33CD94CC-00FB-4CA3-BA77-5B60D9A42F53}"/>
              </a:ext>
            </a:extLst>
          </p:cNvPr>
          <p:cNvSpPr>
            <a:spLocks xmlns:a="http://schemas.openxmlformats.org/drawingml/2006/main" noGrp="1"/>
          </p:cNvSpPr>
          <p:nvPr/>
        </p:nvSpPr>
        <p:spPr>
          <a:xfrm xmlns:a="http://schemas.openxmlformats.org/drawingml/2006/main" flipV="0">
            <a:off x="1190625" y="2286000"/>
            <a:ext cx="4572000" cy="2286000"/>
          </a:xfrm>
          <a:prstGeom xmlns:a="http://schemas.openxmlformats.org/drawingml/2006/main" prst="line">
            <a:avLst/>
          </a:prstGeom>
          <a:noFill xmlns:a="http://schemas.openxmlformats.org/drawingml/2006/main"/>
          <a:ln xmlns:a="http://schemas.openxmlformats.org/drawingml/2006/main" w="28575">
            <a:solidFill>
              <a:srgbClr val="7A55A3"/>
            </a:solidFill>
          </a:ln>
        </p:spPr>
      </p:sp>
      <p:sp>
        <p:nvSpPr>
          <p:cNvPr id="36" name="">
            <a:extLst xmlns:a="http://schemas.openxmlformats.org/drawingml/2006/main">
              <a:ext uri="{FF2B5EF4-FFF2-40B4-BE49-F238E27FC236}">
                <a16:creationId xmlns:a16="http://schemas.microsoft.com/office/drawing/2014/main" id="{5B26A556-01F5-466C-984C-BC866FAD8F40}"/>
              </a:ext>
            </a:extLst>
          </p:cNvPr>
          <p:cNvSpPr>
            <a:spLocks xmlns:a="http://schemas.openxmlformats.org/drawingml/2006/main" noGrp="1"/>
          </p:cNvSpPr>
          <p:nvPr/>
        </p:nvSpPr>
        <p:spPr>
          <a:xfrm xmlns:a="http://schemas.openxmlformats.org/drawingml/2006/main" flipV="0">
            <a:off x="1190625" y="2286000"/>
            <a:ext cx="2286000" cy="3048000"/>
          </a:xfrm>
          <a:prstGeom xmlns:a="http://schemas.openxmlformats.org/drawingml/2006/main" prst="line">
            <a:avLst/>
          </a:prstGeom>
          <a:noFill xmlns:a="http://schemas.openxmlformats.org/drawingml/2006/main"/>
          <a:ln xmlns:a="http://schemas.openxmlformats.org/drawingml/2006/main" w="19050">
            <a:solidFill>
              <a:srgbClr val="B59B5C"/>
            </a:solidFill>
          </a:ln>
        </p:spPr>
      </p:sp>
      <p:sp>
        <p:nvSpPr>
          <p:cNvPr id="37" name="">
            <a:extLst xmlns:a="http://schemas.openxmlformats.org/drawingml/2006/main">
              <a:ext uri="{FF2B5EF4-FFF2-40B4-BE49-F238E27FC236}">
                <a16:creationId xmlns:a16="http://schemas.microsoft.com/office/drawing/2014/main" id="{601F97C0-F768-4998-91C4-79E45402EA2D}"/>
              </a:ext>
            </a:extLst>
          </p:cNvPr>
          <p:cNvSpPr>
            <a:spLocks xmlns:a="http://schemas.openxmlformats.org/drawingml/2006/main" noGrp="1"/>
          </p:cNvSpPr>
          <p:nvPr/>
        </p:nvSpPr>
        <p:spPr>
          <a:xfrm xmlns:a="http://schemas.openxmlformats.org/drawingml/2006/main" flipV="0">
            <a:off x="2524125" y="1524000"/>
            <a:ext cx="2857500" cy="3810000"/>
          </a:xfrm>
          <a:prstGeom xmlns:a="http://schemas.openxmlformats.org/drawingml/2006/main" prst="line">
            <a:avLst/>
          </a:prstGeom>
          <a:noFill xmlns:a="http://schemas.openxmlformats.org/drawingml/2006/main"/>
          <a:ln xmlns:a="http://schemas.openxmlformats.org/drawingml/2006/main" w="28575">
            <a:solidFill>
              <a:srgbClr val="E5B74A"/>
            </a:solidFill>
          </a:ln>
        </p:spPr>
      </p:sp>
      <p:sp>
        <p:nvSpPr>
          <p:cNvPr id="38" name="">
            <a:extLst xmlns:a="http://schemas.openxmlformats.org/drawingml/2006/main">
              <a:ext uri="{FF2B5EF4-FFF2-40B4-BE49-F238E27FC236}">
                <a16:creationId xmlns:a16="http://schemas.microsoft.com/office/drawing/2014/main" id="{29146F82-B62F-42F1-A7CD-7955096934D3}"/>
              </a:ext>
            </a:extLst>
          </p:cNvPr>
          <p:cNvSpPr>
            <a:spLocks xmlns:a="http://schemas.openxmlformats.org/drawingml/2006/main" noGrp="1"/>
          </p:cNvSpPr>
          <p:nvPr/>
        </p:nvSpPr>
        <p:spPr>
          <a:xfrm xmlns:a="http://schemas.openxmlformats.org/drawingml/2006/main">
            <a:off x="1419225" y="27432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8C7128"/>
                </a:solidFill>
                <a:latin typeface="Arial"/>
                <a:ea typeface="Arial"/>
                <a:cs typeface="Arial"/>
              </a:defRPr>
            </a:pPr>
            <a:r>
              <a:rPr sz="1800" b="0">
                <a:solidFill>
                  <a:srgbClr val="8C7128"/>
                </a:solidFill>
                <a:latin typeface="Arial"/>
                <a:ea typeface="Arial"/>
                <a:cs typeface="Arial"/>
              </a:rPr>
              <a:t>Z=120</a:t>
            </a:r>
          </a:p>
        </p:txBody>
      </p:sp>
      <p:sp>
        <p:nvSpPr>
          <p:cNvPr id="39" name="">
            <a:extLst xmlns:a="http://schemas.openxmlformats.org/drawingml/2006/main">
              <a:ext uri="{FF2B5EF4-FFF2-40B4-BE49-F238E27FC236}">
                <a16:creationId xmlns:a16="http://schemas.microsoft.com/office/drawing/2014/main" id="{C72525C3-1DD2-492B-8382-DCF4E707A837}"/>
              </a:ext>
            </a:extLst>
          </p:cNvPr>
          <p:cNvSpPr>
            <a:spLocks xmlns:a="http://schemas.openxmlformats.org/drawingml/2006/main" noGrp="1"/>
          </p:cNvSpPr>
          <p:nvPr/>
        </p:nvSpPr>
        <p:spPr>
          <a:xfrm xmlns:a="http://schemas.openxmlformats.org/drawingml/2006/main">
            <a:off x="3009900" y="3343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58FC8C4-E263-44F0-96E8-EBC303708E3D}"/>
              </a:ext>
            </a:extLst>
          </p:cNvPr>
          <p:cNvSpPr>
            <a:spLocks xmlns:a="http://schemas.openxmlformats.org/drawingml/2006/main" noGrp="1"/>
          </p:cNvSpPr>
          <p:nvPr/>
        </p:nvSpPr>
        <p:spPr>
          <a:xfrm xmlns:a="http://schemas.openxmlformats.org/drawingml/2006/main">
            <a:off x="3924300" y="2657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6" name="">
            <a:extLst xmlns:a="http://schemas.openxmlformats.org/drawingml/2006/main">
              <a:ext uri="{FF2B5EF4-FFF2-40B4-BE49-F238E27FC236}">
                <a16:creationId xmlns:a16="http://schemas.microsoft.com/office/drawing/2014/main" id="{6490ACFE-3BCE-4351-A802-468AFFFA2415}"/>
              </a:ext>
            </a:extLst>
          </p:cNvPr>
          <p:cNvCxnSpPr>
            <a:stCxn xmlns:a="http://schemas.openxmlformats.org/drawingml/2006/main" id="39" idx="3"/>
            <a:endCxn xmlns:a="http://schemas.openxmlformats.org/drawingml/2006/main" id="40" idx="1"/>
          </p:cNvCxnSpPr>
          <p:nvPr/>
        </p:nvCxnSpPr>
        <p:spPr>
          <a:xfrm xmlns:a="http://schemas.openxmlformats.org/drawingml/2006/main" flipV="1">
            <a:off x="3028950" y="2667000"/>
            <a:ext cx="895350" cy="685800"/>
          </a:xfrm>
          <a:prstGeom xmlns:a="http://schemas.openxmlformats.org/drawingml/2006/main" prst="straightConnector1">
            <a:avLst/>
          </a:prstGeom>
          <a:ln xmlns:a="http://schemas.openxmlformats.org/drawingml/2006/main" w="38100">
            <a:solidFill>
              <a:srgbClr val="B64436"/>
            </a:solidFill>
            <a:tailEnd type="triangle" w="med" len="med"/>
          </a:ln>
        </p:spPr>
      </p:cxnSp>
      <p:sp>
        <p:nvSpPr>
          <p:cNvPr id="42" name="">
            <a:extLst xmlns:a="http://schemas.openxmlformats.org/drawingml/2006/main">
              <a:ext uri="{FF2B5EF4-FFF2-40B4-BE49-F238E27FC236}">
                <a16:creationId xmlns:a16="http://schemas.microsoft.com/office/drawing/2014/main" id="{2ED0E69C-A1D7-4945-91C8-8CA388BCA975}"/>
              </a:ext>
            </a:extLst>
          </p:cNvPr>
          <p:cNvSpPr>
            <a:spLocks xmlns:a="http://schemas.openxmlformats.org/drawingml/2006/main" noGrp="1"/>
          </p:cNvSpPr>
          <p:nvPr/>
        </p:nvSpPr>
        <p:spPr>
          <a:xfrm xmlns:a="http://schemas.openxmlformats.org/drawingml/2006/main">
            <a:off x="3476625" y="2200275"/>
            <a:ext cx="1095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B64436"/>
                </a:solidFill>
                <a:latin typeface="Arial"/>
                <a:ea typeface="Arial"/>
                <a:cs typeface="Arial"/>
              </a:defRPr>
            </a:pPr>
            <a:r>
              <a:rPr sz="1950" b="1">
                <a:solidFill>
                  <a:srgbClr val="B64436"/>
                </a:solidFill>
                <a:latin typeface="Arial"/>
                <a:ea typeface="Arial"/>
                <a:cs typeface="Arial"/>
              </a:rPr>
              <a:t>(4,3)</a:t>
            </a:r>
          </a:p>
        </p:txBody>
      </p:sp>
      <p:sp>
        <p:nvSpPr>
          <p:cNvPr id="43" name="">
            <a:extLst xmlns:a="http://schemas.openxmlformats.org/drawingml/2006/main">
              <a:ext uri="{FF2B5EF4-FFF2-40B4-BE49-F238E27FC236}">
                <a16:creationId xmlns:a16="http://schemas.microsoft.com/office/drawing/2014/main" id="{98A60556-7B50-4732-89D8-52547CEDDF9B}"/>
              </a:ext>
            </a:extLst>
          </p:cNvPr>
          <p:cNvSpPr>
            <a:spLocks xmlns:a="http://schemas.openxmlformats.org/drawingml/2006/main" noGrp="1"/>
          </p:cNvSpPr>
          <p:nvPr/>
        </p:nvSpPr>
        <p:spPr>
          <a:xfrm xmlns:a="http://schemas.openxmlformats.org/drawingml/2006/main">
            <a:off x="1143000" y="5286375"/>
            <a:ext cx="95250" cy="95250"/>
          </a:xfrm>
          <a:prstGeom xmlns:a="http://schemas.openxmlformats.org/drawingml/2006/main" prst="ellipse">
            <a:avLst/>
          </a:prstGeom>
          <a:solidFill xmlns:a="http://schemas.openxmlformats.org/drawingml/2006/main">
            <a:srgbClr val="00857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115C369-66F9-4CAD-B2CB-E5680D10BFB7}"/>
              </a:ext>
            </a:extLst>
          </p:cNvPr>
          <p:cNvSpPr>
            <a:spLocks xmlns:a="http://schemas.openxmlformats.org/drawingml/2006/main" noGrp="1"/>
          </p:cNvSpPr>
          <p:nvPr/>
        </p:nvSpPr>
        <p:spPr>
          <a:xfrm xmlns:a="http://schemas.openxmlformats.org/drawingml/2006/main">
            <a:off x="4953000" y="5286375"/>
            <a:ext cx="95250" cy="95250"/>
          </a:xfrm>
          <a:prstGeom xmlns:a="http://schemas.openxmlformats.org/drawingml/2006/main" prst="ellipse">
            <a:avLst/>
          </a:prstGeom>
          <a:solidFill xmlns:a="http://schemas.openxmlformats.org/drawingml/2006/main">
            <a:srgbClr val="00857D"/>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709421A9-CCC6-4575-829C-409D283ABA63}"/>
              </a:ext>
            </a:extLst>
          </p:cNvPr>
          <p:cNvSpPr>
            <a:spLocks xmlns:a="http://schemas.openxmlformats.org/drawingml/2006/main" noGrp="1"/>
          </p:cNvSpPr>
          <p:nvPr/>
        </p:nvSpPr>
        <p:spPr>
          <a:xfrm xmlns:a="http://schemas.openxmlformats.org/drawingml/2006/main">
            <a:off x="4191000" y="3762375"/>
            <a:ext cx="95250" cy="95250"/>
          </a:xfrm>
          <a:prstGeom xmlns:a="http://schemas.openxmlformats.org/drawingml/2006/main" prst="ellipse">
            <a:avLst/>
          </a:prstGeom>
          <a:solidFill xmlns:a="http://schemas.openxmlformats.org/drawingml/2006/main">
            <a:srgbClr val="00857D"/>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B958EAF-C248-44F1-8A14-5490949EEB4E}"/>
              </a:ext>
            </a:extLst>
          </p:cNvPr>
          <p:cNvSpPr>
            <a:spLocks xmlns:a="http://schemas.openxmlformats.org/drawingml/2006/main" noGrp="1"/>
          </p:cNvSpPr>
          <p:nvPr/>
        </p:nvSpPr>
        <p:spPr>
          <a:xfrm xmlns:a="http://schemas.openxmlformats.org/drawingml/2006/main">
            <a:off x="1143000" y="2238375"/>
            <a:ext cx="95250" cy="95250"/>
          </a:xfrm>
          <a:prstGeom xmlns:a="http://schemas.openxmlformats.org/drawingml/2006/main" prst="ellipse">
            <a:avLst/>
          </a:prstGeom>
          <a:solidFill xmlns:a="http://schemas.openxmlformats.org/drawingml/2006/main">
            <a:srgbClr val="00857D"/>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95C61FDA-B361-486F-9F90-AB220EAE4B8F}"/>
              </a:ext>
            </a:extLst>
          </p:cNvPr>
          <p:cNvSpPr>
            <a:spLocks xmlns:a="http://schemas.openxmlformats.org/drawingml/2006/main" noGrp="1"/>
          </p:cNvSpPr>
          <p:nvPr/>
        </p:nvSpPr>
        <p:spPr>
          <a:xfrm xmlns:a="http://schemas.openxmlformats.org/drawingml/2006/main">
            <a:off x="1323975" y="4905375"/>
            <a:ext cx="114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857D"/>
                </a:solidFill>
                <a:latin typeface="Arial"/>
                <a:ea typeface="Arial"/>
                <a:cs typeface="Arial"/>
              </a:defRPr>
            </a:pPr>
            <a:r>
              <a:rPr sz="1875" b="1">
                <a:solidFill>
                  <a:srgbClr val="00857D"/>
                </a:solidFill>
                <a:latin typeface="Arial"/>
                <a:ea typeface="Arial"/>
                <a:cs typeface="Arial"/>
              </a:rPr>
              <a:t>(0,0)</a:t>
            </a:r>
          </a:p>
        </p:txBody>
      </p:sp>
      <p:sp>
        <p:nvSpPr>
          <p:cNvPr id="48" name="">
            <a:extLst xmlns:a="http://schemas.openxmlformats.org/drawingml/2006/main">
              <a:ext uri="{FF2B5EF4-FFF2-40B4-BE49-F238E27FC236}">
                <a16:creationId xmlns:a16="http://schemas.microsoft.com/office/drawing/2014/main" id="{1B969F89-DE2C-498C-8506-34814AA03601}"/>
              </a:ext>
            </a:extLst>
          </p:cNvPr>
          <p:cNvSpPr>
            <a:spLocks xmlns:a="http://schemas.openxmlformats.org/drawingml/2006/main" noGrp="1"/>
          </p:cNvSpPr>
          <p:nvPr/>
        </p:nvSpPr>
        <p:spPr>
          <a:xfrm xmlns:a="http://schemas.openxmlformats.org/drawingml/2006/main">
            <a:off x="1314450"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857D"/>
                </a:solidFill>
                <a:latin typeface="Arial"/>
                <a:ea typeface="Arial"/>
                <a:cs typeface="Arial"/>
              </a:defRPr>
            </a:pPr>
            <a:r>
              <a:rPr sz="1875" b="1">
                <a:solidFill>
                  <a:srgbClr val="00857D"/>
                </a:solidFill>
                <a:latin typeface="Arial"/>
                <a:ea typeface="Arial"/>
                <a:cs typeface="Arial"/>
              </a:rPr>
              <a:t>(0,40)</a:t>
            </a:r>
          </a:p>
        </p:txBody>
      </p:sp>
      <p:sp>
        <p:nvSpPr>
          <p:cNvPr id="49" name="">
            <a:extLst xmlns:a="http://schemas.openxmlformats.org/drawingml/2006/main">
              <a:ext uri="{FF2B5EF4-FFF2-40B4-BE49-F238E27FC236}">
                <a16:creationId xmlns:a16="http://schemas.microsoft.com/office/drawing/2014/main" id="{9974A619-FBA7-4AC9-84C4-88FA7D478B64}"/>
              </a:ext>
            </a:extLst>
          </p:cNvPr>
          <p:cNvSpPr>
            <a:spLocks xmlns:a="http://schemas.openxmlformats.org/drawingml/2006/main" noGrp="1"/>
          </p:cNvSpPr>
          <p:nvPr/>
        </p:nvSpPr>
        <p:spPr>
          <a:xfrm xmlns:a="http://schemas.openxmlformats.org/drawingml/2006/main">
            <a:off x="5095875" y="4905375"/>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1">
                <a:solidFill>
                  <a:srgbClr val="00857D"/>
                </a:solidFill>
                <a:latin typeface="Arial"/>
                <a:ea typeface="Arial"/>
                <a:cs typeface="Arial"/>
              </a:defRPr>
            </a:pPr>
            <a:r>
              <a:rPr sz="1875" b="1">
                <a:solidFill>
                  <a:srgbClr val="00857D"/>
                </a:solidFill>
                <a:latin typeface="Arial"/>
                <a:ea typeface="Arial"/>
                <a:cs typeface="Arial"/>
              </a:rPr>
              <a:t>(50,0)</a:t>
            </a:r>
          </a:p>
        </p:txBody>
      </p:sp>
      <p:sp>
        <p:nvSpPr>
          <p:cNvPr id="50" name="">
            <a:extLst xmlns:a="http://schemas.openxmlformats.org/drawingml/2006/main">
              <a:ext uri="{FF2B5EF4-FFF2-40B4-BE49-F238E27FC236}">
                <a16:creationId xmlns:a16="http://schemas.microsoft.com/office/drawing/2014/main" id="{8B051041-C95F-405B-8C2D-4E672C21C966}"/>
              </a:ext>
            </a:extLst>
          </p:cNvPr>
          <p:cNvSpPr>
            <a:spLocks xmlns:a="http://schemas.openxmlformats.org/drawingml/2006/main" noGrp="1"/>
          </p:cNvSpPr>
          <p:nvPr/>
        </p:nvSpPr>
        <p:spPr>
          <a:xfrm xmlns:a="http://schemas.openxmlformats.org/drawingml/2006/main" flipV="1">
            <a:off x="4295775" y="3695700"/>
            <a:ext cx="1085850" cy="114300"/>
          </a:xfrm>
          <a:prstGeom xmlns:a="http://schemas.openxmlformats.org/drawingml/2006/main" prst="line">
            <a:avLst/>
          </a:prstGeom>
          <a:noFill xmlns:a="http://schemas.openxmlformats.org/drawingml/2006/main"/>
          <a:ln xmlns:a="http://schemas.openxmlformats.org/drawingml/2006/main" w="19050">
            <a:solidFill>
              <a:srgbClr val="00857D"/>
            </a:solidFill>
          </a:ln>
        </p:spPr>
      </p:sp>
      <p:sp>
        <p:nvSpPr>
          <p:cNvPr id="51" name="">
            <a:extLst xmlns:a="http://schemas.openxmlformats.org/drawingml/2006/main">
              <a:ext uri="{FF2B5EF4-FFF2-40B4-BE49-F238E27FC236}">
                <a16:creationId xmlns:a16="http://schemas.microsoft.com/office/drawing/2014/main" id="{2402237A-EFED-4287-BC07-0FBAA051F641}"/>
              </a:ext>
            </a:extLst>
          </p:cNvPr>
          <p:cNvSpPr>
            <a:spLocks xmlns:a="http://schemas.openxmlformats.org/drawingml/2006/main" noGrp="1"/>
          </p:cNvSpPr>
          <p:nvPr/>
        </p:nvSpPr>
        <p:spPr>
          <a:xfrm xmlns:a="http://schemas.openxmlformats.org/drawingml/2006/main">
            <a:off x="5429250" y="34480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1">
                <a:solidFill>
                  <a:srgbClr val="00857D"/>
                </a:solidFill>
                <a:latin typeface="Arial"/>
                <a:ea typeface="Arial"/>
                <a:cs typeface="Arial"/>
              </a:defRPr>
            </a:pPr>
            <a:r>
              <a:rPr sz="1950" b="1">
                <a:solidFill>
                  <a:srgbClr val="00857D"/>
                </a:solidFill>
                <a:latin typeface="Arial"/>
                <a:ea typeface="Arial"/>
                <a:cs typeface="Arial"/>
              </a:rPr>
              <a:t>(40,20)</a:t>
            </a:r>
          </a:p>
        </p:txBody>
      </p:sp>
      <p:sp>
        <p:nvSpPr>
          <p:cNvPr id="52" name="">
            <a:extLst xmlns:a="http://schemas.openxmlformats.org/drawingml/2006/main">
              <a:ext uri="{FF2B5EF4-FFF2-40B4-BE49-F238E27FC236}">
                <a16:creationId xmlns:a16="http://schemas.microsoft.com/office/drawing/2014/main" id="{BE7C408A-3FC7-4357-87A7-E4CE39E8FA84}"/>
              </a:ext>
            </a:extLst>
          </p:cNvPr>
          <p:cNvSpPr>
            <a:spLocks xmlns:a="http://schemas.openxmlformats.org/drawingml/2006/main" noGrp="1"/>
          </p:cNvSpPr>
          <p:nvPr/>
        </p:nvSpPr>
        <p:spPr>
          <a:xfrm xmlns:a="http://schemas.openxmlformats.org/drawingml/2006/main">
            <a:off x="1181100" y="5248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19DD6E70-1355-4CAA-A047-6D50477E28CB}"/>
              </a:ext>
            </a:extLst>
          </p:cNvPr>
          <p:cNvSpPr>
            <a:spLocks xmlns:a="http://schemas.openxmlformats.org/drawingml/2006/main" noGrp="1"/>
          </p:cNvSpPr>
          <p:nvPr/>
        </p:nvSpPr>
        <p:spPr>
          <a:xfrm xmlns:a="http://schemas.openxmlformats.org/drawingml/2006/main">
            <a:off x="4991100" y="5248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9" name="">
            <a:extLst xmlns:a="http://schemas.openxmlformats.org/drawingml/2006/main">
              <a:ext uri="{FF2B5EF4-FFF2-40B4-BE49-F238E27FC236}">
                <a16:creationId xmlns:a16="http://schemas.microsoft.com/office/drawing/2014/main" id="{EFB8991F-4ADD-4375-AD75-148DB501A132}"/>
              </a:ext>
            </a:extLst>
          </p:cNvPr>
          <p:cNvCxnSpPr>
            <a:stCxn xmlns:a="http://schemas.openxmlformats.org/drawingml/2006/main" id="52" idx="3"/>
            <a:endCxn xmlns:a="http://schemas.openxmlformats.org/drawingml/2006/main" id="53" idx="1"/>
          </p:cNvCxnSpPr>
          <p:nvPr/>
        </p:nvCxnSpPr>
        <p:spPr>
          <a:xfrm xmlns:a="http://schemas.openxmlformats.org/drawingml/2006/main">
            <a:off x="1200150" y="5257800"/>
            <a:ext cx="3790950" cy="0"/>
          </a:xfrm>
          <a:prstGeom xmlns:a="http://schemas.openxmlformats.org/drawingml/2006/main" prst="straightConnector1">
            <a:avLst/>
          </a:prstGeom>
          <a:ln xmlns:a="http://schemas.openxmlformats.org/drawingml/2006/main" w="47625">
            <a:solidFill>
              <a:srgbClr val="B64436"/>
            </a:solidFill>
            <a:tailEnd type="triangle" w="med" len="med"/>
          </a:ln>
        </p:spPr>
      </p:cxnSp>
      <p:sp>
        <p:nvSpPr>
          <p:cNvPr id="55" name="">
            <a:extLst xmlns:a="http://schemas.openxmlformats.org/drawingml/2006/main">
              <a:ext uri="{FF2B5EF4-FFF2-40B4-BE49-F238E27FC236}">
                <a16:creationId xmlns:a16="http://schemas.microsoft.com/office/drawing/2014/main" id="{8C9FF5D7-AC0F-44D6-9128-488820E8652E}"/>
              </a:ext>
            </a:extLst>
          </p:cNvPr>
          <p:cNvSpPr>
            <a:spLocks xmlns:a="http://schemas.openxmlformats.org/drawingml/2006/main" noGrp="1"/>
          </p:cNvSpPr>
          <p:nvPr/>
        </p:nvSpPr>
        <p:spPr>
          <a:xfrm xmlns:a="http://schemas.openxmlformats.org/drawingml/2006/main">
            <a:off x="5048250" y="5324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54064A7-8978-459D-BA85-782EF1121E9E}"/>
              </a:ext>
            </a:extLst>
          </p:cNvPr>
          <p:cNvSpPr>
            <a:spLocks xmlns:a="http://schemas.openxmlformats.org/drawingml/2006/main" noGrp="1"/>
          </p:cNvSpPr>
          <p:nvPr/>
        </p:nvSpPr>
        <p:spPr>
          <a:xfrm xmlns:a="http://schemas.openxmlformats.org/drawingml/2006/main">
            <a:off x="4286250" y="38004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22" name="">
            <a:extLst xmlns:a="http://schemas.openxmlformats.org/drawingml/2006/main">
              <a:ext uri="{FF2B5EF4-FFF2-40B4-BE49-F238E27FC236}">
                <a16:creationId xmlns:a16="http://schemas.microsoft.com/office/drawing/2014/main" id="{8642547A-3844-45C5-B71E-25B616C24951}"/>
              </a:ext>
            </a:extLst>
          </p:cNvPr>
          <p:cNvCxnSpPr>
            <a:stCxn xmlns:a="http://schemas.openxmlformats.org/drawingml/2006/main" id="55" idx="3"/>
            <a:endCxn xmlns:a="http://schemas.openxmlformats.org/drawingml/2006/main" id="56" idx="1"/>
          </p:cNvCxnSpPr>
          <p:nvPr/>
        </p:nvCxnSpPr>
        <p:spPr>
          <a:xfrm xmlns:a="http://schemas.openxmlformats.org/drawingml/2006/main" flipH="1" flipV="1">
            <a:off x="4286250" y="3810000"/>
            <a:ext cx="781050" cy="1524000"/>
          </a:xfrm>
          <a:prstGeom xmlns:a="http://schemas.openxmlformats.org/drawingml/2006/main" prst="straightConnector1">
            <a:avLst/>
          </a:prstGeom>
          <a:ln xmlns:a="http://schemas.openxmlformats.org/drawingml/2006/main" w="47625">
            <a:solidFill>
              <a:srgbClr val="B64436"/>
            </a:solidFill>
            <a:tailEnd type="triangle" w="med" len="med"/>
          </a:ln>
        </p:spPr>
      </p:cxnSp>
      <p:sp>
        <p:nvSpPr>
          <p:cNvPr id="58" name="">
            <a:extLst xmlns:a="http://schemas.openxmlformats.org/drawingml/2006/main">
              <a:ext uri="{FF2B5EF4-FFF2-40B4-BE49-F238E27FC236}">
                <a16:creationId xmlns:a16="http://schemas.microsoft.com/office/drawing/2014/main" id="{5C91BB64-4559-4F57-ADEC-6BE59E377123}"/>
              </a:ext>
            </a:extLst>
          </p:cNvPr>
          <p:cNvSpPr>
            <a:spLocks xmlns:a="http://schemas.openxmlformats.org/drawingml/2006/main" noGrp="1"/>
          </p:cNvSpPr>
          <p:nvPr/>
        </p:nvSpPr>
        <p:spPr>
          <a:xfrm xmlns:a="http://schemas.openxmlformats.org/drawingml/2006/main">
            <a:off x="4095750" y="563880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x₁: інференс</a:t>
            </a:r>
          </a:p>
        </p:txBody>
      </p:sp>
      <p:sp>
        <p:nvSpPr>
          <p:cNvPr id="59" name="">
            <a:extLst xmlns:a="http://schemas.openxmlformats.org/drawingml/2006/main">
              <a:ext uri="{FF2B5EF4-FFF2-40B4-BE49-F238E27FC236}">
                <a16:creationId xmlns:a16="http://schemas.microsoft.com/office/drawing/2014/main" id="{95053FBE-99ED-4156-849B-B1B78A708263}"/>
              </a:ext>
            </a:extLst>
          </p:cNvPr>
          <p:cNvSpPr>
            <a:spLocks xmlns:a="http://schemas.openxmlformats.org/drawingml/2006/main" noGrp="1"/>
          </p:cNvSpPr>
          <p:nvPr/>
        </p:nvSpPr>
        <p:spPr>
          <a:xfrm xmlns:a="http://schemas.openxmlformats.org/drawingml/2006/main">
            <a:off x="1381125" y="13525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173047"/>
                </a:solidFill>
                <a:latin typeface="Arial"/>
                <a:ea typeface="Arial"/>
                <a:cs typeface="Arial"/>
              </a:defRPr>
            </a:pPr>
            <a:r>
              <a:rPr sz="1950" b="0">
                <a:solidFill>
                  <a:srgbClr val="173047"/>
                </a:solidFill>
                <a:latin typeface="Arial"/>
                <a:ea typeface="Arial"/>
                <a:cs typeface="Arial"/>
              </a:rPr>
              <a:t>x₂</a:t>
            </a:r>
          </a:p>
        </p:txBody>
      </p:sp>
      <p:sp>
        <p:nvSpPr>
          <p:cNvPr id="60" name="">
            <a:extLst xmlns:a="http://schemas.openxmlformats.org/drawingml/2006/main">
              <a:ext uri="{FF2B5EF4-FFF2-40B4-BE49-F238E27FC236}">
                <a16:creationId xmlns:a16="http://schemas.microsoft.com/office/drawing/2014/main" id="{93D63B95-B3DB-4BD3-B2B4-59850A46A336}"/>
              </a:ext>
            </a:extLst>
          </p:cNvPr>
          <p:cNvSpPr>
            <a:spLocks xmlns:a="http://schemas.openxmlformats.org/drawingml/2006/main" noGrp="1"/>
          </p:cNvSpPr>
          <p:nvPr/>
        </p:nvSpPr>
        <p:spPr>
          <a:xfrm xmlns:a="http://schemas.openxmlformats.org/drawingml/2006/main">
            <a:off x="7239000" y="16859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1479AE"/>
                </a:solidFill>
                <a:latin typeface="Arial"/>
                <a:ea typeface="Arial"/>
                <a:cs typeface="Arial"/>
              </a:defRPr>
            </a:pPr>
            <a:r>
              <a:rPr sz="2550" b="1">
                <a:solidFill>
                  <a:srgbClr val="1479AE"/>
                </a:solidFill>
                <a:latin typeface="Arial"/>
                <a:ea typeface="Arial"/>
                <a:cs typeface="Arial"/>
              </a:rPr>
              <a:t>CPU: 2x₁+x₂=100</a:t>
            </a:r>
          </a:p>
        </p:txBody>
      </p:sp>
      <p:sp>
        <p:nvSpPr>
          <p:cNvPr id="61" name="">
            <a:extLst xmlns:a="http://schemas.openxmlformats.org/drawingml/2006/main">
              <a:ext uri="{FF2B5EF4-FFF2-40B4-BE49-F238E27FC236}">
                <a16:creationId xmlns:a16="http://schemas.microsoft.com/office/drawing/2014/main" id="{AB3D702E-0E5E-4A5B-900F-A110AE352023}"/>
              </a:ext>
            </a:extLst>
          </p:cNvPr>
          <p:cNvSpPr>
            <a:spLocks xmlns:a="http://schemas.openxmlformats.org/drawingml/2006/main" noGrp="1"/>
          </p:cNvSpPr>
          <p:nvPr/>
        </p:nvSpPr>
        <p:spPr>
          <a:xfrm xmlns:a="http://schemas.openxmlformats.org/drawingml/2006/main">
            <a:off x="7239000" y="25241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7A55A3"/>
                </a:solidFill>
                <a:latin typeface="Arial"/>
                <a:ea typeface="Arial"/>
                <a:cs typeface="Arial"/>
              </a:defRPr>
            </a:pPr>
            <a:r>
              <a:rPr sz="2550" b="1">
                <a:solidFill>
                  <a:srgbClr val="7A55A3"/>
                </a:solidFill>
                <a:latin typeface="Arial"/>
                <a:ea typeface="Arial"/>
                <a:cs typeface="Arial"/>
              </a:rPr>
              <a:t>RAM: x₁+2x₂=80</a:t>
            </a:r>
          </a:p>
        </p:txBody>
      </p:sp>
      <p:sp>
        <p:nvSpPr>
          <p:cNvPr id="62" name="">
            <a:extLst xmlns:a="http://schemas.openxmlformats.org/drawingml/2006/main">
              <a:ext uri="{FF2B5EF4-FFF2-40B4-BE49-F238E27FC236}">
                <a16:creationId xmlns:a16="http://schemas.microsoft.com/office/drawing/2014/main" id="{BA1B0F3A-9939-4772-A3EA-1918F78ED24C}"/>
              </a:ext>
            </a:extLst>
          </p:cNvPr>
          <p:cNvSpPr>
            <a:spLocks xmlns:a="http://schemas.openxmlformats.org/drawingml/2006/main" noGrp="1"/>
          </p:cNvSpPr>
          <p:nvPr/>
        </p:nvSpPr>
        <p:spPr>
          <a:xfrm xmlns:a="http://schemas.openxmlformats.org/drawingml/2006/main">
            <a:off x="7239000" y="327660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8C7128"/>
                </a:solidFill>
                <a:latin typeface="Arial"/>
                <a:ea typeface="Arial"/>
                <a:cs typeface="Arial"/>
              </a:defRPr>
            </a:pPr>
            <a:r>
              <a:rPr sz="2250" b="0">
                <a:solidFill>
                  <a:srgbClr val="8C7128"/>
                </a:solidFill>
                <a:latin typeface="Arial"/>
                <a:ea typeface="Arial"/>
                <a:cs typeface="Arial"/>
              </a:rPr>
              <a:t>Рівні: Z=120 та 220</a:t>
            </a:r>
          </a:p>
        </p:txBody>
      </p:sp>
      <p:sp>
        <p:nvSpPr>
          <p:cNvPr id="63" name="">
            <a:extLst xmlns:a="http://schemas.openxmlformats.org/drawingml/2006/main">
              <a:ext uri="{FF2B5EF4-FFF2-40B4-BE49-F238E27FC236}">
                <a16:creationId xmlns:a16="http://schemas.microsoft.com/office/drawing/2014/main" id="{CF0B4054-8E6B-45EC-A06B-FF60A1ED935C}"/>
              </a:ext>
            </a:extLst>
          </p:cNvPr>
          <p:cNvSpPr>
            <a:spLocks xmlns:a="http://schemas.openxmlformats.org/drawingml/2006/main" noGrp="1"/>
          </p:cNvSpPr>
          <p:nvPr/>
        </p:nvSpPr>
        <p:spPr>
          <a:xfrm xmlns:a="http://schemas.openxmlformats.org/drawingml/2006/main">
            <a:off x="7239000" y="3876675"/>
            <a:ext cx="419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75" b="1">
                <a:solidFill>
                  <a:srgbClr val="173047"/>
                </a:solidFill>
                <a:latin typeface="Arial"/>
                <a:ea typeface="Arial"/>
                <a:cs typeface="Arial"/>
              </a:defRPr>
            </a:pPr>
            <a:r>
              <a:rPr sz="2475" b="1">
                <a:solidFill>
                  <a:srgbClr val="173047"/>
                </a:solidFill>
                <a:latin typeface="Arial"/>
                <a:ea typeface="Arial"/>
                <a:cs typeface="Arial"/>
              </a:rPr>
              <a:t>Перший крок: x₁=50</a:t>
            </a:r>
          </a:p>
          <a:p xmlns:a="http://schemas.openxmlformats.org/drawingml/2006/main">
            <a:pPr algn="l">
              <a:buNone/>
              <a:defRPr sz="2475" b="1">
                <a:solidFill>
                  <a:srgbClr val="173047"/>
                </a:solidFill>
                <a:latin typeface="Arial"/>
                <a:ea typeface="Arial"/>
                <a:cs typeface="Arial"/>
              </a:defRPr>
            </a:pPr>
            <a:r>
              <a:rPr sz="2475" b="1">
                <a:solidFill>
                  <a:srgbClr val="173047"/>
                </a:solidFill>
                <a:latin typeface="Arial"/>
                <a:ea typeface="Arial"/>
                <a:cs typeface="Arial"/>
              </a:rPr>
              <a:t>Другий: x₂=20, x₁=40</a:t>
            </a:r>
          </a:p>
        </p:txBody>
      </p:sp>
      <p:sp>
        <p:nvSpPr>
          <p:cNvPr id="64" name="">
            <a:extLst xmlns:a="http://schemas.openxmlformats.org/drawingml/2006/main">
              <a:ext uri="{FF2B5EF4-FFF2-40B4-BE49-F238E27FC236}">
                <a16:creationId xmlns:a16="http://schemas.microsoft.com/office/drawing/2014/main" id="{A7AEA613-B2ED-4DA4-887C-6432D75C4B35}"/>
              </a:ext>
            </a:extLst>
          </p:cNvPr>
          <p:cNvSpPr>
            <a:spLocks xmlns:a="http://schemas.openxmlformats.org/drawingml/2006/main" noGrp="1"/>
          </p:cNvSpPr>
          <p:nvPr/>
        </p:nvSpPr>
        <p:spPr>
          <a:xfrm xmlns:a="http://schemas.openxmlformats.org/drawingml/2006/main">
            <a:off x="7239000" y="4848225"/>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450" b="1">
                <a:solidFill>
                  <a:srgbClr val="00857D"/>
                </a:solidFill>
                <a:latin typeface="Arial"/>
                <a:ea typeface="Arial"/>
                <a:cs typeface="Arial"/>
              </a:defRPr>
            </a:pPr>
            <a:r>
              <a:rPr sz="3450" b="1">
                <a:solidFill>
                  <a:srgbClr val="00857D"/>
                </a:solidFill>
                <a:latin typeface="Arial"/>
                <a:ea typeface="Arial"/>
                <a:cs typeface="Arial"/>
              </a:rPr>
              <a:t>Z = 220</a:t>
            </a:r>
          </a:p>
        </p:txBody>
      </p:sp>
      <p:sp>
        <p:nvSpPr>
          <p:cNvPr id="65" name="">
            <a:extLst xmlns:a="http://schemas.openxmlformats.org/drawingml/2006/main">
              <a:ext uri="{FF2B5EF4-FFF2-40B4-BE49-F238E27FC236}">
                <a16:creationId xmlns:a16="http://schemas.microsoft.com/office/drawing/2014/main" id="{925B5576-CF12-4C81-A0FC-67A1AC5F260B}"/>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a:t>
            </a:r>
          </a:p>
        </p:txBody>
      </p:sp>
    </p:spTree>
    <p:extLst>
      <p:ext uri="{BB962C8B-B14F-4D97-AF65-F5344CB8AC3E}">
        <p14:creationId xmlns:p14="http://schemas.microsoft.com/office/powerpoint/2010/main" val="8050435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FE3437-36E0-4B21-B65D-78E31A07A4DD}"/>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Перевірте себе: який ресурс обмежує крок?</a:t>
            </a:r>
          </a:p>
        </p:txBody>
      </p:sp>
      <p:sp>
        <p:nvSpPr>
          <p:cNvPr id="2" name="">
            <a:extLst xmlns:a="http://schemas.openxmlformats.org/drawingml/2006/main">
              <a:ext uri="{FF2B5EF4-FFF2-40B4-BE49-F238E27FC236}">
                <a16:creationId xmlns:a16="http://schemas.microsoft.com/office/drawing/2014/main" id="{FF242789-26F5-49B9-AB64-76D431A89C5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Поясніть відповідь через відношення запасу до витрати.</a:t>
            </a:r>
          </a:p>
        </p:txBody>
      </p:sp>
      <p:sp>
        <p:nvSpPr>
          <p:cNvPr id="3" name="">
            <a:extLst xmlns:a="http://schemas.openxmlformats.org/drawingml/2006/main">
              <a:ext uri="{FF2B5EF4-FFF2-40B4-BE49-F238E27FC236}">
                <a16:creationId xmlns:a16="http://schemas.microsoft.com/office/drawing/2014/main" id="{B2AAEB06-F527-49FC-B314-95A494A941B7}"/>
              </a:ext>
            </a:extLst>
          </p:cNvPr>
          <p:cNvSpPr>
            <a:spLocks xmlns:a="http://schemas.openxmlformats.org/drawingml/2006/main" noGrp="1"/>
          </p:cNvSpPr>
          <p:nvPr/>
        </p:nvSpPr>
        <p:spPr>
          <a:xfrm xmlns:a="http://schemas.openxmlformats.org/drawingml/2006/main">
            <a:off x="857250" y="1809750"/>
            <a:ext cx="10477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Від старту збільшуємо тільки x₁.</a:t>
            </a:r>
          </a:p>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Який ресурс закінчиться першим?</a:t>
            </a:r>
          </a:p>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Яка змінна залишить базис?</a:t>
            </a:r>
          </a:p>
        </p:txBody>
      </p:sp>
      <p:sp>
        <p:nvSpPr>
          <p:cNvPr id="6" name="">
            <a:extLst xmlns:a="http://schemas.openxmlformats.org/drawingml/2006/main">
              <a:ext uri="{FF2B5EF4-FFF2-40B4-BE49-F238E27FC236}">
                <a16:creationId xmlns:a16="http://schemas.microsoft.com/office/drawing/2014/main" id="{A5B156B3-143E-4252-B898-77C78F458401}"/>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12</a:t>
            </a:r>
          </a:p>
        </p:txBody>
      </p:sp>
    </p:spTree>
    <p:extLst>
      <p:ext uri="{BB962C8B-B14F-4D97-AF65-F5344CB8AC3E}">
        <p14:creationId xmlns:p14="http://schemas.microsoft.com/office/powerpoint/2010/main" val="1417819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FA11B6-69C7-41B0-8D93-B62E5B213661}"/>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Симплекс: стартова таблиця</a:t>
            </a:r>
          </a:p>
        </p:txBody>
      </p:sp>
      <p:sp>
        <p:nvSpPr>
          <p:cNvPr id="2" name="">
            <a:extLst xmlns:a="http://schemas.openxmlformats.org/drawingml/2006/main">
              <a:ext uri="{FF2B5EF4-FFF2-40B4-BE49-F238E27FC236}">
                <a16:creationId xmlns:a16="http://schemas.microsoft.com/office/drawing/2014/main" id="{6220BA5D-D72C-4184-A59C-8188E362D79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Входить x₁: Δ=4. Ведучий елемент 2; після тесту відношень виходить sCPU.</a:t>
            </a:r>
          </a:p>
        </p:txBody>
      </p:sp>
      <p:graphicFrame>
        <p:nvGraphicFramePr>
          <p:cNvPr id="11" name="">
            <a:extLst xmlns:a="http://schemas.openxmlformats.org/drawingml/2006/main">
              <a:ext uri="{FF2B5EF4-FFF2-40B4-BE49-F238E27FC236}">
                <a16:creationId xmlns:a16="http://schemas.microsoft.com/office/drawing/2014/main" id="{D56A0F84-7B1A-4357-A650-DC36409E86D3}"/>
              </a:ext>
            </a:extLst>
          </p:cNvPr>
          <p:cNvGraphicFramePr/>
          <p:nvPr/>
        </p:nvGraphicFramePr>
        <p:xfrm>
          <a:off xmlns:a="http://schemas.openxmlformats.org/drawingml/2006/main" x="762000" y="1743075"/>
          <a:ext xmlns:a="http://schemas.openxmlformats.org/drawingml/2006/main" cx="10668000" cy="2628900"/>
        </p:xfrm>
        <a:graphic xmlns:a="http://schemas.openxmlformats.org/drawingml/2006/main">
          <a:graphicData uri="http://schemas.openxmlformats.org/drawingml/2006/table">
            <a:tbl>
              <a:tblPr/>
              <a:tblGrid>
                <a:gridCol w="2286000"/>
                <a:gridCol w="1676400"/>
                <a:gridCol w="1676400"/>
                <a:gridCol w="1676400"/>
                <a:gridCol w="1676400"/>
                <a:gridCol w="1676400"/>
              </a:tblGrid>
              <a:tr h="657225">
                <a:tc>
                  <a:txBody>
                    <a:bodyPr/>
                    <a:lstStyle/>
                    <a:p>
                      <a:r>
                        <a:rPr sz="2400" b="1">
                          <a:solidFill>
                            <a:srgbClr val="FFFFFF"/>
                          </a:solidFill>
                          <a:latin typeface="Arial"/>
                          <a:ea typeface="Arial"/>
                          <a:cs typeface="Arial"/>
                        </a:rPr>
                        <a:t>Базис</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x₁</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x₂</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sCPU</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sMEM</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b</a:t>
                      </a:r>
                    </a:p>
                  </a:txBody>
                  <a:tcPr marL="114300" marR="114300" marT="66675" marB="66675" anchor="ctr">
                    <a:solidFill>
                      <a:srgbClr val="173047"/>
                    </a:solidFill>
                  </a:tcPr>
                </a:tc>
              </a:tr>
              <a:tr h="657225">
                <a:tc>
                  <a:txBody>
                    <a:bodyPr/>
                    <a:lstStyle/>
                    <a:p>
                      <a:r>
                        <a:rPr sz="2400">
                          <a:solidFill>
                            <a:srgbClr val="173047"/>
                          </a:solidFill>
                          <a:latin typeface="Arial"/>
                          <a:ea typeface="Arial"/>
                          <a:cs typeface="Arial"/>
                        </a:rPr>
                        <a:t>sCPU</a:t>
                      </a:r>
                    </a:p>
                  </a:txBody>
                  <a:tcPr marL="114300" marR="114300" marT="66675" marB="66675" anchor="ctr">
                    <a:solidFill>
                      <a:srgbClr val="FFFFFF"/>
                    </a:solidFill>
                  </a:tcPr>
                </a:tc>
                <a:tc>
                  <a:txBody>
                    <a:bodyPr/>
                    <a:lstStyle/>
                    <a:p>
                      <a:r>
                        <a:rPr sz="2400" b="1">
                          <a:solidFill>
                            <a:srgbClr val="673D00"/>
                          </a:solidFill>
                          <a:latin typeface="Arial"/>
                          <a:ea typeface="Arial"/>
                          <a:cs typeface="Arial"/>
                        </a:rPr>
                        <a:t>2</a:t>
                      </a:r>
                    </a:p>
                  </a:txBody>
                  <a:tcPr marL="114300" marR="114300" marT="66675" marB="66675" anchor="ctr">
                    <a:solidFill>
                      <a:srgbClr val="F7DFA1"/>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100</a:t>
                      </a:r>
                    </a:p>
                  </a:txBody>
                  <a:tcPr marL="114300" marR="114300" marT="66675" marB="66675" anchor="ctr">
                    <a:solidFill>
                      <a:srgbClr val="FFFFFF"/>
                    </a:solidFill>
                  </a:tcPr>
                </a:tc>
              </a:tr>
              <a:tr h="657225">
                <a:tc>
                  <a:txBody>
                    <a:bodyPr/>
                    <a:lstStyle/>
                    <a:p>
                      <a:r>
                        <a:rPr sz="2400">
                          <a:solidFill>
                            <a:srgbClr val="173047"/>
                          </a:solidFill>
                          <a:latin typeface="Arial"/>
                          <a:ea typeface="Arial"/>
                          <a:cs typeface="Arial"/>
                        </a:rPr>
                        <a:t>sMEM</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80</a:t>
                      </a:r>
                    </a:p>
                  </a:txBody>
                  <a:tcPr marL="114300" marR="114300" marT="66675" marB="66675" anchor="ctr">
                    <a:solidFill>
                      <a:srgbClr val="FFFFFF"/>
                    </a:solidFill>
                  </a:tcPr>
                </a:tc>
              </a:tr>
              <a:tr h="657225">
                <a:tc>
                  <a:txBody>
                    <a:bodyPr/>
                    <a:lstStyle/>
                    <a:p>
                      <a:r>
                        <a:rPr sz="2400">
                          <a:solidFill>
                            <a:srgbClr val="173047"/>
                          </a:solidFill>
                          <a:latin typeface="Arial"/>
                          <a:ea typeface="Arial"/>
                          <a:cs typeface="Arial"/>
                        </a:rPr>
                        <a:t>Δ</a:t>
                      </a:r>
                    </a:p>
                  </a:txBody>
                  <a:tcPr marL="114300" marR="114300" marT="66675" marB="66675" anchor="ctr">
                    <a:solidFill>
                      <a:srgbClr val="FFFFFF"/>
                    </a:solidFill>
                  </a:tcPr>
                </a:tc>
                <a:tc>
                  <a:txBody>
                    <a:bodyPr/>
                    <a:lstStyle/>
                    <a:p>
                      <a:r>
                        <a:rPr sz="2400">
                          <a:solidFill>
                            <a:srgbClr val="173047"/>
                          </a:solidFill>
                          <a:latin typeface="Arial"/>
                          <a:ea typeface="Arial"/>
                          <a:cs typeface="Arial"/>
                        </a:rPr>
                        <a:t>4</a:t>
                      </a:r>
                    </a:p>
                  </a:txBody>
                  <a:tcPr marL="114300" marR="114300" marT="66675" marB="66675" anchor="ctr">
                    <a:solidFill>
                      <a:srgbClr val="FFFFFF"/>
                    </a:solidFill>
                  </a:tcPr>
                </a:tc>
                <a:tc>
                  <a:txBody>
                    <a:bodyPr/>
                    <a:lstStyle/>
                    <a:p>
                      <a:r>
                        <a:rPr sz="2400">
                          <a:solidFill>
                            <a:srgbClr val="173047"/>
                          </a:solidFill>
                          <a:latin typeface="Arial"/>
                          <a:ea typeface="Arial"/>
                          <a:cs typeface="Arial"/>
                        </a:rPr>
                        <a:t>3</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Z=0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CF45434-470C-4B2F-8F34-AC2DCAFF056A}"/>
              </a:ext>
            </a:extLst>
          </p:cNvPr>
          <p:cNvSpPr>
            <a:spLocks xmlns:a="http://schemas.openxmlformats.org/drawingml/2006/main" noGrp="1"/>
          </p:cNvSpPr>
          <p:nvPr/>
        </p:nvSpPr>
        <p:spPr>
          <a:xfrm xmlns:a="http://schemas.openxmlformats.org/drawingml/2006/main">
            <a:off x="762000" y="46482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2x₁+x₂+sCPU=100; x₁+2x₂+sMEM=80.</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Базисні залишки:100,80; небазисні x₁=x₂=0.</a:t>
            </a:r>
          </a:p>
        </p:txBody>
      </p:sp>
      <p:sp>
        <p:nvSpPr>
          <p:cNvPr id="8" name="">
            <a:extLst xmlns:a="http://schemas.openxmlformats.org/drawingml/2006/main">
              <a:ext uri="{FF2B5EF4-FFF2-40B4-BE49-F238E27FC236}">
                <a16:creationId xmlns:a16="http://schemas.microsoft.com/office/drawing/2014/main" id="{DCA82DAC-4135-41AF-96ED-9EE8B4869E9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13</a:t>
            </a:r>
          </a:p>
        </p:txBody>
      </p:sp>
    </p:spTree>
    <p:extLst>
      <p:ext uri="{BB962C8B-B14F-4D97-AF65-F5344CB8AC3E}">
        <p14:creationId xmlns:p14="http://schemas.microsoft.com/office/powerpoint/2010/main" val="20405690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F5C9E60-C6A2-4719-89A2-8C377F680A12}"/>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Симплекс: перерахунок першого переходу</a:t>
            </a:r>
          </a:p>
        </p:txBody>
      </p:sp>
      <p:sp>
        <p:nvSpPr>
          <p:cNvPr id="2" name="">
            <a:extLst xmlns:a="http://schemas.openxmlformats.org/drawingml/2006/main">
              <a:ext uri="{FF2B5EF4-FFF2-40B4-BE49-F238E27FC236}">
                <a16:creationId xmlns:a16="http://schemas.microsoft.com/office/drawing/2014/main" id="{4602F2E3-6557-40B4-B77E-D05EC05A54F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Оцінка x₂ стала 1: додаткова аналітика замінює 0,5 блока інференсу.</a:t>
            </a:r>
          </a:p>
        </p:txBody>
      </p:sp>
      <p:sp>
        <p:nvSpPr>
          <p:cNvPr id="3" name="">
            <a:extLst xmlns:a="http://schemas.openxmlformats.org/drawingml/2006/main">
              <a:ext uri="{FF2B5EF4-FFF2-40B4-BE49-F238E27FC236}">
                <a16:creationId xmlns:a16="http://schemas.microsoft.com/office/drawing/2014/main" id="{ADE4429B-BEE4-452E-87D8-F33A77C70110}"/>
              </a:ext>
            </a:extLst>
          </p:cNvPr>
          <p:cNvSpPr>
            <a:spLocks xmlns:a="http://schemas.openxmlformats.org/drawingml/2006/main" noGrp="1"/>
          </p:cNvSpPr>
          <p:nvPr/>
        </p:nvSpPr>
        <p:spPr>
          <a:xfrm xmlns:a="http://schemas.openxmlformats.org/drawingml/2006/main">
            <a:off x="762000" y="1619250"/>
            <a:ext cx="447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Ведучий елемент: 2</a:t>
            </a:r>
          </a:p>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R₁ нова = R₁ / 2</a:t>
            </a:r>
          </a:p>
          <a:p xmlns:a="http://schemas.openxmlformats.org/drawingml/2006/main">
            <a:r>
              <a:t/>
            </a:r>
          </a:p>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Занулюємо x₁ у другому рядку:</a:t>
            </a:r>
          </a:p>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R₂ нова = R₂ − R₁ нова</a:t>
            </a:r>
          </a:p>
        </p:txBody>
      </p:sp>
      <p:graphicFrame>
        <p:nvGraphicFramePr>
          <p:cNvPr id="10" name="">
            <a:extLst xmlns:a="http://schemas.openxmlformats.org/drawingml/2006/main">
              <a:ext uri="{FF2B5EF4-FFF2-40B4-BE49-F238E27FC236}">
                <a16:creationId xmlns:a16="http://schemas.microsoft.com/office/drawing/2014/main" id="{2FB18E5D-E40D-4382-983F-62B25ABF092B}"/>
              </a:ext>
            </a:extLst>
          </p:cNvPr>
          <p:cNvGraphicFramePr/>
          <p:nvPr/>
        </p:nvGraphicFramePr>
        <p:xfrm>
          <a:off xmlns:a="http://schemas.openxmlformats.org/drawingml/2006/main" x="5429250" y="1619250"/>
          <a:ext xmlns:a="http://schemas.openxmlformats.org/drawingml/2006/main" cx="6000750" cy="2667000"/>
        </p:xfrm>
        <a:graphic xmlns:a="http://schemas.openxmlformats.org/drawingml/2006/main">
          <a:graphicData uri="http://schemas.openxmlformats.org/drawingml/2006/table">
            <a:tbl>
              <a:tblPr/>
              <a:tblGrid>
                <a:gridCol w="1095375"/>
                <a:gridCol w="762000"/>
                <a:gridCol w="762000"/>
                <a:gridCol w="1047750"/>
                <a:gridCol w="1143000"/>
                <a:gridCol w="1190625"/>
              </a:tblGrid>
              <a:tr h="666750">
                <a:tc>
                  <a:txBody>
                    <a:bodyPr/>
                    <a:lstStyle/>
                    <a:p>
                      <a:r>
                        <a:rPr sz="2100" b="1">
                          <a:solidFill>
                            <a:srgbClr val="FFFFFF"/>
                          </a:solidFill>
                          <a:latin typeface="Arial"/>
                          <a:ea typeface="Arial"/>
                          <a:cs typeface="Arial"/>
                        </a:rPr>
                        <a:t>Базис</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x₁</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x₂</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sCPU</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sMEM</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b</a:t>
                      </a:r>
                    </a:p>
                  </a:txBody>
                  <a:tcPr marL="114300" marR="114300" marT="66675" marB="66675" anchor="ctr">
                    <a:solidFill>
                      <a:srgbClr val="173047"/>
                    </a:solidFill>
                  </a:tcPr>
                </a:tc>
              </a:tr>
              <a:tr h="666750">
                <a:tc>
                  <a:txBody>
                    <a:bodyPr/>
                    <a:lstStyle/>
                    <a:p>
                      <a:r>
                        <a:rPr sz="2100">
                          <a:solidFill>
                            <a:srgbClr val="173047"/>
                          </a:solidFill>
                          <a:latin typeface="Arial"/>
                          <a:ea typeface="Arial"/>
                          <a:cs typeface="Arial"/>
                        </a:rPr>
                        <a:t>x₁</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1</a:t>
                      </a:r>
                    </a:p>
                  </a:txBody>
                  <a:tcPr marL="114300" marR="114300" marT="66675" marB="66675" anchor="ctr">
                    <a:solidFill>
                      <a:srgbClr val="D6F0E9"/>
                    </a:solidFill>
                  </a:tcPr>
                </a:tc>
                <a:tc>
                  <a:txBody>
                    <a:bodyPr/>
                    <a:lstStyle/>
                    <a:p>
                      <a:pPr algn="ctr">
                        <a:buNone/>
                      </a:pPr>
                      <a:r>
                        <a:rPr sz="2100">
                          <a:solidFill>
                            <a:srgbClr val="173047"/>
                          </a:solidFill>
                          <a:latin typeface="Arial"/>
                          <a:ea typeface="Arial"/>
                          <a:cs typeface="Arial"/>
                        </a:rPr>
                        <a:t>1/2</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1/2</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50</a:t>
                      </a:r>
                    </a:p>
                  </a:txBody>
                  <a:tcPr marL="114300" marR="114300" marT="66675" marB="66675" anchor="ctr">
                    <a:solidFill>
                      <a:srgbClr val="FFFFFF"/>
                    </a:solidFill>
                  </a:tcPr>
                </a:tc>
              </a:tr>
              <a:tr h="666750">
                <a:tc>
                  <a:txBody>
                    <a:bodyPr/>
                    <a:lstStyle/>
                    <a:p>
                      <a:r>
                        <a:rPr sz="2100">
                          <a:solidFill>
                            <a:srgbClr val="173047"/>
                          </a:solidFill>
                          <a:latin typeface="Arial"/>
                          <a:ea typeface="Arial"/>
                          <a:cs typeface="Arial"/>
                        </a:rPr>
                        <a:t>sMEM</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3/2</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−1/2</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30</a:t>
                      </a:r>
                    </a:p>
                  </a:txBody>
                  <a:tcPr marL="114300" marR="114300" marT="66675" marB="66675" anchor="ctr">
                    <a:solidFill>
                      <a:srgbClr val="FFFFFF"/>
                    </a:solidFill>
                  </a:tcPr>
                </a:tc>
              </a:tr>
              <a:tr h="666750">
                <a:tc>
                  <a:txBody>
                    <a:bodyPr/>
                    <a:lstStyle/>
                    <a:p>
                      <a:r>
                        <a:rPr sz="2100">
                          <a:solidFill>
                            <a:srgbClr val="173047"/>
                          </a:solidFill>
                          <a:latin typeface="Arial"/>
                          <a:ea typeface="Arial"/>
                          <a:cs typeface="Arial"/>
                        </a:rPr>
                        <a:t>Δ</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−2</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Z=200</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FEF6EDF-5EB0-4DB2-A983-FAAB464E847A}"/>
              </a:ext>
            </a:extLst>
          </p:cNvPr>
          <p:cNvSpPr>
            <a:spLocks xmlns:a="http://schemas.openxmlformats.org/drawingml/2006/main" noGrp="1"/>
          </p:cNvSpPr>
          <p:nvPr/>
        </p:nvSpPr>
        <p:spPr>
          <a:xfrm xmlns:a="http://schemas.openxmlformats.org/drawingml/2006/main">
            <a:off x="762000" y="45434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75" b="1">
                <a:solidFill>
                  <a:srgbClr val="00857D"/>
                </a:solidFill>
                <a:latin typeface="Arial"/>
                <a:ea typeface="Arial"/>
                <a:cs typeface="Arial"/>
              </a:defRPr>
            </a:pPr>
            <a:r>
              <a:rPr sz="2475" b="1">
                <a:solidFill>
                  <a:srgbClr val="00857D"/>
                </a:solidFill>
                <a:latin typeface="Arial"/>
                <a:ea typeface="Arial"/>
                <a:cs typeface="Arial"/>
              </a:rPr>
              <a:t>Чистий приріст: 3 − 4·0,5 = 1.</a:t>
            </a:r>
          </a:p>
          <a:p xmlns:a="http://schemas.openxmlformats.org/drawingml/2006/main">
            <a:pPr algn="l">
              <a:buNone/>
              <a:defRPr sz="2475" b="1">
                <a:solidFill>
                  <a:srgbClr val="00857D"/>
                </a:solidFill>
                <a:latin typeface="Arial"/>
                <a:ea typeface="Arial"/>
                <a:cs typeface="Arial"/>
              </a:defRPr>
            </a:pPr>
            <a:r>
              <a:rPr sz="2475" b="1">
                <a:solidFill>
                  <a:srgbClr val="00857D"/>
                </a:solidFill>
                <a:latin typeface="Arial"/>
                <a:ea typeface="Arial"/>
                <a:cs typeface="Arial"/>
              </a:rPr>
              <a:t>Поточна користь: 4·50 = 200.</a:t>
            </a:r>
          </a:p>
        </p:txBody>
      </p:sp>
      <p:sp>
        <p:nvSpPr>
          <p:cNvPr id="6" name="">
            <a:extLst xmlns:a="http://schemas.openxmlformats.org/drawingml/2006/main">
              <a:ext uri="{FF2B5EF4-FFF2-40B4-BE49-F238E27FC236}">
                <a16:creationId xmlns:a16="http://schemas.microsoft.com/office/drawing/2014/main" id="{EB84E0FF-85E3-4D9B-B6EC-B69FAABE482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a:t>
            </a:r>
          </a:p>
        </p:txBody>
      </p:sp>
    </p:spTree>
    <p:extLst>
      <p:ext uri="{BB962C8B-B14F-4D97-AF65-F5344CB8AC3E}">
        <p14:creationId xmlns:p14="http://schemas.microsoft.com/office/powerpoint/2010/main" val="18569107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55AECA-2C5C-4699-9B66-77D4E1F6E38E}"/>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Симплекс: таблиця після першого переходу</a:t>
            </a:r>
          </a:p>
        </p:txBody>
      </p:sp>
      <p:sp>
        <p:nvSpPr>
          <p:cNvPr id="2" name="">
            <a:extLst xmlns:a="http://schemas.openxmlformats.org/drawingml/2006/main">
              <a:ext uri="{FF2B5EF4-FFF2-40B4-BE49-F238E27FC236}">
                <a16:creationId xmlns:a16="http://schemas.microsoft.com/office/drawing/2014/main" id="{3EA82D6C-0FB1-4E01-BC15-B0B453A9BA4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Входить x₂. min(50/(1/2), 30/(3/2))=20; виходить sMEM.</a:t>
            </a:r>
          </a:p>
        </p:txBody>
      </p:sp>
      <p:graphicFrame>
        <p:nvGraphicFramePr>
          <p:cNvPr id="11" name="">
            <a:extLst xmlns:a="http://schemas.openxmlformats.org/drawingml/2006/main">
              <a:ext uri="{FF2B5EF4-FFF2-40B4-BE49-F238E27FC236}">
                <a16:creationId xmlns:a16="http://schemas.microsoft.com/office/drawing/2014/main" id="{BCE307DF-1467-4D30-AD67-76EB8DC1FA15}"/>
              </a:ext>
            </a:extLst>
          </p:cNvPr>
          <p:cNvGraphicFramePr/>
          <p:nvPr/>
        </p:nvGraphicFramePr>
        <p:xfrm>
          <a:off xmlns:a="http://schemas.openxmlformats.org/drawingml/2006/main" x="762000" y="1743075"/>
          <a:ext xmlns:a="http://schemas.openxmlformats.org/drawingml/2006/main" cx="10668000" cy="2628900"/>
        </p:xfrm>
        <a:graphic xmlns:a="http://schemas.openxmlformats.org/drawingml/2006/main">
          <a:graphicData uri="http://schemas.openxmlformats.org/drawingml/2006/table">
            <a:tbl>
              <a:tblPr/>
              <a:tblGrid>
                <a:gridCol w="2286000"/>
                <a:gridCol w="1676400"/>
                <a:gridCol w="1676400"/>
                <a:gridCol w="1676400"/>
                <a:gridCol w="1676400"/>
                <a:gridCol w="1676400"/>
              </a:tblGrid>
              <a:tr h="657225">
                <a:tc>
                  <a:txBody>
                    <a:bodyPr/>
                    <a:lstStyle/>
                    <a:p>
                      <a:r>
                        <a:rPr sz="2400" b="1">
                          <a:solidFill>
                            <a:srgbClr val="FFFFFF"/>
                          </a:solidFill>
                          <a:latin typeface="Arial"/>
                          <a:ea typeface="Arial"/>
                          <a:cs typeface="Arial"/>
                        </a:rPr>
                        <a:t>Базис</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x₁</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x₂</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sCPU</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sMEM</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b</a:t>
                      </a:r>
                    </a:p>
                  </a:txBody>
                  <a:tcPr marL="114300" marR="114300" marT="66675" marB="66675" anchor="ctr">
                    <a:solidFill>
                      <a:srgbClr val="173047"/>
                    </a:solidFill>
                  </a:tcPr>
                </a:tc>
              </a:tr>
              <a:tr h="657225">
                <a:tc>
                  <a:txBody>
                    <a:bodyPr/>
                    <a:lstStyle/>
                    <a:p>
                      <a:r>
                        <a:rPr sz="2400">
                          <a:solidFill>
                            <a:srgbClr val="173047"/>
                          </a:solidFill>
                          <a:latin typeface="Arial"/>
                          <a:ea typeface="Arial"/>
                          <a:cs typeface="Arial"/>
                        </a:rPr>
                        <a:t>x₁</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1/2</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1/2</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50</a:t>
                      </a:r>
                    </a:p>
                  </a:txBody>
                  <a:tcPr marL="114300" marR="114300" marT="66675" marB="66675" anchor="ctr">
                    <a:solidFill>
                      <a:srgbClr val="FFFFFF"/>
                    </a:solidFill>
                  </a:tcPr>
                </a:tc>
              </a:tr>
              <a:tr h="657225">
                <a:tc>
                  <a:txBody>
                    <a:bodyPr/>
                    <a:lstStyle/>
                    <a:p>
                      <a:r>
                        <a:rPr sz="2400">
                          <a:solidFill>
                            <a:srgbClr val="173047"/>
                          </a:solidFill>
                          <a:latin typeface="Arial"/>
                          <a:ea typeface="Arial"/>
                          <a:cs typeface="Arial"/>
                        </a:rPr>
                        <a:t>sMEM</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b="1">
                          <a:solidFill>
                            <a:srgbClr val="673D00"/>
                          </a:solidFill>
                          <a:latin typeface="Arial"/>
                          <a:ea typeface="Arial"/>
                          <a:cs typeface="Arial"/>
                        </a:rPr>
                        <a:t>3/2</a:t>
                      </a:r>
                    </a:p>
                  </a:txBody>
                  <a:tcPr marL="114300" marR="114300" marT="66675" marB="66675" anchor="ctr">
                    <a:solidFill>
                      <a:srgbClr val="F7DFA1"/>
                    </a:solidFill>
                  </a:tcPr>
                </a:tc>
                <a:tc>
                  <a:txBody>
                    <a:bodyPr/>
                    <a:lstStyle/>
                    <a:p>
                      <a:r>
                        <a:rPr sz="2400">
                          <a:solidFill>
                            <a:srgbClr val="173047"/>
                          </a:solidFill>
                          <a:latin typeface="Arial"/>
                          <a:ea typeface="Arial"/>
                          <a:cs typeface="Arial"/>
                        </a:rPr>
                        <a:t>−1/2</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30</a:t>
                      </a:r>
                    </a:p>
                  </a:txBody>
                  <a:tcPr marL="114300" marR="114300" marT="66675" marB="66675" anchor="ctr">
                    <a:solidFill>
                      <a:srgbClr val="FFFFFF"/>
                    </a:solidFill>
                  </a:tcPr>
                </a:tc>
              </a:tr>
              <a:tr h="657225">
                <a:tc>
                  <a:txBody>
                    <a:bodyPr/>
                    <a:lstStyle/>
                    <a:p>
                      <a:r>
                        <a:rPr sz="2400">
                          <a:solidFill>
                            <a:srgbClr val="173047"/>
                          </a:solidFill>
                          <a:latin typeface="Arial"/>
                          <a:ea typeface="Arial"/>
                          <a:cs typeface="Arial"/>
                        </a:rPr>
                        <a:t>Δ</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Z=200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1698A58-BB80-4A00-8159-BCF92E6B418E}"/>
              </a:ext>
            </a:extLst>
          </p:cNvPr>
          <p:cNvSpPr>
            <a:spLocks xmlns:a="http://schemas.openxmlformats.org/drawingml/2006/main" noGrp="1"/>
          </p:cNvSpPr>
          <p:nvPr/>
        </p:nvSpPr>
        <p:spPr>
          <a:xfrm xmlns:a="http://schemas.openxmlformats.org/drawingml/2006/main">
            <a:off x="762000" y="4667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Перший крок: min(100/2,80/1)=50 → CPU вичерпано.</a:t>
            </a:r>
          </a:p>
        </p:txBody>
      </p:sp>
      <p:sp>
        <p:nvSpPr>
          <p:cNvPr id="8" name="">
            <a:extLst xmlns:a="http://schemas.openxmlformats.org/drawingml/2006/main">
              <a:ext uri="{FF2B5EF4-FFF2-40B4-BE49-F238E27FC236}">
                <a16:creationId xmlns:a16="http://schemas.microsoft.com/office/drawing/2014/main" id="{2D6602E8-225F-428D-86B3-BB25C5AA3EF8}"/>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15</a:t>
            </a:r>
          </a:p>
        </p:txBody>
      </p:sp>
    </p:spTree>
    <p:extLst>
      <p:ext uri="{BB962C8B-B14F-4D97-AF65-F5344CB8AC3E}">
        <p14:creationId xmlns:p14="http://schemas.microsoft.com/office/powerpoint/2010/main" val="75741541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7AAB8E-FC86-4658-A671-C214DD20FC39}"/>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Симплекс: перерахунок другого переходу</a:t>
            </a:r>
          </a:p>
        </p:txBody>
      </p:sp>
      <p:sp>
        <p:nvSpPr>
          <p:cNvPr id="2" name="">
            <a:extLst xmlns:a="http://schemas.openxmlformats.org/drawingml/2006/main">
              <a:ext uri="{FF2B5EF4-FFF2-40B4-BE49-F238E27FC236}">
                <a16:creationId xmlns:a16="http://schemas.microsoft.com/office/drawing/2014/main" id="{5A175F46-EEE3-40E0-991F-33ED0FCC505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Оцінки вільних змінних непозитивні. Подальшого збільшення Z немає.</a:t>
            </a:r>
          </a:p>
        </p:txBody>
      </p:sp>
      <p:sp>
        <p:nvSpPr>
          <p:cNvPr id="3" name="">
            <a:extLst xmlns:a="http://schemas.openxmlformats.org/drawingml/2006/main">
              <a:ext uri="{FF2B5EF4-FFF2-40B4-BE49-F238E27FC236}">
                <a16:creationId xmlns:a16="http://schemas.microsoft.com/office/drawing/2014/main" id="{2DDA1798-5F3F-43CF-8629-F4BCA94ECC54}"/>
              </a:ext>
            </a:extLst>
          </p:cNvPr>
          <p:cNvSpPr>
            <a:spLocks xmlns:a="http://schemas.openxmlformats.org/drawingml/2006/main" noGrp="1"/>
          </p:cNvSpPr>
          <p:nvPr/>
        </p:nvSpPr>
        <p:spPr>
          <a:xfrm xmlns:a="http://schemas.openxmlformats.org/drawingml/2006/main">
            <a:off x="762000" y="1619250"/>
            <a:ext cx="447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Ведучий елемент: 3/2</a:t>
            </a:r>
          </a:p>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R₂ нова = R₂ / (3/2)</a:t>
            </a:r>
          </a:p>
          <a:p xmlns:a="http://schemas.openxmlformats.org/drawingml/2006/main">
            <a:r>
              <a:t/>
            </a:r>
          </a:p>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Занулюємо x₂ у першому рядку:</a:t>
            </a:r>
          </a:p>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R₁ нова = R₁ − 0,5·R₂ нова</a:t>
            </a:r>
          </a:p>
        </p:txBody>
      </p:sp>
      <p:graphicFrame>
        <p:nvGraphicFramePr>
          <p:cNvPr id="10" name="">
            <a:extLst xmlns:a="http://schemas.openxmlformats.org/drawingml/2006/main">
              <a:ext uri="{FF2B5EF4-FFF2-40B4-BE49-F238E27FC236}">
                <a16:creationId xmlns:a16="http://schemas.microsoft.com/office/drawing/2014/main" id="{798764A7-DFAB-4B62-87A2-243324BDAD15}"/>
              </a:ext>
            </a:extLst>
          </p:cNvPr>
          <p:cNvGraphicFramePr/>
          <p:nvPr/>
        </p:nvGraphicFramePr>
        <p:xfrm>
          <a:off xmlns:a="http://schemas.openxmlformats.org/drawingml/2006/main" x="5429250" y="1619250"/>
          <a:ext xmlns:a="http://schemas.openxmlformats.org/drawingml/2006/main" cx="6000750" cy="2667000"/>
        </p:xfrm>
        <a:graphic xmlns:a="http://schemas.openxmlformats.org/drawingml/2006/main">
          <a:graphicData uri="http://schemas.openxmlformats.org/drawingml/2006/table">
            <a:tbl>
              <a:tblPr/>
              <a:tblGrid>
                <a:gridCol w="1095375"/>
                <a:gridCol w="762000"/>
                <a:gridCol w="762000"/>
                <a:gridCol w="1047750"/>
                <a:gridCol w="1143000"/>
                <a:gridCol w="1190625"/>
              </a:tblGrid>
              <a:tr h="666750">
                <a:tc>
                  <a:txBody>
                    <a:bodyPr/>
                    <a:lstStyle/>
                    <a:p>
                      <a:r>
                        <a:rPr sz="2100" b="1">
                          <a:solidFill>
                            <a:srgbClr val="FFFFFF"/>
                          </a:solidFill>
                          <a:latin typeface="Arial"/>
                          <a:ea typeface="Arial"/>
                          <a:cs typeface="Arial"/>
                        </a:rPr>
                        <a:t>Базис</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x₁</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x₂</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sCPU</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sMEM</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b</a:t>
                      </a:r>
                    </a:p>
                  </a:txBody>
                  <a:tcPr marL="114300" marR="114300" marT="66675" marB="66675" anchor="ctr">
                    <a:solidFill>
                      <a:srgbClr val="173047"/>
                    </a:solidFill>
                  </a:tcPr>
                </a:tc>
              </a:tr>
              <a:tr h="666750">
                <a:tc>
                  <a:txBody>
                    <a:bodyPr/>
                    <a:lstStyle/>
                    <a:p>
                      <a:r>
                        <a:rPr sz="2100">
                          <a:solidFill>
                            <a:srgbClr val="173047"/>
                          </a:solidFill>
                          <a:latin typeface="Arial"/>
                          <a:ea typeface="Arial"/>
                          <a:cs typeface="Arial"/>
                        </a:rPr>
                        <a:t>x₁</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2/3</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−1/3</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40</a:t>
                      </a:r>
                    </a:p>
                  </a:txBody>
                  <a:tcPr marL="114300" marR="114300" marT="66675" marB="66675" anchor="ctr">
                    <a:solidFill>
                      <a:srgbClr val="FFFFFF"/>
                    </a:solidFill>
                  </a:tcPr>
                </a:tc>
              </a:tr>
              <a:tr h="666750">
                <a:tc>
                  <a:txBody>
                    <a:bodyPr/>
                    <a:lstStyle/>
                    <a:p>
                      <a:r>
                        <a:rPr sz="2100">
                          <a:solidFill>
                            <a:srgbClr val="173047"/>
                          </a:solidFill>
                          <a:latin typeface="Arial"/>
                          <a:ea typeface="Arial"/>
                          <a:cs typeface="Arial"/>
                        </a:rPr>
                        <a:t>x₂</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1</a:t>
                      </a:r>
                    </a:p>
                  </a:txBody>
                  <a:tcPr marL="114300" marR="114300" marT="66675" marB="66675" anchor="ctr">
                    <a:solidFill>
                      <a:srgbClr val="D6F0E9"/>
                    </a:solidFill>
                  </a:tcPr>
                </a:tc>
                <a:tc>
                  <a:txBody>
                    <a:bodyPr/>
                    <a:lstStyle/>
                    <a:p>
                      <a:pPr algn="ctr">
                        <a:buNone/>
                      </a:pPr>
                      <a:r>
                        <a:rPr sz="2100">
                          <a:solidFill>
                            <a:srgbClr val="173047"/>
                          </a:solidFill>
                          <a:latin typeface="Arial"/>
                          <a:ea typeface="Arial"/>
                          <a:cs typeface="Arial"/>
                        </a:rPr>
                        <a:t>−1/3</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2/3</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20</a:t>
                      </a:r>
                    </a:p>
                  </a:txBody>
                  <a:tcPr marL="114300" marR="114300" marT="66675" marB="66675" anchor="ctr">
                    <a:solidFill>
                      <a:srgbClr val="FFFFFF"/>
                    </a:solidFill>
                  </a:tcPr>
                </a:tc>
              </a:tr>
              <a:tr h="666750">
                <a:tc>
                  <a:txBody>
                    <a:bodyPr/>
                    <a:lstStyle/>
                    <a:p>
                      <a:r>
                        <a:rPr sz="2100">
                          <a:solidFill>
                            <a:srgbClr val="173047"/>
                          </a:solidFill>
                          <a:latin typeface="Arial"/>
                          <a:ea typeface="Arial"/>
                          <a:cs typeface="Arial"/>
                        </a:rPr>
                        <a:t>Δ</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−5/3</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−2/3</a:t>
                      </a:r>
                    </a:p>
                  </a:txBody>
                  <a:tcPr marL="114300" marR="114300" marT="66675" marB="66675" anchor="ctr">
                    <a:solidFill>
                      <a:srgbClr val="FFFFFF"/>
                    </a:solidFill>
                  </a:tcPr>
                </a:tc>
                <a:tc>
                  <a:txBody>
                    <a:bodyPr/>
                    <a:lstStyle/>
                    <a:p>
                      <a:pPr algn="ctr">
                        <a:buNone/>
                      </a:pPr>
                      <a:r>
                        <a:rPr sz="2100">
                          <a:solidFill>
                            <a:srgbClr val="173047"/>
                          </a:solidFill>
                          <a:latin typeface="Arial"/>
                          <a:ea typeface="Arial"/>
                          <a:cs typeface="Arial"/>
                        </a:rPr>
                        <a:t>Z=220</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03FBE73-285F-4EA9-9FE5-CC41B79AC795}"/>
              </a:ext>
            </a:extLst>
          </p:cNvPr>
          <p:cNvSpPr>
            <a:spLocks xmlns:a="http://schemas.openxmlformats.org/drawingml/2006/main" noGrp="1"/>
          </p:cNvSpPr>
          <p:nvPr/>
        </p:nvSpPr>
        <p:spPr>
          <a:xfrm xmlns:a="http://schemas.openxmlformats.org/drawingml/2006/main">
            <a:off x="762000" y="45434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75" b="1">
                <a:solidFill>
                  <a:srgbClr val="00857D"/>
                </a:solidFill>
                <a:latin typeface="Arial"/>
                <a:ea typeface="Arial"/>
                <a:cs typeface="Arial"/>
              </a:defRPr>
            </a:pPr>
            <a:r>
              <a:rPr sz="2475" b="1">
                <a:solidFill>
                  <a:srgbClr val="00857D"/>
                </a:solidFill>
                <a:latin typeface="Arial"/>
                <a:ea typeface="Arial"/>
                <a:cs typeface="Arial"/>
              </a:rPr>
              <a:t>Δ нова = Δ стара − 1·R₂ нова</a:t>
            </a:r>
          </a:p>
          <a:p xmlns:a="http://schemas.openxmlformats.org/drawingml/2006/main">
            <a:pPr algn="l">
              <a:buNone/>
              <a:defRPr sz="2475" b="1">
                <a:solidFill>
                  <a:srgbClr val="00857D"/>
                </a:solidFill>
                <a:latin typeface="Arial"/>
                <a:ea typeface="Arial"/>
                <a:cs typeface="Arial"/>
              </a:defRPr>
            </a:pPr>
            <a:r>
              <a:rPr sz="2475" b="1">
                <a:solidFill>
                  <a:srgbClr val="00857D"/>
                </a:solidFill>
                <a:latin typeface="Arial"/>
                <a:ea typeface="Arial"/>
                <a:cs typeface="Arial"/>
              </a:rPr>
              <a:t>Z = 200 + 1·20 = 220</a:t>
            </a:r>
          </a:p>
        </p:txBody>
      </p:sp>
      <p:sp>
        <p:nvSpPr>
          <p:cNvPr id="6" name="">
            <a:extLst xmlns:a="http://schemas.openxmlformats.org/drawingml/2006/main">
              <a:ext uri="{FF2B5EF4-FFF2-40B4-BE49-F238E27FC236}">
                <a16:creationId xmlns:a16="http://schemas.microsoft.com/office/drawing/2014/main" id="{A5ECB04D-0E29-4C02-9138-CEC245AAED42}"/>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16</a:t>
            </a:r>
          </a:p>
        </p:txBody>
      </p:sp>
    </p:spTree>
    <p:extLst>
      <p:ext uri="{BB962C8B-B14F-4D97-AF65-F5344CB8AC3E}">
        <p14:creationId xmlns:p14="http://schemas.microsoft.com/office/powerpoint/2010/main" val="16654783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31B8EB-A17C-486B-A281-914EFC1A5002}"/>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Симплекс: оптимальна таблиця</a:t>
            </a:r>
          </a:p>
        </p:txBody>
      </p:sp>
      <p:sp>
        <p:nvSpPr>
          <p:cNvPr id="2" name="">
            <a:extLst xmlns:a="http://schemas.openxmlformats.org/drawingml/2006/main">
              <a:ext uri="{FF2B5EF4-FFF2-40B4-BE49-F238E27FC236}">
                <a16:creationId xmlns:a16="http://schemas.microsoft.com/office/drawing/2014/main" id="{0FD73C63-2642-49D0-9426-B2360E2852E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Небазисні sCPU,sMEM мають Δ≤0: поліпшення цілі вже немає.</a:t>
            </a:r>
          </a:p>
        </p:txBody>
      </p:sp>
      <p:graphicFrame>
        <p:nvGraphicFramePr>
          <p:cNvPr id="11" name="">
            <a:extLst xmlns:a="http://schemas.openxmlformats.org/drawingml/2006/main">
              <a:ext uri="{FF2B5EF4-FFF2-40B4-BE49-F238E27FC236}">
                <a16:creationId xmlns:a16="http://schemas.microsoft.com/office/drawing/2014/main" id="{9EA98CC3-5616-4580-AC49-5E74E7AA2B34}"/>
              </a:ext>
            </a:extLst>
          </p:cNvPr>
          <p:cNvGraphicFramePr/>
          <p:nvPr/>
        </p:nvGraphicFramePr>
        <p:xfrm>
          <a:off xmlns:a="http://schemas.openxmlformats.org/drawingml/2006/main" x="762000" y="1743075"/>
          <a:ext xmlns:a="http://schemas.openxmlformats.org/drawingml/2006/main" cx="10668000" cy="2628900"/>
        </p:xfrm>
        <a:graphic xmlns:a="http://schemas.openxmlformats.org/drawingml/2006/main">
          <a:graphicData uri="http://schemas.openxmlformats.org/drawingml/2006/table">
            <a:tbl>
              <a:tblPr/>
              <a:tblGrid>
                <a:gridCol w="2286000"/>
                <a:gridCol w="1676400"/>
                <a:gridCol w="1676400"/>
                <a:gridCol w="1676400"/>
                <a:gridCol w="1676400"/>
                <a:gridCol w="1676400"/>
              </a:tblGrid>
              <a:tr h="657225">
                <a:tc>
                  <a:txBody>
                    <a:bodyPr/>
                    <a:lstStyle/>
                    <a:p>
                      <a:r>
                        <a:rPr sz="2400" b="1">
                          <a:solidFill>
                            <a:srgbClr val="FFFFFF"/>
                          </a:solidFill>
                          <a:latin typeface="Arial"/>
                          <a:ea typeface="Arial"/>
                          <a:cs typeface="Arial"/>
                        </a:rPr>
                        <a:t>Базис</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x₁</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x₂</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sCPU</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sMEM</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b</a:t>
                      </a:r>
                    </a:p>
                  </a:txBody>
                  <a:tcPr marL="114300" marR="114300" marT="66675" marB="66675" anchor="ctr">
                    <a:solidFill>
                      <a:srgbClr val="173047"/>
                    </a:solidFill>
                  </a:tcPr>
                </a:tc>
              </a:tr>
              <a:tr h="657225">
                <a:tc>
                  <a:txBody>
                    <a:bodyPr/>
                    <a:lstStyle/>
                    <a:p>
                      <a:r>
                        <a:rPr sz="2400">
                          <a:solidFill>
                            <a:srgbClr val="173047"/>
                          </a:solidFill>
                          <a:latin typeface="Arial"/>
                          <a:ea typeface="Arial"/>
                          <a:cs typeface="Arial"/>
                        </a:rPr>
                        <a:t>x₁</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2/3</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−1/3</a:t>
                      </a:r>
                    </a:p>
                  </a:txBody>
                  <a:tcPr marL="114300" marR="114300" marT="66675" marB="66675" anchor="ctr">
                    <a:solidFill>
                      <a:srgbClr val="FFFFFF"/>
                    </a:solidFill>
                  </a:tcPr>
                </a:tc>
                <a:tc>
                  <a:txBody>
                    <a:bodyPr/>
                    <a:lstStyle/>
                    <a:p>
                      <a:r>
                        <a:rPr sz="2400">
                          <a:solidFill>
                            <a:srgbClr val="173047"/>
                          </a:solidFill>
                          <a:latin typeface="Arial"/>
                          <a:ea typeface="Arial"/>
                          <a:cs typeface="Arial"/>
                        </a:rPr>
                        <a:t>40</a:t>
                      </a:r>
                    </a:p>
                  </a:txBody>
                  <a:tcPr marL="114300" marR="114300" marT="66675" marB="66675" anchor="ctr">
                    <a:solidFill>
                      <a:srgbClr val="FFFFFF"/>
                    </a:solidFill>
                  </a:tcPr>
                </a:tc>
              </a:tr>
              <a:tr h="657225">
                <a:tc>
                  <a:txBody>
                    <a:bodyPr/>
                    <a:lstStyle/>
                    <a:p>
                      <a:r>
                        <a:rPr sz="2400">
                          <a:solidFill>
                            <a:srgbClr val="173047"/>
                          </a:solidFill>
                          <a:latin typeface="Arial"/>
                          <a:ea typeface="Arial"/>
                          <a:cs typeface="Arial"/>
                        </a:rPr>
                        <a:t>x₂</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−1/3</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2/3</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20</a:t>
                      </a:r>
                    </a:p>
                  </a:txBody>
                  <a:tcPr marL="114300" marR="114300" marT="66675" marB="66675" anchor="ctr">
                    <a:solidFill>
                      <a:srgbClr val="FFFFFF"/>
                    </a:solidFill>
                  </a:tcPr>
                </a:tc>
              </a:tr>
              <a:tr h="657225">
                <a:tc>
                  <a:txBody>
                    <a:bodyPr/>
                    <a:lstStyle/>
                    <a:p>
                      <a:r>
                        <a:rPr sz="2400">
                          <a:solidFill>
                            <a:srgbClr val="173047"/>
                          </a:solidFill>
                          <a:latin typeface="Arial"/>
                          <a:ea typeface="Arial"/>
                          <a:cs typeface="Arial"/>
                        </a:rPr>
                        <a:t>Δ</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−5/3</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−2/3</a:t>
                      </a:r>
                    </a:p>
                  </a:txBody>
                  <a:tcPr marL="114300" marR="114300" marT="66675" marB="66675" anchor="ctr">
                    <a:solidFill>
                      <a:srgbClr val="FFFFFF"/>
                    </a:solidFill>
                  </a:tcPr>
                </a:tc>
                <a:tc>
                  <a:txBody>
                    <a:bodyPr/>
                    <a:lstStyle/>
                    <a:p>
                      <a:r>
                        <a:rPr sz="2400">
                          <a:solidFill>
                            <a:srgbClr val="173047"/>
                          </a:solidFill>
                          <a:latin typeface="Arial"/>
                          <a:ea typeface="Arial"/>
                          <a:cs typeface="Arial"/>
                        </a:rPr>
                        <a:t>Z=220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5079A74-E2AC-40B6-91C2-03E9FACC6755}"/>
              </a:ext>
            </a:extLst>
          </p:cNvPr>
          <p:cNvSpPr>
            <a:spLocks xmlns:a="http://schemas.openxmlformats.org/drawingml/2006/main" noGrp="1"/>
          </p:cNvSpPr>
          <p:nvPr/>
        </p:nvSpPr>
        <p:spPr>
          <a:xfrm xmlns:a="http://schemas.openxmlformats.org/drawingml/2006/main">
            <a:off x="762000" y="46482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Другий крок θ=20; </a:t>
            </a:r>
            <a:r>
              <a:rPr sz="2250" b="0">
                <a:solidFill>
                  <a:srgbClr val="173047"/>
                </a:solidFill>
                <a:latin typeface="Arial"/>
                <a:ea typeface="Arial"/>
                <a:cs typeface="Arial"/>
              </a:rPr>
              <a:t>ведучий елемент 3</a:t>
            </a:r>
            <a:r>
              <a:rPr sz="2250" b="0">
                <a:solidFill>
                  <a:srgbClr val="173047"/>
                </a:solidFill>
                <a:latin typeface="Arial"/>
                <a:ea typeface="Arial"/>
                <a:cs typeface="Arial"/>
              </a:rPr>
              <a:t>/2.</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Новий базис x₁,x₂; Z=220.</a:t>
            </a:r>
          </a:p>
        </p:txBody>
      </p:sp>
      <p:sp>
        <p:nvSpPr>
          <p:cNvPr id="8" name="">
            <a:extLst xmlns:a="http://schemas.openxmlformats.org/drawingml/2006/main">
              <a:ext uri="{FF2B5EF4-FFF2-40B4-BE49-F238E27FC236}">
                <a16:creationId xmlns:a16="http://schemas.microsoft.com/office/drawing/2014/main" id="{3C1232A6-378E-4672-81BC-9602170482B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17</a:t>
            </a:r>
          </a:p>
        </p:txBody>
      </p:sp>
    </p:spTree>
    <p:extLst>
      <p:ext uri="{BB962C8B-B14F-4D97-AF65-F5344CB8AC3E}">
        <p14:creationId xmlns:p14="http://schemas.microsoft.com/office/powerpoint/2010/main" val="4850233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C584580-3CFA-4C47-AE05-EA2D4F3E248A}"/>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Коли зупиняємося</a:t>
            </a:r>
          </a:p>
        </p:txBody>
      </p:sp>
      <p:sp>
        <p:nvSpPr>
          <p:cNvPr id="3" name="">
            <a:extLst xmlns:a="http://schemas.openxmlformats.org/drawingml/2006/main">
              <a:ext uri="{FF2B5EF4-FFF2-40B4-BE49-F238E27FC236}">
                <a16:creationId xmlns:a16="http://schemas.microsoft.com/office/drawing/2014/main" id="{0E4EEFDA-5D04-43A5-AF01-41C4B114CCB1}"/>
              </a:ext>
            </a:extLst>
          </p:cNvPr>
          <p:cNvSpPr>
            <a:spLocks xmlns:a="http://schemas.openxmlformats.org/drawingml/2006/main" noGrp="1"/>
          </p:cNvSpPr>
          <p:nvPr/>
        </p:nvSpPr>
        <p:spPr>
          <a:xfrm xmlns:a="http://schemas.openxmlformats.org/drawingml/2006/main">
            <a:off x="742950" y="1971675"/>
            <a:ext cx="3286125" cy="8667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C5B7F0FA-73B1-40D6-A5A7-F439438A725E}"/>
              </a:ext>
            </a:extLst>
          </p:cNvPr>
          <p:cNvSpPr>
            <a:spLocks xmlns:a="http://schemas.openxmlformats.org/drawingml/2006/main" noGrp="1"/>
          </p:cNvSpPr>
          <p:nvPr/>
        </p:nvSpPr>
        <p:spPr>
          <a:xfrm xmlns:a="http://schemas.openxmlformats.org/drawingml/2006/main">
            <a:off x="838200" y="2047875"/>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Вершина</a:t>
            </a:r>
          </a:p>
        </p:txBody>
      </p:sp>
      <p:sp>
        <p:nvSpPr>
          <p:cNvPr id="5" name="">
            <a:extLst xmlns:a="http://schemas.openxmlformats.org/drawingml/2006/main">
              <a:ext uri="{FF2B5EF4-FFF2-40B4-BE49-F238E27FC236}">
                <a16:creationId xmlns:a16="http://schemas.microsoft.com/office/drawing/2014/main" id="{0762CA7D-5025-427C-8B99-DD0372C1764E}"/>
              </a:ext>
            </a:extLst>
          </p:cNvPr>
          <p:cNvSpPr>
            <a:spLocks xmlns:a="http://schemas.openxmlformats.org/drawingml/2006/main" noGrp="1"/>
          </p:cNvSpPr>
          <p:nvPr/>
        </p:nvSpPr>
        <p:spPr>
          <a:xfrm xmlns:a="http://schemas.openxmlformats.org/drawingml/2006/main">
            <a:off x="4029075" y="1971675"/>
            <a:ext cx="2514600" cy="8667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BC534C19-E622-4B08-90D9-A9EC2160C0F8}"/>
              </a:ext>
            </a:extLst>
          </p:cNvPr>
          <p:cNvSpPr>
            <a:spLocks xmlns:a="http://schemas.openxmlformats.org/drawingml/2006/main" noGrp="1"/>
          </p:cNvSpPr>
          <p:nvPr/>
        </p:nvSpPr>
        <p:spPr>
          <a:xfrm xmlns:a="http://schemas.openxmlformats.org/drawingml/2006/main">
            <a:off x="4124325" y="2047875"/>
            <a:ext cx="2324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Z</a:t>
            </a:r>
          </a:p>
        </p:txBody>
      </p:sp>
      <p:sp>
        <p:nvSpPr>
          <p:cNvPr id="7" name="">
            <a:extLst xmlns:a="http://schemas.openxmlformats.org/drawingml/2006/main">
              <a:ext uri="{FF2B5EF4-FFF2-40B4-BE49-F238E27FC236}">
                <a16:creationId xmlns:a16="http://schemas.microsoft.com/office/drawing/2014/main" id="{2A141674-80F3-406C-9A2A-963AD2213973}"/>
              </a:ext>
            </a:extLst>
          </p:cNvPr>
          <p:cNvSpPr>
            <a:spLocks xmlns:a="http://schemas.openxmlformats.org/drawingml/2006/main" noGrp="1"/>
          </p:cNvSpPr>
          <p:nvPr/>
        </p:nvSpPr>
        <p:spPr>
          <a:xfrm xmlns:a="http://schemas.openxmlformats.org/drawingml/2006/main">
            <a:off x="6543675" y="1971675"/>
            <a:ext cx="4905375" cy="8667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34601827-767C-4D36-A532-806F83C2F595}"/>
              </a:ext>
            </a:extLst>
          </p:cNvPr>
          <p:cNvSpPr>
            <a:spLocks xmlns:a="http://schemas.openxmlformats.org/drawingml/2006/main" noGrp="1"/>
          </p:cNvSpPr>
          <p:nvPr/>
        </p:nvSpPr>
        <p:spPr>
          <a:xfrm xmlns:a="http://schemas.openxmlformats.org/drawingml/2006/main">
            <a:off x="6638925" y="2047875"/>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Роль</a:t>
            </a:r>
          </a:p>
        </p:txBody>
      </p:sp>
      <p:sp>
        <p:nvSpPr>
          <p:cNvPr id="9" name="">
            <a:extLst xmlns:a="http://schemas.openxmlformats.org/drawingml/2006/main">
              <a:ext uri="{FF2B5EF4-FFF2-40B4-BE49-F238E27FC236}">
                <a16:creationId xmlns:a16="http://schemas.microsoft.com/office/drawing/2014/main" id="{4E2C3584-CEDD-4F3E-997B-EE4A5BE83443}"/>
              </a:ext>
            </a:extLst>
          </p:cNvPr>
          <p:cNvSpPr>
            <a:spLocks xmlns:a="http://schemas.openxmlformats.org/drawingml/2006/main" noGrp="1"/>
          </p:cNvSpPr>
          <p:nvPr/>
        </p:nvSpPr>
        <p:spPr>
          <a:xfrm xmlns:a="http://schemas.openxmlformats.org/drawingml/2006/main">
            <a:off x="742950" y="2838450"/>
            <a:ext cx="3286125" cy="8667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F0B0AB74-2687-468A-81AA-0CEFD05F13F7}"/>
              </a:ext>
            </a:extLst>
          </p:cNvPr>
          <p:cNvSpPr>
            <a:spLocks xmlns:a="http://schemas.openxmlformats.org/drawingml/2006/main" noGrp="1"/>
          </p:cNvSpPr>
          <p:nvPr/>
        </p:nvSpPr>
        <p:spPr>
          <a:xfrm xmlns:a="http://schemas.openxmlformats.org/drawingml/2006/main">
            <a:off x="838200" y="291465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(50,0)</a:t>
            </a:r>
          </a:p>
        </p:txBody>
      </p:sp>
      <p:sp>
        <p:nvSpPr>
          <p:cNvPr id="11" name="">
            <a:extLst xmlns:a="http://schemas.openxmlformats.org/drawingml/2006/main">
              <a:ext uri="{FF2B5EF4-FFF2-40B4-BE49-F238E27FC236}">
                <a16:creationId xmlns:a16="http://schemas.microsoft.com/office/drawing/2014/main" id="{DC97C3AD-E22B-4400-A94B-6E4D02669682}"/>
              </a:ext>
            </a:extLst>
          </p:cNvPr>
          <p:cNvSpPr>
            <a:spLocks xmlns:a="http://schemas.openxmlformats.org/drawingml/2006/main" noGrp="1"/>
          </p:cNvSpPr>
          <p:nvPr/>
        </p:nvSpPr>
        <p:spPr>
          <a:xfrm xmlns:a="http://schemas.openxmlformats.org/drawingml/2006/main">
            <a:off x="4029075" y="2838450"/>
            <a:ext cx="2514600" cy="8667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EBBBD3EA-54D2-4541-829E-4F045A2D27FA}"/>
              </a:ext>
            </a:extLst>
          </p:cNvPr>
          <p:cNvSpPr>
            <a:spLocks xmlns:a="http://schemas.openxmlformats.org/drawingml/2006/main" noGrp="1"/>
          </p:cNvSpPr>
          <p:nvPr/>
        </p:nvSpPr>
        <p:spPr>
          <a:xfrm xmlns:a="http://schemas.openxmlformats.org/drawingml/2006/main">
            <a:off x="4124325" y="2914650"/>
            <a:ext cx="2324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200</a:t>
            </a:r>
          </a:p>
        </p:txBody>
      </p:sp>
      <p:sp>
        <p:nvSpPr>
          <p:cNvPr id="13" name="">
            <a:extLst xmlns:a="http://schemas.openxmlformats.org/drawingml/2006/main">
              <a:ext uri="{FF2B5EF4-FFF2-40B4-BE49-F238E27FC236}">
                <a16:creationId xmlns:a16="http://schemas.microsoft.com/office/drawing/2014/main" id="{502D11A5-DA5C-483B-B8A5-BB04817647F7}"/>
              </a:ext>
            </a:extLst>
          </p:cNvPr>
          <p:cNvSpPr>
            <a:spLocks xmlns:a="http://schemas.openxmlformats.org/drawingml/2006/main" noGrp="1"/>
          </p:cNvSpPr>
          <p:nvPr/>
        </p:nvSpPr>
        <p:spPr>
          <a:xfrm xmlns:a="http://schemas.openxmlformats.org/drawingml/2006/main">
            <a:off x="6543675" y="2838450"/>
            <a:ext cx="4905375" cy="8667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40871B1D-6764-4FE9-91DB-46F5074226E4}"/>
              </a:ext>
            </a:extLst>
          </p:cNvPr>
          <p:cNvSpPr>
            <a:spLocks xmlns:a="http://schemas.openxmlformats.org/drawingml/2006/main" noGrp="1"/>
          </p:cNvSpPr>
          <p:nvPr/>
        </p:nvSpPr>
        <p:spPr>
          <a:xfrm xmlns:a="http://schemas.openxmlformats.org/drawingml/2006/main">
            <a:off x="6638925" y="2914650"/>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Сусід</a:t>
            </a:r>
          </a:p>
        </p:txBody>
      </p:sp>
      <p:sp>
        <p:nvSpPr>
          <p:cNvPr id="15" name="">
            <a:extLst xmlns:a="http://schemas.openxmlformats.org/drawingml/2006/main">
              <a:ext uri="{FF2B5EF4-FFF2-40B4-BE49-F238E27FC236}">
                <a16:creationId xmlns:a16="http://schemas.microsoft.com/office/drawing/2014/main" id="{785C93D7-41FE-4D00-8C04-295226C11DDD}"/>
              </a:ext>
            </a:extLst>
          </p:cNvPr>
          <p:cNvSpPr>
            <a:spLocks xmlns:a="http://schemas.openxmlformats.org/drawingml/2006/main" noGrp="1"/>
          </p:cNvSpPr>
          <p:nvPr/>
        </p:nvSpPr>
        <p:spPr>
          <a:xfrm xmlns:a="http://schemas.openxmlformats.org/drawingml/2006/main">
            <a:off x="742950" y="3705225"/>
            <a:ext cx="3286125" cy="8667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5F83C157-9A13-41D0-9DD4-38E2DD790055}"/>
              </a:ext>
            </a:extLst>
          </p:cNvPr>
          <p:cNvSpPr>
            <a:spLocks xmlns:a="http://schemas.openxmlformats.org/drawingml/2006/main" noGrp="1"/>
          </p:cNvSpPr>
          <p:nvPr/>
        </p:nvSpPr>
        <p:spPr>
          <a:xfrm xmlns:a="http://schemas.openxmlformats.org/drawingml/2006/main">
            <a:off x="838200" y="3781425"/>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(40,20)</a:t>
            </a:r>
          </a:p>
        </p:txBody>
      </p:sp>
      <p:sp>
        <p:nvSpPr>
          <p:cNvPr id="17" name="">
            <a:extLst xmlns:a="http://schemas.openxmlformats.org/drawingml/2006/main">
              <a:ext uri="{FF2B5EF4-FFF2-40B4-BE49-F238E27FC236}">
                <a16:creationId xmlns:a16="http://schemas.microsoft.com/office/drawing/2014/main" id="{ADB7A437-2346-46D0-AD56-1C15DDF02291}"/>
              </a:ext>
            </a:extLst>
          </p:cNvPr>
          <p:cNvSpPr>
            <a:spLocks xmlns:a="http://schemas.openxmlformats.org/drawingml/2006/main" noGrp="1"/>
          </p:cNvSpPr>
          <p:nvPr/>
        </p:nvSpPr>
        <p:spPr>
          <a:xfrm xmlns:a="http://schemas.openxmlformats.org/drawingml/2006/main">
            <a:off x="4029075" y="3705225"/>
            <a:ext cx="2514600" cy="8667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69FBF509-CCF9-491E-B013-96C86E5DE09F}"/>
              </a:ext>
            </a:extLst>
          </p:cNvPr>
          <p:cNvSpPr>
            <a:spLocks xmlns:a="http://schemas.openxmlformats.org/drawingml/2006/main" noGrp="1"/>
          </p:cNvSpPr>
          <p:nvPr/>
        </p:nvSpPr>
        <p:spPr>
          <a:xfrm xmlns:a="http://schemas.openxmlformats.org/drawingml/2006/main">
            <a:off x="4124325" y="3781425"/>
            <a:ext cx="2324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220</a:t>
            </a:r>
          </a:p>
        </p:txBody>
      </p:sp>
      <p:sp>
        <p:nvSpPr>
          <p:cNvPr id="19" name="">
            <a:extLst xmlns:a="http://schemas.openxmlformats.org/drawingml/2006/main">
              <a:ext uri="{FF2B5EF4-FFF2-40B4-BE49-F238E27FC236}">
                <a16:creationId xmlns:a16="http://schemas.microsoft.com/office/drawing/2014/main" id="{DA08A8ED-0985-4DF3-A37F-6BDB1347DBA6}"/>
              </a:ext>
            </a:extLst>
          </p:cNvPr>
          <p:cNvSpPr>
            <a:spLocks xmlns:a="http://schemas.openxmlformats.org/drawingml/2006/main" noGrp="1"/>
          </p:cNvSpPr>
          <p:nvPr/>
        </p:nvSpPr>
        <p:spPr>
          <a:xfrm xmlns:a="http://schemas.openxmlformats.org/drawingml/2006/main">
            <a:off x="6543675" y="3705225"/>
            <a:ext cx="4905375" cy="8667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A47389F7-E566-4BFA-AEC9-27CE83BF1BCA}"/>
              </a:ext>
            </a:extLst>
          </p:cNvPr>
          <p:cNvSpPr>
            <a:spLocks xmlns:a="http://schemas.openxmlformats.org/drawingml/2006/main" noGrp="1"/>
          </p:cNvSpPr>
          <p:nvPr/>
        </p:nvSpPr>
        <p:spPr>
          <a:xfrm xmlns:a="http://schemas.openxmlformats.org/drawingml/2006/main">
            <a:off x="6638925" y="3781425"/>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Поточний план</a:t>
            </a:r>
          </a:p>
        </p:txBody>
      </p:sp>
      <p:sp>
        <p:nvSpPr>
          <p:cNvPr id="21" name="">
            <a:extLst xmlns:a="http://schemas.openxmlformats.org/drawingml/2006/main">
              <a:ext uri="{FF2B5EF4-FFF2-40B4-BE49-F238E27FC236}">
                <a16:creationId xmlns:a16="http://schemas.microsoft.com/office/drawing/2014/main" id="{CA2D3180-2349-467A-BA0B-44C872323112}"/>
              </a:ext>
            </a:extLst>
          </p:cNvPr>
          <p:cNvSpPr>
            <a:spLocks xmlns:a="http://schemas.openxmlformats.org/drawingml/2006/main" noGrp="1"/>
          </p:cNvSpPr>
          <p:nvPr/>
        </p:nvSpPr>
        <p:spPr>
          <a:xfrm xmlns:a="http://schemas.openxmlformats.org/drawingml/2006/main">
            <a:off x="742950" y="4572000"/>
            <a:ext cx="3286125" cy="8667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1A38F835-A0E4-4B37-ABD2-C441A2174E57}"/>
              </a:ext>
            </a:extLst>
          </p:cNvPr>
          <p:cNvSpPr>
            <a:spLocks xmlns:a="http://schemas.openxmlformats.org/drawingml/2006/main" noGrp="1"/>
          </p:cNvSpPr>
          <p:nvPr/>
        </p:nvSpPr>
        <p:spPr>
          <a:xfrm xmlns:a="http://schemas.openxmlformats.org/drawingml/2006/main">
            <a:off x="838200" y="4648200"/>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(0,40)</a:t>
            </a:r>
          </a:p>
        </p:txBody>
      </p:sp>
      <p:sp>
        <p:nvSpPr>
          <p:cNvPr id="23" name="">
            <a:extLst xmlns:a="http://schemas.openxmlformats.org/drawingml/2006/main">
              <a:ext uri="{FF2B5EF4-FFF2-40B4-BE49-F238E27FC236}">
                <a16:creationId xmlns:a16="http://schemas.microsoft.com/office/drawing/2014/main" id="{6F57FA0F-C2E0-48F4-A27E-272C2B1E99EE}"/>
              </a:ext>
            </a:extLst>
          </p:cNvPr>
          <p:cNvSpPr>
            <a:spLocks xmlns:a="http://schemas.openxmlformats.org/drawingml/2006/main" noGrp="1"/>
          </p:cNvSpPr>
          <p:nvPr/>
        </p:nvSpPr>
        <p:spPr>
          <a:xfrm xmlns:a="http://schemas.openxmlformats.org/drawingml/2006/main">
            <a:off x="4029075" y="4572000"/>
            <a:ext cx="2514600" cy="8667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4EEC431C-ADB3-4FF5-B7C9-4801533601E2}"/>
              </a:ext>
            </a:extLst>
          </p:cNvPr>
          <p:cNvSpPr>
            <a:spLocks xmlns:a="http://schemas.openxmlformats.org/drawingml/2006/main" noGrp="1"/>
          </p:cNvSpPr>
          <p:nvPr/>
        </p:nvSpPr>
        <p:spPr>
          <a:xfrm xmlns:a="http://schemas.openxmlformats.org/drawingml/2006/main">
            <a:off x="4124325" y="4648200"/>
            <a:ext cx="2324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120</a:t>
            </a:r>
          </a:p>
        </p:txBody>
      </p:sp>
      <p:sp>
        <p:nvSpPr>
          <p:cNvPr id="25" name="">
            <a:extLst xmlns:a="http://schemas.openxmlformats.org/drawingml/2006/main">
              <a:ext uri="{FF2B5EF4-FFF2-40B4-BE49-F238E27FC236}">
                <a16:creationId xmlns:a16="http://schemas.microsoft.com/office/drawing/2014/main" id="{EBBF33B7-FFF3-4BDA-8ACA-D045EB364C6A}"/>
              </a:ext>
            </a:extLst>
          </p:cNvPr>
          <p:cNvSpPr>
            <a:spLocks xmlns:a="http://schemas.openxmlformats.org/drawingml/2006/main" noGrp="1"/>
          </p:cNvSpPr>
          <p:nvPr/>
        </p:nvSpPr>
        <p:spPr>
          <a:xfrm xmlns:a="http://schemas.openxmlformats.org/drawingml/2006/main">
            <a:off x="6543675" y="4572000"/>
            <a:ext cx="4905375" cy="8667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AA266D63-7065-4D5E-A2CD-38F135DF7495}"/>
              </a:ext>
            </a:extLst>
          </p:cNvPr>
          <p:cNvSpPr>
            <a:spLocks xmlns:a="http://schemas.openxmlformats.org/drawingml/2006/main" noGrp="1"/>
          </p:cNvSpPr>
          <p:nvPr/>
        </p:nvSpPr>
        <p:spPr>
          <a:xfrm xmlns:a="http://schemas.openxmlformats.org/drawingml/2006/main">
            <a:off x="6638925" y="4648200"/>
            <a:ext cx="4714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Сусід</a:t>
            </a:r>
          </a:p>
        </p:txBody>
      </p:sp>
      <p:sp>
        <p:nvSpPr>
          <p:cNvPr id="27" name="">
            <a:extLst xmlns:a="http://schemas.openxmlformats.org/drawingml/2006/main">
              <a:ext uri="{FF2B5EF4-FFF2-40B4-BE49-F238E27FC236}">
                <a16:creationId xmlns:a16="http://schemas.microsoft.com/office/drawing/2014/main" id="{325F590E-DAC8-46FC-9BF2-BCE9D88148C0}"/>
              </a:ext>
            </a:extLst>
          </p:cNvPr>
          <p:cNvSpPr>
            <a:spLocks xmlns:a="http://schemas.openxmlformats.org/drawingml/2006/main" noGrp="1"/>
          </p:cNvSpPr>
          <p:nvPr/>
        </p:nvSpPr>
        <p:spPr>
          <a:xfrm xmlns:a="http://schemas.openxmlformats.org/drawingml/2006/main">
            <a:off x="819150" y="55721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Базис: x₁=40, x₂=20; небазисні залишки sCPU=sMEM=0.</a:t>
            </a:r>
          </a:p>
        </p:txBody>
      </p:sp>
      <p:sp>
        <p:nvSpPr>
          <p:cNvPr id="29" name="">
            <a:extLst xmlns:a="http://schemas.openxmlformats.org/drawingml/2006/main">
              <a:ext uri="{FF2B5EF4-FFF2-40B4-BE49-F238E27FC236}">
                <a16:creationId xmlns:a16="http://schemas.microsoft.com/office/drawing/2014/main" id="{F68A32AE-9401-4160-AF87-6096E46D3AD1}"/>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18</a:t>
            </a:r>
          </a:p>
        </p:txBody>
      </p:sp>
    </p:spTree>
    <p:extLst>
      <p:ext uri="{BB962C8B-B14F-4D97-AF65-F5344CB8AC3E}">
        <p14:creationId xmlns:p14="http://schemas.microsoft.com/office/powerpoint/2010/main" val="7694344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EA3F4DCC-2B33-41C9-BC3A-2993279A4EC6}"/>
              </a:ext>
            </a:extLst>
          </p:cNvPr>
          <p:cNvCxnSpPr>
            <a:stCxn xmlns:a="http://schemas.openxmlformats.org/drawingml/2006/main" id="9" idx="3"/>
            <a:endCxn xmlns:a="http://schemas.openxmlformats.org/drawingml/2006/main" id="15" idx="1"/>
          </p:cNvCxnSpPr>
          <p:nvPr/>
        </p:nvCxnSpPr>
        <p:spPr>
          <a:xfrm xmlns:a="http://schemas.openxmlformats.org/drawingml/2006/main" flipV="1">
            <a:off x="5857875" y="4429125"/>
            <a:ext cx="2714625" cy="9525"/>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4" name="">
            <a:extLst xmlns:a="http://schemas.openxmlformats.org/drawingml/2006/main">
              <a:ext uri="{FF2B5EF4-FFF2-40B4-BE49-F238E27FC236}">
                <a16:creationId xmlns:a16="http://schemas.microsoft.com/office/drawing/2014/main" id="{F83BAB01-084A-4B2F-9656-C030BCA77540}"/>
              </a:ext>
            </a:extLst>
          </p:cNvPr>
          <p:cNvCxnSpPr>
            <a:stCxn xmlns:a="http://schemas.openxmlformats.org/drawingml/2006/main" id="5" idx="3"/>
            <a:endCxn xmlns:a="http://schemas.openxmlformats.org/drawingml/2006/main" id="13" idx="1"/>
          </p:cNvCxnSpPr>
          <p:nvPr/>
        </p:nvCxnSpPr>
        <p:spPr>
          <a:xfrm xmlns:a="http://schemas.openxmlformats.org/drawingml/2006/main">
            <a:off x="5429250" y="2514600"/>
            <a:ext cx="3143250" cy="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5" name="">
            <a:extLst xmlns:a="http://schemas.openxmlformats.org/drawingml/2006/main">
              <a:ext uri="{FF2B5EF4-FFF2-40B4-BE49-F238E27FC236}">
                <a16:creationId xmlns:a16="http://schemas.microsoft.com/office/drawing/2014/main" id="{DB5303C6-B364-43E6-B4B5-D9DF5FDEDC91}"/>
              </a:ext>
            </a:extLst>
          </p:cNvPr>
          <p:cNvCxnSpPr>
            <a:stCxn xmlns:a="http://schemas.openxmlformats.org/drawingml/2006/main" id="9" idx="2"/>
            <a:endCxn xmlns:a="http://schemas.openxmlformats.org/drawingml/2006/main" id="11" idx="0"/>
          </p:cNvCxnSpPr>
          <p:nvPr/>
        </p:nvCxnSpPr>
        <p:spPr>
          <a:xfrm xmlns:a="http://schemas.openxmlformats.org/drawingml/2006/main">
            <a:off x="3619500" y="4857750"/>
            <a:ext cx="0" cy="3810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6" name="">
            <a:extLst xmlns:a="http://schemas.openxmlformats.org/drawingml/2006/main">
              <a:ext uri="{FF2B5EF4-FFF2-40B4-BE49-F238E27FC236}">
                <a16:creationId xmlns:a16="http://schemas.microsoft.com/office/drawing/2014/main" id="{21DDDB36-4F28-44FF-8809-8A8FEF072683}"/>
              </a:ext>
            </a:extLst>
          </p:cNvPr>
          <p:cNvCxnSpPr>
            <a:stCxn xmlns:a="http://schemas.openxmlformats.org/drawingml/2006/main" id="7" idx="2"/>
            <a:endCxn xmlns:a="http://schemas.openxmlformats.org/drawingml/2006/main" id="9" idx="0"/>
          </p:cNvCxnSpPr>
          <p:nvPr/>
        </p:nvCxnSpPr>
        <p:spPr>
          <a:xfrm xmlns:a="http://schemas.openxmlformats.org/drawingml/2006/main">
            <a:off x="3619500" y="3733800"/>
            <a:ext cx="0" cy="28575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7" name="">
            <a:extLst xmlns:a="http://schemas.openxmlformats.org/drawingml/2006/main">
              <a:ext uri="{FF2B5EF4-FFF2-40B4-BE49-F238E27FC236}">
                <a16:creationId xmlns:a16="http://schemas.microsoft.com/office/drawing/2014/main" id="{B451A13A-0696-4496-8C51-5C1E2366FFD5}"/>
              </a:ext>
            </a:extLst>
          </p:cNvPr>
          <p:cNvCxnSpPr>
            <a:stCxn xmlns:a="http://schemas.openxmlformats.org/drawingml/2006/main" id="5" idx="2"/>
            <a:endCxn xmlns:a="http://schemas.openxmlformats.org/drawingml/2006/main" id="7" idx="0"/>
          </p:cNvCxnSpPr>
          <p:nvPr/>
        </p:nvCxnSpPr>
        <p:spPr>
          <a:xfrm xmlns:a="http://schemas.openxmlformats.org/drawingml/2006/main">
            <a:off x="3619500" y="2895600"/>
            <a:ext cx="0" cy="2667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8" name="">
            <a:extLst xmlns:a="http://schemas.openxmlformats.org/drawingml/2006/main">
              <a:ext uri="{FF2B5EF4-FFF2-40B4-BE49-F238E27FC236}">
                <a16:creationId xmlns:a16="http://schemas.microsoft.com/office/drawing/2014/main" id="{3940B3EA-3D90-495B-92B3-1B5FCC193EC1}"/>
              </a:ext>
            </a:extLst>
          </p:cNvPr>
          <p:cNvCxnSpPr>
            <a:stCxn xmlns:a="http://schemas.openxmlformats.org/drawingml/2006/main" id="3" idx="2"/>
            <a:endCxn xmlns:a="http://schemas.openxmlformats.org/drawingml/2006/main" id="5" idx="0"/>
          </p:cNvCxnSpPr>
          <p:nvPr/>
        </p:nvCxnSpPr>
        <p:spPr>
          <a:xfrm xmlns:a="http://schemas.openxmlformats.org/drawingml/2006/main">
            <a:off x="3619500" y="1933575"/>
            <a:ext cx="0" cy="200025"/>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39" name="">
            <a:extLst xmlns:a="http://schemas.openxmlformats.org/drawingml/2006/main">
              <a:ext uri="{FF2B5EF4-FFF2-40B4-BE49-F238E27FC236}">
                <a16:creationId xmlns:a16="http://schemas.microsoft.com/office/drawing/2014/main" id="{5AF2889D-E7B3-4617-B568-723670461A47}"/>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Прямий симплекс для max: схема рішення</a:t>
            </a:r>
          </a:p>
        </p:txBody>
      </p:sp>
      <p:sp>
        <p:nvSpPr>
          <p:cNvPr id="2" name="">
            <a:extLst xmlns:a="http://schemas.openxmlformats.org/drawingml/2006/main">
              <a:ext uri="{FF2B5EF4-FFF2-40B4-BE49-F238E27FC236}">
                <a16:creationId xmlns:a16="http://schemas.microsoft.com/office/drawing/2014/main" id="{B87CF690-80EF-4DD4-94BF-6D06814BBB7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Старт із допустимого базису. Ведучий рядок визначає мінімальне bᵢ/aᵢⱼ для aᵢⱼ&gt;0.</a:t>
            </a:r>
          </a:p>
        </p:txBody>
      </p:sp>
      <p:sp>
        <p:nvSpPr>
          <p:cNvPr id="3" name="">
            <a:extLst xmlns:a="http://schemas.openxmlformats.org/drawingml/2006/main">
              <a:ext uri="{FF2B5EF4-FFF2-40B4-BE49-F238E27FC236}">
                <a16:creationId xmlns:a16="http://schemas.microsoft.com/office/drawing/2014/main" id="{489008FD-FA46-41DC-ADB5-E0E429BC1E1E}"/>
              </a:ext>
            </a:extLst>
          </p:cNvPr>
          <p:cNvSpPr>
            <a:spLocks xmlns:a="http://schemas.openxmlformats.org/drawingml/2006/main" noGrp="1"/>
          </p:cNvSpPr>
          <p:nvPr/>
        </p:nvSpPr>
        <p:spPr>
          <a:xfrm xmlns:a="http://schemas.openxmlformats.org/drawingml/2006/main">
            <a:off x="762000" y="1438275"/>
            <a:ext cx="5715000" cy="495300"/>
          </a:xfrm>
          <a:prstGeom xmlns:a="http://schemas.openxmlformats.org/drawingml/2006/main" prst="roundRect">
            <a:avLst>
              <a:gd name="adj" fmla="val 15385"/>
            </a:avLst>
          </a:prstGeom>
          <a:solidFill xmlns:a="http://schemas.openxmlformats.org/drawingml/2006/main">
            <a:srgbClr val="F1F5F8"/>
          </a:solidFill>
          <a:ln xmlns:a="http://schemas.openxmlformats.org/drawingml/2006/main" w="14288">
            <a:solidFill>
              <a:srgbClr val="CDD8E1"/>
            </a:solidFill>
          </a:ln>
        </p:spPr>
      </p:sp>
      <p:sp>
        <p:nvSpPr>
          <p:cNvPr id="4" name="">
            <a:extLst xmlns:a="http://schemas.openxmlformats.org/drawingml/2006/main">
              <a:ext uri="{FF2B5EF4-FFF2-40B4-BE49-F238E27FC236}">
                <a16:creationId xmlns:a16="http://schemas.microsoft.com/office/drawing/2014/main" id="{613C472C-A89C-44E2-BA36-38F7D872B250}"/>
              </a:ext>
            </a:extLst>
          </p:cNvPr>
          <p:cNvSpPr>
            <a:spLocks xmlns:a="http://schemas.openxmlformats.org/drawingml/2006/main" noGrp="1"/>
          </p:cNvSpPr>
          <p:nvPr/>
        </p:nvSpPr>
        <p:spPr>
          <a:xfrm xmlns:a="http://schemas.openxmlformats.org/drawingml/2006/main">
            <a:off x="895350" y="1514475"/>
            <a:ext cx="544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Допустимий базис: обчислити Δ</a:t>
            </a:r>
          </a:p>
        </p:txBody>
      </p:sp>
      <p:sp>
        <p:nvSpPr>
          <p:cNvPr id="5" name="">
            <a:extLst xmlns:a="http://schemas.openxmlformats.org/drawingml/2006/main">
              <a:ext uri="{FF2B5EF4-FFF2-40B4-BE49-F238E27FC236}">
                <a16:creationId xmlns:a16="http://schemas.microsoft.com/office/drawing/2014/main" id="{D0F7BF5E-6BB1-4C56-A618-09A3BE33B3D0}"/>
              </a:ext>
            </a:extLst>
          </p:cNvPr>
          <p:cNvSpPr>
            <a:spLocks xmlns:a="http://schemas.openxmlformats.org/drawingml/2006/main" noGrp="1"/>
          </p:cNvSpPr>
          <p:nvPr/>
        </p:nvSpPr>
        <p:spPr>
          <a:xfrm xmlns:a="http://schemas.openxmlformats.org/drawingml/2006/main">
            <a:off x="1809750" y="2133600"/>
            <a:ext cx="3619500" cy="762000"/>
          </a:xfrm>
          <a:prstGeom xmlns:a="http://schemas.openxmlformats.org/drawingml/2006/main" prst="diamond">
            <a:avLst/>
          </a:prstGeom>
          <a:solidFill xmlns:a="http://schemas.openxmlformats.org/drawingml/2006/main">
            <a:srgbClr val="FFF1D8"/>
          </a:solidFill>
          <a:ln xmlns:a="http://schemas.openxmlformats.org/drawingml/2006/main" w="14288">
            <a:solidFill>
              <a:srgbClr val="E5B74A"/>
            </a:solidFill>
          </a:ln>
        </p:spPr>
      </p:sp>
      <p:sp>
        <p:nvSpPr>
          <p:cNvPr id="6" name="">
            <a:extLst xmlns:a="http://schemas.openxmlformats.org/drawingml/2006/main">
              <a:ext uri="{FF2B5EF4-FFF2-40B4-BE49-F238E27FC236}">
                <a16:creationId xmlns:a16="http://schemas.microsoft.com/office/drawing/2014/main" id="{16CF99CB-A275-4C0C-BE05-E6AC3B238089}"/>
              </a:ext>
            </a:extLst>
          </p:cNvPr>
          <p:cNvSpPr>
            <a:spLocks xmlns:a="http://schemas.openxmlformats.org/drawingml/2006/main" noGrp="1"/>
          </p:cNvSpPr>
          <p:nvPr/>
        </p:nvSpPr>
        <p:spPr>
          <a:xfrm xmlns:a="http://schemas.openxmlformats.org/drawingml/2006/main">
            <a:off x="2244090" y="2286000"/>
            <a:ext cx="27508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Є Δⱼ&gt;0?</a:t>
            </a:r>
          </a:p>
        </p:txBody>
      </p:sp>
      <p:sp>
        <p:nvSpPr>
          <p:cNvPr id="7" name="">
            <a:extLst xmlns:a="http://schemas.openxmlformats.org/drawingml/2006/main">
              <a:ext uri="{FF2B5EF4-FFF2-40B4-BE49-F238E27FC236}">
                <a16:creationId xmlns:a16="http://schemas.microsoft.com/office/drawing/2014/main" id="{A4FCADA3-E0FF-4804-8BCA-89A59FF92DFB}"/>
              </a:ext>
            </a:extLst>
          </p:cNvPr>
          <p:cNvSpPr>
            <a:spLocks xmlns:a="http://schemas.openxmlformats.org/drawingml/2006/main" noGrp="1"/>
          </p:cNvSpPr>
          <p:nvPr/>
        </p:nvSpPr>
        <p:spPr>
          <a:xfrm xmlns:a="http://schemas.openxmlformats.org/drawingml/2006/main">
            <a:off x="762000" y="3162300"/>
            <a:ext cx="5715000" cy="571500"/>
          </a:xfrm>
          <a:prstGeom xmlns:a="http://schemas.openxmlformats.org/drawingml/2006/main" prst="roundRect">
            <a:avLst>
              <a:gd name="adj" fmla="val 13333"/>
            </a:avLst>
          </a:prstGeom>
          <a:solidFill xmlns:a="http://schemas.openxmlformats.org/drawingml/2006/main">
            <a:srgbClr val="F1F5F8"/>
          </a:solidFill>
          <a:ln xmlns:a="http://schemas.openxmlformats.org/drawingml/2006/main" w="14288">
            <a:solidFill>
              <a:srgbClr val="CDD8E1"/>
            </a:solidFill>
          </a:ln>
        </p:spPr>
      </p:sp>
      <p:sp>
        <p:nvSpPr>
          <p:cNvPr id="8" name="">
            <a:extLst xmlns:a="http://schemas.openxmlformats.org/drawingml/2006/main">
              <a:ext uri="{FF2B5EF4-FFF2-40B4-BE49-F238E27FC236}">
                <a16:creationId xmlns:a16="http://schemas.microsoft.com/office/drawing/2014/main" id="{19819D88-27F5-4AC6-B4AD-F1DFC673C3F0}"/>
              </a:ext>
            </a:extLst>
          </p:cNvPr>
          <p:cNvSpPr>
            <a:spLocks xmlns:a="http://schemas.openxmlformats.org/drawingml/2006/main" noGrp="1"/>
          </p:cNvSpPr>
          <p:nvPr/>
        </p:nvSpPr>
        <p:spPr>
          <a:xfrm xmlns:a="http://schemas.openxmlformats.org/drawingml/2006/main">
            <a:off x="895350" y="3238500"/>
            <a:ext cx="5448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Обрати стовпець з найбільшою Δⱼ&gt;0</a:t>
            </a:r>
          </a:p>
        </p:txBody>
      </p:sp>
      <p:sp>
        <p:nvSpPr>
          <p:cNvPr id="9" name="">
            <a:extLst xmlns:a="http://schemas.openxmlformats.org/drawingml/2006/main">
              <a:ext uri="{FF2B5EF4-FFF2-40B4-BE49-F238E27FC236}">
                <a16:creationId xmlns:a16="http://schemas.microsoft.com/office/drawing/2014/main" id="{5999385F-70B0-438C-918F-0E3ED40D44B7}"/>
              </a:ext>
            </a:extLst>
          </p:cNvPr>
          <p:cNvSpPr>
            <a:spLocks xmlns:a="http://schemas.openxmlformats.org/drawingml/2006/main" noGrp="1"/>
          </p:cNvSpPr>
          <p:nvPr/>
        </p:nvSpPr>
        <p:spPr>
          <a:xfrm xmlns:a="http://schemas.openxmlformats.org/drawingml/2006/main">
            <a:off x="1381125" y="4019550"/>
            <a:ext cx="4476750" cy="838200"/>
          </a:xfrm>
          <a:prstGeom xmlns:a="http://schemas.openxmlformats.org/drawingml/2006/main" prst="diamond">
            <a:avLst/>
          </a:prstGeom>
          <a:solidFill xmlns:a="http://schemas.openxmlformats.org/drawingml/2006/main">
            <a:srgbClr val="FFF1D8"/>
          </a:solidFill>
          <a:ln xmlns:a="http://schemas.openxmlformats.org/drawingml/2006/main" w="14288">
            <a:solidFill>
              <a:srgbClr val="E5B74A"/>
            </a:solidFill>
          </a:ln>
        </p:spPr>
      </p:sp>
      <p:sp>
        <p:nvSpPr>
          <p:cNvPr id="10" name="">
            <a:extLst xmlns:a="http://schemas.openxmlformats.org/drawingml/2006/main">
              <a:ext uri="{FF2B5EF4-FFF2-40B4-BE49-F238E27FC236}">
                <a16:creationId xmlns:a16="http://schemas.microsoft.com/office/drawing/2014/main" id="{B1018482-F6AA-4349-8392-5F4CA464E3C3}"/>
              </a:ext>
            </a:extLst>
          </p:cNvPr>
          <p:cNvSpPr>
            <a:spLocks xmlns:a="http://schemas.openxmlformats.org/drawingml/2006/main" noGrp="1"/>
          </p:cNvSpPr>
          <p:nvPr/>
        </p:nvSpPr>
        <p:spPr>
          <a:xfrm xmlns:a="http://schemas.openxmlformats.org/drawingml/2006/main">
            <a:off x="1918335" y="4187190"/>
            <a:ext cx="340233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У стовпці є aᵢⱼ&gt;0?</a:t>
            </a:r>
          </a:p>
        </p:txBody>
      </p:sp>
      <p:sp>
        <p:nvSpPr>
          <p:cNvPr id="11" name="">
            <a:extLst xmlns:a="http://schemas.openxmlformats.org/drawingml/2006/main">
              <a:ext uri="{FF2B5EF4-FFF2-40B4-BE49-F238E27FC236}">
                <a16:creationId xmlns:a16="http://schemas.microsoft.com/office/drawing/2014/main" id="{FFBE7B47-D5E8-4F1B-BA16-5C83249156D1}"/>
              </a:ext>
            </a:extLst>
          </p:cNvPr>
          <p:cNvSpPr>
            <a:spLocks xmlns:a="http://schemas.openxmlformats.org/drawingml/2006/main" noGrp="1"/>
          </p:cNvSpPr>
          <p:nvPr/>
        </p:nvSpPr>
        <p:spPr>
          <a:xfrm xmlns:a="http://schemas.openxmlformats.org/drawingml/2006/main">
            <a:off x="762000" y="5238750"/>
            <a:ext cx="5715000" cy="552450"/>
          </a:xfrm>
          <a:prstGeom xmlns:a="http://schemas.openxmlformats.org/drawingml/2006/main" prst="roundRect">
            <a:avLst>
              <a:gd name="adj" fmla="val 13793"/>
            </a:avLst>
          </a:prstGeom>
          <a:solidFill xmlns:a="http://schemas.openxmlformats.org/drawingml/2006/main">
            <a:srgbClr val="F1F5F8"/>
          </a:solidFill>
          <a:ln xmlns:a="http://schemas.openxmlformats.org/drawingml/2006/main" w="14288">
            <a:solidFill>
              <a:srgbClr val="CDD8E1"/>
            </a:solidFill>
          </a:ln>
        </p:spPr>
      </p:sp>
      <p:sp>
        <p:nvSpPr>
          <p:cNvPr id="12" name="">
            <a:extLst xmlns:a="http://schemas.openxmlformats.org/drawingml/2006/main">
              <a:ext uri="{FF2B5EF4-FFF2-40B4-BE49-F238E27FC236}">
                <a16:creationId xmlns:a16="http://schemas.microsoft.com/office/drawing/2014/main" id="{9E277FA1-9AA4-4397-9F4D-92E2BD2C558C}"/>
              </a:ext>
            </a:extLst>
          </p:cNvPr>
          <p:cNvSpPr>
            <a:spLocks xmlns:a="http://schemas.openxmlformats.org/drawingml/2006/main" noGrp="1"/>
          </p:cNvSpPr>
          <p:nvPr/>
        </p:nvSpPr>
        <p:spPr>
          <a:xfrm xmlns:a="http://schemas.openxmlformats.org/drawingml/2006/main">
            <a:off x="895350" y="5314950"/>
            <a:ext cx="5448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Тест θ, заміна базису, нова таблиця</a:t>
            </a:r>
          </a:p>
        </p:txBody>
      </p:sp>
      <p:sp>
        <p:nvSpPr>
          <p:cNvPr id="13" name="">
            <a:extLst xmlns:a="http://schemas.openxmlformats.org/drawingml/2006/main">
              <a:ext uri="{FF2B5EF4-FFF2-40B4-BE49-F238E27FC236}">
                <a16:creationId xmlns:a16="http://schemas.microsoft.com/office/drawing/2014/main" id="{FE2E324E-4BF3-48FA-976D-0FFA49235568}"/>
              </a:ext>
            </a:extLst>
          </p:cNvPr>
          <p:cNvSpPr>
            <a:spLocks xmlns:a="http://schemas.openxmlformats.org/drawingml/2006/main" noGrp="1"/>
          </p:cNvSpPr>
          <p:nvPr/>
        </p:nvSpPr>
        <p:spPr>
          <a:xfrm xmlns:a="http://schemas.openxmlformats.org/drawingml/2006/main">
            <a:off x="8572500" y="2228850"/>
            <a:ext cx="2809875" cy="571500"/>
          </a:xfrm>
          <a:prstGeom xmlns:a="http://schemas.openxmlformats.org/drawingml/2006/main" prst="roundRect">
            <a:avLst>
              <a:gd name="adj" fmla="val 13333"/>
            </a:avLst>
          </a:prstGeom>
          <a:solidFill xmlns:a="http://schemas.openxmlformats.org/drawingml/2006/main">
            <a:srgbClr val="D6F0E9"/>
          </a:solidFill>
          <a:ln xmlns:a="http://schemas.openxmlformats.org/drawingml/2006/main" w="14288">
            <a:solidFill>
              <a:srgbClr val="CDD8E1"/>
            </a:solidFill>
          </a:ln>
        </p:spPr>
      </p:sp>
      <p:sp>
        <p:nvSpPr>
          <p:cNvPr id="14" name="">
            <a:extLst xmlns:a="http://schemas.openxmlformats.org/drawingml/2006/main">
              <a:ext uri="{FF2B5EF4-FFF2-40B4-BE49-F238E27FC236}">
                <a16:creationId xmlns:a16="http://schemas.microsoft.com/office/drawing/2014/main" id="{B32CBDFA-A429-40A0-A20A-0B87CC67F0D4}"/>
              </a:ext>
            </a:extLst>
          </p:cNvPr>
          <p:cNvSpPr>
            <a:spLocks xmlns:a="http://schemas.openxmlformats.org/drawingml/2006/main" noGrp="1"/>
          </p:cNvSpPr>
          <p:nvPr/>
        </p:nvSpPr>
        <p:spPr>
          <a:xfrm xmlns:a="http://schemas.openxmlformats.org/drawingml/2006/main">
            <a:off x="8705850" y="2305050"/>
            <a:ext cx="2543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Оптимум</a:t>
            </a:r>
          </a:p>
        </p:txBody>
      </p:sp>
      <p:sp>
        <p:nvSpPr>
          <p:cNvPr id="15" name="">
            <a:extLst xmlns:a="http://schemas.openxmlformats.org/drawingml/2006/main">
              <a:ext uri="{FF2B5EF4-FFF2-40B4-BE49-F238E27FC236}">
                <a16:creationId xmlns:a16="http://schemas.microsoft.com/office/drawing/2014/main" id="{8F24B2C0-6BC4-4484-AD5C-A8D36251CF9B}"/>
              </a:ext>
            </a:extLst>
          </p:cNvPr>
          <p:cNvSpPr>
            <a:spLocks xmlns:a="http://schemas.openxmlformats.org/drawingml/2006/main" noGrp="1"/>
          </p:cNvSpPr>
          <p:nvPr/>
        </p:nvSpPr>
        <p:spPr>
          <a:xfrm xmlns:a="http://schemas.openxmlformats.org/drawingml/2006/main">
            <a:off x="8572500" y="4143375"/>
            <a:ext cx="2809875" cy="571500"/>
          </a:xfrm>
          <a:prstGeom xmlns:a="http://schemas.openxmlformats.org/drawingml/2006/main" prst="roundRect">
            <a:avLst>
              <a:gd name="adj" fmla="val 13333"/>
            </a:avLst>
          </a:prstGeom>
          <a:solidFill xmlns:a="http://schemas.openxmlformats.org/drawingml/2006/main">
            <a:srgbClr val="F9E3DE"/>
          </a:solidFill>
          <a:ln xmlns:a="http://schemas.openxmlformats.org/drawingml/2006/main" w="14288">
            <a:solidFill>
              <a:srgbClr val="CDD8E1"/>
            </a:solidFill>
          </a:ln>
        </p:spPr>
      </p:sp>
      <p:sp>
        <p:nvSpPr>
          <p:cNvPr id="16" name="">
            <a:extLst xmlns:a="http://schemas.openxmlformats.org/drawingml/2006/main">
              <a:ext uri="{FF2B5EF4-FFF2-40B4-BE49-F238E27FC236}">
                <a16:creationId xmlns:a16="http://schemas.microsoft.com/office/drawing/2014/main" id="{8B28C74D-94A0-4262-A097-6156A5F104B6}"/>
              </a:ext>
            </a:extLst>
          </p:cNvPr>
          <p:cNvSpPr>
            <a:spLocks xmlns:a="http://schemas.openxmlformats.org/drawingml/2006/main" noGrp="1"/>
          </p:cNvSpPr>
          <p:nvPr/>
        </p:nvSpPr>
        <p:spPr>
          <a:xfrm xmlns:a="http://schemas.openxmlformats.org/drawingml/2006/main">
            <a:off x="8705850" y="4219575"/>
            <a:ext cx="2543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Ціль необмежена</a:t>
            </a:r>
          </a:p>
        </p:txBody>
      </p:sp>
      <p:sp>
        <p:nvSpPr>
          <p:cNvPr id="23" name="">
            <a:extLst xmlns:a="http://schemas.openxmlformats.org/drawingml/2006/main">
              <a:ext uri="{FF2B5EF4-FFF2-40B4-BE49-F238E27FC236}">
                <a16:creationId xmlns:a16="http://schemas.microsoft.com/office/drawing/2014/main" id="{453D0917-DB2D-4D61-ABE7-A72A23853A80}"/>
              </a:ext>
            </a:extLst>
          </p:cNvPr>
          <p:cNvSpPr>
            <a:spLocks xmlns:a="http://schemas.openxmlformats.org/drawingml/2006/main" noGrp="1"/>
          </p:cNvSpPr>
          <p:nvPr/>
        </p:nvSpPr>
        <p:spPr>
          <a:xfrm xmlns:a="http://schemas.openxmlformats.org/drawingml/2006/main">
            <a:off x="6905625" y="21812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ні</a:t>
            </a:r>
          </a:p>
        </p:txBody>
      </p:sp>
      <p:sp>
        <p:nvSpPr>
          <p:cNvPr id="24" name="">
            <a:extLst xmlns:a="http://schemas.openxmlformats.org/drawingml/2006/main">
              <a:ext uri="{FF2B5EF4-FFF2-40B4-BE49-F238E27FC236}">
                <a16:creationId xmlns:a16="http://schemas.microsoft.com/office/drawing/2014/main" id="{9B01BB40-FA1D-40AF-8A54-5B6149D5D096}"/>
              </a:ext>
            </a:extLst>
          </p:cNvPr>
          <p:cNvSpPr>
            <a:spLocks xmlns:a="http://schemas.openxmlformats.org/drawingml/2006/main" noGrp="1"/>
          </p:cNvSpPr>
          <p:nvPr/>
        </p:nvSpPr>
        <p:spPr>
          <a:xfrm xmlns:a="http://schemas.openxmlformats.org/drawingml/2006/main">
            <a:off x="6905625" y="4057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ні</a:t>
            </a:r>
          </a:p>
        </p:txBody>
      </p:sp>
      <p:sp>
        <p:nvSpPr>
          <p:cNvPr id="25" name="">
            <a:extLst xmlns:a="http://schemas.openxmlformats.org/drawingml/2006/main">
              <a:ext uri="{FF2B5EF4-FFF2-40B4-BE49-F238E27FC236}">
                <a16:creationId xmlns:a16="http://schemas.microsoft.com/office/drawing/2014/main" id="{9D2A24C5-FF89-4584-AA5E-11B7F3CF94D4}"/>
              </a:ext>
            </a:extLst>
          </p:cNvPr>
          <p:cNvSpPr>
            <a:spLocks xmlns:a="http://schemas.openxmlformats.org/drawingml/2006/main" noGrp="1"/>
          </p:cNvSpPr>
          <p:nvPr/>
        </p:nvSpPr>
        <p:spPr>
          <a:xfrm xmlns:a="http://schemas.openxmlformats.org/drawingml/2006/main">
            <a:off x="3857625" y="28670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так</a:t>
            </a:r>
          </a:p>
        </p:txBody>
      </p:sp>
      <p:sp>
        <p:nvSpPr>
          <p:cNvPr id="26" name="">
            <a:extLst xmlns:a="http://schemas.openxmlformats.org/drawingml/2006/main">
              <a:ext uri="{FF2B5EF4-FFF2-40B4-BE49-F238E27FC236}">
                <a16:creationId xmlns:a16="http://schemas.microsoft.com/office/drawing/2014/main" id="{F38D77C3-E121-40B3-99E0-AEBB2E804BB5}"/>
              </a:ext>
            </a:extLst>
          </p:cNvPr>
          <p:cNvSpPr>
            <a:spLocks xmlns:a="http://schemas.openxmlformats.org/drawingml/2006/main" noGrp="1"/>
          </p:cNvSpPr>
          <p:nvPr/>
        </p:nvSpPr>
        <p:spPr>
          <a:xfrm xmlns:a="http://schemas.openxmlformats.org/drawingml/2006/main">
            <a:off x="3857625" y="4895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так</a:t>
            </a:r>
          </a:p>
        </p:txBody>
      </p:sp>
      <p:sp>
        <p:nvSpPr>
          <p:cNvPr id="27" name="">
            <a:extLst xmlns:a="http://schemas.openxmlformats.org/drawingml/2006/main">
              <a:ext uri="{FF2B5EF4-FFF2-40B4-BE49-F238E27FC236}">
                <a16:creationId xmlns:a16="http://schemas.microsoft.com/office/drawing/2014/main" id="{C50F8173-EE38-41F6-945A-D152F3F136D2}"/>
              </a:ext>
            </a:extLst>
          </p:cNvPr>
          <p:cNvSpPr>
            <a:spLocks xmlns:a="http://schemas.openxmlformats.org/drawingml/2006/main" noGrp="1"/>
          </p:cNvSpPr>
          <p:nvPr/>
        </p:nvSpPr>
        <p:spPr>
          <a:xfrm xmlns:a="http://schemas.openxmlformats.org/drawingml/2006/main" flipV="0">
            <a:off x="447675" y="5514975"/>
            <a:ext cx="314325" cy="0"/>
          </a:xfrm>
          <a:prstGeom xmlns:a="http://schemas.openxmlformats.org/drawingml/2006/main" prst="line">
            <a:avLst/>
          </a:prstGeom>
          <a:noFill xmlns:a="http://schemas.openxmlformats.org/drawingml/2006/main"/>
          <a:ln xmlns:a="http://schemas.openxmlformats.org/drawingml/2006/main" w="28575">
            <a:solidFill>
              <a:srgbClr val="00857D"/>
            </a:solidFill>
          </a:ln>
        </p:spPr>
      </p:sp>
      <p:sp>
        <p:nvSpPr>
          <p:cNvPr id="28" name="">
            <a:extLst xmlns:a="http://schemas.openxmlformats.org/drawingml/2006/main">
              <a:ext uri="{FF2B5EF4-FFF2-40B4-BE49-F238E27FC236}">
                <a16:creationId xmlns:a16="http://schemas.microsoft.com/office/drawing/2014/main" id="{4DD26C1A-7AD6-4549-BDC6-B48C0AFFDC40}"/>
              </a:ext>
            </a:extLst>
          </p:cNvPr>
          <p:cNvSpPr>
            <a:spLocks xmlns:a="http://schemas.openxmlformats.org/drawingml/2006/main" noGrp="1"/>
          </p:cNvSpPr>
          <p:nvPr/>
        </p:nvSpPr>
        <p:spPr>
          <a:xfrm xmlns:a="http://schemas.openxmlformats.org/drawingml/2006/main" flipV="1">
            <a:off x="447675" y="1685925"/>
            <a:ext cx="0" cy="3829050"/>
          </a:xfrm>
          <a:prstGeom xmlns:a="http://schemas.openxmlformats.org/drawingml/2006/main" prst="line">
            <a:avLst/>
          </a:prstGeom>
          <a:noFill xmlns:a="http://schemas.openxmlformats.org/drawingml/2006/main"/>
          <a:ln xmlns:a="http://schemas.openxmlformats.org/drawingml/2006/main" w="28575">
            <a:solidFill>
              <a:srgbClr val="00857D"/>
            </a:solidFill>
          </a:ln>
        </p:spPr>
      </p:sp>
      <p:sp>
        <p:nvSpPr>
          <p:cNvPr id="29" name="">
            <a:extLst xmlns:a="http://schemas.openxmlformats.org/drawingml/2006/main">
              <a:ext uri="{FF2B5EF4-FFF2-40B4-BE49-F238E27FC236}">
                <a16:creationId xmlns:a16="http://schemas.microsoft.com/office/drawing/2014/main" id="{2C1F9E34-0D93-4E61-80DE-63EFE13434D9}"/>
              </a:ext>
            </a:extLst>
          </p:cNvPr>
          <p:cNvSpPr>
            <a:spLocks xmlns:a="http://schemas.openxmlformats.org/drawingml/2006/main" noGrp="1"/>
          </p:cNvSpPr>
          <p:nvPr/>
        </p:nvSpPr>
        <p:spPr>
          <a:xfrm xmlns:a="http://schemas.openxmlformats.org/drawingml/2006/main">
            <a:off x="438150" y="16764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63D44D5-1F7E-445D-A8C4-AA42E2420A0A}"/>
              </a:ext>
            </a:extLst>
          </p:cNvPr>
          <p:cNvSpPr>
            <a:spLocks xmlns:a="http://schemas.openxmlformats.org/drawingml/2006/main" noGrp="1"/>
          </p:cNvSpPr>
          <p:nvPr/>
        </p:nvSpPr>
        <p:spPr>
          <a:xfrm xmlns:a="http://schemas.openxmlformats.org/drawingml/2006/main">
            <a:off x="752475" y="16764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3" name="">
            <a:extLst xmlns:a="http://schemas.openxmlformats.org/drawingml/2006/main">
              <a:ext uri="{FF2B5EF4-FFF2-40B4-BE49-F238E27FC236}">
                <a16:creationId xmlns:a16="http://schemas.microsoft.com/office/drawing/2014/main" id="{93397060-5EE0-4155-8E64-12E8D152F012}"/>
              </a:ext>
            </a:extLst>
          </p:cNvPr>
          <p:cNvCxnSpPr>
            <a:stCxn xmlns:a="http://schemas.openxmlformats.org/drawingml/2006/main" id="29" idx="3"/>
            <a:endCxn xmlns:a="http://schemas.openxmlformats.org/drawingml/2006/main" id="30" idx="1"/>
          </p:cNvCxnSpPr>
          <p:nvPr/>
        </p:nvCxnSpPr>
        <p:spPr>
          <a:xfrm xmlns:a="http://schemas.openxmlformats.org/drawingml/2006/main">
            <a:off x="457200" y="1685925"/>
            <a:ext cx="295275"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32" name="">
            <a:extLst xmlns:a="http://schemas.openxmlformats.org/drawingml/2006/main">
              <a:ext uri="{FF2B5EF4-FFF2-40B4-BE49-F238E27FC236}">
                <a16:creationId xmlns:a16="http://schemas.microsoft.com/office/drawing/2014/main" id="{363F28F8-22C5-47FC-BB71-C7CCCD1EEEC6}"/>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19</a:t>
            </a:r>
          </a:p>
        </p:txBody>
      </p:sp>
    </p:spTree>
    <p:extLst>
      <p:ext uri="{BB962C8B-B14F-4D97-AF65-F5344CB8AC3E}">
        <p14:creationId xmlns:p14="http://schemas.microsoft.com/office/powerpoint/2010/main" val="28792889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3C7DAC5-5D2C-48FD-86A4-71882F1823F8}"/>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Чому в коді c=[−4,−3]?</a:t>
            </a:r>
          </a:p>
        </p:txBody>
      </p:sp>
      <p:sp>
        <p:nvSpPr>
          <p:cNvPr id="3" name="">
            <a:extLst xmlns:a="http://schemas.openxmlformats.org/drawingml/2006/main">
              <a:ext uri="{FF2B5EF4-FFF2-40B4-BE49-F238E27FC236}">
                <a16:creationId xmlns:a16="http://schemas.microsoft.com/office/drawing/2014/main" id="{DBCD515D-11BA-4F85-B39F-DB5856404D6E}"/>
              </a:ext>
            </a:extLst>
          </p:cNvPr>
          <p:cNvSpPr>
            <a:spLocks xmlns:a="http://schemas.openxmlformats.org/drawingml/2006/main" noGrp="1"/>
          </p:cNvSpPr>
          <p:nvPr/>
        </p:nvSpPr>
        <p:spPr>
          <a:xfrm xmlns:a="http://schemas.openxmlformats.org/drawingml/2006/main">
            <a:off x="866775" y="1476375"/>
            <a:ext cx="10467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6F9F"/>
                </a:solidFill>
                <a:latin typeface="DejaVu Sans"/>
                <a:ea typeface="DejaVu Sans"/>
                <a:cs typeface="DejaVu Sans"/>
              </a:defRPr>
            </a:pPr>
            <a:r>
              <a:rPr sz="2175" b="1">
                <a:solidFill>
                  <a:srgbClr val="086F9F"/>
                </a:solidFill>
                <a:latin typeface="Arial"/>
                <a:ea typeface="Arial"/>
                <a:cs typeface="Arial"/>
              </a:rPr>
              <a:t>Наша задача: max Z = 4x₁ + 3x₂</a:t>
            </a:r>
          </a:p>
        </p:txBody>
      </p:sp>
      <p:sp>
        <p:nvSpPr>
          <p:cNvPr id="4" name="">
            <a:extLst xmlns:a="http://schemas.openxmlformats.org/drawingml/2006/main">
              <a:ext uri="{FF2B5EF4-FFF2-40B4-BE49-F238E27FC236}">
                <a16:creationId xmlns:a16="http://schemas.microsoft.com/office/drawing/2014/main" id="{0B7BB17B-D621-423C-B6B7-FE5E9C16E116}"/>
              </a:ext>
            </a:extLst>
          </p:cNvPr>
          <p:cNvSpPr>
            <a:spLocks xmlns:a="http://schemas.openxmlformats.org/drawingml/2006/main" noGrp="1"/>
          </p:cNvSpPr>
          <p:nvPr/>
        </p:nvSpPr>
        <p:spPr>
          <a:xfrm xmlns:a="http://schemas.openxmlformats.org/drawingml/2006/main">
            <a:off x="866775" y="2114550"/>
            <a:ext cx="10467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52C42"/>
                </a:solidFill>
                <a:latin typeface="DejaVu Sans"/>
                <a:ea typeface="DejaVu Sans"/>
                <a:cs typeface="DejaVu Sans"/>
              </a:defRPr>
            </a:pPr>
            <a:r>
              <a:rPr sz="2175" b="1">
                <a:solidFill>
                  <a:srgbClr val="152C42"/>
                </a:solidFill>
                <a:latin typeface="Arial"/>
                <a:ea typeface="Arial"/>
                <a:cs typeface="Arial"/>
              </a:rPr>
              <a:t>Для linprog: min f = −Z = −4x₁ − 3x₂</a:t>
            </a:r>
          </a:p>
        </p:txBody>
      </p:sp>
      <p:sp>
        <p:nvSpPr>
          <p:cNvPr id="5" name="">
            <a:extLst xmlns:a="http://schemas.openxmlformats.org/drawingml/2006/main">
              <a:ext uri="{FF2B5EF4-FFF2-40B4-BE49-F238E27FC236}">
                <a16:creationId xmlns:a16="http://schemas.microsoft.com/office/drawing/2014/main" id="{789623EF-5640-42FD-9BFC-DF8F0301E192}"/>
              </a:ext>
            </a:extLst>
          </p:cNvPr>
          <p:cNvSpPr>
            <a:spLocks xmlns:a="http://schemas.openxmlformats.org/drawingml/2006/main" noGrp="1"/>
          </p:cNvSpPr>
          <p:nvPr/>
        </p:nvSpPr>
        <p:spPr>
          <a:xfrm xmlns:a="http://schemas.openxmlformats.org/drawingml/2006/main">
            <a:off x="742950" y="2943225"/>
            <a:ext cx="2886075" cy="7143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DCA6CE28-D7C2-477F-A5E0-A307D828B2D7}"/>
              </a:ext>
            </a:extLst>
          </p:cNvPr>
          <p:cNvSpPr>
            <a:spLocks xmlns:a="http://schemas.openxmlformats.org/drawingml/2006/main" noGrp="1"/>
          </p:cNvSpPr>
          <p:nvPr/>
        </p:nvSpPr>
        <p:spPr>
          <a:xfrm xmlns:a="http://schemas.openxmlformats.org/drawingml/2006/main">
            <a:off x="838200" y="3019425"/>
            <a:ext cx="2695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FFFFF"/>
                </a:solidFill>
                <a:latin typeface="DejaVu Sans"/>
                <a:ea typeface="DejaVu Sans"/>
                <a:cs typeface="DejaVu Sans"/>
              </a:defRPr>
            </a:pPr>
            <a:r>
              <a:rPr sz="1800" b="1">
                <a:solidFill>
                  <a:srgbClr val="FFFFFF"/>
                </a:solidFill>
                <a:latin typeface="Arial"/>
                <a:ea typeface="Arial"/>
                <a:cs typeface="Arial"/>
              </a:rPr>
              <a:t>План</a:t>
            </a:r>
          </a:p>
        </p:txBody>
      </p:sp>
      <p:sp>
        <p:nvSpPr>
          <p:cNvPr id="7" name="">
            <a:extLst xmlns:a="http://schemas.openxmlformats.org/drawingml/2006/main">
              <a:ext uri="{FF2B5EF4-FFF2-40B4-BE49-F238E27FC236}">
                <a16:creationId xmlns:a16="http://schemas.microsoft.com/office/drawing/2014/main" id="{835312E8-C77F-4E60-8AC0-06EB8C8379BE}"/>
              </a:ext>
            </a:extLst>
          </p:cNvPr>
          <p:cNvSpPr>
            <a:spLocks xmlns:a="http://schemas.openxmlformats.org/drawingml/2006/main" noGrp="1"/>
          </p:cNvSpPr>
          <p:nvPr/>
        </p:nvSpPr>
        <p:spPr>
          <a:xfrm xmlns:a="http://schemas.openxmlformats.org/drawingml/2006/main">
            <a:off x="3629025" y="2943225"/>
            <a:ext cx="3962400" cy="7143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247D7FBE-9336-467D-AFB9-D4EFF3355512}"/>
              </a:ext>
            </a:extLst>
          </p:cNvPr>
          <p:cNvSpPr>
            <a:spLocks xmlns:a="http://schemas.openxmlformats.org/drawingml/2006/main" noGrp="1"/>
          </p:cNvSpPr>
          <p:nvPr/>
        </p:nvSpPr>
        <p:spPr>
          <a:xfrm xmlns:a="http://schemas.openxmlformats.org/drawingml/2006/main">
            <a:off x="3724275" y="3019425"/>
            <a:ext cx="3771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FFFFF"/>
                </a:solidFill>
                <a:latin typeface="DejaVu Sans"/>
                <a:ea typeface="DejaVu Sans"/>
                <a:cs typeface="DejaVu Sans"/>
              </a:defRPr>
            </a:pPr>
            <a:r>
              <a:rPr sz="1800" b="1">
                <a:solidFill>
                  <a:srgbClr val="FFFFFF"/>
                </a:solidFill>
                <a:latin typeface="Arial"/>
                <a:ea typeface="Arial"/>
                <a:cs typeface="Arial"/>
              </a:rPr>
              <a:t>Справжня користь Z</a:t>
            </a:r>
          </a:p>
        </p:txBody>
      </p:sp>
      <p:sp>
        <p:nvSpPr>
          <p:cNvPr id="9" name="">
            <a:extLst xmlns:a="http://schemas.openxmlformats.org/drawingml/2006/main">
              <a:ext uri="{FF2B5EF4-FFF2-40B4-BE49-F238E27FC236}">
                <a16:creationId xmlns:a16="http://schemas.microsoft.com/office/drawing/2014/main" id="{F221B753-31BD-46E3-831C-74E5509D98A9}"/>
              </a:ext>
            </a:extLst>
          </p:cNvPr>
          <p:cNvSpPr>
            <a:spLocks xmlns:a="http://schemas.openxmlformats.org/drawingml/2006/main" noGrp="1"/>
          </p:cNvSpPr>
          <p:nvPr/>
        </p:nvSpPr>
        <p:spPr>
          <a:xfrm xmlns:a="http://schemas.openxmlformats.org/drawingml/2006/main">
            <a:off x="7591425" y="2943225"/>
            <a:ext cx="3857625" cy="7143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83666BCC-0B3D-4652-81FD-656360CBC325}"/>
              </a:ext>
            </a:extLst>
          </p:cNvPr>
          <p:cNvSpPr>
            <a:spLocks xmlns:a="http://schemas.openxmlformats.org/drawingml/2006/main" noGrp="1"/>
          </p:cNvSpPr>
          <p:nvPr/>
        </p:nvSpPr>
        <p:spPr>
          <a:xfrm xmlns:a="http://schemas.openxmlformats.org/drawingml/2006/main">
            <a:off x="7686675" y="3019425"/>
            <a:ext cx="366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FFFFF"/>
                </a:solidFill>
                <a:latin typeface="DejaVu Sans"/>
                <a:ea typeface="DejaVu Sans"/>
                <a:cs typeface="DejaVu Sans"/>
              </a:defRPr>
            </a:pPr>
            <a:r>
              <a:rPr sz="1800" b="1">
                <a:solidFill>
                  <a:srgbClr val="FFFFFF"/>
                </a:solidFill>
                <a:latin typeface="Arial"/>
                <a:ea typeface="Arial"/>
                <a:cs typeface="Arial"/>
              </a:rPr>
              <a:t>Технічна ціль f</a:t>
            </a:r>
          </a:p>
        </p:txBody>
      </p:sp>
      <p:sp>
        <p:nvSpPr>
          <p:cNvPr id="11" name="">
            <a:extLst xmlns:a="http://schemas.openxmlformats.org/drawingml/2006/main">
              <a:ext uri="{FF2B5EF4-FFF2-40B4-BE49-F238E27FC236}">
                <a16:creationId xmlns:a16="http://schemas.microsoft.com/office/drawing/2014/main" id="{09A34CB8-31DC-4BE8-BE40-9C26F512FC1D}"/>
              </a:ext>
            </a:extLst>
          </p:cNvPr>
          <p:cNvSpPr>
            <a:spLocks xmlns:a="http://schemas.openxmlformats.org/drawingml/2006/main" noGrp="1"/>
          </p:cNvSpPr>
          <p:nvPr/>
        </p:nvSpPr>
        <p:spPr>
          <a:xfrm xmlns:a="http://schemas.openxmlformats.org/drawingml/2006/main">
            <a:off x="742950" y="3657600"/>
            <a:ext cx="2886075" cy="7143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BBA209E5-A726-4126-B4B2-D58982E7D1AF}"/>
              </a:ext>
            </a:extLst>
          </p:cNvPr>
          <p:cNvSpPr>
            <a:spLocks xmlns:a="http://schemas.openxmlformats.org/drawingml/2006/main" noGrp="1"/>
          </p:cNvSpPr>
          <p:nvPr/>
        </p:nvSpPr>
        <p:spPr>
          <a:xfrm xmlns:a="http://schemas.openxmlformats.org/drawingml/2006/main">
            <a:off x="838200" y="3733800"/>
            <a:ext cx="2695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(50,0)</a:t>
            </a:r>
          </a:p>
        </p:txBody>
      </p:sp>
      <p:sp>
        <p:nvSpPr>
          <p:cNvPr id="13" name="">
            <a:extLst xmlns:a="http://schemas.openxmlformats.org/drawingml/2006/main">
              <a:ext uri="{FF2B5EF4-FFF2-40B4-BE49-F238E27FC236}">
                <a16:creationId xmlns:a16="http://schemas.microsoft.com/office/drawing/2014/main" id="{74C9F089-B9FB-429B-A111-A34EFB9B847F}"/>
              </a:ext>
            </a:extLst>
          </p:cNvPr>
          <p:cNvSpPr>
            <a:spLocks xmlns:a="http://schemas.openxmlformats.org/drawingml/2006/main" noGrp="1"/>
          </p:cNvSpPr>
          <p:nvPr/>
        </p:nvSpPr>
        <p:spPr>
          <a:xfrm xmlns:a="http://schemas.openxmlformats.org/drawingml/2006/main">
            <a:off x="3629025" y="3657600"/>
            <a:ext cx="3962400" cy="7143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A7469D76-6EB1-4FA9-BBAB-6CC2F4677624}"/>
              </a:ext>
            </a:extLst>
          </p:cNvPr>
          <p:cNvSpPr>
            <a:spLocks xmlns:a="http://schemas.openxmlformats.org/drawingml/2006/main" noGrp="1"/>
          </p:cNvSpPr>
          <p:nvPr/>
        </p:nvSpPr>
        <p:spPr>
          <a:xfrm xmlns:a="http://schemas.openxmlformats.org/drawingml/2006/main">
            <a:off x="3724275" y="3733800"/>
            <a:ext cx="3771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200</a:t>
            </a:r>
          </a:p>
        </p:txBody>
      </p:sp>
      <p:sp>
        <p:nvSpPr>
          <p:cNvPr id="15" name="">
            <a:extLst xmlns:a="http://schemas.openxmlformats.org/drawingml/2006/main">
              <a:ext uri="{FF2B5EF4-FFF2-40B4-BE49-F238E27FC236}">
                <a16:creationId xmlns:a16="http://schemas.microsoft.com/office/drawing/2014/main" id="{F329C0B8-F3DB-4A00-B636-364FEFF48713}"/>
              </a:ext>
            </a:extLst>
          </p:cNvPr>
          <p:cNvSpPr>
            <a:spLocks xmlns:a="http://schemas.openxmlformats.org/drawingml/2006/main" noGrp="1"/>
          </p:cNvSpPr>
          <p:nvPr/>
        </p:nvSpPr>
        <p:spPr>
          <a:xfrm xmlns:a="http://schemas.openxmlformats.org/drawingml/2006/main">
            <a:off x="7591425" y="3657600"/>
            <a:ext cx="3857625" cy="7143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C7B316C3-FDCA-4C9F-94F6-983B50FA514C}"/>
              </a:ext>
            </a:extLst>
          </p:cNvPr>
          <p:cNvSpPr>
            <a:spLocks xmlns:a="http://schemas.openxmlformats.org/drawingml/2006/main" noGrp="1"/>
          </p:cNvSpPr>
          <p:nvPr/>
        </p:nvSpPr>
        <p:spPr>
          <a:xfrm xmlns:a="http://schemas.openxmlformats.org/drawingml/2006/main">
            <a:off x="7686675" y="3733800"/>
            <a:ext cx="366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−200</a:t>
            </a:r>
          </a:p>
        </p:txBody>
      </p:sp>
      <p:sp>
        <p:nvSpPr>
          <p:cNvPr id="17" name="">
            <a:extLst xmlns:a="http://schemas.openxmlformats.org/drawingml/2006/main">
              <a:ext uri="{FF2B5EF4-FFF2-40B4-BE49-F238E27FC236}">
                <a16:creationId xmlns:a16="http://schemas.microsoft.com/office/drawing/2014/main" id="{71E552CF-3E13-4252-91E5-685A2BFFBCE7}"/>
              </a:ext>
            </a:extLst>
          </p:cNvPr>
          <p:cNvSpPr>
            <a:spLocks xmlns:a="http://schemas.openxmlformats.org/drawingml/2006/main" noGrp="1"/>
          </p:cNvSpPr>
          <p:nvPr/>
        </p:nvSpPr>
        <p:spPr>
          <a:xfrm xmlns:a="http://schemas.openxmlformats.org/drawingml/2006/main">
            <a:off x="742950" y="4371975"/>
            <a:ext cx="2886075" cy="7143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825B9F1D-4E03-4AB1-BC3B-56CFCDCB039C}"/>
              </a:ext>
            </a:extLst>
          </p:cNvPr>
          <p:cNvSpPr>
            <a:spLocks xmlns:a="http://schemas.openxmlformats.org/drawingml/2006/main" noGrp="1"/>
          </p:cNvSpPr>
          <p:nvPr/>
        </p:nvSpPr>
        <p:spPr>
          <a:xfrm xmlns:a="http://schemas.openxmlformats.org/drawingml/2006/main">
            <a:off x="838200" y="4448175"/>
            <a:ext cx="26955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(40,20)</a:t>
            </a:r>
          </a:p>
        </p:txBody>
      </p:sp>
      <p:sp>
        <p:nvSpPr>
          <p:cNvPr id="19" name="">
            <a:extLst xmlns:a="http://schemas.openxmlformats.org/drawingml/2006/main">
              <a:ext uri="{FF2B5EF4-FFF2-40B4-BE49-F238E27FC236}">
                <a16:creationId xmlns:a16="http://schemas.microsoft.com/office/drawing/2014/main" id="{4F976385-B404-4342-9FF8-F755EAE9F794}"/>
              </a:ext>
            </a:extLst>
          </p:cNvPr>
          <p:cNvSpPr>
            <a:spLocks xmlns:a="http://schemas.openxmlformats.org/drawingml/2006/main" noGrp="1"/>
          </p:cNvSpPr>
          <p:nvPr/>
        </p:nvSpPr>
        <p:spPr>
          <a:xfrm xmlns:a="http://schemas.openxmlformats.org/drawingml/2006/main">
            <a:off x="3629025" y="4371975"/>
            <a:ext cx="3962400" cy="7143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70E6C5DB-D68F-4982-AE81-FEF059902BF7}"/>
              </a:ext>
            </a:extLst>
          </p:cNvPr>
          <p:cNvSpPr>
            <a:spLocks xmlns:a="http://schemas.openxmlformats.org/drawingml/2006/main" noGrp="1"/>
          </p:cNvSpPr>
          <p:nvPr/>
        </p:nvSpPr>
        <p:spPr>
          <a:xfrm xmlns:a="http://schemas.openxmlformats.org/drawingml/2006/main">
            <a:off x="3724275" y="4448175"/>
            <a:ext cx="3771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220</a:t>
            </a:r>
          </a:p>
        </p:txBody>
      </p:sp>
      <p:sp>
        <p:nvSpPr>
          <p:cNvPr id="21" name="">
            <a:extLst xmlns:a="http://schemas.openxmlformats.org/drawingml/2006/main">
              <a:ext uri="{FF2B5EF4-FFF2-40B4-BE49-F238E27FC236}">
                <a16:creationId xmlns:a16="http://schemas.microsoft.com/office/drawing/2014/main" id="{55DA12A8-79E1-4538-AEA3-42656638D6C0}"/>
              </a:ext>
            </a:extLst>
          </p:cNvPr>
          <p:cNvSpPr>
            <a:spLocks xmlns:a="http://schemas.openxmlformats.org/drawingml/2006/main" noGrp="1"/>
          </p:cNvSpPr>
          <p:nvPr/>
        </p:nvSpPr>
        <p:spPr>
          <a:xfrm xmlns:a="http://schemas.openxmlformats.org/drawingml/2006/main">
            <a:off x="7591425" y="4371975"/>
            <a:ext cx="3857625" cy="7143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3B3EB8FD-6B7C-4200-AFA4-A6E39AB98D1B}"/>
              </a:ext>
            </a:extLst>
          </p:cNvPr>
          <p:cNvSpPr>
            <a:spLocks xmlns:a="http://schemas.openxmlformats.org/drawingml/2006/main" noGrp="1"/>
          </p:cNvSpPr>
          <p:nvPr/>
        </p:nvSpPr>
        <p:spPr>
          <a:xfrm xmlns:a="http://schemas.openxmlformats.org/drawingml/2006/main">
            <a:off x="7686675" y="4448175"/>
            <a:ext cx="3667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−220</a:t>
            </a:r>
          </a:p>
        </p:txBody>
      </p:sp>
      <p:sp>
        <p:nvSpPr>
          <p:cNvPr id="23" name="">
            <a:extLst xmlns:a="http://schemas.openxmlformats.org/drawingml/2006/main">
              <a:ext uri="{FF2B5EF4-FFF2-40B4-BE49-F238E27FC236}">
                <a16:creationId xmlns:a16="http://schemas.microsoft.com/office/drawing/2014/main" id="{120829B4-BF81-42C9-892C-B001C3DE31D9}"/>
              </a:ext>
            </a:extLst>
          </p:cNvPr>
          <p:cNvSpPr>
            <a:spLocks xmlns:a="http://schemas.openxmlformats.org/drawingml/2006/main" noGrp="1"/>
          </p:cNvSpPr>
          <p:nvPr/>
        </p:nvSpPr>
        <p:spPr>
          <a:xfrm xmlns:a="http://schemas.openxmlformats.org/drawingml/2006/main">
            <a:off x="819150" y="55054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Мінімум f=−220 дає максимум Z=220; після solver Z=−r.fun.</a:t>
            </a:r>
          </a:p>
        </p:txBody>
      </p:sp>
      <p:sp>
        <p:nvSpPr>
          <p:cNvPr id="25" name="">
            <a:extLst xmlns:a="http://schemas.openxmlformats.org/drawingml/2006/main">
              <a:ext uri="{FF2B5EF4-FFF2-40B4-BE49-F238E27FC236}">
                <a16:creationId xmlns:a16="http://schemas.microsoft.com/office/drawing/2014/main" id="{190CA140-5A69-4131-B729-7CDA5595806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20</a:t>
            </a:r>
          </a:p>
        </p:txBody>
      </p:sp>
    </p:spTree>
    <p:extLst>
      <p:ext uri="{BB962C8B-B14F-4D97-AF65-F5344CB8AC3E}">
        <p14:creationId xmlns:p14="http://schemas.microsoft.com/office/powerpoint/2010/main" val="77427894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D6367A-8836-422E-8DC2-DF8454EAA6D2}"/>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linprog: вхідні аргументи</a:t>
            </a:r>
          </a:p>
        </p:txBody>
      </p:sp>
      <p:sp>
        <p:nvSpPr>
          <p:cNvPr id="2" name="">
            <a:extLst xmlns:a="http://schemas.openxmlformats.org/drawingml/2006/main">
              <a:ext uri="{FF2B5EF4-FFF2-40B4-BE49-F238E27FC236}">
                <a16:creationId xmlns:a16="http://schemas.microsoft.com/office/drawing/2014/main" id="{AF7AAFA7-F49C-423B-A314-CEC7DBC8140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HiGHS: callback і x0 не підтримуються; integrality діє лише для method=highs.</a:t>
            </a:r>
          </a:p>
        </p:txBody>
      </p:sp>
      <p:sp>
        <p:nvSpPr>
          <p:cNvPr id="3" name="">
            <a:extLst xmlns:a="http://schemas.openxmlformats.org/drawingml/2006/main">
              <a:ext uri="{FF2B5EF4-FFF2-40B4-BE49-F238E27FC236}">
                <a16:creationId xmlns:a16="http://schemas.microsoft.com/office/drawing/2014/main" id="{BD5FEAE9-3707-4EA5-AF88-9FB6B9CA0C40}"/>
              </a:ext>
            </a:extLst>
          </p:cNvPr>
          <p:cNvSpPr>
            <a:spLocks xmlns:a="http://schemas.openxmlformats.org/drawingml/2006/main" noGrp="1"/>
          </p:cNvSpPr>
          <p:nvPr/>
        </p:nvSpPr>
        <p:spPr>
          <a:xfrm xmlns:a="http://schemas.openxmlformats.org/drawingml/2006/main">
            <a:off x="762000" y="1381125"/>
            <a:ext cx="10668000" cy="146685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5B0546-26EB-49FB-862E-FA8E2900AAE8}"/>
              </a:ext>
            </a:extLst>
          </p:cNvPr>
          <p:cNvSpPr>
            <a:spLocks xmlns:a="http://schemas.openxmlformats.org/drawingml/2006/main" noGrp="1"/>
          </p:cNvSpPr>
          <p:nvPr/>
        </p:nvSpPr>
        <p:spPr>
          <a:xfrm xmlns:a="http://schemas.openxmlformats.org/drawingml/2006/main">
            <a:off x="952500" y="1514475"/>
            <a:ext cx="1028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linprog(c, A_ub=None, b_ub=None, A_eq=None,</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b_eq=None, bounds=(0, None), method='highs',</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callback=None, options=None, x0=None,</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integrality=None)</a:t>
            </a:r>
          </a:p>
        </p:txBody>
      </p:sp>
      <p:graphicFrame>
        <p:nvGraphicFramePr>
          <p:cNvPr id="14" name="">
            <a:extLst xmlns:a="http://schemas.openxmlformats.org/drawingml/2006/main">
              <a:ext uri="{FF2B5EF4-FFF2-40B4-BE49-F238E27FC236}">
                <a16:creationId xmlns:a16="http://schemas.microsoft.com/office/drawing/2014/main" id="{08D7F99F-24D5-45AA-8C16-321292EC2BB5}"/>
              </a:ext>
            </a:extLst>
          </p:cNvPr>
          <p:cNvGraphicFramePr/>
          <p:nvPr/>
        </p:nvGraphicFramePr>
        <p:xfrm>
          <a:off xmlns:a="http://schemas.openxmlformats.org/drawingml/2006/main" x="762000" y="3171825"/>
          <a:ext xmlns:a="http://schemas.openxmlformats.org/drawingml/2006/main" cx="10668000" cy="2381250"/>
        </p:xfrm>
        <a:graphic xmlns:a="http://schemas.openxmlformats.org/drawingml/2006/main">
          <a:graphicData uri="http://schemas.openxmlformats.org/drawingml/2006/table">
            <a:tbl>
              <a:tblPr/>
              <a:tblGrid>
                <a:gridCol w="5048250"/>
                <a:gridCol w="5619750"/>
              </a:tblGrid>
              <a:tr h="595313">
                <a:tc>
                  <a:txBody>
                    <a:bodyPr/>
                    <a:lstStyle/>
                    <a:p>
                      <a:r>
                        <a:rPr sz="2100" b="1">
                          <a:solidFill>
                            <a:srgbClr val="FFFFFF"/>
                          </a:solidFill>
                          <a:latin typeface="Arial"/>
                          <a:ea typeface="Arial"/>
                          <a:cs typeface="Arial"/>
                        </a:rPr>
                        <a:t>Параметри</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Зміст</a:t>
                      </a:r>
                    </a:p>
                  </a:txBody>
                  <a:tcPr marL="114300" marR="114300" marT="66675" marB="66675" anchor="ctr">
                    <a:solidFill>
                      <a:srgbClr val="173047"/>
                    </a:solidFill>
                  </a:tcPr>
                </a:tc>
              </a:tr>
              <a:tr h="595313">
                <a:tc>
                  <a:txBody>
                    <a:bodyPr/>
                    <a:lstStyle/>
                    <a:p>
                      <a:r>
                        <a:rPr sz="2100">
                          <a:solidFill>
                            <a:srgbClr val="173047"/>
                          </a:solidFill>
                          <a:latin typeface="Arial"/>
                          <a:ea typeface="Arial"/>
                          <a:cs typeface="Arial"/>
                        </a:rPr>
                        <a:t>c</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Коефіцієнти цілі; тут [−4,−3]</a:t>
                      </a:r>
                    </a:p>
                  </a:txBody>
                  <a:tcPr marL="114300" marR="114300" marT="66675" marB="66675" anchor="ctr">
                    <a:solidFill>
                      <a:srgbClr val="FFFFFF"/>
                    </a:solidFill>
                  </a:tcPr>
                </a:tc>
              </a:tr>
              <a:tr h="595313">
                <a:tc>
                  <a:txBody>
                    <a:bodyPr/>
                    <a:lstStyle/>
                    <a:p>
                      <a:r>
                        <a:rPr sz="2100">
                          <a:solidFill>
                            <a:srgbClr val="173047"/>
                          </a:solidFill>
                          <a:latin typeface="Arial"/>
                          <a:ea typeface="Arial"/>
                          <a:cs typeface="Arial"/>
                        </a:rPr>
                        <a:t>A_ub,b_ub / A_eq,b_eq</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Нерівності Ax≤b / рівності Ax=b</a:t>
                      </a:r>
                    </a:p>
                  </a:txBody>
                  <a:tcPr marL="114300" marR="114300" marT="66675" marB="66675" anchor="ctr">
                    <a:solidFill>
                      <a:srgbClr val="FFFFFF"/>
                    </a:solidFill>
                  </a:tcPr>
                </a:tc>
              </a:tr>
              <a:tr h="595313">
                <a:tc>
                  <a:txBody>
                    <a:bodyPr/>
                    <a:lstStyle/>
                    <a:p>
                      <a:r>
                        <a:rPr sz="2100">
                          <a:solidFill>
                            <a:srgbClr val="173047"/>
                          </a:solidFill>
                          <a:latin typeface="Arial"/>
                          <a:ea typeface="Arial"/>
                          <a:cs typeface="Arial"/>
                        </a:rPr>
                        <a:t>bounds / method / options</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Межі / метод / налаштування</a:t>
                      </a:r>
                    </a:p>
                  </a:txBody>
                  <a:tcPr marL="114300" marR="114300" marT="66675" marB="6667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2412409E-4A18-4771-B2CA-A166EB4A1B37}"/>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21</a:t>
            </a:r>
          </a:p>
        </p:txBody>
      </p:sp>
    </p:spTree>
    <p:extLst>
      <p:ext uri="{BB962C8B-B14F-4D97-AF65-F5344CB8AC3E}">
        <p14:creationId xmlns:p14="http://schemas.microsoft.com/office/powerpoint/2010/main" val="62329488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D2F0B2-C5B8-452E-8E18-BA1421815010}"/>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linprog: значення параметрів у прикладі</a:t>
            </a:r>
          </a:p>
        </p:txBody>
      </p:sp>
      <p:sp>
        <p:nvSpPr>
          <p:cNvPr id="2" name="">
            <a:extLst xmlns:a="http://schemas.openxmlformats.org/drawingml/2006/main">
              <a:ext uri="{FF2B5EF4-FFF2-40B4-BE49-F238E27FC236}">
                <a16:creationId xmlns:a16="http://schemas.microsoft.com/office/drawing/2014/main" id="{DFBDCCC5-138A-4E0D-AF8B-2362C4D3E6D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method="highs" обирає алгоритм автоматично. "highs-ds" запускає двоїстий симплекс.</a:t>
            </a:r>
          </a:p>
        </p:txBody>
      </p:sp>
      <p:sp>
        <p:nvSpPr>
          <p:cNvPr id="3" name="">
            <a:extLst xmlns:a="http://schemas.openxmlformats.org/drawingml/2006/main">
              <a:ext uri="{FF2B5EF4-FFF2-40B4-BE49-F238E27FC236}">
                <a16:creationId xmlns:a16="http://schemas.microsoft.com/office/drawing/2014/main" id="{0BFD266D-8EC1-47F4-A15C-3EFC1A7045CB}"/>
              </a:ext>
            </a:extLst>
          </p:cNvPr>
          <p:cNvSpPr>
            <a:spLocks xmlns:a="http://schemas.openxmlformats.org/drawingml/2006/main" noGrp="1"/>
          </p:cNvSpPr>
          <p:nvPr/>
        </p:nvSpPr>
        <p:spPr>
          <a:xfrm xmlns:a="http://schemas.openxmlformats.org/drawingml/2006/main">
            <a:off x="762000" y="1504950"/>
            <a:ext cx="10668000" cy="155829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DB22E5-4225-4849-A9CC-D486CED38FB4}"/>
              </a:ext>
            </a:extLst>
          </p:cNvPr>
          <p:cNvSpPr>
            <a:spLocks xmlns:a="http://schemas.openxmlformats.org/drawingml/2006/main" noGrp="1"/>
          </p:cNvSpPr>
          <p:nvPr/>
        </p:nvSpPr>
        <p:spPr>
          <a:xfrm xmlns:a="http://schemas.openxmlformats.org/drawingml/2006/main">
            <a:off x="952500" y="1638300"/>
            <a:ext cx="10287000" cy="1291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bounds = [(0, None), (0, None)]  # x1,x2 &gt;= 0</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options = {'disp': True, 'presolve': False}</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r = linprog(c, A_ub=A, b_ub=b, bounds=bounds,</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method='highs-ds', options=options)</a:t>
            </a:r>
          </a:p>
        </p:txBody>
      </p:sp>
      <p:sp>
        <p:nvSpPr>
          <p:cNvPr id="5" name="">
            <a:extLst xmlns:a="http://schemas.openxmlformats.org/drawingml/2006/main">
              <a:ext uri="{FF2B5EF4-FFF2-40B4-BE49-F238E27FC236}">
                <a16:creationId xmlns:a16="http://schemas.microsoft.com/office/drawing/2014/main" id="{81B89133-671E-4D2E-9BCC-6C9B779EE188}"/>
              </a:ext>
            </a:extLst>
          </p:cNvPr>
          <p:cNvSpPr>
            <a:spLocks xmlns:a="http://schemas.openxmlformats.org/drawingml/2006/main" noGrp="1"/>
          </p:cNvSpPr>
          <p:nvPr/>
        </p:nvSpPr>
        <p:spPr>
          <a:xfrm xmlns:a="http://schemas.openxmlformats.org/drawingml/2006/main">
            <a:off x="762000" y="34004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disp=True: показати журнал.</a:t>
            </a:r>
          </a:p>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presolve=False: вимкнути попереднє спрощення</a:t>
            </a:r>
          </a:p>
          <a:p xmlns:a="http://schemas.openxmlformats.org/drawingml/2006/main">
            <a:pPr algn="l">
              <a:buNone/>
              <a:defRPr sz="2475" b="0">
                <a:solidFill>
                  <a:srgbClr val="173047"/>
                </a:solidFill>
                <a:latin typeface="Arial"/>
                <a:ea typeface="Arial"/>
                <a:cs typeface="Arial"/>
              </a:defRPr>
            </a:pPr>
            <a:r>
              <a:rPr sz="2475" b="0">
                <a:solidFill>
                  <a:srgbClr val="173047"/>
                </a:solidFill>
                <a:latin typeface="Arial"/>
                <a:ea typeface="Arial"/>
                <a:cs typeface="Arial"/>
              </a:rPr>
              <a:t>для цього діагностичного запуску.</a:t>
            </a:r>
          </a:p>
        </p:txBody>
      </p:sp>
      <p:sp>
        <p:nvSpPr>
          <p:cNvPr id="6" name="">
            <a:extLst xmlns:a="http://schemas.openxmlformats.org/drawingml/2006/main">
              <a:ext uri="{FF2B5EF4-FFF2-40B4-BE49-F238E27FC236}">
                <a16:creationId xmlns:a16="http://schemas.microsoft.com/office/drawing/2014/main" id="{2059AD09-52A8-4BB0-BFCF-53581F86EECE}"/>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22</a:t>
            </a:r>
          </a:p>
        </p:txBody>
      </p:sp>
    </p:spTree>
    <p:extLst>
      <p:ext uri="{BB962C8B-B14F-4D97-AF65-F5344CB8AC3E}">
        <p14:creationId xmlns:p14="http://schemas.microsoft.com/office/powerpoint/2010/main" val="19909940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4B2F79-6C59-44BE-B1BE-4E47B049FBB8}"/>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linprog: як читати результат r</a:t>
            </a:r>
          </a:p>
        </p:txBody>
      </p:sp>
      <p:sp>
        <p:nvSpPr>
          <p:cNvPr id="2" name="">
            <a:extLst xmlns:a="http://schemas.openxmlformats.org/drawingml/2006/main">
              <a:ext uri="{FF2B5EF4-FFF2-40B4-BE49-F238E27FC236}">
                <a16:creationId xmlns:a16="http://schemas.microsoft.com/office/drawing/2014/main" id="{790485F5-8643-456D-81BC-A51F40FFBD6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Спочатку r.success; потім план, ціль і перевірка обмежень.</a:t>
            </a:r>
          </a:p>
        </p:txBody>
      </p:sp>
      <p:graphicFrame>
        <p:nvGraphicFramePr>
          <p:cNvPr id="10" name="">
            <a:extLst xmlns:a="http://schemas.openxmlformats.org/drawingml/2006/main">
              <a:ext uri="{FF2B5EF4-FFF2-40B4-BE49-F238E27FC236}">
                <a16:creationId xmlns:a16="http://schemas.microsoft.com/office/drawing/2014/main" id="{BFD49588-85F5-4310-9B55-C79B7FA1C93F}"/>
              </a:ext>
            </a:extLst>
          </p:cNvPr>
          <p:cNvGraphicFramePr/>
          <p:nvPr/>
        </p:nvGraphicFramePr>
        <p:xfrm>
          <a:off xmlns:a="http://schemas.openxmlformats.org/drawingml/2006/main" x="762000" y="1447800"/>
          <a:ext xmlns:a="http://schemas.openxmlformats.org/drawingml/2006/main" cx="10668000" cy="4210050"/>
        </p:xfrm>
        <a:graphic xmlns:a="http://schemas.openxmlformats.org/drawingml/2006/main">
          <a:graphicData uri="http://schemas.openxmlformats.org/drawingml/2006/table">
            <a:tbl>
              <a:tblPr/>
              <a:tblGrid>
                <a:gridCol w="4191000"/>
                <a:gridCol w="6477000"/>
              </a:tblGrid>
              <a:tr h="701675">
                <a:tc>
                  <a:txBody>
                    <a:bodyPr/>
                    <a:lstStyle/>
                    <a:p>
                      <a:r>
                        <a:rPr sz="2100" b="1">
                          <a:solidFill>
                            <a:srgbClr val="FFFFFF"/>
                          </a:solidFill>
                          <a:latin typeface="Arial"/>
                          <a:ea typeface="Arial"/>
                          <a:cs typeface="Arial"/>
                        </a:rPr>
                        <a:t>Поле</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Зміст у прикладі</a:t>
                      </a:r>
                    </a:p>
                  </a:txBody>
                  <a:tcPr marL="114300" marR="114300" marT="66675" marB="66675" anchor="ctr">
                    <a:solidFill>
                      <a:srgbClr val="173047"/>
                    </a:solidFill>
                  </a:tcPr>
                </a:tc>
              </a:tr>
              <a:tr h="701675">
                <a:tc>
                  <a:txBody>
                    <a:bodyPr/>
                    <a:lstStyle/>
                    <a:p>
                      <a:r>
                        <a:rPr sz="2100">
                          <a:solidFill>
                            <a:srgbClr val="173047"/>
                          </a:solidFill>
                          <a:latin typeface="Arial"/>
                          <a:ea typeface="Arial"/>
                          <a:cs typeface="Arial"/>
                        </a:rPr>
                        <a:t>success / status / message</a:t>
                      </a:r>
                    </a:p>
                  </a:txBody>
                  <a:tcPr marL="114300" marR="114300" marT="66675" marB="66675" anchor="ctr">
                    <a:solidFill>
                      <a:srgbClr val="FFFFFF"/>
                    </a:solidFill>
                  </a:tcPr>
                </a:tc>
                <a:tc>
                  <a:txBody>
                    <a:bodyPr/>
                    <a:lstStyle/>
                    <a:p>
                      <a:r>
                        <a:rPr sz="2100">
                          <a:solidFill>
                            <a:srgbClr val="173047"/>
                          </a:solidFill>
                          <a:latin typeface="Arial"/>
                          <a:ea typeface="Arial"/>
                          <a:cs typeface="Arial"/>
                        </a:rPr>
                        <a:t>True / 0 / повідомлення про оптимум</a:t>
                      </a:r>
                    </a:p>
                  </a:txBody>
                  <a:tcPr marL="114300" marR="114300" marT="66675" marB="66675" anchor="ctr">
                    <a:solidFill>
                      <a:srgbClr val="FFFFFF"/>
                    </a:solidFill>
                  </a:tcPr>
                </a:tc>
              </a:tr>
              <a:tr h="701675">
                <a:tc>
                  <a:txBody>
                    <a:bodyPr/>
                    <a:lstStyle/>
                    <a:p>
                      <a:r>
                        <a:rPr sz="2100">
                          <a:solidFill>
                            <a:srgbClr val="173047"/>
                          </a:solidFill>
                          <a:latin typeface="Arial"/>
                          <a:ea typeface="Arial"/>
                          <a:cs typeface="Arial"/>
                        </a:rPr>
                        <a:t>x / fun</a:t>
                      </a:r>
                    </a:p>
                  </a:txBody>
                  <a:tcPr marL="114300" marR="114300" marT="66675" marB="66675" anchor="ctr">
                    <a:solidFill>
                      <a:srgbClr val="FFFFFF"/>
                    </a:solidFill>
                  </a:tcPr>
                </a:tc>
                <a:tc>
                  <a:txBody>
                    <a:bodyPr/>
                    <a:lstStyle/>
                    <a:p>
                      <a:r>
                        <a:rPr sz="2100">
                          <a:solidFill>
                            <a:srgbClr val="173047"/>
                          </a:solidFill>
                          <a:latin typeface="Arial"/>
                          <a:ea typeface="Arial"/>
                          <a:cs typeface="Arial"/>
                        </a:rPr>
                        <a:t>[40,20] / −220; тому Z=−r.fun=220</a:t>
                      </a:r>
                    </a:p>
                  </a:txBody>
                  <a:tcPr marL="114300" marR="114300" marT="66675" marB="66675" anchor="ctr">
                    <a:solidFill>
                      <a:srgbClr val="FFFFFF"/>
                    </a:solidFill>
                  </a:tcPr>
                </a:tc>
              </a:tr>
              <a:tr h="701675">
                <a:tc>
                  <a:txBody>
                    <a:bodyPr/>
                    <a:lstStyle/>
                    <a:p>
                      <a:r>
                        <a:rPr sz="2100">
                          <a:solidFill>
                            <a:srgbClr val="173047"/>
                          </a:solidFill>
                          <a:latin typeface="Arial"/>
                          <a:ea typeface="Arial"/>
                          <a:cs typeface="Arial"/>
                        </a:rPr>
                        <a:t>slack / con</a:t>
                      </a:r>
                    </a:p>
                  </a:txBody>
                  <a:tcPr marL="114300" marR="114300" marT="66675" marB="66675" anchor="ctr">
                    <a:solidFill>
                      <a:srgbClr val="FFFFFF"/>
                    </a:solidFill>
                  </a:tcPr>
                </a:tc>
                <a:tc>
                  <a:txBody>
                    <a:bodyPr/>
                    <a:lstStyle/>
                    <a:p>
                      <a:r>
                        <a:rPr sz="2100">
                          <a:solidFill>
                            <a:srgbClr val="173047"/>
                          </a:solidFill>
                          <a:latin typeface="Arial"/>
                          <a:ea typeface="Arial"/>
                          <a:cs typeface="Arial"/>
                        </a:rPr>
                        <a:t>[0,0] / []: залишки / нев’язки рівностей</a:t>
                      </a:r>
                    </a:p>
                  </a:txBody>
                  <a:tcPr marL="114300" marR="114300" marT="66675" marB="66675" anchor="ctr">
                    <a:solidFill>
                      <a:srgbClr val="FFFFFF"/>
                    </a:solidFill>
                  </a:tcPr>
                </a:tc>
              </a:tr>
              <a:tr h="701675">
                <a:tc>
                  <a:txBody>
                    <a:bodyPr/>
                    <a:lstStyle/>
                    <a:p>
                      <a:r>
                        <a:rPr sz="2100">
                          <a:solidFill>
                            <a:srgbClr val="173047"/>
                          </a:solidFill>
                          <a:latin typeface="Arial"/>
                          <a:ea typeface="Arial"/>
                          <a:cs typeface="Arial"/>
                        </a:rPr>
                        <a:t>nit</a:t>
                      </a:r>
                    </a:p>
                  </a:txBody>
                  <a:tcPr marL="114300" marR="114300" marT="66675" marB="66675" anchor="ctr">
                    <a:solidFill>
                      <a:srgbClr val="FFFFFF"/>
                    </a:solidFill>
                  </a:tcPr>
                </a:tc>
                <a:tc>
                  <a:txBody>
                    <a:bodyPr/>
                    <a:lstStyle/>
                    <a:p>
                      <a:r>
                        <a:rPr sz="2100">
                          <a:solidFill>
                            <a:srgbClr val="173047"/>
                          </a:solidFill>
                          <a:latin typeface="Arial"/>
                          <a:ea typeface="Arial"/>
                          <a:cs typeface="Arial"/>
                        </a:rPr>
                        <a:t>2 ітерації у діагностичному запуску ЛП</a:t>
                      </a:r>
                    </a:p>
                  </a:txBody>
                  <a:tcPr marL="114300" marR="114300" marT="66675" marB="66675" anchor="ctr">
                    <a:solidFill>
                      <a:srgbClr val="FFFFFF"/>
                    </a:solidFill>
                  </a:tcPr>
                </a:tc>
              </a:tr>
              <a:tr h="701675">
                <a:tc>
                  <a:txBody>
                    <a:bodyPr/>
                    <a:lstStyle/>
                    <a:p>
                      <a:r>
                        <a:rPr sz="2100">
                          <a:solidFill>
                            <a:srgbClr val="173047"/>
                          </a:solidFill>
                          <a:latin typeface="Arial"/>
                          <a:ea typeface="Arial"/>
                          <a:cs typeface="Arial"/>
                        </a:rPr>
                        <a:t>ineqlin,eqlin,lower,upper</a:t>
                      </a:r>
                    </a:p>
                  </a:txBody>
                  <a:tcPr marL="114300" marR="114300" marT="66675" marB="66675" anchor="ctr">
                    <a:solidFill>
                      <a:srgbClr val="FFFFFF"/>
                    </a:solidFill>
                  </a:tcPr>
                </a:tc>
                <a:tc>
                  <a:txBody>
                    <a:bodyPr/>
                    <a:lstStyle/>
                    <a:p>
                      <a:r>
                        <a:rPr sz="2100">
                          <a:solidFill>
                            <a:srgbClr val="173047"/>
                          </a:solidFill>
                          <a:latin typeface="Arial"/>
                          <a:ea typeface="Arial"/>
                          <a:cs typeface="Arial"/>
                        </a:rPr>
                        <a:t>residual — запас; marginals — локальні оцінки</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7CE4606-9533-4734-B07C-418D04F2D0D8}"/>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23</a:t>
            </a:r>
          </a:p>
        </p:txBody>
      </p:sp>
    </p:spTree>
    <p:extLst>
      <p:ext uri="{BB962C8B-B14F-4D97-AF65-F5344CB8AC3E}">
        <p14:creationId xmlns:p14="http://schemas.microsoft.com/office/powerpoint/2010/main" val="192490686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B67F54-9DD2-4556-BB9E-0F122F7062C0}"/>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Знак marginals: від −Z до початкової користі</a:t>
            </a:r>
          </a:p>
        </p:txBody>
      </p:sp>
      <p:sp>
        <p:nvSpPr>
          <p:cNvPr id="2" name="">
            <a:extLst xmlns:a="http://schemas.openxmlformats.org/drawingml/2006/main">
              <a:ext uri="{FF2B5EF4-FFF2-40B4-BE49-F238E27FC236}">
                <a16:creationId xmlns:a16="http://schemas.microsoft.com/office/drawing/2014/main" id="{1C53F4DB-0AF4-4F9A-B890-C4DE2FF0CC5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Знаки змінюються разом із цільовою функцією. Оцінки діють локально.</a:t>
            </a:r>
          </a:p>
        </p:txBody>
      </p:sp>
      <p:sp>
        <p:nvSpPr>
          <p:cNvPr id="3" name="">
            <a:extLst xmlns:a="http://schemas.openxmlformats.org/drawingml/2006/main">
              <a:ext uri="{FF2B5EF4-FFF2-40B4-BE49-F238E27FC236}">
                <a16:creationId xmlns:a16="http://schemas.microsoft.com/office/drawing/2014/main" id="{2F286CFF-6DCB-472F-9BD7-9A4930A772E6}"/>
              </a:ext>
            </a:extLst>
          </p:cNvPr>
          <p:cNvSpPr>
            <a:spLocks xmlns:a="http://schemas.openxmlformats.org/drawingml/2006/main" noGrp="1"/>
          </p:cNvSpPr>
          <p:nvPr/>
        </p:nvSpPr>
        <p:spPr>
          <a:xfrm xmlns:a="http://schemas.openxmlformats.org/drawingml/2006/main">
            <a:off x="762000" y="1495425"/>
            <a:ext cx="10668000" cy="103251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E0BCD2-4515-4C9E-81CE-8CBB4CDF4952}"/>
              </a:ext>
            </a:extLst>
          </p:cNvPr>
          <p:cNvSpPr>
            <a:spLocks xmlns:a="http://schemas.openxmlformats.org/drawingml/2006/main" noGrp="1"/>
          </p:cNvSpPr>
          <p:nvPr/>
        </p:nvSpPr>
        <p:spPr>
          <a:xfrm xmlns:a="http://schemas.openxmlformats.org/drawingml/2006/main">
            <a:off x="952500" y="1628775"/>
            <a:ext cx="1028700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print(r.ineqlin.marginals)</a:t>
            </a:r>
          </a:p>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print(-r.ineqlin.marginals)</a:t>
            </a:r>
          </a:p>
        </p:txBody>
      </p:sp>
      <p:sp>
        <p:nvSpPr>
          <p:cNvPr id="5" name="">
            <a:extLst xmlns:a="http://schemas.openxmlformats.org/drawingml/2006/main">
              <a:ext uri="{FF2B5EF4-FFF2-40B4-BE49-F238E27FC236}">
                <a16:creationId xmlns:a16="http://schemas.microsoft.com/office/drawing/2014/main" id="{9A687940-3C17-48EE-9E82-AB6F52299CE1}"/>
              </a:ext>
            </a:extLst>
          </p:cNvPr>
          <p:cNvSpPr>
            <a:spLocks xmlns:a="http://schemas.openxmlformats.org/drawingml/2006/main" noGrp="1"/>
          </p:cNvSpPr>
          <p:nvPr/>
        </p:nvSpPr>
        <p:spPr>
          <a:xfrm xmlns:a="http://schemas.openxmlformats.org/drawingml/2006/main">
            <a:off x="762000" y="2781300"/>
            <a:ext cx="10668000" cy="116205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34B978-E029-4079-8A55-25142FBDABE4}"/>
              </a:ext>
            </a:extLst>
          </p:cNvPr>
          <p:cNvSpPr>
            <a:spLocks xmlns:a="http://schemas.openxmlformats.org/drawingml/2006/main" noGrp="1"/>
          </p:cNvSpPr>
          <p:nvPr/>
        </p:nvSpPr>
        <p:spPr>
          <a:xfrm xmlns:a="http://schemas.openxmlformats.org/drawingml/2006/main">
            <a:off x="933450" y="2876550"/>
            <a:ext cx="103251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[-1.66666667 -0.66666667]</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[ 1.66666667  0.66666667]</a:t>
            </a:r>
          </a:p>
        </p:txBody>
      </p:sp>
      <p:sp>
        <p:nvSpPr>
          <p:cNvPr id="7" name="">
            <a:extLst xmlns:a="http://schemas.openxmlformats.org/drawingml/2006/main">
              <a:ext uri="{FF2B5EF4-FFF2-40B4-BE49-F238E27FC236}">
                <a16:creationId xmlns:a16="http://schemas.microsoft.com/office/drawing/2014/main" id="{0EDA149F-9414-4C06-AD8D-9D1C23519623}"/>
              </a:ext>
            </a:extLst>
          </p:cNvPr>
          <p:cNvSpPr>
            <a:spLocks xmlns:a="http://schemas.openxmlformats.org/drawingml/2006/main" noGrp="1"/>
          </p:cNvSpPr>
          <p:nvPr/>
        </p:nvSpPr>
        <p:spPr>
          <a:xfrm xmlns:a="http://schemas.openxmlformats.org/drawingml/2006/main">
            <a:off x="762000" y="4267200"/>
            <a:ext cx="10668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CPU +1: мінімум −Z зменшується на 5/3,</a:t>
            </a:r>
          </a:p>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а максимальна користь Z збільшується на 5/3.</a:t>
            </a:r>
          </a:p>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Для RAM відповідні зміни: −2/3 та +2/3.</a:t>
            </a:r>
          </a:p>
        </p:txBody>
      </p:sp>
      <p:sp>
        <p:nvSpPr>
          <p:cNvPr id="8" name="">
            <a:extLst xmlns:a="http://schemas.openxmlformats.org/drawingml/2006/main">
              <a:ext uri="{FF2B5EF4-FFF2-40B4-BE49-F238E27FC236}">
                <a16:creationId xmlns:a16="http://schemas.microsoft.com/office/drawing/2014/main" id="{F9709052-BE18-498A-A4E2-7CF6BEC3C852}"/>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24</a:t>
            </a:r>
          </a:p>
        </p:txBody>
      </p:sp>
    </p:spTree>
    <p:extLst>
      <p:ext uri="{BB962C8B-B14F-4D97-AF65-F5344CB8AC3E}">
        <p14:creationId xmlns:p14="http://schemas.microsoft.com/office/powerpoint/2010/main" val="92602975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FF5DB8-33B6-4A6D-84A2-3E05DFA4AB7B}"/>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дані моделі ЛП</a:t>
            </a:r>
          </a:p>
        </p:txBody>
      </p:sp>
      <p:sp>
        <p:nvSpPr>
          <p:cNvPr id="2" name="">
            <a:extLst xmlns:a="http://schemas.openxmlformats.org/drawingml/2006/main">
              <a:ext uri="{FF2B5EF4-FFF2-40B4-BE49-F238E27FC236}">
                <a16:creationId xmlns:a16="http://schemas.microsoft.com/office/drawing/2014/main" id="{6555B7F3-3247-45B6-9A5C-46FB9A74610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Кожен коефіцієнт коду взято з математичної моделі.</a:t>
            </a:r>
          </a:p>
        </p:txBody>
      </p:sp>
      <p:sp>
        <p:nvSpPr>
          <p:cNvPr id="3" name="">
            <a:extLst xmlns:a="http://schemas.openxmlformats.org/drawingml/2006/main">
              <a:ext uri="{FF2B5EF4-FFF2-40B4-BE49-F238E27FC236}">
                <a16:creationId xmlns:a16="http://schemas.microsoft.com/office/drawing/2014/main" id="{510E529C-07EB-4E0F-9110-80CE4408DCF9}"/>
              </a:ext>
            </a:extLst>
          </p:cNvPr>
          <p:cNvSpPr>
            <a:spLocks xmlns:a="http://schemas.openxmlformats.org/drawingml/2006/main" noGrp="1"/>
          </p:cNvSpPr>
          <p:nvPr/>
        </p:nvSpPr>
        <p:spPr>
          <a:xfrm xmlns:a="http://schemas.openxmlformats.org/drawingml/2006/main">
            <a:off x="762000" y="1714500"/>
            <a:ext cx="10668000" cy="231267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72AC6E2-FB82-4241-9D77-2BA0CAAD0CFC}"/>
              </a:ext>
            </a:extLst>
          </p:cNvPr>
          <p:cNvSpPr>
            <a:spLocks xmlns:a="http://schemas.openxmlformats.org/drawingml/2006/main" noGrp="1"/>
          </p:cNvSpPr>
          <p:nvPr/>
        </p:nvSpPr>
        <p:spPr>
          <a:xfrm xmlns:a="http://schemas.openxmlformats.org/drawingml/2006/main">
            <a:off x="952500" y="1847850"/>
            <a:ext cx="10287000" cy="20459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from scipy.optimize import linprog</a:t>
            </a:r>
          </a:p>
          <a:p xmlns:a="http://schemas.openxmlformats.org/drawingml/2006/main">
            <a:r>
              <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 x[0] — інференс; x[1] — аналітика</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c = [-4,-3]          # мінімізуємо -Z</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A = [[2,1],[1,2]]   # CPU, пам’ять</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b = [100,80]        # запаси</a:t>
            </a:r>
          </a:p>
        </p:txBody>
      </p:sp>
      <p:sp>
        <p:nvSpPr>
          <p:cNvPr id="7" name="">
            <a:extLst xmlns:a="http://schemas.openxmlformats.org/drawingml/2006/main">
              <a:ext uri="{FF2B5EF4-FFF2-40B4-BE49-F238E27FC236}">
                <a16:creationId xmlns:a16="http://schemas.microsoft.com/office/drawing/2014/main" id="{D842DF89-5248-4BED-AABB-506225707C4D}"/>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25</a:t>
            </a:r>
          </a:p>
        </p:txBody>
      </p:sp>
    </p:spTree>
    <p:extLst>
      <p:ext uri="{BB962C8B-B14F-4D97-AF65-F5344CB8AC3E}">
        <p14:creationId xmlns:p14="http://schemas.microsoft.com/office/powerpoint/2010/main" val="501098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57D4C3-8702-4EBE-8133-D0A15E25F641}"/>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Python: розв’язання ЛП і перевірка</a:t>
            </a:r>
          </a:p>
        </p:txBody>
      </p:sp>
      <p:sp>
        <p:nvSpPr>
          <p:cNvPr id="2" name="">
            <a:extLst xmlns:a="http://schemas.openxmlformats.org/drawingml/2006/main">
              <a:ext uri="{FF2B5EF4-FFF2-40B4-BE49-F238E27FC236}">
                <a16:creationId xmlns:a16="http://schemas.microsoft.com/office/drawing/2014/main" id="{54800A97-78AE-4FCD-BDBA-417A2BA2664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x₁=40, x₂=20; обидва ресурси використано повністю.</a:t>
            </a:r>
          </a:p>
        </p:txBody>
      </p:sp>
      <p:sp>
        <p:nvSpPr>
          <p:cNvPr id="3" name="">
            <a:extLst xmlns:a="http://schemas.openxmlformats.org/drawingml/2006/main">
              <a:ext uri="{FF2B5EF4-FFF2-40B4-BE49-F238E27FC236}">
                <a16:creationId xmlns:a16="http://schemas.microsoft.com/office/drawing/2014/main" id="{DA43AC09-FE3B-4EFD-828B-F19119FB757E}"/>
              </a:ext>
            </a:extLst>
          </p:cNvPr>
          <p:cNvSpPr>
            <a:spLocks xmlns:a="http://schemas.openxmlformats.org/drawingml/2006/main" noGrp="1"/>
          </p:cNvSpPr>
          <p:nvPr/>
        </p:nvSpPr>
        <p:spPr>
          <a:xfrm xmlns:a="http://schemas.openxmlformats.org/drawingml/2006/main">
            <a:off x="762000" y="1600200"/>
            <a:ext cx="10668000" cy="164973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277E31-82F0-4571-AA3D-C627A1926D50}"/>
              </a:ext>
            </a:extLst>
          </p:cNvPr>
          <p:cNvSpPr>
            <a:spLocks xmlns:a="http://schemas.openxmlformats.org/drawingml/2006/main" noGrp="1"/>
          </p:cNvSpPr>
          <p:nvPr/>
        </p:nvSpPr>
        <p:spPr>
          <a:xfrm xmlns:a="http://schemas.openxmlformats.org/drawingml/2006/main">
            <a:off x="952500" y="1733550"/>
            <a:ext cx="10287000" cy="1383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r = linprog(c, A_ub=A, b_ub=b, method='highs')</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if not r.success: raise RuntimeError(r.message)</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print(r.x, -r.fun)</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print('Залишки:', r.slack)</a:t>
            </a:r>
          </a:p>
        </p:txBody>
      </p:sp>
      <p:sp>
        <p:nvSpPr>
          <p:cNvPr id="5" name="">
            <a:extLst xmlns:a="http://schemas.openxmlformats.org/drawingml/2006/main">
              <a:ext uri="{FF2B5EF4-FFF2-40B4-BE49-F238E27FC236}">
                <a16:creationId xmlns:a16="http://schemas.microsoft.com/office/drawing/2014/main" id="{5E2BFE7B-9054-433A-99E4-CC99C57564F3}"/>
              </a:ext>
            </a:extLst>
          </p:cNvPr>
          <p:cNvSpPr>
            <a:spLocks xmlns:a="http://schemas.openxmlformats.org/drawingml/2006/main" noGrp="1"/>
          </p:cNvSpPr>
          <p:nvPr/>
        </p:nvSpPr>
        <p:spPr>
          <a:xfrm xmlns:a="http://schemas.openxmlformats.org/drawingml/2006/main">
            <a:off x="762000" y="3762375"/>
            <a:ext cx="10668000" cy="131445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561AFB0-E304-4769-96C1-69072D157F59}"/>
              </a:ext>
            </a:extLst>
          </p:cNvPr>
          <p:cNvSpPr>
            <a:spLocks xmlns:a="http://schemas.openxmlformats.org/drawingml/2006/main" noGrp="1"/>
          </p:cNvSpPr>
          <p:nvPr/>
        </p:nvSpPr>
        <p:spPr>
          <a:xfrm xmlns:a="http://schemas.openxmlformats.org/drawingml/2006/main">
            <a:off x="933450" y="3857625"/>
            <a:ext cx="103251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[40. 20.] 220.0</a:t>
            </a:r>
          </a:p>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Залишки: [0. 0.]</a:t>
            </a:r>
          </a:p>
        </p:txBody>
      </p:sp>
      <p:sp>
        <p:nvSpPr>
          <p:cNvPr id="9" name="">
            <a:extLst xmlns:a="http://schemas.openxmlformats.org/drawingml/2006/main">
              <a:ext uri="{FF2B5EF4-FFF2-40B4-BE49-F238E27FC236}">
                <a16:creationId xmlns:a16="http://schemas.microsoft.com/office/drawing/2014/main" id="{464490BF-F0CC-4EC9-B98B-CB37A8F1C4F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26</a:t>
            </a:r>
          </a:p>
        </p:txBody>
      </p:sp>
    </p:spTree>
    <p:extLst>
      <p:ext uri="{BB962C8B-B14F-4D97-AF65-F5344CB8AC3E}">
        <p14:creationId xmlns:p14="http://schemas.microsoft.com/office/powerpoint/2010/main" val="100598542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9B2140-051D-4E1F-BC7C-178144B8D686}"/>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Журнал HiGHS: фактичний запуск ЛП</a:t>
            </a:r>
          </a:p>
        </p:txBody>
      </p:sp>
      <p:sp>
        <p:nvSpPr>
          <p:cNvPr id="2" name="">
            <a:extLst xmlns:a="http://schemas.openxmlformats.org/drawingml/2006/main">
              <a:ext uri="{FF2B5EF4-FFF2-40B4-BE49-F238E27FC236}">
                <a16:creationId xmlns:a16="http://schemas.microsoft.com/office/drawing/2014/main" id="{AF33C82F-D7FE-4AE6-AFC0-EA4C22F6FA4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Журнал розв’язувача та навчальні таблиці показують різні рівні деталізації.</a:t>
            </a:r>
          </a:p>
        </p:txBody>
      </p:sp>
      <p:sp>
        <p:nvSpPr>
          <p:cNvPr id="3" name="">
            <a:extLst xmlns:a="http://schemas.openxmlformats.org/drawingml/2006/main">
              <a:ext uri="{FF2B5EF4-FFF2-40B4-BE49-F238E27FC236}">
                <a16:creationId xmlns:a16="http://schemas.microsoft.com/office/drawing/2014/main" id="{92B46CBD-779B-4173-A579-F045C1173AD1}"/>
              </a:ext>
            </a:extLst>
          </p:cNvPr>
          <p:cNvSpPr>
            <a:spLocks xmlns:a="http://schemas.openxmlformats.org/drawingml/2006/main" noGrp="1"/>
          </p:cNvSpPr>
          <p:nvPr/>
        </p:nvSpPr>
        <p:spPr>
          <a:xfrm xmlns:a="http://schemas.openxmlformats.org/drawingml/2006/main">
            <a:off x="762000" y="1409700"/>
            <a:ext cx="10668000" cy="124968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5A9AD0-8C2C-40E8-9F16-AD836ACD7B82}"/>
              </a:ext>
            </a:extLst>
          </p:cNvPr>
          <p:cNvSpPr>
            <a:spLocks xmlns:a="http://schemas.openxmlformats.org/drawingml/2006/main" noGrp="1"/>
          </p:cNvSpPr>
          <p:nvPr/>
        </p:nvSpPr>
        <p:spPr>
          <a:xfrm xmlns:a="http://schemas.openxmlformats.org/drawingml/2006/main">
            <a:off x="952500" y="1543050"/>
            <a:ext cx="10287000" cy="982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r = linprog(c, A_ub=A, b_ub=b, method='highs-ds',</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options={'disp': True, 'presolve': False})</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print(r.nit, r.x, -r.fun)</a:t>
            </a:r>
          </a:p>
        </p:txBody>
      </p:sp>
      <p:sp>
        <p:nvSpPr>
          <p:cNvPr id="5" name="">
            <a:extLst xmlns:a="http://schemas.openxmlformats.org/drawingml/2006/main">
              <a:ext uri="{FF2B5EF4-FFF2-40B4-BE49-F238E27FC236}">
                <a16:creationId xmlns:a16="http://schemas.microsoft.com/office/drawing/2014/main" id="{DB7591A8-B920-40CE-A603-ADE2F4DB0AD7}"/>
              </a:ext>
            </a:extLst>
          </p:cNvPr>
          <p:cNvSpPr>
            <a:spLocks xmlns:a="http://schemas.openxmlformats.org/drawingml/2006/main" noGrp="1"/>
          </p:cNvSpPr>
          <p:nvPr/>
        </p:nvSpPr>
        <p:spPr>
          <a:xfrm xmlns:a="http://schemas.openxmlformats.org/drawingml/2006/main">
            <a:off x="762000" y="3095625"/>
            <a:ext cx="10668000" cy="2428875"/>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6A1E9A-5976-41D4-ABE2-9148D613E39C}"/>
              </a:ext>
            </a:extLst>
          </p:cNvPr>
          <p:cNvSpPr>
            <a:spLocks xmlns:a="http://schemas.openxmlformats.org/drawingml/2006/main" noGrp="1"/>
          </p:cNvSpPr>
          <p:nvPr/>
        </p:nvSpPr>
        <p:spPr>
          <a:xfrm xmlns:a="http://schemas.openxmlformats.org/drawingml/2006/main">
            <a:off x="933450" y="3190875"/>
            <a:ext cx="103251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Iteration  Objective</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0  -6.999993e+00  Ph1</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2  -2.200000e+02  Pr: 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Simplex iterations: 2</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2 [40. 20.] 220.0</a:t>
            </a:r>
          </a:p>
        </p:txBody>
      </p:sp>
      <p:sp>
        <p:nvSpPr>
          <p:cNvPr id="7" name="">
            <a:extLst xmlns:a="http://schemas.openxmlformats.org/drawingml/2006/main">
              <a:ext uri="{FF2B5EF4-FFF2-40B4-BE49-F238E27FC236}">
                <a16:creationId xmlns:a16="http://schemas.microsoft.com/office/drawing/2014/main" id="{ACC908AD-2D0B-49FA-8EC4-052CBBB628C4}"/>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10" name="">
            <a:extLst xmlns:a="http://schemas.openxmlformats.org/drawingml/2006/main">
              <a:ext uri="{FF2B5EF4-FFF2-40B4-BE49-F238E27FC236}">
                <a16:creationId xmlns:a16="http://schemas.microsoft.com/office/drawing/2014/main" id="{8AE7486B-83F4-4A28-AA6C-8DB1D20C78D2}"/>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27</a:t>
            </a:r>
          </a:p>
        </p:txBody>
      </p:sp>
    </p:spTree>
    <p:extLst>
      <p:ext uri="{BB962C8B-B14F-4D97-AF65-F5344CB8AC3E}">
        <p14:creationId xmlns:p14="http://schemas.microsoft.com/office/powerpoint/2010/main" val="930542876"/>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85427D3-3D33-4701-9989-09CA1DB01F9E}"/>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Навчальний симплекс: окремі дані для max</a:t>
            </a:r>
          </a:p>
        </p:txBody>
      </p:sp>
      <p:sp>
        <p:nvSpPr>
          <p:cNvPr id="2" name="">
            <a:extLst xmlns:a="http://schemas.openxmlformats.org/drawingml/2006/main">
              <a:ext uri="{FF2B5EF4-FFF2-40B4-BE49-F238E27FC236}">
                <a16:creationId xmlns:a16="http://schemas.microsoft.com/office/drawing/2014/main" id="{C04926F6-9162-4F7B-9F17-686FB94FD73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Стовпці x₁,x₂,sCPU,sMEM; початковий базис — два залишки.</a:t>
            </a:r>
          </a:p>
        </p:txBody>
      </p:sp>
      <p:sp>
        <p:nvSpPr>
          <p:cNvPr id="3" name="">
            <a:extLst xmlns:a="http://schemas.openxmlformats.org/drawingml/2006/main">
              <a:ext uri="{FF2B5EF4-FFF2-40B4-BE49-F238E27FC236}">
                <a16:creationId xmlns:a16="http://schemas.microsoft.com/office/drawing/2014/main" id="{C499E543-CB32-4BDF-A9E8-0EB18D046BCE}"/>
              </a:ext>
            </a:extLst>
          </p:cNvPr>
          <p:cNvSpPr>
            <a:spLocks xmlns:a="http://schemas.openxmlformats.org/drawingml/2006/main" noGrp="1"/>
          </p:cNvSpPr>
          <p:nvPr/>
        </p:nvSpPr>
        <p:spPr>
          <a:xfrm xmlns:a="http://schemas.openxmlformats.org/drawingml/2006/main">
            <a:off x="762000" y="1562100"/>
            <a:ext cx="10668000" cy="231267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30FBD6-C451-46C7-B20C-1C23C1033301}"/>
              </a:ext>
            </a:extLst>
          </p:cNvPr>
          <p:cNvSpPr>
            <a:spLocks xmlns:a="http://schemas.openxmlformats.org/drawingml/2006/main" noGrp="1"/>
          </p:cNvSpPr>
          <p:nvPr/>
        </p:nvSpPr>
        <p:spPr>
          <a:xfrm xmlns:a="http://schemas.openxmlformats.org/drawingml/2006/main">
            <a:off x="952500" y="1695450"/>
            <a:ext cx="10287000" cy="20459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import numpy as np</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A = np.array([[2,1,1,0],[1,2,0,1]], float)</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b = np.array([100,80], float)</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c = np.array([4,3,0,0], float)  # max: +c</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basis = [2,3]</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m = len(b)</a:t>
            </a:r>
          </a:p>
        </p:txBody>
      </p:sp>
      <p:sp>
        <p:nvSpPr>
          <p:cNvPr id="7" name="">
            <a:extLst xmlns:a="http://schemas.openxmlformats.org/drawingml/2006/main">
              <a:ext uri="{FF2B5EF4-FFF2-40B4-BE49-F238E27FC236}">
                <a16:creationId xmlns:a16="http://schemas.microsoft.com/office/drawing/2014/main" id="{4529198C-EFBE-4868-86EC-E04C651A5EF2}"/>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28</a:t>
            </a:r>
          </a:p>
        </p:txBody>
      </p:sp>
    </p:spTree>
    <p:extLst>
      <p:ext uri="{BB962C8B-B14F-4D97-AF65-F5344CB8AC3E}">
        <p14:creationId xmlns:p14="http://schemas.microsoft.com/office/powerpoint/2010/main" val="16488701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93B9AF-1946-4111-A913-A3B895C87B31}"/>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Навчальний симплекс: фрагмент циклу</a:t>
            </a:r>
          </a:p>
        </p:txBody>
      </p:sp>
      <p:sp>
        <p:nvSpPr>
          <p:cNvPr id="2" name="">
            <a:extLst xmlns:a="http://schemas.openxmlformats.org/drawingml/2006/main">
              <a:ext uri="{FF2B5EF4-FFF2-40B4-BE49-F238E27FC236}">
                <a16:creationId xmlns:a16="http://schemas.microsoft.com/office/drawing/2014/main" id="{80794E39-DA31-4CAD-A13E-5F06A687160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Це фрагмент циклу. Повна реалізація та друк таблиць: lecture4_5_traces.py.</a:t>
            </a:r>
          </a:p>
        </p:txBody>
      </p:sp>
      <p:sp>
        <p:nvSpPr>
          <p:cNvPr id="3" name="">
            <a:extLst xmlns:a="http://schemas.openxmlformats.org/drawingml/2006/main">
              <a:ext uri="{FF2B5EF4-FFF2-40B4-BE49-F238E27FC236}">
                <a16:creationId xmlns:a16="http://schemas.microsoft.com/office/drawing/2014/main" id="{C734807A-F598-4474-B319-57F11FBE747A}"/>
              </a:ext>
            </a:extLst>
          </p:cNvPr>
          <p:cNvSpPr>
            <a:spLocks xmlns:a="http://schemas.openxmlformats.org/drawingml/2006/main" noGrp="1"/>
          </p:cNvSpPr>
          <p:nvPr/>
        </p:nvSpPr>
        <p:spPr>
          <a:xfrm xmlns:a="http://schemas.openxmlformats.org/drawingml/2006/main">
            <a:off x="762000" y="1552575"/>
            <a:ext cx="10668000" cy="23241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832A0C-C3C5-4717-BA2A-7ED44595E13F}"/>
              </a:ext>
            </a:extLst>
          </p:cNvPr>
          <p:cNvSpPr>
            <a:spLocks xmlns:a="http://schemas.openxmlformats.org/drawingml/2006/main" noGrp="1"/>
          </p:cNvSpPr>
          <p:nvPr/>
        </p:nvSpPr>
        <p:spPr>
          <a:xfrm xmlns:a="http://schemas.openxmlformats.org/drawingml/2006/main">
            <a:off x="952500" y="1685925"/>
            <a:ext cx="10287000" cy="205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Усередині циклу; A,b,c,basis задано раніше</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xB = np.linalg.solve(A[:, basis], b)</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reduced = c - c[basis] @ np.linalg.solve(A[:, basis], A)</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free = [j for j in range(4) if j not in basis]</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enter = max(free, key=lambda j: reduced[j])</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Δ≤0: стоп; інакше direction, тест θ, заміна базису</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print(step, basis, xB, reduced)</a:t>
            </a:r>
          </a:p>
        </p:txBody>
      </p:sp>
      <p:sp>
        <p:nvSpPr>
          <p:cNvPr id="5" name="">
            <a:extLst xmlns:a="http://schemas.openxmlformats.org/drawingml/2006/main">
              <a:ext uri="{FF2B5EF4-FFF2-40B4-BE49-F238E27FC236}">
                <a16:creationId xmlns:a16="http://schemas.microsoft.com/office/drawing/2014/main" id="{57EDB369-A83E-4E2E-B7C1-7440C4CAE293}"/>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8" name="">
            <a:extLst xmlns:a="http://schemas.openxmlformats.org/drawingml/2006/main">
              <a:ext uri="{FF2B5EF4-FFF2-40B4-BE49-F238E27FC236}">
                <a16:creationId xmlns:a16="http://schemas.microsoft.com/office/drawing/2014/main" id="{1C71268F-1185-4642-B7F9-05632CDDF347}"/>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29</a:t>
            </a:r>
          </a:p>
        </p:txBody>
      </p:sp>
    </p:spTree>
    <p:extLst>
      <p:ext uri="{BB962C8B-B14F-4D97-AF65-F5344CB8AC3E}">
        <p14:creationId xmlns:p14="http://schemas.microsoft.com/office/powerpoint/2010/main" val="46048695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267007-04E5-43ED-B97F-E85BF9AEBE07}"/>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Симплекс: фактичний stdout і ключові переходи</a:t>
            </a:r>
          </a:p>
        </p:txBody>
      </p:sp>
      <p:sp>
        <p:nvSpPr>
          <p:cNvPr id="2" name="">
            <a:extLst xmlns:a="http://schemas.openxmlformats.org/drawingml/2006/main">
              <a:ext uri="{FF2B5EF4-FFF2-40B4-BE49-F238E27FC236}">
                <a16:creationId xmlns:a16="http://schemas.microsoft.com/office/drawing/2014/main" id="{567FC606-8053-44D4-87F2-CE96DD0E926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Входить x₁ → виходить sCPU; потім входить x₂ → виходить sMEM.</a:t>
            </a:r>
          </a:p>
        </p:txBody>
      </p:sp>
      <p:sp>
        <p:nvSpPr>
          <p:cNvPr id="3" name="">
            <a:extLst xmlns:a="http://schemas.openxmlformats.org/drawingml/2006/main">
              <a:ext uri="{FF2B5EF4-FFF2-40B4-BE49-F238E27FC236}">
                <a16:creationId xmlns:a16="http://schemas.microsoft.com/office/drawing/2014/main" id="{7DAE214C-92A2-4FD7-B7E8-1382E38461ED}"/>
              </a:ext>
            </a:extLst>
          </p:cNvPr>
          <p:cNvSpPr>
            <a:spLocks xmlns:a="http://schemas.openxmlformats.org/drawingml/2006/main" noGrp="1"/>
          </p:cNvSpPr>
          <p:nvPr/>
        </p:nvSpPr>
        <p:spPr>
          <a:xfrm xmlns:a="http://schemas.openxmlformats.org/drawingml/2006/main">
            <a:off x="762000" y="1600200"/>
            <a:ext cx="10668000" cy="2905125"/>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7F1C72-E682-401F-AF65-9165350D388D}"/>
              </a:ext>
            </a:extLst>
          </p:cNvPr>
          <p:cNvSpPr>
            <a:spLocks xmlns:a="http://schemas.openxmlformats.org/drawingml/2006/main" noGrp="1"/>
          </p:cNvSpPr>
          <p:nvPr/>
        </p:nvSpPr>
        <p:spPr>
          <a:xfrm xmlns:a="http://schemas.openxmlformats.org/drawingml/2006/main">
            <a:off x="933450" y="1695450"/>
            <a:ext cx="103251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Ітерація 0: x=[0,0], Z=0</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Входить x1, виходить sCPU; θ=50</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Ітерація 1: x=[50,0], Z=200</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Входить x2, виходить sMEM; θ=20</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Ітерація 2: x=[40,20], Z=220</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  Усі прирости ≤0: оптимум</a:t>
            </a:r>
          </a:p>
        </p:txBody>
      </p:sp>
      <p:sp>
        <p:nvSpPr>
          <p:cNvPr id="5" name="">
            <a:extLst xmlns:a="http://schemas.openxmlformats.org/drawingml/2006/main">
              <a:ext uri="{FF2B5EF4-FFF2-40B4-BE49-F238E27FC236}">
                <a16:creationId xmlns:a16="http://schemas.microsoft.com/office/drawing/2014/main" id="{82D610A3-D552-49A3-80F8-9FE7F4DEC6BE}"/>
              </a:ext>
            </a:extLst>
          </p:cNvPr>
          <p:cNvSpPr>
            <a:spLocks xmlns:a="http://schemas.openxmlformats.org/drawingml/2006/main" noGrp="1"/>
          </p:cNvSpPr>
          <p:nvPr/>
        </p:nvSpPr>
        <p:spPr>
          <a:xfrm xmlns:a="http://schemas.openxmlformats.org/drawingml/2006/main">
            <a:off x="762000" y="48196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Фрагмент stdout lecture4_5_traces.py; перевірка SciPy: Z=220.</a:t>
            </a:r>
          </a:p>
        </p:txBody>
      </p:sp>
      <p:sp>
        <p:nvSpPr>
          <p:cNvPr id="6" name="">
            <a:extLst xmlns:a="http://schemas.openxmlformats.org/drawingml/2006/main">
              <a:ext uri="{FF2B5EF4-FFF2-40B4-BE49-F238E27FC236}">
                <a16:creationId xmlns:a16="http://schemas.microsoft.com/office/drawing/2014/main" id="{8C4DB2E6-84CA-4A09-B3F0-A1EAB1C1B4A8}"/>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9" name="">
            <a:extLst xmlns:a="http://schemas.openxmlformats.org/drawingml/2006/main">
              <a:ext uri="{FF2B5EF4-FFF2-40B4-BE49-F238E27FC236}">
                <a16:creationId xmlns:a16="http://schemas.microsoft.com/office/drawing/2014/main" id="{F48D5F60-591A-43B5-864C-34C8D2D5E87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30</a:t>
            </a:r>
          </a:p>
        </p:txBody>
      </p:sp>
    </p:spTree>
    <p:extLst>
      <p:ext uri="{BB962C8B-B14F-4D97-AF65-F5344CB8AC3E}">
        <p14:creationId xmlns:p14="http://schemas.microsoft.com/office/powerpoint/2010/main" val="204468394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4CDF78E-98A1-4365-A304-5889EEED2240}"/>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Підстановка результату у модель</a:t>
            </a:r>
          </a:p>
        </p:txBody>
      </p:sp>
      <p:sp>
        <p:nvSpPr>
          <p:cNvPr id="3" name="">
            <a:extLst xmlns:a="http://schemas.openxmlformats.org/drawingml/2006/main">
              <a:ext uri="{FF2B5EF4-FFF2-40B4-BE49-F238E27FC236}">
                <a16:creationId xmlns:a16="http://schemas.microsoft.com/office/drawing/2014/main" id="{A3755520-3D29-4023-968E-BD494480058E}"/>
              </a:ext>
            </a:extLst>
          </p:cNvPr>
          <p:cNvSpPr>
            <a:spLocks xmlns:a="http://schemas.openxmlformats.org/drawingml/2006/main" noGrp="1"/>
          </p:cNvSpPr>
          <p:nvPr/>
        </p:nvSpPr>
        <p:spPr>
          <a:xfrm xmlns:a="http://schemas.openxmlformats.org/drawingml/2006/main">
            <a:off x="742950" y="1866900"/>
            <a:ext cx="2638425" cy="7905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BFB0EE46-63C4-48A0-AD33-BAC749466386}"/>
              </a:ext>
            </a:extLst>
          </p:cNvPr>
          <p:cNvSpPr>
            <a:spLocks xmlns:a="http://schemas.openxmlformats.org/drawingml/2006/main" noGrp="1"/>
          </p:cNvSpPr>
          <p:nvPr/>
        </p:nvSpPr>
        <p:spPr>
          <a:xfrm xmlns:a="http://schemas.openxmlformats.org/drawingml/2006/main">
            <a:off x="838200" y="1943100"/>
            <a:ext cx="2447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Перевірка</a:t>
            </a:r>
          </a:p>
        </p:txBody>
      </p:sp>
      <p:sp>
        <p:nvSpPr>
          <p:cNvPr id="5" name="">
            <a:extLst xmlns:a="http://schemas.openxmlformats.org/drawingml/2006/main">
              <a:ext uri="{FF2B5EF4-FFF2-40B4-BE49-F238E27FC236}">
                <a16:creationId xmlns:a16="http://schemas.microsoft.com/office/drawing/2014/main" id="{396C0CEF-9CCF-4603-B0BD-5A4F8B13080F}"/>
              </a:ext>
            </a:extLst>
          </p:cNvPr>
          <p:cNvSpPr>
            <a:spLocks xmlns:a="http://schemas.openxmlformats.org/drawingml/2006/main" noGrp="1"/>
          </p:cNvSpPr>
          <p:nvPr/>
        </p:nvSpPr>
        <p:spPr>
          <a:xfrm xmlns:a="http://schemas.openxmlformats.org/drawingml/2006/main">
            <a:off x="3381375" y="1866900"/>
            <a:ext cx="4524375" cy="7905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383C2B1B-7A42-48C4-B499-704AB5EFC574}"/>
              </a:ext>
            </a:extLst>
          </p:cNvPr>
          <p:cNvSpPr>
            <a:spLocks xmlns:a="http://schemas.openxmlformats.org/drawingml/2006/main" noGrp="1"/>
          </p:cNvSpPr>
          <p:nvPr/>
        </p:nvSpPr>
        <p:spPr>
          <a:xfrm xmlns:a="http://schemas.openxmlformats.org/drawingml/2006/main">
            <a:off x="3476625" y="1943100"/>
            <a:ext cx="4333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Розрахунок</a:t>
            </a:r>
          </a:p>
        </p:txBody>
      </p:sp>
      <p:sp>
        <p:nvSpPr>
          <p:cNvPr id="7" name="">
            <a:extLst xmlns:a="http://schemas.openxmlformats.org/drawingml/2006/main">
              <a:ext uri="{FF2B5EF4-FFF2-40B4-BE49-F238E27FC236}">
                <a16:creationId xmlns:a16="http://schemas.microsoft.com/office/drawing/2014/main" id="{5AB37DD4-CA5C-47AB-BF80-A53B87BEB7A5}"/>
              </a:ext>
            </a:extLst>
          </p:cNvPr>
          <p:cNvSpPr>
            <a:spLocks xmlns:a="http://schemas.openxmlformats.org/drawingml/2006/main" noGrp="1"/>
          </p:cNvSpPr>
          <p:nvPr/>
        </p:nvSpPr>
        <p:spPr>
          <a:xfrm xmlns:a="http://schemas.openxmlformats.org/drawingml/2006/main">
            <a:off x="7905750" y="1866900"/>
            <a:ext cx="3543300" cy="7905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B0C09A9F-76A1-44C4-9D47-803455CE3CF2}"/>
              </a:ext>
            </a:extLst>
          </p:cNvPr>
          <p:cNvSpPr>
            <a:spLocks xmlns:a="http://schemas.openxmlformats.org/drawingml/2006/main" noGrp="1"/>
          </p:cNvSpPr>
          <p:nvPr/>
        </p:nvSpPr>
        <p:spPr>
          <a:xfrm xmlns:a="http://schemas.openxmlformats.org/drawingml/2006/main">
            <a:off x="8001000" y="1943100"/>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Висновок</a:t>
            </a:r>
          </a:p>
        </p:txBody>
      </p:sp>
      <p:sp>
        <p:nvSpPr>
          <p:cNvPr id="9" name="">
            <a:extLst xmlns:a="http://schemas.openxmlformats.org/drawingml/2006/main">
              <a:ext uri="{FF2B5EF4-FFF2-40B4-BE49-F238E27FC236}">
                <a16:creationId xmlns:a16="http://schemas.microsoft.com/office/drawing/2014/main" id="{60900638-53F4-4F17-BEC4-933945976474}"/>
              </a:ext>
            </a:extLst>
          </p:cNvPr>
          <p:cNvSpPr>
            <a:spLocks xmlns:a="http://schemas.openxmlformats.org/drawingml/2006/main" noGrp="1"/>
          </p:cNvSpPr>
          <p:nvPr/>
        </p:nvSpPr>
        <p:spPr>
          <a:xfrm xmlns:a="http://schemas.openxmlformats.org/drawingml/2006/main">
            <a:off x="742950" y="2657475"/>
            <a:ext cx="2638425" cy="7905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4265FD27-1FDD-4738-AD2E-9B29D7063367}"/>
              </a:ext>
            </a:extLst>
          </p:cNvPr>
          <p:cNvSpPr>
            <a:spLocks xmlns:a="http://schemas.openxmlformats.org/drawingml/2006/main" noGrp="1"/>
          </p:cNvSpPr>
          <p:nvPr/>
        </p:nvSpPr>
        <p:spPr>
          <a:xfrm xmlns:a="http://schemas.openxmlformats.org/drawingml/2006/main">
            <a:off x="838200" y="2733675"/>
            <a:ext cx="2447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CPU</a:t>
            </a:r>
          </a:p>
        </p:txBody>
      </p:sp>
      <p:sp>
        <p:nvSpPr>
          <p:cNvPr id="11" name="">
            <a:extLst xmlns:a="http://schemas.openxmlformats.org/drawingml/2006/main">
              <a:ext uri="{FF2B5EF4-FFF2-40B4-BE49-F238E27FC236}">
                <a16:creationId xmlns:a16="http://schemas.microsoft.com/office/drawing/2014/main" id="{3AD43A5C-C764-4C90-B626-C4EF1F907877}"/>
              </a:ext>
            </a:extLst>
          </p:cNvPr>
          <p:cNvSpPr>
            <a:spLocks xmlns:a="http://schemas.openxmlformats.org/drawingml/2006/main" noGrp="1"/>
          </p:cNvSpPr>
          <p:nvPr/>
        </p:nvSpPr>
        <p:spPr>
          <a:xfrm xmlns:a="http://schemas.openxmlformats.org/drawingml/2006/main">
            <a:off x="3381375" y="2657475"/>
            <a:ext cx="4524375" cy="7905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70DC092D-A55E-40F1-9D59-2973DC006EAA}"/>
              </a:ext>
            </a:extLst>
          </p:cNvPr>
          <p:cNvSpPr>
            <a:spLocks xmlns:a="http://schemas.openxmlformats.org/drawingml/2006/main" noGrp="1"/>
          </p:cNvSpPr>
          <p:nvPr/>
        </p:nvSpPr>
        <p:spPr>
          <a:xfrm xmlns:a="http://schemas.openxmlformats.org/drawingml/2006/main">
            <a:off x="3476625" y="2733675"/>
            <a:ext cx="4333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2·40+20=100</a:t>
            </a:r>
          </a:p>
        </p:txBody>
      </p:sp>
      <p:sp>
        <p:nvSpPr>
          <p:cNvPr id="13" name="">
            <a:extLst xmlns:a="http://schemas.openxmlformats.org/drawingml/2006/main">
              <a:ext uri="{FF2B5EF4-FFF2-40B4-BE49-F238E27FC236}">
                <a16:creationId xmlns:a16="http://schemas.microsoft.com/office/drawing/2014/main" id="{860AEBCA-4679-4CCB-A821-394E65714B7C}"/>
              </a:ext>
            </a:extLst>
          </p:cNvPr>
          <p:cNvSpPr>
            <a:spLocks xmlns:a="http://schemas.openxmlformats.org/drawingml/2006/main" noGrp="1"/>
          </p:cNvSpPr>
          <p:nvPr/>
        </p:nvSpPr>
        <p:spPr>
          <a:xfrm xmlns:a="http://schemas.openxmlformats.org/drawingml/2006/main">
            <a:off x="7905750" y="2657475"/>
            <a:ext cx="3543300" cy="7905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1A0B7266-0E59-4B6A-BFEF-E8318F85BE4E}"/>
              </a:ext>
            </a:extLst>
          </p:cNvPr>
          <p:cNvSpPr>
            <a:spLocks xmlns:a="http://schemas.openxmlformats.org/drawingml/2006/main" noGrp="1"/>
          </p:cNvSpPr>
          <p:nvPr/>
        </p:nvSpPr>
        <p:spPr>
          <a:xfrm xmlns:a="http://schemas.openxmlformats.org/drawingml/2006/main">
            <a:off x="8001000" y="2733675"/>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Допустимо</a:t>
            </a:r>
          </a:p>
        </p:txBody>
      </p:sp>
      <p:sp>
        <p:nvSpPr>
          <p:cNvPr id="15" name="">
            <a:extLst xmlns:a="http://schemas.openxmlformats.org/drawingml/2006/main">
              <a:ext uri="{FF2B5EF4-FFF2-40B4-BE49-F238E27FC236}">
                <a16:creationId xmlns:a16="http://schemas.microsoft.com/office/drawing/2014/main" id="{77546451-A07B-4339-8B16-30AC8BDA9400}"/>
              </a:ext>
            </a:extLst>
          </p:cNvPr>
          <p:cNvSpPr>
            <a:spLocks xmlns:a="http://schemas.openxmlformats.org/drawingml/2006/main" noGrp="1"/>
          </p:cNvSpPr>
          <p:nvPr/>
        </p:nvSpPr>
        <p:spPr>
          <a:xfrm xmlns:a="http://schemas.openxmlformats.org/drawingml/2006/main">
            <a:off x="742950" y="3448050"/>
            <a:ext cx="2638425" cy="7905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34CA2CB3-4CA5-44F4-A750-5D25A92A3321}"/>
              </a:ext>
            </a:extLst>
          </p:cNvPr>
          <p:cNvSpPr>
            <a:spLocks xmlns:a="http://schemas.openxmlformats.org/drawingml/2006/main" noGrp="1"/>
          </p:cNvSpPr>
          <p:nvPr/>
        </p:nvSpPr>
        <p:spPr>
          <a:xfrm xmlns:a="http://schemas.openxmlformats.org/drawingml/2006/main">
            <a:off x="838200" y="3524250"/>
            <a:ext cx="2447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Пам’ять</a:t>
            </a:r>
          </a:p>
        </p:txBody>
      </p:sp>
      <p:sp>
        <p:nvSpPr>
          <p:cNvPr id="17" name="">
            <a:extLst xmlns:a="http://schemas.openxmlformats.org/drawingml/2006/main">
              <a:ext uri="{FF2B5EF4-FFF2-40B4-BE49-F238E27FC236}">
                <a16:creationId xmlns:a16="http://schemas.microsoft.com/office/drawing/2014/main" id="{7B7B5878-29D5-4916-94E8-CD1B8EC5F3D0}"/>
              </a:ext>
            </a:extLst>
          </p:cNvPr>
          <p:cNvSpPr>
            <a:spLocks xmlns:a="http://schemas.openxmlformats.org/drawingml/2006/main" noGrp="1"/>
          </p:cNvSpPr>
          <p:nvPr/>
        </p:nvSpPr>
        <p:spPr>
          <a:xfrm xmlns:a="http://schemas.openxmlformats.org/drawingml/2006/main">
            <a:off x="3381375" y="3448050"/>
            <a:ext cx="4524375" cy="7905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3F8159F1-EA4B-42B2-B92E-85A1DDC901A1}"/>
              </a:ext>
            </a:extLst>
          </p:cNvPr>
          <p:cNvSpPr>
            <a:spLocks xmlns:a="http://schemas.openxmlformats.org/drawingml/2006/main" noGrp="1"/>
          </p:cNvSpPr>
          <p:nvPr/>
        </p:nvSpPr>
        <p:spPr>
          <a:xfrm xmlns:a="http://schemas.openxmlformats.org/drawingml/2006/main">
            <a:off x="3476625" y="3524250"/>
            <a:ext cx="4333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40+2·20=80</a:t>
            </a:r>
          </a:p>
        </p:txBody>
      </p:sp>
      <p:sp>
        <p:nvSpPr>
          <p:cNvPr id="19" name="">
            <a:extLst xmlns:a="http://schemas.openxmlformats.org/drawingml/2006/main">
              <a:ext uri="{FF2B5EF4-FFF2-40B4-BE49-F238E27FC236}">
                <a16:creationId xmlns:a16="http://schemas.microsoft.com/office/drawing/2014/main" id="{4F48B973-816C-4632-B795-52A5F588E645}"/>
              </a:ext>
            </a:extLst>
          </p:cNvPr>
          <p:cNvSpPr>
            <a:spLocks xmlns:a="http://schemas.openxmlformats.org/drawingml/2006/main" noGrp="1"/>
          </p:cNvSpPr>
          <p:nvPr/>
        </p:nvSpPr>
        <p:spPr>
          <a:xfrm xmlns:a="http://schemas.openxmlformats.org/drawingml/2006/main">
            <a:off x="7905750" y="3448050"/>
            <a:ext cx="3543300" cy="7905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7FE8AABC-EB6B-45B9-93C2-7E80CC6BF679}"/>
              </a:ext>
            </a:extLst>
          </p:cNvPr>
          <p:cNvSpPr>
            <a:spLocks xmlns:a="http://schemas.openxmlformats.org/drawingml/2006/main" noGrp="1"/>
          </p:cNvSpPr>
          <p:nvPr/>
        </p:nvSpPr>
        <p:spPr>
          <a:xfrm xmlns:a="http://schemas.openxmlformats.org/drawingml/2006/main">
            <a:off x="8001000" y="3524250"/>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Допустимо</a:t>
            </a:r>
          </a:p>
        </p:txBody>
      </p:sp>
      <p:sp>
        <p:nvSpPr>
          <p:cNvPr id="21" name="">
            <a:extLst xmlns:a="http://schemas.openxmlformats.org/drawingml/2006/main">
              <a:ext uri="{FF2B5EF4-FFF2-40B4-BE49-F238E27FC236}">
                <a16:creationId xmlns:a16="http://schemas.microsoft.com/office/drawing/2014/main" id="{8FA0BF36-93F2-40DD-AC62-B35B85E415F6}"/>
              </a:ext>
            </a:extLst>
          </p:cNvPr>
          <p:cNvSpPr>
            <a:spLocks xmlns:a="http://schemas.openxmlformats.org/drawingml/2006/main" noGrp="1"/>
          </p:cNvSpPr>
          <p:nvPr/>
        </p:nvSpPr>
        <p:spPr>
          <a:xfrm xmlns:a="http://schemas.openxmlformats.org/drawingml/2006/main">
            <a:off x="742950" y="4238625"/>
            <a:ext cx="2638425" cy="7905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A300F35B-8060-428E-B4A7-1F286B953B04}"/>
              </a:ext>
            </a:extLst>
          </p:cNvPr>
          <p:cNvSpPr>
            <a:spLocks xmlns:a="http://schemas.openxmlformats.org/drawingml/2006/main" noGrp="1"/>
          </p:cNvSpPr>
          <p:nvPr/>
        </p:nvSpPr>
        <p:spPr>
          <a:xfrm xmlns:a="http://schemas.openxmlformats.org/drawingml/2006/main">
            <a:off x="838200" y="4314825"/>
            <a:ext cx="2447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Користь</a:t>
            </a:r>
          </a:p>
        </p:txBody>
      </p:sp>
      <p:sp>
        <p:nvSpPr>
          <p:cNvPr id="23" name="">
            <a:extLst xmlns:a="http://schemas.openxmlformats.org/drawingml/2006/main">
              <a:ext uri="{FF2B5EF4-FFF2-40B4-BE49-F238E27FC236}">
                <a16:creationId xmlns:a16="http://schemas.microsoft.com/office/drawing/2014/main" id="{15C64117-933D-48CA-8B78-82E7004564C8}"/>
              </a:ext>
            </a:extLst>
          </p:cNvPr>
          <p:cNvSpPr>
            <a:spLocks xmlns:a="http://schemas.openxmlformats.org/drawingml/2006/main" noGrp="1"/>
          </p:cNvSpPr>
          <p:nvPr/>
        </p:nvSpPr>
        <p:spPr>
          <a:xfrm xmlns:a="http://schemas.openxmlformats.org/drawingml/2006/main">
            <a:off x="3381375" y="4238625"/>
            <a:ext cx="4524375" cy="7905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816EE202-09C8-4927-8317-830DDB1769E6}"/>
              </a:ext>
            </a:extLst>
          </p:cNvPr>
          <p:cNvSpPr>
            <a:spLocks xmlns:a="http://schemas.openxmlformats.org/drawingml/2006/main" noGrp="1"/>
          </p:cNvSpPr>
          <p:nvPr/>
        </p:nvSpPr>
        <p:spPr>
          <a:xfrm xmlns:a="http://schemas.openxmlformats.org/drawingml/2006/main">
            <a:off x="3476625" y="4314825"/>
            <a:ext cx="4333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4·40+3·20=220</a:t>
            </a:r>
          </a:p>
        </p:txBody>
      </p:sp>
      <p:sp>
        <p:nvSpPr>
          <p:cNvPr id="25" name="">
            <a:extLst xmlns:a="http://schemas.openxmlformats.org/drawingml/2006/main">
              <a:ext uri="{FF2B5EF4-FFF2-40B4-BE49-F238E27FC236}">
                <a16:creationId xmlns:a16="http://schemas.microsoft.com/office/drawing/2014/main" id="{BEC58201-63F2-41EE-8ADE-EB7A4B92AFEB}"/>
              </a:ext>
            </a:extLst>
          </p:cNvPr>
          <p:cNvSpPr>
            <a:spLocks xmlns:a="http://schemas.openxmlformats.org/drawingml/2006/main" noGrp="1"/>
          </p:cNvSpPr>
          <p:nvPr/>
        </p:nvSpPr>
        <p:spPr>
          <a:xfrm xmlns:a="http://schemas.openxmlformats.org/drawingml/2006/main">
            <a:off x="7905750" y="4238625"/>
            <a:ext cx="3543300" cy="7905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7D4B7CB9-B842-49E1-BD2E-9EEE761E5704}"/>
              </a:ext>
            </a:extLst>
          </p:cNvPr>
          <p:cNvSpPr>
            <a:spLocks xmlns:a="http://schemas.openxmlformats.org/drawingml/2006/main" noGrp="1"/>
          </p:cNvSpPr>
          <p:nvPr/>
        </p:nvSpPr>
        <p:spPr>
          <a:xfrm xmlns:a="http://schemas.openxmlformats.org/drawingml/2006/main">
            <a:off x="8001000" y="4314825"/>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Мета</a:t>
            </a:r>
          </a:p>
        </p:txBody>
      </p:sp>
      <p:sp>
        <p:nvSpPr>
          <p:cNvPr id="27" name="">
            <a:extLst xmlns:a="http://schemas.openxmlformats.org/drawingml/2006/main">
              <a:ext uri="{FF2B5EF4-FFF2-40B4-BE49-F238E27FC236}">
                <a16:creationId xmlns:a16="http://schemas.microsoft.com/office/drawing/2014/main" id="{A7CB3B3D-02AF-4609-ABE3-01A8DBA78A35}"/>
              </a:ext>
            </a:extLst>
          </p:cNvPr>
          <p:cNvSpPr>
            <a:spLocks xmlns:a="http://schemas.openxmlformats.org/drawingml/2006/main" noGrp="1"/>
          </p:cNvSpPr>
          <p:nvPr/>
        </p:nvSpPr>
        <p:spPr>
          <a:xfrm xmlns:a="http://schemas.openxmlformats.org/drawingml/2006/main">
            <a:off x="742950" y="5029200"/>
            <a:ext cx="2638425" cy="7905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8" name="">
            <a:extLst xmlns:a="http://schemas.openxmlformats.org/drawingml/2006/main">
              <a:ext uri="{FF2B5EF4-FFF2-40B4-BE49-F238E27FC236}">
                <a16:creationId xmlns:a16="http://schemas.microsoft.com/office/drawing/2014/main" id="{548AC309-622D-4488-A7E5-FEEBBF18BBCD}"/>
              </a:ext>
            </a:extLst>
          </p:cNvPr>
          <p:cNvSpPr>
            <a:spLocks xmlns:a="http://schemas.openxmlformats.org/drawingml/2006/main" noGrp="1"/>
          </p:cNvSpPr>
          <p:nvPr/>
        </p:nvSpPr>
        <p:spPr>
          <a:xfrm xmlns:a="http://schemas.openxmlformats.org/drawingml/2006/main">
            <a:off x="838200" y="5105400"/>
            <a:ext cx="2447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x ≥ 0</a:t>
            </a:r>
          </a:p>
        </p:txBody>
      </p:sp>
      <p:sp>
        <p:nvSpPr>
          <p:cNvPr id="29" name="">
            <a:extLst xmlns:a="http://schemas.openxmlformats.org/drawingml/2006/main">
              <a:ext uri="{FF2B5EF4-FFF2-40B4-BE49-F238E27FC236}">
                <a16:creationId xmlns:a16="http://schemas.microsoft.com/office/drawing/2014/main" id="{F9814F1C-4994-4235-9AEE-2C9077EDB31A}"/>
              </a:ext>
            </a:extLst>
          </p:cNvPr>
          <p:cNvSpPr>
            <a:spLocks xmlns:a="http://schemas.openxmlformats.org/drawingml/2006/main" noGrp="1"/>
          </p:cNvSpPr>
          <p:nvPr/>
        </p:nvSpPr>
        <p:spPr>
          <a:xfrm xmlns:a="http://schemas.openxmlformats.org/drawingml/2006/main">
            <a:off x="3381375" y="5029200"/>
            <a:ext cx="4524375" cy="7905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30" name="">
            <a:extLst xmlns:a="http://schemas.openxmlformats.org/drawingml/2006/main">
              <a:ext uri="{FF2B5EF4-FFF2-40B4-BE49-F238E27FC236}">
                <a16:creationId xmlns:a16="http://schemas.microsoft.com/office/drawing/2014/main" id="{D9B7C377-FFC7-499A-871A-844FE96B580D}"/>
              </a:ext>
            </a:extLst>
          </p:cNvPr>
          <p:cNvSpPr>
            <a:spLocks xmlns:a="http://schemas.openxmlformats.org/drawingml/2006/main" noGrp="1"/>
          </p:cNvSpPr>
          <p:nvPr/>
        </p:nvSpPr>
        <p:spPr>
          <a:xfrm xmlns:a="http://schemas.openxmlformats.org/drawingml/2006/main">
            <a:off x="3476625" y="5105400"/>
            <a:ext cx="4333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40≥0; 20≥0</a:t>
            </a:r>
          </a:p>
        </p:txBody>
      </p:sp>
      <p:sp>
        <p:nvSpPr>
          <p:cNvPr id="31" name="">
            <a:extLst xmlns:a="http://schemas.openxmlformats.org/drawingml/2006/main">
              <a:ext uri="{FF2B5EF4-FFF2-40B4-BE49-F238E27FC236}">
                <a16:creationId xmlns:a16="http://schemas.microsoft.com/office/drawing/2014/main" id="{19283DEC-8C3B-4B3C-967E-E142AF4FCD33}"/>
              </a:ext>
            </a:extLst>
          </p:cNvPr>
          <p:cNvSpPr>
            <a:spLocks xmlns:a="http://schemas.openxmlformats.org/drawingml/2006/main" noGrp="1"/>
          </p:cNvSpPr>
          <p:nvPr/>
        </p:nvSpPr>
        <p:spPr>
          <a:xfrm xmlns:a="http://schemas.openxmlformats.org/drawingml/2006/main">
            <a:off x="7905750" y="5029200"/>
            <a:ext cx="3543300" cy="7905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32" name="">
            <a:extLst xmlns:a="http://schemas.openxmlformats.org/drawingml/2006/main">
              <a:ext uri="{FF2B5EF4-FFF2-40B4-BE49-F238E27FC236}">
                <a16:creationId xmlns:a16="http://schemas.microsoft.com/office/drawing/2014/main" id="{58295757-90A7-4C3E-8B16-21E8F2A1A4C6}"/>
              </a:ext>
            </a:extLst>
          </p:cNvPr>
          <p:cNvSpPr>
            <a:spLocks xmlns:a="http://schemas.openxmlformats.org/drawingml/2006/main" noGrp="1"/>
          </p:cNvSpPr>
          <p:nvPr/>
        </p:nvSpPr>
        <p:spPr>
          <a:xfrm xmlns:a="http://schemas.openxmlformats.org/drawingml/2006/main">
            <a:off x="8001000" y="5105400"/>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Допустимо</a:t>
            </a:r>
          </a:p>
        </p:txBody>
      </p:sp>
      <p:sp>
        <p:nvSpPr>
          <p:cNvPr id="33" name="">
            <a:extLst xmlns:a="http://schemas.openxmlformats.org/drawingml/2006/main">
              <a:ext uri="{FF2B5EF4-FFF2-40B4-BE49-F238E27FC236}">
                <a16:creationId xmlns:a16="http://schemas.microsoft.com/office/drawing/2014/main" id="{44D4D79E-FB2E-4B4D-BA3A-5BF4578C500D}"/>
              </a:ext>
            </a:extLst>
          </p:cNvPr>
          <p:cNvSpPr>
            <a:spLocks xmlns:a="http://schemas.openxmlformats.org/drawingml/2006/main" noGrp="1"/>
          </p:cNvSpPr>
          <p:nvPr/>
        </p:nvSpPr>
        <p:spPr>
          <a:xfrm xmlns:a="http://schemas.openxmlformats.org/drawingml/2006/main">
            <a:off x="819150" y="58388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Перевірка моделі важливіша за одне число від solver.</a:t>
            </a:r>
          </a:p>
        </p:txBody>
      </p:sp>
      <p:sp>
        <p:nvSpPr>
          <p:cNvPr id="35" name="">
            <a:extLst xmlns:a="http://schemas.openxmlformats.org/drawingml/2006/main">
              <a:ext uri="{FF2B5EF4-FFF2-40B4-BE49-F238E27FC236}">
                <a16:creationId xmlns:a16="http://schemas.microsoft.com/office/drawing/2014/main" id="{F1B57436-6602-4BA9-9B7D-501181C1BDA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31</a:t>
            </a:r>
          </a:p>
        </p:txBody>
      </p:sp>
    </p:spTree>
    <p:extLst>
      <p:ext uri="{BB962C8B-B14F-4D97-AF65-F5344CB8AC3E}">
        <p14:creationId xmlns:p14="http://schemas.microsoft.com/office/powerpoint/2010/main" val="132028655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0DD932F-323C-48C2-B948-77EB429137FF}"/>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Навіщо аналізувати результат після solver</a:t>
            </a:r>
          </a:p>
        </p:txBody>
      </p:sp>
      <p:sp>
        <p:nvSpPr>
          <p:cNvPr id="3" name="">
            <a:extLst xmlns:a="http://schemas.openxmlformats.org/drawingml/2006/main">
              <a:ext uri="{FF2B5EF4-FFF2-40B4-BE49-F238E27FC236}">
                <a16:creationId xmlns:a16="http://schemas.microsoft.com/office/drawing/2014/main" id="{DA368CF5-B693-44A0-B04E-15542153DBBE}"/>
              </a:ext>
            </a:extLst>
          </p:cNvPr>
          <p:cNvSpPr>
            <a:spLocks xmlns:a="http://schemas.openxmlformats.org/drawingml/2006/main" noGrp="1"/>
          </p:cNvSpPr>
          <p:nvPr/>
        </p:nvSpPr>
        <p:spPr>
          <a:xfrm xmlns:a="http://schemas.openxmlformats.org/drawingml/2006/main">
            <a:off x="742950" y="2381250"/>
            <a:ext cx="3400425" cy="10001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58F0BC0C-59F1-43B6-859B-C51353CD2C35}"/>
              </a:ext>
            </a:extLst>
          </p:cNvPr>
          <p:cNvSpPr>
            <a:spLocks xmlns:a="http://schemas.openxmlformats.org/drawingml/2006/main" noGrp="1"/>
          </p:cNvSpPr>
          <p:nvPr/>
        </p:nvSpPr>
        <p:spPr>
          <a:xfrm xmlns:a="http://schemas.openxmlformats.org/drawingml/2006/main">
            <a:off x="838200" y="2457450"/>
            <a:ext cx="3209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План</a:t>
            </a:r>
          </a:p>
        </p:txBody>
      </p:sp>
      <p:sp>
        <p:nvSpPr>
          <p:cNvPr id="5" name="">
            <a:extLst xmlns:a="http://schemas.openxmlformats.org/drawingml/2006/main">
              <a:ext uri="{FF2B5EF4-FFF2-40B4-BE49-F238E27FC236}">
                <a16:creationId xmlns:a16="http://schemas.microsoft.com/office/drawing/2014/main" id="{932165A8-6B2F-4275-AAF4-2A1DA3510A2C}"/>
              </a:ext>
            </a:extLst>
          </p:cNvPr>
          <p:cNvSpPr>
            <a:spLocks xmlns:a="http://schemas.openxmlformats.org/drawingml/2006/main" noGrp="1"/>
          </p:cNvSpPr>
          <p:nvPr/>
        </p:nvSpPr>
        <p:spPr>
          <a:xfrm xmlns:a="http://schemas.openxmlformats.org/drawingml/2006/main">
            <a:off x="4143375" y="2381250"/>
            <a:ext cx="3600450" cy="10001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E9B1DB56-4B68-4A55-88E2-83FFBB460E8D}"/>
              </a:ext>
            </a:extLst>
          </p:cNvPr>
          <p:cNvSpPr>
            <a:spLocks xmlns:a="http://schemas.openxmlformats.org/drawingml/2006/main" noGrp="1"/>
          </p:cNvSpPr>
          <p:nvPr/>
        </p:nvSpPr>
        <p:spPr>
          <a:xfrm xmlns:a="http://schemas.openxmlformats.org/drawingml/2006/main">
            <a:off x="4238625" y="2457450"/>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Залишок CPU</a:t>
            </a:r>
          </a:p>
        </p:txBody>
      </p:sp>
      <p:sp>
        <p:nvSpPr>
          <p:cNvPr id="7" name="">
            <a:extLst xmlns:a="http://schemas.openxmlformats.org/drawingml/2006/main">
              <a:ext uri="{FF2B5EF4-FFF2-40B4-BE49-F238E27FC236}">
                <a16:creationId xmlns:a16="http://schemas.microsoft.com/office/drawing/2014/main" id="{E5897CE1-BA67-4922-A334-7875AB4DE2C1}"/>
              </a:ext>
            </a:extLst>
          </p:cNvPr>
          <p:cNvSpPr>
            <a:spLocks xmlns:a="http://schemas.openxmlformats.org/drawingml/2006/main" noGrp="1"/>
          </p:cNvSpPr>
          <p:nvPr/>
        </p:nvSpPr>
        <p:spPr>
          <a:xfrm xmlns:a="http://schemas.openxmlformats.org/drawingml/2006/main">
            <a:off x="7743825" y="2381250"/>
            <a:ext cx="3705225" cy="10001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23E100C3-3856-4E69-946C-53E1BB5B108F}"/>
              </a:ext>
            </a:extLst>
          </p:cNvPr>
          <p:cNvSpPr>
            <a:spLocks xmlns:a="http://schemas.openxmlformats.org/drawingml/2006/main" noGrp="1"/>
          </p:cNvSpPr>
          <p:nvPr/>
        </p:nvSpPr>
        <p:spPr>
          <a:xfrm xmlns:a="http://schemas.openxmlformats.org/drawingml/2006/main">
            <a:off x="7839075" y="2457450"/>
            <a:ext cx="35147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Залишок пам’яті</a:t>
            </a:r>
          </a:p>
        </p:txBody>
      </p:sp>
      <p:sp>
        <p:nvSpPr>
          <p:cNvPr id="9" name="">
            <a:extLst xmlns:a="http://schemas.openxmlformats.org/drawingml/2006/main">
              <a:ext uri="{FF2B5EF4-FFF2-40B4-BE49-F238E27FC236}">
                <a16:creationId xmlns:a16="http://schemas.microsoft.com/office/drawing/2014/main" id="{E5A5BCBF-BB00-4706-B05B-0E8685EBC96F}"/>
              </a:ext>
            </a:extLst>
          </p:cNvPr>
          <p:cNvSpPr>
            <a:spLocks xmlns:a="http://schemas.openxmlformats.org/drawingml/2006/main" noGrp="1"/>
          </p:cNvSpPr>
          <p:nvPr/>
        </p:nvSpPr>
        <p:spPr>
          <a:xfrm xmlns:a="http://schemas.openxmlformats.org/drawingml/2006/main">
            <a:off x="742950" y="3381375"/>
            <a:ext cx="3400425" cy="10001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F477B394-4531-4DD2-972C-9BA4EF6B65BA}"/>
              </a:ext>
            </a:extLst>
          </p:cNvPr>
          <p:cNvSpPr>
            <a:spLocks xmlns:a="http://schemas.openxmlformats.org/drawingml/2006/main" noGrp="1"/>
          </p:cNvSpPr>
          <p:nvPr/>
        </p:nvSpPr>
        <p:spPr>
          <a:xfrm xmlns:a="http://schemas.openxmlformats.org/drawingml/2006/main">
            <a:off x="838200" y="3457575"/>
            <a:ext cx="3209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(50,0)</a:t>
            </a:r>
          </a:p>
        </p:txBody>
      </p:sp>
      <p:sp>
        <p:nvSpPr>
          <p:cNvPr id="11" name="">
            <a:extLst xmlns:a="http://schemas.openxmlformats.org/drawingml/2006/main">
              <a:ext uri="{FF2B5EF4-FFF2-40B4-BE49-F238E27FC236}">
                <a16:creationId xmlns:a16="http://schemas.microsoft.com/office/drawing/2014/main" id="{7F80B8E7-79A6-45FE-88F6-1E583F93B88A}"/>
              </a:ext>
            </a:extLst>
          </p:cNvPr>
          <p:cNvSpPr>
            <a:spLocks xmlns:a="http://schemas.openxmlformats.org/drawingml/2006/main" noGrp="1"/>
          </p:cNvSpPr>
          <p:nvPr/>
        </p:nvSpPr>
        <p:spPr>
          <a:xfrm xmlns:a="http://schemas.openxmlformats.org/drawingml/2006/main">
            <a:off x="4143375" y="3381375"/>
            <a:ext cx="3600450" cy="10001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31E52BE3-35E5-40E4-835F-3095D08B7B53}"/>
              </a:ext>
            </a:extLst>
          </p:cNvPr>
          <p:cNvSpPr>
            <a:spLocks xmlns:a="http://schemas.openxmlformats.org/drawingml/2006/main" noGrp="1"/>
          </p:cNvSpPr>
          <p:nvPr/>
        </p:nvSpPr>
        <p:spPr>
          <a:xfrm xmlns:a="http://schemas.openxmlformats.org/drawingml/2006/main">
            <a:off x="4238625" y="3457575"/>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a:t>
            </a:r>
          </a:p>
        </p:txBody>
      </p:sp>
      <p:sp>
        <p:nvSpPr>
          <p:cNvPr id="13" name="">
            <a:extLst xmlns:a="http://schemas.openxmlformats.org/drawingml/2006/main">
              <a:ext uri="{FF2B5EF4-FFF2-40B4-BE49-F238E27FC236}">
                <a16:creationId xmlns:a16="http://schemas.microsoft.com/office/drawing/2014/main" id="{1068D509-3FF0-4AA4-A996-670FF1C1770C}"/>
              </a:ext>
            </a:extLst>
          </p:cNvPr>
          <p:cNvSpPr>
            <a:spLocks xmlns:a="http://schemas.openxmlformats.org/drawingml/2006/main" noGrp="1"/>
          </p:cNvSpPr>
          <p:nvPr/>
        </p:nvSpPr>
        <p:spPr>
          <a:xfrm xmlns:a="http://schemas.openxmlformats.org/drawingml/2006/main">
            <a:off x="7743825" y="3381375"/>
            <a:ext cx="3705225" cy="10001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35A49BC1-EB25-44A8-8C2F-F49A3304760B}"/>
              </a:ext>
            </a:extLst>
          </p:cNvPr>
          <p:cNvSpPr>
            <a:spLocks xmlns:a="http://schemas.openxmlformats.org/drawingml/2006/main" noGrp="1"/>
          </p:cNvSpPr>
          <p:nvPr/>
        </p:nvSpPr>
        <p:spPr>
          <a:xfrm xmlns:a="http://schemas.openxmlformats.org/drawingml/2006/main">
            <a:off x="7839075" y="3457575"/>
            <a:ext cx="35147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30</a:t>
            </a:r>
          </a:p>
        </p:txBody>
      </p:sp>
      <p:sp>
        <p:nvSpPr>
          <p:cNvPr id="15" name="">
            <a:extLst xmlns:a="http://schemas.openxmlformats.org/drawingml/2006/main">
              <a:ext uri="{FF2B5EF4-FFF2-40B4-BE49-F238E27FC236}">
                <a16:creationId xmlns:a16="http://schemas.microsoft.com/office/drawing/2014/main" id="{9A224464-C305-4844-A70F-B7D943D38F8F}"/>
              </a:ext>
            </a:extLst>
          </p:cNvPr>
          <p:cNvSpPr>
            <a:spLocks xmlns:a="http://schemas.openxmlformats.org/drawingml/2006/main" noGrp="1"/>
          </p:cNvSpPr>
          <p:nvPr/>
        </p:nvSpPr>
        <p:spPr>
          <a:xfrm xmlns:a="http://schemas.openxmlformats.org/drawingml/2006/main">
            <a:off x="742950" y="4381500"/>
            <a:ext cx="3400425" cy="10001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4CE55219-62DB-4045-B51A-23B539F71DC9}"/>
              </a:ext>
            </a:extLst>
          </p:cNvPr>
          <p:cNvSpPr>
            <a:spLocks xmlns:a="http://schemas.openxmlformats.org/drawingml/2006/main" noGrp="1"/>
          </p:cNvSpPr>
          <p:nvPr/>
        </p:nvSpPr>
        <p:spPr>
          <a:xfrm xmlns:a="http://schemas.openxmlformats.org/drawingml/2006/main">
            <a:off x="838200" y="4457700"/>
            <a:ext cx="32099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(40,20)</a:t>
            </a:r>
          </a:p>
        </p:txBody>
      </p:sp>
      <p:sp>
        <p:nvSpPr>
          <p:cNvPr id="17" name="">
            <a:extLst xmlns:a="http://schemas.openxmlformats.org/drawingml/2006/main">
              <a:ext uri="{FF2B5EF4-FFF2-40B4-BE49-F238E27FC236}">
                <a16:creationId xmlns:a16="http://schemas.microsoft.com/office/drawing/2014/main" id="{3B385C44-4259-4527-AE7A-0FDA294FE4F7}"/>
              </a:ext>
            </a:extLst>
          </p:cNvPr>
          <p:cNvSpPr>
            <a:spLocks xmlns:a="http://schemas.openxmlformats.org/drawingml/2006/main" noGrp="1"/>
          </p:cNvSpPr>
          <p:nvPr/>
        </p:nvSpPr>
        <p:spPr>
          <a:xfrm xmlns:a="http://schemas.openxmlformats.org/drawingml/2006/main">
            <a:off x="4143375" y="4381500"/>
            <a:ext cx="3600450" cy="10001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B0D60037-4F63-4CA0-BE72-A68949ECDD72}"/>
              </a:ext>
            </a:extLst>
          </p:cNvPr>
          <p:cNvSpPr>
            <a:spLocks xmlns:a="http://schemas.openxmlformats.org/drawingml/2006/main" noGrp="1"/>
          </p:cNvSpPr>
          <p:nvPr/>
        </p:nvSpPr>
        <p:spPr>
          <a:xfrm xmlns:a="http://schemas.openxmlformats.org/drawingml/2006/main">
            <a:off x="4238625" y="4457700"/>
            <a:ext cx="3409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a:t>
            </a:r>
          </a:p>
        </p:txBody>
      </p:sp>
      <p:sp>
        <p:nvSpPr>
          <p:cNvPr id="19" name="">
            <a:extLst xmlns:a="http://schemas.openxmlformats.org/drawingml/2006/main">
              <a:ext uri="{FF2B5EF4-FFF2-40B4-BE49-F238E27FC236}">
                <a16:creationId xmlns:a16="http://schemas.microsoft.com/office/drawing/2014/main" id="{F7BD6182-0B1B-4B4D-921E-EF5A04825AC2}"/>
              </a:ext>
            </a:extLst>
          </p:cNvPr>
          <p:cNvSpPr>
            <a:spLocks xmlns:a="http://schemas.openxmlformats.org/drawingml/2006/main" noGrp="1"/>
          </p:cNvSpPr>
          <p:nvPr/>
        </p:nvSpPr>
        <p:spPr>
          <a:xfrm xmlns:a="http://schemas.openxmlformats.org/drawingml/2006/main">
            <a:off x="7743825" y="4381500"/>
            <a:ext cx="3705225" cy="10001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1802024F-8FC1-473C-AE8A-8AFDCDED1056}"/>
              </a:ext>
            </a:extLst>
          </p:cNvPr>
          <p:cNvSpPr>
            <a:spLocks xmlns:a="http://schemas.openxmlformats.org/drawingml/2006/main" noGrp="1"/>
          </p:cNvSpPr>
          <p:nvPr/>
        </p:nvSpPr>
        <p:spPr>
          <a:xfrm xmlns:a="http://schemas.openxmlformats.org/drawingml/2006/main">
            <a:off x="7839075" y="4457700"/>
            <a:ext cx="35147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0</a:t>
            </a:r>
          </a:p>
        </p:txBody>
      </p:sp>
      <p:sp>
        <p:nvSpPr>
          <p:cNvPr id="21" name="">
            <a:extLst xmlns:a="http://schemas.openxmlformats.org/drawingml/2006/main">
              <a:ext uri="{FF2B5EF4-FFF2-40B4-BE49-F238E27FC236}">
                <a16:creationId xmlns:a16="http://schemas.microsoft.com/office/drawing/2014/main" id="{CE3BEA61-7519-49C7-BA0F-98EE2AF7F4DB}"/>
              </a:ext>
            </a:extLst>
          </p:cNvPr>
          <p:cNvSpPr>
            <a:spLocks xmlns:a="http://schemas.openxmlformats.org/drawingml/2006/main" noGrp="1"/>
          </p:cNvSpPr>
          <p:nvPr/>
        </p:nvSpPr>
        <p:spPr>
          <a:xfrm xmlns:a="http://schemas.openxmlformats.org/drawingml/2006/main">
            <a:off x="819150" y="55721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В оптимумі обидва ресурси використані повністю. Далі перевіримо сценарії.</a:t>
            </a:r>
          </a:p>
        </p:txBody>
      </p:sp>
      <p:sp>
        <p:nvSpPr>
          <p:cNvPr id="23" name="">
            <a:extLst xmlns:a="http://schemas.openxmlformats.org/drawingml/2006/main">
              <a:ext uri="{FF2B5EF4-FFF2-40B4-BE49-F238E27FC236}">
                <a16:creationId xmlns:a16="http://schemas.microsoft.com/office/drawing/2014/main" id="{8A76C438-15B2-4B1D-8689-DB8DD9C054C3}"/>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32</a:t>
            </a:r>
          </a:p>
        </p:txBody>
      </p:sp>
    </p:spTree>
    <p:extLst>
      <p:ext uri="{BB962C8B-B14F-4D97-AF65-F5344CB8AC3E}">
        <p14:creationId xmlns:p14="http://schemas.microsoft.com/office/powerpoint/2010/main" val="162773546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9E6F11A-76E4-4B3D-BF3E-BAA0431BC455}"/>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Два сценарії збільшення ресурсу</a:t>
            </a:r>
          </a:p>
        </p:txBody>
      </p:sp>
      <p:sp>
        <p:nvSpPr>
          <p:cNvPr id="3" name="">
            <a:extLst xmlns:a="http://schemas.openxmlformats.org/drawingml/2006/main">
              <a:ext uri="{FF2B5EF4-FFF2-40B4-BE49-F238E27FC236}">
                <a16:creationId xmlns:a16="http://schemas.microsoft.com/office/drawing/2014/main" id="{88BD0B39-B073-48DD-B162-A45A700BB7AC}"/>
              </a:ext>
            </a:extLst>
          </p:cNvPr>
          <p:cNvSpPr>
            <a:spLocks xmlns:a="http://schemas.openxmlformats.org/drawingml/2006/main" noGrp="1"/>
          </p:cNvSpPr>
          <p:nvPr/>
        </p:nvSpPr>
        <p:spPr>
          <a:xfrm xmlns:a="http://schemas.openxmlformats.org/drawingml/2006/main">
            <a:off x="742950" y="1943100"/>
            <a:ext cx="4314825" cy="8858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D8E2537F-4980-44B3-91E0-07CCFD3F7860}"/>
              </a:ext>
            </a:extLst>
          </p:cNvPr>
          <p:cNvSpPr>
            <a:spLocks xmlns:a="http://schemas.openxmlformats.org/drawingml/2006/main" noGrp="1"/>
          </p:cNvSpPr>
          <p:nvPr/>
        </p:nvSpPr>
        <p:spPr>
          <a:xfrm xmlns:a="http://schemas.openxmlformats.org/drawingml/2006/main">
            <a:off x="838200" y="201930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Запаси CPU, пам’ять</a:t>
            </a:r>
          </a:p>
        </p:txBody>
      </p:sp>
      <p:sp>
        <p:nvSpPr>
          <p:cNvPr id="5" name="">
            <a:extLst xmlns:a="http://schemas.openxmlformats.org/drawingml/2006/main">
              <a:ext uri="{FF2B5EF4-FFF2-40B4-BE49-F238E27FC236}">
                <a16:creationId xmlns:a16="http://schemas.microsoft.com/office/drawing/2014/main" id="{716A8ED7-1955-4F23-98C2-B807CAEBA05A}"/>
              </a:ext>
            </a:extLst>
          </p:cNvPr>
          <p:cNvSpPr>
            <a:spLocks xmlns:a="http://schemas.openxmlformats.org/drawingml/2006/main" noGrp="1"/>
          </p:cNvSpPr>
          <p:nvPr/>
        </p:nvSpPr>
        <p:spPr>
          <a:xfrm xmlns:a="http://schemas.openxmlformats.org/drawingml/2006/main">
            <a:off x="5057775" y="1943100"/>
            <a:ext cx="3552825" cy="8858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D64208D8-8D80-454C-8AB4-6AC8B314F337}"/>
              </a:ext>
            </a:extLst>
          </p:cNvPr>
          <p:cNvSpPr>
            <a:spLocks xmlns:a="http://schemas.openxmlformats.org/drawingml/2006/main" noGrp="1"/>
          </p:cNvSpPr>
          <p:nvPr/>
        </p:nvSpPr>
        <p:spPr>
          <a:xfrm xmlns:a="http://schemas.openxmlformats.org/drawingml/2006/main">
            <a:off x="5153025" y="2019300"/>
            <a:ext cx="3362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План (x₁,x₂)</a:t>
            </a:r>
          </a:p>
        </p:txBody>
      </p:sp>
      <p:sp>
        <p:nvSpPr>
          <p:cNvPr id="7" name="">
            <a:extLst xmlns:a="http://schemas.openxmlformats.org/drawingml/2006/main">
              <a:ext uri="{FF2B5EF4-FFF2-40B4-BE49-F238E27FC236}">
                <a16:creationId xmlns:a16="http://schemas.microsoft.com/office/drawing/2014/main" id="{5B33EE89-FB2D-498D-9C15-0A877563DCFD}"/>
              </a:ext>
            </a:extLst>
          </p:cNvPr>
          <p:cNvSpPr>
            <a:spLocks xmlns:a="http://schemas.openxmlformats.org/drawingml/2006/main" noGrp="1"/>
          </p:cNvSpPr>
          <p:nvPr/>
        </p:nvSpPr>
        <p:spPr>
          <a:xfrm xmlns:a="http://schemas.openxmlformats.org/drawingml/2006/main">
            <a:off x="8610600" y="1943100"/>
            <a:ext cx="2838450" cy="8858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99D85384-39A3-4786-8557-EFA3C6365D26}"/>
              </a:ext>
            </a:extLst>
          </p:cNvPr>
          <p:cNvSpPr>
            <a:spLocks xmlns:a="http://schemas.openxmlformats.org/drawingml/2006/main" noGrp="1"/>
          </p:cNvSpPr>
          <p:nvPr/>
        </p:nvSpPr>
        <p:spPr>
          <a:xfrm xmlns:a="http://schemas.openxmlformats.org/drawingml/2006/main">
            <a:off x="8705850" y="2019300"/>
            <a:ext cx="2647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Користь Z</a:t>
            </a:r>
          </a:p>
        </p:txBody>
      </p:sp>
      <p:sp>
        <p:nvSpPr>
          <p:cNvPr id="9" name="">
            <a:extLst xmlns:a="http://schemas.openxmlformats.org/drawingml/2006/main">
              <a:ext uri="{FF2B5EF4-FFF2-40B4-BE49-F238E27FC236}">
                <a16:creationId xmlns:a16="http://schemas.microsoft.com/office/drawing/2014/main" id="{A83DA2B6-36EF-46C6-ACBD-95131B20CD68}"/>
              </a:ext>
            </a:extLst>
          </p:cNvPr>
          <p:cNvSpPr>
            <a:spLocks xmlns:a="http://schemas.openxmlformats.org/drawingml/2006/main" noGrp="1"/>
          </p:cNvSpPr>
          <p:nvPr/>
        </p:nvSpPr>
        <p:spPr>
          <a:xfrm xmlns:a="http://schemas.openxmlformats.org/drawingml/2006/main">
            <a:off x="742950" y="2828925"/>
            <a:ext cx="4314825" cy="8858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8E64FDE3-9F32-44A8-BC3E-30AC210C84B8}"/>
              </a:ext>
            </a:extLst>
          </p:cNvPr>
          <p:cNvSpPr>
            <a:spLocks xmlns:a="http://schemas.openxmlformats.org/drawingml/2006/main" noGrp="1"/>
          </p:cNvSpPr>
          <p:nvPr/>
        </p:nvSpPr>
        <p:spPr>
          <a:xfrm xmlns:a="http://schemas.openxmlformats.org/drawingml/2006/main">
            <a:off x="838200" y="2905125"/>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100, 80</a:t>
            </a:r>
          </a:p>
        </p:txBody>
      </p:sp>
      <p:sp>
        <p:nvSpPr>
          <p:cNvPr id="11" name="">
            <a:extLst xmlns:a="http://schemas.openxmlformats.org/drawingml/2006/main">
              <a:ext uri="{FF2B5EF4-FFF2-40B4-BE49-F238E27FC236}">
                <a16:creationId xmlns:a16="http://schemas.microsoft.com/office/drawing/2014/main" id="{0610C001-93E2-4B12-89C4-052ADC6F48D1}"/>
              </a:ext>
            </a:extLst>
          </p:cNvPr>
          <p:cNvSpPr>
            <a:spLocks xmlns:a="http://schemas.openxmlformats.org/drawingml/2006/main" noGrp="1"/>
          </p:cNvSpPr>
          <p:nvPr/>
        </p:nvSpPr>
        <p:spPr>
          <a:xfrm xmlns:a="http://schemas.openxmlformats.org/drawingml/2006/main">
            <a:off x="5057775" y="2828925"/>
            <a:ext cx="3552825" cy="8858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58DE926C-6A18-4528-AB7E-0E2F03DE1254}"/>
              </a:ext>
            </a:extLst>
          </p:cNvPr>
          <p:cNvSpPr>
            <a:spLocks xmlns:a="http://schemas.openxmlformats.org/drawingml/2006/main" noGrp="1"/>
          </p:cNvSpPr>
          <p:nvPr/>
        </p:nvSpPr>
        <p:spPr>
          <a:xfrm xmlns:a="http://schemas.openxmlformats.org/drawingml/2006/main">
            <a:off x="5153025" y="2905125"/>
            <a:ext cx="3362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40, 20</a:t>
            </a:r>
          </a:p>
        </p:txBody>
      </p:sp>
      <p:sp>
        <p:nvSpPr>
          <p:cNvPr id="13" name="">
            <a:extLst xmlns:a="http://schemas.openxmlformats.org/drawingml/2006/main">
              <a:ext uri="{FF2B5EF4-FFF2-40B4-BE49-F238E27FC236}">
                <a16:creationId xmlns:a16="http://schemas.microsoft.com/office/drawing/2014/main" id="{41DF3516-ECE6-4377-A9A4-0623E314D59D}"/>
              </a:ext>
            </a:extLst>
          </p:cNvPr>
          <p:cNvSpPr>
            <a:spLocks xmlns:a="http://schemas.openxmlformats.org/drawingml/2006/main" noGrp="1"/>
          </p:cNvSpPr>
          <p:nvPr/>
        </p:nvSpPr>
        <p:spPr>
          <a:xfrm xmlns:a="http://schemas.openxmlformats.org/drawingml/2006/main">
            <a:off x="8610600" y="2828925"/>
            <a:ext cx="2838450" cy="8858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A0EFD034-A26E-46B8-81E0-17C123B7CE2C}"/>
              </a:ext>
            </a:extLst>
          </p:cNvPr>
          <p:cNvSpPr>
            <a:spLocks xmlns:a="http://schemas.openxmlformats.org/drawingml/2006/main" noGrp="1"/>
          </p:cNvSpPr>
          <p:nvPr/>
        </p:nvSpPr>
        <p:spPr>
          <a:xfrm xmlns:a="http://schemas.openxmlformats.org/drawingml/2006/main">
            <a:off x="8705850" y="2905125"/>
            <a:ext cx="2647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220</a:t>
            </a:r>
          </a:p>
        </p:txBody>
      </p:sp>
      <p:sp>
        <p:nvSpPr>
          <p:cNvPr id="15" name="">
            <a:extLst xmlns:a="http://schemas.openxmlformats.org/drawingml/2006/main">
              <a:ext uri="{FF2B5EF4-FFF2-40B4-BE49-F238E27FC236}">
                <a16:creationId xmlns:a16="http://schemas.microsoft.com/office/drawing/2014/main" id="{3F681F0F-9675-4B78-BB31-9EEA4FFAA73E}"/>
              </a:ext>
            </a:extLst>
          </p:cNvPr>
          <p:cNvSpPr>
            <a:spLocks xmlns:a="http://schemas.openxmlformats.org/drawingml/2006/main" noGrp="1"/>
          </p:cNvSpPr>
          <p:nvPr/>
        </p:nvSpPr>
        <p:spPr>
          <a:xfrm xmlns:a="http://schemas.openxmlformats.org/drawingml/2006/main">
            <a:off x="742950" y="3714750"/>
            <a:ext cx="4314825" cy="8858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E6F7C0E4-4468-4D40-AE7B-9EEE234D3125}"/>
              </a:ext>
            </a:extLst>
          </p:cNvPr>
          <p:cNvSpPr>
            <a:spLocks xmlns:a="http://schemas.openxmlformats.org/drawingml/2006/main" noGrp="1"/>
          </p:cNvSpPr>
          <p:nvPr/>
        </p:nvSpPr>
        <p:spPr>
          <a:xfrm xmlns:a="http://schemas.openxmlformats.org/drawingml/2006/main">
            <a:off x="838200" y="37909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120, 80</a:t>
            </a:r>
          </a:p>
        </p:txBody>
      </p:sp>
      <p:sp>
        <p:nvSpPr>
          <p:cNvPr id="17" name="">
            <a:extLst xmlns:a="http://schemas.openxmlformats.org/drawingml/2006/main">
              <a:ext uri="{FF2B5EF4-FFF2-40B4-BE49-F238E27FC236}">
                <a16:creationId xmlns:a16="http://schemas.microsoft.com/office/drawing/2014/main" id="{0E1A4E5B-EC14-4158-95B6-B9FC3CF3A3DF}"/>
              </a:ext>
            </a:extLst>
          </p:cNvPr>
          <p:cNvSpPr>
            <a:spLocks xmlns:a="http://schemas.openxmlformats.org/drawingml/2006/main" noGrp="1"/>
          </p:cNvSpPr>
          <p:nvPr/>
        </p:nvSpPr>
        <p:spPr>
          <a:xfrm xmlns:a="http://schemas.openxmlformats.org/drawingml/2006/main">
            <a:off x="5057775" y="3714750"/>
            <a:ext cx="3552825" cy="8858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7E924D59-6BBC-4790-8309-702601026516}"/>
              </a:ext>
            </a:extLst>
          </p:cNvPr>
          <p:cNvSpPr>
            <a:spLocks xmlns:a="http://schemas.openxmlformats.org/drawingml/2006/main" noGrp="1"/>
          </p:cNvSpPr>
          <p:nvPr/>
        </p:nvSpPr>
        <p:spPr>
          <a:xfrm xmlns:a="http://schemas.openxmlformats.org/drawingml/2006/main">
            <a:off x="5153025" y="3790950"/>
            <a:ext cx="3362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53,33; 13,33</a:t>
            </a:r>
          </a:p>
        </p:txBody>
      </p:sp>
      <p:sp>
        <p:nvSpPr>
          <p:cNvPr id="19" name="">
            <a:extLst xmlns:a="http://schemas.openxmlformats.org/drawingml/2006/main">
              <a:ext uri="{FF2B5EF4-FFF2-40B4-BE49-F238E27FC236}">
                <a16:creationId xmlns:a16="http://schemas.microsoft.com/office/drawing/2014/main" id="{15095C08-E2B6-42C1-B9AE-6986CFB8884D}"/>
              </a:ext>
            </a:extLst>
          </p:cNvPr>
          <p:cNvSpPr>
            <a:spLocks xmlns:a="http://schemas.openxmlformats.org/drawingml/2006/main" noGrp="1"/>
          </p:cNvSpPr>
          <p:nvPr/>
        </p:nvSpPr>
        <p:spPr>
          <a:xfrm xmlns:a="http://schemas.openxmlformats.org/drawingml/2006/main">
            <a:off x="8610600" y="3714750"/>
            <a:ext cx="2838450" cy="8858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59425780-B131-4BDC-928E-2CB7D54D4E77}"/>
              </a:ext>
            </a:extLst>
          </p:cNvPr>
          <p:cNvSpPr>
            <a:spLocks xmlns:a="http://schemas.openxmlformats.org/drawingml/2006/main" noGrp="1"/>
          </p:cNvSpPr>
          <p:nvPr/>
        </p:nvSpPr>
        <p:spPr>
          <a:xfrm xmlns:a="http://schemas.openxmlformats.org/drawingml/2006/main">
            <a:off x="8705850" y="3790950"/>
            <a:ext cx="2647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≈253,33</a:t>
            </a:r>
          </a:p>
        </p:txBody>
      </p:sp>
      <p:sp>
        <p:nvSpPr>
          <p:cNvPr id="21" name="">
            <a:extLst xmlns:a="http://schemas.openxmlformats.org/drawingml/2006/main">
              <a:ext uri="{FF2B5EF4-FFF2-40B4-BE49-F238E27FC236}">
                <a16:creationId xmlns:a16="http://schemas.microsoft.com/office/drawing/2014/main" id="{D020977E-F72C-4995-A46A-BB3216ED1625}"/>
              </a:ext>
            </a:extLst>
          </p:cNvPr>
          <p:cNvSpPr>
            <a:spLocks xmlns:a="http://schemas.openxmlformats.org/drawingml/2006/main" noGrp="1"/>
          </p:cNvSpPr>
          <p:nvPr/>
        </p:nvSpPr>
        <p:spPr>
          <a:xfrm xmlns:a="http://schemas.openxmlformats.org/drawingml/2006/main">
            <a:off x="742950" y="4600575"/>
            <a:ext cx="4314825" cy="8858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EB2A9C72-1C4E-4F25-856F-1D1BD6D49280}"/>
              </a:ext>
            </a:extLst>
          </p:cNvPr>
          <p:cNvSpPr>
            <a:spLocks xmlns:a="http://schemas.openxmlformats.org/drawingml/2006/main" noGrp="1"/>
          </p:cNvSpPr>
          <p:nvPr/>
        </p:nvSpPr>
        <p:spPr>
          <a:xfrm xmlns:a="http://schemas.openxmlformats.org/drawingml/2006/main">
            <a:off x="838200" y="4676775"/>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100, 100</a:t>
            </a:r>
          </a:p>
        </p:txBody>
      </p:sp>
      <p:sp>
        <p:nvSpPr>
          <p:cNvPr id="23" name="">
            <a:extLst xmlns:a="http://schemas.openxmlformats.org/drawingml/2006/main">
              <a:ext uri="{FF2B5EF4-FFF2-40B4-BE49-F238E27FC236}">
                <a16:creationId xmlns:a16="http://schemas.microsoft.com/office/drawing/2014/main" id="{80BCEBD5-8949-479A-B1A9-10ACEFC90BDB}"/>
              </a:ext>
            </a:extLst>
          </p:cNvPr>
          <p:cNvSpPr>
            <a:spLocks xmlns:a="http://schemas.openxmlformats.org/drawingml/2006/main" noGrp="1"/>
          </p:cNvSpPr>
          <p:nvPr/>
        </p:nvSpPr>
        <p:spPr>
          <a:xfrm xmlns:a="http://schemas.openxmlformats.org/drawingml/2006/main">
            <a:off x="5057775" y="4600575"/>
            <a:ext cx="3552825" cy="8858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A5446824-1D90-4515-906B-ED53CCCB069C}"/>
              </a:ext>
            </a:extLst>
          </p:cNvPr>
          <p:cNvSpPr>
            <a:spLocks xmlns:a="http://schemas.openxmlformats.org/drawingml/2006/main" noGrp="1"/>
          </p:cNvSpPr>
          <p:nvPr/>
        </p:nvSpPr>
        <p:spPr>
          <a:xfrm xmlns:a="http://schemas.openxmlformats.org/drawingml/2006/main">
            <a:off x="5153025" y="4676775"/>
            <a:ext cx="3362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33,33; 33,33</a:t>
            </a:r>
          </a:p>
        </p:txBody>
      </p:sp>
      <p:sp>
        <p:nvSpPr>
          <p:cNvPr id="25" name="">
            <a:extLst xmlns:a="http://schemas.openxmlformats.org/drawingml/2006/main">
              <a:ext uri="{FF2B5EF4-FFF2-40B4-BE49-F238E27FC236}">
                <a16:creationId xmlns:a16="http://schemas.microsoft.com/office/drawing/2014/main" id="{9B13D980-D2BF-4468-B408-79C32E40A0F6}"/>
              </a:ext>
            </a:extLst>
          </p:cNvPr>
          <p:cNvSpPr>
            <a:spLocks xmlns:a="http://schemas.openxmlformats.org/drawingml/2006/main" noGrp="1"/>
          </p:cNvSpPr>
          <p:nvPr/>
        </p:nvSpPr>
        <p:spPr>
          <a:xfrm xmlns:a="http://schemas.openxmlformats.org/drawingml/2006/main">
            <a:off x="8610600" y="4600575"/>
            <a:ext cx="2838450" cy="8858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E500AE91-FD54-4F65-A0F3-A6BC34510300}"/>
              </a:ext>
            </a:extLst>
          </p:cNvPr>
          <p:cNvSpPr>
            <a:spLocks xmlns:a="http://schemas.openxmlformats.org/drawingml/2006/main" noGrp="1"/>
          </p:cNvSpPr>
          <p:nvPr/>
        </p:nvSpPr>
        <p:spPr>
          <a:xfrm xmlns:a="http://schemas.openxmlformats.org/drawingml/2006/main">
            <a:off x="8705850" y="4676775"/>
            <a:ext cx="26479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≈233,33</a:t>
            </a:r>
          </a:p>
        </p:txBody>
      </p:sp>
      <p:sp>
        <p:nvSpPr>
          <p:cNvPr id="27" name="">
            <a:extLst xmlns:a="http://schemas.openxmlformats.org/drawingml/2006/main">
              <a:ext uri="{FF2B5EF4-FFF2-40B4-BE49-F238E27FC236}">
                <a16:creationId xmlns:a16="http://schemas.microsoft.com/office/drawing/2014/main" id="{6F457A6F-0361-47F9-A84D-714DE2675B5F}"/>
              </a:ext>
            </a:extLst>
          </p:cNvPr>
          <p:cNvSpPr>
            <a:spLocks xmlns:a="http://schemas.openxmlformats.org/drawingml/2006/main" noGrp="1"/>
          </p:cNvSpPr>
          <p:nvPr/>
        </p:nvSpPr>
        <p:spPr>
          <a:xfrm xmlns:a="http://schemas.openxmlformats.org/drawingml/2006/main">
            <a:off x="819150" y="56578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У цих двох сценаріях +20 CPU дає більший приріст користі.</a:t>
            </a:r>
          </a:p>
        </p:txBody>
      </p:sp>
      <p:sp>
        <p:nvSpPr>
          <p:cNvPr id="29" name="">
            <a:extLst xmlns:a="http://schemas.openxmlformats.org/drawingml/2006/main">
              <a:ext uri="{FF2B5EF4-FFF2-40B4-BE49-F238E27FC236}">
                <a16:creationId xmlns:a16="http://schemas.microsoft.com/office/drawing/2014/main" id="{9190889A-9860-4BBF-8B20-4DD899DE46A6}"/>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33</a:t>
            </a:r>
          </a:p>
        </p:txBody>
      </p:sp>
    </p:spTree>
    <p:extLst>
      <p:ext uri="{BB962C8B-B14F-4D97-AF65-F5344CB8AC3E}">
        <p14:creationId xmlns:p14="http://schemas.microsoft.com/office/powerpoint/2010/main" val="11366203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59EDEB-590C-415B-BA64-DD5FE70738AA}"/>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Локальна цінність ресурсів</a:t>
            </a:r>
          </a:p>
        </p:txBody>
      </p:sp>
      <p:sp>
        <p:nvSpPr>
          <p:cNvPr id="2" name="">
            <a:extLst xmlns:a="http://schemas.openxmlformats.org/drawingml/2006/main">
              <a:ext uri="{FF2B5EF4-FFF2-40B4-BE49-F238E27FC236}">
                <a16:creationId xmlns:a16="http://schemas.microsoft.com/office/drawing/2014/main" id="{C4519E88-EBCB-48F1-ADC4-7119005C7F3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Після зміни активних обмежень граничну цінність ресурсу перераховуємо.</a:t>
            </a:r>
          </a:p>
        </p:txBody>
      </p:sp>
      <p:graphicFrame>
        <p:nvGraphicFramePr>
          <p:cNvPr id="8" name="">
            <a:extLst xmlns:a="http://schemas.openxmlformats.org/drawingml/2006/main">
              <a:ext uri="{FF2B5EF4-FFF2-40B4-BE49-F238E27FC236}">
                <a16:creationId xmlns:a16="http://schemas.microsoft.com/office/drawing/2014/main" id="{7F704FD2-C86C-4E72-8615-7CF9B8453133}"/>
              </a:ext>
            </a:extLst>
          </p:cNvPr>
          <p:cNvGraphicFramePr/>
          <p:nvPr/>
        </p:nvGraphicFramePr>
        <p:xfrm>
          <a:off xmlns:a="http://schemas.openxmlformats.org/drawingml/2006/main" x="762000" y="1905000"/>
          <a:ext xmlns:a="http://schemas.openxmlformats.org/drawingml/2006/main" cx="10668000" cy="2857500"/>
        </p:xfrm>
        <a:graphic xmlns:a="http://schemas.openxmlformats.org/drawingml/2006/main">
          <a:graphicData uri="http://schemas.openxmlformats.org/drawingml/2006/table">
            <a:tbl>
              <a:tblPr/>
              <a:tblGrid>
                <a:gridCol w="2333625"/>
                <a:gridCol w="2667000"/>
                <a:gridCol w="2667000"/>
                <a:gridCol w="3000375"/>
              </a:tblGrid>
              <a:tr h="952500">
                <a:tc>
                  <a:txBody>
                    <a:bodyPr/>
                    <a:lstStyle/>
                    <a:p>
                      <a:r>
                        <a:rPr sz="2550" b="1">
                          <a:solidFill>
                            <a:srgbClr val="FFFFFF"/>
                          </a:solidFill>
                          <a:latin typeface="Arial"/>
                          <a:ea typeface="Arial"/>
                          <a:cs typeface="Arial"/>
                        </a:rPr>
                        <a:t>Ресурс</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Зміна запасу</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Приріст Z</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На 1 одиницю</a:t>
                      </a:r>
                    </a:p>
                  </a:txBody>
                  <a:tcPr marL="114300" marR="114300" marT="66675" marB="66675" anchor="ctr">
                    <a:solidFill>
                      <a:srgbClr val="173047"/>
                    </a:solidFill>
                  </a:tcPr>
                </a:tc>
              </a:tr>
              <a:tr h="952500">
                <a:tc>
                  <a:txBody>
                    <a:bodyPr/>
                    <a:lstStyle/>
                    <a:p>
                      <a:r>
                        <a:rPr sz="2550">
                          <a:solidFill>
                            <a:srgbClr val="173047"/>
                          </a:solidFill>
                          <a:latin typeface="Arial"/>
                          <a:ea typeface="Arial"/>
                          <a:cs typeface="Arial"/>
                        </a:rPr>
                        <a:t>CPU</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+20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+33,33</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5/3 ≈ 1,67</a:t>
                      </a:r>
                    </a:p>
                  </a:txBody>
                  <a:tcPr marL="114300" marR="114300" marT="66675" marB="66675" anchor="ctr">
                    <a:solidFill>
                      <a:srgbClr val="FFFFFF"/>
                    </a:solidFill>
                  </a:tcPr>
                </a:tc>
              </a:tr>
              <a:tr h="952500">
                <a:tc>
                  <a:txBody>
                    <a:bodyPr/>
                    <a:lstStyle/>
                    <a:p>
                      <a:r>
                        <a:rPr sz="2550">
                          <a:solidFill>
                            <a:srgbClr val="173047"/>
                          </a:solidFill>
                          <a:latin typeface="Arial"/>
                          <a:ea typeface="Arial"/>
                          <a:cs typeface="Arial"/>
                        </a:rPr>
                        <a:t>RAM</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+20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+13,33</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2/3 ≈ 0,67</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F976CF0-C75A-4A66-95DB-BE7AB8AC9B14}"/>
              </a:ext>
            </a:extLst>
          </p:cNvPr>
          <p:cNvSpPr>
            <a:spLocks xmlns:a="http://schemas.openxmlformats.org/drawingml/2006/main" noGrp="1"/>
          </p:cNvSpPr>
          <p:nvPr/>
        </p:nvSpPr>
        <p:spPr>
          <a:xfrm xmlns:a="http://schemas.openxmlformats.org/drawingml/2006/main">
            <a:off x="762000" y="51816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Оцінки для початкового плану x=(40,20).</a:t>
            </a:r>
          </a:p>
        </p:txBody>
      </p:sp>
      <p:sp>
        <p:nvSpPr>
          <p:cNvPr id="5" name="">
            <a:extLst xmlns:a="http://schemas.openxmlformats.org/drawingml/2006/main">
              <a:ext uri="{FF2B5EF4-FFF2-40B4-BE49-F238E27FC236}">
                <a16:creationId xmlns:a16="http://schemas.microsoft.com/office/drawing/2014/main" id="{2D0CCBE6-D01A-4F01-89CD-2952F387989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34</a:t>
            </a:r>
          </a:p>
        </p:txBody>
      </p:sp>
    </p:spTree>
    <p:extLst>
      <p:ext uri="{BB962C8B-B14F-4D97-AF65-F5344CB8AC3E}">
        <p14:creationId xmlns:p14="http://schemas.microsoft.com/office/powerpoint/2010/main" val="162193819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06C75D-593D-4516-BCA2-A02BE3B8E2CB}"/>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Коли додатковий CPU перестає допомагати?</a:t>
            </a:r>
          </a:p>
        </p:txBody>
      </p:sp>
      <p:sp>
        <p:nvSpPr>
          <p:cNvPr id="2" name="">
            <a:extLst xmlns:a="http://schemas.openxmlformats.org/drawingml/2006/main">
              <a:ext uri="{FF2B5EF4-FFF2-40B4-BE49-F238E27FC236}">
                <a16:creationId xmlns:a16="http://schemas.microsoft.com/office/drawing/2014/main" id="{0063C779-A3FD-4092-ACF9-245E9F0F9CB6}"/>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Після 160 CPU пам’ять обмежує план: оптимальна користь </a:t>
            </a:r>
            <a:r>
              <a:rPr sz="2100" b="1">
                <a:solidFill>
                  <a:srgbClr val="00857D"/>
                </a:solidFill>
                <a:latin typeface="Arial"/>
                <a:ea typeface="Arial"/>
                <a:cs typeface="Arial"/>
              </a:rPr>
              <a:t>залишається 320</a:t>
            </a:r>
            <a:r>
              <a:rPr sz="2100" b="1">
                <a:solidFill>
                  <a:srgbClr val="00857D"/>
                </a:solidFill>
                <a:latin typeface="Arial"/>
                <a:ea typeface="Arial"/>
                <a:cs typeface="Arial"/>
              </a:rPr>
              <a:t>.</a:t>
            </a:r>
          </a:p>
        </p:txBody>
      </p:sp>
      <p:graphicFrame>
        <p:nvGraphicFramePr>
          <p:cNvPr id="12" name="Chart">
            <a:extLst xmlns:a="http://schemas.openxmlformats.org/drawingml/2006/main">
              <a:ext uri="{FF2B5EF4-FFF2-40B4-BE49-F238E27FC236}">
                <a16:creationId xmlns:a16="http://schemas.microsoft.com/office/drawing/2014/main" id="{712B782B-EE7E-47DB-9274-8AE6B720B372}"/>
              </a:ext>
            </a:extLst>
          </p:cNvPr>
          <p:cNvGraphicFramePr/>
          <p:nvPr/>
        </p:nvGraphicFramePr>
        <p:xfrm>
          <a:off xmlns:a="http://schemas.openxmlformats.org/drawingml/2006/main" x="762000" y="1571625"/>
          <a:ext xmlns:a="http://schemas.openxmlformats.org/drawingml/2006/main" cx="7715250" cy="4000500"/>
        </p:xfrm>
        <a:graphic xmlns:a="http://schemas.openxmlformats.org/drawingml/2006/main">
          <a:graphicData uri="http://schemas.openxmlformats.org/drawingml/2006/chart">
            <c:chart xmlns:r="http://schemas.openxmlformats.org/officeDocument/2006/relationships" xmlns:c="http://schemas.openxmlformats.org/drawingml/2006/chart" r:id="R4d0c4fc7ef404271"/>
          </a:graphicData>
        </a:graphic>
      </p:graphicFrame>
      <p:sp>
        <p:nvSpPr>
          <p:cNvPr id="4" name="">
            <a:extLst xmlns:a="http://schemas.openxmlformats.org/drawingml/2006/main">
              <a:ext uri="{FF2B5EF4-FFF2-40B4-BE49-F238E27FC236}">
                <a16:creationId xmlns:a16="http://schemas.microsoft.com/office/drawing/2014/main" id="{34843378-F6B8-4FF9-95CA-C653D7E3B3C8}"/>
              </a:ext>
            </a:extLst>
          </p:cNvPr>
          <p:cNvSpPr>
            <a:spLocks xmlns:a="http://schemas.openxmlformats.org/drawingml/2006/main" noGrp="1"/>
          </p:cNvSpPr>
          <p:nvPr/>
        </p:nvSpPr>
        <p:spPr>
          <a:xfrm xmlns:a="http://schemas.openxmlformats.org/drawingml/2006/main">
            <a:off x="8858250" y="1943100"/>
            <a:ext cx="2571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Пам’ять = 80</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CPU:100…170</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Z:220…320</a:t>
            </a:r>
          </a:p>
        </p:txBody>
      </p:sp>
      <p:sp>
        <p:nvSpPr>
          <p:cNvPr id="5" name="">
            <a:extLst xmlns:a="http://schemas.openxmlformats.org/drawingml/2006/main">
              <a:ext uri="{FF2B5EF4-FFF2-40B4-BE49-F238E27FC236}">
                <a16:creationId xmlns:a16="http://schemas.microsoft.com/office/drawing/2014/main" id="{4D0AB532-4748-4E14-A61E-CBEB98565C0B}"/>
              </a:ext>
            </a:extLst>
          </p:cNvPr>
          <p:cNvSpPr>
            <a:spLocks xmlns:a="http://schemas.openxmlformats.org/drawingml/2006/main" noGrp="1"/>
          </p:cNvSpPr>
          <p:nvPr/>
        </p:nvSpPr>
        <p:spPr>
          <a:xfrm xmlns:a="http://schemas.openxmlformats.org/drawingml/2006/main">
            <a:off x="8858250" y="410527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850" b="1">
                <a:solidFill>
                  <a:srgbClr val="00857D"/>
                </a:solidFill>
                <a:latin typeface="Arial"/>
                <a:ea typeface="Arial"/>
                <a:cs typeface="Arial"/>
              </a:defRPr>
            </a:pPr>
            <a:r>
              <a:rPr sz="2850" b="1">
                <a:solidFill>
                  <a:srgbClr val="00857D"/>
                </a:solidFill>
                <a:latin typeface="Arial"/>
                <a:ea typeface="Arial"/>
                <a:cs typeface="Arial"/>
              </a:rPr>
              <a:t>Плато</a:t>
            </a:r>
          </a:p>
          <a:p xmlns:a="http://schemas.openxmlformats.org/drawingml/2006/main">
            <a:pPr algn="l">
              <a:buNone/>
              <a:defRPr sz="2850" b="1">
                <a:solidFill>
                  <a:srgbClr val="00857D"/>
                </a:solidFill>
                <a:latin typeface="Arial"/>
                <a:ea typeface="Arial"/>
                <a:cs typeface="Arial"/>
              </a:defRPr>
            </a:pPr>
            <a:r>
              <a:rPr sz="2850" b="1">
                <a:solidFill>
                  <a:srgbClr val="00857D"/>
                </a:solidFill>
                <a:latin typeface="Arial"/>
                <a:ea typeface="Arial"/>
                <a:cs typeface="Arial"/>
              </a:rPr>
              <a:t>Z = 320</a:t>
            </a:r>
          </a:p>
        </p:txBody>
      </p:sp>
      <p:sp>
        <p:nvSpPr>
          <p:cNvPr id="9" name="">
            <a:extLst xmlns:a="http://schemas.openxmlformats.org/drawingml/2006/main">
              <a:ext uri="{FF2B5EF4-FFF2-40B4-BE49-F238E27FC236}">
                <a16:creationId xmlns:a16="http://schemas.microsoft.com/office/drawing/2014/main" id="{3D5C8C42-0D76-46CF-A852-5B60D408D61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35</a:t>
            </a:r>
          </a:p>
        </p:txBody>
      </p:sp>
    </p:spTree>
    <p:extLst>
      <p:ext uri="{BB962C8B-B14F-4D97-AF65-F5344CB8AC3E}">
        <p14:creationId xmlns:p14="http://schemas.microsoft.com/office/powerpoint/2010/main" val="1306120278"/>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DFA320-4552-4DFB-A658-90CFDA77A547}"/>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Лекція 4: що треба вміти</a:t>
            </a:r>
          </a:p>
        </p:txBody>
      </p:sp>
      <p:sp>
        <p:nvSpPr>
          <p:cNvPr id="2" name="">
            <a:extLst xmlns:a="http://schemas.openxmlformats.org/drawingml/2006/main">
              <a:ext uri="{FF2B5EF4-FFF2-40B4-BE49-F238E27FC236}">
                <a16:creationId xmlns:a16="http://schemas.microsoft.com/office/drawing/2014/main" id="{29DEC3CA-D7CB-4C3B-AEE5-51D61BB4AA7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Відповідь пояснюємо через модель, а не назву функції.</a:t>
            </a:r>
          </a:p>
        </p:txBody>
      </p:sp>
      <p:graphicFrame>
        <p:nvGraphicFramePr>
          <p:cNvPr id="10" name="">
            <a:extLst xmlns:a="http://schemas.openxmlformats.org/drawingml/2006/main">
              <a:ext uri="{FF2B5EF4-FFF2-40B4-BE49-F238E27FC236}">
                <a16:creationId xmlns:a16="http://schemas.microsoft.com/office/drawing/2014/main" id="{A27EF050-AD19-45B8-8176-8246CF0EF557}"/>
              </a:ext>
            </a:extLst>
          </p:cNvPr>
          <p:cNvGraphicFramePr/>
          <p:nvPr/>
        </p:nvGraphicFramePr>
        <p:xfrm>
          <a:off xmlns:a="http://schemas.openxmlformats.org/drawingml/2006/main" x="762000" y="1666875"/>
          <a:ext xmlns:a="http://schemas.openxmlformats.org/drawingml/2006/main" cx="10668000" cy="3524250"/>
        </p:xfrm>
        <a:graphic xmlns:a="http://schemas.openxmlformats.org/drawingml/2006/main">
          <a:graphicData uri="http://schemas.openxmlformats.org/drawingml/2006/table">
            <a:tbl>
              <a:tblPr/>
              <a:tblGrid>
                <a:gridCol w="3714750"/>
                <a:gridCol w="6953250"/>
              </a:tblGrid>
              <a:tr h="704850">
                <a:tc>
                  <a:txBody>
                    <a:bodyPr/>
                    <a:lstStyle/>
                    <a:p>
                      <a:r>
                        <a:rPr sz="2325" b="1">
                          <a:solidFill>
                            <a:srgbClr val="FFFFFF"/>
                          </a:solidFill>
                          <a:latin typeface="Arial"/>
                          <a:ea typeface="Arial"/>
                          <a:cs typeface="Arial"/>
                        </a:rPr>
                        <a:t>Уміння</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Самоперевірка</a:t>
                      </a:r>
                    </a:p>
                  </a:txBody>
                  <a:tcPr marL="114300" marR="114300" marT="66675" marB="66675" anchor="ctr">
                    <a:solidFill>
                      <a:srgbClr val="173047"/>
                    </a:solidFill>
                  </a:tcPr>
                </a:tc>
              </a:tr>
              <a:tr h="704850">
                <a:tc>
                  <a:txBody>
                    <a:bodyPr/>
                    <a:lstStyle/>
                    <a:p>
                      <a:r>
                        <a:rPr sz="2325">
                          <a:solidFill>
                            <a:srgbClr val="173047"/>
                          </a:solidFill>
                          <a:latin typeface="Arial"/>
                          <a:ea typeface="Arial"/>
                          <a:cs typeface="Arial"/>
                        </a:rPr>
                        <a:t>Модель</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Що означають x,A,b,c?</a:t>
                      </a:r>
                    </a:p>
                  </a:txBody>
                  <a:tcPr marL="114300" marR="114300" marT="66675" marB="66675" anchor="ctr">
                    <a:solidFill>
                      <a:srgbClr val="FFFFFF"/>
                    </a:solidFill>
                  </a:tcPr>
                </a:tc>
              </a:tr>
              <a:tr h="704850">
                <a:tc>
                  <a:txBody>
                    <a:bodyPr/>
                    <a:lstStyle/>
                    <a:p>
                      <a:r>
                        <a:rPr sz="2325">
                          <a:solidFill>
                            <a:srgbClr val="173047"/>
                          </a:solidFill>
                          <a:latin typeface="Arial"/>
                          <a:ea typeface="Arial"/>
                          <a:cs typeface="Arial"/>
                        </a:rPr>
                        <a:t>Симплексний крок</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Хто входить/виходить? Як обрати θ?</a:t>
                      </a:r>
                    </a:p>
                  </a:txBody>
                  <a:tcPr marL="114300" marR="114300" marT="66675" marB="66675" anchor="ctr">
                    <a:solidFill>
                      <a:srgbClr val="FFFFFF"/>
                    </a:solidFill>
                  </a:tcPr>
                </a:tc>
              </a:tr>
              <a:tr h="704850">
                <a:tc>
                  <a:txBody>
                    <a:bodyPr/>
                    <a:lstStyle/>
                    <a:p>
                      <a:r>
                        <a:rPr sz="2325">
                          <a:solidFill>
                            <a:srgbClr val="173047"/>
                          </a:solidFill>
                          <a:latin typeface="Arial"/>
                          <a:ea typeface="Arial"/>
                          <a:cs typeface="Arial"/>
                        </a:rPr>
                        <a:t>Перевірка відповіді</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Чому max Z=−r.fun?</a:t>
                      </a:r>
                    </a:p>
                  </a:txBody>
                  <a:tcPr marL="114300" marR="114300" marT="66675" marB="66675" anchor="ctr">
                    <a:solidFill>
                      <a:srgbClr val="FFFFFF"/>
                    </a:solidFill>
                  </a:tcPr>
                </a:tc>
              </a:tr>
              <a:tr h="704850">
                <a:tc>
                  <a:txBody>
                    <a:bodyPr/>
                    <a:lstStyle/>
                    <a:p>
                      <a:r>
                        <a:rPr sz="2325">
                          <a:solidFill>
                            <a:srgbClr val="173047"/>
                          </a:solidFill>
                          <a:latin typeface="Arial"/>
                          <a:ea typeface="Arial"/>
                          <a:cs typeface="Arial"/>
                        </a:rPr>
                        <a:t>Ресурсний сценарій</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Чому </a:t>
                      </a:r>
                      <a:r>
                        <a:rPr sz="2325">
                          <a:solidFill>
                            <a:srgbClr val="173047"/>
                          </a:solidFill>
                          <a:latin typeface="Arial"/>
                          <a:ea typeface="Arial"/>
                          <a:cs typeface="Arial"/>
                        </a:rPr>
                        <a:t>після 160</a:t>
                      </a:r>
                      <a:r>
                        <a:rPr sz="2325">
                          <a:solidFill>
                            <a:srgbClr val="173047"/>
                          </a:solidFill>
                          <a:latin typeface="Arial"/>
                          <a:ea typeface="Arial"/>
                          <a:cs typeface="Arial"/>
                        </a:rPr>
                        <a:t> CPU користь не зростає?</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1B50DBA-9D67-4801-B74C-FC8CDAF87594}"/>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36</a:t>
            </a:r>
          </a:p>
        </p:txBody>
      </p:sp>
    </p:spTree>
    <p:extLst>
      <p:ext uri="{BB962C8B-B14F-4D97-AF65-F5344CB8AC3E}">
        <p14:creationId xmlns:p14="http://schemas.microsoft.com/office/powerpoint/2010/main" val="20672715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88AC79-2C46-434E-9239-7027900BA646}"/>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Лекція 5. Три класи задач</a:t>
            </a:r>
          </a:p>
        </p:txBody>
      </p:sp>
      <p:sp>
        <p:nvSpPr>
          <p:cNvPr id="3" name="">
            <a:extLst xmlns:a="http://schemas.openxmlformats.org/drawingml/2006/main">
              <a:ext uri="{FF2B5EF4-FFF2-40B4-BE49-F238E27FC236}">
                <a16:creationId xmlns:a16="http://schemas.microsoft.com/office/drawing/2014/main" id="{7B5A5E01-CEB3-4A30-BD8A-991077D5FF27}"/>
              </a:ext>
            </a:extLst>
          </p:cNvPr>
          <p:cNvSpPr>
            <a:spLocks xmlns:a="http://schemas.openxmlformats.org/drawingml/2006/main" noGrp="1"/>
          </p:cNvSpPr>
          <p:nvPr/>
        </p:nvSpPr>
        <p:spPr>
          <a:xfrm xmlns:a="http://schemas.openxmlformats.org/drawingml/2006/main">
            <a:off x="857250" y="1971675"/>
            <a:ext cx="10477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6F9F"/>
                </a:solidFill>
                <a:latin typeface="DejaVu Sans"/>
                <a:ea typeface="DejaVu Sans"/>
                <a:cs typeface="DejaVu Sans"/>
              </a:defRPr>
            </a:pPr>
            <a:r>
              <a:rPr sz="2175" b="1">
                <a:solidFill>
                  <a:srgbClr val="086F9F"/>
                </a:solidFill>
                <a:latin typeface="Arial"/>
                <a:ea typeface="Arial"/>
                <a:cs typeface="Arial"/>
              </a:rPr>
              <a:t>1. Транспортна задача лінійного програмування (ТЗЛП)</a:t>
            </a:r>
          </a:p>
        </p:txBody>
      </p:sp>
      <p:sp>
        <p:nvSpPr>
          <p:cNvPr id="4" name="">
            <a:extLst xmlns:a="http://schemas.openxmlformats.org/drawingml/2006/main">
              <a:ext uri="{FF2B5EF4-FFF2-40B4-BE49-F238E27FC236}">
                <a16:creationId xmlns:a16="http://schemas.microsoft.com/office/drawing/2014/main" id="{80E3E0A1-3C7A-467B-ABAE-54DAB94E7CD2}"/>
              </a:ext>
            </a:extLst>
          </p:cNvPr>
          <p:cNvSpPr>
            <a:spLocks xmlns:a="http://schemas.openxmlformats.org/drawingml/2006/main" noGrp="1"/>
          </p:cNvSpPr>
          <p:nvPr/>
        </p:nvSpPr>
        <p:spPr>
          <a:xfrm xmlns:a="http://schemas.openxmlformats.org/drawingml/2006/main">
            <a:off x="857250" y="2990850"/>
            <a:ext cx="1023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86F9F"/>
                </a:solidFill>
                <a:latin typeface="DejaVu Sans"/>
                <a:ea typeface="DejaVu Sans"/>
                <a:cs typeface="DejaVu Sans"/>
              </a:defRPr>
            </a:pPr>
            <a:r>
              <a:rPr sz="2325" b="1">
                <a:solidFill>
                  <a:srgbClr val="086F9F"/>
                </a:solidFill>
                <a:latin typeface="Arial"/>
                <a:ea typeface="Arial"/>
                <a:cs typeface="Arial"/>
              </a:rPr>
              <a:t>2. Задача про призначення</a:t>
            </a:r>
          </a:p>
        </p:txBody>
      </p:sp>
      <p:sp>
        <p:nvSpPr>
          <p:cNvPr id="5" name="">
            <a:extLst xmlns:a="http://schemas.openxmlformats.org/drawingml/2006/main">
              <a:ext uri="{FF2B5EF4-FFF2-40B4-BE49-F238E27FC236}">
                <a16:creationId xmlns:a16="http://schemas.microsoft.com/office/drawing/2014/main" id="{5798C27F-0CDA-44F3-9E05-2DA5B8FB92DC}"/>
              </a:ext>
            </a:extLst>
          </p:cNvPr>
          <p:cNvSpPr>
            <a:spLocks xmlns:a="http://schemas.openxmlformats.org/drawingml/2006/main" noGrp="1"/>
          </p:cNvSpPr>
          <p:nvPr/>
        </p:nvSpPr>
        <p:spPr>
          <a:xfrm xmlns:a="http://schemas.openxmlformats.org/drawingml/2006/main">
            <a:off x="857250" y="4010025"/>
            <a:ext cx="1023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86F9F"/>
                </a:solidFill>
                <a:latin typeface="DejaVu Sans"/>
                <a:ea typeface="DejaVu Sans"/>
                <a:cs typeface="DejaVu Sans"/>
              </a:defRPr>
            </a:pPr>
            <a:r>
              <a:rPr sz="2325" b="1">
                <a:solidFill>
                  <a:srgbClr val="086F9F"/>
                </a:solidFill>
                <a:latin typeface="Arial"/>
                <a:ea typeface="Arial"/>
                <a:cs typeface="Arial"/>
              </a:rPr>
              <a:t>3. Дискретне та змішане програмування</a:t>
            </a:r>
          </a:p>
        </p:txBody>
      </p:sp>
      <p:sp>
        <p:nvSpPr>
          <p:cNvPr id="6" name="">
            <a:extLst xmlns:a="http://schemas.openxmlformats.org/drawingml/2006/main">
              <a:ext uri="{FF2B5EF4-FFF2-40B4-BE49-F238E27FC236}">
                <a16:creationId xmlns:a16="http://schemas.microsoft.com/office/drawing/2014/main" id="{7B4A73B1-4FD3-406E-91C2-65EDFAA4040F}"/>
              </a:ext>
            </a:extLst>
          </p:cNvPr>
          <p:cNvSpPr>
            <a:spLocks xmlns:a="http://schemas.openxmlformats.org/drawingml/2006/main" noGrp="1"/>
          </p:cNvSpPr>
          <p:nvPr/>
        </p:nvSpPr>
        <p:spPr>
          <a:xfrm xmlns:a="http://schemas.openxmlformats.org/drawingml/2006/main">
            <a:off x="819150" y="53816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Ілюстрація, модель, алгоритм і Python для кожної задачі.</a:t>
            </a:r>
          </a:p>
        </p:txBody>
      </p:sp>
      <p:sp>
        <p:nvSpPr>
          <p:cNvPr id="8" name="">
            <a:extLst xmlns:a="http://schemas.openxmlformats.org/drawingml/2006/main">
              <a:ext uri="{FF2B5EF4-FFF2-40B4-BE49-F238E27FC236}">
                <a16:creationId xmlns:a16="http://schemas.microsoft.com/office/drawing/2014/main" id="{42481874-53A7-4377-ADD0-8E0D45852E48}"/>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37</a:t>
            </a:r>
          </a:p>
        </p:txBody>
      </p:sp>
    </p:spTree>
    <p:extLst>
      <p:ext uri="{BB962C8B-B14F-4D97-AF65-F5344CB8AC3E}">
        <p14:creationId xmlns:p14="http://schemas.microsoft.com/office/powerpoint/2010/main" val="113803414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47BD55-9662-491C-BBCD-AEEDDB521FAC}"/>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Лекція 5: маршрут заняття</a:t>
            </a:r>
          </a:p>
        </p:txBody>
      </p:sp>
      <p:sp>
        <p:nvSpPr>
          <p:cNvPr id="2" name="">
            <a:extLst xmlns:a="http://schemas.openxmlformats.org/drawingml/2006/main">
              <a:ext uri="{FF2B5EF4-FFF2-40B4-BE49-F238E27FC236}">
                <a16:creationId xmlns:a16="http://schemas.microsoft.com/office/drawing/2014/main" id="{763C56F8-3200-47B9-94C0-BCF13E2A9BE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Показ «Лекція 5»: моделі та алгоритми. «Практикум»: код, виміри й додаткові приклади.</a:t>
            </a:r>
          </a:p>
        </p:txBody>
      </p:sp>
      <p:sp>
        <p:nvSpPr>
          <p:cNvPr id="3" name="">
            <a:extLst xmlns:a="http://schemas.openxmlformats.org/drawingml/2006/main">
              <a:ext uri="{FF2B5EF4-FFF2-40B4-BE49-F238E27FC236}">
                <a16:creationId xmlns:a16="http://schemas.microsoft.com/office/drawing/2014/main" id="{F380AB30-D9B1-4ADA-AE64-F65F2D8BF8DF}"/>
              </a:ext>
            </a:extLst>
          </p:cNvPr>
          <p:cNvSpPr>
            <a:spLocks xmlns:a="http://schemas.openxmlformats.org/drawingml/2006/main" noGrp="1"/>
          </p:cNvSpPr>
          <p:nvPr/>
        </p:nvSpPr>
        <p:spPr>
          <a:xfrm xmlns:a="http://schemas.openxmlformats.org/drawingml/2006/main">
            <a:off x="762000" y="165735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75" b="0">
                <a:solidFill>
                  <a:srgbClr val="173047"/>
                </a:solidFill>
                <a:latin typeface="Arial"/>
                <a:ea typeface="Arial"/>
                <a:cs typeface="Arial"/>
              </a:defRPr>
            </a:pPr>
            <a:r>
              <a:rPr sz="2775" b="0">
                <a:solidFill>
                  <a:srgbClr val="173047"/>
                </a:solidFill>
                <a:latin typeface="Arial"/>
                <a:ea typeface="Arial"/>
                <a:cs typeface="Arial"/>
              </a:rPr>
              <a:t>1. ТЗЛП: початковий план і його поліпшення</a:t>
            </a:r>
          </a:p>
          <a:p xmlns:a="http://schemas.openxmlformats.org/drawingml/2006/main">
            <a:pPr algn="l">
              <a:buNone/>
              <a:defRPr sz="2775" b="0">
                <a:solidFill>
                  <a:srgbClr val="173047"/>
                </a:solidFill>
                <a:latin typeface="Arial"/>
                <a:ea typeface="Arial"/>
                <a:cs typeface="Arial"/>
              </a:defRPr>
            </a:pPr>
            <a:r>
              <a:rPr sz="2775" b="0">
                <a:solidFill>
                  <a:srgbClr val="173047"/>
                </a:solidFill>
                <a:latin typeface="Arial"/>
                <a:ea typeface="Arial"/>
                <a:cs typeface="Arial"/>
              </a:rPr>
              <a:t>2. Призначення: незалежні нулі</a:t>
            </a:r>
          </a:p>
          <a:p xmlns:a="http://schemas.openxmlformats.org/drawingml/2006/main">
            <a:pPr algn="l">
              <a:buNone/>
              <a:defRPr sz="2775" b="0">
                <a:solidFill>
                  <a:srgbClr val="173047"/>
                </a:solidFill>
                <a:latin typeface="Arial"/>
                <a:ea typeface="Arial"/>
                <a:cs typeface="Arial"/>
              </a:defRPr>
            </a:pPr>
            <a:r>
              <a:rPr sz="2775" b="0">
                <a:solidFill>
                  <a:srgbClr val="173047"/>
                </a:solidFill>
                <a:latin typeface="Arial"/>
                <a:ea typeface="Arial"/>
                <a:cs typeface="Arial"/>
              </a:rPr>
              <a:t>3. MILP: послаблення, гілки та відсів</a:t>
            </a:r>
          </a:p>
          <a:p xmlns:a="http://schemas.openxmlformats.org/drawingml/2006/main">
            <a:pPr algn="l">
              <a:buNone/>
              <a:defRPr sz="2775" b="0">
                <a:solidFill>
                  <a:srgbClr val="173047"/>
                </a:solidFill>
                <a:latin typeface="Arial"/>
                <a:ea typeface="Arial"/>
                <a:cs typeface="Arial"/>
              </a:defRPr>
            </a:pPr>
            <a:r>
              <a:rPr sz="2775" b="0">
                <a:solidFill>
                  <a:srgbClr val="173047"/>
                </a:solidFill>
                <a:latin typeface="Arial"/>
                <a:ea typeface="Arial"/>
                <a:cs typeface="Arial"/>
              </a:rPr>
              <a:t>4. Порівняння моделей і перевірка рішень</a:t>
            </a:r>
          </a:p>
        </p:txBody>
      </p:sp>
      <p:sp>
        <p:nvSpPr>
          <p:cNvPr id="4" name="">
            <a:extLst xmlns:a="http://schemas.openxmlformats.org/drawingml/2006/main">
              <a:ext uri="{FF2B5EF4-FFF2-40B4-BE49-F238E27FC236}">
                <a16:creationId xmlns:a16="http://schemas.microsoft.com/office/drawing/2014/main" id="{1C60001C-E2FD-4E78-936F-D32E15E40EB5}"/>
              </a:ext>
            </a:extLst>
          </p:cNvPr>
          <p:cNvSpPr>
            <a:spLocks xmlns:a="http://schemas.openxmlformats.org/drawingml/2006/main" noGrp="1"/>
          </p:cNvSpPr>
          <p:nvPr/>
        </p:nvSpPr>
        <p:spPr>
          <a:xfrm xmlns:a="http://schemas.openxmlformats.org/drawingml/2006/main">
            <a:off x="762000" y="4857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566779"/>
                </a:solidFill>
                <a:latin typeface="Arial"/>
                <a:ea typeface="Arial"/>
                <a:cs typeface="Arial"/>
              </a:defRPr>
            </a:pPr>
            <a:r>
              <a:rPr sz="2175" b="0">
                <a:solidFill>
                  <a:srgbClr val="566779"/>
                </a:solidFill>
                <a:latin typeface="Arial"/>
                <a:ea typeface="Arial"/>
                <a:cs typeface="Arial"/>
              </a:rPr>
              <a:t>Повний файл також містить другий приклад</a:t>
            </a:r>
          </a:p>
          <a:p xmlns:a="http://schemas.openxmlformats.org/drawingml/2006/main">
            <a:pPr algn="l">
              <a:buNone/>
              <a:defRPr sz="2175" b="0">
                <a:solidFill>
                  <a:srgbClr val="566779"/>
                </a:solidFill>
                <a:latin typeface="Arial"/>
                <a:ea typeface="Arial"/>
                <a:cs typeface="Arial"/>
              </a:defRPr>
            </a:pPr>
            <a:r>
              <a:rPr sz="2175" b="0">
                <a:solidFill>
                  <a:srgbClr val="566779"/>
                </a:solidFill>
                <a:latin typeface="Arial"/>
                <a:ea typeface="Arial"/>
                <a:cs typeface="Arial"/>
              </a:rPr>
              <a:t>угорського методу та оригінали з підручників.</a:t>
            </a:r>
          </a:p>
        </p:txBody>
      </p:sp>
      <p:sp>
        <p:nvSpPr>
          <p:cNvPr id="5" name="">
            <a:extLst xmlns:a="http://schemas.openxmlformats.org/drawingml/2006/main">
              <a:ext uri="{FF2B5EF4-FFF2-40B4-BE49-F238E27FC236}">
                <a16:creationId xmlns:a16="http://schemas.microsoft.com/office/drawing/2014/main" id="{759052B1-C3F3-493E-90F7-ECB8FDC7613B}"/>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38</a:t>
            </a:r>
          </a:p>
        </p:txBody>
      </p:sp>
    </p:spTree>
    <p:extLst>
      <p:ext uri="{BB962C8B-B14F-4D97-AF65-F5344CB8AC3E}">
        <p14:creationId xmlns:p14="http://schemas.microsoft.com/office/powerpoint/2010/main" val="51301944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75C23D-8853-4179-A2D6-5EEF3848BDFF}"/>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Словник: потенціали та межі</a:t>
            </a:r>
          </a:p>
        </p:txBody>
      </p:sp>
      <p:sp>
        <p:nvSpPr>
          <p:cNvPr id="2" name="">
            <a:extLst xmlns:a="http://schemas.openxmlformats.org/drawingml/2006/main">
              <a:ext uri="{FF2B5EF4-FFF2-40B4-BE49-F238E27FC236}">
                <a16:creationId xmlns:a16="http://schemas.microsoft.com/office/drawing/2014/main" id="{69D0B9D5-6343-453F-A3CB-33D3EE179B7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Для min: L≤оптимум≤U. Для max напрям меж протилежний.</a:t>
            </a:r>
          </a:p>
        </p:txBody>
      </p:sp>
      <p:graphicFrame>
        <p:nvGraphicFramePr>
          <p:cNvPr id="10" name="">
            <a:extLst xmlns:a="http://schemas.openxmlformats.org/drawingml/2006/main">
              <a:ext uri="{FF2B5EF4-FFF2-40B4-BE49-F238E27FC236}">
                <a16:creationId xmlns:a16="http://schemas.microsoft.com/office/drawing/2014/main" id="{5F1FFF8C-1756-431F-BA69-B39155993D5F}"/>
              </a:ext>
            </a:extLst>
          </p:cNvPr>
          <p:cNvGraphicFramePr/>
          <p:nvPr/>
        </p:nvGraphicFramePr>
        <p:xfrm>
          <a:off xmlns:a="http://schemas.openxmlformats.org/drawingml/2006/main" x="762000" y="1666875"/>
          <a:ext xmlns:a="http://schemas.openxmlformats.org/drawingml/2006/main" cx="10668000" cy="3524250"/>
        </p:xfrm>
        <a:graphic xmlns:a="http://schemas.openxmlformats.org/drawingml/2006/main">
          <a:graphicData uri="http://schemas.openxmlformats.org/drawingml/2006/table">
            <a:tbl>
              <a:tblPr/>
              <a:tblGrid>
                <a:gridCol w="3714750"/>
                <a:gridCol w="6953250"/>
              </a:tblGrid>
              <a:tr h="704850">
                <a:tc>
                  <a:txBody>
                    <a:bodyPr/>
                    <a:lstStyle/>
                    <a:p>
                      <a:r>
                        <a:rPr sz="2250" b="1">
                          <a:solidFill>
                            <a:srgbClr val="FFFFFF"/>
                          </a:solidFill>
                          <a:latin typeface="Arial"/>
                          <a:ea typeface="Arial"/>
                          <a:cs typeface="Arial"/>
                        </a:rPr>
                        <a:t>Термін</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Сенс</a:t>
                      </a:r>
                    </a:p>
                  </a:txBody>
                  <a:tcPr marL="114300" marR="114300" marT="66675" marB="66675" anchor="ctr">
                    <a:solidFill>
                      <a:srgbClr val="173047"/>
                    </a:solidFill>
                  </a:tcPr>
                </a:tc>
              </a:tr>
              <a:tr h="704850">
                <a:tc>
                  <a:txBody>
                    <a:bodyPr/>
                    <a:lstStyle/>
                    <a:p>
                      <a:r>
                        <a:rPr sz="2250">
                          <a:solidFill>
                            <a:srgbClr val="173047"/>
                          </a:solidFill>
                          <a:latin typeface="Arial"/>
                          <a:ea typeface="Arial"/>
                          <a:cs typeface="Arial"/>
                        </a:rPr>
                        <a:t>Потенціали u,v</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Оцінки джерел і споживачів у базисі</a:t>
                      </a:r>
                    </a:p>
                  </a:txBody>
                  <a:tcPr marL="114300" marR="114300" marT="66675" marB="66675" anchor="ctr">
                    <a:solidFill>
                      <a:srgbClr val="FFFFFF"/>
                    </a:solidFill>
                  </a:tcPr>
                </a:tc>
              </a:tr>
              <a:tr h="704850">
                <a:tc>
                  <a:txBody>
                    <a:bodyPr/>
                    <a:lstStyle/>
                    <a:p>
                      <a:r>
                        <a:rPr sz="2250">
                          <a:solidFill>
                            <a:srgbClr val="173047"/>
                          </a:solidFill>
                          <a:latin typeface="Arial"/>
                          <a:ea typeface="Arial"/>
                          <a:cs typeface="Arial"/>
                        </a:rPr>
                        <a:t>Δᵢⱼ</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Зміна вартості при введенні клітинки через цикл</a:t>
                      </a:r>
                    </a:p>
                  </a:txBody>
                  <a:tcPr marL="114300" marR="114300" marT="66675" marB="66675" anchor="ctr">
                    <a:solidFill>
                      <a:srgbClr val="FFFFFF"/>
                    </a:solidFill>
                  </a:tcPr>
                </a:tc>
              </a:tr>
              <a:tr h="704850">
                <a:tc>
                  <a:txBody>
                    <a:bodyPr/>
                    <a:lstStyle/>
                    <a:p>
                      <a:r>
                        <a:rPr sz="2250">
                          <a:solidFill>
                            <a:srgbClr val="173047"/>
                          </a:solidFill>
                          <a:latin typeface="Arial"/>
                          <a:ea typeface="Arial"/>
                          <a:cs typeface="Arial"/>
                        </a:rPr>
                        <a:t>LP-послаблення</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Лінійні умови без вимог цілочисельності</a:t>
                      </a:r>
                    </a:p>
                  </a:txBody>
                  <a:tcPr marL="114300" marR="114300" marT="66675" marB="66675" anchor="ctr">
                    <a:solidFill>
                      <a:srgbClr val="FFFFFF"/>
                    </a:solidFill>
                  </a:tcPr>
                </a:tc>
              </a:tr>
              <a:tr h="704850">
                <a:tc>
                  <a:txBody>
                    <a:bodyPr/>
                    <a:lstStyle/>
                    <a:p>
                      <a:r>
                        <a:rPr sz="2250">
                          <a:solidFill>
                            <a:srgbClr val="173047"/>
                          </a:solidFill>
                          <a:latin typeface="Arial"/>
                          <a:ea typeface="Arial"/>
                          <a:cs typeface="Arial"/>
                        </a:rPr>
                        <a:t>L / U для min</a:t>
                      </a:r>
                    </a:p>
                  </a:txBody>
                  <a:tcPr marL="114300" marR="114300" marT="66675" marB="66675" anchor="ctr">
                    <a:solidFill>
                      <a:srgbClr val="FFFFFF"/>
                    </a:solidFill>
                  </a:tcPr>
                </a:tc>
                <a:tc>
                  <a:txBody>
                    <a:bodyPr/>
                    <a:lstStyle/>
                    <a:p>
                      <a:r>
                        <a:rPr sz="2250">
                          <a:solidFill>
                            <a:srgbClr val="173047"/>
                          </a:solidFill>
                          <a:latin typeface="Arial"/>
                          <a:ea typeface="Arial"/>
                          <a:cs typeface="Arial"/>
                        </a:rPr>
                        <a:t>L — LP-нижня межа; U — найкращий цілий план</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A3BBCEF-7319-4AA0-AF70-C9EF671D2995}"/>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39</a:t>
            </a:r>
          </a:p>
        </p:txBody>
      </p:sp>
    </p:spTree>
    <p:extLst>
      <p:ext uri="{BB962C8B-B14F-4D97-AF65-F5344CB8AC3E}">
        <p14:creationId xmlns:p14="http://schemas.microsoft.com/office/powerpoint/2010/main" val="79828594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2C65E7-C4C7-4D29-9A07-6C508508AA19}"/>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ТЗЛП: від датацентрів до кластерів</a:t>
            </a:r>
          </a:p>
        </p:txBody>
      </p:sp>
      <p:sp>
        <p:nvSpPr>
          <p:cNvPr id="2" name="">
            <a:extLst xmlns:a="http://schemas.openxmlformats.org/drawingml/2006/main">
              <a:ext uri="{FF2B5EF4-FFF2-40B4-BE49-F238E27FC236}">
                <a16:creationId xmlns:a16="http://schemas.microsoft.com/office/drawing/2014/main" id="{80FD7E60-383E-4E10-8412-C7691768F85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Мета: виконати попит з найменшою сумарною вартістю.</a:t>
            </a:r>
          </a:p>
        </p:txBody>
      </p:sp>
      <p:pic>
        <p:nvPicPr>
          <p:cNvPr id="16" name="">
            <a:extLst xmlns:a="http://schemas.openxmlformats.org/drawingml/2006/main">
              <a:ext uri="{FF2B5EF4-FFF2-40B4-BE49-F238E27FC236}">
                <a16:creationId xmlns:a16="http://schemas.microsoft.com/office/drawing/2014/main" id="{F46903D0-FF5A-40A8-B893-76EB8B87277F}"/>
              </a:ext>
            </a:extLst>
          </p:cNvPr>
          <p:cNvPicPr>
            <a:picLocks xmlns:a="http://schemas.openxmlformats.org/drawingml/2006/main" noChangeAspect="1"/>
          </p:cNvPicPr>
          <p:nvPr/>
        </p:nvPicPr>
        <p:blipFill>
          <a:blip xmlns:r="http://schemas.openxmlformats.org/officeDocument/2006/relationships" xmlns:a="http://schemas.openxmlformats.org/drawingml/2006/main" r:embed="Rd55b650f71ef4ce0"/>
          <a:stretch xmlns:a="http://schemas.openxmlformats.org/drawingml/2006/main"/>
        </p:blipFill>
        <p:spPr>
          <a:xfrm xmlns:a="http://schemas.openxmlformats.org/drawingml/2006/main">
            <a:off x="762000" y="1571819"/>
            <a:ext cx="6667500" cy="375246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11D633E-C7AB-47C3-BE31-EF111BEEC6FC}"/>
              </a:ext>
            </a:extLst>
          </p:cNvPr>
          <p:cNvSpPr>
            <a:spLocks xmlns:a="http://schemas.openxmlformats.org/drawingml/2006/main" noGrp="1"/>
          </p:cNvSpPr>
          <p:nvPr/>
        </p:nvSpPr>
        <p:spPr>
          <a:xfrm xmlns:a="http://schemas.openxmlformats.org/drawingml/2006/main">
            <a:off x="933450" y="1514475"/>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1">
                <a:solidFill>
                  <a:srgbClr val="1479AE"/>
                </a:solidFill>
                <a:latin typeface="Arial"/>
                <a:ea typeface="Arial"/>
                <a:cs typeface="Arial"/>
              </a:defRPr>
            </a:pPr>
            <a:r>
              <a:rPr sz="2250" b="1">
                <a:solidFill>
                  <a:srgbClr val="1479AE"/>
                </a:solidFill>
                <a:latin typeface="Arial"/>
                <a:ea typeface="Arial"/>
                <a:cs typeface="Arial"/>
              </a:rPr>
              <a:t>A · 30</a:t>
            </a:r>
          </a:p>
        </p:txBody>
      </p:sp>
      <p:sp>
        <p:nvSpPr>
          <p:cNvPr id="5" name="">
            <a:extLst xmlns:a="http://schemas.openxmlformats.org/drawingml/2006/main">
              <a:ext uri="{FF2B5EF4-FFF2-40B4-BE49-F238E27FC236}">
                <a16:creationId xmlns:a16="http://schemas.microsoft.com/office/drawing/2014/main" id="{2C3B1FA9-0CAD-4512-889C-2A3E0B632139}"/>
              </a:ext>
            </a:extLst>
          </p:cNvPr>
          <p:cNvSpPr>
            <a:spLocks xmlns:a="http://schemas.openxmlformats.org/drawingml/2006/main" noGrp="1"/>
          </p:cNvSpPr>
          <p:nvPr/>
        </p:nvSpPr>
        <p:spPr>
          <a:xfrm xmlns:a="http://schemas.openxmlformats.org/drawingml/2006/main">
            <a:off x="933450" y="354330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1">
                <a:solidFill>
                  <a:srgbClr val="00857D"/>
                </a:solidFill>
                <a:latin typeface="Arial"/>
                <a:ea typeface="Arial"/>
                <a:cs typeface="Arial"/>
              </a:defRPr>
            </a:pPr>
            <a:r>
              <a:rPr sz="2250" b="1">
                <a:solidFill>
                  <a:srgbClr val="00857D"/>
                </a:solidFill>
                <a:latin typeface="Arial"/>
                <a:ea typeface="Arial"/>
                <a:cs typeface="Arial"/>
              </a:rPr>
              <a:t>B · 20</a:t>
            </a:r>
          </a:p>
        </p:txBody>
      </p:sp>
      <p:sp>
        <p:nvSpPr>
          <p:cNvPr id="6" name="">
            <a:extLst xmlns:a="http://schemas.openxmlformats.org/drawingml/2006/main">
              <a:ext uri="{FF2B5EF4-FFF2-40B4-BE49-F238E27FC236}">
                <a16:creationId xmlns:a16="http://schemas.microsoft.com/office/drawing/2014/main" id="{78041720-1ACC-4FA0-8E31-65BD1D04A61E}"/>
              </a:ext>
            </a:extLst>
          </p:cNvPr>
          <p:cNvSpPr>
            <a:spLocks xmlns:a="http://schemas.openxmlformats.org/drawingml/2006/main" noGrp="1"/>
          </p:cNvSpPr>
          <p:nvPr/>
        </p:nvSpPr>
        <p:spPr>
          <a:xfrm xmlns:a="http://schemas.openxmlformats.org/drawingml/2006/main">
            <a:off x="7000875" y="175260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P · 10</a:t>
            </a:r>
          </a:p>
        </p:txBody>
      </p:sp>
      <p:sp>
        <p:nvSpPr>
          <p:cNvPr id="7" name="">
            <a:extLst xmlns:a="http://schemas.openxmlformats.org/drawingml/2006/main">
              <a:ext uri="{FF2B5EF4-FFF2-40B4-BE49-F238E27FC236}">
                <a16:creationId xmlns:a16="http://schemas.microsoft.com/office/drawing/2014/main" id="{9F0E5CCD-4A97-44EF-A8FD-CC5F9A4ED9F5}"/>
              </a:ext>
            </a:extLst>
          </p:cNvPr>
          <p:cNvSpPr>
            <a:spLocks xmlns:a="http://schemas.openxmlformats.org/drawingml/2006/main" noGrp="1"/>
          </p:cNvSpPr>
          <p:nvPr/>
        </p:nvSpPr>
        <p:spPr>
          <a:xfrm xmlns:a="http://schemas.openxmlformats.org/drawingml/2006/main">
            <a:off x="7000875" y="3038475"/>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Q · 20</a:t>
            </a:r>
          </a:p>
        </p:txBody>
      </p:sp>
      <p:sp>
        <p:nvSpPr>
          <p:cNvPr id="8" name="">
            <a:extLst xmlns:a="http://schemas.openxmlformats.org/drawingml/2006/main">
              <a:ext uri="{FF2B5EF4-FFF2-40B4-BE49-F238E27FC236}">
                <a16:creationId xmlns:a16="http://schemas.microsoft.com/office/drawing/2014/main" id="{862EF682-3C07-43AC-BDD7-7F1854F55C99}"/>
              </a:ext>
            </a:extLst>
          </p:cNvPr>
          <p:cNvSpPr>
            <a:spLocks xmlns:a="http://schemas.openxmlformats.org/drawingml/2006/main" noGrp="1"/>
          </p:cNvSpPr>
          <p:nvPr/>
        </p:nvSpPr>
        <p:spPr>
          <a:xfrm xmlns:a="http://schemas.openxmlformats.org/drawingml/2006/main">
            <a:off x="7000875" y="4324350"/>
            <a:ext cx="2238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R · 20</a:t>
            </a:r>
          </a:p>
        </p:txBody>
      </p:sp>
      <p:sp>
        <p:nvSpPr>
          <p:cNvPr id="9" name="">
            <a:extLst xmlns:a="http://schemas.openxmlformats.org/drawingml/2006/main">
              <a:ext uri="{FF2B5EF4-FFF2-40B4-BE49-F238E27FC236}">
                <a16:creationId xmlns:a16="http://schemas.microsoft.com/office/drawing/2014/main" id="{149FBBDF-8AB5-4D50-A109-E1EC24D388DA}"/>
              </a:ext>
            </a:extLst>
          </p:cNvPr>
          <p:cNvSpPr>
            <a:spLocks xmlns:a="http://schemas.openxmlformats.org/drawingml/2006/main" noGrp="1"/>
          </p:cNvSpPr>
          <p:nvPr/>
        </p:nvSpPr>
        <p:spPr>
          <a:xfrm xmlns:a="http://schemas.openxmlformats.org/drawingml/2006/main">
            <a:off x="8905875" y="24765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00857D"/>
                </a:solidFill>
                <a:latin typeface="Arial"/>
                <a:ea typeface="Arial"/>
                <a:cs typeface="Arial"/>
              </a:defRPr>
            </a:pPr>
            <a:r>
              <a:rPr sz="2400" b="1">
                <a:solidFill>
                  <a:srgbClr val="00857D"/>
                </a:solidFill>
                <a:latin typeface="Arial"/>
                <a:ea typeface="Arial"/>
                <a:cs typeface="Arial"/>
              </a:rPr>
              <a:t>Σ запасів =</a:t>
            </a:r>
          </a:p>
          <a:p xmlns:a="http://schemas.openxmlformats.org/drawingml/2006/main">
            <a:pPr algn="l">
              <a:buNone/>
              <a:defRPr sz="2400" b="1">
                <a:solidFill>
                  <a:srgbClr val="00857D"/>
                </a:solidFill>
                <a:latin typeface="Arial"/>
                <a:ea typeface="Arial"/>
                <a:cs typeface="Arial"/>
              </a:defRPr>
            </a:pPr>
            <a:r>
              <a:rPr sz="2400" b="1">
                <a:solidFill>
                  <a:srgbClr val="00857D"/>
                </a:solidFill>
                <a:latin typeface="Arial"/>
                <a:ea typeface="Arial"/>
                <a:cs typeface="Arial"/>
              </a:rPr>
              <a:t>Σ попиту =50</a:t>
            </a:r>
          </a:p>
        </p:txBody>
      </p:sp>
      <p:sp>
        <p:nvSpPr>
          <p:cNvPr id="13" name="">
            <a:extLst xmlns:a="http://schemas.openxmlformats.org/drawingml/2006/main">
              <a:ext uri="{FF2B5EF4-FFF2-40B4-BE49-F238E27FC236}">
                <a16:creationId xmlns:a16="http://schemas.microsoft.com/office/drawing/2014/main" id="{9F739681-5C0C-4351-B59B-E3FEBBEF0CE6}"/>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40</a:t>
            </a:r>
          </a:p>
        </p:txBody>
      </p:sp>
    </p:spTree>
    <p:extLst>
      <p:ext uri="{BB962C8B-B14F-4D97-AF65-F5344CB8AC3E}">
        <p14:creationId xmlns:p14="http://schemas.microsoft.com/office/powerpoint/2010/main" val="25673241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274541B-267D-439D-A743-AEA121F21452}"/>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Транспортна задача: вихідні дані</a:t>
            </a:r>
          </a:p>
        </p:txBody>
      </p:sp>
      <p:sp>
        <p:nvSpPr>
          <p:cNvPr id="3" name="">
            <a:extLst xmlns:a="http://schemas.openxmlformats.org/drawingml/2006/main">
              <a:ext uri="{FF2B5EF4-FFF2-40B4-BE49-F238E27FC236}">
                <a16:creationId xmlns:a16="http://schemas.microsoft.com/office/drawing/2014/main" id="{AB0B4B16-2CBE-4526-A41F-D043A212A236}"/>
              </a:ext>
            </a:extLst>
          </p:cNvPr>
          <p:cNvSpPr>
            <a:spLocks xmlns:a="http://schemas.openxmlformats.org/drawingml/2006/main" noGrp="1"/>
          </p:cNvSpPr>
          <p:nvPr/>
        </p:nvSpPr>
        <p:spPr>
          <a:xfrm xmlns:a="http://schemas.openxmlformats.org/drawingml/2006/main">
            <a:off x="742950" y="2295525"/>
            <a:ext cx="2752725" cy="9144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AC04A8B6-F015-4691-86D2-38C2A96FA1B0}"/>
              </a:ext>
            </a:extLst>
          </p:cNvPr>
          <p:cNvSpPr>
            <a:spLocks xmlns:a="http://schemas.openxmlformats.org/drawingml/2006/main" noGrp="1"/>
          </p:cNvSpPr>
          <p:nvPr/>
        </p:nvSpPr>
        <p:spPr>
          <a:xfrm xmlns:a="http://schemas.openxmlformats.org/drawingml/2006/main">
            <a:off x="838200" y="2371725"/>
            <a:ext cx="25622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Джерело</a:t>
            </a:r>
          </a:p>
        </p:txBody>
      </p:sp>
      <p:sp>
        <p:nvSpPr>
          <p:cNvPr id="5" name="">
            <a:extLst xmlns:a="http://schemas.openxmlformats.org/drawingml/2006/main">
              <a:ext uri="{FF2B5EF4-FFF2-40B4-BE49-F238E27FC236}">
                <a16:creationId xmlns:a16="http://schemas.microsoft.com/office/drawing/2014/main" id="{29D180D0-E46E-425F-B9C6-CA2DCEC377A7}"/>
              </a:ext>
            </a:extLst>
          </p:cNvPr>
          <p:cNvSpPr>
            <a:spLocks xmlns:a="http://schemas.openxmlformats.org/drawingml/2006/main" noGrp="1"/>
          </p:cNvSpPr>
          <p:nvPr/>
        </p:nvSpPr>
        <p:spPr>
          <a:xfrm xmlns:a="http://schemas.openxmlformats.org/drawingml/2006/main">
            <a:off x="3495675" y="2295525"/>
            <a:ext cx="1895475" cy="9144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632E122A-2EEA-41D7-B378-FD0C00C27EFD}"/>
              </a:ext>
            </a:extLst>
          </p:cNvPr>
          <p:cNvSpPr>
            <a:spLocks xmlns:a="http://schemas.openxmlformats.org/drawingml/2006/main" noGrp="1"/>
          </p:cNvSpPr>
          <p:nvPr/>
        </p:nvSpPr>
        <p:spPr>
          <a:xfrm xmlns:a="http://schemas.openxmlformats.org/drawingml/2006/main">
            <a:off x="3590925" y="23717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P: 10</a:t>
            </a:r>
          </a:p>
        </p:txBody>
      </p:sp>
      <p:sp>
        <p:nvSpPr>
          <p:cNvPr id="7" name="">
            <a:extLst xmlns:a="http://schemas.openxmlformats.org/drawingml/2006/main">
              <a:ext uri="{FF2B5EF4-FFF2-40B4-BE49-F238E27FC236}">
                <a16:creationId xmlns:a16="http://schemas.microsoft.com/office/drawing/2014/main" id="{98E02D43-A582-49D8-B2E7-F2BD2C36CDE1}"/>
              </a:ext>
            </a:extLst>
          </p:cNvPr>
          <p:cNvSpPr>
            <a:spLocks xmlns:a="http://schemas.openxmlformats.org/drawingml/2006/main" noGrp="1"/>
          </p:cNvSpPr>
          <p:nvPr/>
        </p:nvSpPr>
        <p:spPr>
          <a:xfrm xmlns:a="http://schemas.openxmlformats.org/drawingml/2006/main">
            <a:off x="5391150" y="2295525"/>
            <a:ext cx="1895475" cy="9144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44DBE417-DB52-4FFE-9C29-6927299EA1F8}"/>
              </a:ext>
            </a:extLst>
          </p:cNvPr>
          <p:cNvSpPr>
            <a:spLocks xmlns:a="http://schemas.openxmlformats.org/drawingml/2006/main" noGrp="1"/>
          </p:cNvSpPr>
          <p:nvPr/>
        </p:nvSpPr>
        <p:spPr>
          <a:xfrm xmlns:a="http://schemas.openxmlformats.org/drawingml/2006/main">
            <a:off x="5486400" y="23717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Q: 20</a:t>
            </a:r>
          </a:p>
        </p:txBody>
      </p:sp>
      <p:sp>
        <p:nvSpPr>
          <p:cNvPr id="9" name="">
            <a:extLst xmlns:a="http://schemas.openxmlformats.org/drawingml/2006/main">
              <a:ext uri="{FF2B5EF4-FFF2-40B4-BE49-F238E27FC236}">
                <a16:creationId xmlns:a16="http://schemas.microsoft.com/office/drawing/2014/main" id="{600A367A-BFBC-49FF-8857-7CA5EAC9FE55}"/>
              </a:ext>
            </a:extLst>
          </p:cNvPr>
          <p:cNvSpPr>
            <a:spLocks xmlns:a="http://schemas.openxmlformats.org/drawingml/2006/main" noGrp="1"/>
          </p:cNvSpPr>
          <p:nvPr/>
        </p:nvSpPr>
        <p:spPr>
          <a:xfrm xmlns:a="http://schemas.openxmlformats.org/drawingml/2006/main">
            <a:off x="7286625" y="2295525"/>
            <a:ext cx="1895475" cy="9144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6DA7BF0D-0599-4861-B1EB-0960C2B7BAC9}"/>
              </a:ext>
            </a:extLst>
          </p:cNvPr>
          <p:cNvSpPr>
            <a:spLocks xmlns:a="http://schemas.openxmlformats.org/drawingml/2006/main" noGrp="1"/>
          </p:cNvSpPr>
          <p:nvPr/>
        </p:nvSpPr>
        <p:spPr>
          <a:xfrm xmlns:a="http://schemas.openxmlformats.org/drawingml/2006/main">
            <a:off x="7381875" y="23717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R: 20</a:t>
            </a:r>
          </a:p>
        </p:txBody>
      </p:sp>
      <p:sp>
        <p:nvSpPr>
          <p:cNvPr id="11" name="">
            <a:extLst xmlns:a="http://schemas.openxmlformats.org/drawingml/2006/main">
              <a:ext uri="{FF2B5EF4-FFF2-40B4-BE49-F238E27FC236}">
                <a16:creationId xmlns:a16="http://schemas.microsoft.com/office/drawing/2014/main" id="{C5F6A517-76CA-455A-B022-02477247BDD3}"/>
              </a:ext>
            </a:extLst>
          </p:cNvPr>
          <p:cNvSpPr>
            <a:spLocks xmlns:a="http://schemas.openxmlformats.org/drawingml/2006/main" noGrp="1"/>
          </p:cNvSpPr>
          <p:nvPr/>
        </p:nvSpPr>
        <p:spPr>
          <a:xfrm xmlns:a="http://schemas.openxmlformats.org/drawingml/2006/main">
            <a:off x="9182100" y="2295525"/>
            <a:ext cx="2266950" cy="91440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C4462B38-EE8B-44A1-91D5-17DA89192E8F}"/>
              </a:ext>
            </a:extLst>
          </p:cNvPr>
          <p:cNvSpPr>
            <a:spLocks xmlns:a="http://schemas.openxmlformats.org/drawingml/2006/main" noGrp="1"/>
          </p:cNvSpPr>
          <p:nvPr/>
        </p:nvSpPr>
        <p:spPr>
          <a:xfrm xmlns:a="http://schemas.openxmlformats.org/drawingml/2006/main">
            <a:off x="9277350" y="2371725"/>
            <a:ext cx="2076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Запас</a:t>
            </a:r>
          </a:p>
        </p:txBody>
      </p:sp>
      <p:sp>
        <p:nvSpPr>
          <p:cNvPr id="13" name="">
            <a:extLst xmlns:a="http://schemas.openxmlformats.org/drawingml/2006/main">
              <a:ext uri="{FF2B5EF4-FFF2-40B4-BE49-F238E27FC236}">
                <a16:creationId xmlns:a16="http://schemas.microsoft.com/office/drawing/2014/main" id="{D1A75A24-F6DC-451A-A67D-4D1A3ABC8EA9}"/>
              </a:ext>
            </a:extLst>
          </p:cNvPr>
          <p:cNvSpPr>
            <a:spLocks xmlns:a="http://schemas.openxmlformats.org/drawingml/2006/main" noGrp="1"/>
          </p:cNvSpPr>
          <p:nvPr/>
        </p:nvSpPr>
        <p:spPr>
          <a:xfrm xmlns:a="http://schemas.openxmlformats.org/drawingml/2006/main">
            <a:off x="742950" y="3209925"/>
            <a:ext cx="2752725" cy="9144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07288662-5CCD-4C22-8854-898FEB462E7C}"/>
              </a:ext>
            </a:extLst>
          </p:cNvPr>
          <p:cNvSpPr>
            <a:spLocks xmlns:a="http://schemas.openxmlformats.org/drawingml/2006/main" noGrp="1"/>
          </p:cNvSpPr>
          <p:nvPr/>
        </p:nvSpPr>
        <p:spPr>
          <a:xfrm xmlns:a="http://schemas.openxmlformats.org/drawingml/2006/main">
            <a:off x="838200" y="3286125"/>
            <a:ext cx="25622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A</a:t>
            </a:r>
          </a:p>
        </p:txBody>
      </p:sp>
      <p:sp>
        <p:nvSpPr>
          <p:cNvPr id="15" name="">
            <a:extLst xmlns:a="http://schemas.openxmlformats.org/drawingml/2006/main">
              <a:ext uri="{FF2B5EF4-FFF2-40B4-BE49-F238E27FC236}">
                <a16:creationId xmlns:a16="http://schemas.microsoft.com/office/drawing/2014/main" id="{05AB46DE-2BCC-451D-9D38-B8E0DBA78ABF}"/>
              </a:ext>
            </a:extLst>
          </p:cNvPr>
          <p:cNvSpPr>
            <a:spLocks xmlns:a="http://schemas.openxmlformats.org/drawingml/2006/main" noGrp="1"/>
          </p:cNvSpPr>
          <p:nvPr/>
        </p:nvSpPr>
        <p:spPr>
          <a:xfrm xmlns:a="http://schemas.openxmlformats.org/drawingml/2006/main">
            <a:off x="3495675" y="3209925"/>
            <a:ext cx="1895475" cy="9144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9BC2A9F5-304B-4E24-AF4D-43B596ABC9FE}"/>
              </a:ext>
            </a:extLst>
          </p:cNvPr>
          <p:cNvSpPr>
            <a:spLocks xmlns:a="http://schemas.openxmlformats.org/drawingml/2006/main" noGrp="1"/>
          </p:cNvSpPr>
          <p:nvPr/>
        </p:nvSpPr>
        <p:spPr>
          <a:xfrm xmlns:a="http://schemas.openxmlformats.org/drawingml/2006/main">
            <a:off x="3590925" y="32861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337415CF-33E2-4162-93E3-2133B1BB05EB}"/>
              </a:ext>
            </a:extLst>
          </p:cNvPr>
          <p:cNvSpPr>
            <a:spLocks xmlns:a="http://schemas.openxmlformats.org/drawingml/2006/main" noGrp="1"/>
          </p:cNvSpPr>
          <p:nvPr/>
        </p:nvSpPr>
        <p:spPr>
          <a:xfrm xmlns:a="http://schemas.openxmlformats.org/drawingml/2006/main">
            <a:off x="5391150" y="3209925"/>
            <a:ext cx="1895475" cy="9144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C9B342B7-3CB1-4FB6-A46A-050E46D3DAC2}"/>
              </a:ext>
            </a:extLst>
          </p:cNvPr>
          <p:cNvSpPr>
            <a:spLocks xmlns:a="http://schemas.openxmlformats.org/drawingml/2006/main" noGrp="1"/>
          </p:cNvSpPr>
          <p:nvPr/>
        </p:nvSpPr>
        <p:spPr>
          <a:xfrm xmlns:a="http://schemas.openxmlformats.org/drawingml/2006/main">
            <a:off x="5486400" y="32861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216854D0-6F8F-4AB3-B51C-D8066DCC51E0}"/>
              </a:ext>
            </a:extLst>
          </p:cNvPr>
          <p:cNvSpPr>
            <a:spLocks xmlns:a="http://schemas.openxmlformats.org/drawingml/2006/main" noGrp="1"/>
          </p:cNvSpPr>
          <p:nvPr/>
        </p:nvSpPr>
        <p:spPr>
          <a:xfrm xmlns:a="http://schemas.openxmlformats.org/drawingml/2006/main">
            <a:off x="7286625" y="3209925"/>
            <a:ext cx="1895475" cy="9144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A517B27B-E36F-48AE-8913-1A0CBBF49209}"/>
              </a:ext>
            </a:extLst>
          </p:cNvPr>
          <p:cNvSpPr>
            <a:spLocks xmlns:a="http://schemas.openxmlformats.org/drawingml/2006/main" noGrp="1"/>
          </p:cNvSpPr>
          <p:nvPr/>
        </p:nvSpPr>
        <p:spPr>
          <a:xfrm xmlns:a="http://schemas.openxmlformats.org/drawingml/2006/main">
            <a:off x="7381875" y="32861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5</a:t>
            </a:r>
          </a:p>
        </p:txBody>
      </p:sp>
      <p:sp>
        <p:nvSpPr>
          <p:cNvPr id="21" name="">
            <a:extLst xmlns:a="http://schemas.openxmlformats.org/drawingml/2006/main">
              <a:ext uri="{FF2B5EF4-FFF2-40B4-BE49-F238E27FC236}">
                <a16:creationId xmlns:a16="http://schemas.microsoft.com/office/drawing/2014/main" id="{012A2FB5-75D7-446B-B6D3-3223DA7BDED5}"/>
              </a:ext>
            </a:extLst>
          </p:cNvPr>
          <p:cNvSpPr>
            <a:spLocks xmlns:a="http://schemas.openxmlformats.org/drawingml/2006/main" noGrp="1"/>
          </p:cNvSpPr>
          <p:nvPr/>
        </p:nvSpPr>
        <p:spPr>
          <a:xfrm xmlns:a="http://schemas.openxmlformats.org/drawingml/2006/main">
            <a:off x="9182100" y="3209925"/>
            <a:ext cx="2266950" cy="91440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B1F20D11-1FE7-4797-A4E6-4C82B0DE2CBC}"/>
              </a:ext>
            </a:extLst>
          </p:cNvPr>
          <p:cNvSpPr>
            <a:spLocks xmlns:a="http://schemas.openxmlformats.org/drawingml/2006/main" noGrp="1"/>
          </p:cNvSpPr>
          <p:nvPr/>
        </p:nvSpPr>
        <p:spPr>
          <a:xfrm xmlns:a="http://schemas.openxmlformats.org/drawingml/2006/main">
            <a:off x="9277350" y="3286125"/>
            <a:ext cx="2076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30</a:t>
            </a:r>
          </a:p>
        </p:txBody>
      </p:sp>
      <p:sp>
        <p:nvSpPr>
          <p:cNvPr id="23" name="">
            <a:extLst xmlns:a="http://schemas.openxmlformats.org/drawingml/2006/main">
              <a:ext uri="{FF2B5EF4-FFF2-40B4-BE49-F238E27FC236}">
                <a16:creationId xmlns:a16="http://schemas.microsoft.com/office/drawing/2014/main" id="{1CA27883-E09B-4FB3-9177-74D03D2B4A4B}"/>
              </a:ext>
            </a:extLst>
          </p:cNvPr>
          <p:cNvSpPr>
            <a:spLocks xmlns:a="http://schemas.openxmlformats.org/drawingml/2006/main" noGrp="1"/>
          </p:cNvSpPr>
          <p:nvPr/>
        </p:nvSpPr>
        <p:spPr>
          <a:xfrm xmlns:a="http://schemas.openxmlformats.org/drawingml/2006/main">
            <a:off x="742950" y="4124325"/>
            <a:ext cx="2752725" cy="9144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E46CB57C-BD7D-4D78-9058-8335B4C38B28}"/>
              </a:ext>
            </a:extLst>
          </p:cNvPr>
          <p:cNvSpPr>
            <a:spLocks xmlns:a="http://schemas.openxmlformats.org/drawingml/2006/main" noGrp="1"/>
          </p:cNvSpPr>
          <p:nvPr/>
        </p:nvSpPr>
        <p:spPr>
          <a:xfrm xmlns:a="http://schemas.openxmlformats.org/drawingml/2006/main">
            <a:off x="838200" y="4200525"/>
            <a:ext cx="25622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B</a:t>
            </a:r>
          </a:p>
        </p:txBody>
      </p:sp>
      <p:sp>
        <p:nvSpPr>
          <p:cNvPr id="25" name="">
            <a:extLst xmlns:a="http://schemas.openxmlformats.org/drawingml/2006/main">
              <a:ext uri="{FF2B5EF4-FFF2-40B4-BE49-F238E27FC236}">
                <a16:creationId xmlns:a16="http://schemas.microsoft.com/office/drawing/2014/main" id="{727FA72B-EB81-430E-B8B0-1F7BB1B3272C}"/>
              </a:ext>
            </a:extLst>
          </p:cNvPr>
          <p:cNvSpPr>
            <a:spLocks xmlns:a="http://schemas.openxmlformats.org/drawingml/2006/main" noGrp="1"/>
          </p:cNvSpPr>
          <p:nvPr/>
        </p:nvSpPr>
        <p:spPr>
          <a:xfrm xmlns:a="http://schemas.openxmlformats.org/drawingml/2006/main">
            <a:off x="3495675" y="4124325"/>
            <a:ext cx="1895475" cy="9144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597EAF2C-171D-4E8E-8073-79981D535A48}"/>
              </a:ext>
            </a:extLst>
          </p:cNvPr>
          <p:cNvSpPr>
            <a:spLocks xmlns:a="http://schemas.openxmlformats.org/drawingml/2006/main" noGrp="1"/>
          </p:cNvSpPr>
          <p:nvPr/>
        </p:nvSpPr>
        <p:spPr>
          <a:xfrm xmlns:a="http://schemas.openxmlformats.org/drawingml/2006/main">
            <a:off x="3590925" y="42005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6</a:t>
            </a:r>
          </a:p>
        </p:txBody>
      </p:sp>
      <p:sp>
        <p:nvSpPr>
          <p:cNvPr id="27" name="">
            <a:extLst xmlns:a="http://schemas.openxmlformats.org/drawingml/2006/main">
              <a:ext uri="{FF2B5EF4-FFF2-40B4-BE49-F238E27FC236}">
                <a16:creationId xmlns:a16="http://schemas.microsoft.com/office/drawing/2014/main" id="{0908FB5B-49D8-40FF-8419-33F0807127A8}"/>
              </a:ext>
            </a:extLst>
          </p:cNvPr>
          <p:cNvSpPr>
            <a:spLocks xmlns:a="http://schemas.openxmlformats.org/drawingml/2006/main" noGrp="1"/>
          </p:cNvSpPr>
          <p:nvPr/>
        </p:nvSpPr>
        <p:spPr>
          <a:xfrm xmlns:a="http://schemas.openxmlformats.org/drawingml/2006/main">
            <a:off x="5391150" y="4124325"/>
            <a:ext cx="1895475" cy="9144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8" name="">
            <a:extLst xmlns:a="http://schemas.openxmlformats.org/drawingml/2006/main">
              <a:ext uri="{FF2B5EF4-FFF2-40B4-BE49-F238E27FC236}">
                <a16:creationId xmlns:a16="http://schemas.microsoft.com/office/drawing/2014/main" id="{940E8BE0-1AA8-4D2B-A6C4-1953567F3AAA}"/>
              </a:ext>
            </a:extLst>
          </p:cNvPr>
          <p:cNvSpPr>
            <a:spLocks xmlns:a="http://schemas.openxmlformats.org/drawingml/2006/main" noGrp="1"/>
          </p:cNvSpPr>
          <p:nvPr/>
        </p:nvSpPr>
        <p:spPr>
          <a:xfrm xmlns:a="http://schemas.openxmlformats.org/drawingml/2006/main">
            <a:off x="5486400" y="42005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3</a:t>
            </a:r>
          </a:p>
        </p:txBody>
      </p:sp>
      <p:sp>
        <p:nvSpPr>
          <p:cNvPr id="29" name="">
            <a:extLst xmlns:a="http://schemas.openxmlformats.org/drawingml/2006/main">
              <a:ext uri="{FF2B5EF4-FFF2-40B4-BE49-F238E27FC236}">
                <a16:creationId xmlns:a16="http://schemas.microsoft.com/office/drawing/2014/main" id="{76DF849B-4AC8-4A34-8900-57D67B6E1354}"/>
              </a:ext>
            </a:extLst>
          </p:cNvPr>
          <p:cNvSpPr>
            <a:spLocks xmlns:a="http://schemas.openxmlformats.org/drawingml/2006/main" noGrp="1"/>
          </p:cNvSpPr>
          <p:nvPr/>
        </p:nvSpPr>
        <p:spPr>
          <a:xfrm xmlns:a="http://schemas.openxmlformats.org/drawingml/2006/main">
            <a:off x="7286625" y="4124325"/>
            <a:ext cx="1895475" cy="9144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30" name="">
            <a:extLst xmlns:a="http://schemas.openxmlformats.org/drawingml/2006/main">
              <a:ext uri="{FF2B5EF4-FFF2-40B4-BE49-F238E27FC236}">
                <a16:creationId xmlns:a16="http://schemas.microsoft.com/office/drawing/2014/main" id="{E4456A87-ABF1-45D4-9705-93A6E2E9619E}"/>
              </a:ext>
            </a:extLst>
          </p:cNvPr>
          <p:cNvSpPr>
            <a:spLocks xmlns:a="http://schemas.openxmlformats.org/drawingml/2006/main" noGrp="1"/>
          </p:cNvSpPr>
          <p:nvPr/>
        </p:nvSpPr>
        <p:spPr>
          <a:xfrm xmlns:a="http://schemas.openxmlformats.org/drawingml/2006/main">
            <a:off x="7381875" y="4200525"/>
            <a:ext cx="1704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a:t>
            </a:r>
          </a:p>
        </p:txBody>
      </p:sp>
      <p:sp>
        <p:nvSpPr>
          <p:cNvPr id="31" name="">
            <a:extLst xmlns:a="http://schemas.openxmlformats.org/drawingml/2006/main">
              <a:ext uri="{FF2B5EF4-FFF2-40B4-BE49-F238E27FC236}">
                <a16:creationId xmlns:a16="http://schemas.microsoft.com/office/drawing/2014/main" id="{CB71DCC2-81BC-4D20-AD46-EA344383CC95}"/>
              </a:ext>
            </a:extLst>
          </p:cNvPr>
          <p:cNvSpPr>
            <a:spLocks xmlns:a="http://schemas.openxmlformats.org/drawingml/2006/main" noGrp="1"/>
          </p:cNvSpPr>
          <p:nvPr/>
        </p:nvSpPr>
        <p:spPr>
          <a:xfrm xmlns:a="http://schemas.openxmlformats.org/drawingml/2006/main">
            <a:off x="9182100" y="4124325"/>
            <a:ext cx="2266950" cy="91440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32" name="">
            <a:extLst xmlns:a="http://schemas.openxmlformats.org/drawingml/2006/main">
              <a:ext uri="{FF2B5EF4-FFF2-40B4-BE49-F238E27FC236}">
                <a16:creationId xmlns:a16="http://schemas.microsoft.com/office/drawing/2014/main" id="{BD4B2751-24EC-48DC-BA58-EFEB95639D64}"/>
              </a:ext>
            </a:extLst>
          </p:cNvPr>
          <p:cNvSpPr>
            <a:spLocks xmlns:a="http://schemas.openxmlformats.org/drawingml/2006/main" noGrp="1"/>
          </p:cNvSpPr>
          <p:nvPr/>
        </p:nvSpPr>
        <p:spPr>
          <a:xfrm xmlns:a="http://schemas.openxmlformats.org/drawingml/2006/main">
            <a:off x="9277350" y="4200525"/>
            <a:ext cx="2076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20</a:t>
            </a:r>
          </a:p>
        </p:txBody>
      </p:sp>
      <p:sp>
        <p:nvSpPr>
          <p:cNvPr id="33" name="">
            <a:extLst xmlns:a="http://schemas.openxmlformats.org/drawingml/2006/main">
              <a:ext uri="{FF2B5EF4-FFF2-40B4-BE49-F238E27FC236}">
                <a16:creationId xmlns:a16="http://schemas.microsoft.com/office/drawing/2014/main" id="{BAD808F9-0E0F-41AF-87CB-61256B545AC4}"/>
              </a:ext>
            </a:extLst>
          </p:cNvPr>
          <p:cNvSpPr>
            <a:spLocks xmlns:a="http://schemas.openxmlformats.org/drawingml/2006/main" noGrp="1"/>
          </p:cNvSpPr>
          <p:nvPr/>
        </p:nvSpPr>
        <p:spPr>
          <a:xfrm xmlns:a="http://schemas.openxmlformats.org/drawingml/2006/main">
            <a:off x="819150" y="54578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Запас 30+20=50 збігається з попитом 10+20+20=50.</a:t>
            </a:r>
          </a:p>
        </p:txBody>
      </p:sp>
      <p:sp>
        <p:nvSpPr>
          <p:cNvPr id="35" name="">
            <a:extLst xmlns:a="http://schemas.openxmlformats.org/drawingml/2006/main">
              <a:ext uri="{FF2B5EF4-FFF2-40B4-BE49-F238E27FC236}">
                <a16:creationId xmlns:a16="http://schemas.microsoft.com/office/drawing/2014/main" id="{260BBB66-3567-4216-B454-C1300F667973}"/>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41</a:t>
            </a:r>
          </a:p>
        </p:txBody>
      </p:sp>
    </p:spTree>
    <p:extLst>
      <p:ext uri="{BB962C8B-B14F-4D97-AF65-F5344CB8AC3E}">
        <p14:creationId xmlns:p14="http://schemas.microsoft.com/office/powerpoint/2010/main" val="19898663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E6288C-06DA-462E-BC18-28A668350B0C}"/>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Конкретна модель: змінні та мета</a:t>
            </a:r>
          </a:p>
        </p:txBody>
      </p:sp>
      <p:sp>
        <p:nvSpPr>
          <p:cNvPr id="3" name="">
            <a:extLst xmlns:a="http://schemas.openxmlformats.org/drawingml/2006/main">
              <a:ext uri="{FF2B5EF4-FFF2-40B4-BE49-F238E27FC236}">
                <a16:creationId xmlns:a16="http://schemas.microsoft.com/office/drawing/2014/main" id="{EAB34E78-5CB1-4585-BEE1-C25F8F66CC69}"/>
              </a:ext>
            </a:extLst>
          </p:cNvPr>
          <p:cNvSpPr>
            <a:spLocks xmlns:a="http://schemas.openxmlformats.org/drawingml/2006/main" noGrp="1"/>
          </p:cNvSpPr>
          <p:nvPr/>
        </p:nvSpPr>
        <p:spPr>
          <a:xfrm xmlns:a="http://schemas.openxmlformats.org/drawingml/2006/main">
            <a:off x="790575" y="2124075"/>
            <a:ext cx="10620375" cy="1381125"/>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D158DE1-3B64-4715-AD0B-6E0DE5D5C8EB}"/>
              </a:ext>
            </a:extLst>
          </p:cNvPr>
          <p:cNvSpPr>
            <a:spLocks xmlns:a="http://schemas.openxmlformats.org/drawingml/2006/main" noGrp="1"/>
          </p:cNvSpPr>
          <p:nvPr/>
        </p:nvSpPr>
        <p:spPr>
          <a:xfrm xmlns:a="http://schemas.openxmlformats.org/drawingml/2006/main">
            <a:off x="1009650" y="2352675"/>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6F9F"/>
                </a:solidFill>
                <a:latin typeface="DejaVu Sans"/>
                <a:ea typeface="DejaVu Sans"/>
                <a:cs typeface="DejaVu Sans"/>
              </a:defRPr>
            </a:pPr>
            <a:r>
              <a:rPr sz="2100" b="1">
                <a:solidFill>
                  <a:srgbClr val="086F9F"/>
                </a:solidFill>
                <a:latin typeface="Arial"/>
                <a:ea typeface="Arial"/>
                <a:cs typeface="Arial"/>
              </a:rPr>
              <a:t>min C = 2xAP + 4xAQ + 5xAR + 6xBP + 3xBQ + xBR</a:t>
            </a:r>
          </a:p>
        </p:txBody>
      </p:sp>
      <p:sp>
        <p:nvSpPr>
          <p:cNvPr id="5" name="">
            <a:extLst xmlns:a="http://schemas.openxmlformats.org/drawingml/2006/main">
              <a:ext uri="{FF2B5EF4-FFF2-40B4-BE49-F238E27FC236}">
                <a16:creationId xmlns:a16="http://schemas.microsoft.com/office/drawing/2014/main" id="{9868C53B-C089-45E2-AD5E-0C9F4FC647B0}"/>
              </a:ext>
            </a:extLst>
          </p:cNvPr>
          <p:cNvSpPr>
            <a:spLocks xmlns:a="http://schemas.openxmlformats.org/drawingml/2006/main" noGrp="1"/>
          </p:cNvSpPr>
          <p:nvPr/>
        </p:nvSpPr>
        <p:spPr>
          <a:xfrm xmlns:a="http://schemas.openxmlformats.org/drawingml/2006/main">
            <a:off x="857250" y="38100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475B6C"/>
                </a:solidFill>
                <a:latin typeface="DejaVu Sans"/>
                <a:ea typeface="DejaVu Sans"/>
                <a:cs typeface="DejaVu Sans"/>
              </a:defRPr>
            </a:pPr>
            <a:r>
              <a:rPr sz="2025" b="0">
                <a:solidFill>
                  <a:srgbClr val="475B6C"/>
                </a:solidFill>
                <a:latin typeface="Arial"/>
                <a:ea typeface="Arial"/>
                <a:cs typeface="Arial"/>
              </a:rPr>
              <a:t>Усі xᵢⱼ ≥ 0; кожний добуток «ціна × кількість».</a:t>
            </a:r>
          </a:p>
        </p:txBody>
      </p:sp>
      <p:sp>
        <p:nvSpPr>
          <p:cNvPr id="6" name="">
            <a:extLst xmlns:a="http://schemas.openxmlformats.org/drawingml/2006/main">
              <a:ext uri="{FF2B5EF4-FFF2-40B4-BE49-F238E27FC236}">
                <a16:creationId xmlns:a16="http://schemas.microsoft.com/office/drawing/2014/main" id="{22E4118B-C8A3-4268-B94E-245A70451A65}"/>
              </a:ext>
            </a:extLst>
          </p:cNvPr>
          <p:cNvSpPr>
            <a:spLocks xmlns:a="http://schemas.openxmlformats.org/drawingml/2006/main" noGrp="1"/>
          </p:cNvSpPr>
          <p:nvPr/>
        </p:nvSpPr>
        <p:spPr>
          <a:xfrm xmlns:a="http://schemas.openxmlformats.org/drawingml/2006/main">
            <a:off x="819150" y="525780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Порядок змінних для коду: AP, AQ, AR, BP, BQ, BR.</a:t>
            </a:r>
          </a:p>
        </p:txBody>
      </p:sp>
      <p:sp>
        <p:nvSpPr>
          <p:cNvPr id="8" name="">
            <a:extLst xmlns:a="http://schemas.openxmlformats.org/drawingml/2006/main">
              <a:ext uri="{FF2B5EF4-FFF2-40B4-BE49-F238E27FC236}">
                <a16:creationId xmlns:a16="http://schemas.microsoft.com/office/drawing/2014/main" id="{9008FFFE-41FF-49A1-9D3F-9AC56C9B6F56}"/>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42</a:t>
            </a:r>
          </a:p>
        </p:txBody>
      </p:sp>
    </p:spTree>
    <p:extLst>
      <p:ext uri="{BB962C8B-B14F-4D97-AF65-F5344CB8AC3E}">
        <p14:creationId xmlns:p14="http://schemas.microsoft.com/office/powerpoint/2010/main" val="138918468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201727E-E685-45EE-84B2-EEC8B640DA74}"/>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Конкретна модель: баланси</a:t>
            </a:r>
          </a:p>
        </p:txBody>
      </p:sp>
      <p:sp>
        <p:nvSpPr>
          <p:cNvPr id="3" name="">
            <a:extLst xmlns:a="http://schemas.openxmlformats.org/drawingml/2006/main">
              <a:ext uri="{FF2B5EF4-FFF2-40B4-BE49-F238E27FC236}">
                <a16:creationId xmlns:a16="http://schemas.microsoft.com/office/drawing/2014/main" id="{855FE5CD-0A95-42C7-8D80-1FE22E66440D}"/>
              </a:ext>
            </a:extLst>
          </p:cNvPr>
          <p:cNvSpPr>
            <a:spLocks xmlns:a="http://schemas.openxmlformats.org/drawingml/2006/main" noGrp="1"/>
          </p:cNvSpPr>
          <p:nvPr/>
        </p:nvSpPr>
        <p:spPr>
          <a:xfrm xmlns:a="http://schemas.openxmlformats.org/drawingml/2006/main">
            <a:off x="781050" y="2057400"/>
            <a:ext cx="4953000" cy="3019425"/>
          </a:xfrm>
          <a:prstGeom xmlns:a="http://schemas.openxmlformats.org/drawingml/2006/main" prst="rect">
            <a:avLst/>
          </a:prstGeom>
          <a:solidFill xmlns:a="http://schemas.openxmlformats.org/drawingml/2006/main">
            <a:srgbClr val="F3F7F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1AA3C9-F237-489A-828C-0959D5AE2FFC}"/>
              </a:ext>
            </a:extLst>
          </p:cNvPr>
          <p:cNvSpPr>
            <a:spLocks xmlns:a="http://schemas.openxmlformats.org/drawingml/2006/main" noGrp="1"/>
          </p:cNvSpPr>
          <p:nvPr/>
        </p:nvSpPr>
        <p:spPr>
          <a:xfrm xmlns:a="http://schemas.openxmlformats.org/drawingml/2006/main">
            <a:off x="6257925" y="2057400"/>
            <a:ext cx="5143500" cy="3019425"/>
          </a:xfrm>
          <a:prstGeom xmlns:a="http://schemas.openxmlformats.org/drawingml/2006/main" prst="rect">
            <a:avLst/>
          </a:prstGeom>
          <a:solidFill xmlns:a="http://schemas.openxmlformats.org/drawingml/2006/main">
            <a:srgbClr val="E1F3F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FAA894-690E-475C-8F2C-A27A5BA29ED6}"/>
              </a:ext>
            </a:extLst>
          </p:cNvPr>
          <p:cNvSpPr>
            <a:spLocks xmlns:a="http://schemas.openxmlformats.org/drawingml/2006/main" noGrp="1"/>
          </p:cNvSpPr>
          <p:nvPr/>
        </p:nvSpPr>
        <p:spPr>
          <a:xfrm xmlns:a="http://schemas.openxmlformats.org/drawingml/2006/main">
            <a:off x="1019175" y="2276475"/>
            <a:ext cx="44481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6F9F"/>
                </a:solidFill>
                <a:latin typeface="DejaVu Sans"/>
                <a:ea typeface="DejaVu Sans"/>
                <a:cs typeface="DejaVu Sans"/>
              </a:defRPr>
            </a:pPr>
            <a:r>
              <a:rPr sz="2100" b="1">
                <a:solidFill>
                  <a:srgbClr val="086F9F"/>
                </a:solidFill>
                <a:latin typeface="Arial"/>
                <a:ea typeface="Arial"/>
                <a:cs typeface="Arial"/>
              </a:rPr>
              <a:t>Датацентри</a:t>
            </a:r>
          </a:p>
        </p:txBody>
      </p:sp>
      <p:sp>
        <p:nvSpPr>
          <p:cNvPr id="6" name="">
            <a:extLst xmlns:a="http://schemas.openxmlformats.org/drawingml/2006/main">
              <a:ext uri="{FF2B5EF4-FFF2-40B4-BE49-F238E27FC236}">
                <a16:creationId xmlns:a16="http://schemas.microsoft.com/office/drawing/2014/main" id="{1E38138B-DC50-4E9D-B6E9-936C1DB194AB}"/>
              </a:ext>
            </a:extLst>
          </p:cNvPr>
          <p:cNvSpPr>
            <a:spLocks xmlns:a="http://schemas.openxmlformats.org/drawingml/2006/main" noGrp="1"/>
          </p:cNvSpPr>
          <p:nvPr/>
        </p:nvSpPr>
        <p:spPr>
          <a:xfrm xmlns:a="http://schemas.openxmlformats.org/drawingml/2006/main">
            <a:off x="6496050" y="2276475"/>
            <a:ext cx="4600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786F"/>
                </a:solidFill>
                <a:latin typeface="DejaVu Sans"/>
                <a:ea typeface="DejaVu Sans"/>
                <a:cs typeface="DejaVu Sans"/>
              </a:defRPr>
            </a:pPr>
            <a:r>
              <a:rPr sz="2100" b="1">
                <a:solidFill>
                  <a:srgbClr val="08786F"/>
                </a:solidFill>
                <a:latin typeface="Arial"/>
                <a:ea typeface="Arial"/>
                <a:cs typeface="Arial"/>
              </a:rPr>
              <a:t>Кластери</a:t>
            </a:r>
          </a:p>
        </p:txBody>
      </p:sp>
      <p:sp>
        <p:nvSpPr>
          <p:cNvPr id="7" name="">
            <a:extLst xmlns:a="http://schemas.openxmlformats.org/drawingml/2006/main">
              <a:ext uri="{FF2B5EF4-FFF2-40B4-BE49-F238E27FC236}">
                <a16:creationId xmlns:a16="http://schemas.microsoft.com/office/drawing/2014/main" id="{D532BB52-F04E-4405-A88C-0C251EA4F354}"/>
              </a:ext>
            </a:extLst>
          </p:cNvPr>
          <p:cNvSpPr>
            <a:spLocks xmlns:a="http://schemas.openxmlformats.org/drawingml/2006/main" noGrp="1"/>
          </p:cNvSpPr>
          <p:nvPr/>
        </p:nvSpPr>
        <p:spPr>
          <a:xfrm xmlns:a="http://schemas.openxmlformats.org/drawingml/2006/main">
            <a:off x="1019175" y="2847975"/>
            <a:ext cx="4476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xAP+xAQ+xAR=30</a:t>
            </a:r>
          </a:p>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xBP+xBQ+xBR=20</a:t>
            </a:r>
          </a:p>
        </p:txBody>
      </p:sp>
      <p:sp>
        <p:nvSpPr>
          <p:cNvPr id="8" name="">
            <a:extLst xmlns:a="http://schemas.openxmlformats.org/drawingml/2006/main">
              <a:ext uri="{FF2B5EF4-FFF2-40B4-BE49-F238E27FC236}">
                <a16:creationId xmlns:a16="http://schemas.microsoft.com/office/drawing/2014/main" id="{A7F0A4B9-D9C4-453C-869E-A7F276077F8D}"/>
              </a:ext>
            </a:extLst>
          </p:cNvPr>
          <p:cNvSpPr>
            <a:spLocks xmlns:a="http://schemas.openxmlformats.org/drawingml/2006/main" noGrp="1"/>
          </p:cNvSpPr>
          <p:nvPr/>
        </p:nvSpPr>
        <p:spPr>
          <a:xfrm xmlns:a="http://schemas.openxmlformats.org/drawingml/2006/main">
            <a:off x="6496050" y="2847975"/>
            <a:ext cx="4619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xAP+xBP=10</a:t>
            </a:r>
          </a:p>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xAQ+xBQ=20</a:t>
            </a:r>
          </a:p>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xAR+xBR=20</a:t>
            </a:r>
          </a:p>
        </p:txBody>
      </p:sp>
      <p:sp>
        <p:nvSpPr>
          <p:cNvPr id="9" name="">
            <a:extLst xmlns:a="http://schemas.openxmlformats.org/drawingml/2006/main">
              <a:ext uri="{FF2B5EF4-FFF2-40B4-BE49-F238E27FC236}">
                <a16:creationId xmlns:a16="http://schemas.microsoft.com/office/drawing/2014/main" id="{DD0824D1-9766-44F6-A458-0450D2FAA17B}"/>
              </a:ext>
            </a:extLst>
          </p:cNvPr>
          <p:cNvSpPr>
            <a:spLocks xmlns:a="http://schemas.openxmlformats.org/drawingml/2006/main" noGrp="1"/>
          </p:cNvSpPr>
          <p:nvPr/>
        </p:nvSpPr>
        <p:spPr>
          <a:xfrm xmlns:a="http://schemas.openxmlformats.org/drawingml/2006/main">
            <a:off x="819150" y="53435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Рівність кожного рядка й стовпця перевіримо після розв’язання.</a:t>
            </a:r>
          </a:p>
        </p:txBody>
      </p:sp>
      <p:sp>
        <p:nvSpPr>
          <p:cNvPr id="11" name="">
            <a:extLst xmlns:a="http://schemas.openxmlformats.org/drawingml/2006/main">
              <a:ext uri="{FF2B5EF4-FFF2-40B4-BE49-F238E27FC236}">
                <a16:creationId xmlns:a16="http://schemas.microsoft.com/office/drawing/2014/main" id="{4251E5A1-6A76-4CB4-8579-81787BBCCC7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43</a:t>
            </a:r>
          </a:p>
        </p:txBody>
      </p:sp>
    </p:spTree>
    <p:extLst>
      <p:ext uri="{BB962C8B-B14F-4D97-AF65-F5344CB8AC3E}">
        <p14:creationId xmlns:p14="http://schemas.microsoft.com/office/powerpoint/2010/main" val="344965531"/>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D8CC68D-2189-4984-88B3-9623D05D3856}"/>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Загальна транспортна модель</a:t>
            </a:r>
          </a:p>
        </p:txBody>
      </p:sp>
      <p:sp>
        <p:nvSpPr>
          <p:cNvPr id="2" name="">
            <a:extLst xmlns:a="http://schemas.openxmlformats.org/drawingml/2006/main">
              <a:ext uri="{FF2B5EF4-FFF2-40B4-BE49-F238E27FC236}">
                <a16:creationId xmlns:a16="http://schemas.microsoft.com/office/drawing/2014/main" id="{CDC23E8A-F2F4-4060-9A2A-035686A6DD8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Початковий метод кута застосовуємо до збалансованої таблиці.</a:t>
            </a:r>
          </a:p>
        </p:txBody>
      </p:sp>
      <p:sp>
        <p:nvSpPr>
          <p:cNvPr id="3" name="">
            <a:extLst xmlns:a="http://schemas.openxmlformats.org/drawingml/2006/main">
              <a:ext uri="{FF2B5EF4-FFF2-40B4-BE49-F238E27FC236}">
                <a16:creationId xmlns:a16="http://schemas.microsoft.com/office/drawing/2014/main" id="{5913BD85-549C-42E0-97B4-D590233BCC4C}"/>
              </a:ext>
            </a:extLst>
          </p:cNvPr>
          <p:cNvSpPr>
            <a:spLocks xmlns:a="http://schemas.openxmlformats.org/drawingml/2006/main" noGrp="1"/>
          </p:cNvSpPr>
          <p:nvPr/>
        </p:nvSpPr>
        <p:spPr>
          <a:xfrm xmlns:a="http://schemas.openxmlformats.org/drawingml/2006/main">
            <a:off x="762000" y="15430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0">
                <a:solidFill>
                  <a:srgbClr val="173047"/>
                </a:solidFill>
                <a:latin typeface="Arial"/>
                <a:ea typeface="Arial"/>
                <a:cs typeface="Arial"/>
              </a:defRPr>
            </a:pPr>
            <a:r>
              <a:rPr sz="3150" b="0">
                <a:solidFill>
                  <a:srgbClr val="173047"/>
                </a:solidFill>
                <a:latin typeface="Arial"/>
                <a:ea typeface="Arial"/>
                <a:cs typeface="Arial"/>
              </a:rPr>
              <a:t>min</a:t>
            </a:r>
          </a:p>
        </p:txBody>
      </p:sp>
      <p:sp>
        <p:nvSpPr>
          <p:cNvPr id="4" name="">
            <a:extLst xmlns:a="http://schemas.openxmlformats.org/drawingml/2006/main">
              <a:ext uri="{FF2B5EF4-FFF2-40B4-BE49-F238E27FC236}">
                <a16:creationId xmlns:a16="http://schemas.microsoft.com/office/drawing/2014/main" id="{42FCD327-DA2A-42F0-BA69-606C097BA332}"/>
              </a:ext>
            </a:extLst>
          </p:cNvPr>
          <p:cNvSpPr>
            <a:spLocks xmlns:a="http://schemas.openxmlformats.org/drawingml/2006/main" noGrp="1"/>
          </p:cNvSpPr>
          <p:nvPr/>
        </p:nvSpPr>
        <p:spPr>
          <a:xfrm xmlns:a="http://schemas.openxmlformats.org/drawingml/2006/main">
            <a:off x="1857375" y="1619250"/>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750" b="0">
                <a:solidFill>
                  <a:srgbClr val="173047"/>
                </a:solidFill>
                <a:latin typeface="Arial"/>
                <a:ea typeface="Arial"/>
                <a:cs typeface="Arial"/>
              </a:defRPr>
            </a:pPr>
            <a:r>
              <a:rPr sz="3750" b="0">
                <a:solidFill>
                  <a:srgbClr val="173047"/>
                </a:solidFill>
                <a:latin typeface="Arial"/>
                <a:ea typeface="Arial"/>
                <a:cs typeface="Arial"/>
              </a:rPr>
              <a:t>Σ</a:t>
            </a:r>
          </a:p>
        </p:txBody>
      </p:sp>
      <p:sp>
        <p:nvSpPr>
          <p:cNvPr id="5" name="">
            <a:extLst xmlns:a="http://schemas.openxmlformats.org/drawingml/2006/main">
              <a:ext uri="{FF2B5EF4-FFF2-40B4-BE49-F238E27FC236}">
                <a16:creationId xmlns:a16="http://schemas.microsoft.com/office/drawing/2014/main" id="{212A3925-8C3B-4835-8D6D-A1CB1AA71BD4}"/>
              </a:ext>
            </a:extLst>
          </p:cNvPr>
          <p:cNvSpPr>
            <a:spLocks xmlns:a="http://schemas.openxmlformats.org/drawingml/2006/main" noGrp="1"/>
          </p:cNvSpPr>
          <p:nvPr/>
        </p:nvSpPr>
        <p:spPr>
          <a:xfrm xmlns:a="http://schemas.openxmlformats.org/drawingml/2006/main">
            <a:off x="1714500" y="21526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66779"/>
                </a:solidFill>
                <a:latin typeface="Arial"/>
                <a:ea typeface="Arial"/>
                <a:cs typeface="Arial"/>
              </a:defRPr>
            </a:pPr>
            <a:r>
              <a:rPr sz="1650" b="0">
                <a:solidFill>
                  <a:srgbClr val="566779"/>
                </a:solidFill>
                <a:latin typeface="Arial"/>
                <a:ea typeface="Arial"/>
                <a:cs typeface="Arial"/>
              </a:rPr>
              <a:t>i=1…m, j=1…n</a:t>
            </a:r>
          </a:p>
        </p:txBody>
      </p:sp>
      <p:sp>
        <p:nvSpPr>
          <p:cNvPr id="6" name="">
            <a:extLst xmlns:a="http://schemas.openxmlformats.org/drawingml/2006/main">
              <a:ext uri="{FF2B5EF4-FFF2-40B4-BE49-F238E27FC236}">
                <a16:creationId xmlns:a16="http://schemas.microsoft.com/office/drawing/2014/main" id="{A06BCA76-046D-4126-BEE8-47627F0DACF9}"/>
              </a:ext>
            </a:extLst>
          </p:cNvPr>
          <p:cNvSpPr>
            <a:spLocks xmlns:a="http://schemas.openxmlformats.org/drawingml/2006/main" noGrp="1"/>
          </p:cNvSpPr>
          <p:nvPr/>
        </p:nvSpPr>
        <p:spPr>
          <a:xfrm xmlns:a="http://schemas.openxmlformats.org/drawingml/2006/main">
            <a:off x="2905125" y="161925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cᵢⱼ xᵢⱼ</a:t>
            </a:r>
          </a:p>
        </p:txBody>
      </p:sp>
      <p:sp>
        <p:nvSpPr>
          <p:cNvPr id="7" name="">
            <a:extLst xmlns:a="http://schemas.openxmlformats.org/drawingml/2006/main">
              <a:ext uri="{FF2B5EF4-FFF2-40B4-BE49-F238E27FC236}">
                <a16:creationId xmlns:a16="http://schemas.microsoft.com/office/drawing/2014/main" id="{5FC23986-9397-4493-AD6D-B30B4C770D8B}"/>
              </a:ext>
            </a:extLst>
          </p:cNvPr>
          <p:cNvSpPr>
            <a:spLocks xmlns:a="http://schemas.openxmlformats.org/drawingml/2006/main" noGrp="1"/>
          </p:cNvSpPr>
          <p:nvPr/>
        </p:nvSpPr>
        <p:spPr>
          <a:xfrm xmlns:a="http://schemas.openxmlformats.org/drawingml/2006/main">
            <a:off x="1143000" y="2914650"/>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750" b="0">
                <a:solidFill>
                  <a:srgbClr val="173047"/>
                </a:solidFill>
                <a:latin typeface="Arial"/>
                <a:ea typeface="Arial"/>
                <a:cs typeface="Arial"/>
              </a:defRPr>
            </a:pPr>
            <a:r>
              <a:rPr sz="3750" b="0">
                <a:solidFill>
                  <a:srgbClr val="173047"/>
                </a:solidFill>
                <a:latin typeface="Arial"/>
                <a:ea typeface="Arial"/>
                <a:cs typeface="Arial"/>
              </a:rPr>
              <a:t>Σ</a:t>
            </a:r>
          </a:p>
        </p:txBody>
      </p:sp>
      <p:sp>
        <p:nvSpPr>
          <p:cNvPr id="8" name="">
            <a:extLst xmlns:a="http://schemas.openxmlformats.org/drawingml/2006/main">
              <a:ext uri="{FF2B5EF4-FFF2-40B4-BE49-F238E27FC236}">
                <a16:creationId xmlns:a16="http://schemas.microsoft.com/office/drawing/2014/main" id="{FEF3176E-A906-4EAE-B706-E75D9605AAD3}"/>
              </a:ext>
            </a:extLst>
          </p:cNvPr>
          <p:cNvSpPr>
            <a:spLocks xmlns:a="http://schemas.openxmlformats.org/drawingml/2006/main" noGrp="1"/>
          </p:cNvSpPr>
          <p:nvPr/>
        </p:nvSpPr>
        <p:spPr>
          <a:xfrm xmlns:a="http://schemas.openxmlformats.org/drawingml/2006/main">
            <a:off x="1000125" y="34480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66779"/>
                </a:solidFill>
                <a:latin typeface="Arial"/>
                <a:ea typeface="Arial"/>
                <a:cs typeface="Arial"/>
              </a:defRPr>
            </a:pPr>
            <a:r>
              <a:rPr sz="1650" b="0">
                <a:solidFill>
                  <a:srgbClr val="566779"/>
                </a:solidFill>
                <a:latin typeface="Arial"/>
                <a:ea typeface="Arial"/>
                <a:cs typeface="Arial"/>
              </a:rPr>
              <a:t>j=1…n</a:t>
            </a:r>
          </a:p>
        </p:txBody>
      </p:sp>
      <p:sp>
        <p:nvSpPr>
          <p:cNvPr id="9" name="">
            <a:extLst xmlns:a="http://schemas.openxmlformats.org/drawingml/2006/main">
              <a:ext uri="{FF2B5EF4-FFF2-40B4-BE49-F238E27FC236}">
                <a16:creationId xmlns:a16="http://schemas.microsoft.com/office/drawing/2014/main" id="{BFC7097A-4DA8-424F-88F8-A211A920BB6B}"/>
              </a:ext>
            </a:extLst>
          </p:cNvPr>
          <p:cNvSpPr>
            <a:spLocks xmlns:a="http://schemas.openxmlformats.org/drawingml/2006/main" noGrp="1"/>
          </p:cNvSpPr>
          <p:nvPr/>
        </p:nvSpPr>
        <p:spPr>
          <a:xfrm xmlns:a="http://schemas.openxmlformats.org/drawingml/2006/main">
            <a:off x="2190750" y="2914650"/>
            <a:ext cx="352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xᵢⱼ = aᵢ</a:t>
            </a:r>
          </a:p>
        </p:txBody>
      </p:sp>
      <p:sp>
        <p:nvSpPr>
          <p:cNvPr id="10" name="">
            <a:extLst xmlns:a="http://schemas.openxmlformats.org/drawingml/2006/main">
              <a:ext uri="{FF2B5EF4-FFF2-40B4-BE49-F238E27FC236}">
                <a16:creationId xmlns:a16="http://schemas.microsoft.com/office/drawing/2014/main" id="{04B0B496-77C2-4CE6-BB53-E6DD627EF0D9}"/>
              </a:ext>
            </a:extLst>
          </p:cNvPr>
          <p:cNvSpPr>
            <a:spLocks xmlns:a="http://schemas.openxmlformats.org/drawingml/2006/main" noGrp="1"/>
          </p:cNvSpPr>
          <p:nvPr/>
        </p:nvSpPr>
        <p:spPr>
          <a:xfrm xmlns:a="http://schemas.openxmlformats.org/drawingml/2006/main">
            <a:off x="1143000" y="4295775"/>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750" b="0">
                <a:solidFill>
                  <a:srgbClr val="173047"/>
                </a:solidFill>
                <a:latin typeface="Arial"/>
                <a:ea typeface="Arial"/>
                <a:cs typeface="Arial"/>
              </a:defRPr>
            </a:pPr>
            <a:r>
              <a:rPr sz="3750" b="0">
                <a:solidFill>
                  <a:srgbClr val="173047"/>
                </a:solidFill>
                <a:latin typeface="Arial"/>
                <a:ea typeface="Arial"/>
                <a:cs typeface="Arial"/>
              </a:rPr>
              <a:t>Σ</a:t>
            </a:r>
          </a:p>
        </p:txBody>
      </p:sp>
      <p:sp>
        <p:nvSpPr>
          <p:cNvPr id="11" name="">
            <a:extLst xmlns:a="http://schemas.openxmlformats.org/drawingml/2006/main">
              <a:ext uri="{FF2B5EF4-FFF2-40B4-BE49-F238E27FC236}">
                <a16:creationId xmlns:a16="http://schemas.microsoft.com/office/drawing/2014/main" id="{43BC2641-E5D9-4B24-9D59-6ACE4C5B1FD3}"/>
              </a:ext>
            </a:extLst>
          </p:cNvPr>
          <p:cNvSpPr>
            <a:spLocks xmlns:a="http://schemas.openxmlformats.org/drawingml/2006/main" noGrp="1"/>
          </p:cNvSpPr>
          <p:nvPr/>
        </p:nvSpPr>
        <p:spPr>
          <a:xfrm xmlns:a="http://schemas.openxmlformats.org/drawingml/2006/main">
            <a:off x="1000125" y="48291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66779"/>
                </a:solidFill>
                <a:latin typeface="Arial"/>
                <a:ea typeface="Arial"/>
                <a:cs typeface="Arial"/>
              </a:defRPr>
            </a:pPr>
            <a:r>
              <a:rPr sz="1650" b="0">
                <a:solidFill>
                  <a:srgbClr val="566779"/>
                </a:solidFill>
                <a:latin typeface="Arial"/>
                <a:ea typeface="Arial"/>
                <a:cs typeface="Arial"/>
              </a:rPr>
              <a:t>i=1…m</a:t>
            </a:r>
          </a:p>
        </p:txBody>
      </p:sp>
      <p:sp>
        <p:nvSpPr>
          <p:cNvPr id="12" name="">
            <a:extLst xmlns:a="http://schemas.openxmlformats.org/drawingml/2006/main">
              <a:ext uri="{FF2B5EF4-FFF2-40B4-BE49-F238E27FC236}">
                <a16:creationId xmlns:a16="http://schemas.microsoft.com/office/drawing/2014/main" id="{C6A608E6-F38F-4FD7-873E-12FD2DF4188D}"/>
              </a:ext>
            </a:extLst>
          </p:cNvPr>
          <p:cNvSpPr>
            <a:spLocks xmlns:a="http://schemas.openxmlformats.org/drawingml/2006/main" noGrp="1"/>
          </p:cNvSpPr>
          <p:nvPr/>
        </p:nvSpPr>
        <p:spPr>
          <a:xfrm xmlns:a="http://schemas.openxmlformats.org/drawingml/2006/main">
            <a:off x="2190750" y="4295775"/>
            <a:ext cx="352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xᵢⱼ = bⱼ</a:t>
            </a:r>
          </a:p>
        </p:txBody>
      </p:sp>
      <p:sp>
        <p:nvSpPr>
          <p:cNvPr id="13" name="">
            <a:extLst xmlns:a="http://schemas.openxmlformats.org/drawingml/2006/main">
              <a:ext uri="{FF2B5EF4-FFF2-40B4-BE49-F238E27FC236}">
                <a16:creationId xmlns:a16="http://schemas.microsoft.com/office/drawing/2014/main" id="{9272B362-6C91-4E34-A447-05D33B07D888}"/>
              </a:ext>
            </a:extLst>
          </p:cNvPr>
          <p:cNvSpPr>
            <a:spLocks xmlns:a="http://schemas.openxmlformats.org/drawingml/2006/main" noGrp="1"/>
          </p:cNvSpPr>
          <p:nvPr/>
        </p:nvSpPr>
        <p:spPr>
          <a:xfrm xmlns:a="http://schemas.openxmlformats.org/drawingml/2006/main">
            <a:off x="6381750" y="30289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Для кожного джерела i</a:t>
            </a:r>
          </a:p>
        </p:txBody>
      </p:sp>
      <p:sp>
        <p:nvSpPr>
          <p:cNvPr id="14" name="">
            <a:extLst xmlns:a="http://schemas.openxmlformats.org/drawingml/2006/main">
              <a:ext uri="{FF2B5EF4-FFF2-40B4-BE49-F238E27FC236}">
                <a16:creationId xmlns:a16="http://schemas.microsoft.com/office/drawing/2014/main" id="{6CF1383B-209A-45F3-A178-3FC0604560B0}"/>
              </a:ext>
            </a:extLst>
          </p:cNvPr>
          <p:cNvSpPr>
            <a:spLocks xmlns:a="http://schemas.openxmlformats.org/drawingml/2006/main" noGrp="1"/>
          </p:cNvSpPr>
          <p:nvPr/>
        </p:nvSpPr>
        <p:spPr>
          <a:xfrm xmlns:a="http://schemas.openxmlformats.org/drawingml/2006/main">
            <a:off x="6381750" y="4429125"/>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Для кожного споживача j</a:t>
            </a:r>
          </a:p>
        </p:txBody>
      </p:sp>
      <p:sp>
        <p:nvSpPr>
          <p:cNvPr id="15" name="">
            <a:extLst xmlns:a="http://schemas.openxmlformats.org/drawingml/2006/main">
              <a:ext uri="{FF2B5EF4-FFF2-40B4-BE49-F238E27FC236}">
                <a16:creationId xmlns:a16="http://schemas.microsoft.com/office/drawing/2014/main" id="{815834DB-E4D2-4FF0-82CC-CA483F867F67}"/>
              </a:ext>
            </a:extLst>
          </p:cNvPr>
          <p:cNvSpPr>
            <a:spLocks xmlns:a="http://schemas.openxmlformats.org/drawingml/2006/main" noGrp="1"/>
          </p:cNvSpPr>
          <p:nvPr/>
        </p:nvSpPr>
        <p:spPr>
          <a:xfrm xmlns:a="http://schemas.openxmlformats.org/drawingml/2006/main">
            <a:off x="8086725" y="175260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857D"/>
                </a:solidFill>
                <a:latin typeface="Arial"/>
                <a:ea typeface="Arial"/>
                <a:cs typeface="Arial"/>
              </a:defRPr>
            </a:pPr>
            <a:r>
              <a:rPr sz="2700" b="1">
                <a:solidFill>
                  <a:srgbClr val="00857D"/>
                </a:solidFill>
                <a:latin typeface="Arial"/>
                <a:ea typeface="Arial"/>
                <a:cs typeface="Arial"/>
              </a:rPr>
              <a:t>xᵢⱼ ≥0</a:t>
            </a:r>
          </a:p>
        </p:txBody>
      </p:sp>
      <p:sp>
        <p:nvSpPr>
          <p:cNvPr id="18" name="">
            <a:extLst xmlns:a="http://schemas.openxmlformats.org/drawingml/2006/main">
              <a:ext uri="{FF2B5EF4-FFF2-40B4-BE49-F238E27FC236}">
                <a16:creationId xmlns:a16="http://schemas.microsoft.com/office/drawing/2014/main" id="{48CA8419-3A0C-4CA4-AF69-C23A4453C9C7}"/>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44</a:t>
            </a:r>
          </a:p>
        </p:txBody>
      </p:sp>
    </p:spTree>
    <p:extLst>
      <p:ext uri="{BB962C8B-B14F-4D97-AF65-F5344CB8AC3E}">
        <p14:creationId xmlns:p14="http://schemas.microsoft.com/office/powerpoint/2010/main" val="25851355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5E43908E-7812-478F-B99D-851E2104CE3C}"/>
              </a:ext>
            </a:extLst>
          </p:cNvPr>
          <p:cNvCxnSpPr>
            <a:stCxn xmlns:a="http://schemas.openxmlformats.org/drawingml/2006/main" id="7" idx="2"/>
            <a:endCxn xmlns:a="http://schemas.openxmlformats.org/drawingml/2006/main" id="11" idx="0"/>
          </p:cNvCxnSpPr>
          <p:nvPr/>
        </p:nvCxnSpPr>
        <p:spPr>
          <a:xfrm xmlns:a="http://schemas.openxmlformats.org/drawingml/2006/main">
            <a:off x="3619500" y="4171950"/>
            <a:ext cx="0" cy="466725"/>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26" name="">
            <a:extLst xmlns:a="http://schemas.openxmlformats.org/drawingml/2006/main">
              <a:ext uri="{FF2B5EF4-FFF2-40B4-BE49-F238E27FC236}">
                <a16:creationId xmlns:a16="http://schemas.microsoft.com/office/drawing/2014/main" id="{BBEDA53F-0C51-491A-A8FD-08116FAAFA4F}"/>
              </a:ext>
            </a:extLst>
          </p:cNvPr>
          <p:cNvCxnSpPr>
            <a:stCxn xmlns:a="http://schemas.openxmlformats.org/drawingml/2006/main" id="7" idx="3"/>
            <a:endCxn xmlns:a="http://schemas.openxmlformats.org/drawingml/2006/main" id="9" idx="1"/>
          </p:cNvCxnSpPr>
          <p:nvPr/>
        </p:nvCxnSpPr>
        <p:spPr>
          <a:xfrm xmlns:a="http://schemas.openxmlformats.org/drawingml/2006/main">
            <a:off x="5762625" y="3767138"/>
            <a:ext cx="2476500" cy="4763"/>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27" name="">
            <a:extLst xmlns:a="http://schemas.openxmlformats.org/drawingml/2006/main">
              <a:ext uri="{FF2B5EF4-FFF2-40B4-BE49-F238E27FC236}">
                <a16:creationId xmlns:a16="http://schemas.microsoft.com/office/drawing/2014/main" id="{DD027201-BA9C-4AEF-9EC3-18639D6B9369}"/>
              </a:ext>
            </a:extLst>
          </p:cNvPr>
          <p:cNvCxnSpPr>
            <a:stCxn xmlns:a="http://schemas.openxmlformats.org/drawingml/2006/main" id="5" idx="2"/>
            <a:endCxn xmlns:a="http://schemas.openxmlformats.org/drawingml/2006/main" id="7" idx="0"/>
          </p:cNvCxnSpPr>
          <p:nvPr/>
        </p:nvCxnSpPr>
        <p:spPr>
          <a:xfrm xmlns:a="http://schemas.openxmlformats.org/drawingml/2006/main">
            <a:off x="3619500" y="3019425"/>
            <a:ext cx="0" cy="3429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28" name="">
            <a:extLst xmlns:a="http://schemas.openxmlformats.org/drawingml/2006/main">
              <a:ext uri="{FF2B5EF4-FFF2-40B4-BE49-F238E27FC236}">
                <a16:creationId xmlns:a16="http://schemas.microsoft.com/office/drawing/2014/main" id="{71F0CCA0-193E-4AFD-B71B-FA7ACE087E09}"/>
              </a:ext>
            </a:extLst>
          </p:cNvPr>
          <p:cNvCxnSpPr>
            <a:stCxn xmlns:a="http://schemas.openxmlformats.org/drawingml/2006/main" id="3" idx="2"/>
            <a:endCxn xmlns:a="http://schemas.openxmlformats.org/drawingml/2006/main" id="5" idx="0"/>
          </p:cNvCxnSpPr>
          <p:nvPr/>
        </p:nvCxnSpPr>
        <p:spPr>
          <a:xfrm xmlns:a="http://schemas.openxmlformats.org/drawingml/2006/main">
            <a:off x="3619500" y="1914525"/>
            <a:ext cx="0" cy="32385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29" name="">
            <a:extLst xmlns:a="http://schemas.openxmlformats.org/drawingml/2006/main">
              <a:ext uri="{FF2B5EF4-FFF2-40B4-BE49-F238E27FC236}">
                <a16:creationId xmlns:a16="http://schemas.microsoft.com/office/drawing/2014/main" id="{BF80A8D7-5A1F-4FCB-9283-7C02D24552A6}"/>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Метод північно-західного кута</a:t>
            </a:r>
          </a:p>
        </p:txBody>
      </p:sp>
      <p:sp>
        <p:nvSpPr>
          <p:cNvPr id="2" name="">
            <a:extLst xmlns:a="http://schemas.openxmlformats.org/drawingml/2006/main">
              <a:ext uri="{FF2B5EF4-FFF2-40B4-BE49-F238E27FC236}">
                <a16:creationId xmlns:a16="http://schemas.microsoft.com/office/drawing/2014/main" id="{75F4F6B0-094D-444F-B501-F5D45E6D0C3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Метод враховує запаси та попит. Вартість клітинок на цьому етапі не використовується.</a:t>
            </a:r>
          </a:p>
        </p:txBody>
      </p:sp>
      <p:sp>
        <p:nvSpPr>
          <p:cNvPr id="3" name="">
            <a:extLst xmlns:a="http://schemas.openxmlformats.org/drawingml/2006/main">
              <a:ext uri="{FF2B5EF4-FFF2-40B4-BE49-F238E27FC236}">
                <a16:creationId xmlns:a16="http://schemas.microsoft.com/office/drawing/2014/main" id="{B4E33E41-6F95-4AE4-958E-231818BF4E8B}"/>
              </a:ext>
            </a:extLst>
          </p:cNvPr>
          <p:cNvSpPr>
            <a:spLocks xmlns:a="http://schemas.openxmlformats.org/drawingml/2006/main" noGrp="1"/>
          </p:cNvSpPr>
          <p:nvPr/>
        </p:nvSpPr>
        <p:spPr>
          <a:xfrm xmlns:a="http://schemas.openxmlformats.org/drawingml/2006/main">
            <a:off x="1047750" y="1438275"/>
            <a:ext cx="5143500" cy="476250"/>
          </a:xfrm>
          <a:prstGeom xmlns:a="http://schemas.openxmlformats.org/drawingml/2006/main" prst="roundRect">
            <a:avLst>
              <a:gd name="adj" fmla="val 16000"/>
            </a:avLst>
          </a:prstGeom>
          <a:solidFill xmlns:a="http://schemas.openxmlformats.org/drawingml/2006/main">
            <a:srgbClr val="F1F5F8"/>
          </a:solidFill>
          <a:ln xmlns:a="http://schemas.openxmlformats.org/drawingml/2006/main" w="14288">
            <a:solidFill>
              <a:srgbClr val="CDD8E1"/>
            </a:solidFill>
          </a:ln>
        </p:spPr>
      </p:sp>
      <p:sp>
        <p:nvSpPr>
          <p:cNvPr id="4" name="">
            <a:extLst xmlns:a="http://schemas.openxmlformats.org/drawingml/2006/main">
              <a:ext uri="{FF2B5EF4-FFF2-40B4-BE49-F238E27FC236}">
                <a16:creationId xmlns:a16="http://schemas.microsoft.com/office/drawing/2014/main" id="{C9765543-002B-47EC-B3A4-6E44B786A4AA}"/>
              </a:ext>
            </a:extLst>
          </p:cNvPr>
          <p:cNvSpPr>
            <a:spLocks xmlns:a="http://schemas.openxmlformats.org/drawingml/2006/main" noGrp="1"/>
          </p:cNvSpPr>
          <p:nvPr/>
        </p:nvSpPr>
        <p:spPr>
          <a:xfrm xmlns:a="http://schemas.openxmlformats.org/drawingml/2006/main">
            <a:off x="1181100" y="1514475"/>
            <a:ext cx="487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Початкова клітинка (1,1)</a:t>
            </a:r>
          </a:p>
        </p:txBody>
      </p:sp>
      <p:sp>
        <p:nvSpPr>
          <p:cNvPr id="5" name="">
            <a:extLst xmlns:a="http://schemas.openxmlformats.org/drawingml/2006/main">
              <a:ext uri="{FF2B5EF4-FFF2-40B4-BE49-F238E27FC236}">
                <a16:creationId xmlns:a16="http://schemas.microsoft.com/office/drawing/2014/main" id="{143338BC-8EC4-4EF3-BF98-FF6862D248F8}"/>
              </a:ext>
            </a:extLst>
          </p:cNvPr>
          <p:cNvSpPr>
            <a:spLocks xmlns:a="http://schemas.openxmlformats.org/drawingml/2006/main" noGrp="1"/>
          </p:cNvSpPr>
          <p:nvPr/>
        </p:nvSpPr>
        <p:spPr>
          <a:xfrm xmlns:a="http://schemas.openxmlformats.org/drawingml/2006/main">
            <a:off x="1047750" y="2238375"/>
            <a:ext cx="5143500" cy="781050"/>
          </a:xfrm>
          <a:prstGeom xmlns:a="http://schemas.openxmlformats.org/drawingml/2006/main" prst="roundRect">
            <a:avLst>
              <a:gd name="adj" fmla="val 9756"/>
            </a:avLst>
          </a:prstGeom>
          <a:solidFill xmlns:a="http://schemas.openxmlformats.org/drawingml/2006/main">
            <a:srgbClr val="F1F5F8"/>
          </a:solidFill>
          <a:ln xmlns:a="http://schemas.openxmlformats.org/drawingml/2006/main" w="14288">
            <a:solidFill>
              <a:srgbClr val="CDD8E1"/>
            </a:solidFill>
          </a:ln>
        </p:spPr>
      </p:sp>
      <p:sp>
        <p:nvSpPr>
          <p:cNvPr id="6" name="">
            <a:extLst xmlns:a="http://schemas.openxmlformats.org/drawingml/2006/main">
              <a:ext uri="{FF2B5EF4-FFF2-40B4-BE49-F238E27FC236}">
                <a16:creationId xmlns:a16="http://schemas.microsoft.com/office/drawing/2014/main" id="{ECD21ACB-C5CE-4C58-8188-9B81F2FDB8E9}"/>
              </a:ext>
            </a:extLst>
          </p:cNvPr>
          <p:cNvSpPr>
            <a:spLocks xmlns:a="http://schemas.openxmlformats.org/drawingml/2006/main" noGrp="1"/>
          </p:cNvSpPr>
          <p:nvPr/>
        </p:nvSpPr>
        <p:spPr>
          <a:xfrm xmlns:a="http://schemas.openxmlformats.org/drawingml/2006/main">
            <a:off x="1181100" y="2314575"/>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q=min(aᵢ,bⱼ), xᵢⱼ=q</a:t>
            </a:r>
          </a:p>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Залишки: aᵢ−q та bⱼ−q</a:t>
            </a:r>
          </a:p>
        </p:txBody>
      </p:sp>
      <p:sp>
        <p:nvSpPr>
          <p:cNvPr id="7" name="">
            <a:extLst xmlns:a="http://schemas.openxmlformats.org/drawingml/2006/main">
              <a:ext uri="{FF2B5EF4-FFF2-40B4-BE49-F238E27FC236}">
                <a16:creationId xmlns:a16="http://schemas.microsoft.com/office/drawing/2014/main" id="{E83E9781-F4FE-4C7F-BF71-9A1EEFE37109}"/>
              </a:ext>
            </a:extLst>
          </p:cNvPr>
          <p:cNvSpPr>
            <a:spLocks xmlns:a="http://schemas.openxmlformats.org/drawingml/2006/main" noGrp="1"/>
          </p:cNvSpPr>
          <p:nvPr/>
        </p:nvSpPr>
        <p:spPr>
          <a:xfrm xmlns:a="http://schemas.openxmlformats.org/drawingml/2006/main">
            <a:off x="1476375" y="3362325"/>
            <a:ext cx="4286250" cy="809625"/>
          </a:xfrm>
          <a:prstGeom xmlns:a="http://schemas.openxmlformats.org/drawingml/2006/main" prst="diamond">
            <a:avLst/>
          </a:prstGeom>
          <a:solidFill xmlns:a="http://schemas.openxmlformats.org/drawingml/2006/main">
            <a:srgbClr val="FFF1D8"/>
          </a:solidFill>
          <a:ln xmlns:a="http://schemas.openxmlformats.org/drawingml/2006/main" w="14288">
            <a:solidFill>
              <a:srgbClr val="E5B74A"/>
            </a:solidFill>
          </a:ln>
        </p:spPr>
      </p:sp>
      <p:sp>
        <p:nvSpPr>
          <p:cNvPr id="8" name="">
            <a:extLst xmlns:a="http://schemas.openxmlformats.org/drawingml/2006/main">
              <a:ext uri="{FF2B5EF4-FFF2-40B4-BE49-F238E27FC236}">
                <a16:creationId xmlns:a16="http://schemas.microsoft.com/office/drawing/2014/main" id="{38B3DF75-3133-4C76-ADFB-476E44DBEB3E}"/>
              </a:ext>
            </a:extLst>
          </p:cNvPr>
          <p:cNvSpPr>
            <a:spLocks xmlns:a="http://schemas.openxmlformats.org/drawingml/2006/main" noGrp="1"/>
          </p:cNvSpPr>
          <p:nvPr/>
        </p:nvSpPr>
        <p:spPr>
          <a:xfrm xmlns:a="http://schemas.openxmlformats.org/drawingml/2006/main">
            <a:off x="1990725" y="3524250"/>
            <a:ext cx="325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Усі залишки нульові?</a:t>
            </a:r>
          </a:p>
        </p:txBody>
      </p:sp>
      <p:sp>
        <p:nvSpPr>
          <p:cNvPr id="9" name="">
            <a:extLst xmlns:a="http://schemas.openxmlformats.org/drawingml/2006/main">
              <a:ext uri="{FF2B5EF4-FFF2-40B4-BE49-F238E27FC236}">
                <a16:creationId xmlns:a16="http://schemas.microsoft.com/office/drawing/2014/main" id="{A4ADB45D-1B91-42AB-9AA4-AD978D07B5AE}"/>
              </a:ext>
            </a:extLst>
          </p:cNvPr>
          <p:cNvSpPr>
            <a:spLocks xmlns:a="http://schemas.openxmlformats.org/drawingml/2006/main" noGrp="1"/>
          </p:cNvSpPr>
          <p:nvPr/>
        </p:nvSpPr>
        <p:spPr>
          <a:xfrm xmlns:a="http://schemas.openxmlformats.org/drawingml/2006/main">
            <a:off x="8239125" y="3419475"/>
            <a:ext cx="3143250" cy="704850"/>
          </a:xfrm>
          <a:prstGeom xmlns:a="http://schemas.openxmlformats.org/drawingml/2006/main" prst="roundRect">
            <a:avLst>
              <a:gd name="adj" fmla="val 10811"/>
            </a:avLst>
          </a:prstGeom>
          <a:solidFill xmlns:a="http://schemas.openxmlformats.org/drawingml/2006/main">
            <a:srgbClr val="D6F0E9"/>
          </a:solidFill>
          <a:ln xmlns:a="http://schemas.openxmlformats.org/drawingml/2006/main" w="14288">
            <a:solidFill>
              <a:srgbClr val="CDD8E1"/>
            </a:solidFill>
          </a:ln>
        </p:spPr>
      </p:sp>
      <p:sp>
        <p:nvSpPr>
          <p:cNvPr id="10" name="">
            <a:extLst xmlns:a="http://schemas.openxmlformats.org/drawingml/2006/main">
              <a:ext uri="{FF2B5EF4-FFF2-40B4-BE49-F238E27FC236}">
                <a16:creationId xmlns:a16="http://schemas.microsoft.com/office/drawing/2014/main" id="{A4B8EBBE-6745-4EF0-92DF-063BE3E6336D}"/>
              </a:ext>
            </a:extLst>
          </p:cNvPr>
          <p:cNvSpPr>
            <a:spLocks xmlns:a="http://schemas.openxmlformats.org/drawingml/2006/main" noGrp="1"/>
          </p:cNvSpPr>
          <p:nvPr/>
        </p:nvSpPr>
        <p:spPr>
          <a:xfrm xmlns:a="http://schemas.openxmlformats.org/drawingml/2006/main">
            <a:off x="8372475" y="3495675"/>
            <a:ext cx="2876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План готовий</a:t>
            </a:r>
          </a:p>
        </p:txBody>
      </p:sp>
      <p:sp>
        <p:nvSpPr>
          <p:cNvPr id="11" name="">
            <a:extLst xmlns:a="http://schemas.openxmlformats.org/drawingml/2006/main">
              <a:ext uri="{FF2B5EF4-FFF2-40B4-BE49-F238E27FC236}">
                <a16:creationId xmlns:a16="http://schemas.microsoft.com/office/drawing/2014/main" id="{19398E84-F63D-455E-8F88-B42A58A05A02}"/>
              </a:ext>
            </a:extLst>
          </p:cNvPr>
          <p:cNvSpPr>
            <a:spLocks xmlns:a="http://schemas.openxmlformats.org/drawingml/2006/main" noGrp="1"/>
          </p:cNvSpPr>
          <p:nvPr/>
        </p:nvSpPr>
        <p:spPr>
          <a:xfrm xmlns:a="http://schemas.openxmlformats.org/drawingml/2006/main">
            <a:off x="1047750" y="4638675"/>
            <a:ext cx="5143500" cy="1104900"/>
          </a:xfrm>
          <a:prstGeom xmlns:a="http://schemas.openxmlformats.org/drawingml/2006/main" prst="roundRect">
            <a:avLst>
              <a:gd name="adj" fmla="val 6897"/>
            </a:avLst>
          </a:prstGeom>
          <a:solidFill xmlns:a="http://schemas.openxmlformats.org/drawingml/2006/main">
            <a:srgbClr val="F1F5F8"/>
          </a:solidFill>
          <a:ln xmlns:a="http://schemas.openxmlformats.org/drawingml/2006/main" w="14288">
            <a:solidFill>
              <a:srgbClr val="CDD8E1"/>
            </a:solidFill>
          </a:ln>
        </p:spPr>
      </p:sp>
      <p:sp>
        <p:nvSpPr>
          <p:cNvPr id="12" name="">
            <a:extLst xmlns:a="http://schemas.openxmlformats.org/drawingml/2006/main">
              <a:ext uri="{FF2B5EF4-FFF2-40B4-BE49-F238E27FC236}">
                <a16:creationId xmlns:a16="http://schemas.microsoft.com/office/drawing/2014/main" id="{DCE9DD2E-DBD3-4771-B3D9-1CA23057B117}"/>
              </a:ext>
            </a:extLst>
          </p:cNvPr>
          <p:cNvSpPr>
            <a:spLocks xmlns:a="http://schemas.openxmlformats.org/drawingml/2006/main" noGrp="1"/>
          </p:cNvSpPr>
          <p:nvPr/>
        </p:nvSpPr>
        <p:spPr>
          <a:xfrm xmlns:a="http://schemas.openxmlformats.org/drawingml/2006/main">
            <a:off x="1181100" y="4714875"/>
            <a:ext cx="4876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Попит=0: вправо. Запас=0: вниз.</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Обидва=0: незалежна 0-клітинка.</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Далі по діагоналі.</a:t>
            </a:r>
          </a:p>
        </p:txBody>
      </p:sp>
      <p:sp>
        <p:nvSpPr>
          <p:cNvPr id="17" name="">
            <a:extLst xmlns:a="http://schemas.openxmlformats.org/drawingml/2006/main">
              <a:ext uri="{FF2B5EF4-FFF2-40B4-BE49-F238E27FC236}">
                <a16:creationId xmlns:a16="http://schemas.microsoft.com/office/drawing/2014/main" id="{B67C7A19-9D2E-40EF-9D34-3784AC02DB01}"/>
              </a:ext>
            </a:extLst>
          </p:cNvPr>
          <p:cNvSpPr>
            <a:spLocks xmlns:a="http://schemas.openxmlformats.org/drawingml/2006/main" noGrp="1"/>
          </p:cNvSpPr>
          <p:nvPr/>
        </p:nvSpPr>
        <p:spPr>
          <a:xfrm xmlns:a="http://schemas.openxmlformats.org/drawingml/2006/main">
            <a:off x="6858000" y="33337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так</a:t>
            </a:r>
          </a:p>
        </p:txBody>
      </p:sp>
      <p:sp>
        <p:nvSpPr>
          <p:cNvPr id="18" name="">
            <a:extLst xmlns:a="http://schemas.openxmlformats.org/drawingml/2006/main">
              <a:ext uri="{FF2B5EF4-FFF2-40B4-BE49-F238E27FC236}">
                <a16:creationId xmlns:a16="http://schemas.microsoft.com/office/drawing/2014/main" id="{83EE824A-8C2B-4DA4-BDCF-79AE99F0ECF4}"/>
              </a:ext>
            </a:extLst>
          </p:cNvPr>
          <p:cNvSpPr>
            <a:spLocks xmlns:a="http://schemas.openxmlformats.org/drawingml/2006/main" noGrp="1"/>
          </p:cNvSpPr>
          <p:nvPr/>
        </p:nvSpPr>
        <p:spPr>
          <a:xfrm xmlns:a="http://schemas.openxmlformats.org/drawingml/2006/main">
            <a:off x="3857625" y="42862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ні</a:t>
            </a:r>
          </a:p>
        </p:txBody>
      </p:sp>
      <p:sp>
        <p:nvSpPr>
          <p:cNvPr id="19" name="">
            <a:extLst xmlns:a="http://schemas.openxmlformats.org/drawingml/2006/main">
              <a:ext uri="{FF2B5EF4-FFF2-40B4-BE49-F238E27FC236}">
                <a16:creationId xmlns:a16="http://schemas.microsoft.com/office/drawing/2014/main" id="{A368622B-1FB4-4A26-A2F6-3A85E0FEFBCE}"/>
              </a:ext>
            </a:extLst>
          </p:cNvPr>
          <p:cNvSpPr>
            <a:spLocks xmlns:a="http://schemas.openxmlformats.org/drawingml/2006/main" noGrp="1"/>
          </p:cNvSpPr>
          <p:nvPr/>
        </p:nvSpPr>
        <p:spPr>
          <a:xfrm xmlns:a="http://schemas.openxmlformats.org/drawingml/2006/main" flipV="0">
            <a:off x="647700" y="5191125"/>
            <a:ext cx="400050" cy="0"/>
          </a:xfrm>
          <a:prstGeom xmlns:a="http://schemas.openxmlformats.org/drawingml/2006/main" prst="line">
            <a:avLst/>
          </a:prstGeom>
          <a:noFill xmlns:a="http://schemas.openxmlformats.org/drawingml/2006/main"/>
          <a:ln xmlns:a="http://schemas.openxmlformats.org/drawingml/2006/main" w="28575">
            <a:solidFill>
              <a:srgbClr val="00857D"/>
            </a:solidFill>
          </a:ln>
        </p:spPr>
      </p:sp>
      <p:sp>
        <p:nvSpPr>
          <p:cNvPr id="20" name="">
            <a:extLst xmlns:a="http://schemas.openxmlformats.org/drawingml/2006/main">
              <a:ext uri="{FF2B5EF4-FFF2-40B4-BE49-F238E27FC236}">
                <a16:creationId xmlns:a16="http://schemas.microsoft.com/office/drawing/2014/main" id="{F69EB7D3-B22F-4013-8D6C-B9C07E8F8441}"/>
              </a:ext>
            </a:extLst>
          </p:cNvPr>
          <p:cNvSpPr>
            <a:spLocks xmlns:a="http://schemas.openxmlformats.org/drawingml/2006/main" noGrp="1"/>
          </p:cNvSpPr>
          <p:nvPr/>
        </p:nvSpPr>
        <p:spPr>
          <a:xfrm xmlns:a="http://schemas.openxmlformats.org/drawingml/2006/main" flipV="1">
            <a:off x="647700" y="2628900"/>
            <a:ext cx="0" cy="2562225"/>
          </a:xfrm>
          <a:prstGeom xmlns:a="http://schemas.openxmlformats.org/drawingml/2006/main" prst="line">
            <a:avLst/>
          </a:prstGeom>
          <a:noFill xmlns:a="http://schemas.openxmlformats.org/drawingml/2006/main"/>
          <a:ln xmlns:a="http://schemas.openxmlformats.org/drawingml/2006/main" w="28575">
            <a:solidFill>
              <a:srgbClr val="00857D"/>
            </a:solidFill>
          </a:ln>
        </p:spPr>
      </p:sp>
      <p:sp>
        <p:nvSpPr>
          <p:cNvPr id="21" name="">
            <a:extLst xmlns:a="http://schemas.openxmlformats.org/drawingml/2006/main">
              <a:ext uri="{FF2B5EF4-FFF2-40B4-BE49-F238E27FC236}">
                <a16:creationId xmlns:a16="http://schemas.microsoft.com/office/drawing/2014/main" id="{CF49A7CF-E7A6-403C-889D-81C26FBC6356}"/>
              </a:ext>
            </a:extLst>
          </p:cNvPr>
          <p:cNvSpPr>
            <a:spLocks xmlns:a="http://schemas.openxmlformats.org/drawingml/2006/main" noGrp="1"/>
          </p:cNvSpPr>
          <p:nvPr/>
        </p:nvSpPr>
        <p:spPr>
          <a:xfrm xmlns:a="http://schemas.openxmlformats.org/drawingml/2006/main">
            <a:off x="638175" y="26193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4318541-A65A-4007-A217-B34F01B3A6E8}"/>
              </a:ext>
            </a:extLst>
          </p:cNvPr>
          <p:cNvSpPr>
            <a:spLocks xmlns:a="http://schemas.openxmlformats.org/drawingml/2006/main" noGrp="1"/>
          </p:cNvSpPr>
          <p:nvPr/>
        </p:nvSpPr>
        <p:spPr>
          <a:xfrm xmlns:a="http://schemas.openxmlformats.org/drawingml/2006/main">
            <a:off x="1038225" y="26193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7" name="">
            <a:extLst xmlns:a="http://schemas.openxmlformats.org/drawingml/2006/main">
              <a:ext uri="{FF2B5EF4-FFF2-40B4-BE49-F238E27FC236}">
                <a16:creationId xmlns:a16="http://schemas.microsoft.com/office/drawing/2014/main" id="{B6BC9312-17B9-4C62-AD8F-6FD7E5EBD08C}"/>
              </a:ext>
            </a:extLst>
          </p:cNvPr>
          <p:cNvCxnSpPr>
            <a:stCxn xmlns:a="http://schemas.openxmlformats.org/drawingml/2006/main" id="21" idx="3"/>
            <a:endCxn xmlns:a="http://schemas.openxmlformats.org/drawingml/2006/main" id="22" idx="1"/>
          </p:cNvCxnSpPr>
          <p:nvPr/>
        </p:nvCxnSpPr>
        <p:spPr>
          <a:xfrm xmlns:a="http://schemas.openxmlformats.org/drawingml/2006/main">
            <a:off x="657225" y="2628900"/>
            <a:ext cx="381000"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24" name="">
            <a:extLst xmlns:a="http://schemas.openxmlformats.org/drawingml/2006/main">
              <a:ext uri="{FF2B5EF4-FFF2-40B4-BE49-F238E27FC236}">
                <a16:creationId xmlns:a16="http://schemas.microsoft.com/office/drawing/2014/main" id="{8E6AA5C6-02A2-4BE6-8B09-63BC855C14D8}"/>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45</a:t>
            </a:r>
          </a:p>
        </p:txBody>
      </p:sp>
    </p:spTree>
    <p:extLst>
      <p:ext uri="{BB962C8B-B14F-4D97-AF65-F5344CB8AC3E}">
        <p14:creationId xmlns:p14="http://schemas.microsoft.com/office/powerpoint/2010/main" val="105837498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FEDEA5-DB49-43B0-9527-140138A877FC}"/>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Північно-західний кут: початковий стан</a:t>
            </a:r>
          </a:p>
        </p:txBody>
      </p:sp>
      <p:sp>
        <p:nvSpPr>
          <p:cNvPr id="2" name="">
            <a:extLst xmlns:a="http://schemas.openxmlformats.org/drawingml/2006/main">
              <a:ext uri="{FF2B5EF4-FFF2-40B4-BE49-F238E27FC236}">
                <a16:creationId xmlns:a16="http://schemas.microsoft.com/office/drawing/2014/main" id="{9D40FBC6-E2B7-4FD4-A789-CF8016902A5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Перший вибір: AP=min(30,10)=10; рухаємося праворуч.</a:t>
            </a:r>
          </a:p>
        </p:txBody>
      </p:sp>
      <p:graphicFrame>
        <p:nvGraphicFramePr>
          <p:cNvPr id="11" name="">
            <a:extLst xmlns:a="http://schemas.openxmlformats.org/drawingml/2006/main">
              <a:ext uri="{FF2B5EF4-FFF2-40B4-BE49-F238E27FC236}">
                <a16:creationId xmlns:a16="http://schemas.microsoft.com/office/drawing/2014/main" id="{1BFCACC2-01C1-43D1-A885-A2B81CF60C31}"/>
              </a:ext>
            </a:extLst>
          </p:cNvPr>
          <p:cNvGraphicFramePr/>
          <p:nvPr/>
        </p:nvGraphicFramePr>
        <p:xfrm>
          <a:off xmlns:a="http://schemas.openxmlformats.org/drawingml/2006/main" x="762000" y="1781175"/>
          <a:ext xmlns:a="http://schemas.openxmlformats.org/drawingml/2006/main" cx="10668000" cy="2476500"/>
        </p:xfrm>
        <a:graphic xmlns:a="http://schemas.openxmlformats.org/drawingml/2006/main">
          <a:graphicData uri="http://schemas.openxmlformats.org/drawingml/2006/table">
            <a:tbl>
              <a:tblPr/>
              <a:tblGrid>
                <a:gridCol w="2667000"/>
                <a:gridCol w="2000250"/>
                <a:gridCol w="2000250"/>
                <a:gridCol w="2000250"/>
                <a:gridCol w="2000250"/>
              </a:tblGrid>
              <a:tr h="825500">
                <a:tc>
                  <a:txBody>
                    <a:bodyPr/>
                    <a:lstStyle/>
                    <a:p>
                      <a:r>
                        <a:rPr sz="2325" b="1">
                          <a:solidFill>
                            <a:srgbClr val="FFFFFF"/>
                          </a:solidFill>
                          <a:latin typeface="Arial"/>
                          <a:ea typeface="Arial"/>
                          <a:cs typeface="Arial"/>
                        </a:rPr>
                        <a:t>Запас / попит</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P ·10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Q ·20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R ·20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Запас</a:t>
                      </a:r>
                    </a:p>
                  </a:txBody>
                  <a:tcPr marL="114300" marR="114300" marT="66675" marB="66675" anchor="ctr">
                    <a:solidFill>
                      <a:srgbClr val="173047"/>
                    </a:solidFill>
                  </a:tcPr>
                </a:tc>
              </a:tr>
              <a:tr h="82550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30</a:t>
                      </a:r>
                    </a:p>
                  </a:txBody>
                  <a:tcPr marL="114300" marR="114300" marT="66675" marB="66675" anchor="ctr">
                    <a:solidFill>
                      <a:srgbClr val="FFFFFF"/>
                    </a:solidFill>
                  </a:tcPr>
                </a:tc>
              </a:tr>
              <a:tr h="825500">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37BE84D-DD15-4E8C-A44A-678A91CF7118}"/>
              </a:ext>
            </a:extLst>
          </p:cNvPr>
          <p:cNvSpPr>
            <a:spLocks xmlns:a="http://schemas.openxmlformats.org/drawingml/2006/main" noGrp="1"/>
          </p:cNvSpPr>
          <p:nvPr/>
        </p:nvSpPr>
        <p:spPr>
          <a:xfrm xmlns:a="http://schemas.openxmlformats.org/drawingml/2006/main">
            <a:off x="762000" y="46672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 означає незаповнену клітинку.</a:t>
            </a:r>
          </a:p>
        </p:txBody>
      </p:sp>
      <p:sp>
        <p:nvSpPr>
          <p:cNvPr id="8" name="">
            <a:extLst xmlns:a="http://schemas.openxmlformats.org/drawingml/2006/main">
              <a:ext uri="{FF2B5EF4-FFF2-40B4-BE49-F238E27FC236}">
                <a16:creationId xmlns:a16="http://schemas.microsoft.com/office/drawing/2014/main" id="{0A3C7F6E-EEF7-48F4-B097-155BD89084B3}"/>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46</a:t>
            </a:r>
          </a:p>
        </p:txBody>
      </p:sp>
    </p:spTree>
    <p:extLst>
      <p:ext uri="{BB962C8B-B14F-4D97-AF65-F5344CB8AC3E}">
        <p14:creationId xmlns:p14="http://schemas.microsoft.com/office/powerpoint/2010/main" val="1907246626"/>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F70629-90C2-4DAC-8CEC-0022B5FC4723}"/>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Північно-західний кут: </a:t>
            </a:r>
            <a:r>
              <a:rPr sz="3000" b="1">
                <a:solidFill>
                  <a:srgbClr val="173047"/>
                </a:solidFill>
                <a:latin typeface="Arial"/>
                <a:ea typeface="Arial"/>
                <a:cs typeface="Arial"/>
              </a:rPr>
              <a:t>крок 1</a:t>
            </a:r>
          </a:p>
        </p:txBody>
      </p:sp>
      <p:sp>
        <p:nvSpPr>
          <p:cNvPr id="2" name="">
            <a:extLst xmlns:a="http://schemas.openxmlformats.org/drawingml/2006/main">
              <a:ext uri="{FF2B5EF4-FFF2-40B4-BE49-F238E27FC236}">
                <a16:creationId xmlns:a16="http://schemas.microsoft.com/office/drawing/2014/main" id="{5E00D389-229E-41E8-97E5-32065DA1498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Після AP=10: запасA=20; попитP=0.</a:t>
            </a:r>
          </a:p>
        </p:txBody>
      </p:sp>
      <p:graphicFrame>
        <p:nvGraphicFramePr>
          <p:cNvPr id="11" name="">
            <a:extLst xmlns:a="http://schemas.openxmlformats.org/drawingml/2006/main">
              <a:ext uri="{FF2B5EF4-FFF2-40B4-BE49-F238E27FC236}">
                <a16:creationId xmlns:a16="http://schemas.microsoft.com/office/drawing/2014/main" id="{BFF45C3D-ECFB-4915-B69E-D77B202F15DC}"/>
              </a:ext>
            </a:extLst>
          </p:cNvPr>
          <p:cNvGraphicFramePr/>
          <p:nvPr/>
        </p:nvGraphicFramePr>
        <p:xfrm>
          <a:off xmlns:a="http://schemas.openxmlformats.org/drawingml/2006/main" x="762000" y="1781175"/>
          <a:ext xmlns:a="http://schemas.openxmlformats.org/drawingml/2006/main" cx="10668000" cy="2476500"/>
        </p:xfrm>
        <a:graphic xmlns:a="http://schemas.openxmlformats.org/drawingml/2006/main">
          <a:graphicData uri="http://schemas.openxmlformats.org/drawingml/2006/table">
            <a:tbl>
              <a:tblPr/>
              <a:tblGrid>
                <a:gridCol w="2667000"/>
                <a:gridCol w="2000250"/>
                <a:gridCol w="2000250"/>
                <a:gridCol w="2000250"/>
                <a:gridCol w="2000250"/>
              </a:tblGrid>
              <a:tr h="825500">
                <a:tc>
                  <a:txBody>
                    <a:bodyPr/>
                    <a:lstStyle/>
                    <a:p>
                      <a:r>
                        <a:rPr sz="2325" b="1">
                          <a:solidFill>
                            <a:srgbClr val="FFFFFF"/>
                          </a:solidFill>
                          <a:latin typeface="Arial"/>
                          <a:ea typeface="Arial"/>
                          <a:cs typeface="Arial"/>
                        </a:rPr>
                        <a:t>Залишок попиту</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P ·0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Q ·20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R ·20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Залишок запасу</a:t>
                      </a:r>
                    </a:p>
                  </a:txBody>
                  <a:tcPr marL="114300" marR="114300" marT="66675" marB="66675" anchor="ctr">
                    <a:solidFill>
                      <a:srgbClr val="173047"/>
                    </a:solidFill>
                  </a:tcPr>
                </a:tc>
              </a:tr>
              <a:tr h="82550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400" b="1">
                          <a:solidFill>
                            <a:srgbClr val="00857D"/>
                          </a:solidFill>
                          <a:latin typeface="Arial"/>
                          <a:ea typeface="Arial"/>
                          <a:cs typeface="Arial"/>
                        </a:rPr>
                        <a:t>10</a:t>
                      </a:r>
                    </a:p>
                  </a:txBody>
                  <a:tcPr marL="114300" marR="114300" marT="66675" marB="66675" anchor="ctr">
                    <a:solidFill>
                      <a:srgbClr val="D6F0E9"/>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20</a:t>
                      </a:r>
                    </a:p>
                  </a:txBody>
                  <a:tcPr marL="114300" marR="114300" marT="66675" marB="66675" anchor="ctr">
                    <a:solidFill>
                      <a:srgbClr val="FFFFFF"/>
                    </a:solidFill>
                  </a:tcPr>
                </a:tc>
              </a:tr>
              <a:tr h="825500">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35DCB65-6003-4BF9-A033-CF4E815FFF1A}"/>
              </a:ext>
            </a:extLst>
          </p:cNvPr>
          <p:cNvSpPr>
            <a:spLocks xmlns:a="http://schemas.openxmlformats.org/drawingml/2006/main" noGrp="1"/>
          </p:cNvSpPr>
          <p:nvPr/>
        </p:nvSpPr>
        <p:spPr>
          <a:xfrm xmlns:a="http://schemas.openxmlformats.org/drawingml/2006/main">
            <a:off x="762000" y="46672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Наступна AQ: min(20,20)=20.</a:t>
            </a:r>
          </a:p>
        </p:txBody>
      </p:sp>
      <p:sp>
        <p:nvSpPr>
          <p:cNvPr id="8" name="">
            <a:extLst xmlns:a="http://schemas.openxmlformats.org/drawingml/2006/main">
              <a:ext uri="{FF2B5EF4-FFF2-40B4-BE49-F238E27FC236}">
                <a16:creationId xmlns:a16="http://schemas.microsoft.com/office/drawing/2014/main" id="{24EFB589-38D2-4B16-8062-71E8CC48C7C4}"/>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47</a:t>
            </a:r>
          </a:p>
        </p:txBody>
      </p:sp>
    </p:spTree>
    <p:extLst>
      <p:ext uri="{BB962C8B-B14F-4D97-AF65-F5344CB8AC3E}">
        <p14:creationId xmlns:p14="http://schemas.microsoft.com/office/powerpoint/2010/main" val="717433143"/>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D88DA4-1074-48C2-BB72-C8FD1809A0E4}"/>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Північно-західний кут: </a:t>
            </a:r>
            <a:r>
              <a:rPr sz="3000" b="1">
                <a:solidFill>
                  <a:srgbClr val="173047"/>
                </a:solidFill>
                <a:latin typeface="Arial"/>
                <a:ea typeface="Arial"/>
                <a:cs typeface="Arial"/>
              </a:rPr>
              <a:t>крок 2</a:t>
            </a:r>
          </a:p>
        </p:txBody>
      </p:sp>
      <p:sp>
        <p:nvSpPr>
          <p:cNvPr id="2" name="">
            <a:extLst xmlns:a="http://schemas.openxmlformats.org/drawingml/2006/main">
              <a:ext uri="{FF2B5EF4-FFF2-40B4-BE49-F238E27FC236}">
                <a16:creationId xmlns:a16="http://schemas.microsoft.com/office/drawing/2014/main" id="{2F3E04A2-F131-4970-A6D1-FBB152BF267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A і Q вичерпано разом; BQ=0* доповнює незалежний базис.</a:t>
            </a:r>
          </a:p>
        </p:txBody>
      </p:sp>
      <p:graphicFrame>
        <p:nvGraphicFramePr>
          <p:cNvPr id="11" name="">
            <a:extLst xmlns:a="http://schemas.openxmlformats.org/drawingml/2006/main">
              <a:ext uri="{FF2B5EF4-FFF2-40B4-BE49-F238E27FC236}">
                <a16:creationId xmlns:a16="http://schemas.microsoft.com/office/drawing/2014/main" id="{B3F146AC-CA62-45F5-A78B-7BAB1BF1020A}"/>
              </a:ext>
            </a:extLst>
          </p:cNvPr>
          <p:cNvGraphicFramePr/>
          <p:nvPr/>
        </p:nvGraphicFramePr>
        <p:xfrm>
          <a:off xmlns:a="http://schemas.openxmlformats.org/drawingml/2006/main" x="762000" y="1781175"/>
          <a:ext xmlns:a="http://schemas.openxmlformats.org/drawingml/2006/main" cx="10668000" cy="2476500"/>
        </p:xfrm>
        <a:graphic xmlns:a="http://schemas.openxmlformats.org/drawingml/2006/main">
          <a:graphicData uri="http://schemas.openxmlformats.org/drawingml/2006/table">
            <a:tbl>
              <a:tblPr/>
              <a:tblGrid>
                <a:gridCol w="2667000"/>
                <a:gridCol w="2000250"/>
                <a:gridCol w="2000250"/>
                <a:gridCol w="2000250"/>
                <a:gridCol w="2000250"/>
              </a:tblGrid>
              <a:tr h="825500">
                <a:tc>
                  <a:txBody>
                    <a:bodyPr/>
                    <a:lstStyle/>
                    <a:p>
                      <a:r>
                        <a:rPr sz="2325" b="1">
                          <a:solidFill>
                            <a:srgbClr val="FFFFFF"/>
                          </a:solidFill>
                          <a:latin typeface="Arial"/>
                          <a:ea typeface="Arial"/>
                          <a:cs typeface="Arial"/>
                        </a:rPr>
                        <a:t>Залишок попиту</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P ·0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Q ·0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R ·20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Залишок запасу</a:t>
                      </a:r>
                    </a:p>
                  </a:txBody>
                  <a:tcPr marL="114300" marR="114300" marT="66675" marB="66675" anchor="ctr">
                    <a:solidFill>
                      <a:srgbClr val="173047"/>
                    </a:solidFill>
                  </a:tcPr>
                </a:tc>
              </a:tr>
              <a:tr h="82550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400" b="1">
                          <a:solidFill>
                            <a:srgbClr val="00857D"/>
                          </a:solidFill>
                          <a:latin typeface="Arial"/>
                          <a:ea typeface="Arial"/>
                          <a:cs typeface="Arial"/>
                        </a:rPr>
                        <a:t>20</a:t>
                      </a:r>
                    </a:p>
                  </a:txBody>
                  <a:tcPr marL="114300" marR="114300" marT="66675" marB="66675" anchor="ctr">
                    <a:solidFill>
                      <a:srgbClr val="D6F0E9"/>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FFFFFF"/>
                    </a:solidFill>
                  </a:tcPr>
                </a:tc>
              </a:tr>
              <a:tr h="825500">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400" b="1">
                          <a:solidFill>
                            <a:srgbClr val="78541C"/>
                          </a:solidFill>
                          <a:latin typeface="Arial"/>
                          <a:ea typeface="Arial"/>
                          <a:cs typeface="Arial"/>
                        </a:rPr>
                        <a:t>0*</a:t>
                      </a:r>
                    </a:p>
                  </a:txBody>
                  <a:tcPr marL="114300" marR="114300" marT="66675" marB="66675" anchor="ctr">
                    <a:solidFill>
                      <a:srgbClr val="FBE9C7"/>
                    </a:solidFill>
                  </a:tcPr>
                </a:tc>
                <a:tc>
                  <a:txBody>
                    <a:bodyPr/>
                    <a:lstStyle/>
                    <a:p>
                      <a:r>
                        <a:rPr sz="2325">
                          <a:solidFill>
                            <a:srgbClr val="173047"/>
                          </a:solidFill>
                          <a:latin typeface="Arial"/>
                          <a:ea typeface="Arial"/>
                          <a:cs typeface="Arial"/>
                        </a:rPr>
                        <a: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208A0CA-4C01-4F1D-B2DD-4A34C089B084}"/>
              </a:ext>
            </a:extLst>
          </p:cNvPr>
          <p:cNvSpPr>
            <a:spLocks xmlns:a="http://schemas.openxmlformats.org/drawingml/2006/main" noGrp="1"/>
          </p:cNvSpPr>
          <p:nvPr/>
        </p:nvSpPr>
        <p:spPr>
          <a:xfrm xmlns:a="http://schemas.openxmlformats.org/drawingml/2006/main">
            <a:off x="762000" y="46672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Нульову клітинку додаємо без циклу. Далі BR=min(20,20).</a:t>
            </a:r>
          </a:p>
        </p:txBody>
      </p:sp>
      <p:sp>
        <p:nvSpPr>
          <p:cNvPr id="8" name="">
            <a:extLst xmlns:a="http://schemas.openxmlformats.org/drawingml/2006/main">
              <a:ext uri="{FF2B5EF4-FFF2-40B4-BE49-F238E27FC236}">
                <a16:creationId xmlns:a16="http://schemas.microsoft.com/office/drawing/2014/main" id="{5D9E9039-4A2B-46EB-B842-4E9A7277661D}"/>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48</a:t>
            </a:r>
          </a:p>
        </p:txBody>
      </p:sp>
    </p:spTree>
    <p:extLst>
      <p:ext uri="{BB962C8B-B14F-4D97-AF65-F5344CB8AC3E}">
        <p14:creationId xmlns:p14="http://schemas.microsoft.com/office/powerpoint/2010/main" val="197292310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FAF9AA-AE71-4133-8C2A-C33637CD2558}"/>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Північно-західний кут: </a:t>
            </a:r>
            <a:r>
              <a:rPr sz="3000" b="1">
                <a:solidFill>
                  <a:srgbClr val="173047"/>
                </a:solidFill>
                <a:latin typeface="Arial"/>
                <a:ea typeface="Arial"/>
                <a:cs typeface="Arial"/>
              </a:rPr>
              <a:t>крок 3</a:t>
            </a:r>
            <a:r>
              <a:rPr sz="3000" b="1">
                <a:solidFill>
                  <a:srgbClr val="173047"/>
                </a:solidFill>
                <a:latin typeface="Arial"/>
                <a:ea typeface="Arial"/>
                <a:cs typeface="Arial"/>
              </a:rPr>
              <a:t> — повний план</a:t>
            </a:r>
          </a:p>
        </p:txBody>
      </p:sp>
      <p:sp>
        <p:nvSpPr>
          <p:cNvPr id="2" name="">
            <a:extLst xmlns:a="http://schemas.openxmlformats.org/drawingml/2006/main">
              <a:ext uri="{FF2B5EF4-FFF2-40B4-BE49-F238E27FC236}">
                <a16:creationId xmlns:a16="http://schemas.microsoft.com/office/drawing/2014/main" id="{49481099-4399-439D-83E5-F4E984237A5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C=10·2+20·4+20·1=120; </a:t>
            </a:r>
            <a:r>
              <a:rPr sz="2100" b="1">
                <a:solidFill>
                  <a:srgbClr val="00857D"/>
                </a:solidFill>
                <a:latin typeface="Arial"/>
                <a:ea typeface="Arial"/>
                <a:cs typeface="Arial"/>
              </a:rPr>
              <a:t>базисних клітинок 2</a:t>
            </a:r>
            <a:r>
              <a:rPr sz="2100" b="1">
                <a:solidFill>
                  <a:srgbClr val="00857D"/>
                </a:solidFill>
                <a:latin typeface="Arial"/>
                <a:ea typeface="Arial"/>
                <a:cs typeface="Arial"/>
              </a:rPr>
              <a:t>+3−1=4.</a:t>
            </a:r>
          </a:p>
        </p:txBody>
      </p:sp>
      <p:graphicFrame>
        <p:nvGraphicFramePr>
          <p:cNvPr id="11" name="">
            <a:extLst xmlns:a="http://schemas.openxmlformats.org/drawingml/2006/main">
              <a:ext uri="{FF2B5EF4-FFF2-40B4-BE49-F238E27FC236}">
                <a16:creationId xmlns:a16="http://schemas.microsoft.com/office/drawing/2014/main" id="{294EAAB1-0348-4A0D-A398-617FA3BDE02C}"/>
              </a:ext>
            </a:extLst>
          </p:cNvPr>
          <p:cNvGraphicFramePr/>
          <p:nvPr/>
        </p:nvGraphicFramePr>
        <p:xfrm>
          <a:off xmlns:a="http://schemas.openxmlformats.org/drawingml/2006/main" x="762000" y="1781175"/>
          <a:ext xmlns:a="http://schemas.openxmlformats.org/drawingml/2006/main" cx="10668000" cy="2476500"/>
        </p:xfrm>
        <a:graphic xmlns:a="http://schemas.openxmlformats.org/drawingml/2006/main">
          <a:graphicData uri="http://schemas.openxmlformats.org/drawingml/2006/table">
            <a:tbl>
              <a:tblPr/>
              <a:tblGrid>
                <a:gridCol w="2667000"/>
                <a:gridCol w="2000250"/>
                <a:gridCol w="2000250"/>
                <a:gridCol w="2000250"/>
                <a:gridCol w="2000250"/>
              </a:tblGrid>
              <a:tr h="825500">
                <a:tc>
                  <a:txBody>
                    <a:bodyPr/>
                    <a:lstStyle/>
                    <a:p>
                      <a:r>
                        <a:rPr sz="2325" b="1">
                          <a:solidFill>
                            <a:srgbClr val="FFFFFF"/>
                          </a:solidFill>
                          <a:latin typeface="Arial"/>
                          <a:ea typeface="Arial"/>
                          <a:cs typeface="Arial"/>
                        </a:rPr>
                        <a:t>Джерело</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P ·10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Q ·20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R ·20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Запас</a:t>
                      </a:r>
                    </a:p>
                  </a:txBody>
                  <a:tcPr marL="114300" marR="114300" marT="66675" marB="66675" anchor="ctr">
                    <a:solidFill>
                      <a:srgbClr val="173047"/>
                    </a:solidFill>
                  </a:tcPr>
                </a:tc>
              </a:tr>
              <a:tr h="82550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325">
                          <a:solidFill>
                            <a:srgbClr val="173047"/>
                          </a:solidFill>
                          <a:latin typeface="Arial"/>
                          <a:ea typeface="Arial"/>
                          <a:cs typeface="Arial"/>
                        </a:rPr>
                        <a:t>10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20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30</a:t>
                      </a:r>
                    </a:p>
                  </a:txBody>
                  <a:tcPr marL="114300" marR="114300" marT="66675" marB="66675" anchor="ctr">
                    <a:solidFill>
                      <a:srgbClr val="FFFFFF"/>
                    </a:solidFill>
                  </a:tcPr>
                </a:tc>
              </a:tr>
              <a:tr h="825500">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FFFFFF"/>
                    </a:solidFill>
                  </a:tcPr>
                </a:tc>
                <a:tc>
                  <a:txBody>
                    <a:bodyPr/>
                    <a:lstStyle/>
                    <a:p>
                      <a:r>
                        <a:rPr sz="2325">
                          <a:solidFill>
                            <a:srgbClr val="173047"/>
                          </a:solidFill>
                          <a:latin typeface="Arial"/>
                          <a:ea typeface="Arial"/>
                          <a:cs typeface="Arial"/>
                        </a:rPr>
                        <a:t>0*</a:t>
                      </a:r>
                    </a:p>
                  </a:txBody>
                  <a:tcPr marL="114300" marR="114300" marT="66675" marB="66675" anchor="ctr">
                    <a:solidFill>
                      <a:srgbClr val="FFFFFF"/>
                    </a:solidFill>
                  </a:tcPr>
                </a:tc>
                <a:tc>
                  <a:txBody>
                    <a:bodyPr/>
                    <a:lstStyle/>
                    <a:p>
                      <a:r>
                        <a:rPr sz="2400" b="1">
                          <a:solidFill>
                            <a:srgbClr val="00857D"/>
                          </a:solidFill>
                          <a:latin typeface="Arial"/>
                          <a:ea typeface="Arial"/>
                          <a:cs typeface="Arial"/>
                        </a:rPr>
                        <a:t>20</a:t>
                      </a:r>
                    </a:p>
                  </a:txBody>
                  <a:tcPr marL="114300" marR="114300" marT="66675" marB="66675" anchor="ctr">
                    <a:solidFill>
                      <a:srgbClr val="D6F0E9"/>
                    </a:solidFill>
                  </a:tcPr>
                </a:tc>
                <a:tc>
                  <a:txBody>
                    <a:bodyPr/>
                    <a:lstStyle/>
                    <a:p>
                      <a:r>
                        <a:rPr sz="2325">
                          <a:solidFill>
                            <a:srgbClr val="173047"/>
                          </a:solidFill>
                          <a:latin typeface="Arial"/>
                          <a:ea typeface="Arial"/>
                          <a:cs typeface="Arial"/>
                        </a:rPr>
                        <a:t>20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FF3B4D0-52B2-4A8D-84B7-96BA1BB70C52}"/>
              </a:ext>
            </a:extLst>
          </p:cNvPr>
          <p:cNvSpPr>
            <a:spLocks xmlns:a="http://schemas.openxmlformats.org/drawingml/2006/main" noGrp="1"/>
          </p:cNvSpPr>
          <p:nvPr/>
        </p:nvSpPr>
        <p:spPr>
          <a:xfrm xmlns:a="http://schemas.openxmlformats.org/drawingml/2006/main">
            <a:off x="762000" y="454342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 BQ=0 входить у базис AP,AQ,BQ,BR.</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Потік не додається; незалежність базису зберігається.</a:t>
            </a:r>
          </a:p>
        </p:txBody>
      </p:sp>
      <p:sp>
        <p:nvSpPr>
          <p:cNvPr id="8" name="">
            <a:extLst xmlns:a="http://schemas.openxmlformats.org/drawingml/2006/main">
              <a:ext uri="{FF2B5EF4-FFF2-40B4-BE49-F238E27FC236}">
                <a16:creationId xmlns:a16="http://schemas.microsoft.com/office/drawing/2014/main" id="{4DAAB47E-75AA-4B26-975E-DBA11AEC6677}"/>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49</a:t>
            </a:r>
          </a:p>
        </p:txBody>
      </p:sp>
    </p:spTree>
    <p:extLst>
      <p:ext uri="{BB962C8B-B14F-4D97-AF65-F5344CB8AC3E}">
        <p14:creationId xmlns:p14="http://schemas.microsoft.com/office/powerpoint/2010/main" val="2035523886"/>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086422-3957-460F-9865-5D934EFB1010}"/>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Перевірте себе: навіщо нуль у базисі?</a:t>
            </a:r>
          </a:p>
        </p:txBody>
      </p:sp>
      <p:sp>
        <p:nvSpPr>
          <p:cNvPr id="2" name="">
            <a:extLst xmlns:a="http://schemas.openxmlformats.org/drawingml/2006/main">
              <a:ext uri="{FF2B5EF4-FFF2-40B4-BE49-F238E27FC236}">
                <a16:creationId xmlns:a16="http://schemas.microsoft.com/office/drawing/2014/main" id="{3978CFB4-F948-4A4B-811C-6D18CF2208F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Потрібні m+n−1 незалежних клітинок; додана клітинка не створює циклу.</a:t>
            </a:r>
          </a:p>
        </p:txBody>
      </p:sp>
      <p:sp>
        <p:nvSpPr>
          <p:cNvPr id="3" name="">
            <a:extLst xmlns:a="http://schemas.openxmlformats.org/drawingml/2006/main">
              <a:ext uri="{FF2B5EF4-FFF2-40B4-BE49-F238E27FC236}">
                <a16:creationId xmlns:a16="http://schemas.microsoft.com/office/drawing/2014/main" id="{00A61F92-AB73-48D4-A4D8-062D2C12611E}"/>
              </a:ext>
            </a:extLst>
          </p:cNvPr>
          <p:cNvSpPr>
            <a:spLocks xmlns:a="http://schemas.openxmlformats.org/drawingml/2006/main" noGrp="1"/>
          </p:cNvSpPr>
          <p:nvPr/>
        </p:nvSpPr>
        <p:spPr>
          <a:xfrm xmlns:a="http://schemas.openxmlformats.org/drawingml/2006/main">
            <a:off x="857250" y="1809750"/>
            <a:ext cx="10477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0">
                <a:solidFill>
                  <a:srgbClr val="173047"/>
                </a:solidFill>
                <a:latin typeface="Arial"/>
                <a:ea typeface="Arial"/>
                <a:cs typeface="Arial"/>
              </a:defRPr>
            </a:pPr>
            <a:r>
              <a:rPr sz="2925" b="0">
                <a:solidFill>
                  <a:srgbClr val="173047"/>
                </a:solidFill>
                <a:latin typeface="Arial"/>
                <a:ea typeface="Arial"/>
                <a:cs typeface="Arial"/>
              </a:rPr>
              <a:t>Є три додатні потоки.</a:t>
            </a:r>
          </a:p>
          <a:p xmlns:a="http://schemas.openxmlformats.org/drawingml/2006/main">
            <a:pPr algn="l">
              <a:buNone/>
              <a:defRPr sz="2925" b="0">
                <a:solidFill>
                  <a:srgbClr val="173047"/>
                </a:solidFill>
                <a:latin typeface="Arial"/>
                <a:ea typeface="Arial"/>
                <a:cs typeface="Arial"/>
              </a:defRPr>
            </a:pPr>
            <a:r>
              <a:rPr sz="2925" b="0">
                <a:solidFill>
                  <a:srgbClr val="173047"/>
                </a:solidFill>
                <a:latin typeface="Arial"/>
                <a:ea typeface="Arial"/>
                <a:cs typeface="Arial"/>
              </a:rPr>
              <a:t>Чому базис має чотири клітинки?</a:t>
            </a:r>
          </a:p>
          <a:p xmlns:a="http://schemas.openxmlformats.org/drawingml/2006/main">
            <a:pPr algn="l">
              <a:buNone/>
              <a:defRPr sz="2925" b="0">
                <a:solidFill>
                  <a:srgbClr val="173047"/>
                </a:solidFill>
                <a:latin typeface="Arial"/>
                <a:ea typeface="Arial"/>
                <a:cs typeface="Arial"/>
              </a:defRPr>
            </a:pPr>
            <a:r>
              <a:rPr sz="2925" b="0">
                <a:solidFill>
                  <a:srgbClr val="173047"/>
                </a:solidFill>
                <a:latin typeface="Arial"/>
                <a:ea typeface="Arial"/>
                <a:cs typeface="Arial"/>
              </a:rPr>
              <a:t>Чому BQ=0 — допустимий вибір?</a:t>
            </a:r>
          </a:p>
        </p:txBody>
      </p:sp>
      <p:sp>
        <p:nvSpPr>
          <p:cNvPr id="6" name="">
            <a:extLst xmlns:a="http://schemas.openxmlformats.org/drawingml/2006/main">
              <a:ext uri="{FF2B5EF4-FFF2-40B4-BE49-F238E27FC236}">
                <a16:creationId xmlns:a16="http://schemas.microsoft.com/office/drawing/2014/main" id="{CC16D8F1-E476-4014-996B-CE1F2F4E5A1B}"/>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50</a:t>
            </a:r>
          </a:p>
        </p:txBody>
      </p:sp>
    </p:spTree>
    <p:extLst>
      <p:ext uri="{BB962C8B-B14F-4D97-AF65-F5344CB8AC3E}">
        <p14:creationId xmlns:p14="http://schemas.microsoft.com/office/powerpoint/2010/main" val="170314302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9" name="">
            <a:extLst xmlns:a="http://schemas.openxmlformats.org/drawingml/2006/main">
              <a:ext uri="{FF2B5EF4-FFF2-40B4-BE49-F238E27FC236}">
                <a16:creationId xmlns:a16="http://schemas.microsoft.com/office/drawing/2014/main" id="{FF193F6B-9802-4404-80EA-C5AD6BACEE21}"/>
              </a:ext>
            </a:extLst>
          </p:cNvPr>
          <p:cNvCxnSpPr>
            <a:stCxn xmlns:a="http://schemas.openxmlformats.org/drawingml/2006/main" id="11" idx="1"/>
            <a:endCxn xmlns:a="http://schemas.openxmlformats.org/drawingml/2006/main" id="5" idx="1"/>
          </p:cNvCxnSpPr>
          <p:nvPr/>
        </p:nvCxnSpPr>
        <p:spPr>
          <a:xfrm xmlns:a="http://schemas.openxmlformats.org/drawingml/2006/main" flipV="1">
            <a:off x="752475" y="2809875"/>
            <a:ext cx="314325" cy="2628900"/>
          </a:xfrm>
          <a:prstGeom xmlns:a="http://schemas.openxmlformats.org/drawingml/2006/main" prst="bentConnector4">
            <a:avLst/>
          </a:prstGeom>
          <a:ln xmlns:a="http://schemas.openxmlformats.org/drawingml/2006/main" w="24765">
            <a:solidFill>
              <a:srgbClr val="475B6C"/>
            </a:solidFill>
            <a:prstDash val="solid"/>
            <a:tailEnd type="triangle" w="med" len="med"/>
          </a:ln>
        </p:spPr>
      </p:cxnSp>
      <p:cxnSp>
        <p:nvCxnSpPr>
          <p:cNvPr id="80" name="">
            <a:extLst xmlns:a="http://schemas.openxmlformats.org/drawingml/2006/main">
              <a:ext uri="{FF2B5EF4-FFF2-40B4-BE49-F238E27FC236}">
                <a16:creationId xmlns:a16="http://schemas.microsoft.com/office/drawing/2014/main" id="{0FFABB59-399A-4639-85F6-EBCB31FAC94A}"/>
              </a:ext>
            </a:extLst>
          </p:cNvPr>
          <p:cNvCxnSpPr>
            <a:stCxn xmlns:a="http://schemas.openxmlformats.org/drawingml/2006/main" id="7" idx="2"/>
            <a:endCxn xmlns:a="http://schemas.openxmlformats.org/drawingml/2006/main" id="11" idx="0"/>
          </p:cNvCxnSpPr>
          <p:nvPr/>
        </p:nvCxnSpPr>
        <p:spPr>
          <a:xfrm xmlns:a="http://schemas.openxmlformats.org/drawingml/2006/main" flipH="1">
            <a:off x="3328988" y="4714875"/>
            <a:ext cx="4763" cy="361950"/>
          </a:xfrm>
          <a:prstGeom xmlns:a="http://schemas.openxmlformats.org/drawingml/2006/main" prst="bentConnector4">
            <a:avLst>
              <a:gd name="adj1" fmla="val 0"/>
              <a:gd name="adj2" fmla="val 50000"/>
            </a:avLst>
          </a:prstGeom>
          <a:ln xmlns:a="http://schemas.openxmlformats.org/drawingml/2006/main" w="24765">
            <a:solidFill>
              <a:srgbClr val="475B6C"/>
            </a:solidFill>
            <a:prstDash val="solid"/>
            <a:tailEnd type="triangle" w="med" len="med"/>
          </a:ln>
        </p:spPr>
      </p:cxnSp>
      <p:cxnSp>
        <p:nvCxnSpPr>
          <p:cNvPr id="81" name="">
            <a:extLst xmlns:a="http://schemas.openxmlformats.org/drawingml/2006/main">
              <a:ext uri="{FF2B5EF4-FFF2-40B4-BE49-F238E27FC236}">
                <a16:creationId xmlns:a16="http://schemas.microsoft.com/office/drawing/2014/main" id="{D31701A3-1464-4D1F-BDC7-6963559B2D83}"/>
              </a:ext>
            </a:extLst>
          </p:cNvPr>
          <p:cNvCxnSpPr>
            <a:stCxn xmlns:a="http://schemas.openxmlformats.org/drawingml/2006/main" id="7" idx="3"/>
            <a:endCxn xmlns:a="http://schemas.openxmlformats.org/drawingml/2006/main" id="9" idx="1"/>
          </p:cNvCxnSpPr>
          <p:nvPr/>
        </p:nvCxnSpPr>
        <p:spPr>
          <a:xfrm xmlns:a="http://schemas.openxmlformats.org/drawingml/2006/main" flipV="1">
            <a:off x="5800725" y="4076700"/>
            <a:ext cx="1619250" cy="9525"/>
          </a:xfrm>
          <a:prstGeom xmlns:a="http://schemas.openxmlformats.org/drawingml/2006/main" prst="bentConnector3">
            <a:avLst>
              <a:gd name="adj1" fmla="val 50000"/>
            </a:avLst>
          </a:prstGeom>
          <a:ln xmlns:a="http://schemas.openxmlformats.org/drawingml/2006/main" w="24765">
            <a:solidFill>
              <a:srgbClr val="475B6C"/>
            </a:solidFill>
            <a:prstDash val="solid"/>
            <a:tailEnd type="triangle" w="med" len="med"/>
          </a:ln>
        </p:spPr>
      </p:cxnSp>
      <p:cxnSp>
        <p:nvCxnSpPr>
          <p:cNvPr id="82" name="">
            <a:extLst xmlns:a="http://schemas.openxmlformats.org/drawingml/2006/main">
              <a:ext uri="{FF2B5EF4-FFF2-40B4-BE49-F238E27FC236}">
                <a16:creationId xmlns:a16="http://schemas.microsoft.com/office/drawing/2014/main" id="{B93438AE-E5FF-4CFB-80C6-7163C9E20F9B}"/>
              </a:ext>
            </a:extLst>
          </p:cNvPr>
          <p:cNvCxnSpPr>
            <a:stCxn xmlns:a="http://schemas.openxmlformats.org/drawingml/2006/main" id="5" idx="2"/>
            <a:endCxn xmlns:a="http://schemas.openxmlformats.org/drawingml/2006/main" id="7" idx="0"/>
          </p:cNvCxnSpPr>
          <p:nvPr/>
        </p:nvCxnSpPr>
        <p:spPr>
          <a:xfrm xmlns:a="http://schemas.openxmlformats.org/drawingml/2006/main">
            <a:off x="3328988" y="3200400"/>
            <a:ext cx="4763" cy="257175"/>
          </a:xfrm>
          <a:prstGeom xmlns:a="http://schemas.openxmlformats.org/drawingml/2006/main" prst="bentConnector4">
            <a:avLst>
              <a:gd name="adj1" fmla="val 0"/>
              <a:gd name="adj2" fmla="val 50000"/>
            </a:avLst>
          </a:prstGeom>
          <a:ln xmlns:a="http://schemas.openxmlformats.org/drawingml/2006/main" w="24765">
            <a:solidFill>
              <a:srgbClr val="475B6C"/>
            </a:solidFill>
            <a:prstDash val="solid"/>
            <a:tailEnd type="triangle" w="med" len="med"/>
          </a:ln>
        </p:spPr>
      </p:cxnSp>
      <p:cxnSp>
        <p:nvCxnSpPr>
          <p:cNvPr id="83" name="">
            <a:extLst xmlns:a="http://schemas.openxmlformats.org/drawingml/2006/main">
              <a:ext uri="{FF2B5EF4-FFF2-40B4-BE49-F238E27FC236}">
                <a16:creationId xmlns:a16="http://schemas.microsoft.com/office/drawing/2014/main" id="{A03152B9-81A5-4FEA-94AA-1CF572F2A76F}"/>
              </a:ext>
            </a:extLst>
          </p:cNvPr>
          <p:cNvCxnSpPr>
            <a:stCxn xmlns:a="http://schemas.openxmlformats.org/drawingml/2006/main" id="3" idx="2"/>
            <a:endCxn xmlns:a="http://schemas.openxmlformats.org/drawingml/2006/main" id="5" idx="0"/>
          </p:cNvCxnSpPr>
          <p:nvPr/>
        </p:nvCxnSpPr>
        <p:spPr>
          <a:xfrm xmlns:a="http://schemas.openxmlformats.org/drawingml/2006/main">
            <a:off x="3328988" y="2162175"/>
            <a:ext cx="0" cy="257175"/>
          </a:xfrm>
          <a:prstGeom xmlns:a="http://schemas.openxmlformats.org/drawingml/2006/main" prst="straightConnector1">
            <a:avLst/>
          </a:prstGeom>
          <a:ln xmlns:a="http://schemas.openxmlformats.org/drawingml/2006/main" w="24765">
            <a:solidFill>
              <a:srgbClr val="475B6C"/>
            </a:solidFill>
            <a:prstDash val="solid"/>
            <a:tailEnd type="triangle" w="med" len="med"/>
          </a:ln>
        </p:spPr>
      </p:cxnSp>
      <p:sp>
        <p:nvSpPr>
          <p:cNvPr id="26" name="">
            <a:extLst xmlns:a="http://schemas.openxmlformats.org/drawingml/2006/main">
              <a:ext uri="{FF2B5EF4-FFF2-40B4-BE49-F238E27FC236}">
                <a16:creationId xmlns:a16="http://schemas.microsoft.com/office/drawing/2014/main" id="{79527749-D517-4EE8-A5CA-A38DF9F75ACB}"/>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ТЗЛП: метод потенціалів, крок за кроком</a:t>
            </a:r>
          </a:p>
        </p:txBody>
      </p:sp>
      <p:sp>
        <p:nvSpPr>
          <p:cNvPr id="3" name="">
            <a:extLst xmlns:a="http://schemas.openxmlformats.org/drawingml/2006/main">
              <a:ext uri="{FF2B5EF4-FFF2-40B4-BE49-F238E27FC236}">
                <a16:creationId xmlns:a16="http://schemas.microsoft.com/office/drawing/2014/main" id="{FB020149-23A9-4D49-801E-5D517468A160}"/>
              </a:ext>
            </a:extLst>
          </p:cNvPr>
          <p:cNvSpPr>
            <a:spLocks xmlns:a="http://schemas.openxmlformats.org/drawingml/2006/main" noGrp="1"/>
          </p:cNvSpPr>
          <p:nvPr/>
        </p:nvSpPr>
        <p:spPr>
          <a:xfrm xmlns:a="http://schemas.openxmlformats.org/drawingml/2006/main">
            <a:off x="1066800" y="1381125"/>
            <a:ext cx="4524375" cy="781050"/>
          </a:xfrm>
          <a:prstGeom xmlns:a="http://schemas.openxmlformats.org/drawingml/2006/main" prst="rect">
            <a:avLst/>
          </a:prstGeom>
          <a:solidFill xmlns:a="http://schemas.openxmlformats.org/drawingml/2006/main">
            <a:srgbClr val="E1F3F0"/>
          </a:solidFill>
          <a:ln xmlns:a="http://schemas.openxmlformats.org/drawingml/2006/main" w="19050">
            <a:solidFill>
              <a:srgbClr val="086F9F"/>
            </a:solidFill>
          </a:ln>
        </p:spPr>
      </p:sp>
      <p:sp>
        <p:nvSpPr>
          <p:cNvPr id="4" name="">
            <a:extLst xmlns:a="http://schemas.openxmlformats.org/drawingml/2006/main">
              <a:ext uri="{FF2B5EF4-FFF2-40B4-BE49-F238E27FC236}">
                <a16:creationId xmlns:a16="http://schemas.microsoft.com/office/drawing/2014/main" id="{289E9B1C-BFCA-4436-B320-B39B8BA2F422}"/>
              </a:ext>
            </a:extLst>
          </p:cNvPr>
          <p:cNvSpPr>
            <a:spLocks xmlns:a="http://schemas.openxmlformats.org/drawingml/2006/main" noGrp="1"/>
          </p:cNvSpPr>
          <p:nvPr/>
        </p:nvSpPr>
        <p:spPr>
          <a:xfrm xmlns:a="http://schemas.openxmlformats.org/drawingml/2006/main">
            <a:off x="1295400" y="1514475"/>
            <a:ext cx="4067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Початковий допустимий базис</a:t>
            </a:r>
          </a:p>
        </p:txBody>
      </p:sp>
      <p:sp>
        <p:nvSpPr>
          <p:cNvPr id="5" name="">
            <a:extLst xmlns:a="http://schemas.openxmlformats.org/drawingml/2006/main">
              <a:ext uri="{FF2B5EF4-FFF2-40B4-BE49-F238E27FC236}">
                <a16:creationId xmlns:a16="http://schemas.microsoft.com/office/drawing/2014/main" id="{D477E943-F5D5-4DA4-AB25-62C35020BF21}"/>
              </a:ext>
            </a:extLst>
          </p:cNvPr>
          <p:cNvSpPr>
            <a:spLocks xmlns:a="http://schemas.openxmlformats.org/drawingml/2006/main" noGrp="1"/>
          </p:cNvSpPr>
          <p:nvPr/>
        </p:nvSpPr>
        <p:spPr>
          <a:xfrm xmlns:a="http://schemas.openxmlformats.org/drawingml/2006/main">
            <a:off x="1066800" y="2419350"/>
            <a:ext cx="4524375" cy="781050"/>
          </a:xfrm>
          <a:prstGeom xmlns:a="http://schemas.openxmlformats.org/drawingml/2006/main" prst="rect">
            <a:avLst/>
          </a:prstGeom>
          <a:solidFill xmlns:a="http://schemas.openxmlformats.org/drawingml/2006/main">
            <a:srgbClr val="F3F7F9"/>
          </a:solidFill>
          <a:ln xmlns:a="http://schemas.openxmlformats.org/drawingml/2006/main" w="19050">
            <a:solidFill>
              <a:srgbClr val="086F9F"/>
            </a:solidFill>
          </a:ln>
        </p:spPr>
      </p:sp>
      <p:sp>
        <p:nvSpPr>
          <p:cNvPr id="6" name="">
            <a:extLst xmlns:a="http://schemas.openxmlformats.org/drawingml/2006/main">
              <a:ext uri="{FF2B5EF4-FFF2-40B4-BE49-F238E27FC236}">
                <a16:creationId xmlns:a16="http://schemas.microsoft.com/office/drawing/2014/main" id="{C402E188-6BDB-4FB0-98CC-262BA37E3BFA}"/>
              </a:ext>
            </a:extLst>
          </p:cNvPr>
          <p:cNvSpPr>
            <a:spLocks xmlns:a="http://schemas.openxmlformats.org/drawingml/2006/main" noGrp="1"/>
          </p:cNvSpPr>
          <p:nvPr/>
        </p:nvSpPr>
        <p:spPr>
          <a:xfrm xmlns:a="http://schemas.openxmlformats.org/drawingml/2006/main">
            <a:off x="1295400" y="2552700"/>
            <a:ext cx="4067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Знайти u, v і оцінки Δ</a:t>
            </a:r>
          </a:p>
        </p:txBody>
      </p:sp>
      <p:sp>
        <p:nvSpPr>
          <p:cNvPr id="7" name="">
            <a:extLst xmlns:a="http://schemas.openxmlformats.org/drawingml/2006/main">
              <a:ext uri="{FF2B5EF4-FFF2-40B4-BE49-F238E27FC236}">
                <a16:creationId xmlns:a16="http://schemas.microsoft.com/office/drawing/2014/main" id="{24442356-12E8-4B89-9F83-A683DE9FA9B1}"/>
              </a:ext>
            </a:extLst>
          </p:cNvPr>
          <p:cNvSpPr>
            <a:spLocks xmlns:a="http://schemas.openxmlformats.org/drawingml/2006/main" noGrp="1"/>
          </p:cNvSpPr>
          <p:nvPr/>
        </p:nvSpPr>
        <p:spPr>
          <a:xfrm xmlns:a="http://schemas.openxmlformats.org/drawingml/2006/main">
            <a:off x="866775" y="3457575"/>
            <a:ext cx="4933950" cy="1257300"/>
          </a:xfrm>
          <a:prstGeom xmlns:a="http://schemas.openxmlformats.org/drawingml/2006/main" prst="diamond">
            <a:avLst/>
          </a:prstGeom>
          <a:solidFill xmlns:a="http://schemas.openxmlformats.org/drawingml/2006/main">
            <a:srgbClr val="FFF1DC"/>
          </a:solidFill>
          <a:ln xmlns:a="http://schemas.openxmlformats.org/drawingml/2006/main" w="19050">
            <a:solidFill>
              <a:srgbClr val="AD4C3E"/>
            </a:solidFill>
          </a:ln>
        </p:spPr>
      </p:sp>
      <p:sp>
        <p:nvSpPr>
          <p:cNvPr id="8" name="">
            <a:extLst xmlns:a="http://schemas.openxmlformats.org/drawingml/2006/main">
              <a:ext uri="{FF2B5EF4-FFF2-40B4-BE49-F238E27FC236}">
                <a16:creationId xmlns:a16="http://schemas.microsoft.com/office/drawing/2014/main" id="{8581733C-54B2-4EE2-90C4-9F96642A6929}"/>
              </a:ext>
            </a:extLst>
          </p:cNvPr>
          <p:cNvSpPr>
            <a:spLocks xmlns:a="http://schemas.openxmlformats.org/drawingml/2006/main" noGrp="1"/>
          </p:cNvSpPr>
          <p:nvPr/>
        </p:nvSpPr>
        <p:spPr>
          <a:xfrm xmlns:a="http://schemas.openxmlformats.org/drawingml/2006/main">
            <a:off x="1819275" y="3752850"/>
            <a:ext cx="302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Усі вільні оцінки Δ ≥ 0?</a:t>
            </a:r>
          </a:p>
        </p:txBody>
      </p:sp>
      <p:sp>
        <p:nvSpPr>
          <p:cNvPr id="9" name="">
            <a:extLst xmlns:a="http://schemas.openxmlformats.org/drawingml/2006/main">
              <a:ext uri="{FF2B5EF4-FFF2-40B4-BE49-F238E27FC236}">
                <a16:creationId xmlns:a16="http://schemas.microsoft.com/office/drawing/2014/main" id="{EC9D671A-AA52-42EE-8036-2796AED52410}"/>
              </a:ext>
            </a:extLst>
          </p:cNvPr>
          <p:cNvSpPr>
            <a:spLocks xmlns:a="http://schemas.openxmlformats.org/drawingml/2006/main" noGrp="1"/>
          </p:cNvSpPr>
          <p:nvPr/>
        </p:nvSpPr>
        <p:spPr>
          <a:xfrm xmlns:a="http://schemas.openxmlformats.org/drawingml/2006/main">
            <a:off x="7419975" y="3629025"/>
            <a:ext cx="3857625" cy="895350"/>
          </a:xfrm>
          <a:prstGeom xmlns:a="http://schemas.openxmlformats.org/drawingml/2006/main" prst="rect">
            <a:avLst/>
          </a:prstGeom>
          <a:solidFill xmlns:a="http://schemas.openxmlformats.org/drawingml/2006/main">
            <a:srgbClr val="E1F3F0"/>
          </a:solidFill>
          <a:ln xmlns:a="http://schemas.openxmlformats.org/drawingml/2006/main" w="19050">
            <a:solidFill>
              <a:srgbClr val="086F9F"/>
            </a:solidFill>
          </a:ln>
        </p:spPr>
      </p:sp>
      <p:sp>
        <p:nvSpPr>
          <p:cNvPr id="10" name="">
            <a:extLst xmlns:a="http://schemas.openxmlformats.org/drawingml/2006/main">
              <a:ext uri="{FF2B5EF4-FFF2-40B4-BE49-F238E27FC236}">
                <a16:creationId xmlns:a16="http://schemas.microsoft.com/office/drawing/2014/main" id="{607443FD-F5C7-496C-889F-0DE490CC97F8}"/>
              </a:ext>
            </a:extLst>
          </p:cNvPr>
          <p:cNvSpPr>
            <a:spLocks xmlns:a="http://schemas.openxmlformats.org/drawingml/2006/main" noGrp="1"/>
          </p:cNvSpPr>
          <p:nvPr/>
        </p:nvSpPr>
        <p:spPr>
          <a:xfrm xmlns:a="http://schemas.openxmlformats.org/drawingml/2006/main">
            <a:off x="7648575" y="3762375"/>
            <a:ext cx="34004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Мінімальна вартість</a:t>
            </a:r>
          </a:p>
        </p:txBody>
      </p:sp>
      <p:sp>
        <p:nvSpPr>
          <p:cNvPr id="11" name="">
            <a:extLst xmlns:a="http://schemas.openxmlformats.org/drawingml/2006/main">
              <a:ext uri="{FF2B5EF4-FFF2-40B4-BE49-F238E27FC236}">
                <a16:creationId xmlns:a16="http://schemas.microsoft.com/office/drawing/2014/main" id="{38D4B449-A725-4F42-BF90-EE17899B118B}"/>
              </a:ext>
            </a:extLst>
          </p:cNvPr>
          <p:cNvSpPr>
            <a:spLocks xmlns:a="http://schemas.openxmlformats.org/drawingml/2006/main" noGrp="1"/>
          </p:cNvSpPr>
          <p:nvPr/>
        </p:nvSpPr>
        <p:spPr>
          <a:xfrm xmlns:a="http://schemas.openxmlformats.org/drawingml/2006/main">
            <a:off x="1066800" y="5076825"/>
            <a:ext cx="4524375" cy="723900"/>
          </a:xfrm>
          <a:prstGeom xmlns:a="http://schemas.openxmlformats.org/drawingml/2006/main" prst="rect">
            <a:avLst/>
          </a:prstGeom>
          <a:solidFill xmlns:a="http://schemas.openxmlformats.org/drawingml/2006/main">
            <a:srgbClr val="F3F7F9"/>
          </a:solidFill>
          <a:ln xmlns:a="http://schemas.openxmlformats.org/drawingml/2006/main" w="19050">
            <a:solidFill>
              <a:srgbClr val="086F9F"/>
            </a:solidFill>
          </a:ln>
        </p:spPr>
      </p:sp>
      <p:sp>
        <p:nvSpPr>
          <p:cNvPr id="12" name="">
            <a:extLst xmlns:a="http://schemas.openxmlformats.org/drawingml/2006/main">
              <a:ext uri="{FF2B5EF4-FFF2-40B4-BE49-F238E27FC236}">
                <a16:creationId xmlns:a16="http://schemas.microsoft.com/office/drawing/2014/main" id="{02AFFFC2-F115-4269-BB3E-7C2B5E6FB797}"/>
              </a:ext>
            </a:extLst>
          </p:cNvPr>
          <p:cNvSpPr>
            <a:spLocks xmlns:a="http://schemas.openxmlformats.org/drawingml/2006/main" noGrp="1"/>
          </p:cNvSpPr>
          <p:nvPr/>
        </p:nvSpPr>
        <p:spPr>
          <a:xfrm xmlns:a="http://schemas.openxmlformats.org/drawingml/2006/main">
            <a:off x="1295400" y="5210175"/>
            <a:ext cx="4067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Вибрати Δ&lt;0; цикл ±, крок θ, новий базис</a:t>
            </a:r>
          </a:p>
        </p:txBody>
      </p:sp>
      <p:sp>
        <p:nvSpPr>
          <p:cNvPr id="18" name="">
            <a:extLst xmlns:a="http://schemas.openxmlformats.org/drawingml/2006/main">
              <a:ext uri="{FF2B5EF4-FFF2-40B4-BE49-F238E27FC236}">
                <a16:creationId xmlns:a16="http://schemas.microsoft.com/office/drawing/2014/main" id="{EC958C78-F1D7-4BA1-95B1-FF2C43706798}"/>
              </a:ext>
            </a:extLst>
          </p:cNvPr>
          <p:cNvSpPr>
            <a:spLocks xmlns:a="http://schemas.openxmlformats.org/drawingml/2006/main" noGrp="1"/>
          </p:cNvSpPr>
          <p:nvPr/>
        </p:nvSpPr>
        <p:spPr>
          <a:xfrm xmlns:a="http://schemas.openxmlformats.org/drawingml/2006/main">
            <a:off x="6343650" y="3314700"/>
            <a:ext cx="685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475B6C"/>
                </a:solidFill>
                <a:latin typeface="DejaVu Sans"/>
                <a:ea typeface="DejaVu Sans"/>
                <a:cs typeface="DejaVu Sans"/>
              </a:defRPr>
            </a:pPr>
            <a:r>
              <a:rPr sz="1725" b="1">
                <a:solidFill>
                  <a:srgbClr val="475B6C"/>
                </a:solidFill>
                <a:latin typeface="Arial"/>
                <a:ea typeface="Arial"/>
                <a:cs typeface="Arial"/>
              </a:rPr>
              <a:t>так</a:t>
            </a:r>
          </a:p>
        </p:txBody>
      </p:sp>
      <p:sp>
        <p:nvSpPr>
          <p:cNvPr id="19" name="">
            <a:extLst xmlns:a="http://schemas.openxmlformats.org/drawingml/2006/main">
              <a:ext uri="{FF2B5EF4-FFF2-40B4-BE49-F238E27FC236}">
                <a16:creationId xmlns:a16="http://schemas.microsoft.com/office/drawing/2014/main" id="{EF0B8CAE-EA36-4781-825C-A58D3EF492A0}"/>
              </a:ext>
            </a:extLst>
          </p:cNvPr>
          <p:cNvSpPr>
            <a:spLocks xmlns:a="http://schemas.openxmlformats.org/drawingml/2006/main" noGrp="1"/>
          </p:cNvSpPr>
          <p:nvPr/>
        </p:nvSpPr>
        <p:spPr>
          <a:xfrm xmlns:a="http://schemas.openxmlformats.org/drawingml/2006/main">
            <a:off x="3962400" y="4772025"/>
            <a:ext cx="704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475B6C"/>
                </a:solidFill>
                <a:latin typeface="DejaVu Sans"/>
                <a:ea typeface="DejaVu Sans"/>
                <a:cs typeface="DejaVu Sans"/>
              </a:defRPr>
            </a:pPr>
            <a:r>
              <a:rPr sz="1725" b="1">
                <a:solidFill>
                  <a:srgbClr val="475B6C"/>
                </a:solidFill>
                <a:latin typeface="Arial"/>
                <a:ea typeface="Arial"/>
                <a:cs typeface="Arial"/>
              </a:rPr>
              <a:t>ні</a:t>
            </a:r>
          </a:p>
        </p:txBody>
      </p:sp>
      <p:sp>
        <p:nvSpPr>
          <p:cNvPr id="20" name="">
            <a:extLst xmlns:a="http://schemas.openxmlformats.org/drawingml/2006/main">
              <a:ext uri="{FF2B5EF4-FFF2-40B4-BE49-F238E27FC236}">
                <a16:creationId xmlns:a16="http://schemas.microsoft.com/office/drawing/2014/main" id="{AB0BEA4B-4A3F-4A95-80A7-3FA41CC1601C}"/>
              </a:ext>
            </a:extLst>
          </p:cNvPr>
          <p:cNvSpPr>
            <a:spLocks xmlns:a="http://schemas.openxmlformats.org/drawingml/2006/main" noGrp="1"/>
          </p:cNvSpPr>
          <p:nvPr/>
        </p:nvSpPr>
        <p:spPr>
          <a:xfrm xmlns:a="http://schemas.openxmlformats.org/drawingml/2006/main">
            <a:off x="819150" y="589597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Δᵢⱼ=cᵢⱼ−uᵢ−vⱼ. Після циклу оцінки обчислюємо знову.</a:t>
            </a:r>
          </a:p>
        </p:txBody>
      </p:sp>
      <p:sp>
        <p:nvSpPr>
          <p:cNvPr id="78" name="">
            <a:extLst xmlns:a="http://schemas.openxmlformats.org/drawingml/2006/main">
              <a:ext uri="{FF2B5EF4-FFF2-40B4-BE49-F238E27FC236}">
                <a16:creationId xmlns:a16="http://schemas.microsoft.com/office/drawing/2014/main" id="{5E495A07-0C31-4135-B6B7-DDCB73F5F471}"/>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51</a:t>
            </a:r>
          </a:p>
        </p:txBody>
      </p:sp>
    </p:spTree>
    <p:extLst>
      <p:ext uri="{BB962C8B-B14F-4D97-AF65-F5344CB8AC3E}">
        <p14:creationId xmlns:p14="http://schemas.microsoft.com/office/powerpoint/2010/main" val="213463382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AA5484-FD29-4E00-9F04-E03D9E658357}"/>
              </a:ext>
            </a:extLst>
          </p:cNvPr>
          <p:cNvSpPr>
            <a:spLocks xmlns:a="http://schemas.openxmlformats.org/drawingml/2006/main" noGrp="1"/>
          </p:cNvSpPr>
          <p:nvPr/>
        </p:nvSpPr>
        <p:spPr>
          <a:xfrm xmlns:a="http://schemas.openxmlformats.org/drawingml/2006/main">
            <a:off x="685800" y="4000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C42"/>
                </a:solidFill>
                <a:latin typeface="Arial"/>
                <a:ea typeface="Arial"/>
                <a:cs typeface="Arial"/>
              </a:defRPr>
            </a:pPr>
            <a:r>
              <a:rPr sz="3225" b="1">
                <a:solidFill>
                  <a:srgbClr val="152C42"/>
                </a:solidFill>
                <a:latin typeface="Arial"/>
                <a:ea typeface="Arial"/>
                <a:cs typeface="Arial"/>
              </a:rPr>
              <a:t>Потенціали: який план поліпшуємо</a:t>
            </a:r>
          </a:p>
        </p:txBody>
      </p:sp>
      <p:sp>
        <p:nvSpPr>
          <p:cNvPr id="2" name="">
            <a:extLst xmlns:a="http://schemas.openxmlformats.org/drawingml/2006/main">
              <a:ext uri="{FF2B5EF4-FFF2-40B4-BE49-F238E27FC236}">
                <a16:creationId xmlns:a16="http://schemas.microsoft.com/office/drawing/2014/main" id="{89ADBDF6-D834-4D3F-9136-ABF0B93389AA}"/>
              </a:ext>
            </a:extLst>
          </p:cNvPr>
          <p:cNvSpPr>
            <a:spLocks xmlns:a="http://schemas.openxmlformats.org/drawingml/2006/main" noGrp="1"/>
          </p:cNvSpPr>
          <p:nvPr/>
        </p:nvSpPr>
        <p:spPr>
          <a:xfrm xmlns:a="http://schemas.openxmlformats.org/drawingml/2006/main">
            <a:off x="809625" y="131445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52C42"/>
                </a:solidFill>
                <a:latin typeface="Arial"/>
                <a:ea typeface="Arial"/>
                <a:cs typeface="Arial"/>
              </a:defRPr>
            </a:pPr>
            <a:r>
              <a:rPr sz="1950" b="1">
                <a:solidFill>
                  <a:srgbClr val="152C42"/>
                </a:solidFill>
                <a:latin typeface="Arial"/>
                <a:ea typeface="Arial"/>
                <a:cs typeface="Arial"/>
              </a:rPr>
              <a:t>План північно-західного кута</a:t>
            </a:r>
          </a:p>
        </p:txBody>
      </p:sp>
      <p:sp>
        <p:nvSpPr>
          <p:cNvPr id="3" name="">
            <a:extLst xmlns:a="http://schemas.openxmlformats.org/drawingml/2006/main">
              <a:ext uri="{FF2B5EF4-FFF2-40B4-BE49-F238E27FC236}">
                <a16:creationId xmlns:a16="http://schemas.microsoft.com/office/drawing/2014/main" id="{C6890A55-7C22-4B8E-92B8-A64C41E33694}"/>
              </a:ext>
            </a:extLst>
          </p:cNvPr>
          <p:cNvSpPr>
            <a:spLocks xmlns:a="http://schemas.openxmlformats.org/drawingml/2006/main" noGrp="1"/>
          </p:cNvSpPr>
          <p:nvPr/>
        </p:nvSpPr>
        <p:spPr>
          <a:xfrm xmlns:a="http://schemas.openxmlformats.org/drawingml/2006/main">
            <a:off x="6438900" y="13144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52C42"/>
                </a:solidFill>
                <a:latin typeface="Arial"/>
                <a:ea typeface="Arial"/>
                <a:cs typeface="Arial"/>
              </a:defRPr>
            </a:pPr>
            <a:r>
              <a:rPr sz="1950" b="1">
                <a:solidFill>
                  <a:srgbClr val="152C42"/>
                </a:solidFill>
                <a:latin typeface="Arial"/>
                <a:ea typeface="Arial"/>
                <a:cs typeface="Arial"/>
              </a:rPr>
              <a:t>Інший допустимий початковий план</a:t>
            </a:r>
          </a:p>
        </p:txBody>
      </p:sp>
      <p:graphicFrame>
        <p:nvGraphicFramePr>
          <p:cNvPr id="21" name="">
            <a:extLst xmlns:a="http://schemas.openxmlformats.org/drawingml/2006/main">
              <a:ext uri="{FF2B5EF4-FFF2-40B4-BE49-F238E27FC236}">
                <a16:creationId xmlns:a16="http://schemas.microsoft.com/office/drawing/2014/main" id="{3F8BB5F1-F013-4128-9138-63A4242EF46E}"/>
              </a:ext>
            </a:extLst>
          </p:cNvPr>
          <p:cNvGraphicFramePr/>
          <p:nvPr/>
        </p:nvGraphicFramePr>
        <p:xfrm>
          <a:off xmlns:a="http://schemas.openxmlformats.org/drawingml/2006/main" x="809625" y="1905000"/>
          <a:ext xmlns:a="http://schemas.openxmlformats.org/drawingml/2006/main" cx="4857750" cy="2428875"/>
        </p:xfrm>
        <a:graphic xmlns:a="http://schemas.openxmlformats.org/drawingml/2006/main">
          <a:graphicData uri="http://schemas.openxmlformats.org/drawingml/2006/table">
            <a:tbl>
              <a:tblPr/>
              <a:tblGrid>
                <a:gridCol w="1214438"/>
                <a:gridCol w="1214438"/>
                <a:gridCol w="1214438"/>
                <a:gridCol w="1214438"/>
              </a:tblGrid>
              <a:tr h="809625">
                <a:tc>
                  <a:txBody>
                    <a:bodyPr>
                      <a:noAutofit/>
                    </a:bodyPr>
                    <a:lstStyle/>
                    <a:p>
                      <a:r>
                        <a:rPr sz="1875" b="1">
                          <a:solidFill>
                            <a:srgbClr val="FFFFFF"/>
                          </a:solidFill>
                          <a:latin typeface="Arial"/>
                          <a:ea typeface="Arial"/>
                          <a:cs typeface="Arial"/>
                        </a:rPr>
                        <a:t/>
                      </a:r>
                    </a:p>
                  </a:txBody>
                  <a:tcPr marL="91440" marR="91440" marT="45720" marB="45720" anchor="ctr">
                    <a:solidFill>
                      <a:srgbClr val="152C42"/>
                    </a:solidFill>
                  </a:tcPr>
                </a:tc>
                <a:tc>
                  <a:txBody>
                    <a:bodyPr>
                      <a:noAutofit/>
                    </a:bodyPr>
                    <a:lstStyle/>
                    <a:p>
                      <a:pPr algn="ctr">
                        <a:buNone/>
                      </a:pPr>
                      <a:r>
                        <a:rPr sz="1875" b="1">
                          <a:solidFill>
                            <a:srgbClr val="FFFFFF"/>
                          </a:solidFill>
                          <a:latin typeface="Arial"/>
                          <a:ea typeface="Arial"/>
                          <a:cs typeface="Arial"/>
                        </a:rPr>
                        <a:t>P</a:t>
                      </a:r>
                    </a:p>
                  </a:txBody>
                  <a:tcPr marL="91440" marR="91440" marT="45720" marB="45720" anchor="ctr">
                    <a:solidFill>
                      <a:srgbClr val="152C42"/>
                    </a:solidFill>
                  </a:tcPr>
                </a:tc>
                <a:tc>
                  <a:txBody>
                    <a:bodyPr>
                      <a:noAutofit/>
                    </a:bodyPr>
                    <a:lstStyle/>
                    <a:p>
                      <a:pPr algn="ctr">
                        <a:buNone/>
                      </a:pPr>
                      <a:r>
                        <a:rPr sz="1875" b="1">
                          <a:solidFill>
                            <a:srgbClr val="FFFFFF"/>
                          </a:solidFill>
                          <a:latin typeface="Arial"/>
                          <a:ea typeface="Arial"/>
                          <a:cs typeface="Arial"/>
                        </a:rPr>
                        <a:t>Q</a:t>
                      </a:r>
                    </a:p>
                  </a:txBody>
                  <a:tcPr marL="91440" marR="91440" marT="45720" marB="45720" anchor="ctr">
                    <a:solidFill>
                      <a:srgbClr val="152C42"/>
                    </a:solidFill>
                  </a:tcPr>
                </a:tc>
                <a:tc>
                  <a:txBody>
                    <a:bodyPr>
                      <a:noAutofit/>
                    </a:bodyPr>
                    <a:lstStyle/>
                    <a:p>
                      <a:pPr algn="ctr">
                        <a:buNone/>
                      </a:pPr>
                      <a:r>
                        <a:rPr sz="1875" b="1">
                          <a:solidFill>
                            <a:srgbClr val="FFFFFF"/>
                          </a:solidFill>
                          <a:latin typeface="Arial"/>
                          <a:ea typeface="Arial"/>
                          <a:cs typeface="Arial"/>
                        </a:rPr>
                        <a:t>R</a:t>
                      </a:r>
                    </a:p>
                  </a:txBody>
                  <a:tcPr marL="91440" marR="91440" marT="45720" marB="45720" anchor="ctr">
                    <a:solidFill>
                      <a:srgbClr val="152C42"/>
                    </a:solidFill>
                  </a:tcPr>
                </a:tc>
              </a:tr>
              <a:tr h="809625">
                <a:tc>
                  <a:txBody>
                    <a:bodyPr>
                      <a:noAutofit/>
                    </a:bodyPr>
                    <a:lstStyle/>
                    <a:p>
                      <a:pPr algn="ctr">
                        <a:buNone/>
                      </a:pPr>
                      <a:r>
                        <a:rPr sz="1875" b="0">
                          <a:solidFill>
                            <a:srgbClr val="152C42"/>
                          </a:solidFill>
                          <a:latin typeface="Arial"/>
                          <a:ea typeface="Arial"/>
                          <a:cs typeface="Arial"/>
                        </a:rPr>
                        <a:t>A</a:t>
                      </a:r>
                    </a:p>
                  </a:txBody>
                  <a:tcPr marL="91440" marR="91440" marT="45720" marB="45720" anchor="ctr">
                    <a:solidFill>
                      <a:srgbClr val="EAF1F5"/>
                    </a:solidFill>
                  </a:tcPr>
                </a:tc>
                <a:tc>
                  <a:txBody>
                    <a:bodyPr>
                      <a:noAutofit/>
                    </a:bodyPr>
                    <a:lstStyle/>
                    <a:p>
                      <a:pPr algn="ctr">
                        <a:buNone/>
                      </a:pPr>
                      <a:r>
                        <a:rPr sz="1875" b="0">
                          <a:solidFill>
                            <a:srgbClr val="152C42"/>
                          </a:solidFill>
                          <a:latin typeface="Arial"/>
                          <a:ea typeface="Arial"/>
                          <a:cs typeface="Arial"/>
                        </a:rPr>
                        <a:t>10</a:t>
                      </a:r>
                    </a:p>
                  </a:txBody>
                  <a:tcPr marL="91440" marR="91440" marT="45720" marB="45720" anchor="ctr">
                    <a:solidFill>
                      <a:srgbClr val="E1F3EF"/>
                    </a:solidFill>
                  </a:tcPr>
                </a:tc>
                <a:tc>
                  <a:txBody>
                    <a:bodyPr>
                      <a:noAutofit/>
                    </a:bodyPr>
                    <a:lstStyle/>
                    <a:p>
                      <a:pPr algn="ctr">
                        <a:buNone/>
                      </a:pPr>
                      <a:r>
                        <a:rPr sz="1875" b="0">
                          <a:solidFill>
                            <a:srgbClr val="152C42"/>
                          </a:solidFill>
                          <a:latin typeface="Arial"/>
                          <a:ea typeface="Arial"/>
                          <a:cs typeface="Arial"/>
                        </a:rPr>
                        <a:t>20</a:t>
                      </a:r>
                    </a:p>
                  </a:txBody>
                  <a:tcPr marL="91440" marR="91440" marT="45720" marB="45720" anchor="ctr">
                    <a:solidFill>
                      <a:srgbClr val="E1F3EF"/>
                    </a:solidFill>
                  </a:tcPr>
                </a:tc>
                <a:tc>
                  <a:txBody>
                    <a:bodyPr>
                      <a:noAutofit/>
                    </a:bodyPr>
                    <a:lstStyle/>
                    <a:p>
                      <a:pPr algn="ctr">
                        <a:buNone/>
                      </a:pPr>
                      <a:r>
                        <a:rPr sz="1875" b="0">
                          <a:solidFill>
                            <a:srgbClr val="152C42"/>
                          </a:solidFill>
                          <a:latin typeface="Arial"/>
                          <a:ea typeface="Arial"/>
                          <a:cs typeface="Arial"/>
                        </a:rPr>
                        <a:t>0</a:t>
                      </a:r>
                    </a:p>
                  </a:txBody>
                  <a:tcPr marL="91440" marR="91440" marT="45720" marB="45720" anchor="ctr">
                    <a:solidFill>
                      <a:srgbClr val="EAF1F5"/>
                    </a:solidFill>
                  </a:tcPr>
                </a:tc>
              </a:tr>
              <a:tr h="809625">
                <a:tc>
                  <a:txBody>
                    <a:bodyPr>
                      <a:noAutofit/>
                    </a:bodyPr>
                    <a:lstStyle/>
                    <a:p>
                      <a:pPr algn="ctr">
                        <a:buNone/>
                      </a:pPr>
                      <a:r>
                        <a:rPr sz="1875" b="0">
                          <a:solidFill>
                            <a:srgbClr val="152C42"/>
                          </a:solidFill>
                          <a:latin typeface="Arial"/>
                          <a:ea typeface="Arial"/>
                          <a:cs typeface="Arial"/>
                        </a:rPr>
                        <a:t>B</a:t>
                      </a:r>
                    </a:p>
                  </a:txBody>
                  <a:tcPr marL="91440" marR="91440" marT="45720" marB="45720" anchor="ctr">
                    <a:solidFill>
                      <a:srgbClr val="FFFFFF"/>
                    </a:solidFill>
                  </a:tcPr>
                </a:tc>
                <a:tc>
                  <a:txBody>
                    <a:bodyPr>
                      <a:noAutofit/>
                    </a:bodyPr>
                    <a:lstStyle/>
                    <a:p>
                      <a:pPr algn="ctr">
                        <a:buNone/>
                      </a:pPr>
                      <a:r>
                        <a:rPr sz="1875" b="0">
                          <a:solidFill>
                            <a:srgbClr val="152C42"/>
                          </a:solidFill>
                          <a:latin typeface="Arial"/>
                          <a:ea typeface="Arial"/>
                          <a:cs typeface="Arial"/>
                        </a:rPr>
                        <a:t>0</a:t>
                      </a:r>
                    </a:p>
                  </a:txBody>
                  <a:tcPr marL="91440" marR="91440" marT="45720" marB="45720" anchor="ctr">
                    <a:solidFill>
                      <a:srgbClr val="FFFFFF"/>
                    </a:solidFill>
                  </a:tcPr>
                </a:tc>
                <a:tc>
                  <a:txBody>
                    <a:bodyPr>
                      <a:noAutofit/>
                    </a:bodyPr>
                    <a:lstStyle/>
                    <a:p>
                      <a:pPr algn="ctr">
                        <a:buNone/>
                      </a:pPr>
                      <a:r>
                        <a:rPr sz="1875" b="0">
                          <a:solidFill>
                            <a:srgbClr val="152C42"/>
                          </a:solidFill>
                          <a:latin typeface="Arial"/>
                          <a:ea typeface="Arial"/>
                          <a:cs typeface="Arial"/>
                        </a:rPr>
                        <a:t>0*</a:t>
                      </a:r>
                    </a:p>
                  </a:txBody>
                  <a:tcPr marL="91440" marR="91440" marT="45720" marB="45720" anchor="ctr">
                    <a:solidFill>
                      <a:srgbClr val="FFFFFF"/>
                    </a:solidFill>
                  </a:tcPr>
                </a:tc>
                <a:tc>
                  <a:txBody>
                    <a:bodyPr>
                      <a:noAutofit/>
                    </a:bodyPr>
                    <a:lstStyle/>
                    <a:p>
                      <a:pPr algn="ctr">
                        <a:buNone/>
                      </a:pPr>
                      <a:r>
                        <a:rPr sz="1875" b="0">
                          <a:solidFill>
                            <a:srgbClr val="152C42"/>
                          </a:solidFill>
                          <a:latin typeface="Arial"/>
                          <a:ea typeface="Arial"/>
                          <a:cs typeface="Arial"/>
                        </a:rPr>
                        <a:t>20</a:t>
                      </a:r>
                    </a:p>
                  </a:txBody>
                  <a:tcPr marL="91440" marR="91440" marT="45720" marB="45720" anchor="ctr">
                    <a:solidFill>
                      <a:srgbClr val="E1F3EF"/>
                    </a:solidFill>
                  </a:tcPr>
                </a:tc>
              </a:tr>
            </a:tbl>
          </a:graphicData>
        </a:graphic>
      </p:graphicFrame>
      <p:graphicFrame>
        <p:nvGraphicFramePr>
          <p:cNvPr id="22" name="">
            <a:extLst xmlns:a="http://schemas.openxmlformats.org/drawingml/2006/main">
              <a:ext uri="{FF2B5EF4-FFF2-40B4-BE49-F238E27FC236}">
                <a16:creationId xmlns:a16="http://schemas.microsoft.com/office/drawing/2014/main" id="{A89BC0E8-E214-4698-980E-4C8242B8F12F}"/>
              </a:ext>
            </a:extLst>
          </p:cNvPr>
          <p:cNvGraphicFramePr/>
          <p:nvPr/>
        </p:nvGraphicFramePr>
        <p:xfrm>
          <a:off xmlns:a="http://schemas.openxmlformats.org/drawingml/2006/main" x="6477000" y="1905000"/>
          <a:ext xmlns:a="http://schemas.openxmlformats.org/drawingml/2006/main" cx="4857750" cy="2428875"/>
        </p:xfrm>
        <a:graphic xmlns:a="http://schemas.openxmlformats.org/drawingml/2006/main">
          <a:graphicData uri="http://schemas.openxmlformats.org/drawingml/2006/table">
            <a:tbl>
              <a:tblPr/>
              <a:tblGrid>
                <a:gridCol w="1214438"/>
                <a:gridCol w="1214438"/>
                <a:gridCol w="1214438"/>
                <a:gridCol w="1214438"/>
              </a:tblGrid>
              <a:tr h="809625">
                <a:tc>
                  <a:txBody>
                    <a:bodyPr>
                      <a:noAutofit/>
                    </a:bodyPr>
                    <a:lstStyle/>
                    <a:p>
                      <a:r>
                        <a:rPr sz="1875" b="1">
                          <a:solidFill>
                            <a:srgbClr val="FFFFFF"/>
                          </a:solidFill>
                          <a:latin typeface="Arial"/>
                          <a:ea typeface="Arial"/>
                          <a:cs typeface="Arial"/>
                        </a:rPr>
                        <a:t/>
                      </a:r>
                    </a:p>
                  </a:txBody>
                  <a:tcPr marL="91440" marR="91440" marT="45720" marB="45720" anchor="ctr">
                    <a:solidFill>
                      <a:srgbClr val="152C42"/>
                    </a:solidFill>
                  </a:tcPr>
                </a:tc>
                <a:tc>
                  <a:txBody>
                    <a:bodyPr>
                      <a:noAutofit/>
                    </a:bodyPr>
                    <a:lstStyle/>
                    <a:p>
                      <a:pPr algn="ctr">
                        <a:buNone/>
                      </a:pPr>
                      <a:r>
                        <a:rPr sz="1875" b="1">
                          <a:solidFill>
                            <a:srgbClr val="FFFFFF"/>
                          </a:solidFill>
                          <a:latin typeface="Arial"/>
                          <a:ea typeface="Arial"/>
                          <a:cs typeface="Arial"/>
                        </a:rPr>
                        <a:t>P</a:t>
                      </a:r>
                    </a:p>
                  </a:txBody>
                  <a:tcPr marL="91440" marR="91440" marT="45720" marB="45720" anchor="ctr">
                    <a:solidFill>
                      <a:srgbClr val="152C42"/>
                    </a:solidFill>
                  </a:tcPr>
                </a:tc>
                <a:tc>
                  <a:txBody>
                    <a:bodyPr>
                      <a:noAutofit/>
                    </a:bodyPr>
                    <a:lstStyle/>
                    <a:p>
                      <a:pPr algn="ctr">
                        <a:buNone/>
                      </a:pPr>
                      <a:r>
                        <a:rPr sz="1875" b="1">
                          <a:solidFill>
                            <a:srgbClr val="FFFFFF"/>
                          </a:solidFill>
                          <a:latin typeface="Arial"/>
                          <a:ea typeface="Arial"/>
                          <a:cs typeface="Arial"/>
                        </a:rPr>
                        <a:t>Q</a:t>
                      </a:r>
                    </a:p>
                  </a:txBody>
                  <a:tcPr marL="91440" marR="91440" marT="45720" marB="45720" anchor="ctr">
                    <a:solidFill>
                      <a:srgbClr val="152C42"/>
                    </a:solidFill>
                  </a:tcPr>
                </a:tc>
                <a:tc>
                  <a:txBody>
                    <a:bodyPr>
                      <a:noAutofit/>
                    </a:bodyPr>
                    <a:lstStyle/>
                    <a:p>
                      <a:pPr algn="ctr">
                        <a:buNone/>
                      </a:pPr>
                      <a:r>
                        <a:rPr sz="1875" b="1">
                          <a:solidFill>
                            <a:srgbClr val="FFFFFF"/>
                          </a:solidFill>
                          <a:latin typeface="Arial"/>
                          <a:ea typeface="Arial"/>
                          <a:cs typeface="Arial"/>
                        </a:rPr>
                        <a:t>R</a:t>
                      </a:r>
                    </a:p>
                  </a:txBody>
                  <a:tcPr marL="91440" marR="91440" marT="45720" marB="45720" anchor="ctr">
                    <a:solidFill>
                      <a:srgbClr val="152C42"/>
                    </a:solidFill>
                  </a:tcPr>
                </a:tc>
              </a:tr>
              <a:tr h="809625">
                <a:tc>
                  <a:txBody>
                    <a:bodyPr>
                      <a:noAutofit/>
                    </a:bodyPr>
                    <a:lstStyle/>
                    <a:p>
                      <a:pPr algn="ctr">
                        <a:buNone/>
                      </a:pPr>
                      <a:r>
                        <a:rPr sz="1875" b="0">
                          <a:solidFill>
                            <a:srgbClr val="152C42"/>
                          </a:solidFill>
                          <a:latin typeface="Arial"/>
                          <a:ea typeface="Arial"/>
                          <a:cs typeface="Arial"/>
                        </a:rPr>
                        <a:t>A</a:t>
                      </a:r>
                    </a:p>
                  </a:txBody>
                  <a:tcPr marL="91440" marR="91440" marT="45720" marB="45720" anchor="ctr">
                    <a:solidFill>
                      <a:srgbClr val="EAF1F5"/>
                    </a:solidFill>
                  </a:tcPr>
                </a:tc>
                <a:tc>
                  <a:txBody>
                    <a:bodyPr>
                      <a:noAutofit/>
                    </a:bodyPr>
                    <a:lstStyle/>
                    <a:p>
                      <a:pPr algn="ctr">
                        <a:buNone/>
                      </a:pPr>
                      <a:r>
                        <a:rPr sz="1875" b="0">
                          <a:solidFill>
                            <a:srgbClr val="152C42"/>
                          </a:solidFill>
                          <a:latin typeface="Arial"/>
                          <a:ea typeface="Arial"/>
                          <a:cs typeface="Arial"/>
                        </a:rPr>
                        <a:t>0</a:t>
                      </a:r>
                    </a:p>
                  </a:txBody>
                  <a:tcPr marL="91440" marR="91440" marT="45720" marB="45720" anchor="ctr">
                    <a:solidFill>
                      <a:srgbClr val="EAF1F5"/>
                    </a:solidFill>
                  </a:tcPr>
                </a:tc>
                <a:tc>
                  <a:txBody>
                    <a:bodyPr>
                      <a:noAutofit/>
                    </a:bodyPr>
                    <a:lstStyle/>
                    <a:p>
                      <a:pPr algn="ctr">
                        <a:buNone/>
                      </a:pPr>
                      <a:r>
                        <a:rPr sz="1875" b="0">
                          <a:solidFill>
                            <a:srgbClr val="152C42"/>
                          </a:solidFill>
                          <a:latin typeface="Arial"/>
                          <a:ea typeface="Arial"/>
                          <a:cs typeface="Arial"/>
                        </a:rPr>
                        <a:t>20</a:t>
                      </a:r>
                    </a:p>
                  </a:txBody>
                  <a:tcPr marL="91440" marR="91440" marT="45720" marB="45720" anchor="ctr">
                    <a:solidFill>
                      <a:srgbClr val="E1F3EF"/>
                    </a:solidFill>
                  </a:tcPr>
                </a:tc>
                <a:tc>
                  <a:txBody>
                    <a:bodyPr>
                      <a:noAutofit/>
                    </a:bodyPr>
                    <a:lstStyle/>
                    <a:p>
                      <a:pPr algn="ctr">
                        <a:buNone/>
                      </a:pPr>
                      <a:r>
                        <a:rPr sz="1875" b="0">
                          <a:solidFill>
                            <a:srgbClr val="152C42"/>
                          </a:solidFill>
                          <a:latin typeface="Arial"/>
                          <a:ea typeface="Arial"/>
                          <a:cs typeface="Arial"/>
                        </a:rPr>
                        <a:t>10</a:t>
                      </a:r>
                    </a:p>
                  </a:txBody>
                  <a:tcPr marL="91440" marR="91440" marT="45720" marB="45720" anchor="ctr">
                    <a:solidFill>
                      <a:srgbClr val="E1F3EF"/>
                    </a:solidFill>
                  </a:tcPr>
                </a:tc>
              </a:tr>
              <a:tr h="809625">
                <a:tc>
                  <a:txBody>
                    <a:bodyPr>
                      <a:noAutofit/>
                    </a:bodyPr>
                    <a:lstStyle/>
                    <a:p>
                      <a:pPr algn="ctr">
                        <a:buNone/>
                      </a:pPr>
                      <a:r>
                        <a:rPr sz="1875" b="0">
                          <a:solidFill>
                            <a:srgbClr val="152C42"/>
                          </a:solidFill>
                          <a:latin typeface="Arial"/>
                          <a:ea typeface="Arial"/>
                          <a:cs typeface="Arial"/>
                        </a:rPr>
                        <a:t>B</a:t>
                      </a:r>
                    </a:p>
                  </a:txBody>
                  <a:tcPr marL="91440" marR="91440" marT="45720" marB="45720" anchor="ctr">
                    <a:solidFill>
                      <a:srgbClr val="FFFFFF"/>
                    </a:solidFill>
                  </a:tcPr>
                </a:tc>
                <a:tc>
                  <a:txBody>
                    <a:bodyPr>
                      <a:noAutofit/>
                    </a:bodyPr>
                    <a:lstStyle/>
                    <a:p>
                      <a:pPr algn="ctr">
                        <a:buNone/>
                      </a:pPr>
                      <a:r>
                        <a:rPr sz="1875" b="0">
                          <a:solidFill>
                            <a:srgbClr val="152C42"/>
                          </a:solidFill>
                          <a:latin typeface="Arial"/>
                          <a:ea typeface="Arial"/>
                          <a:cs typeface="Arial"/>
                        </a:rPr>
                        <a:t>10</a:t>
                      </a:r>
                    </a:p>
                  </a:txBody>
                  <a:tcPr marL="91440" marR="91440" marT="45720" marB="45720" anchor="ctr">
                    <a:solidFill>
                      <a:srgbClr val="E1F3EF"/>
                    </a:solidFill>
                  </a:tcPr>
                </a:tc>
                <a:tc>
                  <a:txBody>
                    <a:bodyPr>
                      <a:noAutofit/>
                    </a:bodyPr>
                    <a:lstStyle/>
                    <a:p>
                      <a:pPr algn="ctr">
                        <a:buNone/>
                      </a:pPr>
                      <a:r>
                        <a:rPr sz="1875" b="0">
                          <a:solidFill>
                            <a:srgbClr val="152C42"/>
                          </a:solidFill>
                          <a:latin typeface="Arial"/>
                          <a:ea typeface="Arial"/>
                          <a:cs typeface="Arial"/>
                        </a:rPr>
                        <a:t>0</a:t>
                      </a:r>
                    </a:p>
                  </a:txBody>
                  <a:tcPr marL="91440" marR="91440" marT="45720" marB="45720" anchor="ctr">
                    <a:solidFill>
                      <a:srgbClr val="FFFFFF"/>
                    </a:solidFill>
                  </a:tcPr>
                </a:tc>
                <a:tc>
                  <a:txBody>
                    <a:bodyPr>
                      <a:noAutofit/>
                    </a:bodyPr>
                    <a:lstStyle/>
                    <a:p>
                      <a:pPr algn="ctr">
                        <a:buNone/>
                      </a:pPr>
                      <a:r>
                        <a:rPr sz="1875" b="0">
                          <a:solidFill>
                            <a:srgbClr val="152C42"/>
                          </a:solidFill>
                          <a:latin typeface="Arial"/>
                          <a:ea typeface="Arial"/>
                          <a:cs typeface="Arial"/>
                        </a:rPr>
                        <a:t>10</a:t>
                      </a:r>
                    </a:p>
                  </a:txBody>
                  <a:tcPr marL="91440" marR="91440" marT="45720" marB="45720" anchor="ctr">
                    <a:solidFill>
                      <a:srgbClr val="E1F3EF"/>
                    </a:solidFill>
                  </a:tcPr>
                </a:tc>
              </a:tr>
            </a:tbl>
          </a:graphicData>
        </a:graphic>
      </p:graphicFrame>
      <p:sp>
        <p:nvSpPr>
          <p:cNvPr id="6" name="">
            <a:extLst xmlns:a="http://schemas.openxmlformats.org/drawingml/2006/main">
              <a:ext uri="{FF2B5EF4-FFF2-40B4-BE49-F238E27FC236}">
                <a16:creationId xmlns:a16="http://schemas.microsoft.com/office/drawing/2014/main" id="{154D99F9-137E-48D3-8F3F-18914F57E381}"/>
              </a:ext>
            </a:extLst>
          </p:cNvPr>
          <p:cNvSpPr>
            <a:spLocks xmlns:a="http://schemas.openxmlformats.org/drawingml/2006/main" noGrp="1"/>
          </p:cNvSpPr>
          <p:nvPr/>
        </p:nvSpPr>
        <p:spPr>
          <a:xfrm xmlns:a="http://schemas.openxmlformats.org/drawingml/2006/main">
            <a:off x="819150" y="4619625"/>
            <a:ext cx="48291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Arial"/>
                <a:ea typeface="Arial"/>
                <a:cs typeface="Arial"/>
              </a:defRPr>
            </a:pPr>
            <a:r>
              <a:rPr sz="1875" b="1">
                <a:solidFill>
                  <a:srgbClr val="08786F"/>
                </a:solidFill>
                <a:latin typeface="Arial"/>
                <a:ea typeface="Arial"/>
                <a:cs typeface="Arial"/>
              </a:rPr>
              <a:t>C = 120; перевірка дає оптимум</a:t>
            </a:r>
          </a:p>
        </p:txBody>
      </p:sp>
      <p:sp>
        <p:nvSpPr>
          <p:cNvPr id="7" name="">
            <a:extLst xmlns:a="http://schemas.openxmlformats.org/drawingml/2006/main">
              <a:ext uri="{FF2B5EF4-FFF2-40B4-BE49-F238E27FC236}">
                <a16:creationId xmlns:a16="http://schemas.microsoft.com/office/drawing/2014/main" id="{63CA41C7-5959-4827-89B5-31E70F054CEE}"/>
              </a:ext>
            </a:extLst>
          </p:cNvPr>
          <p:cNvSpPr>
            <a:spLocks xmlns:a="http://schemas.openxmlformats.org/drawingml/2006/main" noGrp="1"/>
          </p:cNvSpPr>
          <p:nvPr/>
        </p:nvSpPr>
        <p:spPr>
          <a:xfrm xmlns:a="http://schemas.openxmlformats.org/drawingml/2006/main">
            <a:off x="6477000" y="46196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B74637"/>
                </a:solidFill>
                <a:latin typeface="Arial"/>
                <a:ea typeface="Arial"/>
                <a:cs typeface="Arial"/>
              </a:defRPr>
            </a:pPr>
            <a:r>
              <a:rPr sz="1875" b="1">
                <a:solidFill>
                  <a:srgbClr val="B74637"/>
                </a:solidFill>
                <a:latin typeface="Arial"/>
                <a:ea typeface="Arial"/>
                <a:cs typeface="Arial"/>
              </a:rPr>
              <a:t>C = 200; покажемо поліпшення</a:t>
            </a:r>
          </a:p>
        </p:txBody>
      </p:sp>
      <p:sp>
        <p:nvSpPr>
          <p:cNvPr id="8" name="">
            <a:extLst xmlns:a="http://schemas.openxmlformats.org/drawingml/2006/main">
              <a:ext uri="{FF2B5EF4-FFF2-40B4-BE49-F238E27FC236}">
                <a16:creationId xmlns:a16="http://schemas.microsoft.com/office/drawing/2014/main" id="{1F9B8FCC-2313-49E4-8D9C-DA8CE810953F}"/>
              </a:ext>
            </a:extLst>
          </p:cNvPr>
          <p:cNvSpPr>
            <a:spLocks xmlns:a="http://schemas.openxmlformats.org/drawingml/2006/main" noGrp="1"/>
          </p:cNvSpPr>
          <p:nvPr/>
        </p:nvSpPr>
        <p:spPr>
          <a:xfrm xmlns:a="http://schemas.openxmlformats.org/drawingml/2006/main">
            <a:off x="742950" y="6048375"/>
            <a:ext cx="10687050" cy="523875"/>
          </a:xfrm>
          <a:prstGeom xmlns:a="http://schemas.openxmlformats.org/drawingml/2006/main" prst="rect">
            <a:avLst/>
          </a:prstGeom>
          <a:solidFill xmlns:a="http://schemas.openxmlformats.org/drawingml/2006/main">
            <a:srgbClr val="08786F"/>
          </a:solidFill>
          <a:ln xmlns:a="http://schemas.openxmlformats.org/drawingml/2006/main" w="0">
            <a:solidFill>
              <a:srgbClr val="08786F"/>
            </a:solidFill>
            <a:prstDash val="solid"/>
          </a:ln>
        </p:spPr>
      </p:sp>
      <p:sp>
        <p:nvSpPr>
          <p:cNvPr id="9" name="">
            <a:extLst xmlns:a="http://schemas.openxmlformats.org/drawingml/2006/main">
              <a:ext uri="{FF2B5EF4-FFF2-40B4-BE49-F238E27FC236}">
                <a16:creationId xmlns:a16="http://schemas.microsoft.com/office/drawing/2014/main" id="{B2A0B056-6F99-4A4D-8EB9-10833918BF2C}"/>
              </a:ext>
            </a:extLst>
          </p:cNvPr>
          <p:cNvSpPr>
            <a:spLocks xmlns:a="http://schemas.openxmlformats.org/drawingml/2006/main" noGrp="1"/>
          </p:cNvSpPr>
          <p:nvPr/>
        </p:nvSpPr>
        <p:spPr>
          <a:xfrm xmlns:a="http://schemas.openxmlformats.org/drawingml/2006/main">
            <a:off x="904875" y="61150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Arial"/>
                <a:ea typeface="Arial"/>
                <a:cs typeface="Arial"/>
              </a:defRPr>
            </a:pPr>
            <a:r>
              <a:rPr sz="1725" b="1">
                <a:solidFill>
                  <a:srgbClr val="FFFFFF"/>
                </a:solidFill>
                <a:latin typeface="Arial"/>
                <a:ea typeface="Arial"/>
                <a:cs typeface="Arial"/>
              </a:rPr>
              <a:t>Далі метод потенціалів працює з правою таблицею: 200 → 120.</a:t>
            </a:r>
          </a:p>
        </p:txBody>
      </p:sp>
      <p:sp>
        <p:nvSpPr>
          <p:cNvPr id="17" name="">
            <a:extLst xmlns:a="http://schemas.openxmlformats.org/drawingml/2006/main">
              <a:ext uri="{FF2B5EF4-FFF2-40B4-BE49-F238E27FC236}">
                <a16:creationId xmlns:a16="http://schemas.microsoft.com/office/drawing/2014/main" id="{6162EBB6-67F9-417E-98BB-368519B1DDE5}"/>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52</a:t>
            </a:r>
          </a:p>
        </p:txBody>
      </p:sp>
    </p:spTree>
    <p:extLst>
      <p:ext uri="{BB962C8B-B14F-4D97-AF65-F5344CB8AC3E}">
        <p14:creationId xmlns:p14="http://schemas.microsoft.com/office/powerpoint/2010/main" val="117673564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5C0237-DAE3-41A2-9551-04F17360259A}"/>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Метод потенціалів: з чого почати?</a:t>
            </a:r>
          </a:p>
        </p:txBody>
      </p:sp>
      <p:sp>
        <p:nvSpPr>
          <p:cNvPr id="2" name="">
            <a:extLst xmlns:a="http://schemas.openxmlformats.org/drawingml/2006/main">
              <a:ext uri="{FF2B5EF4-FFF2-40B4-BE49-F238E27FC236}">
                <a16:creationId xmlns:a16="http://schemas.microsoft.com/office/drawing/2014/main" id="{7E0D1AC1-4DB0-4558-8F22-D8270047C35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Задаємо uA=0; решту знаходимо з базисних рівнянь uᵢ+vⱼ=cᵢⱼ.</a:t>
            </a:r>
          </a:p>
        </p:txBody>
      </p:sp>
      <p:graphicFrame>
        <p:nvGraphicFramePr>
          <p:cNvPr id="10" name="">
            <a:extLst xmlns:a="http://schemas.openxmlformats.org/drawingml/2006/main">
              <a:ext uri="{FF2B5EF4-FFF2-40B4-BE49-F238E27FC236}">
                <a16:creationId xmlns:a16="http://schemas.microsoft.com/office/drawing/2014/main" id="{9927814A-3F3D-47FC-B085-515605E89662}"/>
              </a:ext>
            </a:extLst>
          </p:cNvPr>
          <p:cNvGraphicFramePr/>
          <p:nvPr/>
        </p:nvGraphicFramePr>
        <p:xfrm>
          <a:off xmlns:a="http://schemas.openxmlformats.org/drawingml/2006/main" x="762000" y="1647825"/>
          <a:ext xmlns:a="http://schemas.openxmlformats.org/drawingml/2006/main" cx="10668000" cy="3524250"/>
        </p:xfrm>
        <a:graphic xmlns:a="http://schemas.openxmlformats.org/drawingml/2006/main">
          <a:graphicData uri="http://schemas.openxmlformats.org/drawingml/2006/table">
            <a:tbl>
              <a:tblPr/>
              <a:tblGrid>
                <a:gridCol w="2095500"/>
                <a:gridCol w="4476750"/>
                <a:gridCol w="4095750"/>
              </a:tblGrid>
              <a:tr h="704850">
                <a:tc>
                  <a:txBody>
                    <a:bodyPr/>
                    <a:lstStyle/>
                    <a:p>
                      <a:r>
                        <a:rPr sz="2325" b="1">
                          <a:solidFill>
                            <a:srgbClr val="FFFFFF"/>
                          </a:solidFill>
                          <a:latin typeface="Arial"/>
                          <a:ea typeface="Arial"/>
                          <a:cs typeface="Arial"/>
                        </a:rPr>
                        <a:t>Базис</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Рівняння</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Обчислення</a:t>
                      </a:r>
                    </a:p>
                  </a:txBody>
                  <a:tcPr marL="114300" marR="114300" marT="66675" marB="66675" anchor="ctr">
                    <a:solidFill>
                      <a:srgbClr val="173047"/>
                    </a:solidFill>
                  </a:tcPr>
                </a:tc>
              </a:tr>
              <a:tr h="704850">
                <a:tc>
                  <a:txBody>
                    <a:bodyPr/>
                    <a:lstStyle/>
                    <a:p>
                      <a:r>
                        <a:rPr sz="2325">
                          <a:solidFill>
                            <a:srgbClr val="173047"/>
                          </a:solidFill>
                          <a:latin typeface="Arial"/>
                          <a:ea typeface="Arial"/>
                          <a:cs typeface="Arial"/>
                        </a:rPr>
                        <a:t>AQ</a:t>
                      </a:r>
                    </a:p>
                  </a:txBody>
                  <a:tcPr marL="114300" marR="114300" marT="66675" marB="66675" anchor="ctr">
                    <a:solidFill>
                      <a:srgbClr val="FFFFFF"/>
                    </a:solidFill>
                  </a:tcPr>
                </a:tc>
                <a:tc>
                  <a:txBody>
                    <a:bodyPr/>
                    <a:lstStyle/>
                    <a:p>
                      <a:r>
                        <a:rPr sz="2325">
                          <a:solidFill>
                            <a:srgbClr val="173047"/>
                          </a:solidFill>
                          <a:latin typeface="Arial"/>
                          <a:ea typeface="Arial"/>
                          <a:cs typeface="Arial"/>
                        </a:rPr>
                        <a:t>uA+vQ=4</a:t>
                      </a:r>
                    </a:p>
                  </a:txBody>
                  <a:tcPr marL="114300" marR="114300" marT="66675" marB="66675" anchor="ctr">
                    <a:solidFill>
                      <a:srgbClr val="FFFFFF"/>
                    </a:solidFill>
                  </a:tcPr>
                </a:tc>
                <a:tc>
                  <a:txBody>
                    <a:bodyPr/>
                    <a:lstStyle/>
                    <a:p>
                      <a:r>
                        <a:rPr sz="2325">
                          <a:solidFill>
                            <a:srgbClr val="173047"/>
                          </a:solidFill>
                          <a:latin typeface="Arial"/>
                          <a:ea typeface="Arial"/>
                          <a:cs typeface="Arial"/>
                        </a:rPr>
                        <a:t>vQ=4</a:t>
                      </a:r>
                    </a:p>
                  </a:txBody>
                  <a:tcPr marL="114300" marR="114300" marT="66675" marB="66675" anchor="ctr">
                    <a:solidFill>
                      <a:srgbClr val="FFFFFF"/>
                    </a:solidFill>
                  </a:tcPr>
                </a:tc>
              </a:tr>
              <a:tr h="704850">
                <a:tc>
                  <a:txBody>
                    <a:bodyPr/>
                    <a:lstStyle/>
                    <a:p>
                      <a:r>
                        <a:rPr sz="2325">
                          <a:solidFill>
                            <a:srgbClr val="173047"/>
                          </a:solidFill>
                          <a:latin typeface="Arial"/>
                          <a:ea typeface="Arial"/>
                          <a:cs typeface="Arial"/>
                        </a:rPr>
                        <a:t>AR</a:t>
                      </a:r>
                    </a:p>
                  </a:txBody>
                  <a:tcPr marL="114300" marR="114300" marT="66675" marB="66675" anchor="ctr">
                    <a:solidFill>
                      <a:srgbClr val="FFFFFF"/>
                    </a:solidFill>
                  </a:tcPr>
                </a:tc>
                <a:tc>
                  <a:txBody>
                    <a:bodyPr/>
                    <a:lstStyle/>
                    <a:p>
                      <a:r>
                        <a:rPr sz="2325">
                          <a:solidFill>
                            <a:srgbClr val="173047"/>
                          </a:solidFill>
                          <a:latin typeface="Arial"/>
                          <a:ea typeface="Arial"/>
                          <a:cs typeface="Arial"/>
                        </a:rPr>
                        <a:t>uA+vR=5</a:t>
                      </a:r>
                    </a:p>
                  </a:txBody>
                  <a:tcPr marL="114300" marR="114300" marT="66675" marB="66675" anchor="ctr">
                    <a:solidFill>
                      <a:srgbClr val="FFFFFF"/>
                    </a:solidFill>
                  </a:tcPr>
                </a:tc>
                <a:tc>
                  <a:txBody>
                    <a:bodyPr/>
                    <a:lstStyle/>
                    <a:p>
                      <a:r>
                        <a:rPr sz="2325">
                          <a:solidFill>
                            <a:srgbClr val="173047"/>
                          </a:solidFill>
                          <a:latin typeface="Arial"/>
                          <a:ea typeface="Arial"/>
                          <a:cs typeface="Arial"/>
                        </a:rPr>
                        <a:t>vR=5</a:t>
                      </a:r>
                    </a:p>
                  </a:txBody>
                  <a:tcPr marL="114300" marR="114300" marT="66675" marB="66675" anchor="ctr">
                    <a:solidFill>
                      <a:srgbClr val="FFFFFF"/>
                    </a:solidFill>
                  </a:tcPr>
                </a:tc>
              </a:tr>
              <a:tr h="704850">
                <a:tc>
                  <a:txBody>
                    <a:bodyPr/>
                    <a:lstStyle/>
                    <a:p>
                      <a:r>
                        <a:rPr sz="2325">
                          <a:solidFill>
                            <a:srgbClr val="173047"/>
                          </a:solidFill>
                          <a:latin typeface="Arial"/>
                          <a:ea typeface="Arial"/>
                          <a:cs typeface="Arial"/>
                        </a:rPr>
                        <a:t>BR</a:t>
                      </a:r>
                    </a:p>
                  </a:txBody>
                  <a:tcPr marL="114300" marR="114300" marT="66675" marB="66675" anchor="ctr">
                    <a:solidFill>
                      <a:srgbClr val="FFFFFF"/>
                    </a:solidFill>
                  </a:tcPr>
                </a:tc>
                <a:tc>
                  <a:txBody>
                    <a:bodyPr/>
                    <a:lstStyle/>
                    <a:p>
                      <a:r>
                        <a:rPr sz="2325">
                          <a:solidFill>
                            <a:srgbClr val="173047"/>
                          </a:solidFill>
                          <a:latin typeface="Arial"/>
                          <a:ea typeface="Arial"/>
                          <a:cs typeface="Arial"/>
                        </a:rPr>
                        <a:t>uB+vR=1</a:t>
                      </a:r>
                    </a:p>
                  </a:txBody>
                  <a:tcPr marL="114300" marR="114300" marT="66675" marB="66675" anchor="ctr">
                    <a:solidFill>
                      <a:srgbClr val="FFFFFF"/>
                    </a:solidFill>
                  </a:tcPr>
                </a:tc>
                <a:tc>
                  <a:txBody>
                    <a:bodyPr/>
                    <a:lstStyle/>
                    <a:p>
                      <a:r>
                        <a:rPr sz="2325">
                          <a:solidFill>
                            <a:srgbClr val="173047"/>
                          </a:solidFill>
                          <a:latin typeface="Arial"/>
                          <a:ea typeface="Arial"/>
                          <a:cs typeface="Arial"/>
                        </a:rPr>
                        <a:t>uB=1−5=−4</a:t>
                      </a:r>
                    </a:p>
                  </a:txBody>
                  <a:tcPr marL="114300" marR="114300" marT="66675" marB="66675" anchor="ctr">
                    <a:solidFill>
                      <a:srgbClr val="FFFFFF"/>
                    </a:solidFill>
                  </a:tcPr>
                </a:tc>
              </a:tr>
              <a:tr h="704850">
                <a:tc>
                  <a:txBody>
                    <a:bodyPr/>
                    <a:lstStyle/>
                    <a:p>
                      <a:r>
                        <a:rPr sz="2325">
                          <a:solidFill>
                            <a:srgbClr val="173047"/>
                          </a:solidFill>
                          <a:latin typeface="Arial"/>
                          <a:ea typeface="Arial"/>
                          <a:cs typeface="Arial"/>
                        </a:rPr>
                        <a:t>BP</a:t>
                      </a:r>
                    </a:p>
                  </a:txBody>
                  <a:tcPr marL="114300" marR="114300" marT="66675" marB="66675" anchor="ctr">
                    <a:solidFill>
                      <a:srgbClr val="FFFFFF"/>
                    </a:solidFill>
                  </a:tcPr>
                </a:tc>
                <a:tc>
                  <a:txBody>
                    <a:bodyPr/>
                    <a:lstStyle/>
                    <a:p>
                      <a:r>
                        <a:rPr sz="2325">
                          <a:solidFill>
                            <a:srgbClr val="173047"/>
                          </a:solidFill>
                          <a:latin typeface="Arial"/>
                          <a:ea typeface="Arial"/>
                          <a:cs typeface="Arial"/>
                        </a:rPr>
                        <a:t>uB+vP=6</a:t>
                      </a:r>
                    </a:p>
                  </a:txBody>
                  <a:tcPr marL="114300" marR="114300" marT="66675" marB="66675" anchor="ctr">
                    <a:solidFill>
                      <a:srgbClr val="FFFFFF"/>
                    </a:solidFill>
                  </a:tcPr>
                </a:tc>
                <a:tc>
                  <a:txBody>
                    <a:bodyPr/>
                    <a:lstStyle/>
                    <a:p>
                      <a:r>
                        <a:rPr sz="2325">
                          <a:solidFill>
                            <a:srgbClr val="173047"/>
                          </a:solidFill>
                          <a:latin typeface="Arial"/>
                          <a:ea typeface="Arial"/>
                          <a:cs typeface="Arial"/>
                        </a:rPr>
                        <a:t>vP=6−(−4)=10</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AB767AB-CAFE-4E2D-9D4F-60FCAB77634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53</a:t>
            </a:r>
          </a:p>
        </p:txBody>
      </p:sp>
    </p:spTree>
    <p:extLst>
      <p:ext uri="{BB962C8B-B14F-4D97-AF65-F5344CB8AC3E}">
        <p14:creationId xmlns:p14="http://schemas.microsoft.com/office/powerpoint/2010/main" val="8683253"/>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FC706B-3B72-4ED4-B903-7108480BED6C}"/>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Перевірте себе: який маршрут поліпшує план?</a:t>
            </a:r>
          </a:p>
        </p:txBody>
      </p:sp>
      <p:sp>
        <p:nvSpPr>
          <p:cNvPr id="2" name="">
            <a:extLst xmlns:a="http://schemas.openxmlformats.org/drawingml/2006/main">
              <a:ext uri="{FF2B5EF4-FFF2-40B4-BE49-F238E27FC236}">
                <a16:creationId xmlns:a16="http://schemas.microsoft.com/office/drawing/2014/main" id="{826E48E8-5160-4188-82DF-7C693ECDFA6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Обґрунтуйте вибір знаком Δ. Як зміниться сумарна вартість?</a:t>
            </a:r>
          </a:p>
        </p:txBody>
      </p:sp>
      <p:sp>
        <p:nvSpPr>
          <p:cNvPr id="3" name="">
            <a:extLst xmlns:a="http://schemas.openxmlformats.org/drawingml/2006/main">
              <a:ext uri="{FF2B5EF4-FFF2-40B4-BE49-F238E27FC236}">
                <a16:creationId xmlns:a16="http://schemas.microsoft.com/office/drawing/2014/main" id="{DE1533B9-5F4B-4C06-A783-36A406F2CFD5}"/>
              </a:ext>
            </a:extLst>
          </p:cNvPr>
          <p:cNvSpPr>
            <a:spLocks xmlns:a="http://schemas.openxmlformats.org/drawingml/2006/main" noGrp="1"/>
          </p:cNvSpPr>
          <p:nvPr/>
        </p:nvSpPr>
        <p:spPr>
          <a:xfrm xmlns:a="http://schemas.openxmlformats.org/drawingml/2006/main">
            <a:off x="857250" y="1647825"/>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ΔAP=2−0−10=−8</a:t>
            </a:r>
          </a:p>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ΔBQ=3−(−4)−4=3</a:t>
            </a:r>
          </a:p>
          <a:p xmlns:a="http://schemas.openxmlformats.org/drawingml/2006/main">
            <a:r>
              <a:t/>
            </a:r>
          </a:p>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Яку клітинку вводимо? Чому?</a:t>
            </a:r>
          </a:p>
        </p:txBody>
      </p:sp>
      <p:sp>
        <p:nvSpPr>
          <p:cNvPr id="6" name="">
            <a:extLst xmlns:a="http://schemas.openxmlformats.org/drawingml/2006/main">
              <a:ext uri="{FF2B5EF4-FFF2-40B4-BE49-F238E27FC236}">
                <a16:creationId xmlns:a16="http://schemas.microsoft.com/office/drawing/2014/main" id="{21F38393-2F39-40B5-A531-861DDACE2FC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54</a:t>
            </a:r>
          </a:p>
        </p:txBody>
      </p:sp>
    </p:spTree>
    <p:extLst>
      <p:ext uri="{BB962C8B-B14F-4D97-AF65-F5344CB8AC3E}">
        <p14:creationId xmlns:p14="http://schemas.microsoft.com/office/powerpoint/2010/main" val="70173169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348F6A-2B37-4F1C-B4E4-1DD44477E5F6}"/>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Потенціали: чому вводимо маршрут AP</a:t>
            </a:r>
          </a:p>
        </p:txBody>
      </p:sp>
      <p:sp>
        <p:nvSpPr>
          <p:cNvPr id="2" name="">
            <a:extLst xmlns:a="http://schemas.openxmlformats.org/drawingml/2006/main">
              <a:ext uri="{FF2B5EF4-FFF2-40B4-BE49-F238E27FC236}">
                <a16:creationId xmlns:a16="http://schemas.microsoft.com/office/drawing/2014/main" id="{0692BCFA-39E1-48EE-89C3-D5380A7AD3F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ΔAP=−8. Після вибору клітинки будуємо цикл і визначаємо крок θ.</a:t>
            </a:r>
          </a:p>
        </p:txBody>
      </p:sp>
      <p:sp>
        <p:nvSpPr>
          <p:cNvPr id="3" name="">
            <a:extLst xmlns:a="http://schemas.openxmlformats.org/drawingml/2006/main">
              <a:ext uri="{FF2B5EF4-FFF2-40B4-BE49-F238E27FC236}">
                <a16:creationId xmlns:a16="http://schemas.microsoft.com/office/drawing/2014/main" id="{59B7F1BB-76D3-4C19-A1A6-C71F77663061}"/>
              </a:ext>
            </a:extLst>
          </p:cNvPr>
          <p:cNvSpPr>
            <a:spLocks xmlns:a="http://schemas.openxmlformats.org/drawingml/2006/main" noGrp="1"/>
          </p:cNvSpPr>
          <p:nvPr/>
        </p:nvSpPr>
        <p:spPr>
          <a:xfrm xmlns:a="http://schemas.openxmlformats.org/drawingml/2006/main">
            <a:off x="762000" y="13144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На базисних клітинках: uᵢ+vⱼ=cᵢⱼ</a:t>
            </a:r>
          </a:p>
        </p:txBody>
      </p:sp>
      <p:graphicFrame>
        <p:nvGraphicFramePr>
          <p:cNvPr id="10" name="">
            <a:extLst xmlns:a="http://schemas.openxmlformats.org/drawingml/2006/main">
              <a:ext uri="{FF2B5EF4-FFF2-40B4-BE49-F238E27FC236}">
                <a16:creationId xmlns:a16="http://schemas.microsoft.com/office/drawing/2014/main" id="{4022CDE0-564E-4C63-9C50-FE0568689608}"/>
              </a:ext>
            </a:extLst>
          </p:cNvPr>
          <p:cNvGraphicFramePr/>
          <p:nvPr/>
        </p:nvGraphicFramePr>
        <p:xfrm>
          <a:off xmlns:a="http://schemas.openxmlformats.org/drawingml/2006/main" x="762000" y="1952625"/>
          <a:ext xmlns:a="http://schemas.openxmlformats.org/drawingml/2006/main" cx="10668000" cy="2714625"/>
        </p:xfrm>
        <a:graphic xmlns:a="http://schemas.openxmlformats.org/drawingml/2006/main">
          <a:graphicData uri="http://schemas.openxmlformats.org/drawingml/2006/table">
            <a:tbl>
              <a:tblPr/>
              <a:tblGrid>
                <a:gridCol w="2133600"/>
                <a:gridCol w="2133600"/>
                <a:gridCol w="2133600"/>
                <a:gridCol w="2133600"/>
                <a:gridCol w="2133600"/>
              </a:tblGrid>
              <a:tr h="904875">
                <a:tc>
                  <a:txBody>
                    <a:bodyPr/>
                    <a:lstStyle/>
                    <a:p>
                      <a:r>
                        <a:rPr sz="2325" b="1">
                          <a:solidFill>
                            <a:srgbClr val="FFFFFF"/>
                          </a:solidFill>
                          <a:latin typeface="Arial"/>
                          <a:ea typeface="Arial"/>
                          <a:cs typeface="Arial"/>
                        </a:rPr>
                        <a:t>Джерело</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P: v=10</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Q: v=4</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R: v=5</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u</a:t>
                      </a:r>
                    </a:p>
                  </a:txBody>
                  <a:tcPr marL="114300" marR="114300" marT="66675" marB="66675" anchor="ctr">
                    <a:solidFill>
                      <a:srgbClr val="173047"/>
                    </a:solidFill>
                  </a:tcPr>
                </a:tc>
              </a:tr>
              <a:tr h="904875">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pPr algn="ctr">
                        <a:buNone/>
                      </a:pPr>
                      <a:r>
                        <a:rPr sz="2400" b="1">
                          <a:solidFill>
                            <a:srgbClr val="B64436"/>
                          </a:solidFill>
                          <a:latin typeface="Arial"/>
                          <a:ea typeface="Arial"/>
                          <a:cs typeface="Arial"/>
                        </a:rPr>
                        <a:t>c=2</a:t>
                      </a:r>
                    </a:p>
                    <a:p>
                      <a:pPr algn="ctr">
                        <a:buNone/>
                      </a:pPr>
                      <a:r>
                        <a:rPr sz="2400" b="1">
                          <a:solidFill>
                            <a:srgbClr val="B64436"/>
                          </a:solidFill>
                          <a:latin typeface="Arial"/>
                          <a:ea typeface="Arial"/>
                          <a:cs typeface="Arial"/>
                        </a:rPr>
                        <a:t>Δ=−8</a:t>
                      </a:r>
                    </a:p>
                  </a:txBody>
                  <a:tcPr marL="114300" marR="114300" marT="66675" marB="66675" anchor="ctr">
                    <a:solidFill>
                      <a:srgbClr val="F9E3DE"/>
                    </a:solidFill>
                  </a:tcPr>
                </a:tc>
                <a:tc>
                  <a:txBody>
                    <a:bodyPr/>
                    <a:lstStyle/>
                    <a:p>
                      <a:pPr algn="ctr">
                        <a:buNone/>
                      </a:pPr>
                      <a:r>
                        <a:rPr sz="2325">
                          <a:solidFill>
                            <a:srgbClr val="173047"/>
                          </a:solidFill>
                          <a:latin typeface="Arial"/>
                          <a:ea typeface="Arial"/>
                          <a:cs typeface="Arial"/>
                        </a:rPr>
                        <a:t>x=20</a:t>
                      </a:r>
                    </a:p>
                    <a:p>
                      <a:pPr algn="ctr">
                        <a:buNone/>
                      </a:pPr>
                      <a:r>
                        <a:rPr sz="2325">
                          <a:solidFill>
                            <a:srgbClr val="173047"/>
                          </a:solidFill>
                          <a:latin typeface="Arial"/>
                          <a:ea typeface="Arial"/>
                          <a:cs typeface="Arial"/>
                        </a:rPr>
                        <a:t>c=4</a:t>
                      </a:r>
                    </a:p>
                  </a:txBody>
                  <a:tcPr marL="114300" marR="114300" marT="66675" marB="66675" anchor="ctr">
                    <a:solidFill>
                      <a:srgbClr val="FFFFFF"/>
                    </a:solidFill>
                  </a:tcPr>
                </a:tc>
                <a:tc>
                  <a:txBody>
                    <a:bodyPr/>
                    <a:lstStyle/>
                    <a:p>
                      <a:pPr algn="ctr">
                        <a:buNone/>
                      </a:pPr>
                      <a:r>
                        <a:rPr sz="2325">
                          <a:solidFill>
                            <a:srgbClr val="173047"/>
                          </a:solidFill>
                          <a:latin typeface="Arial"/>
                          <a:ea typeface="Arial"/>
                          <a:cs typeface="Arial"/>
                        </a:rPr>
                        <a:t>x=10</a:t>
                      </a:r>
                    </a:p>
                    <a:p>
                      <a:pPr algn="ctr">
                        <a:buNone/>
                      </a:pPr>
                      <a:r>
                        <a:rPr sz="2325">
                          <a:solidFill>
                            <a:srgbClr val="173047"/>
                          </a:solidFill>
                          <a:latin typeface="Arial"/>
                          <a:ea typeface="Arial"/>
                          <a:cs typeface="Arial"/>
                        </a:rPr>
                        <a:t>c=5</a:t>
                      </a:r>
                    </a:p>
                  </a:txBody>
                  <a:tcPr marL="114300" marR="114300" marT="66675" marB="66675" anchor="ctr">
                    <a:solidFill>
                      <a:srgbClr val="FFFFFF"/>
                    </a:solidFill>
                  </a:tcPr>
                </a:tc>
                <a:tc>
                  <a:txBody>
                    <a:bodyPr/>
                    <a:lstStyle/>
                    <a:p>
                      <a:pPr algn="ctr">
                        <a:buNone/>
                      </a:pPr>
                      <a:r>
                        <a:rPr sz="2325">
                          <a:solidFill>
                            <a:srgbClr val="173047"/>
                          </a:solidFill>
                          <a:latin typeface="Arial"/>
                          <a:ea typeface="Arial"/>
                          <a:cs typeface="Arial"/>
                        </a:rPr>
                        <a:t>0</a:t>
                      </a:r>
                    </a:p>
                  </a:txBody>
                  <a:tcPr marL="114300" marR="114300" marT="66675" marB="66675" anchor="ctr">
                    <a:solidFill>
                      <a:srgbClr val="FFFFFF"/>
                    </a:solidFill>
                  </a:tcPr>
                </a:tc>
              </a:tr>
              <a:tr h="904875">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pPr algn="ctr">
                        <a:buNone/>
                      </a:pPr>
                      <a:r>
                        <a:rPr sz="2325">
                          <a:solidFill>
                            <a:srgbClr val="173047"/>
                          </a:solidFill>
                          <a:latin typeface="Arial"/>
                          <a:ea typeface="Arial"/>
                          <a:cs typeface="Arial"/>
                        </a:rPr>
                        <a:t>x=10</a:t>
                      </a:r>
                    </a:p>
                    <a:p>
                      <a:pPr algn="ctr">
                        <a:buNone/>
                      </a:pPr>
                      <a:r>
                        <a:rPr sz="2325">
                          <a:solidFill>
                            <a:srgbClr val="173047"/>
                          </a:solidFill>
                          <a:latin typeface="Arial"/>
                          <a:ea typeface="Arial"/>
                          <a:cs typeface="Arial"/>
                        </a:rPr>
                        <a:t>c=6</a:t>
                      </a:r>
                    </a:p>
                  </a:txBody>
                  <a:tcPr marL="114300" marR="114300" marT="66675" marB="66675" anchor="ctr">
                    <a:solidFill>
                      <a:srgbClr val="FFFFFF"/>
                    </a:solidFill>
                  </a:tcPr>
                </a:tc>
                <a:tc>
                  <a:txBody>
                    <a:bodyPr/>
                    <a:lstStyle/>
                    <a:p>
                      <a:pPr algn="ctr">
                        <a:buNone/>
                      </a:pPr>
                      <a:r>
                        <a:rPr sz="2325">
                          <a:solidFill>
                            <a:srgbClr val="173047"/>
                          </a:solidFill>
                          <a:latin typeface="Arial"/>
                          <a:ea typeface="Arial"/>
                          <a:cs typeface="Arial"/>
                        </a:rPr>
                        <a:t>c=3</a:t>
                      </a:r>
                    </a:p>
                    <a:p>
                      <a:pPr algn="ctr">
                        <a:buNone/>
                      </a:pPr>
                      <a:r>
                        <a:rPr sz="2325">
                          <a:solidFill>
                            <a:srgbClr val="173047"/>
                          </a:solidFill>
                          <a:latin typeface="Arial"/>
                          <a:ea typeface="Arial"/>
                          <a:cs typeface="Arial"/>
                        </a:rPr>
                        <a:t>Δ=3</a:t>
                      </a:r>
                    </a:p>
                  </a:txBody>
                  <a:tcPr marL="114300" marR="114300" marT="66675" marB="66675" anchor="ctr">
                    <a:solidFill>
                      <a:srgbClr val="FFFFFF"/>
                    </a:solidFill>
                  </a:tcPr>
                </a:tc>
                <a:tc>
                  <a:txBody>
                    <a:bodyPr/>
                    <a:lstStyle/>
                    <a:p>
                      <a:pPr algn="ctr">
                        <a:buNone/>
                      </a:pPr>
                      <a:r>
                        <a:rPr sz="2325">
                          <a:solidFill>
                            <a:srgbClr val="173047"/>
                          </a:solidFill>
                          <a:latin typeface="Arial"/>
                          <a:ea typeface="Arial"/>
                          <a:cs typeface="Arial"/>
                        </a:rPr>
                        <a:t>x=10</a:t>
                      </a:r>
                    </a:p>
                    <a:p>
                      <a:pPr algn="ctr">
                        <a:buNone/>
                      </a:pPr>
                      <a:r>
                        <a:rPr sz="2325">
                          <a:solidFill>
                            <a:srgbClr val="173047"/>
                          </a:solidFill>
                          <a:latin typeface="Arial"/>
                          <a:ea typeface="Arial"/>
                          <a:cs typeface="Arial"/>
                        </a:rPr>
                        <a:t>c=1</a:t>
                      </a:r>
                    </a:p>
                  </a:txBody>
                  <a:tcPr marL="114300" marR="114300" marT="66675" marB="66675" anchor="ctr">
                    <a:solidFill>
                      <a:srgbClr val="FFFFFF"/>
                    </a:solidFill>
                  </a:tcPr>
                </a:tc>
                <a:tc>
                  <a:txBody>
                    <a:bodyPr/>
                    <a:lstStyle/>
                    <a:p>
                      <a:pPr algn="ctr">
                        <a:buNone/>
                      </a:pPr>
                      <a:r>
                        <a:rPr sz="2325">
                          <a:solidFill>
                            <a:srgbClr val="173047"/>
                          </a:solidFill>
                          <a:latin typeface="Arial"/>
                          <a:ea typeface="Arial"/>
                          <a:cs typeface="Arial"/>
                        </a:rPr>
                        <a:t>−4</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12CE1AB-B86C-4983-8977-986252B2A932}"/>
              </a:ext>
            </a:extLst>
          </p:cNvPr>
          <p:cNvSpPr>
            <a:spLocks xmlns:a="http://schemas.openxmlformats.org/drawingml/2006/main" noGrp="1"/>
          </p:cNvSpPr>
          <p:nvPr/>
        </p:nvSpPr>
        <p:spPr>
          <a:xfrm xmlns:a="http://schemas.openxmlformats.org/drawingml/2006/main">
            <a:off x="762000" y="48577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ΔAP = cAP − uA − vP = 2 − 0 − 10 = −8</a:t>
            </a:r>
          </a:p>
          <a:p xmlns:a="http://schemas.openxmlformats.org/drawingml/2006/main">
            <a:pPr algn="l">
              <a:buNone/>
              <a:defRPr sz="2325" b="0">
                <a:solidFill>
                  <a:srgbClr val="173047"/>
                </a:solidFill>
                <a:latin typeface="Arial"/>
                <a:ea typeface="Arial"/>
                <a:cs typeface="Arial"/>
              </a:defRPr>
            </a:pPr>
            <a:r>
              <a:rPr sz="2325" b="0">
                <a:solidFill>
                  <a:srgbClr val="173047"/>
                </a:solidFill>
                <a:latin typeface="Arial"/>
                <a:ea typeface="Arial"/>
                <a:cs typeface="Arial"/>
              </a:rPr>
              <a:t>Одиниця перерозподілу зменшує вартість на 8.</a:t>
            </a:r>
          </a:p>
        </p:txBody>
      </p:sp>
      <p:sp>
        <p:nvSpPr>
          <p:cNvPr id="6" name="">
            <a:extLst xmlns:a="http://schemas.openxmlformats.org/drawingml/2006/main">
              <a:ext uri="{FF2B5EF4-FFF2-40B4-BE49-F238E27FC236}">
                <a16:creationId xmlns:a16="http://schemas.microsoft.com/office/drawing/2014/main" id="{B80821A9-2959-474C-80C1-CA0BD27372E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55</a:t>
            </a:r>
          </a:p>
        </p:txBody>
      </p:sp>
    </p:spTree>
    <p:extLst>
      <p:ext uri="{BB962C8B-B14F-4D97-AF65-F5344CB8AC3E}">
        <p14:creationId xmlns:p14="http://schemas.microsoft.com/office/powerpoint/2010/main" val="12294602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A25B64D-66D1-42E8-B661-E6AF764CC4F4}"/>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ТЗЛП: оцінки маршрутів і цикл</a:t>
            </a:r>
          </a:p>
        </p:txBody>
      </p:sp>
      <p:sp>
        <p:nvSpPr>
          <p:cNvPr id="3" name="">
            <a:extLst xmlns:a="http://schemas.openxmlformats.org/drawingml/2006/main">
              <a:ext uri="{FF2B5EF4-FFF2-40B4-BE49-F238E27FC236}">
                <a16:creationId xmlns:a16="http://schemas.microsoft.com/office/drawing/2014/main" id="{5114B224-49C7-4FC1-B9E8-9BCCC4381A26}"/>
              </a:ext>
            </a:extLst>
          </p:cNvPr>
          <p:cNvSpPr>
            <a:spLocks xmlns:a="http://schemas.openxmlformats.org/drawingml/2006/main" noGrp="1"/>
          </p:cNvSpPr>
          <p:nvPr/>
        </p:nvSpPr>
        <p:spPr>
          <a:xfrm xmlns:a="http://schemas.openxmlformats.org/drawingml/2006/main">
            <a:off x="742950" y="1638300"/>
            <a:ext cx="3181350" cy="8286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AAD7196D-9A6A-4FAC-A74E-A4A99BC2ED88}"/>
              </a:ext>
            </a:extLst>
          </p:cNvPr>
          <p:cNvSpPr>
            <a:spLocks xmlns:a="http://schemas.openxmlformats.org/drawingml/2006/main" noGrp="1"/>
          </p:cNvSpPr>
          <p:nvPr/>
        </p:nvSpPr>
        <p:spPr>
          <a:xfrm xmlns:a="http://schemas.openxmlformats.org/drawingml/2006/main">
            <a:off x="838200" y="1714500"/>
            <a:ext cx="2990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FFFFF"/>
                </a:solidFill>
                <a:latin typeface="DejaVu Sans"/>
                <a:ea typeface="DejaVu Sans"/>
                <a:cs typeface="DejaVu Sans"/>
              </a:defRPr>
            </a:pPr>
            <a:r>
              <a:rPr sz="1800" b="1">
                <a:solidFill>
                  <a:srgbClr val="FFFFFF"/>
                </a:solidFill>
                <a:latin typeface="Arial"/>
                <a:ea typeface="Arial"/>
                <a:cs typeface="Arial"/>
              </a:rPr>
              <a:t>Вільний маршрут</a:t>
            </a:r>
          </a:p>
        </p:txBody>
      </p:sp>
      <p:sp>
        <p:nvSpPr>
          <p:cNvPr id="5" name="">
            <a:extLst xmlns:a="http://schemas.openxmlformats.org/drawingml/2006/main">
              <a:ext uri="{FF2B5EF4-FFF2-40B4-BE49-F238E27FC236}">
                <a16:creationId xmlns:a16="http://schemas.microsoft.com/office/drawing/2014/main" id="{8C8B84F5-28BA-4B30-9B55-008E8AB5EE16}"/>
              </a:ext>
            </a:extLst>
          </p:cNvPr>
          <p:cNvSpPr>
            <a:spLocks xmlns:a="http://schemas.openxmlformats.org/drawingml/2006/main" noGrp="1"/>
          </p:cNvSpPr>
          <p:nvPr/>
        </p:nvSpPr>
        <p:spPr>
          <a:xfrm xmlns:a="http://schemas.openxmlformats.org/drawingml/2006/main">
            <a:off x="3924300" y="1638300"/>
            <a:ext cx="3743325" cy="8286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3011C467-EC2A-4EB7-A757-71D0962F1EBE}"/>
              </a:ext>
            </a:extLst>
          </p:cNvPr>
          <p:cNvSpPr>
            <a:spLocks xmlns:a="http://schemas.openxmlformats.org/drawingml/2006/main" noGrp="1"/>
          </p:cNvSpPr>
          <p:nvPr/>
        </p:nvSpPr>
        <p:spPr>
          <a:xfrm xmlns:a="http://schemas.openxmlformats.org/drawingml/2006/main">
            <a:off x="4019550" y="1714500"/>
            <a:ext cx="3552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FFFFF"/>
                </a:solidFill>
                <a:latin typeface="DejaVu Sans"/>
                <a:ea typeface="DejaVu Sans"/>
                <a:cs typeface="DejaVu Sans"/>
              </a:defRPr>
            </a:pPr>
            <a:r>
              <a:rPr sz="1800" b="1">
                <a:solidFill>
                  <a:srgbClr val="FFFFFF"/>
                </a:solidFill>
                <a:latin typeface="Arial"/>
                <a:ea typeface="Arial"/>
                <a:cs typeface="Arial"/>
              </a:rPr>
              <a:t>Розрахунок Δ</a:t>
            </a:r>
          </a:p>
        </p:txBody>
      </p:sp>
      <p:sp>
        <p:nvSpPr>
          <p:cNvPr id="7" name="">
            <a:extLst xmlns:a="http://schemas.openxmlformats.org/drawingml/2006/main">
              <a:ext uri="{FF2B5EF4-FFF2-40B4-BE49-F238E27FC236}">
                <a16:creationId xmlns:a16="http://schemas.microsoft.com/office/drawing/2014/main" id="{9477B9BE-4267-4A2A-8A22-AE2E531526D8}"/>
              </a:ext>
            </a:extLst>
          </p:cNvPr>
          <p:cNvSpPr>
            <a:spLocks xmlns:a="http://schemas.openxmlformats.org/drawingml/2006/main" noGrp="1"/>
          </p:cNvSpPr>
          <p:nvPr/>
        </p:nvSpPr>
        <p:spPr>
          <a:xfrm xmlns:a="http://schemas.openxmlformats.org/drawingml/2006/main">
            <a:off x="7667625" y="1638300"/>
            <a:ext cx="3781425" cy="8286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DAD83185-A87F-476E-BBAF-F1A1D49273E0}"/>
              </a:ext>
            </a:extLst>
          </p:cNvPr>
          <p:cNvSpPr>
            <a:spLocks xmlns:a="http://schemas.openxmlformats.org/drawingml/2006/main" noGrp="1"/>
          </p:cNvSpPr>
          <p:nvPr/>
        </p:nvSpPr>
        <p:spPr>
          <a:xfrm xmlns:a="http://schemas.openxmlformats.org/drawingml/2006/main">
            <a:off x="7762875" y="1714500"/>
            <a:ext cx="35909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FFFFF"/>
                </a:solidFill>
                <a:latin typeface="DejaVu Sans"/>
                <a:ea typeface="DejaVu Sans"/>
                <a:cs typeface="DejaVu Sans"/>
              </a:defRPr>
            </a:pPr>
            <a:r>
              <a:rPr sz="1800" b="1">
                <a:solidFill>
                  <a:srgbClr val="FFFFFF"/>
                </a:solidFill>
                <a:latin typeface="Arial"/>
                <a:ea typeface="Arial"/>
                <a:cs typeface="Arial"/>
              </a:rPr>
              <a:t>Висновок</a:t>
            </a:r>
          </a:p>
        </p:txBody>
      </p:sp>
      <p:sp>
        <p:nvSpPr>
          <p:cNvPr id="9" name="">
            <a:extLst xmlns:a="http://schemas.openxmlformats.org/drawingml/2006/main">
              <a:ext uri="{FF2B5EF4-FFF2-40B4-BE49-F238E27FC236}">
                <a16:creationId xmlns:a16="http://schemas.microsoft.com/office/drawing/2014/main" id="{4F1E1767-67BD-454A-94FB-FFEA051D1A88}"/>
              </a:ext>
            </a:extLst>
          </p:cNvPr>
          <p:cNvSpPr>
            <a:spLocks xmlns:a="http://schemas.openxmlformats.org/drawingml/2006/main" noGrp="1"/>
          </p:cNvSpPr>
          <p:nvPr/>
        </p:nvSpPr>
        <p:spPr>
          <a:xfrm xmlns:a="http://schemas.openxmlformats.org/drawingml/2006/main">
            <a:off x="742950" y="2466975"/>
            <a:ext cx="3181350"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5E673F87-BC73-467F-8BE8-493B73167564}"/>
              </a:ext>
            </a:extLst>
          </p:cNvPr>
          <p:cNvSpPr>
            <a:spLocks xmlns:a="http://schemas.openxmlformats.org/drawingml/2006/main" noGrp="1"/>
          </p:cNvSpPr>
          <p:nvPr/>
        </p:nvSpPr>
        <p:spPr>
          <a:xfrm xmlns:a="http://schemas.openxmlformats.org/drawingml/2006/main">
            <a:off x="838200" y="2543175"/>
            <a:ext cx="2990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AP</a:t>
            </a:r>
          </a:p>
        </p:txBody>
      </p:sp>
      <p:sp>
        <p:nvSpPr>
          <p:cNvPr id="11" name="">
            <a:extLst xmlns:a="http://schemas.openxmlformats.org/drawingml/2006/main">
              <a:ext uri="{FF2B5EF4-FFF2-40B4-BE49-F238E27FC236}">
                <a16:creationId xmlns:a16="http://schemas.microsoft.com/office/drawing/2014/main" id="{B2FEE95F-3DB4-4836-807A-8E49A776FAB5}"/>
              </a:ext>
            </a:extLst>
          </p:cNvPr>
          <p:cNvSpPr>
            <a:spLocks xmlns:a="http://schemas.openxmlformats.org/drawingml/2006/main" noGrp="1"/>
          </p:cNvSpPr>
          <p:nvPr/>
        </p:nvSpPr>
        <p:spPr>
          <a:xfrm xmlns:a="http://schemas.openxmlformats.org/drawingml/2006/main">
            <a:off x="3924300" y="2466975"/>
            <a:ext cx="3743325"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9D18286D-8C01-4FEF-A375-7693416194A3}"/>
              </a:ext>
            </a:extLst>
          </p:cNvPr>
          <p:cNvSpPr>
            <a:spLocks xmlns:a="http://schemas.openxmlformats.org/drawingml/2006/main" noGrp="1"/>
          </p:cNvSpPr>
          <p:nvPr/>
        </p:nvSpPr>
        <p:spPr>
          <a:xfrm xmlns:a="http://schemas.openxmlformats.org/drawingml/2006/main">
            <a:off x="4019550" y="2543175"/>
            <a:ext cx="3552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2−0−10=−8</a:t>
            </a:r>
          </a:p>
        </p:txBody>
      </p:sp>
      <p:sp>
        <p:nvSpPr>
          <p:cNvPr id="13" name="">
            <a:extLst xmlns:a="http://schemas.openxmlformats.org/drawingml/2006/main">
              <a:ext uri="{FF2B5EF4-FFF2-40B4-BE49-F238E27FC236}">
                <a16:creationId xmlns:a16="http://schemas.microsoft.com/office/drawing/2014/main" id="{640DDC05-CCB3-4198-AA7E-7CE501865C75}"/>
              </a:ext>
            </a:extLst>
          </p:cNvPr>
          <p:cNvSpPr>
            <a:spLocks xmlns:a="http://schemas.openxmlformats.org/drawingml/2006/main" noGrp="1"/>
          </p:cNvSpPr>
          <p:nvPr/>
        </p:nvSpPr>
        <p:spPr>
          <a:xfrm xmlns:a="http://schemas.openxmlformats.org/drawingml/2006/main">
            <a:off x="7667625" y="2466975"/>
            <a:ext cx="3781425"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99D979A3-EE03-4482-9772-B2587A6BADE0}"/>
              </a:ext>
            </a:extLst>
          </p:cNvPr>
          <p:cNvSpPr>
            <a:spLocks xmlns:a="http://schemas.openxmlformats.org/drawingml/2006/main" noGrp="1"/>
          </p:cNvSpPr>
          <p:nvPr/>
        </p:nvSpPr>
        <p:spPr>
          <a:xfrm xmlns:a="http://schemas.openxmlformats.org/drawingml/2006/main">
            <a:off x="7762875" y="2543175"/>
            <a:ext cx="35909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Додати до базису</a:t>
            </a:r>
          </a:p>
        </p:txBody>
      </p:sp>
      <p:sp>
        <p:nvSpPr>
          <p:cNvPr id="15" name="">
            <a:extLst xmlns:a="http://schemas.openxmlformats.org/drawingml/2006/main">
              <a:ext uri="{FF2B5EF4-FFF2-40B4-BE49-F238E27FC236}">
                <a16:creationId xmlns:a16="http://schemas.microsoft.com/office/drawing/2014/main" id="{DB9538FE-508E-4BA1-A723-A4065661D6DB}"/>
              </a:ext>
            </a:extLst>
          </p:cNvPr>
          <p:cNvSpPr>
            <a:spLocks xmlns:a="http://schemas.openxmlformats.org/drawingml/2006/main" noGrp="1"/>
          </p:cNvSpPr>
          <p:nvPr/>
        </p:nvSpPr>
        <p:spPr>
          <a:xfrm xmlns:a="http://schemas.openxmlformats.org/drawingml/2006/main">
            <a:off x="742950" y="3295650"/>
            <a:ext cx="3181350" cy="8286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A5D8E7A2-B962-4279-9F59-ED79D9BC9AD6}"/>
              </a:ext>
            </a:extLst>
          </p:cNvPr>
          <p:cNvSpPr>
            <a:spLocks xmlns:a="http://schemas.openxmlformats.org/drawingml/2006/main" noGrp="1"/>
          </p:cNvSpPr>
          <p:nvPr/>
        </p:nvSpPr>
        <p:spPr>
          <a:xfrm xmlns:a="http://schemas.openxmlformats.org/drawingml/2006/main">
            <a:off x="838200" y="3371850"/>
            <a:ext cx="2990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BQ</a:t>
            </a:r>
          </a:p>
        </p:txBody>
      </p:sp>
      <p:sp>
        <p:nvSpPr>
          <p:cNvPr id="17" name="">
            <a:extLst xmlns:a="http://schemas.openxmlformats.org/drawingml/2006/main">
              <a:ext uri="{FF2B5EF4-FFF2-40B4-BE49-F238E27FC236}">
                <a16:creationId xmlns:a16="http://schemas.microsoft.com/office/drawing/2014/main" id="{77D7C4A6-55E6-46DE-BBB1-A11D9054EFA5}"/>
              </a:ext>
            </a:extLst>
          </p:cNvPr>
          <p:cNvSpPr>
            <a:spLocks xmlns:a="http://schemas.openxmlformats.org/drawingml/2006/main" noGrp="1"/>
          </p:cNvSpPr>
          <p:nvPr/>
        </p:nvSpPr>
        <p:spPr>
          <a:xfrm xmlns:a="http://schemas.openxmlformats.org/drawingml/2006/main">
            <a:off x="3924300" y="3295650"/>
            <a:ext cx="3743325" cy="8286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3115FC72-B687-4720-80E5-5748EB715B45}"/>
              </a:ext>
            </a:extLst>
          </p:cNvPr>
          <p:cNvSpPr>
            <a:spLocks xmlns:a="http://schemas.openxmlformats.org/drawingml/2006/main" noGrp="1"/>
          </p:cNvSpPr>
          <p:nvPr/>
        </p:nvSpPr>
        <p:spPr>
          <a:xfrm xmlns:a="http://schemas.openxmlformats.org/drawingml/2006/main">
            <a:off x="4019550" y="3371850"/>
            <a:ext cx="35528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3−(−4)−4=3</a:t>
            </a:r>
          </a:p>
        </p:txBody>
      </p:sp>
      <p:sp>
        <p:nvSpPr>
          <p:cNvPr id="19" name="">
            <a:extLst xmlns:a="http://schemas.openxmlformats.org/drawingml/2006/main">
              <a:ext uri="{FF2B5EF4-FFF2-40B4-BE49-F238E27FC236}">
                <a16:creationId xmlns:a16="http://schemas.microsoft.com/office/drawing/2014/main" id="{D2FC54A6-79A7-4FDB-8CEA-7E0C264AA292}"/>
              </a:ext>
            </a:extLst>
          </p:cNvPr>
          <p:cNvSpPr>
            <a:spLocks xmlns:a="http://schemas.openxmlformats.org/drawingml/2006/main" noGrp="1"/>
          </p:cNvSpPr>
          <p:nvPr/>
        </p:nvSpPr>
        <p:spPr>
          <a:xfrm xmlns:a="http://schemas.openxmlformats.org/drawingml/2006/main">
            <a:off x="7667625" y="3295650"/>
            <a:ext cx="3781425" cy="8286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DC977FAD-FA60-41D2-9EF8-E525A19DE735}"/>
              </a:ext>
            </a:extLst>
          </p:cNvPr>
          <p:cNvSpPr>
            <a:spLocks xmlns:a="http://schemas.openxmlformats.org/drawingml/2006/main" noGrp="1"/>
          </p:cNvSpPr>
          <p:nvPr/>
        </p:nvSpPr>
        <p:spPr>
          <a:xfrm xmlns:a="http://schemas.openxmlformats.org/drawingml/2006/main">
            <a:off x="7762875" y="3371850"/>
            <a:ext cx="35909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Поки не додавати</a:t>
            </a:r>
          </a:p>
        </p:txBody>
      </p:sp>
      <p:sp>
        <p:nvSpPr>
          <p:cNvPr id="21" name="">
            <a:extLst xmlns:a="http://schemas.openxmlformats.org/drawingml/2006/main">
              <a:ext uri="{FF2B5EF4-FFF2-40B4-BE49-F238E27FC236}">
                <a16:creationId xmlns:a16="http://schemas.microsoft.com/office/drawing/2014/main" id="{FD6AE94C-E31B-4564-9B74-3AF92742E346}"/>
              </a:ext>
            </a:extLst>
          </p:cNvPr>
          <p:cNvSpPr>
            <a:spLocks xmlns:a="http://schemas.openxmlformats.org/drawingml/2006/main" noGrp="1"/>
          </p:cNvSpPr>
          <p:nvPr/>
        </p:nvSpPr>
        <p:spPr>
          <a:xfrm xmlns:a="http://schemas.openxmlformats.org/drawingml/2006/main">
            <a:off x="876300" y="4476750"/>
            <a:ext cx="10344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6F9F"/>
                </a:solidFill>
                <a:latin typeface="DejaVu Sans"/>
                <a:ea typeface="DejaVu Sans"/>
                <a:cs typeface="DejaVu Sans"/>
              </a:defRPr>
            </a:pPr>
            <a:r>
              <a:rPr sz="2100" b="1">
                <a:solidFill>
                  <a:srgbClr val="086F9F"/>
                </a:solidFill>
                <a:latin typeface="Arial"/>
                <a:ea typeface="Arial"/>
                <a:cs typeface="Arial"/>
              </a:rPr>
              <a:t>Цикл: AP (+), AR (−), BR (+), BP (−)</a:t>
            </a:r>
          </a:p>
        </p:txBody>
      </p:sp>
      <p:sp>
        <p:nvSpPr>
          <p:cNvPr id="22" name="">
            <a:extLst xmlns:a="http://schemas.openxmlformats.org/drawingml/2006/main">
              <a:ext uri="{FF2B5EF4-FFF2-40B4-BE49-F238E27FC236}">
                <a16:creationId xmlns:a16="http://schemas.microsoft.com/office/drawing/2014/main" id="{ACC43CE7-4B7B-4585-9275-6930E5049FC2}"/>
              </a:ext>
            </a:extLst>
          </p:cNvPr>
          <p:cNvSpPr>
            <a:spLocks xmlns:a="http://schemas.openxmlformats.org/drawingml/2006/main" noGrp="1"/>
          </p:cNvSpPr>
          <p:nvPr/>
        </p:nvSpPr>
        <p:spPr>
          <a:xfrm xmlns:a="http://schemas.openxmlformats.org/drawingml/2006/main">
            <a:off x="876300" y="51435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52C42"/>
                </a:solidFill>
                <a:latin typeface="DejaVu Sans"/>
                <a:ea typeface="DejaVu Sans"/>
                <a:cs typeface="DejaVu Sans"/>
              </a:defRPr>
            </a:pPr>
            <a:r>
              <a:rPr sz="2025" b="0">
                <a:solidFill>
                  <a:srgbClr val="152C42"/>
                </a:solidFill>
                <a:latin typeface="Arial"/>
                <a:ea typeface="Arial"/>
                <a:cs typeface="Arial"/>
              </a:rPr>
              <a:t>θ=min(xAR, xBP)=min(10,10)=10</a:t>
            </a:r>
          </a:p>
        </p:txBody>
      </p:sp>
      <p:sp>
        <p:nvSpPr>
          <p:cNvPr id="23" name="">
            <a:extLst xmlns:a="http://schemas.openxmlformats.org/drawingml/2006/main">
              <a:ext uri="{FF2B5EF4-FFF2-40B4-BE49-F238E27FC236}">
                <a16:creationId xmlns:a16="http://schemas.microsoft.com/office/drawing/2014/main" id="{785A8A5C-CB2F-47BF-8EA7-D0D9F4263AC6}"/>
              </a:ext>
            </a:extLst>
          </p:cNvPr>
          <p:cNvSpPr>
            <a:spLocks xmlns:a="http://schemas.openxmlformats.org/drawingml/2006/main" noGrp="1"/>
          </p:cNvSpPr>
          <p:nvPr/>
        </p:nvSpPr>
        <p:spPr>
          <a:xfrm xmlns:a="http://schemas.openxmlformats.org/drawingml/2006/main">
            <a:off x="819150" y="58102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Зміна вартості: θ·ΔAP=10·(−8)=−80.</a:t>
            </a:r>
          </a:p>
        </p:txBody>
      </p:sp>
      <p:sp>
        <p:nvSpPr>
          <p:cNvPr id="25" name="">
            <a:extLst xmlns:a="http://schemas.openxmlformats.org/drawingml/2006/main">
              <a:ext uri="{FF2B5EF4-FFF2-40B4-BE49-F238E27FC236}">
                <a16:creationId xmlns:a16="http://schemas.microsoft.com/office/drawing/2014/main" id="{600B9A8C-1C59-4DD8-BF1E-EA306024785A}"/>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56</a:t>
            </a:r>
          </a:p>
        </p:txBody>
      </p:sp>
    </p:spTree>
    <p:extLst>
      <p:ext uri="{BB962C8B-B14F-4D97-AF65-F5344CB8AC3E}">
        <p14:creationId xmlns:p14="http://schemas.microsoft.com/office/powerpoint/2010/main" val="49546244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D4A64D0-4DCE-4B31-A245-44DF5D9761F6}"/>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Метод потенціалів: цикл у таблиці</a:t>
            </a:r>
          </a:p>
        </p:txBody>
      </p:sp>
      <p:sp>
        <p:nvSpPr>
          <p:cNvPr id="2" name="">
            <a:extLst xmlns:a="http://schemas.openxmlformats.org/drawingml/2006/main">
              <a:ext uri="{FF2B5EF4-FFF2-40B4-BE49-F238E27FC236}">
                <a16:creationId xmlns:a16="http://schemas.microsoft.com/office/drawing/2014/main" id="{ED980C13-FDDD-4BB8-B16A-62749773D3D6}"/>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θ=min(AR=10,BP=10)=10; зміна вартості θ·ΔAP=−80.</a:t>
            </a:r>
          </a:p>
        </p:txBody>
      </p:sp>
      <p:graphicFrame>
        <p:nvGraphicFramePr>
          <p:cNvPr id="37" name="">
            <a:extLst xmlns:a="http://schemas.openxmlformats.org/drawingml/2006/main">
              <a:ext uri="{FF2B5EF4-FFF2-40B4-BE49-F238E27FC236}">
                <a16:creationId xmlns:a16="http://schemas.microsoft.com/office/drawing/2014/main" id="{438B3670-FB3B-4CE3-BD4D-54C27930344C}"/>
              </a:ext>
            </a:extLst>
          </p:cNvPr>
          <p:cNvGraphicFramePr/>
          <p:nvPr/>
        </p:nvGraphicFramePr>
        <p:xfrm>
          <a:off xmlns:a="http://schemas.openxmlformats.org/drawingml/2006/main" x="762000" y="1543050"/>
          <a:ext xmlns:a="http://schemas.openxmlformats.org/drawingml/2006/main" cx="10668000" cy="3048000"/>
        </p:xfrm>
        <a:graphic xmlns:a="http://schemas.openxmlformats.org/drawingml/2006/main">
          <a:graphicData uri="http://schemas.openxmlformats.org/drawingml/2006/table">
            <a:tbl>
              <a:tblPr/>
              <a:tblGrid>
                <a:gridCol w="2095500"/>
                <a:gridCol w="2857500"/>
                <a:gridCol w="2857500"/>
                <a:gridCol w="2857500"/>
              </a:tblGrid>
              <a:tr h="1016000">
                <a:tc>
                  <a:txBody>
                    <a:bodyPr/>
                    <a:lstStyle/>
                    <a:p>
                      <a:r>
                        <a:rPr sz="2325" b="1">
                          <a:solidFill>
                            <a:srgbClr val="FFFFFF"/>
                          </a:solidFill>
                          <a:latin typeface="Arial"/>
                          <a:ea typeface="Arial"/>
                          <a:cs typeface="Arial"/>
                        </a:rPr>
                        <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P</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Q</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R</a:t>
                      </a:r>
                    </a:p>
                  </a:txBody>
                  <a:tcPr marL="114300" marR="114300" marT="66675" marB="66675" anchor="ctr">
                    <a:solidFill>
                      <a:srgbClr val="173047"/>
                    </a:solidFill>
                  </a:tcPr>
                </a:tc>
              </a:tr>
              <a:tr h="101600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400" b="1">
                          <a:solidFill>
                            <a:srgbClr val="00857D"/>
                          </a:solidFill>
                          <a:latin typeface="Arial"/>
                          <a:ea typeface="Arial"/>
                          <a:cs typeface="Arial"/>
                        </a:rPr>
                        <a:t>AP:0→10</a:t>
                      </a:r>
                    </a:p>
                    <a:p>
                      <a:r>
                        <a:rPr sz="2400" b="1">
                          <a:solidFill>
                            <a:srgbClr val="00857D"/>
                          </a:solidFill>
                          <a:latin typeface="Arial"/>
                          <a:ea typeface="Arial"/>
                          <a:cs typeface="Arial"/>
                        </a:rPr>
                        <a:t>+θ</a:t>
                      </a:r>
                    </a:p>
                  </a:txBody>
                  <a:tcPr marL="114300" marR="114300" marT="66675" marB="66675" anchor="ctr">
                    <a:solidFill>
                      <a:srgbClr val="D6F0E9"/>
                    </a:solidFill>
                  </a:tcPr>
                </a:tc>
                <a:tc>
                  <a:txBody>
                    <a:bodyPr/>
                    <a:lstStyle/>
                    <a:p>
                      <a:r>
                        <a:rPr sz="2325">
                          <a:solidFill>
                            <a:srgbClr val="173047"/>
                          </a:solidFill>
                          <a:latin typeface="Arial"/>
                          <a:ea typeface="Arial"/>
                          <a:cs typeface="Arial"/>
                        </a:rPr>
                        <a:t>AQ:20</a:t>
                      </a:r>
                    </a:p>
                  </a:txBody>
                  <a:tcPr marL="114300" marR="114300" marT="66675" marB="66675" anchor="ctr">
                    <a:solidFill>
                      <a:srgbClr val="FFFFFF"/>
                    </a:solidFill>
                  </a:tcPr>
                </a:tc>
                <a:tc>
                  <a:txBody>
                    <a:bodyPr/>
                    <a:lstStyle/>
                    <a:p>
                      <a:r>
                        <a:rPr sz="2400" b="1">
                          <a:solidFill>
                            <a:srgbClr val="B64436"/>
                          </a:solidFill>
                          <a:latin typeface="Arial"/>
                          <a:ea typeface="Arial"/>
                          <a:cs typeface="Arial"/>
                        </a:rPr>
                        <a:t>AR:10→0</a:t>
                      </a:r>
                    </a:p>
                    <a:p>
                      <a:r>
                        <a:rPr sz="2400" b="1">
                          <a:solidFill>
                            <a:srgbClr val="B64436"/>
                          </a:solidFill>
                          <a:latin typeface="Arial"/>
                          <a:ea typeface="Arial"/>
                          <a:cs typeface="Arial"/>
                        </a:rPr>
                        <a:t>−θ</a:t>
                      </a:r>
                    </a:p>
                  </a:txBody>
                  <a:tcPr marL="114300" marR="114300" marT="66675" marB="66675" anchor="ctr">
                    <a:solidFill>
                      <a:srgbClr val="F9E0DB"/>
                    </a:solidFill>
                  </a:tcPr>
                </a:tc>
              </a:tr>
              <a:tr h="1016000">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400" b="1">
                          <a:solidFill>
                            <a:srgbClr val="B64436"/>
                          </a:solidFill>
                          <a:latin typeface="Arial"/>
                          <a:ea typeface="Arial"/>
                          <a:cs typeface="Arial"/>
                        </a:rPr>
                        <a:t>BP:10→0</a:t>
                      </a:r>
                    </a:p>
                    <a:p>
                      <a:r>
                        <a:rPr sz="2400" b="1">
                          <a:solidFill>
                            <a:srgbClr val="B64436"/>
                          </a:solidFill>
                          <a:latin typeface="Arial"/>
                          <a:ea typeface="Arial"/>
                          <a:cs typeface="Arial"/>
                        </a:rPr>
                        <a:t>−θ</a:t>
                      </a:r>
                    </a:p>
                  </a:txBody>
                  <a:tcPr marL="114300" marR="114300" marT="66675" marB="66675" anchor="ctr">
                    <a:solidFill>
                      <a:srgbClr val="F9E0DB"/>
                    </a:solidFill>
                  </a:tcPr>
                </a:tc>
                <a:tc>
                  <a:txBody>
                    <a:bodyPr/>
                    <a:lstStyle/>
                    <a:p>
                      <a:r>
                        <a:rPr sz="2325">
                          <a:solidFill>
                            <a:srgbClr val="173047"/>
                          </a:solidFill>
                          <a:latin typeface="Arial"/>
                          <a:ea typeface="Arial"/>
                          <a:cs typeface="Arial"/>
                        </a:rPr>
                        <a:t>BQ:0</a:t>
                      </a:r>
                    </a:p>
                  </a:txBody>
                  <a:tcPr marL="114300" marR="114300" marT="66675" marB="66675" anchor="ctr">
                    <a:solidFill>
                      <a:srgbClr val="FFFFFF"/>
                    </a:solidFill>
                  </a:tcPr>
                </a:tc>
                <a:tc>
                  <a:txBody>
                    <a:bodyPr/>
                    <a:lstStyle/>
                    <a:p>
                      <a:r>
                        <a:rPr sz="2400" b="1">
                          <a:solidFill>
                            <a:srgbClr val="00857D"/>
                          </a:solidFill>
                          <a:latin typeface="Arial"/>
                          <a:ea typeface="Arial"/>
                          <a:cs typeface="Arial"/>
                        </a:rPr>
                        <a:t>BR:10→20</a:t>
                      </a:r>
                    </a:p>
                    <a:p>
                      <a:r>
                        <a:rPr sz="2400" b="1">
                          <a:solidFill>
                            <a:srgbClr val="00857D"/>
                          </a:solidFill>
                          <a:latin typeface="Arial"/>
                          <a:ea typeface="Arial"/>
                          <a:cs typeface="Arial"/>
                        </a:rPr>
                        <a:t>+θ</a:t>
                      </a:r>
                    </a:p>
                  </a:txBody>
                  <a:tcPr marL="114300" marR="114300" marT="66675" marB="66675" anchor="ctr">
                    <a:solidFill>
                      <a:srgbClr val="D6F0E9"/>
                    </a:solidFill>
                  </a:tcPr>
                </a:tc>
              </a:tr>
            </a:tbl>
          </a:graphicData>
        </a:graphic>
      </p:graphicFrame>
      <p:sp>
        <p:nvSpPr>
          <p:cNvPr id="4" name="">
            <a:extLst xmlns:a="http://schemas.openxmlformats.org/drawingml/2006/main">
              <a:ext uri="{FF2B5EF4-FFF2-40B4-BE49-F238E27FC236}">
                <a16:creationId xmlns:a16="http://schemas.microsoft.com/office/drawing/2014/main" id="{92025DD1-5CDC-4A42-A0E7-5012A59E69F7}"/>
              </a:ext>
            </a:extLst>
          </p:cNvPr>
          <p:cNvSpPr>
            <a:spLocks xmlns:a="http://schemas.openxmlformats.org/drawingml/2006/main" noGrp="1"/>
          </p:cNvSpPr>
          <p:nvPr/>
        </p:nvSpPr>
        <p:spPr>
          <a:xfrm xmlns:a="http://schemas.openxmlformats.org/drawingml/2006/main">
            <a:off x="5372100"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0D913B-F393-467C-A4A5-575ED8586EE9}"/>
              </a:ext>
            </a:extLst>
          </p:cNvPr>
          <p:cNvSpPr>
            <a:spLocks xmlns:a="http://schemas.openxmlformats.org/drawingml/2006/main" noGrp="1"/>
          </p:cNvSpPr>
          <p:nvPr/>
        </p:nvSpPr>
        <p:spPr>
          <a:xfrm xmlns:a="http://schemas.openxmlformats.org/drawingml/2006/main">
            <a:off x="11182350" y="26955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0" name="">
            <a:extLst xmlns:a="http://schemas.openxmlformats.org/drawingml/2006/main">
              <a:ext uri="{FF2B5EF4-FFF2-40B4-BE49-F238E27FC236}">
                <a16:creationId xmlns:a16="http://schemas.microsoft.com/office/drawing/2014/main" id="{F0DE0D31-DBD6-48FE-A322-61124CEA961C}"/>
              </a:ext>
            </a:extLst>
          </p:cNvPr>
          <p:cNvCxnSpPr>
            <a:stCxn xmlns:a="http://schemas.openxmlformats.org/drawingml/2006/main" id="4" idx="3"/>
            <a:endCxn xmlns:a="http://schemas.openxmlformats.org/drawingml/2006/main" id="5" idx="1"/>
          </p:cNvCxnSpPr>
          <p:nvPr/>
        </p:nvCxnSpPr>
        <p:spPr>
          <a:xfrm xmlns:a="http://schemas.openxmlformats.org/drawingml/2006/main">
            <a:off x="5391150" y="2705100"/>
            <a:ext cx="5791200" cy="0"/>
          </a:xfrm>
          <a:prstGeom xmlns:a="http://schemas.openxmlformats.org/drawingml/2006/main" prst="straightConnector1">
            <a:avLst/>
          </a:prstGeom>
          <a:ln xmlns:a="http://schemas.openxmlformats.org/drawingml/2006/main" w="28575">
            <a:solidFill>
              <a:srgbClr val="1479AE"/>
            </a:solidFill>
            <a:tailEnd type="triangle" w="med" len="med"/>
          </a:ln>
        </p:spPr>
      </p:cxnSp>
      <p:sp>
        <p:nvSpPr>
          <p:cNvPr id="7" name="">
            <a:extLst xmlns:a="http://schemas.openxmlformats.org/drawingml/2006/main">
              <a:ext uri="{FF2B5EF4-FFF2-40B4-BE49-F238E27FC236}">
                <a16:creationId xmlns:a16="http://schemas.microsoft.com/office/drawing/2014/main" id="{226EB352-6700-437A-A1F1-5E3BCD8ACE83}"/>
              </a:ext>
            </a:extLst>
          </p:cNvPr>
          <p:cNvSpPr>
            <a:spLocks xmlns:a="http://schemas.openxmlformats.org/drawingml/2006/main" noGrp="1"/>
          </p:cNvSpPr>
          <p:nvPr/>
        </p:nvSpPr>
        <p:spPr>
          <a:xfrm xmlns:a="http://schemas.openxmlformats.org/drawingml/2006/main">
            <a:off x="11182350" y="26955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F68D02-F427-4B9F-94A8-0375BF7C0E8D}"/>
              </a:ext>
            </a:extLst>
          </p:cNvPr>
          <p:cNvSpPr>
            <a:spLocks xmlns:a="http://schemas.openxmlformats.org/drawingml/2006/main" noGrp="1"/>
          </p:cNvSpPr>
          <p:nvPr/>
        </p:nvSpPr>
        <p:spPr>
          <a:xfrm xmlns:a="http://schemas.openxmlformats.org/drawingml/2006/main">
            <a:off x="11182350" y="44481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3" name="">
            <a:extLst xmlns:a="http://schemas.openxmlformats.org/drawingml/2006/main">
              <a:ext uri="{FF2B5EF4-FFF2-40B4-BE49-F238E27FC236}">
                <a16:creationId xmlns:a16="http://schemas.microsoft.com/office/drawing/2014/main" id="{146A8A4C-BC9A-4290-AD6A-0755585ABFBA}"/>
              </a:ext>
            </a:extLst>
          </p:cNvPr>
          <p:cNvCxnSpPr>
            <a:stCxn xmlns:a="http://schemas.openxmlformats.org/drawingml/2006/main" id="7" idx="3"/>
            <a:endCxn xmlns:a="http://schemas.openxmlformats.org/drawingml/2006/main" id="8" idx="1"/>
          </p:cNvCxnSpPr>
          <p:nvPr/>
        </p:nvCxnSpPr>
        <p:spPr>
          <a:xfrm xmlns:a="http://schemas.openxmlformats.org/drawingml/2006/main" flipH="1">
            <a:off x="11182350" y="2705100"/>
            <a:ext cx="19050" cy="1752600"/>
          </a:xfrm>
          <a:prstGeom xmlns:a="http://schemas.openxmlformats.org/drawingml/2006/main" prst="straightConnector1">
            <a:avLst/>
          </a:prstGeom>
          <a:ln xmlns:a="http://schemas.openxmlformats.org/drawingml/2006/main" w="28575">
            <a:solidFill>
              <a:srgbClr val="1479AE"/>
            </a:solidFill>
            <a:tailEnd type="triangle" w="med" len="med"/>
          </a:ln>
        </p:spPr>
      </p:cxnSp>
      <p:sp>
        <p:nvSpPr>
          <p:cNvPr id="10" name="">
            <a:extLst xmlns:a="http://schemas.openxmlformats.org/drawingml/2006/main">
              <a:ext uri="{FF2B5EF4-FFF2-40B4-BE49-F238E27FC236}">
                <a16:creationId xmlns:a16="http://schemas.microsoft.com/office/drawing/2014/main" id="{E7E7E9FC-4CBA-47B9-BDF2-F6AAB0EDF3E8}"/>
              </a:ext>
            </a:extLst>
          </p:cNvPr>
          <p:cNvSpPr>
            <a:spLocks xmlns:a="http://schemas.openxmlformats.org/drawingml/2006/main" noGrp="1"/>
          </p:cNvSpPr>
          <p:nvPr/>
        </p:nvSpPr>
        <p:spPr>
          <a:xfrm xmlns:a="http://schemas.openxmlformats.org/drawingml/2006/main">
            <a:off x="11182350" y="44481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A95D268-E4DB-46D0-9E62-EFD1528FAE0F}"/>
              </a:ext>
            </a:extLst>
          </p:cNvPr>
          <p:cNvSpPr>
            <a:spLocks xmlns:a="http://schemas.openxmlformats.org/drawingml/2006/main" noGrp="1"/>
          </p:cNvSpPr>
          <p:nvPr/>
        </p:nvSpPr>
        <p:spPr>
          <a:xfrm xmlns:a="http://schemas.openxmlformats.org/drawingml/2006/main">
            <a:off x="5372100" y="44481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6" name="">
            <a:extLst xmlns:a="http://schemas.openxmlformats.org/drawingml/2006/main">
              <a:ext uri="{FF2B5EF4-FFF2-40B4-BE49-F238E27FC236}">
                <a16:creationId xmlns:a16="http://schemas.microsoft.com/office/drawing/2014/main" id="{01BF572C-2BC0-4C1A-A475-E2A271FAA5AB}"/>
              </a:ext>
            </a:extLst>
          </p:cNvPr>
          <p:cNvCxnSpPr>
            <a:stCxn xmlns:a="http://schemas.openxmlformats.org/drawingml/2006/main" id="10" idx="3"/>
            <a:endCxn xmlns:a="http://schemas.openxmlformats.org/drawingml/2006/main" id="11" idx="1"/>
          </p:cNvCxnSpPr>
          <p:nvPr/>
        </p:nvCxnSpPr>
        <p:spPr>
          <a:xfrm xmlns:a="http://schemas.openxmlformats.org/drawingml/2006/main" flipH="1">
            <a:off x="5372100" y="4457700"/>
            <a:ext cx="5829300" cy="0"/>
          </a:xfrm>
          <a:prstGeom xmlns:a="http://schemas.openxmlformats.org/drawingml/2006/main" prst="straightConnector1">
            <a:avLst/>
          </a:prstGeom>
          <a:ln xmlns:a="http://schemas.openxmlformats.org/drawingml/2006/main" w="28575">
            <a:solidFill>
              <a:srgbClr val="1479AE"/>
            </a:solidFill>
            <a:tailEnd type="triangle" w="med" len="med"/>
          </a:ln>
        </p:spPr>
      </p:cxnSp>
      <p:sp>
        <p:nvSpPr>
          <p:cNvPr id="13" name="">
            <a:extLst xmlns:a="http://schemas.openxmlformats.org/drawingml/2006/main">
              <a:ext uri="{FF2B5EF4-FFF2-40B4-BE49-F238E27FC236}">
                <a16:creationId xmlns:a16="http://schemas.microsoft.com/office/drawing/2014/main" id="{666527AD-DC8D-44EE-A68B-8576D35CEEBF}"/>
              </a:ext>
            </a:extLst>
          </p:cNvPr>
          <p:cNvSpPr>
            <a:spLocks xmlns:a="http://schemas.openxmlformats.org/drawingml/2006/main" noGrp="1"/>
          </p:cNvSpPr>
          <p:nvPr/>
        </p:nvSpPr>
        <p:spPr>
          <a:xfrm xmlns:a="http://schemas.openxmlformats.org/drawingml/2006/main">
            <a:off x="5372100" y="44481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B236A33-7251-4AE5-A815-B8779A585C7B}"/>
              </a:ext>
            </a:extLst>
          </p:cNvPr>
          <p:cNvSpPr>
            <a:spLocks xmlns:a="http://schemas.openxmlformats.org/drawingml/2006/main" noGrp="1"/>
          </p:cNvSpPr>
          <p:nvPr/>
        </p:nvSpPr>
        <p:spPr>
          <a:xfrm xmlns:a="http://schemas.openxmlformats.org/drawingml/2006/main">
            <a:off x="5372100" y="26955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49" name="">
            <a:extLst xmlns:a="http://schemas.openxmlformats.org/drawingml/2006/main">
              <a:ext uri="{FF2B5EF4-FFF2-40B4-BE49-F238E27FC236}">
                <a16:creationId xmlns:a16="http://schemas.microsoft.com/office/drawing/2014/main" id="{A4892FBA-EC6C-4DB4-B605-22E61C6A3D35}"/>
              </a:ext>
            </a:extLst>
          </p:cNvPr>
          <p:cNvCxnSpPr>
            <a:stCxn xmlns:a="http://schemas.openxmlformats.org/drawingml/2006/main" id="13" idx="3"/>
            <a:endCxn xmlns:a="http://schemas.openxmlformats.org/drawingml/2006/main" id="14" idx="1"/>
          </p:cNvCxnSpPr>
          <p:nvPr/>
        </p:nvCxnSpPr>
        <p:spPr>
          <a:xfrm xmlns:a="http://schemas.openxmlformats.org/drawingml/2006/main" flipH="1" flipV="1">
            <a:off x="5372100" y="2705100"/>
            <a:ext cx="19050" cy="1752600"/>
          </a:xfrm>
          <a:prstGeom xmlns:a="http://schemas.openxmlformats.org/drawingml/2006/main" prst="straightConnector1">
            <a:avLst/>
          </a:prstGeom>
          <a:ln xmlns:a="http://schemas.openxmlformats.org/drawingml/2006/main" w="28575">
            <a:solidFill>
              <a:srgbClr val="1479AE"/>
            </a:solidFill>
            <a:tailEnd type="triangle" w="med" len="med"/>
          </a:ln>
        </p:spPr>
      </p:cxnSp>
      <p:sp>
        <p:nvSpPr>
          <p:cNvPr id="16" name="">
            <a:extLst xmlns:a="http://schemas.openxmlformats.org/drawingml/2006/main">
              <a:ext uri="{FF2B5EF4-FFF2-40B4-BE49-F238E27FC236}">
                <a16:creationId xmlns:a16="http://schemas.microsoft.com/office/drawing/2014/main" id="{A784D472-7334-409B-837E-78E6CB550C14}"/>
              </a:ext>
            </a:extLst>
          </p:cNvPr>
          <p:cNvSpPr>
            <a:spLocks xmlns:a="http://schemas.openxmlformats.org/drawingml/2006/main" noGrp="1"/>
          </p:cNvSpPr>
          <p:nvPr/>
        </p:nvSpPr>
        <p:spPr>
          <a:xfrm xmlns:a="http://schemas.openxmlformats.org/drawingml/2006/main">
            <a:off x="762000" y="483870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Додаємо на «+», віднімаємо на «−».</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Суми кожного рядка і стовпця зберігаються.</a:t>
            </a:r>
          </a:p>
        </p:txBody>
      </p:sp>
      <p:sp>
        <p:nvSpPr>
          <p:cNvPr id="34" name="">
            <a:extLst xmlns:a="http://schemas.openxmlformats.org/drawingml/2006/main">
              <a:ext uri="{FF2B5EF4-FFF2-40B4-BE49-F238E27FC236}">
                <a16:creationId xmlns:a16="http://schemas.microsoft.com/office/drawing/2014/main" id="{BC2AFCDC-9E2C-46E8-9D06-B3B219AF1C6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57</a:t>
            </a:r>
          </a:p>
        </p:txBody>
      </p:sp>
    </p:spTree>
    <p:extLst>
      <p:ext uri="{BB962C8B-B14F-4D97-AF65-F5344CB8AC3E}">
        <p14:creationId xmlns:p14="http://schemas.microsoft.com/office/powerpoint/2010/main" val="174917941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FA0BC8-8F5C-420F-93CE-56EA9D3E733C}"/>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Метод потенціалів: новий базис</a:t>
            </a:r>
          </a:p>
        </p:txBody>
      </p:sp>
      <p:sp>
        <p:nvSpPr>
          <p:cNvPr id="2" name="">
            <a:extLst xmlns:a="http://schemas.openxmlformats.org/drawingml/2006/main">
              <a:ext uri="{FF2B5EF4-FFF2-40B4-BE49-F238E27FC236}">
                <a16:creationId xmlns:a16="http://schemas.microsoft.com/office/drawing/2014/main" id="{9AE0E075-4928-4666-8A56-2059D91FC9C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Усі вільні Δ≥0: план із C=120 оптимальний. AR=0 зберігаємо в базисі.</a:t>
            </a:r>
          </a:p>
        </p:txBody>
      </p:sp>
      <p:graphicFrame>
        <p:nvGraphicFramePr>
          <p:cNvPr id="9" name="">
            <a:extLst xmlns:a="http://schemas.openxmlformats.org/drawingml/2006/main">
              <a:ext uri="{FF2B5EF4-FFF2-40B4-BE49-F238E27FC236}">
                <a16:creationId xmlns:a16="http://schemas.microsoft.com/office/drawing/2014/main" id="{9437281C-72E2-4E0B-8890-1820B6D9023A}"/>
              </a:ext>
            </a:extLst>
          </p:cNvPr>
          <p:cNvGraphicFramePr/>
          <p:nvPr/>
        </p:nvGraphicFramePr>
        <p:xfrm>
          <a:off xmlns:a="http://schemas.openxmlformats.org/drawingml/2006/main" x="762000" y="1504950"/>
          <a:ext xmlns:a="http://schemas.openxmlformats.org/drawingml/2006/main" cx="10668000" cy="2266950"/>
        </p:xfrm>
        <a:graphic xmlns:a="http://schemas.openxmlformats.org/drawingml/2006/main">
          <a:graphicData uri="http://schemas.openxmlformats.org/drawingml/2006/table">
            <a:tbl>
              <a:tblPr/>
              <a:tblGrid>
                <a:gridCol w="2133600"/>
                <a:gridCol w="2133600"/>
                <a:gridCol w="2133600"/>
                <a:gridCol w="2133600"/>
                <a:gridCol w="2133600"/>
              </a:tblGrid>
              <a:tr h="755650">
                <a:tc>
                  <a:txBody>
                    <a:bodyPr/>
                    <a:lstStyle/>
                    <a:p>
                      <a:r>
                        <a:rPr sz="2550" b="1">
                          <a:solidFill>
                            <a:srgbClr val="FFFFFF"/>
                          </a:solidFill>
                          <a:latin typeface="Arial"/>
                          <a:ea typeface="Arial"/>
                          <a:cs typeface="Arial"/>
                        </a:rPr>
                        <a:t>Джерело</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P</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Q</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R</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Запас</a:t>
                      </a:r>
                    </a:p>
                  </a:txBody>
                  <a:tcPr marL="114300" marR="114300" marT="66675" marB="66675" anchor="ctr">
                    <a:solidFill>
                      <a:srgbClr val="173047"/>
                    </a:solidFill>
                  </a:tcPr>
                </a:tc>
              </a:tr>
              <a:tr h="755650">
                <a:tc>
                  <a:txBody>
                    <a:bodyPr/>
                    <a:lstStyle/>
                    <a:p>
                      <a:r>
                        <a:rPr sz="2550">
                          <a:solidFill>
                            <a:srgbClr val="173047"/>
                          </a:solidFill>
                          <a:latin typeface="Arial"/>
                          <a:ea typeface="Arial"/>
                          <a:cs typeface="Arial"/>
                        </a:rPr>
                        <a:t>A</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10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20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30</a:t>
                      </a:r>
                    </a:p>
                  </a:txBody>
                  <a:tcPr marL="114300" marR="114300" marT="66675" marB="66675" anchor="ctr">
                    <a:solidFill>
                      <a:srgbClr val="FFFFFF"/>
                    </a:solidFill>
                  </a:tcPr>
                </a:tc>
              </a:tr>
              <a:tr h="755650">
                <a:tc>
                  <a:txBody>
                    <a:bodyPr/>
                    <a:lstStyle/>
                    <a:p>
                      <a:r>
                        <a:rPr sz="2550">
                          <a:solidFill>
                            <a:srgbClr val="173047"/>
                          </a:solidFill>
                          <a:latin typeface="Arial"/>
                          <a:ea typeface="Arial"/>
                          <a:cs typeface="Arial"/>
                        </a:rPr>
                        <a:t>B</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20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20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237EE98-219B-425A-B22A-5ADCDC51C9D4}"/>
              </a:ext>
            </a:extLst>
          </p:cNvPr>
          <p:cNvSpPr>
            <a:spLocks xmlns:a="http://schemas.openxmlformats.org/drawingml/2006/main" noGrp="1"/>
          </p:cNvSpPr>
          <p:nvPr/>
        </p:nvSpPr>
        <p:spPr>
          <a:xfrm xmlns:a="http://schemas.openxmlformats.org/drawingml/2006/main">
            <a:off x="762000" y="39624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Базис: AP, AQ, AR, BR. * AR=0.</a:t>
            </a:r>
          </a:p>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u=(0,−4), v=(2,4,5).</a:t>
            </a:r>
          </a:p>
        </p:txBody>
      </p:sp>
      <p:sp>
        <p:nvSpPr>
          <p:cNvPr id="5" name="">
            <a:extLst xmlns:a="http://schemas.openxmlformats.org/drawingml/2006/main">
              <a:ext uri="{FF2B5EF4-FFF2-40B4-BE49-F238E27FC236}">
                <a16:creationId xmlns:a16="http://schemas.microsoft.com/office/drawing/2014/main" id="{60D6A93F-0E8C-457A-87FF-1E2D3298A0E8}"/>
              </a:ext>
            </a:extLst>
          </p:cNvPr>
          <p:cNvSpPr>
            <a:spLocks xmlns:a="http://schemas.openxmlformats.org/drawingml/2006/main" noGrp="1"/>
          </p:cNvSpPr>
          <p:nvPr/>
        </p:nvSpPr>
        <p:spPr>
          <a:xfrm xmlns:a="http://schemas.openxmlformats.org/drawingml/2006/main">
            <a:off x="762000" y="50387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75" b="1">
                <a:solidFill>
                  <a:srgbClr val="00857D"/>
                </a:solidFill>
                <a:latin typeface="Arial"/>
                <a:ea typeface="Arial"/>
                <a:cs typeface="Arial"/>
              </a:defRPr>
            </a:pPr>
            <a:r>
              <a:rPr sz="2475" b="1">
                <a:solidFill>
                  <a:srgbClr val="00857D"/>
                </a:solidFill>
                <a:latin typeface="Arial"/>
                <a:ea typeface="Arial"/>
                <a:cs typeface="Arial"/>
              </a:rPr>
              <a:t>ΔBP=6−(−4)−2=8; ΔBQ=3−(−4)−4=3.</a:t>
            </a:r>
          </a:p>
        </p:txBody>
      </p:sp>
      <p:sp>
        <p:nvSpPr>
          <p:cNvPr id="6" name="">
            <a:extLst xmlns:a="http://schemas.openxmlformats.org/drawingml/2006/main">
              <a:ext uri="{FF2B5EF4-FFF2-40B4-BE49-F238E27FC236}">
                <a16:creationId xmlns:a16="http://schemas.microsoft.com/office/drawing/2014/main" id="{5E4D579C-3D4F-49E0-9B02-FF744D959294}"/>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58</a:t>
            </a:r>
          </a:p>
        </p:txBody>
      </p:sp>
    </p:spTree>
    <p:extLst>
      <p:ext uri="{BB962C8B-B14F-4D97-AF65-F5344CB8AC3E}">
        <p14:creationId xmlns:p14="http://schemas.microsoft.com/office/powerpoint/2010/main" val="212926227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71B434-9EEC-4C79-96ED-D8CB01DE094F}"/>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Потенціали: фактична траса перерозподілу</a:t>
            </a:r>
          </a:p>
        </p:txBody>
      </p:sp>
      <p:sp>
        <p:nvSpPr>
          <p:cNvPr id="2" name="">
            <a:extLst xmlns:a="http://schemas.openxmlformats.org/drawingml/2006/main">
              <a:ext uri="{FF2B5EF4-FFF2-40B4-BE49-F238E27FC236}">
                <a16:creationId xmlns:a16="http://schemas.microsoft.com/office/drawing/2014/main" id="{75C50851-F29A-4773-98B5-99A850F5F8B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Ключовий крок: θ=10, виходить BP; C зменшується на 80.</a:t>
            </a:r>
          </a:p>
        </p:txBody>
      </p:sp>
      <p:sp>
        <p:nvSpPr>
          <p:cNvPr id="3" name="">
            <a:extLst xmlns:a="http://schemas.openxmlformats.org/drawingml/2006/main">
              <a:ext uri="{FF2B5EF4-FFF2-40B4-BE49-F238E27FC236}">
                <a16:creationId xmlns:a16="http://schemas.microsoft.com/office/drawing/2014/main" id="{550CE6A6-0E30-41C0-A0B2-F2A378B8AC04}"/>
              </a:ext>
            </a:extLst>
          </p:cNvPr>
          <p:cNvSpPr>
            <a:spLocks xmlns:a="http://schemas.openxmlformats.org/drawingml/2006/main" noGrp="1"/>
          </p:cNvSpPr>
          <p:nvPr/>
        </p:nvSpPr>
        <p:spPr>
          <a:xfrm xmlns:a="http://schemas.openxmlformats.org/drawingml/2006/main">
            <a:off x="762000" y="1590675"/>
            <a:ext cx="10668000" cy="2924175"/>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D84D1B-5DCF-4B59-B07F-493ED30958C2}"/>
              </a:ext>
            </a:extLst>
          </p:cNvPr>
          <p:cNvSpPr>
            <a:spLocks xmlns:a="http://schemas.openxmlformats.org/drawingml/2006/main" noGrp="1"/>
          </p:cNvSpPr>
          <p:nvPr/>
        </p:nvSpPr>
        <p:spPr>
          <a:xfrm xmlns:a="http://schemas.openxmlformats.org/drawingml/2006/main">
            <a:off x="933450" y="1685925"/>
            <a:ext cx="103251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Ітерація 0: A=[0,20,10], B=[10,0,10], C=200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u=[0,-4], v=[10,4,5]; ΔAP=-8, ΔBQ=3</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AP+ → AR- → BR+ → BP-; θ=10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Ітерація 1: A=[10,20,0], B=[0,0,20], C=120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ΔBP=8, ΔBQ=3: оптимум</a:t>
            </a:r>
          </a:p>
        </p:txBody>
      </p:sp>
      <p:sp>
        <p:nvSpPr>
          <p:cNvPr id="5" name="">
            <a:extLst xmlns:a="http://schemas.openxmlformats.org/drawingml/2006/main">
              <a:ext uri="{FF2B5EF4-FFF2-40B4-BE49-F238E27FC236}">
                <a16:creationId xmlns:a16="http://schemas.microsoft.com/office/drawing/2014/main" id="{97E5DAF8-D992-4B30-B006-B90F893A14C1}"/>
              </a:ext>
            </a:extLst>
          </p:cNvPr>
          <p:cNvSpPr>
            <a:spLocks xmlns:a="http://schemas.openxmlformats.org/drawingml/2006/main" noGrp="1"/>
          </p:cNvSpPr>
          <p:nvPr/>
        </p:nvSpPr>
        <p:spPr>
          <a:xfrm xmlns:a="http://schemas.openxmlformats.org/drawingml/2006/main">
            <a:off x="762000" y="4886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Фрагмент фактичного stdout. Знак циклу визначає додавання/віднімання потоку.</a:t>
            </a:r>
          </a:p>
        </p:txBody>
      </p:sp>
      <p:sp>
        <p:nvSpPr>
          <p:cNvPr id="6" name="">
            <a:extLst xmlns:a="http://schemas.openxmlformats.org/drawingml/2006/main">
              <a:ext uri="{FF2B5EF4-FFF2-40B4-BE49-F238E27FC236}">
                <a16:creationId xmlns:a16="http://schemas.microsoft.com/office/drawing/2014/main" id="{617826E2-14DB-4453-A255-C9AB5B24E861}"/>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9" name="">
            <a:extLst xmlns:a="http://schemas.openxmlformats.org/drawingml/2006/main">
              <a:ext uri="{FF2B5EF4-FFF2-40B4-BE49-F238E27FC236}">
                <a16:creationId xmlns:a16="http://schemas.microsoft.com/office/drawing/2014/main" id="{26679F7C-0B46-4D2D-9470-B22E494F813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59</a:t>
            </a:r>
          </a:p>
        </p:txBody>
      </p:sp>
    </p:spTree>
    <p:extLst>
      <p:ext uri="{BB962C8B-B14F-4D97-AF65-F5344CB8AC3E}">
        <p14:creationId xmlns:p14="http://schemas.microsoft.com/office/powerpoint/2010/main" val="2458011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13B465-FDD6-4407-B46B-32967333D00D}"/>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ТЗЛП: клітинка таблиці → елемент вектора</a:t>
            </a:r>
          </a:p>
        </p:txBody>
      </p:sp>
      <p:sp>
        <p:nvSpPr>
          <p:cNvPr id="2" name="">
            <a:extLst xmlns:a="http://schemas.openxmlformats.org/drawingml/2006/main">
              <a:ext uri="{FF2B5EF4-FFF2-40B4-BE49-F238E27FC236}">
                <a16:creationId xmlns:a16="http://schemas.microsoft.com/office/drawing/2014/main" id="{3FB471EF-4668-4223-A504-1238A7549D0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Пояснювальна схема порядку змінних: AP, AQ, AR, BP, BQ, BR.</a:t>
            </a:r>
          </a:p>
        </p:txBody>
      </p:sp>
      <p:sp>
        <p:nvSpPr>
          <p:cNvPr id="3" name="">
            <a:extLst xmlns:a="http://schemas.openxmlformats.org/drawingml/2006/main">
              <a:ext uri="{FF2B5EF4-FFF2-40B4-BE49-F238E27FC236}">
                <a16:creationId xmlns:a16="http://schemas.microsoft.com/office/drawing/2014/main" id="{445DF7DD-F8B8-4569-B63B-A84CFEDC3B86}"/>
              </a:ext>
            </a:extLst>
          </p:cNvPr>
          <p:cNvSpPr>
            <a:spLocks xmlns:a="http://schemas.openxmlformats.org/drawingml/2006/main" noGrp="1"/>
          </p:cNvSpPr>
          <p:nvPr/>
        </p:nvSpPr>
        <p:spPr>
          <a:xfrm xmlns:a="http://schemas.openxmlformats.org/drawingml/2006/main">
            <a:off x="762000" y="1495425"/>
            <a:ext cx="10668000" cy="224409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F294F3-5E4F-4F83-A6DE-484A6957C381}"/>
              </a:ext>
            </a:extLst>
          </p:cNvPr>
          <p:cNvSpPr>
            <a:spLocks xmlns:a="http://schemas.openxmlformats.org/drawingml/2006/main" noGrp="1"/>
          </p:cNvSpPr>
          <p:nvPr/>
        </p:nvSpPr>
        <p:spPr>
          <a:xfrm xmlns:a="http://schemas.openxmlformats.org/drawingml/2006/main">
            <a:off x="952500" y="1628775"/>
            <a:ext cx="10287000" cy="1977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import numpy as np</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from scipy.optimize import linprog</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cost = np.array([[2,4,5],[6,3,1]])</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supply = np.array([30,20])</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demand = np.array([10,20,20])</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c = cost.ravel()</a:t>
            </a:r>
          </a:p>
        </p:txBody>
      </p:sp>
      <p:sp>
        <p:nvSpPr>
          <p:cNvPr id="5" name="">
            <a:extLst xmlns:a="http://schemas.openxmlformats.org/drawingml/2006/main">
              <a:ext uri="{FF2B5EF4-FFF2-40B4-BE49-F238E27FC236}">
                <a16:creationId xmlns:a16="http://schemas.microsoft.com/office/drawing/2014/main" id="{7747D38E-42AC-48B7-925C-47CB372BACBC}"/>
              </a:ext>
            </a:extLst>
          </p:cNvPr>
          <p:cNvSpPr>
            <a:spLocks xmlns:a="http://schemas.openxmlformats.org/drawingml/2006/main" noGrp="1"/>
          </p:cNvSpPr>
          <p:nvPr/>
        </p:nvSpPr>
        <p:spPr>
          <a:xfrm xmlns:a="http://schemas.openxmlformats.org/drawingml/2006/main">
            <a:off x="762000" y="3971925"/>
            <a:ext cx="10668000" cy="127635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81FF50-5BBC-4FB2-8F93-9160E9B083F3}"/>
              </a:ext>
            </a:extLst>
          </p:cNvPr>
          <p:cNvSpPr>
            <a:spLocks xmlns:a="http://schemas.openxmlformats.org/drawingml/2006/main" noGrp="1"/>
          </p:cNvSpPr>
          <p:nvPr/>
        </p:nvSpPr>
        <p:spPr>
          <a:xfrm xmlns:a="http://schemas.openxmlformats.org/drawingml/2006/main">
            <a:off x="933450" y="4067175"/>
            <a:ext cx="103251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c = [2,4,5,6,3,1]</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x = [AP,AQ,AR,BP,BQ,BR]</a:t>
            </a:r>
          </a:p>
        </p:txBody>
      </p:sp>
      <p:sp>
        <p:nvSpPr>
          <p:cNvPr id="7" name="">
            <a:extLst xmlns:a="http://schemas.openxmlformats.org/drawingml/2006/main">
              <a:ext uri="{FF2B5EF4-FFF2-40B4-BE49-F238E27FC236}">
                <a16:creationId xmlns:a16="http://schemas.microsoft.com/office/drawing/2014/main" id="{AB307750-B284-48B0-99AC-2EAF57C4B3F2}"/>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10" name="">
            <a:extLst xmlns:a="http://schemas.openxmlformats.org/drawingml/2006/main">
              <a:ext uri="{FF2B5EF4-FFF2-40B4-BE49-F238E27FC236}">
                <a16:creationId xmlns:a16="http://schemas.microsoft.com/office/drawing/2014/main" id="{86AD3663-0858-4D2C-8156-0AC08D08BE83}"/>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60</a:t>
            </a:r>
          </a:p>
        </p:txBody>
      </p:sp>
    </p:spTree>
    <p:extLst>
      <p:ext uri="{BB962C8B-B14F-4D97-AF65-F5344CB8AC3E}">
        <p14:creationId xmlns:p14="http://schemas.microsoft.com/office/powerpoint/2010/main" val="1066227703"/>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7890C4-6384-4DF6-9D6B-EED4A7043310}"/>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ТЗЛП: один рядок матриці — один баланс</a:t>
            </a:r>
          </a:p>
        </p:txBody>
      </p:sp>
      <p:sp>
        <p:nvSpPr>
          <p:cNvPr id="2" name="">
            <a:extLst xmlns:a="http://schemas.openxmlformats.org/drawingml/2006/main">
              <a:ext uri="{FF2B5EF4-FFF2-40B4-BE49-F238E27FC236}">
                <a16:creationId xmlns:a16="http://schemas.microsoft.com/office/drawing/2014/main" id="{28994072-4078-46C2-882B-F1676AA53E7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П’ять рівнянь мають ранг4; один баланс залежить від інших.</a:t>
            </a:r>
          </a:p>
        </p:txBody>
      </p:sp>
      <p:sp>
        <p:nvSpPr>
          <p:cNvPr id="3" name="">
            <a:extLst xmlns:a="http://schemas.openxmlformats.org/drawingml/2006/main">
              <a:ext uri="{FF2B5EF4-FFF2-40B4-BE49-F238E27FC236}">
                <a16:creationId xmlns:a16="http://schemas.microsoft.com/office/drawing/2014/main" id="{FE25F5D1-778A-4CCF-8CD4-CDA2239E3844}"/>
              </a:ext>
            </a:extLst>
          </p:cNvPr>
          <p:cNvSpPr>
            <a:spLocks xmlns:a="http://schemas.openxmlformats.org/drawingml/2006/main" noGrp="1"/>
          </p:cNvSpPr>
          <p:nvPr/>
        </p:nvSpPr>
        <p:spPr>
          <a:xfrm xmlns:a="http://schemas.openxmlformats.org/drawingml/2006/main">
            <a:off x="762000" y="1495425"/>
            <a:ext cx="10668000" cy="310134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4B8B0B-6A9B-4532-A632-1AC131C4257E}"/>
              </a:ext>
            </a:extLst>
          </p:cNvPr>
          <p:cNvSpPr>
            <a:spLocks xmlns:a="http://schemas.openxmlformats.org/drawingml/2006/main" noGrp="1"/>
          </p:cNvSpPr>
          <p:nvPr/>
        </p:nvSpPr>
        <p:spPr>
          <a:xfrm xmlns:a="http://schemas.openxmlformats.org/drawingml/2006/main">
            <a:off x="952500" y="1628775"/>
            <a:ext cx="10287000" cy="2834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стовпці AP,AQ,AR,BP,BQ,BR</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A_eq = [</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[1,1,1,0,0,0],  # запас A</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[0,0,0,1,1,1],  # запас B</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[1,0,0,1,0,0],  # попит P</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[0,1,0,0,1,0],  # попит Q</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[0,0,1,0,0,1]   # попит R</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b_eq = [30,20,10,20,20]</a:t>
            </a:r>
          </a:p>
        </p:txBody>
      </p:sp>
      <p:sp>
        <p:nvSpPr>
          <p:cNvPr id="5" name="">
            <a:extLst xmlns:a="http://schemas.openxmlformats.org/drawingml/2006/main">
              <a:ext uri="{FF2B5EF4-FFF2-40B4-BE49-F238E27FC236}">
                <a16:creationId xmlns:a16="http://schemas.microsoft.com/office/drawing/2014/main" id="{511F99E7-BA7A-49FB-BBA1-55D38F076559}"/>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8" name="">
            <a:extLst xmlns:a="http://schemas.openxmlformats.org/drawingml/2006/main">
              <a:ext uri="{FF2B5EF4-FFF2-40B4-BE49-F238E27FC236}">
                <a16:creationId xmlns:a16="http://schemas.microsoft.com/office/drawing/2014/main" id="{0A62AE9E-9198-42DD-B8ED-E32C513634EA}"/>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61</a:t>
            </a:r>
          </a:p>
        </p:txBody>
      </p:sp>
    </p:spTree>
    <p:extLst>
      <p:ext uri="{BB962C8B-B14F-4D97-AF65-F5344CB8AC3E}">
        <p14:creationId xmlns:p14="http://schemas.microsoft.com/office/powerpoint/2010/main" val="1608563284"/>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829553-141A-41A9-AD53-781878CFAB76}"/>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ТЗЛП: розв’язати й перевірити баланси</a:t>
            </a:r>
          </a:p>
        </p:txBody>
      </p:sp>
      <p:sp>
        <p:nvSpPr>
          <p:cNvPr id="2" name="">
            <a:extLst xmlns:a="http://schemas.openxmlformats.org/drawingml/2006/main">
              <a:ext uri="{FF2B5EF4-FFF2-40B4-BE49-F238E27FC236}">
                <a16:creationId xmlns:a16="http://schemas.microsoft.com/office/drawing/2014/main" id="{84C2967F-3F00-4C1D-939F-517079D624C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copy() відділяє масив для друку від r.x. axis=1: рядки, axis=0: стовпці.</a:t>
            </a:r>
          </a:p>
        </p:txBody>
      </p:sp>
      <p:sp>
        <p:nvSpPr>
          <p:cNvPr id="3" name="">
            <a:extLst xmlns:a="http://schemas.openxmlformats.org/drawingml/2006/main">
              <a:ext uri="{FF2B5EF4-FFF2-40B4-BE49-F238E27FC236}">
                <a16:creationId xmlns:a16="http://schemas.microsoft.com/office/drawing/2014/main" id="{2CAD631D-C70B-4847-81E4-0F6760EEB8AB}"/>
              </a:ext>
            </a:extLst>
          </p:cNvPr>
          <p:cNvSpPr>
            <a:spLocks xmlns:a="http://schemas.openxmlformats.org/drawingml/2006/main" noGrp="1"/>
          </p:cNvSpPr>
          <p:nvPr/>
        </p:nvSpPr>
        <p:spPr>
          <a:xfrm xmlns:a="http://schemas.openxmlformats.org/drawingml/2006/main">
            <a:off x="762000" y="1438275"/>
            <a:ext cx="10668000" cy="260985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D7CC84-5A30-4A5F-AB4E-EEA57E024F09}"/>
              </a:ext>
            </a:extLst>
          </p:cNvPr>
          <p:cNvSpPr>
            <a:spLocks xmlns:a="http://schemas.openxmlformats.org/drawingml/2006/main" noGrp="1"/>
          </p:cNvSpPr>
          <p:nvPr/>
        </p:nvSpPr>
        <p:spPr>
          <a:xfrm xmlns:a="http://schemas.openxmlformats.org/drawingml/2006/main">
            <a:off x="952500" y="1571625"/>
            <a:ext cx="10287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r = linprog(c, A_eq=A_eq, b_eq=b_eq, method='highs')</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if not r.success: raise RuntimeError(r.message)</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X = r.x.reshape(2,3)</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np.allclose(X.sum(1), [30,20])</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np.allclose(X.sum(0), [10,20,20])</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flows = X.copy()</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flows[np.abs(flows)&lt;1e-9] = 0  # лише для друку</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print(flows); print('C =', r.fun)</a:t>
            </a:r>
          </a:p>
        </p:txBody>
      </p:sp>
      <p:sp>
        <p:nvSpPr>
          <p:cNvPr id="5" name="">
            <a:extLst xmlns:a="http://schemas.openxmlformats.org/drawingml/2006/main">
              <a:ext uri="{FF2B5EF4-FFF2-40B4-BE49-F238E27FC236}">
                <a16:creationId xmlns:a16="http://schemas.microsoft.com/office/drawing/2014/main" id="{AC443CC5-2B4F-46B2-8993-DCCAD9B0DF77}"/>
              </a:ext>
            </a:extLst>
          </p:cNvPr>
          <p:cNvSpPr>
            <a:spLocks xmlns:a="http://schemas.openxmlformats.org/drawingml/2006/main" noGrp="1"/>
          </p:cNvSpPr>
          <p:nvPr/>
        </p:nvSpPr>
        <p:spPr>
          <a:xfrm xmlns:a="http://schemas.openxmlformats.org/drawingml/2006/main">
            <a:off x="762000" y="4314825"/>
            <a:ext cx="10668000" cy="118110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22E6F17-EB38-4257-8F1E-872D379F3311}"/>
              </a:ext>
            </a:extLst>
          </p:cNvPr>
          <p:cNvSpPr>
            <a:spLocks xmlns:a="http://schemas.openxmlformats.org/drawingml/2006/main" noGrp="1"/>
          </p:cNvSpPr>
          <p:nvPr/>
        </p:nvSpPr>
        <p:spPr>
          <a:xfrm xmlns:a="http://schemas.openxmlformats.org/drawingml/2006/main">
            <a:off x="933450" y="4410075"/>
            <a:ext cx="10325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[[10. 20.  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[ 0.  0. 20.]]    C = 120.0</a:t>
            </a:r>
          </a:p>
        </p:txBody>
      </p:sp>
      <p:sp>
        <p:nvSpPr>
          <p:cNvPr id="7" name="">
            <a:extLst xmlns:a="http://schemas.openxmlformats.org/drawingml/2006/main">
              <a:ext uri="{FF2B5EF4-FFF2-40B4-BE49-F238E27FC236}">
                <a16:creationId xmlns:a16="http://schemas.microsoft.com/office/drawing/2014/main" id="{890EE488-8474-47A9-8696-205647C163C5}"/>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62</a:t>
            </a:r>
          </a:p>
        </p:txBody>
      </p:sp>
    </p:spTree>
    <p:extLst>
      <p:ext uri="{BB962C8B-B14F-4D97-AF65-F5344CB8AC3E}">
        <p14:creationId xmlns:p14="http://schemas.microsoft.com/office/powerpoint/2010/main" val="203947422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EDCE73-1F59-4B6C-9472-6102A6D7BB02}"/>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ТЗЛП як потік: побудувати граф NetworkX</a:t>
            </a:r>
          </a:p>
        </p:txBody>
      </p:sp>
      <p:sp>
        <p:nvSpPr>
          <p:cNvPr id="2" name="">
            <a:extLst xmlns:a="http://schemas.openxmlformats.org/drawingml/2006/main">
              <a:ext uri="{FF2B5EF4-FFF2-40B4-BE49-F238E27FC236}">
                <a16:creationId xmlns:a16="http://schemas.microsoft.com/office/drawing/2014/main" id="{5929C5BC-6386-4386-808D-E929681F7B0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demand&lt;0 — джерело віддає; demand&gt;0 — вузол отримує.</a:t>
            </a:r>
          </a:p>
        </p:txBody>
      </p:sp>
      <p:sp>
        <p:nvSpPr>
          <p:cNvPr id="3" name="">
            <a:extLst xmlns:a="http://schemas.openxmlformats.org/drawingml/2006/main">
              <a:ext uri="{FF2B5EF4-FFF2-40B4-BE49-F238E27FC236}">
                <a16:creationId xmlns:a16="http://schemas.microsoft.com/office/drawing/2014/main" id="{707E9E58-24A5-40D7-A5FA-F7019D397F09}"/>
              </a:ext>
            </a:extLst>
          </p:cNvPr>
          <p:cNvSpPr>
            <a:spLocks xmlns:a="http://schemas.openxmlformats.org/drawingml/2006/main" noGrp="1"/>
          </p:cNvSpPr>
          <p:nvPr/>
        </p:nvSpPr>
        <p:spPr>
          <a:xfrm xmlns:a="http://schemas.openxmlformats.org/drawingml/2006/main">
            <a:off x="762000" y="1495425"/>
            <a:ext cx="10668000" cy="28956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AB90715-8FED-43B7-9AFA-C3B3F6C4C68D}"/>
              </a:ext>
            </a:extLst>
          </p:cNvPr>
          <p:cNvSpPr>
            <a:spLocks xmlns:a="http://schemas.openxmlformats.org/drawingml/2006/main" noGrp="1"/>
          </p:cNvSpPr>
          <p:nvPr/>
        </p:nvSpPr>
        <p:spPr>
          <a:xfrm xmlns:a="http://schemas.openxmlformats.org/drawingml/2006/main">
            <a:off x="952500" y="1628775"/>
            <a:ext cx="1028700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import networkx as nx</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G = nx.DiGraph()</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s = {'A':30, 'B':20}; d = {'P':10, 'Q':20, 'R':20}</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C = [[2,4,5],[6,3,1]]</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for i in s: G.add_node(i, demand=-s[i])</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for j in d: G.add_node(j, demand=d[j])</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for a,i in enumerate(s):</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for b,j in enumerate(d):</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G.add_edge(i,j,weight=C[a][b],capacity=s[i])</a:t>
            </a:r>
          </a:p>
        </p:txBody>
      </p:sp>
      <p:sp>
        <p:nvSpPr>
          <p:cNvPr id="5" name="">
            <a:extLst xmlns:a="http://schemas.openxmlformats.org/drawingml/2006/main">
              <a:ext uri="{FF2B5EF4-FFF2-40B4-BE49-F238E27FC236}">
                <a16:creationId xmlns:a16="http://schemas.microsoft.com/office/drawing/2014/main" id="{F9FC5E4A-B64B-4775-AA64-CAAD8B51AF06}"/>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8" name="">
            <a:extLst xmlns:a="http://schemas.openxmlformats.org/drawingml/2006/main">
              <a:ext uri="{FF2B5EF4-FFF2-40B4-BE49-F238E27FC236}">
                <a16:creationId xmlns:a16="http://schemas.microsoft.com/office/drawing/2014/main" id="{26A95D14-F606-42D5-B65A-95423F61F72D}"/>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63</a:t>
            </a:r>
          </a:p>
        </p:txBody>
      </p:sp>
    </p:spTree>
    <p:extLst>
      <p:ext uri="{BB962C8B-B14F-4D97-AF65-F5344CB8AC3E}">
        <p14:creationId xmlns:p14="http://schemas.microsoft.com/office/powerpoint/2010/main" val="674813125"/>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158CD9-E85C-4E4A-B86B-EBE5875981CF}"/>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ТЗЛП як потік: network_simplex і результат</a:t>
            </a:r>
          </a:p>
        </p:txBody>
      </p:sp>
      <p:sp>
        <p:nvSpPr>
          <p:cNvPr id="2" name="">
            <a:extLst xmlns:a="http://schemas.openxmlformats.org/drawingml/2006/main">
              <a:ext uri="{FF2B5EF4-FFF2-40B4-BE49-F238E27FC236}">
                <a16:creationId xmlns:a16="http://schemas.microsoft.com/office/drawing/2014/main" id="{69DAD299-2A46-40FC-902C-138B0C8BD0B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Мережева модель дає той самий план і вартість, що linprog.</a:t>
            </a:r>
          </a:p>
        </p:txBody>
      </p:sp>
      <p:sp>
        <p:nvSpPr>
          <p:cNvPr id="3" name="">
            <a:extLst xmlns:a="http://schemas.openxmlformats.org/drawingml/2006/main">
              <a:ext uri="{FF2B5EF4-FFF2-40B4-BE49-F238E27FC236}">
                <a16:creationId xmlns:a16="http://schemas.microsoft.com/office/drawing/2014/main" id="{1E825274-3196-42DB-9322-B02E2FA2DE47}"/>
              </a:ext>
            </a:extLst>
          </p:cNvPr>
          <p:cNvSpPr>
            <a:spLocks xmlns:a="http://schemas.openxmlformats.org/drawingml/2006/main" noGrp="1"/>
          </p:cNvSpPr>
          <p:nvPr/>
        </p:nvSpPr>
        <p:spPr>
          <a:xfrm xmlns:a="http://schemas.openxmlformats.org/drawingml/2006/main">
            <a:off x="762000" y="1600200"/>
            <a:ext cx="10668000" cy="169545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D8D708-1871-4B60-AD7E-3108DED8C31B}"/>
              </a:ext>
            </a:extLst>
          </p:cNvPr>
          <p:cNvSpPr>
            <a:spLocks xmlns:a="http://schemas.openxmlformats.org/drawingml/2006/main" noGrp="1"/>
          </p:cNvSpPr>
          <p:nvPr/>
        </p:nvSpPr>
        <p:spPr>
          <a:xfrm xmlns:a="http://schemas.openxmlformats.org/drawingml/2006/main">
            <a:off x="952500" y="1733550"/>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Courier New"/>
                <a:ea typeface="Courier New"/>
                <a:cs typeface="Courier New"/>
              </a:defRPr>
            </a:pPr>
            <a:r>
              <a:rPr sz="2250" b="0">
                <a:solidFill>
                  <a:srgbClr val="173047"/>
                </a:solidFill>
                <a:latin typeface="Courier New"/>
                <a:ea typeface="Courier New"/>
                <a:cs typeface="Courier New"/>
              </a:rPr>
              <a:t>cost, flow = nx.network_simplex(G)</a:t>
            </a:r>
          </a:p>
          <a:p xmlns:a="http://schemas.openxmlformats.org/drawingml/2006/main">
            <a:pPr algn="l">
              <a:buNone/>
              <a:defRPr sz="2250" b="0">
                <a:solidFill>
                  <a:srgbClr val="173047"/>
                </a:solidFill>
                <a:latin typeface="Courier New"/>
                <a:ea typeface="Courier New"/>
                <a:cs typeface="Courier New"/>
              </a:defRPr>
            </a:pPr>
            <a:r>
              <a:rPr sz="2250" b="0">
                <a:solidFill>
                  <a:srgbClr val="173047"/>
                </a:solidFill>
                <a:latin typeface="Courier New"/>
                <a:ea typeface="Courier New"/>
                <a:cs typeface="Courier New"/>
              </a:rPr>
              <a:t>for i in s:</a:t>
            </a:r>
          </a:p>
          <a:p xmlns:a="http://schemas.openxmlformats.org/drawingml/2006/main">
            <a:pPr algn="l">
              <a:buNone/>
              <a:defRPr sz="2250" b="0">
                <a:solidFill>
                  <a:srgbClr val="173047"/>
                </a:solidFill>
                <a:latin typeface="Courier New"/>
                <a:ea typeface="Courier New"/>
                <a:cs typeface="Courier New"/>
              </a:defRPr>
            </a:pPr>
            <a:r>
              <a:rPr sz="2250" b="0">
                <a:solidFill>
                  <a:srgbClr val="173047"/>
                </a:solidFill>
                <a:latin typeface="Courier New"/>
                <a:ea typeface="Courier New"/>
                <a:cs typeface="Courier New"/>
              </a:rPr>
              <a:t>    print(i, [flow[i][j] for j in d])</a:t>
            </a:r>
          </a:p>
          <a:p xmlns:a="http://schemas.openxmlformats.org/drawingml/2006/main">
            <a:pPr algn="l">
              <a:buNone/>
              <a:defRPr sz="2250" b="0">
                <a:solidFill>
                  <a:srgbClr val="173047"/>
                </a:solidFill>
                <a:latin typeface="Courier New"/>
                <a:ea typeface="Courier New"/>
                <a:cs typeface="Courier New"/>
              </a:defRPr>
            </a:pPr>
            <a:r>
              <a:rPr sz="2250" b="0">
                <a:solidFill>
                  <a:srgbClr val="173047"/>
                </a:solidFill>
                <a:latin typeface="Courier New"/>
                <a:ea typeface="Courier New"/>
                <a:cs typeface="Courier New"/>
              </a:rPr>
              <a:t>print('C =', cost)</a:t>
            </a:r>
          </a:p>
        </p:txBody>
      </p:sp>
      <p:sp>
        <p:nvSpPr>
          <p:cNvPr id="5" name="">
            <a:extLst xmlns:a="http://schemas.openxmlformats.org/drawingml/2006/main">
              <a:ext uri="{FF2B5EF4-FFF2-40B4-BE49-F238E27FC236}">
                <a16:creationId xmlns:a16="http://schemas.microsoft.com/office/drawing/2014/main" id="{4867826B-D965-415F-9E9E-C7A8147A5CB4}"/>
              </a:ext>
            </a:extLst>
          </p:cNvPr>
          <p:cNvSpPr>
            <a:spLocks xmlns:a="http://schemas.openxmlformats.org/drawingml/2006/main" noGrp="1"/>
          </p:cNvSpPr>
          <p:nvPr/>
        </p:nvSpPr>
        <p:spPr>
          <a:xfrm xmlns:a="http://schemas.openxmlformats.org/drawingml/2006/main">
            <a:off x="762000" y="3686175"/>
            <a:ext cx="10668000" cy="150495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D87A99-45A9-4BE0-B314-68610E24721F}"/>
              </a:ext>
            </a:extLst>
          </p:cNvPr>
          <p:cNvSpPr>
            <a:spLocks xmlns:a="http://schemas.openxmlformats.org/drawingml/2006/main" noGrp="1"/>
          </p:cNvSpPr>
          <p:nvPr/>
        </p:nvSpPr>
        <p:spPr>
          <a:xfrm xmlns:a="http://schemas.openxmlformats.org/drawingml/2006/main">
            <a:off x="933450" y="3781425"/>
            <a:ext cx="103251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A [10, 20, 0]</a:t>
            </a:r>
          </a:p>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B [0, 0, 20]</a:t>
            </a:r>
          </a:p>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C = 120</a:t>
            </a:r>
          </a:p>
        </p:txBody>
      </p:sp>
      <p:sp>
        <p:nvSpPr>
          <p:cNvPr id="9" name="">
            <a:extLst xmlns:a="http://schemas.openxmlformats.org/drawingml/2006/main">
              <a:ext uri="{FF2B5EF4-FFF2-40B4-BE49-F238E27FC236}">
                <a16:creationId xmlns:a16="http://schemas.microsoft.com/office/drawing/2014/main" id="{C7968DEE-9B3E-4E65-ADE0-309011765C14}"/>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64</a:t>
            </a:r>
          </a:p>
        </p:txBody>
      </p:sp>
    </p:spTree>
    <p:extLst>
      <p:ext uri="{BB962C8B-B14F-4D97-AF65-F5344CB8AC3E}">
        <p14:creationId xmlns:p14="http://schemas.microsoft.com/office/powerpoint/2010/main" val="384587189"/>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BAF6E1-E121-48D4-96EE-C6C701F98B6D}"/>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ТЗЛП: час двох способів розв’язання</a:t>
            </a:r>
          </a:p>
        </p:txBody>
      </p:sp>
      <p:sp>
        <p:nvSpPr>
          <p:cNvPr id="2" name="">
            <a:extLst xmlns:a="http://schemas.openxmlformats.org/drawingml/2006/main">
              <a:ext uri="{FF2B5EF4-FFF2-40B4-BE49-F238E27FC236}">
                <a16:creationId xmlns:a16="http://schemas.microsoft.com/office/drawing/2014/main" id="{8D81D258-C28C-42EA-ABC7-2FC0710F673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Це вимір для моделі 2×3 у збереженому середовищі. Інші розміри потребують окремих замірів.</a:t>
            </a:r>
          </a:p>
        </p:txBody>
      </p:sp>
      <p:sp>
        <p:nvSpPr>
          <p:cNvPr id="3" name="">
            <a:extLst xmlns:a="http://schemas.openxmlformats.org/drawingml/2006/main">
              <a:ext uri="{FF2B5EF4-FFF2-40B4-BE49-F238E27FC236}">
                <a16:creationId xmlns:a16="http://schemas.microsoft.com/office/drawing/2014/main" id="{49186763-C513-426F-B3FF-39D7E081ABCB}"/>
              </a:ext>
            </a:extLst>
          </p:cNvPr>
          <p:cNvSpPr>
            <a:spLocks xmlns:a="http://schemas.openxmlformats.org/drawingml/2006/main" noGrp="1"/>
          </p:cNvSpPr>
          <p:nvPr/>
        </p:nvSpPr>
        <p:spPr>
          <a:xfrm xmlns:a="http://schemas.openxmlformats.org/drawingml/2006/main">
            <a:off x="762000" y="1543050"/>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SciPy: linprog</a:t>
            </a:r>
          </a:p>
        </p:txBody>
      </p:sp>
      <p:sp>
        <p:nvSpPr>
          <p:cNvPr id="4" name="">
            <a:extLst xmlns:a="http://schemas.openxmlformats.org/drawingml/2006/main">
              <a:ext uri="{FF2B5EF4-FFF2-40B4-BE49-F238E27FC236}">
                <a16:creationId xmlns:a16="http://schemas.microsoft.com/office/drawing/2014/main" id="{F23F1A66-01F7-496F-83EA-B3DB7AA2AC83}"/>
              </a:ext>
            </a:extLst>
          </p:cNvPr>
          <p:cNvSpPr>
            <a:spLocks xmlns:a="http://schemas.openxmlformats.org/drawingml/2006/main" noGrp="1"/>
          </p:cNvSpPr>
          <p:nvPr/>
        </p:nvSpPr>
        <p:spPr>
          <a:xfrm xmlns:a="http://schemas.openxmlformats.org/drawingml/2006/main">
            <a:off x="762000" y="2143125"/>
            <a:ext cx="7667625" cy="94107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7EC81B-F9E1-4068-9B41-A12DDAAA6244}"/>
              </a:ext>
            </a:extLst>
          </p:cNvPr>
          <p:cNvSpPr>
            <a:spLocks xmlns:a="http://schemas.openxmlformats.org/drawingml/2006/main" noGrp="1"/>
          </p:cNvSpPr>
          <p:nvPr/>
        </p:nvSpPr>
        <p:spPr>
          <a:xfrm xmlns:a="http://schemas.openxmlformats.org/drawingml/2006/main">
            <a:off x="952500" y="2276475"/>
            <a:ext cx="7286625" cy="6743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linprog(c, A_eq=A_eq, b_eq=b_eq,</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method='highs')</a:t>
            </a:r>
          </a:p>
        </p:txBody>
      </p:sp>
      <p:sp>
        <p:nvSpPr>
          <p:cNvPr id="6" name="">
            <a:extLst xmlns:a="http://schemas.openxmlformats.org/drawingml/2006/main">
              <a:ext uri="{FF2B5EF4-FFF2-40B4-BE49-F238E27FC236}">
                <a16:creationId xmlns:a16="http://schemas.microsoft.com/office/drawing/2014/main" id="{73A1E8A0-DE71-4C21-8354-6DE603BEDF63}"/>
              </a:ext>
            </a:extLst>
          </p:cNvPr>
          <p:cNvSpPr>
            <a:spLocks xmlns:a="http://schemas.openxmlformats.org/drawingml/2006/main" noGrp="1"/>
          </p:cNvSpPr>
          <p:nvPr/>
        </p:nvSpPr>
        <p:spPr>
          <a:xfrm xmlns:a="http://schemas.openxmlformats.org/drawingml/2006/main">
            <a:off x="8763000" y="228600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00857D"/>
                </a:solidFill>
                <a:latin typeface="Arial"/>
                <a:ea typeface="Arial"/>
                <a:cs typeface="Arial"/>
              </a:defRPr>
            </a:pPr>
            <a:r>
              <a:rPr sz="3000" b="1">
                <a:solidFill>
                  <a:srgbClr val="00857D"/>
                </a:solidFill>
                <a:latin typeface="Arial"/>
                <a:ea typeface="Arial"/>
                <a:cs typeface="Arial"/>
              </a:rPr>
              <a:t>1,062 мс</a:t>
            </a:r>
          </a:p>
        </p:txBody>
      </p:sp>
      <p:sp>
        <p:nvSpPr>
          <p:cNvPr id="7" name="">
            <a:extLst xmlns:a="http://schemas.openxmlformats.org/drawingml/2006/main">
              <a:ext uri="{FF2B5EF4-FFF2-40B4-BE49-F238E27FC236}">
                <a16:creationId xmlns:a16="http://schemas.microsoft.com/office/drawing/2014/main" id="{334B2293-CDD9-4792-BFF7-FB120AEBEF56}"/>
              </a:ext>
            </a:extLst>
          </p:cNvPr>
          <p:cNvSpPr>
            <a:spLocks xmlns:a="http://schemas.openxmlformats.org/drawingml/2006/main" noGrp="1"/>
          </p:cNvSpPr>
          <p:nvPr/>
        </p:nvSpPr>
        <p:spPr>
          <a:xfrm xmlns:a="http://schemas.openxmlformats.org/drawingml/2006/main">
            <a:off x="762000" y="3505200"/>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NetworkX: network_simplex</a:t>
            </a:r>
          </a:p>
        </p:txBody>
      </p:sp>
      <p:sp>
        <p:nvSpPr>
          <p:cNvPr id="8" name="">
            <a:extLst xmlns:a="http://schemas.openxmlformats.org/drawingml/2006/main">
              <a:ext uri="{FF2B5EF4-FFF2-40B4-BE49-F238E27FC236}">
                <a16:creationId xmlns:a16="http://schemas.microsoft.com/office/drawing/2014/main" id="{3ACDE875-B236-4852-A44C-2A452DB28D08}"/>
              </a:ext>
            </a:extLst>
          </p:cNvPr>
          <p:cNvSpPr>
            <a:spLocks xmlns:a="http://schemas.openxmlformats.org/drawingml/2006/main" noGrp="1"/>
          </p:cNvSpPr>
          <p:nvPr/>
        </p:nvSpPr>
        <p:spPr>
          <a:xfrm xmlns:a="http://schemas.openxmlformats.org/drawingml/2006/main">
            <a:off x="762000" y="4105275"/>
            <a:ext cx="7667625" cy="65532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6E4140D-C266-4313-97AF-AD92A3B29250}"/>
              </a:ext>
            </a:extLst>
          </p:cNvPr>
          <p:cNvSpPr>
            <a:spLocks xmlns:a="http://schemas.openxmlformats.org/drawingml/2006/main" noGrp="1"/>
          </p:cNvSpPr>
          <p:nvPr/>
        </p:nvSpPr>
        <p:spPr>
          <a:xfrm xmlns:a="http://schemas.openxmlformats.org/drawingml/2006/main">
            <a:off x="952500" y="4238625"/>
            <a:ext cx="7286625"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nx.network_simplex(G)</a:t>
            </a:r>
          </a:p>
        </p:txBody>
      </p:sp>
      <p:sp>
        <p:nvSpPr>
          <p:cNvPr id="10" name="">
            <a:extLst xmlns:a="http://schemas.openxmlformats.org/drawingml/2006/main">
              <a:ext uri="{FF2B5EF4-FFF2-40B4-BE49-F238E27FC236}">
                <a16:creationId xmlns:a16="http://schemas.microsoft.com/office/drawing/2014/main" id="{A0BF3905-C952-4C26-BF4C-A7051A62E338}"/>
              </a:ext>
            </a:extLst>
          </p:cNvPr>
          <p:cNvSpPr>
            <a:spLocks xmlns:a="http://schemas.openxmlformats.org/drawingml/2006/main" noGrp="1"/>
          </p:cNvSpPr>
          <p:nvPr/>
        </p:nvSpPr>
        <p:spPr>
          <a:xfrm xmlns:a="http://schemas.openxmlformats.org/drawingml/2006/main">
            <a:off x="8763000" y="4238625"/>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00857D"/>
                </a:solidFill>
                <a:latin typeface="Arial"/>
                <a:ea typeface="Arial"/>
                <a:cs typeface="Arial"/>
              </a:defRPr>
            </a:pPr>
            <a:r>
              <a:rPr sz="3000" b="1">
                <a:solidFill>
                  <a:srgbClr val="00857D"/>
                </a:solidFill>
                <a:latin typeface="Arial"/>
                <a:ea typeface="Arial"/>
                <a:cs typeface="Arial"/>
              </a:rPr>
              <a:t>0,050 мс</a:t>
            </a:r>
          </a:p>
        </p:txBody>
      </p:sp>
      <p:sp>
        <p:nvSpPr>
          <p:cNvPr id="11" name="">
            <a:extLst xmlns:a="http://schemas.openxmlformats.org/drawingml/2006/main">
              <a:ext uri="{FF2B5EF4-FFF2-40B4-BE49-F238E27FC236}">
                <a16:creationId xmlns:a16="http://schemas.microsoft.com/office/drawing/2014/main" id="{4B115572-59D3-4E9E-BB63-C3EEA27BAECD}"/>
              </a:ext>
            </a:extLst>
          </p:cNvPr>
          <p:cNvSpPr>
            <a:spLocks xmlns:a="http://schemas.openxmlformats.org/drawingml/2006/main" noGrp="1"/>
          </p:cNvSpPr>
          <p:nvPr/>
        </p:nvSpPr>
        <p:spPr>
          <a:xfrm xmlns:a="http://schemas.openxmlformats.org/drawingml/2006/main">
            <a:off x="762000" y="5238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0">
                <a:solidFill>
                  <a:srgbClr val="566779"/>
                </a:solidFill>
                <a:latin typeface="Arial"/>
                <a:ea typeface="Arial"/>
                <a:cs typeface="Arial"/>
              </a:defRPr>
            </a:pPr>
            <a:r>
              <a:rPr sz="2025" b="0">
                <a:solidFill>
                  <a:srgbClr val="566779"/>
                </a:solidFill>
                <a:latin typeface="Arial"/>
                <a:ea typeface="Arial"/>
                <a:cs typeface="Arial"/>
              </a:rPr>
              <a:t>Медіана 7 серій по 1000 викликів. Дані створено до заміру.</a:t>
            </a:r>
          </a:p>
        </p:txBody>
      </p:sp>
      <p:sp>
        <p:nvSpPr>
          <p:cNvPr id="12" name="">
            <a:extLst xmlns:a="http://schemas.openxmlformats.org/drawingml/2006/main">
              <a:ext uri="{FF2B5EF4-FFF2-40B4-BE49-F238E27FC236}">
                <a16:creationId xmlns:a16="http://schemas.microsoft.com/office/drawing/2014/main" id="{DA5D7735-5637-43B6-9E23-A0296335E5F8}"/>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65</a:t>
            </a:r>
          </a:p>
        </p:txBody>
      </p:sp>
    </p:spTree>
    <p:extLst>
      <p:ext uri="{BB962C8B-B14F-4D97-AF65-F5344CB8AC3E}">
        <p14:creationId xmlns:p14="http://schemas.microsoft.com/office/powerpoint/2010/main" val="206763606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23D7622B-22D1-4D9A-AACF-3BFC9B3C3989}"/>
              </a:ext>
            </a:extLst>
          </p:cNvPr>
          <p:cNvCxnSpPr>
            <a:stCxn xmlns:a="http://schemas.openxmlformats.org/drawingml/2006/main" id="5" idx="3"/>
            <a:endCxn xmlns:a="http://schemas.openxmlformats.org/drawingml/2006/main" id="11" idx="1"/>
          </p:cNvCxnSpPr>
          <p:nvPr/>
        </p:nvCxnSpPr>
        <p:spPr>
          <a:xfrm xmlns:a="http://schemas.openxmlformats.org/drawingml/2006/main">
            <a:off x="2381250" y="4581525"/>
            <a:ext cx="6762750" cy="576263"/>
          </a:xfrm>
          <a:prstGeom xmlns:a="http://schemas.openxmlformats.org/drawingml/2006/main" prst="straightConnector1">
            <a:avLst/>
          </a:prstGeom>
          <a:ln xmlns:a="http://schemas.openxmlformats.org/drawingml/2006/main" w="57150">
            <a:solidFill>
              <a:srgbClr val="00857D"/>
            </a:solidFill>
            <a:tailEnd type="triangle" w="med" len="med"/>
          </a:ln>
        </p:spPr>
      </p:cxnSp>
      <p:cxnSp>
        <p:nvCxnSpPr>
          <p:cNvPr id="26" name="">
            <a:extLst xmlns:a="http://schemas.openxmlformats.org/drawingml/2006/main">
              <a:ext uri="{FF2B5EF4-FFF2-40B4-BE49-F238E27FC236}">
                <a16:creationId xmlns:a16="http://schemas.microsoft.com/office/drawing/2014/main" id="{0B54C506-C3E9-4545-84E8-7E3CEE93F38C}"/>
              </a:ext>
            </a:extLst>
          </p:cNvPr>
          <p:cNvCxnSpPr>
            <a:stCxn xmlns:a="http://schemas.openxmlformats.org/drawingml/2006/main" id="3" idx="3"/>
            <a:endCxn xmlns:a="http://schemas.openxmlformats.org/drawingml/2006/main" id="9" idx="1"/>
          </p:cNvCxnSpPr>
          <p:nvPr/>
        </p:nvCxnSpPr>
        <p:spPr>
          <a:xfrm xmlns:a="http://schemas.openxmlformats.org/drawingml/2006/main">
            <a:off x="2381250" y="2390775"/>
            <a:ext cx="6762750" cy="1147763"/>
          </a:xfrm>
          <a:prstGeom xmlns:a="http://schemas.openxmlformats.org/drawingml/2006/main" prst="straightConnector1">
            <a:avLst/>
          </a:prstGeom>
          <a:ln xmlns:a="http://schemas.openxmlformats.org/drawingml/2006/main" w="57150">
            <a:solidFill>
              <a:srgbClr val="1479AE"/>
            </a:solidFill>
            <a:tailEnd type="triangle" w="med" len="med"/>
          </a:ln>
        </p:spPr>
      </p:cxnSp>
      <p:cxnSp>
        <p:nvCxnSpPr>
          <p:cNvPr id="27" name="">
            <a:extLst xmlns:a="http://schemas.openxmlformats.org/drawingml/2006/main">
              <a:ext uri="{FF2B5EF4-FFF2-40B4-BE49-F238E27FC236}">
                <a16:creationId xmlns:a16="http://schemas.microsoft.com/office/drawing/2014/main" id="{E7CFFE76-5987-4522-BC04-9EED9C01D06F}"/>
              </a:ext>
            </a:extLst>
          </p:cNvPr>
          <p:cNvCxnSpPr>
            <a:stCxn xmlns:a="http://schemas.openxmlformats.org/drawingml/2006/main" id="3" idx="3"/>
            <a:endCxn xmlns:a="http://schemas.openxmlformats.org/drawingml/2006/main" id="7" idx="1"/>
          </p:cNvCxnSpPr>
          <p:nvPr/>
        </p:nvCxnSpPr>
        <p:spPr>
          <a:xfrm xmlns:a="http://schemas.openxmlformats.org/drawingml/2006/main" flipV="1">
            <a:off x="2381250" y="1928813"/>
            <a:ext cx="6762750" cy="461963"/>
          </a:xfrm>
          <a:prstGeom xmlns:a="http://schemas.openxmlformats.org/drawingml/2006/main" prst="straightConnector1">
            <a:avLst/>
          </a:prstGeom>
          <a:ln xmlns:a="http://schemas.openxmlformats.org/drawingml/2006/main" w="28575">
            <a:solidFill>
              <a:srgbClr val="1479AE"/>
            </a:solidFill>
            <a:tailEnd type="triangle" w="med" len="med"/>
          </a:ln>
        </p:spPr>
      </p:cxnSp>
      <p:sp>
        <p:nvSpPr>
          <p:cNvPr id="23" name="">
            <a:extLst xmlns:a="http://schemas.openxmlformats.org/drawingml/2006/main">
              <a:ext uri="{FF2B5EF4-FFF2-40B4-BE49-F238E27FC236}">
                <a16:creationId xmlns:a16="http://schemas.microsoft.com/office/drawing/2014/main" id="{5096D12B-7EDB-4BD5-94A6-1658F2915FE2}"/>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Оптимальні потоки: напрям і вартість</a:t>
            </a:r>
          </a:p>
        </p:txBody>
      </p:sp>
      <p:sp>
        <p:nvSpPr>
          <p:cNvPr id="2" name="">
            <a:extLst xmlns:a="http://schemas.openxmlformats.org/drawingml/2006/main">
              <a:ext uri="{FF2B5EF4-FFF2-40B4-BE49-F238E27FC236}">
                <a16:creationId xmlns:a16="http://schemas.microsoft.com/office/drawing/2014/main" id="{D6970554-ACC7-49AE-8F55-793F5F12CE4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Товщина дуги пропорційна потоку; підпис — потік × ціна одиниці.</a:t>
            </a:r>
          </a:p>
        </p:txBody>
      </p:sp>
      <p:sp>
        <p:nvSpPr>
          <p:cNvPr id="3" name="">
            <a:extLst xmlns:a="http://schemas.openxmlformats.org/drawingml/2006/main">
              <a:ext uri="{FF2B5EF4-FFF2-40B4-BE49-F238E27FC236}">
                <a16:creationId xmlns:a16="http://schemas.microsoft.com/office/drawing/2014/main" id="{E25C6009-56B0-4256-ABD9-9784DC2B17E7}"/>
              </a:ext>
            </a:extLst>
          </p:cNvPr>
          <p:cNvSpPr>
            <a:spLocks xmlns:a="http://schemas.openxmlformats.org/drawingml/2006/main" noGrp="1"/>
          </p:cNvSpPr>
          <p:nvPr/>
        </p:nvSpPr>
        <p:spPr>
          <a:xfrm xmlns:a="http://schemas.openxmlformats.org/drawingml/2006/main">
            <a:off x="762000" y="1819275"/>
            <a:ext cx="1619250" cy="1143000"/>
          </a:xfrm>
          <a:prstGeom xmlns:a="http://schemas.openxmlformats.org/drawingml/2006/main" prst="roundRect">
            <a:avLst>
              <a:gd name="adj" fmla="val 6667"/>
            </a:avLst>
          </a:prstGeom>
          <a:solidFill xmlns:a="http://schemas.openxmlformats.org/drawingml/2006/main">
            <a:srgbClr val="EAF2FC"/>
          </a:solidFill>
          <a:ln xmlns:a="http://schemas.openxmlformats.org/drawingml/2006/main" w="14288">
            <a:solidFill>
              <a:srgbClr val="CDD8E1"/>
            </a:solidFill>
          </a:ln>
        </p:spPr>
      </p:sp>
      <p:sp>
        <p:nvSpPr>
          <p:cNvPr id="4" name="">
            <a:extLst xmlns:a="http://schemas.openxmlformats.org/drawingml/2006/main">
              <a:ext uri="{FF2B5EF4-FFF2-40B4-BE49-F238E27FC236}">
                <a16:creationId xmlns:a16="http://schemas.microsoft.com/office/drawing/2014/main" id="{40BDF06A-C573-4992-9437-63EB632493D8}"/>
              </a:ext>
            </a:extLst>
          </p:cNvPr>
          <p:cNvSpPr>
            <a:spLocks xmlns:a="http://schemas.openxmlformats.org/drawingml/2006/main" noGrp="1"/>
          </p:cNvSpPr>
          <p:nvPr/>
        </p:nvSpPr>
        <p:spPr>
          <a:xfrm xmlns:a="http://schemas.openxmlformats.org/drawingml/2006/main">
            <a:off x="895350" y="1895475"/>
            <a:ext cx="1352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A</a:t>
            </a:r>
          </a:p>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запас 30</a:t>
            </a:r>
          </a:p>
        </p:txBody>
      </p:sp>
      <p:sp>
        <p:nvSpPr>
          <p:cNvPr id="5" name="">
            <a:extLst xmlns:a="http://schemas.openxmlformats.org/drawingml/2006/main">
              <a:ext uri="{FF2B5EF4-FFF2-40B4-BE49-F238E27FC236}">
                <a16:creationId xmlns:a16="http://schemas.microsoft.com/office/drawing/2014/main" id="{FDC54387-33E0-48E3-9B0F-B9577AA757A6}"/>
              </a:ext>
            </a:extLst>
          </p:cNvPr>
          <p:cNvSpPr>
            <a:spLocks xmlns:a="http://schemas.openxmlformats.org/drawingml/2006/main" noGrp="1"/>
          </p:cNvSpPr>
          <p:nvPr/>
        </p:nvSpPr>
        <p:spPr>
          <a:xfrm xmlns:a="http://schemas.openxmlformats.org/drawingml/2006/main">
            <a:off x="762000" y="4010025"/>
            <a:ext cx="1619250" cy="1143000"/>
          </a:xfrm>
          <a:prstGeom xmlns:a="http://schemas.openxmlformats.org/drawingml/2006/main" prst="roundRect">
            <a:avLst>
              <a:gd name="adj" fmla="val 6667"/>
            </a:avLst>
          </a:prstGeom>
          <a:solidFill xmlns:a="http://schemas.openxmlformats.org/drawingml/2006/main">
            <a:srgbClr val="E6F4EF"/>
          </a:solidFill>
          <a:ln xmlns:a="http://schemas.openxmlformats.org/drawingml/2006/main" w="14288">
            <a:solidFill>
              <a:srgbClr val="CDD8E1"/>
            </a:solidFill>
          </a:ln>
        </p:spPr>
      </p:sp>
      <p:sp>
        <p:nvSpPr>
          <p:cNvPr id="6" name="">
            <a:extLst xmlns:a="http://schemas.openxmlformats.org/drawingml/2006/main">
              <a:ext uri="{FF2B5EF4-FFF2-40B4-BE49-F238E27FC236}">
                <a16:creationId xmlns:a16="http://schemas.microsoft.com/office/drawing/2014/main" id="{AFEC1396-0FC5-4C01-8A53-31CA696EEBF1}"/>
              </a:ext>
            </a:extLst>
          </p:cNvPr>
          <p:cNvSpPr>
            <a:spLocks xmlns:a="http://schemas.openxmlformats.org/drawingml/2006/main" noGrp="1"/>
          </p:cNvSpPr>
          <p:nvPr/>
        </p:nvSpPr>
        <p:spPr>
          <a:xfrm xmlns:a="http://schemas.openxmlformats.org/drawingml/2006/main">
            <a:off x="895350" y="4086225"/>
            <a:ext cx="13525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B</a:t>
            </a:r>
          </a:p>
          <a:p xmlns:a="http://schemas.openxmlformats.org/drawingml/2006/main">
            <a:pPr algn="ctr">
              <a:buNone/>
              <a:defRPr sz="2400" b="1">
                <a:solidFill>
                  <a:srgbClr val="173047"/>
                </a:solidFill>
                <a:latin typeface="Arial"/>
                <a:ea typeface="Arial"/>
                <a:cs typeface="Arial"/>
              </a:defRPr>
            </a:pPr>
            <a:r>
              <a:rPr sz="2400" b="1">
                <a:solidFill>
                  <a:srgbClr val="173047"/>
                </a:solidFill>
                <a:latin typeface="Arial"/>
                <a:ea typeface="Arial"/>
                <a:cs typeface="Arial"/>
              </a:rPr>
              <a:t>запас 20</a:t>
            </a:r>
          </a:p>
        </p:txBody>
      </p:sp>
      <p:sp>
        <p:nvSpPr>
          <p:cNvPr id="7" name="">
            <a:extLst xmlns:a="http://schemas.openxmlformats.org/drawingml/2006/main">
              <a:ext uri="{FF2B5EF4-FFF2-40B4-BE49-F238E27FC236}">
                <a16:creationId xmlns:a16="http://schemas.microsoft.com/office/drawing/2014/main" id="{BFE92DCD-D04C-48DC-8651-0E0D73A9A755}"/>
              </a:ext>
            </a:extLst>
          </p:cNvPr>
          <p:cNvSpPr>
            <a:spLocks xmlns:a="http://schemas.openxmlformats.org/drawingml/2006/main" noGrp="1"/>
          </p:cNvSpPr>
          <p:nvPr/>
        </p:nvSpPr>
        <p:spPr>
          <a:xfrm xmlns:a="http://schemas.openxmlformats.org/drawingml/2006/main">
            <a:off x="9144000" y="1438275"/>
            <a:ext cx="2190750" cy="981075"/>
          </a:xfrm>
          <a:prstGeom xmlns:a="http://schemas.openxmlformats.org/drawingml/2006/main" prst="roundRect">
            <a:avLst>
              <a:gd name="adj" fmla="val 7767"/>
            </a:avLst>
          </a:prstGeom>
          <a:solidFill xmlns:a="http://schemas.openxmlformats.org/drawingml/2006/main">
            <a:srgbClr val="F1F5F8"/>
          </a:solidFill>
          <a:ln xmlns:a="http://schemas.openxmlformats.org/drawingml/2006/main" w="14288">
            <a:solidFill>
              <a:srgbClr val="CDD8E1"/>
            </a:solidFill>
          </a:ln>
        </p:spPr>
      </p:sp>
      <p:sp>
        <p:nvSpPr>
          <p:cNvPr id="8" name="">
            <a:extLst xmlns:a="http://schemas.openxmlformats.org/drawingml/2006/main">
              <a:ext uri="{FF2B5EF4-FFF2-40B4-BE49-F238E27FC236}">
                <a16:creationId xmlns:a16="http://schemas.microsoft.com/office/drawing/2014/main" id="{260F6956-875A-4063-B222-CB728AECE477}"/>
              </a:ext>
            </a:extLst>
          </p:cNvPr>
          <p:cNvSpPr>
            <a:spLocks xmlns:a="http://schemas.openxmlformats.org/drawingml/2006/main" noGrp="1"/>
          </p:cNvSpPr>
          <p:nvPr/>
        </p:nvSpPr>
        <p:spPr>
          <a:xfrm xmlns:a="http://schemas.openxmlformats.org/drawingml/2006/main">
            <a:off x="9277350" y="1514475"/>
            <a:ext cx="1924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P</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попит 10</a:t>
            </a:r>
          </a:p>
        </p:txBody>
      </p:sp>
      <p:sp>
        <p:nvSpPr>
          <p:cNvPr id="9" name="">
            <a:extLst xmlns:a="http://schemas.openxmlformats.org/drawingml/2006/main">
              <a:ext uri="{FF2B5EF4-FFF2-40B4-BE49-F238E27FC236}">
                <a16:creationId xmlns:a16="http://schemas.microsoft.com/office/drawing/2014/main" id="{B918E01D-87FA-47E5-B72E-808F3E61EBC0}"/>
              </a:ext>
            </a:extLst>
          </p:cNvPr>
          <p:cNvSpPr>
            <a:spLocks xmlns:a="http://schemas.openxmlformats.org/drawingml/2006/main" noGrp="1"/>
          </p:cNvSpPr>
          <p:nvPr/>
        </p:nvSpPr>
        <p:spPr>
          <a:xfrm xmlns:a="http://schemas.openxmlformats.org/drawingml/2006/main">
            <a:off x="9144000" y="3048000"/>
            <a:ext cx="2190750" cy="981075"/>
          </a:xfrm>
          <a:prstGeom xmlns:a="http://schemas.openxmlformats.org/drawingml/2006/main" prst="roundRect">
            <a:avLst>
              <a:gd name="adj" fmla="val 7767"/>
            </a:avLst>
          </a:prstGeom>
          <a:solidFill xmlns:a="http://schemas.openxmlformats.org/drawingml/2006/main">
            <a:srgbClr val="F1F5F8"/>
          </a:solidFill>
          <a:ln xmlns:a="http://schemas.openxmlformats.org/drawingml/2006/main" w="14288">
            <a:solidFill>
              <a:srgbClr val="CDD8E1"/>
            </a:solidFill>
          </a:ln>
        </p:spPr>
      </p:sp>
      <p:sp>
        <p:nvSpPr>
          <p:cNvPr id="10" name="">
            <a:extLst xmlns:a="http://schemas.openxmlformats.org/drawingml/2006/main">
              <a:ext uri="{FF2B5EF4-FFF2-40B4-BE49-F238E27FC236}">
                <a16:creationId xmlns:a16="http://schemas.microsoft.com/office/drawing/2014/main" id="{6B3FBD0F-4345-4B94-8E90-AE0805B3944C}"/>
              </a:ext>
            </a:extLst>
          </p:cNvPr>
          <p:cNvSpPr>
            <a:spLocks xmlns:a="http://schemas.openxmlformats.org/drawingml/2006/main" noGrp="1"/>
          </p:cNvSpPr>
          <p:nvPr/>
        </p:nvSpPr>
        <p:spPr>
          <a:xfrm xmlns:a="http://schemas.openxmlformats.org/drawingml/2006/main">
            <a:off x="9277350" y="3124200"/>
            <a:ext cx="1924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Q</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попит 20</a:t>
            </a:r>
          </a:p>
        </p:txBody>
      </p:sp>
      <p:sp>
        <p:nvSpPr>
          <p:cNvPr id="11" name="">
            <a:extLst xmlns:a="http://schemas.openxmlformats.org/drawingml/2006/main">
              <a:ext uri="{FF2B5EF4-FFF2-40B4-BE49-F238E27FC236}">
                <a16:creationId xmlns:a16="http://schemas.microsoft.com/office/drawing/2014/main" id="{D272D579-FABB-49E3-B656-D50A0383B255}"/>
              </a:ext>
            </a:extLst>
          </p:cNvPr>
          <p:cNvSpPr>
            <a:spLocks xmlns:a="http://schemas.openxmlformats.org/drawingml/2006/main" noGrp="1"/>
          </p:cNvSpPr>
          <p:nvPr/>
        </p:nvSpPr>
        <p:spPr>
          <a:xfrm xmlns:a="http://schemas.openxmlformats.org/drawingml/2006/main">
            <a:off x="9144000" y="4667250"/>
            <a:ext cx="2190750" cy="981075"/>
          </a:xfrm>
          <a:prstGeom xmlns:a="http://schemas.openxmlformats.org/drawingml/2006/main" prst="roundRect">
            <a:avLst>
              <a:gd name="adj" fmla="val 7767"/>
            </a:avLst>
          </a:prstGeom>
          <a:solidFill xmlns:a="http://schemas.openxmlformats.org/drawingml/2006/main">
            <a:srgbClr val="F1F5F8"/>
          </a:solidFill>
          <a:ln xmlns:a="http://schemas.openxmlformats.org/drawingml/2006/main" w="14288">
            <a:solidFill>
              <a:srgbClr val="CDD8E1"/>
            </a:solidFill>
          </a:ln>
        </p:spPr>
      </p:sp>
      <p:sp>
        <p:nvSpPr>
          <p:cNvPr id="12" name="">
            <a:extLst xmlns:a="http://schemas.openxmlformats.org/drawingml/2006/main">
              <a:ext uri="{FF2B5EF4-FFF2-40B4-BE49-F238E27FC236}">
                <a16:creationId xmlns:a16="http://schemas.microsoft.com/office/drawing/2014/main" id="{23A17D95-D3E4-4601-A1FF-5B326FBC2DA9}"/>
              </a:ext>
            </a:extLst>
          </p:cNvPr>
          <p:cNvSpPr>
            <a:spLocks xmlns:a="http://schemas.openxmlformats.org/drawingml/2006/main" noGrp="1"/>
          </p:cNvSpPr>
          <p:nvPr/>
        </p:nvSpPr>
        <p:spPr>
          <a:xfrm xmlns:a="http://schemas.openxmlformats.org/drawingml/2006/main">
            <a:off x="9277350" y="4743450"/>
            <a:ext cx="1924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R</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попит 20</a:t>
            </a:r>
          </a:p>
        </p:txBody>
      </p:sp>
      <p:sp>
        <p:nvSpPr>
          <p:cNvPr id="16" name="">
            <a:extLst xmlns:a="http://schemas.openxmlformats.org/drawingml/2006/main">
              <a:ext uri="{FF2B5EF4-FFF2-40B4-BE49-F238E27FC236}">
                <a16:creationId xmlns:a16="http://schemas.microsoft.com/office/drawing/2014/main" id="{D255C559-936D-4F58-BF16-939A17B529E4}"/>
              </a:ext>
            </a:extLst>
          </p:cNvPr>
          <p:cNvSpPr>
            <a:spLocks xmlns:a="http://schemas.openxmlformats.org/drawingml/2006/main" noGrp="1"/>
          </p:cNvSpPr>
          <p:nvPr/>
        </p:nvSpPr>
        <p:spPr>
          <a:xfrm xmlns:a="http://schemas.openxmlformats.org/drawingml/2006/main">
            <a:off x="4048125" y="17145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1479AE"/>
                </a:solidFill>
                <a:latin typeface="Arial"/>
                <a:ea typeface="Arial"/>
                <a:cs typeface="Arial"/>
              </a:defRPr>
            </a:pPr>
            <a:r>
              <a:rPr sz="2700" b="1">
                <a:solidFill>
                  <a:srgbClr val="1479AE"/>
                </a:solidFill>
                <a:latin typeface="Arial"/>
                <a:ea typeface="Arial"/>
                <a:cs typeface="Arial"/>
              </a:rPr>
              <a:t>10 × 2 = 20</a:t>
            </a:r>
          </a:p>
        </p:txBody>
      </p:sp>
      <p:sp>
        <p:nvSpPr>
          <p:cNvPr id="17" name="">
            <a:extLst xmlns:a="http://schemas.openxmlformats.org/drawingml/2006/main">
              <a:ext uri="{FF2B5EF4-FFF2-40B4-BE49-F238E27FC236}">
                <a16:creationId xmlns:a16="http://schemas.microsoft.com/office/drawing/2014/main" id="{38F667B3-7242-43BE-9737-5789831FEC3A}"/>
              </a:ext>
            </a:extLst>
          </p:cNvPr>
          <p:cNvSpPr>
            <a:spLocks xmlns:a="http://schemas.openxmlformats.org/drawingml/2006/main" noGrp="1"/>
          </p:cNvSpPr>
          <p:nvPr/>
        </p:nvSpPr>
        <p:spPr>
          <a:xfrm xmlns:a="http://schemas.openxmlformats.org/drawingml/2006/main">
            <a:off x="4048125" y="31337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1479AE"/>
                </a:solidFill>
                <a:latin typeface="Arial"/>
                <a:ea typeface="Arial"/>
                <a:cs typeface="Arial"/>
              </a:defRPr>
            </a:pPr>
            <a:r>
              <a:rPr sz="2700" b="1">
                <a:solidFill>
                  <a:srgbClr val="1479AE"/>
                </a:solidFill>
                <a:latin typeface="Arial"/>
                <a:ea typeface="Arial"/>
                <a:cs typeface="Arial"/>
              </a:rPr>
              <a:t>20 × 4 = 80</a:t>
            </a:r>
          </a:p>
        </p:txBody>
      </p:sp>
      <p:sp>
        <p:nvSpPr>
          <p:cNvPr id="18" name="">
            <a:extLst xmlns:a="http://schemas.openxmlformats.org/drawingml/2006/main">
              <a:ext uri="{FF2B5EF4-FFF2-40B4-BE49-F238E27FC236}">
                <a16:creationId xmlns:a16="http://schemas.microsoft.com/office/drawing/2014/main" id="{03AC3807-100B-4E69-9F9B-C1298FCD7986}"/>
              </a:ext>
            </a:extLst>
          </p:cNvPr>
          <p:cNvSpPr>
            <a:spLocks xmlns:a="http://schemas.openxmlformats.org/drawingml/2006/main" noGrp="1"/>
          </p:cNvSpPr>
          <p:nvPr/>
        </p:nvSpPr>
        <p:spPr>
          <a:xfrm xmlns:a="http://schemas.openxmlformats.org/drawingml/2006/main">
            <a:off x="4048125" y="5200650"/>
            <a:ext cx="3524250" cy="523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857D"/>
                </a:solidFill>
                <a:latin typeface="Arial"/>
                <a:ea typeface="Arial"/>
                <a:cs typeface="Arial"/>
              </a:defRPr>
            </a:pPr>
            <a:r>
              <a:rPr sz="2700" b="1">
                <a:solidFill>
                  <a:srgbClr val="00857D"/>
                </a:solidFill>
                <a:latin typeface="Arial"/>
                <a:ea typeface="Arial"/>
                <a:cs typeface="Arial"/>
              </a:rPr>
              <a:t>20 × 1 = 20</a:t>
            </a:r>
          </a:p>
        </p:txBody>
      </p:sp>
      <p:sp>
        <p:nvSpPr>
          <p:cNvPr id="24" name="">
            <a:extLst xmlns:a="http://schemas.openxmlformats.org/drawingml/2006/main">
              <a:ext uri="{FF2B5EF4-FFF2-40B4-BE49-F238E27FC236}">
                <a16:creationId xmlns:a16="http://schemas.microsoft.com/office/drawing/2014/main" id="{6D29D006-CDCD-4E1D-BA8E-EECD48E86211}"/>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66</a:t>
            </a:r>
          </a:p>
        </p:txBody>
      </p:sp>
    </p:spTree>
    <p:extLst>
      <p:ext uri="{BB962C8B-B14F-4D97-AF65-F5344CB8AC3E}">
        <p14:creationId xmlns:p14="http://schemas.microsoft.com/office/powerpoint/2010/main" val="1616993419"/>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A49898-34B1-4305-922C-83CB5B7F016C}"/>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Призначення: сервери та неподільні завдання</a:t>
            </a:r>
          </a:p>
        </p:txBody>
      </p:sp>
      <p:sp>
        <p:nvSpPr>
          <p:cNvPr id="2" name="">
            <a:extLst xmlns:a="http://schemas.openxmlformats.org/drawingml/2006/main">
              <a:ext uri="{FF2B5EF4-FFF2-40B4-BE49-F238E27FC236}">
                <a16:creationId xmlns:a16="http://schemas.microsoft.com/office/drawing/2014/main" id="{672667FE-6F45-4B27-A016-3B8432620CB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Вибираємо три пари без повторення сервера або завдання.</a:t>
            </a:r>
          </a:p>
        </p:txBody>
      </p:sp>
      <p:pic>
        <p:nvPicPr>
          <p:cNvPr id="16" name="">
            <a:extLst xmlns:a="http://schemas.openxmlformats.org/drawingml/2006/main">
              <a:ext uri="{FF2B5EF4-FFF2-40B4-BE49-F238E27FC236}">
                <a16:creationId xmlns:a16="http://schemas.microsoft.com/office/drawing/2014/main" id="{17C54083-76C0-4BFC-AF46-B91B202E03FD}"/>
              </a:ext>
            </a:extLst>
          </p:cNvPr>
          <p:cNvPicPr>
            <a:picLocks xmlns:a="http://schemas.openxmlformats.org/drawingml/2006/main" noChangeAspect="1"/>
          </p:cNvPicPr>
          <p:nvPr/>
        </p:nvPicPr>
        <p:blipFill>
          <a:blip xmlns:r="http://schemas.openxmlformats.org/officeDocument/2006/relationships" xmlns:a="http://schemas.openxmlformats.org/drawingml/2006/main" r:embed="Rc35b64b7fa494fd3"/>
          <a:stretch xmlns:a="http://schemas.openxmlformats.org/drawingml/2006/main"/>
        </p:blipFill>
        <p:spPr>
          <a:xfrm xmlns:a="http://schemas.openxmlformats.org/drawingml/2006/main">
            <a:off x="1000125" y="1571819"/>
            <a:ext cx="6667500" cy="375246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771F0A0-709D-4E98-8013-69E52A57C0F6}"/>
              </a:ext>
            </a:extLst>
          </p:cNvPr>
          <p:cNvSpPr>
            <a:spLocks xmlns:a="http://schemas.openxmlformats.org/drawingml/2006/main" noGrp="1"/>
          </p:cNvSpPr>
          <p:nvPr/>
        </p:nvSpPr>
        <p:spPr>
          <a:xfrm xmlns:a="http://schemas.openxmlformats.org/drawingml/2006/main">
            <a:off x="685800" y="2009775"/>
            <a:ext cx="838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1479AE"/>
                </a:solidFill>
                <a:latin typeface="Arial"/>
                <a:ea typeface="Arial"/>
                <a:cs typeface="Arial"/>
              </a:defRPr>
            </a:pPr>
            <a:r>
              <a:rPr sz="2325" b="1">
                <a:solidFill>
                  <a:srgbClr val="1479AE"/>
                </a:solidFill>
                <a:latin typeface="Arial"/>
                <a:ea typeface="Arial"/>
                <a:cs typeface="Arial"/>
              </a:rPr>
              <a:t>S1</a:t>
            </a:r>
          </a:p>
        </p:txBody>
      </p:sp>
      <p:sp>
        <p:nvSpPr>
          <p:cNvPr id="5" name="">
            <a:extLst xmlns:a="http://schemas.openxmlformats.org/drawingml/2006/main">
              <a:ext uri="{FF2B5EF4-FFF2-40B4-BE49-F238E27FC236}">
                <a16:creationId xmlns:a16="http://schemas.microsoft.com/office/drawing/2014/main" id="{ED5B3F8B-C304-4D4F-810F-3BC6770007E5}"/>
              </a:ext>
            </a:extLst>
          </p:cNvPr>
          <p:cNvSpPr>
            <a:spLocks xmlns:a="http://schemas.openxmlformats.org/drawingml/2006/main" noGrp="1"/>
          </p:cNvSpPr>
          <p:nvPr/>
        </p:nvSpPr>
        <p:spPr>
          <a:xfrm xmlns:a="http://schemas.openxmlformats.org/drawingml/2006/main">
            <a:off x="685800" y="3257550"/>
            <a:ext cx="838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1479AE"/>
                </a:solidFill>
                <a:latin typeface="Arial"/>
                <a:ea typeface="Arial"/>
                <a:cs typeface="Arial"/>
              </a:defRPr>
            </a:pPr>
            <a:r>
              <a:rPr sz="2325" b="1">
                <a:solidFill>
                  <a:srgbClr val="1479AE"/>
                </a:solidFill>
                <a:latin typeface="Arial"/>
                <a:ea typeface="Arial"/>
                <a:cs typeface="Arial"/>
              </a:rPr>
              <a:t>S2</a:t>
            </a:r>
          </a:p>
        </p:txBody>
      </p:sp>
      <p:sp>
        <p:nvSpPr>
          <p:cNvPr id="6" name="">
            <a:extLst xmlns:a="http://schemas.openxmlformats.org/drawingml/2006/main">
              <a:ext uri="{FF2B5EF4-FFF2-40B4-BE49-F238E27FC236}">
                <a16:creationId xmlns:a16="http://schemas.microsoft.com/office/drawing/2014/main" id="{96BE0F66-B76F-4679-8BB8-935BC81F1E31}"/>
              </a:ext>
            </a:extLst>
          </p:cNvPr>
          <p:cNvSpPr>
            <a:spLocks xmlns:a="http://schemas.openxmlformats.org/drawingml/2006/main" noGrp="1"/>
          </p:cNvSpPr>
          <p:nvPr/>
        </p:nvSpPr>
        <p:spPr>
          <a:xfrm xmlns:a="http://schemas.openxmlformats.org/drawingml/2006/main">
            <a:off x="685800" y="4505325"/>
            <a:ext cx="838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1479AE"/>
                </a:solidFill>
                <a:latin typeface="Arial"/>
                <a:ea typeface="Arial"/>
                <a:cs typeface="Arial"/>
              </a:defRPr>
            </a:pPr>
            <a:r>
              <a:rPr sz="2325" b="1">
                <a:solidFill>
                  <a:srgbClr val="1479AE"/>
                </a:solidFill>
                <a:latin typeface="Arial"/>
                <a:ea typeface="Arial"/>
                <a:cs typeface="Arial"/>
              </a:rPr>
              <a:t>S3</a:t>
            </a:r>
          </a:p>
        </p:txBody>
      </p:sp>
      <p:sp>
        <p:nvSpPr>
          <p:cNvPr id="7" name="">
            <a:extLst xmlns:a="http://schemas.openxmlformats.org/drawingml/2006/main">
              <a:ext uri="{FF2B5EF4-FFF2-40B4-BE49-F238E27FC236}">
                <a16:creationId xmlns:a16="http://schemas.microsoft.com/office/drawing/2014/main" id="{A0340674-BA6A-4DFA-928B-350B3BE54BF4}"/>
              </a:ext>
            </a:extLst>
          </p:cNvPr>
          <p:cNvSpPr>
            <a:spLocks xmlns:a="http://schemas.openxmlformats.org/drawingml/2006/main" noGrp="1"/>
          </p:cNvSpPr>
          <p:nvPr/>
        </p:nvSpPr>
        <p:spPr>
          <a:xfrm xmlns:a="http://schemas.openxmlformats.org/drawingml/2006/main">
            <a:off x="7667625" y="2009775"/>
            <a:ext cx="3667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I · Інференс</a:t>
            </a:r>
          </a:p>
        </p:txBody>
      </p:sp>
      <p:sp>
        <p:nvSpPr>
          <p:cNvPr id="8" name="">
            <a:extLst xmlns:a="http://schemas.openxmlformats.org/drawingml/2006/main">
              <a:ext uri="{FF2B5EF4-FFF2-40B4-BE49-F238E27FC236}">
                <a16:creationId xmlns:a16="http://schemas.microsoft.com/office/drawing/2014/main" id="{AF7AF64F-E074-4E87-9FA7-C53E4B9057E3}"/>
              </a:ext>
            </a:extLst>
          </p:cNvPr>
          <p:cNvSpPr>
            <a:spLocks xmlns:a="http://schemas.openxmlformats.org/drawingml/2006/main" noGrp="1"/>
          </p:cNvSpPr>
          <p:nvPr/>
        </p:nvSpPr>
        <p:spPr>
          <a:xfrm xmlns:a="http://schemas.openxmlformats.org/drawingml/2006/main">
            <a:off x="7667625" y="3257550"/>
            <a:ext cx="3667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A · Аналітика</a:t>
            </a:r>
          </a:p>
        </p:txBody>
      </p:sp>
      <p:sp>
        <p:nvSpPr>
          <p:cNvPr id="9" name="">
            <a:extLst xmlns:a="http://schemas.openxmlformats.org/drawingml/2006/main">
              <a:ext uri="{FF2B5EF4-FFF2-40B4-BE49-F238E27FC236}">
                <a16:creationId xmlns:a16="http://schemas.microsoft.com/office/drawing/2014/main" id="{CFFF98A2-D1D2-48A3-A6A1-CE383CBC7721}"/>
              </a:ext>
            </a:extLst>
          </p:cNvPr>
          <p:cNvSpPr>
            <a:spLocks xmlns:a="http://schemas.openxmlformats.org/drawingml/2006/main" noGrp="1"/>
          </p:cNvSpPr>
          <p:nvPr/>
        </p:nvSpPr>
        <p:spPr>
          <a:xfrm xmlns:a="http://schemas.openxmlformats.org/drawingml/2006/main">
            <a:off x="7667625" y="4505325"/>
            <a:ext cx="3667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B · Бекап</a:t>
            </a:r>
          </a:p>
        </p:txBody>
      </p:sp>
      <p:sp>
        <p:nvSpPr>
          <p:cNvPr id="13" name="">
            <a:extLst xmlns:a="http://schemas.openxmlformats.org/drawingml/2006/main">
              <a:ext uri="{FF2B5EF4-FFF2-40B4-BE49-F238E27FC236}">
                <a16:creationId xmlns:a16="http://schemas.microsoft.com/office/drawing/2014/main" id="{599DE83B-EB07-4768-BE7E-DFDB9D67F0D2}"/>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67</a:t>
            </a:r>
          </a:p>
        </p:txBody>
      </p:sp>
    </p:spTree>
    <p:extLst>
      <p:ext uri="{BB962C8B-B14F-4D97-AF65-F5344CB8AC3E}">
        <p14:creationId xmlns:p14="http://schemas.microsoft.com/office/powerpoint/2010/main" val="1398206356"/>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A4FB23E-932A-4089-80E8-92BFE5165398}"/>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Призначення: вартість кожної пари</a:t>
            </a:r>
          </a:p>
        </p:txBody>
      </p:sp>
      <p:sp>
        <p:nvSpPr>
          <p:cNvPr id="3" name="">
            <a:extLst xmlns:a="http://schemas.openxmlformats.org/drawingml/2006/main">
              <a:ext uri="{FF2B5EF4-FFF2-40B4-BE49-F238E27FC236}">
                <a16:creationId xmlns:a16="http://schemas.microsoft.com/office/drawing/2014/main" id="{F55E2855-4A31-4ECF-A71F-951A30001EE1}"/>
              </a:ext>
            </a:extLst>
          </p:cNvPr>
          <p:cNvSpPr>
            <a:spLocks xmlns:a="http://schemas.openxmlformats.org/drawingml/2006/main" noGrp="1"/>
          </p:cNvSpPr>
          <p:nvPr/>
        </p:nvSpPr>
        <p:spPr>
          <a:xfrm xmlns:a="http://schemas.openxmlformats.org/drawingml/2006/main">
            <a:off x="742950" y="1885950"/>
            <a:ext cx="2724150" cy="8286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AB1A987E-F833-4349-B69B-1CD309D0FF21}"/>
              </a:ext>
            </a:extLst>
          </p:cNvPr>
          <p:cNvSpPr>
            <a:spLocks xmlns:a="http://schemas.openxmlformats.org/drawingml/2006/main" noGrp="1"/>
          </p:cNvSpPr>
          <p:nvPr/>
        </p:nvSpPr>
        <p:spPr>
          <a:xfrm xmlns:a="http://schemas.openxmlformats.org/drawingml/2006/main">
            <a:off x="838200" y="1962150"/>
            <a:ext cx="2533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Вузол</a:t>
            </a:r>
          </a:p>
        </p:txBody>
      </p:sp>
      <p:sp>
        <p:nvSpPr>
          <p:cNvPr id="5" name="">
            <a:extLst xmlns:a="http://schemas.openxmlformats.org/drawingml/2006/main">
              <a:ext uri="{FF2B5EF4-FFF2-40B4-BE49-F238E27FC236}">
                <a16:creationId xmlns:a16="http://schemas.microsoft.com/office/drawing/2014/main" id="{BA42927D-9DBF-4088-A7D5-68B708B66469}"/>
              </a:ext>
            </a:extLst>
          </p:cNvPr>
          <p:cNvSpPr>
            <a:spLocks xmlns:a="http://schemas.openxmlformats.org/drawingml/2006/main" noGrp="1"/>
          </p:cNvSpPr>
          <p:nvPr/>
        </p:nvSpPr>
        <p:spPr>
          <a:xfrm xmlns:a="http://schemas.openxmlformats.org/drawingml/2006/main">
            <a:off x="3467100" y="1885950"/>
            <a:ext cx="2647950" cy="8286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F9BBEC62-9416-4675-BA52-09A80F269D9A}"/>
              </a:ext>
            </a:extLst>
          </p:cNvPr>
          <p:cNvSpPr>
            <a:spLocks xmlns:a="http://schemas.openxmlformats.org/drawingml/2006/main" noGrp="1"/>
          </p:cNvSpPr>
          <p:nvPr/>
        </p:nvSpPr>
        <p:spPr>
          <a:xfrm xmlns:a="http://schemas.openxmlformats.org/drawingml/2006/main">
            <a:off x="3562350" y="19621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Інференс</a:t>
            </a:r>
          </a:p>
        </p:txBody>
      </p:sp>
      <p:sp>
        <p:nvSpPr>
          <p:cNvPr id="7" name="">
            <a:extLst xmlns:a="http://schemas.openxmlformats.org/drawingml/2006/main">
              <a:ext uri="{FF2B5EF4-FFF2-40B4-BE49-F238E27FC236}">
                <a16:creationId xmlns:a16="http://schemas.microsoft.com/office/drawing/2014/main" id="{7998BB2D-3BEE-4A9D-BCAD-A1766E7EDF4A}"/>
              </a:ext>
            </a:extLst>
          </p:cNvPr>
          <p:cNvSpPr>
            <a:spLocks xmlns:a="http://schemas.openxmlformats.org/drawingml/2006/main" noGrp="1"/>
          </p:cNvSpPr>
          <p:nvPr/>
        </p:nvSpPr>
        <p:spPr>
          <a:xfrm xmlns:a="http://schemas.openxmlformats.org/drawingml/2006/main">
            <a:off x="6115050" y="1885950"/>
            <a:ext cx="2714625" cy="8286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FC9CA100-CFC3-4C8F-9799-58E634ADD03A}"/>
              </a:ext>
            </a:extLst>
          </p:cNvPr>
          <p:cNvSpPr>
            <a:spLocks xmlns:a="http://schemas.openxmlformats.org/drawingml/2006/main" noGrp="1"/>
          </p:cNvSpPr>
          <p:nvPr/>
        </p:nvSpPr>
        <p:spPr>
          <a:xfrm xmlns:a="http://schemas.openxmlformats.org/drawingml/2006/main">
            <a:off x="6210300" y="1962150"/>
            <a:ext cx="2524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Аналітика</a:t>
            </a:r>
          </a:p>
        </p:txBody>
      </p:sp>
      <p:sp>
        <p:nvSpPr>
          <p:cNvPr id="9" name="">
            <a:extLst xmlns:a="http://schemas.openxmlformats.org/drawingml/2006/main">
              <a:ext uri="{FF2B5EF4-FFF2-40B4-BE49-F238E27FC236}">
                <a16:creationId xmlns:a16="http://schemas.microsoft.com/office/drawing/2014/main" id="{D61B7CDA-E738-432A-82BA-3AE90C873A3C}"/>
              </a:ext>
            </a:extLst>
          </p:cNvPr>
          <p:cNvSpPr>
            <a:spLocks xmlns:a="http://schemas.openxmlformats.org/drawingml/2006/main" noGrp="1"/>
          </p:cNvSpPr>
          <p:nvPr/>
        </p:nvSpPr>
        <p:spPr>
          <a:xfrm xmlns:a="http://schemas.openxmlformats.org/drawingml/2006/main">
            <a:off x="8829675" y="1885950"/>
            <a:ext cx="2619375" cy="8286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CBD76D63-5049-4334-B029-A643151D4A92}"/>
              </a:ext>
            </a:extLst>
          </p:cNvPr>
          <p:cNvSpPr>
            <a:spLocks xmlns:a="http://schemas.openxmlformats.org/drawingml/2006/main" noGrp="1"/>
          </p:cNvSpPr>
          <p:nvPr/>
        </p:nvSpPr>
        <p:spPr>
          <a:xfrm xmlns:a="http://schemas.openxmlformats.org/drawingml/2006/main">
            <a:off x="8924925" y="1962150"/>
            <a:ext cx="2428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Бекап</a:t>
            </a:r>
          </a:p>
        </p:txBody>
      </p:sp>
      <p:sp>
        <p:nvSpPr>
          <p:cNvPr id="11" name="">
            <a:extLst xmlns:a="http://schemas.openxmlformats.org/drawingml/2006/main">
              <a:ext uri="{FF2B5EF4-FFF2-40B4-BE49-F238E27FC236}">
                <a16:creationId xmlns:a16="http://schemas.microsoft.com/office/drawing/2014/main" id="{F5242631-4BD8-4E22-8B74-D08998DAE71E}"/>
              </a:ext>
            </a:extLst>
          </p:cNvPr>
          <p:cNvSpPr>
            <a:spLocks xmlns:a="http://schemas.openxmlformats.org/drawingml/2006/main" noGrp="1"/>
          </p:cNvSpPr>
          <p:nvPr/>
        </p:nvSpPr>
        <p:spPr>
          <a:xfrm xmlns:a="http://schemas.openxmlformats.org/drawingml/2006/main">
            <a:off x="742950" y="2714625"/>
            <a:ext cx="2724150"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F7E89FA0-DAC8-480A-99C1-E7D8AEB83C20}"/>
              </a:ext>
            </a:extLst>
          </p:cNvPr>
          <p:cNvSpPr>
            <a:spLocks xmlns:a="http://schemas.openxmlformats.org/drawingml/2006/main" noGrp="1"/>
          </p:cNvSpPr>
          <p:nvPr/>
        </p:nvSpPr>
        <p:spPr>
          <a:xfrm xmlns:a="http://schemas.openxmlformats.org/drawingml/2006/main">
            <a:off x="838200" y="2790825"/>
            <a:ext cx="2533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S1</a:t>
            </a:r>
          </a:p>
        </p:txBody>
      </p:sp>
      <p:sp>
        <p:nvSpPr>
          <p:cNvPr id="13" name="">
            <a:extLst xmlns:a="http://schemas.openxmlformats.org/drawingml/2006/main">
              <a:ext uri="{FF2B5EF4-FFF2-40B4-BE49-F238E27FC236}">
                <a16:creationId xmlns:a16="http://schemas.microsoft.com/office/drawing/2014/main" id="{F466F6A5-DFAF-4BB3-9E48-CB788682F51C}"/>
              </a:ext>
            </a:extLst>
          </p:cNvPr>
          <p:cNvSpPr>
            <a:spLocks xmlns:a="http://schemas.openxmlformats.org/drawingml/2006/main" noGrp="1"/>
          </p:cNvSpPr>
          <p:nvPr/>
        </p:nvSpPr>
        <p:spPr>
          <a:xfrm xmlns:a="http://schemas.openxmlformats.org/drawingml/2006/main">
            <a:off x="3467100" y="2714625"/>
            <a:ext cx="2647950"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345F250F-C90E-4EA0-8980-183BFD834796}"/>
              </a:ext>
            </a:extLst>
          </p:cNvPr>
          <p:cNvSpPr>
            <a:spLocks xmlns:a="http://schemas.openxmlformats.org/drawingml/2006/main" noGrp="1"/>
          </p:cNvSpPr>
          <p:nvPr/>
        </p:nvSpPr>
        <p:spPr>
          <a:xfrm xmlns:a="http://schemas.openxmlformats.org/drawingml/2006/main">
            <a:off x="3562350" y="2790825"/>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58AF5827-73F1-475C-9D6C-E516C032DED0}"/>
              </a:ext>
            </a:extLst>
          </p:cNvPr>
          <p:cNvSpPr>
            <a:spLocks xmlns:a="http://schemas.openxmlformats.org/drawingml/2006/main" noGrp="1"/>
          </p:cNvSpPr>
          <p:nvPr/>
        </p:nvSpPr>
        <p:spPr>
          <a:xfrm xmlns:a="http://schemas.openxmlformats.org/drawingml/2006/main">
            <a:off x="6115050" y="2714625"/>
            <a:ext cx="2714625"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85CEF465-D983-43A7-BFDF-7531992E2DEE}"/>
              </a:ext>
            </a:extLst>
          </p:cNvPr>
          <p:cNvSpPr>
            <a:spLocks xmlns:a="http://schemas.openxmlformats.org/drawingml/2006/main" noGrp="1"/>
          </p:cNvSpPr>
          <p:nvPr/>
        </p:nvSpPr>
        <p:spPr>
          <a:xfrm xmlns:a="http://schemas.openxmlformats.org/drawingml/2006/main">
            <a:off x="6210300" y="2790825"/>
            <a:ext cx="2524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04AE8A91-4BE1-4B7B-94EF-4BAC14E0CE01}"/>
              </a:ext>
            </a:extLst>
          </p:cNvPr>
          <p:cNvSpPr>
            <a:spLocks xmlns:a="http://schemas.openxmlformats.org/drawingml/2006/main" noGrp="1"/>
          </p:cNvSpPr>
          <p:nvPr/>
        </p:nvSpPr>
        <p:spPr>
          <a:xfrm xmlns:a="http://schemas.openxmlformats.org/drawingml/2006/main">
            <a:off x="8829675" y="2714625"/>
            <a:ext cx="2619375"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F11F0345-48E9-4E26-9EC7-2CE3720BAF31}"/>
              </a:ext>
            </a:extLst>
          </p:cNvPr>
          <p:cNvSpPr>
            <a:spLocks xmlns:a="http://schemas.openxmlformats.org/drawingml/2006/main" noGrp="1"/>
          </p:cNvSpPr>
          <p:nvPr/>
        </p:nvSpPr>
        <p:spPr>
          <a:xfrm xmlns:a="http://schemas.openxmlformats.org/drawingml/2006/main">
            <a:off x="8924925" y="2790825"/>
            <a:ext cx="2428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7</a:t>
            </a:r>
          </a:p>
        </p:txBody>
      </p:sp>
      <p:sp>
        <p:nvSpPr>
          <p:cNvPr id="19" name="">
            <a:extLst xmlns:a="http://schemas.openxmlformats.org/drawingml/2006/main">
              <a:ext uri="{FF2B5EF4-FFF2-40B4-BE49-F238E27FC236}">
                <a16:creationId xmlns:a16="http://schemas.microsoft.com/office/drawing/2014/main" id="{EFC5C6BA-0884-4CA0-B3F3-1031A1AFF7F6}"/>
              </a:ext>
            </a:extLst>
          </p:cNvPr>
          <p:cNvSpPr>
            <a:spLocks xmlns:a="http://schemas.openxmlformats.org/drawingml/2006/main" noGrp="1"/>
          </p:cNvSpPr>
          <p:nvPr/>
        </p:nvSpPr>
        <p:spPr>
          <a:xfrm xmlns:a="http://schemas.openxmlformats.org/drawingml/2006/main">
            <a:off x="742950" y="3543300"/>
            <a:ext cx="2724150" cy="8286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AEC228C7-9101-4796-9847-8A780E3F374C}"/>
              </a:ext>
            </a:extLst>
          </p:cNvPr>
          <p:cNvSpPr>
            <a:spLocks xmlns:a="http://schemas.openxmlformats.org/drawingml/2006/main" noGrp="1"/>
          </p:cNvSpPr>
          <p:nvPr/>
        </p:nvSpPr>
        <p:spPr>
          <a:xfrm xmlns:a="http://schemas.openxmlformats.org/drawingml/2006/main">
            <a:off x="838200" y="3619500"/>
            <a:ext cx="2533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S2</a:t>
            </a:r>
          </a:p>
        </p:txBody>
      </p:sp>
      <p:sp>
        <p:nvSpPr>
          <p:cNvPr id="21" name="">
            <a:extLst xmlns:a="http://schemas.openxmlformats.org/drawingml/2006/main">
              <a:ext uri="{FF2B5EF4-FFF2-40B4-BE49-F238E27FC236}">
                <a16:creationId xmlns:a16="http://schemas.microsoft.com/office/drawing/2014/main" id="{CE819AC8-A0B6-41A9-A41F-F9032C63FC8E}"/>
              </a:ext>
            </a:extLst>
          </p:cNvPr>
          <p:cNvSpPr>
            <a:spLocks xmlns:a="http://schemas.openxmlformats.org/drawingml/2006/main" noGrp="1"/>
          </p:cNvSpPr>
          <p:nvPr/>
        </p:nvSpPr>
        <p:spPr>
          <a:xfrm xmlns:a="http://schemas.openxmlformats.org/drawingml/2006/main">
            <a:off x="3467100" y="3543300"/>
            <a:ext cx="2647950" cy="8286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9E1B828C-C9FA-4245-BF56-DDDDD03895EA}"/>
              </a:ext>
            </a:extLst>
          </p:cNvPr>
          <p:cNvSpPr>
            <a:spLocks xmlns:a="http://schemas.openxmlformats.org/drawingml/2006/main" noGrp="1"/>
          </p:cNvSpPr>
          <p:nvPr/>
        </p:nvSpPr>
        <p:spPr>
          <a:xfrm xmlns:a="http://schemas.openxmlformats.org/drawingml/2006/main">
            <a:off x="3562350" y="361950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C118AF55-90CD-4308-9499-A3E3F1B62DC4}"/>
              </a:ext>
            </a:extLst>
          </p:cNvPr>
          <p:cNvSpPr>
            <a:spLocks xmlns:a="http://schemas.openxmlformats.org/drawingml/2006/main" noGrp="1"/>
          </p:cNvSpPr>
          <p:nvPr/>
        </p:nvSpPr>
        <p:spPr>
          <a:xfrm xmlns:a="http://schemas.openxmlformats.org/drawingml/2006/main">
            <a:off x="6115050" y="3543300"/>
            <a:ext cx="2714625" cy="8286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561129D6-E953-4AA2-88F9-2659033DBB09}"/>
              </a:ext>
            </a:extLst>
          </p:cNvPr>
          <p:cNvSpPr>
            <a:spLocks xmlns:a="http://schemas.openxmlformats.org/drawingml/2006/main" noGrp="1"/>
          </p:cNvSpPr>
          <p:nvPr/>
        </p:nvSpPr>
        <p:spPr>
          <a:xfrm xmlns:a="http://schemas.openxmlformats.org/drawingml/2006/main">
            <a:off x="6210300" y="3619500"/>
            <a:ext cx="2524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6</a:t>
            </a:r>
          </a:p>
        </p:txBody>
      </p:sp>
      <p:sp>
        <p:nvSpPr>
          <p:cNvPr id="25" name="">
            <a:extLst xmlns:a="http://schemas.openxmlformats.org/drawingml/2006/main">
              <a:ext uri="{FF2B5EF4-FFF2-40B4-BE49-F238E27FC236}">
                <a16:creationId xmlns:a16="http://schemas.microsoft.com/office/drawing/2014/main" id="{66E47E2C-B7B4-4FCD-9E10-EF32C9390231}"/>
              </a:ext>
            </a:extLst>
          </p:cNvPr>
          <p:cNvSpPr>
            <a:spLocks xmlns:a="http://schemas.openxmlformats.org/drawingml/2006/main" noGrp="1"/>
          </p:cNvSpPr>
          <p:nvPr/>
        </p:nvSpPr>
        <p:spPr>
          <a:xfrm xmlns:a="http://schemas.openxmlformats.org/drawingml/2006/main">
            <a:off x="8829675" y="3543300"/>
            <a:ext cx="2619375" cy="8286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EBE93686-8E3E-43CA-B69F-49AA395FCCA9}"/>
              </a:ext>
            </a:extLst>
          </p:cNvPr>
          <p:cNvSpPr>
            <a:spLocks xmlns:a="http://schemas.openxmlformats.org/drawingml/2006/main" noGrp="1"/>
          </p:cNvSpPr>
          <p:nvPr/>
        </p:nvSpPr>
        <p:spPr>
          <a:xfrm xmlns:a="http://schemas.openxmlformats.org/drawingml/2006/main">
            <a:off x="8924925" y="3619500"/>
            <a:ext cx="2428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D8906DE4-7F26-48C7-B774-41F245DF0A72}"/>
              </a:ext>
            </a:extLst>
          </p:cNvPr>
          <p:cNvSpPr>
            <a:spLocks xmlns:a="http://schemas.openxmlformats.org/drawingml/2006/main" noGrp="1"/>
          </p:cNvSpPr>
          <p:nvPr/>
        </p:nvSpPr>
        <p:spPr>
          <a:xfrm xmlns:a="http://schemas.openxmlformats.org/drawingml/2006/main">
            <a:off x="742950" y="4371975"/>
            <a:ext cx="2724150"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8" name="">
            <a:extLst xmlns:a="http://schemas.openxmlformats.org/drawingml/2006/main">
              <a:ext uri="{FF2B5EF4-FFF2-40B4-BE49-F238E27FC236}">
                <a16:creationId xmlns:a16="http://schemas.microsoft.com/office/drawing/2014/main" id="{EA50767F-6965-4DF6-8FB4-07897C18B2BC}"/>
              </a:ext>
            </a:extLst>
          </p:cNvPr>
          <p:cNvSpPr>
            <a:spLocks xmlns:a="http://schemas.openxmlformats.org/drawingml/2006/main" noGrp="1"/>
          </p:cNvSpPr>
          <p:nvPr/>
        </p:nvSpPr>
        <p:spPr>
          <a:xfrm xmlns:a="http://schemas.openxmlformats.org/drawingml/2006/main">
            <a:off x="838200" y="4448175"/>
            <a:ext cx="25336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S3</a:t>
            </a:r>
          </a:p>
        </p:txBody>
      </p:sp>
      <p:sp>
        <p:nvSpPr>
          <p:cNvPr id="29" name="">
            <a:extLst xmlns:a="http://schemas.openxmlformats.org/drawingml/2006/main">
              <a:ext uri="{FF2B5EF4-FFF2-40B4-BE49-F238E27FC236}">
                <a16:creationId xmlns:a16="http://schemas.microsoft.com/office/drawing/2014/main" id="{176FE55B-A54A-4B71-98B4-6D9B13461679}"/>
              </a:ext>
            </a:extLst>
          </p:cNvPr>
          <p:cNvSpPr>
            <a:spLocks xmlns:a="http://schemas.openxmlformats.org/drawingml/2006/main" noGrp="1"/>
          </p:cNvSpPr>
          <p:nvPr/>
        </p:nvSpPr>
        <p:spPr>
          <a:xfrm xmlns:a="http://schemas.openxmlformats.org/drawingml/2006/main">
            <a:off x="3467100" y="4371975"/>
            <a:ext cx="2647950"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0" name="">
            <a:extLst xmlns:a="http://schemas.openxmlformats.org/drawingml/2006/main">
              <a:ext uri="{FF2B5EF4-FFF2-40B4-BE49-F238E27FC236}">
                <a16:creationId xmlns:a16="http://schemas.microsoft.com/office/drawing/2014/main" id="{CC1B5631-1CE7-4D58-84BE-AF1DF8779E66}"/>
              </a:ext>
            </a:extLst>
          </p:cNvPr>
          <p:cNvSpPr>
            <a:spLocks xmlns:a="http://schemas.openxmlformats.org/drawingml/2006/main" noGrp="1"/>
          </p:cNvSpPr>
          <p:nvPr/>
        </p:nvSpPr>
        <p:spPr>
          <a:xfrm xmlns:a="http://schemas.openxmlformats.org/drawingml/2006/main">
            <a:off x="3562350" y="4448175"/>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8</a:t>
            </a:r>
          </a:p>
        </p:txBody>
      </p:sp>
      <p:sp>
        <p:nvSpPr>
          <p:cNvPr id="31" name="">
            <a:extLst xmlns:a="http://schemas.openxmlformats.org/drawingml/2006/main">
              <a:ext uri="{FF2B5EF4-FFF2-40B4-BE49-F238E27FC236}">
                <a16:creationId xmlns:a16="http://schemas.microsoft.com/office/drawing/2014/main" id="{5579E4DC-35A8-4EEB-997F-A4B8144D0BA6}"/>
              </a:ext>
            </a:extLst>
          </p:cNvPr>
          <p:cNvSpPr>
            <a:spLocks xmlns:a="http://schemas.openxmlformats.org/drawingml/2006/main" noGrp="1"/>
          </p:cNvSpPr>
          <p:nvPr/>
        </p:nvSpPr>
        <p:spPr>
          <a:xfrm xmlns:a="http://schemas.openxmlformats.org/drawingml/2006/main">
            <a:off x="6115050" y="4371975"/>
            <a:ext cx="2714625"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2" name="">
            <a:extLst xmlns:a="http://schemas.openxmlformats.org/drawingml/2006/main">
              <a:ext uri="{FF2B5EF4-FFF2-40B4-BE49-F238E27FC236}">
                <a16:creationId xmlns:a16="http://schemas.microsoft.com/office/drawing/2014/main" id="{62F9274F-555F-4378-A25C-B3114344B7B9}"/>
              </a:ext>
            </a:extLst>
          </p:cNvPr>
          <p:cNvSpPr>
            <a:spLocks xmlns:a="http://schemas.openxmlformats.org/drawingml/2006/main" noGrp="1"/>
          </p:cNvSpPr>
          <p:nvPr/>
        </p:nvSpPr>
        <p:spPr>
          <a:xfrm xmlns:a="http://schemas.openxmlformats.org/drawingml/2006/main">
            <a:off x="6210300" y="4448175"/>
            <a:ext cx="2524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3</a:t>
            </a:r>
          </a:p>
        </p:txBody>
      </p:sp>
      <p:sp>
        <p:nvSpPr>
          <p:cNvPr id="33" name="">
            <a:extLst xmlns:a="http://schemas.openxmlformats.org/drawingml/2006/main">
              <a:ext uri="{FF2B5EF4-FFF2-40B4-BE49-F238E27FC236}">
                <a16:creationId xmlns:a16="http://schemas.microsoft.com/office/drawing/2014/main" id="{3755CF40-3F15-4DE5-8950-7CC11348A167}"/>
              </a:ext>
            </a:extLst>
          </p:cNvPr>
          <p:cNvSpPr>
            <a:spLocks xmlns:a="http://schemas.openxmlformats.org/drawingml/2006/main" noGrp="1"/>
          </p:cNvSpPr>
          <p:nvPr/>
        </p:nvSpPr>
        <p:spPr>
          <a:xfrm xmlns:a="http://schemas.openxmlformats.org/drawingml/2006/main">
            <a:off x="8829675" y="4371975"/>
            <a:ext cx="2619375" cy="8286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4" name="">
            <a:extLst xmlns:a="http://schemas.openxmlformats.org/drawingml/2006/main">
              <a:ext uri="{FF2B5EF4-FFF2-40B4-BE49-F238E27FC236}">
                <a16:creationId xmlns:a16="http://schemas.microsoft.com/office/drawing/2014/main" id="{0B862545-2365-414A-AA8E-120F4A63BB0E}"/>
              </a:ext>
            </a:extLst>
          </p:cNvPr>
          <p:cNvSpPr>
            <a:spLocks xmlns:a="http://schemas.openxmlformats.org/drawingml/2006/main" noGrp="1"/>
          </p:cNvSpPr>
          <p:nvPr/>
        </p:nvSpPr>
        <p:spPr>
          <a:xfrm xmlns:a="http://schemas.openxmlformats.org/drawingml/2006/main">
            <a:off x="8924925" y="4448175"/>
            <a:ext cx="2428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2</a:t>
            </a:r>
          </a:p>
        </p:txBody>
      </p:sp>
      <p:sp>
        <p:nvSpPr>
          <p:cNvPr id="35" name="">
            <a:extLst xmlns:a="http://schemas.openxmlformats.org/drawingml/2006/main">
              <a:ext uri="{FF2B5EF4-FFF2-40B4-BE49-F238E27FC236}">
                <a16:creationId xmlns:a16="http://schemas.microsoft.com/office/drawing/2014/main" id="{6DAE7000-9F24-4813-BCEF-01D44BAF05CF}"/>
              </a:ext>
            </a:extLst>
          </p:cNvPr>
          <p:cNvSpPr>
            <a:spLocks xmlns:a="http://schemas.openxmlformats.org/drawingml/2006/main" noGrp="1"/>
          </p:cNvSpPr>
          <p:nvPr/>
        </p:nvSpPr>
        <p:spPr>
          <a:xfrm xmlns:a="http://schemas.openxmlformats.org/drawingml/2006/main">
            <a:off x="819150" y="561022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Мета — мінімальна сума витрат трьох призначень.</a:t>
            </a:r>
          </a:p>
        </p:txBody>
      </p:sp>
      <p:sp>
        <p:nvSpPr>
          <p:cNvPr id="37" name="">
            <a:extLst xmlns:a="http://schemas.openxmlformats.org/drawingml/2006/main">
              <a:ext uri="{FF2B5EF4-FFF2-40B4-BE49-F238E27FC236}">
                <a16:creationId xmlns:a16="http://schemas.microsoft.com/office/drawing/2014/main" id="{19A0CD8F-4D15-48FB-A3AB-0C2FA722C63A}"/>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68</a:t>
            </a:r>
          </a:p>
        </p:txBody>
      </p:sp>
    </p:spTree>
    <p:extLst>
      <p:ext uri="{BB962C8B-B14F-4D97-AF65-F5344CB8AC3E}">
        <p14:creationId xmlns:p14="http://schemas.microsoft.com/office/powerpoint/2010/main" val="1337030904"/>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D0D030-3931-4A2D-B5FD-7622EEDE90FC}"/>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Конкретна модель призначення</a:t>
            </a:r>
          </a:p>
        </p:txBody>
      </p:sp>
      <p:sp>
        <p:nvSpPr>
          <p:cNvPr id="3" name="">
            <a:extLst xmlns:a="http://schemas.openxmlformats.org/drawingml/2006/main">
              <a:ext uri="{FF2B5EF4-FFF2-40B4-BE49-F238E27FC236}">
                <a16:creationId xmlns:a16="http://schemas.microsoft.com/office/drawing/2014/main" id="{E136CA81-2B03-4DDC-A9F6-9409C1549386}"/>
              </a:ext>
            </a:extLst>
          </p:cNvPr>
          <p:cNvSpPr>
            <a:spLocks xmlns:a="http://schemas.openxmlformats.org/drawingml/2006/main" noGrp="1"/>
          </p:cNvSpPr>
          <p:nvPr/>
        </p:nvSpPr>
        <p:spPr>
          <a:xfrm xmlns:a="http://schemas.openxmlformats.org/drawingml/2006/main">
            <a:off x="838200" y="1895475"/>
            <a:ext cx="10439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6F9F"/>
                </a:solidFill>
                <a:latin typeface="DejaVu Sans"/>
                <a:ea typeface="DejaVu Sans"/>
                <a:cs typeface="DejaVu Sans"/>
              </a:defRPr>
            </a:pPr>
            <a:r>
              <a:rPr sz="2100" b="1">
                <a:solidFill>
                  <a:srgbClr val="086F9F"/>
                </a:solidFill>
                <a:latin typeface="Arial"/>
                <a:ea typeface="Arial"/>
                <a:cs typeface="Arial"/>
              </a:rPr>
              <a:t>min C = (4z₁I + z₁A + 7z₁B) +</a:t>
            </a:r>
          </a:p>
        </p:txBody>
      </p:sp>
      <p:sp>
        <p:nvSpPr>
          <p:cNvPr id="4" name="">
            <a:extLst xmlns:a="http://schemas.openxmlformats.org/drawingml/2006/main">
              <a:ext uri="{FF2B5EF4-FFF2-40B4-BE49-F238E27FC236}">
                <a16:creationId xmlns:a16="http://schemas.microsoft.com/office/drawing/2014/main" id="{8FCB1E92-2763-4B8F-8DC4-EA33869AD836}"/>
              </a:ext>
            </a:extLst>
          </p:cNvPr>
          <p:cNvSpPr>
            <a:spLocks xmlns:a="http://schemas.openxmlformats.org/drawingml/2006/main" noGrp="1"/>
          </p:cNvSpPr>
          <p:nvPr/>
        </p:nvSpPr>
        <p:spPr>
          <a:xfrm xmlns:a="http://schemas.openxmlformats.org/drawingml/2006/main">
            <a:off x="838200" y="2466975"/>
            <a:ext cx="104679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86F9F"/>
                </a:solidFill>
                <a:latin typeface="DejaVu Sans"/>
                <a:ea typeface="DejaVu Sans"/>
                <a:cs typeface="DejaVu Sans"/>
              </a:defRPr>
            </a:pPr>
            <a:r>
              <a:rPr sz="2025" b="1">
                <a:solidFill>
                  <a:srgbClr val="086F9F"/>
                </a:solidFill>
                <a:latin typeface="Arial"/>
                <a:ea typeface="Arial"/>
                <a:cs typeface="Arial"/>
              </a:rPr>
              <a:t>             (2z₂I + 6z₂A + 5z₂B) + (8z₃I + 3z₃A + 2z₃B)</a:t>
            </a:r>
          </a:p>
        </p:txBody>
      </p:sp>
      <p:sp>
        <p:nvSpPr>
          <p:cNvPr id="5" name="">
            <a:extLst xmlns:a="http://schemas.openxmlformats.org/drawingml/2006/main">
              <a:ext uri="{FF2B5EF4-FFF2-40B4-BE49-F238E27FC236}">
                <a16:creationId xmlns:a16="http://schemas.microsoft.com/office/drawing/2014/main" id="{FEFC4DBF-7298-40D7-8A6E-CA340BC97467}"/>
              </a:ext>
            </a:extLst>
          </p:cNvPr>
          <p:cNvSpPr>
            <a:spLocks xmlns:a="http://schemas.openxmlformats.org/drawingml/2006/main" noGrp="1"/>
          </p:cNvSpPr>
          <p:nvPr/>
        </p:nvSpPr>
        <p:spPr>
          <a:xfrm xmlns:a="http://schemas.openxmlformats.org/drawingml/2006/main">
            <a:off x="838200" y="3676650"/>
            <a:ext cx="10467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Для кожного вузла: zᵢI + zᵢA + zᵢB = 1</a:t>
            </a:r>
          </a:p>
        </p:txBody>
      </p:sp>
      <p:sp>
        <p:nvSpPr>
          <p:cNvPr id="6" name="">
            <a:extLst xmlns:a="http://schemas.openxmlformats.org/drawingml/2006/main">
              <a:ext uri="{FF2B5EF4-FFF2-40B4-BE49-F238E27FC236}">
                <a16:creationId xmlns:a16="http://schemas.microsoft.com/office/drawing/2014/main" id="{8194767B-342E-43AB-963E-5210B1222888}"/>
              </a:ext>
            </a:extLst>
          </p:cNvPr>
          <p:cNvSpPr>
            <a:spLocks xmlns:a="http://schemas.openxmlformats.org/drawingml/2006/main" noGrp="1"/>
          </p:cNvSpPr>
          <p:nvPr/>
        </p:nvSpPr>
        <p:spPr>
          <a:xfrm xmlns:a="http://schemas.openxmlformats.org/drawingml/2006/main">
            <a:off x="838200" y="4371975"/>
            <a:ext cx="10467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52C42"/>
                </a:solidFill>
                <a:latin typeface="DejaVu Sans"/>
                <a:ea typeface="DejaVu Sans"/>
                <a:cs typeface="DejaVu Sans"/>
              </a:defRPr>
            </a:pPr>
            <a:r>
              <a:rPr sz="1950" b="0">
                <a:solidFill>
                  <a:srgbClr val="152C42"/>
                </a:solidFill>
                <a:latin typeface="Arial"/>
                <a:ea typeface="Arial"/>
                <a:cs typeface="Arial"/>
              </a:rPr>
              <a:t>Для кожного завдання: z₁ⱼ + z₂ⱼ + z₃ⱼ = 1</a:t>
            </a:r>
          </a:p>
        </p:txBody>
      </p:sp>
      <p:sp>
        <p:nvSpPr>
          <p:cNvPr id="7" name="">
            <a:extLst xmlns:a="http://schemas.openxmlformats.org/drawingml/2006/main">
              <a:ext uri="{FF2B5EF4-FFF2-40B4-BE49-F238E27FC236}">
                <a16:creationId xmlns:a16="http://schemas.microsoft.com/office/drawing/2014/main" id="{F486BD5E-7CA1-4C8D-9F07-2CF983C5C031}"/>
              </a:ext>
            </a:extLst>
          </p:cNvPr>
          <p:cNvSpPr>
            <a:spLocks xmlns:a="http://schemas.openxmlformats.org/drawingml/2006/main" noGrp="1"/>
          </p:cNvSpPr>
          <p:nvPr/>
        </p:nvSpPr>
        <p:spPr>
          <a:xfrm xmlns:a="http://schemas.openxmlformats.org/drawingml/2006/main">
            <a:off x="819150" y="53911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Усі zᵢⱼ ∈ {0,1}: вузол або бере завдання, або ні.</a:t>
            </a:r>
          </a:p>
        </p:txBody>
      </p:sp>
      <p:sp>
        <p:nvSpPr>
          <p:cNvPr id="9" name="">
            <a:extLst xmlns:a="http://schemas.openxmlformats.org/drawingml/2006/main">
              <a:ext uri="{FF2B5EF4-FFF2-40B4-BE49-F238E27FC236}">
                <a16:creationId xmlns:a16="http://schemas.microsoft.com/office/drawing/2014/main" id="{2A2664B1-DDEE-4272-9364-6D7A79C8D6E8}"/>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69</a:t>
            </a:r>
          </a:p>
        </p:txBody>
      </p:sp>
    </p:spTree>
    <p:extLst>
      <p:ext uri="{BB962C8B-B14F-4D97-AF65-F5344CB8AC3E}">
        <p14:creationId xmlns:p14="http://schemas.microsoft.com/office/powerpoint/2010/main" val="1269133485"/>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985E229-6D30-44D5-86B5-6FE2801D25EE}"/>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Загальна модель призначення</a:t>
            </a:r>
          </a:p>
        </p:txBody>
      </p:sp>
      <p:sp>
        <p:nvSpPr>
          <p:cNvPr id="2" name="">
            <a:extLst xmlns:a="http://schemas.openxmlformats.org/drawingml/2006/main">
              <a:ext uri="{FF2B5EF4-FFF2-40B4-BE49-F238E27FC236}">
                <a16:creationId xmlns:a16="http://schemas.microsoft.com/office/drawing/2014/main" id="{FAFF2AAE-CE65-402C-B497-664CCA86A3C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zᵢⱼ=1 — пару обрано; zᵢⱼ=0 — пару не обрано.</a:t>
            </a:r>
          </a:p>
        </p:txBody>
      </p:sp>
      <p:sp>
        <p:nvSpPr>
          <p:cNvPr id="3" name="">
            <a:extLst xmlns:a="http://schemas.openxmlformats.org/drawingml/2006/main">
              <a:ext uri="{FF2B5EF4-FFF2-40B4-BE49-F238E27FC236}">
                <a16:creationId xmlns:a16="http://schemas.microsoft.com/office/drawing/2014/main" id="{ED8570D7-9D73-401D-8D77-844B38570CB3}"/>
              </a:ext>
            </a:extLst>
          </p:cNvPr>
          <p:cNvSpPr>
            <a:spLocks xmlns:a="http://schemas.openxmlformats.org/drawingml/2006/main" noGrp="1"/>
          </p:cNvSpPr>
          <p:nvPr/>
        </p:nvSpPr>
        <p:spPr>
          <a:xfrm xmlns:a="http://schemas.openxmlformats.org/drawingml/2006/main">
            <a:off x="762000" y="15430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0">
                <a:solidFill>
                  <a:srgbClr val="173047"/>
                </a:solidFill>
                <a:latin typeface="Arial"/>
                <a:ea typeface="Arial"/>
                <a:cs typeface="Arial"/>
              </a:defRPr>
            </a:pPr>
            <a:r>
              <a:rPr sz="3150" b="0">
                <a:solidFill>
                  <a:srgbClr val="173047"/>
                </a:solidFill>
                <a:latin typeface="Arial"/>
                <a:ea typeface="Arial"/>
                <a:cs typeface="Arial"/>
              </a:rPr>
              <a:t>min</a:t>
            </a:r>
          </a:p>
        </p:txBody>
      </p:sp>
      <p:sp>
        <p:nvSpPr>
          <p:cNvPr id="4" name="">
            <a:extLst xmlns:a="http://schemas.openxmlformats.org/drawingml/2006/main">
              <a:ext uri="{FF2B5EF4-FFF2-40B4-BE49-F238E27FC236}">
                <a16:creationId xmlns:a16="http://schemas.microsoft.com/office/drawing/2014/main" id="{7D5A04F7-B487-4AD6-8E25-1C2E149148FD}"/>
              </a:ext>
            </a:extLst>
          </p:cNvPr>
          <p:cNvSpPr>
            <a:spLocks xmlns:a="http://schemas.openxmlformats.org/drawingml/2006/main" noGrp="1"/>
          </p:cNvSpPr>
          <p:nvPr/>
        </p:nvSpPr>
        <p:spPr>
          <a:xfrm xmlns:a="http://schemas.openxmlformats.org/drawingml/2006/main">
            <a:off x="1857375" y="1619250"/>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750" b="0">
                <a:solidFill>
                  <a:srgbClr val="173047"/>
                </a:solidFill>
                <a:latin typeface="Arial"/>
                <a:ea typeface="Arial"/>
                <a:cs typeface="Arial"/>
              </a:defRPr>
            </a:pPr>
            <a:r>
              <a:rPr sz="3750" b="0">
                <a:solidFill>
                  <a:srgbClr val="173047"/>
                </a:solidFill>
                <a:latin typeface="Arial"/>
                <a:ea typeface="Arial"/>
                <a:cs typeface="Arial"/>
              </a:rPr>
              <a:t>Σ</a:t>
            </a:r>
          </a:p>
        </p:txBody>
      </p:sp>
      <p:sp>
        <p:nvSpPr>
          <p:cNvPr id="5" name="">
            <a:extLst xmlns:a="http://schemas.openxmlformats.org/drawingml/2006/main">
              <a:ext uri="{FF2B5EF4-FFF2-40B4-BE49-F238E27FC236}">
                <a16:creationId xmlns:a16="http://schemas.microsoft.com/office/drawing/2014/main" id="{D8DF961B-7133-4C07-93A0-CEC8532F5597}"/>
              </a:ext>
            </a:extLst>
          </p:cNvPr>
          <p:cNvSpPr>
            <a:spLocks xmlns:a="http://schemas.openxmlformats.org/drawingml/2006/main" noGrp="1"/>
          </p:cNvSpPr>
          <p:nvPr/>
        </p:nvSpPr>
        <p:spPr>
          <a:xfrm xmlns:a="http://schemas.openxmlformats.org/drawingml/2006/main">
            <a:off x="1714500" y="21526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66779"/>
                </a:solidFill>
                <a:latin typeface="Arial"/>
                <a:ea typeface="Arial"/>
                <a:cs typeface="Arial"/>
              </a:defRPr>
            </a:pPr>
            <a:r>
              <a:rPr sz="1650" b="0">
                <a:solidFill>
                  <a:srgbClr val="566779"/>
                </a:solidFill>
                <a:latin typeface="Arial"/>
                <a:ea typeface="Arial"/>
                <a:cs typeface="Arial"/>
              </a:rPr>
              <a:t>i=1…n, j=1…n</a:t>
            </a:r>
          </a:p>
        </p:txBody>
      </p:sp>
      <p:sp>
        <p:nvSpPr>
          <p:cNvPr id="6" name="">
            <a:extLst xmlns:a="http://schemas.openxmlformats.org/drawingml/2006/main">
              <a:ext uri="{FF2B5EF4-FFF2-40B4-BE49-F238E27FC236}">
                <a16:creationId xmlns:a16="http://schemas.microsoft.com/office/drawing/2014/main" id="{867086C7-6D1E-4FF5-823F-2A652B05807F}"/>
              </a:ext>
            </a:extLst>
          </p:cNvPr>
          <p:cNvSpPr>
            <a:spLocks xmlns:a="http://schemas.openxmlformats.org/drawingml/2006/main" noGrp="1"/>
          </p:cNvSpPr>
          <p:nvPr/>
        </p:nvSpPr>
        <p:spPr>
          <a:xfrm xmlns:a="http://schemas.openxmlformats.org/drawingml/2006/main">
            <a:off x="2905125" y="161925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cᵢⱼ zᵢⱼ</a:t>
            </a:r>
          </a:p>
        </p:txBody>
      </p:sp>
      <p:sp>
        <p:nvSpPr>
          <p:cNvPr id="7" name="">
            <a:extLst xmlns:a="http://schemas.openxmlformats.org/drawingml/2006/main">
              <a:ext uri="{FF2B5EF4-FFF2-40B4-BE49-F238E27FC236}">
                <a16:creationId xmlns:a16="http://schemas.microsoft.com/office/drawing/2014/main" id="{BBCA5470-CAAD-41F6-9A91-14A39A6EE4BC}"/>
              </a:ext>
            </a:extLst>
          </p:cNvPr>
          <p:cNvSpPr>
            <a:spLocks xmlns:a="http://schemas.openxmlformats.org/drawingml/2006/main" noGrp="1"/>
          </p:cNvSpPr>
          <p:nvPr/>
        </p:nvSpPr>
        <p:spPr>
          <a:xfrm xmlns:a="http://schemas.openxmlformats.org/drawingml/2006/main">
            <a:off x="1143000" y="2914650"/>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750" b="0">
                <a:solidFill>
                  <a:srgbClr val="173047"/>
                </a:solidFill>
                <a:latin typeface="Arial"/>
                <a:ea typeface="Arial"/>
                <a:cs typeface="Arial"/>
              </a:defRPr>
            </a:pPr>
            <a:r>
              <a:rPr sz="3750" b="0">
                <a:solidFill>
                  <a:srgbClr val="173047"/>
                </a:solidFill>
                <a:latin typeface="Arial"/>
                <a:ea typeface="Arial"/>
                <a:cs typeface="Arial"/>
              </a:rPr>
              <a:t>Σ</a:t>
            </a:r>
          </a:p>
        </p:txBody>
      </p:sp>
      <p:sp>
        <p:nvSpPr>
          <p:cNvPr id="8" name="">
            <a:extLst xmlns:a="http://schemas.openxmlformats.org/drawingml/2006/main">
              <a:ext uri="{FF2B5EF4-FFF2-40B4-BE49-F238E27FC236}">
                <a16:creationId xmlns:a16="http://schemas.microsoft.com/office/drawing/2014/main" id="{27D7E2EE-8569-4450-9B1F-09CB1803D3B6}"/>
              </a:ext>
            </a:extLst>
          </p:cNvPr>
          <p:cNvSpPr>
            <a:spLocks xmlns:a="http://schemas.openxmlformats.org/drawingml/2006/main" noGrp="1"/>
          </p:cNvSpPr>
          <p:nvPr/>
        </p:nvSpPr>
        <p:spPr>
          <a:xfrm xmlns:a="http://schemas.openxmlformats.org/drawingml/2006/main">
            <a:off x="1000125" y="34480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66779"/>
                </a:solidFill>
                <a:latin typeface="Arial"/>
                <a:ea typeface="Arial"/>
                <a:cs typeface="Arial"/>
              </a:defRPr>
            </a:pPr>
            <a:r>
              <a:rPr sz="1650" b="0">
                <a:solidFill>
                  <a:srgbClr val="566779"/>
                </a:solidFill>
                <a:latin typeface="Arial"/>
                <a:ea typeface="Arial"/>
                <a:cs typeface="Arial"/>
              </a:rPr>
              <a:t>j=1…n</a:t>
            </a:r>
          </a:p>
        </p:txBody>
      </p:sp>
      <p:sp>
        <p:nvSpPr>
          <p:cNvPr id="9" name="">
            <a:extLst xmlns:a="http://schemas.openxmlformats.org/drawingml/2006/main">
              <a:ext uri="{FF2B5EF4-FFF2-40B4-BE49-F238E27FC236}">
                <a16:creationId xmlns:a16="http://schemas.microsoft.com/office/drawing/2014/main" id="{5AA650D2-CE0F-4C4E-9C47-D0BC7C6690F3}"/>
              </a:ext>
            </a:extLst>
          </p:cNvPr>
          <p:cNvSpPr>
            <a:spLocks xmlns:a="http://schemas.openxmlformats.org/drawingml/2006/main" noGrp="1"/>
          </p:cNvSpPr>
          <p:nvPr/>
        </p:nvSpPr>
        <p:spPr>
          <a:xfrm xmlns:a="http://schemas.openxmlformats.org/drawingml/2006/main">
            <a:off x="2190750" y="2914650"/>
            <a:ext cx="352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zᵢⱼ =1</a:t>
            </a:r>
          </a:p>
        </p:txBody>
      </p:sp>
      <p:sp>
        <p:nvSpPr>
          <p:cNvPr id="10" name="">
            <a:extLst xmlns:a="http://schemas.openxmlformats.org/drawingml/2006/main">
              <a:ext uri="{FF2B5EF4-FFF2-40B4-BE49-F238E27FC236}">
                <a16:creationId xmlns:a16="http://schemas.microsoft.com/office/drawing/2014/main" id="{193AB72D-53D1-4FF5-A520-31DDA0964F7E}"/>
              </a:ext>
            </a:extLst>
          </p:cNvPr>
          <p:cNvSpPr>
            <a:spLocks xmlns:a="http://schemas.openxmlformats.org/drawingml/2006/main" noGrp="1"/>
          </p:cNvSpPr>
          <p:nvPr/>
        </p:nvSpPr>
        <p:spPr>
          <a:xfrm xmlns:a="http://schemas.openxmlformats.org/drawingml/2006/main">
            <a:off x="1143000" y="4295775"/>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750" b="0">
                <a:solidFill>
                  <a:srgbClr val="173047"/>
                </a:solidFill>
                <a:latin typeface="Arial"/>
                <a:ea typeface="Arial"/>
                <a:cs typeface="Arial"/>
              </a:defRPr>
            </a:pPr>
            <a:r>
              <a:rPr sz="3750" b="0">
                <a:solidFill>
                  <a:srgbClr val="173047"/>
                </a:solidFill>
                <a:latin typeface="Arial"/>
                <a:ea typeface="Arial"/>
                <a:cs typeface="Arial"/>
              </a:rPr>
              <a:t>Σ</a:t>
            </a:r>
          </a:p>
        </p:txBody>
      </p:sp>
      <p:sp>
        <p:nvSpPr>
          <p:cNvPr id="11" name="">
            <a:extLst xmlns:a="http://schemas.openxmlformats.org/drawingml/2006/main">
              <a:ext uri="{FF2B5EF4-FFF2-40B4-BE49-F238E27FC236}">
                <a16:creationId xmlns:a16="http://schemas.microsoft.com/office/drawing/2014/main" id="{85A9B577-A72C-4FED-968F-CD8D9B03858F}"/>
              </a:ext>
            </a:extLst>
          </p:cNvPr>
          <p:cNvSpPr>
            <a:spLocks xmlns:a="http://schemas.openxmlformats.org/drawingml/2006/main" noGrp="1"/>
          </p:cNvSpPr>
          <p:nvPr/>
        </p:nvSpPr>
        <p:spPr>
          <a:xfrm xmlns:a="http://schemas.openxmlformats.org/drawingml/2006/main">
            <a:off x="1000125" y="48291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66779"/>
                </a:solidFill>
                <a:latin typeface="Arial"/>
                <a:ea typeface="Arial"/>
                <a:cs typeface="Arial"/>
              </a:defRPr>
            </a:pPr>
            <a:r>
              <a:rPr sz="1650" b="0">
                <a:solidFill>
                  <a:srgbClr val="566779"/>
                </a:solidFill>
                <a:latin typeface="Arial"/>
                <a:ea typeface="Arial"/>
                <a:cs typeface="Arial"/>
              </a:rPr>
              <a:t>i=1…n</a:t>
            </a:r>
          </a:p>
        </p:txBody>
      </p:sp>
      <p:sp>
        <p:nvSpPr>
          <p:cNvPr id="12" name="">
            <a:extLst xmlns:a="http://schemas.openxmlformats.org/drawingml/2006/main">
              <a:ext uri="{FF2B5EF4-FFF2-40B4-BE49-F238E27FC236}">
                <a16:creationId xmlns:a16="http://schemas.microsoft.com/office/drawing/2014/main" id="{7A723D74-F568-4E6E-B912-D4E959C84406}"/>
              </a:ext>
            </a:extLst>
          </p:cNvPr>
          <p:cNvSpPr>
            <a:spLocks xmlns:a="http://schemas.openxmlformats.org/drawingml/2006/main" noGrp="1"/>
          </p:cNvSpPr>
          <p:nvPr/>
        </p:nvSpPr>
        <p:spPr>
          <a:xfrm xmlns:a="http://schemas.openxmlformats.org/drawingml/2006/main">
            <a:off x="2190750" y="4295775"/>
            <a:ext cx="352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zᵢⱼ =1</a:t>
            </a:r>
          </a:p>
        </p:txBody>
      </p:sp>
      <p:sp>
        <p:nvSpPr>
          <p:cNvPr id="13" name="">
            <a:extLst xmlns:a="http://schemas.openxmlformats.org/drawingml/2006/main">
              <a:ext uri="{FF2B5EF4-FFF2-40B4-BE49-F238E27FC236}">
                <a16:creationId xmlns:a16="http://schemas.microsoft.com/office/drawing/2014/main" id="{7BFA5393-455D-4B1B-9E6A-7A8C3644F1C7}"/>
              </a:ext>
            </a:extLst>
          </p:cNvPr>
          <p:cNvSpPr>
            <a:spLocks xmlns:a="http://schemas.openxmlformats.org/drawingml/2006/main" noGrp="1"/>
          </p:cNvSpPr>
          <p:nvPr/>
        </p:nvSpPr>
        <p:spPr>
          <a:xfrm xmlns:a="http://schemas.openxmlformats.org/drawingml/2006/main">
            <a:off x="6381750" y="2990850"/>
            <a:ext cx="4857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Для кожного сервера i</a:t>
            </a:r>
          </a:p>
        </p:txBody>
      </p:sp>
      <p:sp>
        <p:nvSpPr>
          <p:cNvPr id="14" name="">
            <a:extLst xmlns:a="http://schemas.openxmlformats.org/drawingml/2006/main">
              <a:ext uri="{FF2B5EF4-FFF2-40B4-BE49-F238E27FC236}">
                <a16:creationId xmlns:a16="http://schemas.microsoft.com/office/drawing/2014/main" id="{E298EB53-0517-40D1-82D3-72063F0F5D4C}"/>
              </a:ext>
            </a:extLst>
          </p:cNvPr>
          <p:cNvSpPr>
            <a:spLocks xmlns:a="http://schemas.openxmlformats.org/drawingml/2006/main" noGrp="1"/>
          </p:cNvSpPr>
          <p:nvPr/>
        </p:nvSpPr>
        <p:spPr>
          <a:xfrm xmlns:a="http://schemas.openxmlformats.org/drawingml/2006/main">
            <a:off x="6381750" y="4371975"/>
            <a:ext cx="4857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Для кожного завдання j</a:t>
            </a:r>
          </a:p>
        </p:txBody>
      </p:sp>
      <p:sp>
        <p:nvSpPr>
          <p:cNvPr id="15" name="">
            <a:extLst xmlns:a="http://schemas.openxmlformats.org/drawingml/2006/main">
              <a:ext uri="{FF2B5EF4-FFF2-40B4-BE49-F238E27FC236}">
                <a16:creationId xmlns:a16="http://schemas.microsoft.com/office/drawing/2014/main" id="{2E435BDF-ABCD-4FEC-B74E-9228FE5D3C20}"/>
              </a:ext>
            </a:extLst>
          </p:cNvPr>
          <p:cNvSpPr>
            <a:spLocks xmlns:a="http://schemas.openxmlformats.org/drawingml/2006/main" noGrp="1"/>
          </p:cNvSpPr>
          <p:nvPr/>
        </p:nvSpPr>
        <p:spPr>
          <a:xfrm xmlns:a="http://schemas.openxmlformats.org/drawingml/2006/main">
            <a:off x="7905750" y="1685925"/>
            <a:ext cx="3429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850" b="1">
                <a:solidFill>
                  <a:srgbClr val="00857D"/>
                </a:solidFill>
                <a:latin typeface="Arial"/>
                <a:ea typeface="Arial"/>
                <a:cs typeface="Arial"/>
              </a:defRPr>
            </a:pPr>
            <a:r>
              <a:rPr sz="2850" b="1">
                <a:solidFill>
                  <a:srgbClr val="00857D"/>
                </a:solidFill>
                <a:latin typeface="Arial"/>
                <a:ea typeface="Arial"/>
                <a:cs typeface="Arial"/>
              </a:rPr>
              <a:t>zᵢⱼ ∈ {0,1}</a:t>
            </a:r>
          </a:p>
        </p:txBody>
      </p:sp>
      <p:sp>
        <p:nvSpPr>
          <p:cNvPr id="18" name="">
            <a:extLst xmlns:a="http://schemas.openxmlformats.org/drawingml/2006/main">
              <a:ext uri="{FF2B5EF4-FFF2-40B4-BE49-F238E27FC236}">
                <a16:creationId xmlns:a16="http://schemas.microsoft.com/office/drawing/2014/main" id="{6AD15107-F4B0-42F2-A8E9-856C0FB8684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70</a:t>
            </a:r>
          </a:p>
        </p:txBody>
      </p:sp>
    </p:spTree>
    <p:extLst>
      <p:ext uri="{BB962C8B-B14F-4D97-AF65-F5344CB8AC3E}">
        <p14:creationId xmlns:p14="http://schemas.microsoft.com/office/powerpoint/2010/main" val="588459085"/>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9" name="">
            <a:extLst xmlns:a="http://schemas.openxmlformats.org/drawingml/2006/main">
              <a:ext uri="{FF2B5EF4-FFF2-40B4-BE49-F238E27FC236}">
                <a16:creationId xmlns:a16="http://schemas.microsoft.com/office/drawing/2014/main" id="{E83DA8B4-AC2B-4D11-9E5F-881B9579D07F}"/>
              </a:ext>
            </a:extLst>
          </p:cNvPr>
          <p:cNvCxnSpPr>
            <a:stCxn xmlns:a="http://schemas.openxmlformats.org/drawingml/2006/main" id="11" idx="1"/>
            <a:endCxn xmlns:a="http://schemas.openxmlformats.org/drawingml/2006/main" id="7" idx="1"/>
          </p:cNvCxnSpPr>
          <p:nvPr/>
        </p:nvCxnSpPr>
        <p:spPr>
          <a:xfrm xmlns:a="http://schemas.openxmlformats.org/drawingml/2006/main" flipH="1" flipV="1">
            <a:off x="638175" y="4086225"/>
            <a:ext cx="428625" cy="1352550"/>
          </a:xfrm>
          <a:prstGeom xmlns:a="http://schemas.openxmlformats.org/drawingml/2006/main" prst="bentConnector4">
            <a:avLst/>
          </a:prstGeom>
          <a:ln xmlns:a="http://schemas.openxmlformats.org/drawingml/2006/main" w="24765">
            <a:solidFill>
              <a:srgbClr val="475B6C"/>
            </a:solidFill>
            <a:prstDash val="solid"/>
            <a:tailEnd type="triangle" w="med" len="med"/>
          </a:ln>
        </p:spPr>
      </p:cxnSp>
      <p:cxnSp>
        <p:nvCxnSpPr>
          <p:cNvPr id="80" name="">
            <a:extLst xmlns:a="http://schemas.openxmlformats.org/drawingml/2006/main">
              <a:ext uri="{FF2B5EF4-FFF2-40B4-BE49-F238E27FC236}">
                <a16:creationId xmlns:a16="http://schemas.microsoft.com/office/drawing/2014/main" id="{9D9EE743-C608-4639-9D2A-C93F83A9DC1B}"/>
              </a:ext>
            </a:extLst>
          </p:cNvPr>
          <p:cNvCxnSpPr>
            <a:stCxn xmlns:a="http://schemas.openxmlformats.org/drawingml/2006/main" id="7" idx="2"/>
            <a:endCxn xmlns:a="http://schemas.openxmlformats.org/drawingml/2006/main" id="11" idx="0"/>
          </p:cNvCxnSpPr>
          <p:nvPr/>
        </p:nvCxnSpPr>
        <p:spPr>
          <a:xfrm xmlns:a="http://schemas.openxmlformats.org/drawingml/2006/main" flipH="1">
            <a:off x="3328988" y="4714875"/>
            <a:ext cx="4763" cy="361950"/>
          </a:xfrm>
          <a:prstGeom xmlns:a="http://schemas.openxmlformats.org/drawingml/2006/main" prst="bentConnector4">
            <a:avLst>
              <a:gd name="adj1" fmla="val 0"/>
              <a:gd name="adj2" fmla="val 50000"/>
            </a:avLst>
          </a:prstGeom>
          <a:ln xmlns:a="http://schemas.openxmlformats.org/drawingml/2006/main" w="24765">
            <a:solidFill>
              <a:srgbClr val="475B6C"/>
            </a:solidFill>
            <a:prstDash val="solid"/>
            <a:tailEnd type="triangle" w="med" len="med"/>
          </a:ln>
        </p:spPr>
      </p:cxnSp>
      <p:cxnSp>
        <p:nvCxnSpPr>
          <p:cNvPr id="81" name="">
            <a:extLst xmlns:a="http://schemas.openxmlformats.org/drawingml/2006/main">
              <a:ext uri="{FF2B5EF4-FFF2-40B4-BE49-F238E27FC236}">
                <a16:creationId xmlns:a16="http://schemas.microsoft.com/office/drawing/2014/main" id="{B7A4F443-067B-4883-90AF-BA55E1329068}"/>
              </a:ext>
            </a:extLst>
          </p:cNvPr>
          <p:cNvCxnSpPr>
            <a:stCxn xmlns:a="http://schemas.openxmlformats.org/drawingml/2006/main" id="7" idx="3"/>
            <a:endCxn xmlns:a="http://schemas.openxmlformats.org/drawingml/2006/main" id="9" idx="1"/>
          </p:cNvCxnSpPr>
          <p:nvPr/>
        </p:nvCxnSpPr>
        <p:spPr>
          <a:xfrm xmlns:a="http://schemas.openxmlformats.org/drawingml/2006/main" flipV="1">
            <a:off x="5800725" y="4076700"/>
            <a:ext cx="1619250" cy="9525"/>
          </a:xfrm>
          <a:prstGeom xmlns:a="http://schemas.openxmlformats.org/drawingml/2006/main" prst="bentConnector3">
            <a:avLst>
              <a:gd name="adj1" fmla="val 50000"/>
            </a:avLst>
          </a:prstGeom>
          <a:ln xmlns:a="http://schemas.openxmlformats.org/drawingml/2006/main" w="24765">
            <a:solidFill>
              <a:srgbClr val="475B6C"/>
            </a:solidFill>
            <a:prstDash val="solid"/>
            <a:tailEnd type="triangle" w="med" len="med"/>
          </a:ln>
        </p:spPr>
      </p:cxnSp>
      <p:cxnSp>
        <p:nvCxnSpPr>
          <p:cNvPr id="82" name="">
            <a:extLst xmlns:a="http://schemas.openxmlformats.org/drawingml/2006/main">
              <a:ext uri="{FF2B5EF4-FFF2-40B4-BE49-F238E27FC236}">
                <a16:creationId xmlns:a16="http://schemas.microsoft.com/office/drawing/2014/main" id="{2912D5F7-8DBD-4143-AB13-71A02E961F32}"/>
              </a:ext>
            </a:extLst>
          </p:cNvPr>
          <p:cNvCxnSpPr>
            <a:stCxn xmlns:a="http://schemas.openxmlformats.org/drawingml/2006/main" id="5" idx="2"/>
            <a:endCxn xmlns:a="http://schemas.openxmlformats.org/drawingml/2006/main" id="7" idx="0"/>
          </p:cNvCxnSpPr>
          <p:nvPr/>
        </p:nvCxnSpPr>
        <p:spPr>
          <a:xfrm xmlns:a="http://schemas.openxmlformats.org/drawingml/2006/main">
            <a:off x="3328988" y="3200400"/>
            <a:ext cx="4763" cy="257175"/>
          </a:xfrm>
          <a:prstGeom xmlns:a="http://schemas.openxmlformats.org/drawingml/2006/main" prst="bentConnector4">
            <a:avLst>
              <a:gd name="adj1" fmla="val 0"/>
              <a:gd name="adj2" fmla="val 50000"/>
            </a:avLst>
          </a:prstGeom>
          <a:ln xmlns:a="http://schemas.openxmlformats.org/drawingml/2006/main" w="24765">
            <a:solidFill>
              <a:srgbClr val="475B6C"/>
            </a:solidFill>
            <a:prstDash val="solid"/>
            <a:tailEnd type="triangle" w="med" len="med"/>
          </a:ln>
        </p:spPr>
      </p:cxnSp>
      <p:cxnSp>
        <p:nvCxnSpPr>
          <p:cNvPr id="83" name="">
            <a:extLst xmlns:a="http://schemas.openxmlformats.org/drawingml/2006/main">
              <a:ext uri="{FF2B5EF4-FFF2-40B4-BE49-F238E27FC236}">
                <a16:creationId xmlns:a16="http://schemas.microsoft.com/office/drawing/2014/main" id="{8308A533-11D1-431F-AC47-EA0A2881DA6D}"/>
              </a:ext>
            </a:extLst>
          </p:cNvPr>
          <p:cNvCxnSpPr>
            <a:stCxn xmlns:a="http://schemas.openxmlformats.org/drawingml/2006/main" id="3" idx="2"/>
            <a:endCxn xmlns:a="http://schemas.openxmlformats.org/drawingml/2006/main" id="5" idx="0"/>
          </p:cNvCxnSpPr>
          <p:nvPr/>
        </p:nvCxnSpPr>
        <p:spPr>
          <a:xfrm xmlns:a="http://schemas.openxmlformats.org/drawingml/2006/main">
            <a:off x="3328988" y="2162175"/>
            <a:ext cx="0" cy="257175"/>
          </a:xfrm>
          <a:prstGeom xmlns:a="http://schemas.openxmlformats.org/drawingml/2006/main" prst="straightConnector1">
            <a:avLst/>
          </a:prstGeom>
          <a:ln xmlns:a="http://schemas.openxmlformats.org/drawingml/2006/main" w="24765">
            <a:solidFill>
              <a:srgbClr val="475B6C"/>
            </a:solidFill>
            <a:prstDash val="solid"/>
            <a:tailEnd type="triangle" w="med" len="med"/>
          </a:ln>
        </p:spPr>
      </p:cxnSp>
      <p:sp>
        <p:nvSpPr>
          <p:cNvPr id="26" name="">
            <a:extLst xmlns:a="http://schemas.openxmlformats.org/drawingml/2006/main">
              <a:ext uri="{FF2B5EF4-FFF2-40B4-BE49-F238E27FC236}">
                <a16:creationId xmlns:a16="http://schemas.microsoft.com/office/drawing/2014/main" id="{78AD6BC2-7AC0-4DD6-9270-4765D858EC0F}"/>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Призначення: угорський метод</a:t>
            </a:r>
          </a:p>
        </p:txBody>
      </p:sp>
      <p:sp>
        <p:nvSpPr>
          <p:cNvPr id="3" name="">
            <a:extLst xmlns:a="http://schemas.openxmlformats.org/drawingml/2006/main">
              <a:ext uri="{FF2B5EF4-FFF2-40B4-BE49-F238E27FC236}">
                <a16:creationId xmlns:a16="http://schemas.microsoft.com/office/drawing/2014/main" id="{7A11188E-9BF2-429D-AF7D-CF670FAA5D0F}"/>
              </a:ext>
            </a:extLst>
          </p:cNvPr>
          <p:cNvSpPr>
            <a:spLocks xmlns:a="http://schemas.openxmlformats.org/drawingml/2006/main" noGrp="1"/>
          </p:cNvSpPr>
          <p:nvPr/>
        </p:nvSpPr>
        <p:spPr>
          <a:xfrm xmlns:a="http://schemas.openxmlformats.org/drawingml/2006/main">
            <a:off x="1066800" y="1381125"/>
            <a:ext cx="4524375" cy="781050"/>
          </a:xfrm>
          <a:prstGeom xmlns:a="http://schemas.openxmlformats.org/drawingml/2006/main" prst="rect">
            <a:avLst/>
          </a:prstGeom>
          <a:solidFill xmlns:a="http://schemas.openxmlformats.org/drawingml/2006/main">
            <a:srgbClr val="E1F3F0"/>
          </a:solidFill>
          <a:ln xmlns:a="http://schemas.openxmlformats.org/drawingml/2006/main" w="19050">
            <a:solidFill>
              <a:srgbClr val="086F9F"/>
            </a:solidFill>
          </a:ln>
        </p:spPr>
      </p:sp>
      <p:sp>
        <p:nvSpPr>
          <p:cNvPr id="4" name="">
            <a:extLst xmlns:a="http://schemas.openxmlformats.org/drawingml/2006/main">
              <a:ext uri="{FF2B5EF4-FFF2-40B4-BE49-F238E27FC236}">
                <a16:creationId xmlns:a16="http://schemas.microsoft.com/office/drawing/2014/main" id="{49E2F175-FE86-4635-A3B2-B5ED3EA9531D}"/>
              </a:ext>
            </a:extLst>
          </p:cNvPr>
          <p:cNvSpPr>
            <a:spLocks xmlns:a="http://schemas.openxmlformats.org/drawingml/2006/main" noGrp="1"/>
          </p:cNvSpPr>
          <p:nvPr/>
        </p:nvSpPr>
        <p:spPr>
          <a:xfrm xmlns:a="http://schemas.openxmlformats.org/drawingml/2006/main">
            <a:off x="1295400" y="1514475"/>
            <a:ext cx="4067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Початкова матриця витрат</a:t>
            </a:r>
          </a:p>
        </p:txBody>
      </p:sp>
      <p:sp>
        <p:nvSpPr>
          <p:cNvPr id="5" name="">
            <a:extLst xmlns:a="http://schemas.openxmlformats.org/drawingml/2006/main">
              <a:ext uri="{FF2B5EF4-FFF2-40B4-BE49-F238E27FC236}">
                <a16:creationId xmlns:a16="http://schemas.microsoft.com/office/drawing/2014/main" id="{7B9B16F6-357E-47AA-B501-32876A703BD5}"/>
              </a:ext>
            </a:extLst>
          </p:cNvPr>
          <p:cNvSpPr>
            <a:spLocks xmlns:a="http://schemas.openxmlformats.org/drawingml/2006/main" noGrp="1"/>
          </p:cNvSpPr>
          <p:nvPr/>
        </p:nvSpPr>
        <p:spPr>
          <a:xfrm xmlns:a="http://schemas.openxmlformats.org/drawingml/2006/main">
            <a:off x="1066800" y="2419350"/>
            <a:ext cx="4524375" cy="781050"/>
          </a:xfrm>
          <a:prstGeom xmlns:a="http://schemas.openxmlformats.org/drawingml/2006/main" prst="rect">
            <a:avLst/>
          </a:prstGeom>
          <a:solidFill xmlns:a="http://schemas.openxmlformats.org/drawingml/2006/main">
            <a:srgbClr val="F3F7F9"/>
          </a:solidFill>
          <a:ln xmlns:a="http://schemas.openxmlformats.org/drawingml/2006/main" w="19050">
            <a:solidFill>
              <a:srgbClr val="086F9F"/>
            </a:solidFill>
          </a:ln>
        </p:spPr>
      </p:sp>
      <p:sp>
        <p:nvSpPr>
          <p:cNvPr id="6" name="">
            <a:extLst xmlns:a="http://schemas.openxmlformats.org/drawingml/2006/main">
              <a:ext uri="{FF2B5EF4-FFF2-40B4-BE49-F238E27FC236}">
                <a16:creationId xmlns:a16="http://schemas.microsoft.com/office/drawing/2014/main" id="{3F89912A-ABE6-476B-931F-03CBAC46E9C7}"/>
              </a:ext>
            </a:extLst>
          </p:cNvPr>
          <p:cNvSpPr>
            <a:spLocks xmlns:a="http://schemas.openxmlformats.org/drawingml/2006/main" noGrp="1"/>
          </p:cNvSpPr>
          <p:nvPr/>
        </p:nvSpPr>
        <p:spPr>
          <a:xfrm xmlns:a="http://schemas.openxmlformats.org/drawingml/2006/main">
            <a:off x="1295400" y="2552700"/>
            <a:ext cx="40671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Відняти мінімуми рядків і стовпців</a:t>
            </a:r>
          </a:p>
        </p:txBody>
      </p:sp>
      <p:sp>
        <p:nvSpPr>
          <p:cNvPr id="7" name="">
            <a:extLst xmlns:a="http://schemas.openxmlformats.org/drawingml/2006/main">
              <a:ext uri="{FF2B5EF4-FFF2-40B4-BE49-F238E27FC236}">
                <a16:creationId xmlns:a16="http://schemas.microsoft.com/office/drawing/2014/main" id="{EEDCFC3A-D7FE-402F-AA2E-B036114CABA3}"/>
              </a:ext>
            </a:extLst>
          </p:cNvPr>
          <p:cNvSpPr>
            <a:spLocks xmlns:a="http://schemas.openxmlformats.org/drawingml/2006/main" noGrp="1"/>
          </p:cNvSpPr>
          <p:nvPr/>
        </p:nvSpPr>
        <p:spPr>
          <a:xfrm xmlns:a="http://schemas.openxmlformats.org/drawingml/2006/main">
            <a:off x="866775" y="3457575"/>
            <a:ext cx="4933950" cy="1257300"/>
          </a:xfrm>
          <a:prstGeom xmlns:a="http://schemas.openxmlformats.org/drawingml/2006/main" prst="diamond">
            <a:avLst/>
          </a:prstGeom>
          <a:solidFill xmlns:a="http://schemas.openxmlformats.org/drawingml/2006/main">
            <a:srgbClr val="FFF1DC"/>
          </a:solidFill>
          <a:ln xmlns:a="http://schemas.openxmlformats.org/drawingml/2006/main" w="19050">
            <a:solidFill>
              <a:srgbClr val="AD4C3E"/>
            </a:solidFill>
          </a:ln>
        </p:spPr>
      </p:sp>
      <p:sp>
        <p:nvSpPr>
          <p:cNvPr id="8" name="">
            <a:extLst xmlns:a="http://schemas.openxmlformats.org/drawingml/2006/main">
              <a:ext uri="{FF2B5EF4-FFF2-40B4-BE49-F238E27FC236}">
                <a16:creationId xmlns:a16="http://schemas.microsoft.com/office/drawing/2014/main" id="{D3A43BBF-6FCC-46A4-84BC-C29C0A66CAEC}"/>
              </a:ext>
            </a:extLst>
          </p:cNvPr>
          <p:cNvSpPr>
            <a:spLocks xmlns:a="http://schemas.openxmlformats.org/drawingml/2006/main" noGrp="1"/>
          </p:cNvSpPr>
          <p:nvPr/>
        </p:nvSpPr>
        <p:spPr>
          <a:xfrm xmlns:a="http://schemas.openxmlformats.org/drawingml/2006/main">
            <a:off x="1819275" y="3752850"/>
            <a:ext cx="302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Є n незалежних нулів?</a:t>
            </a:r>
          </a:p>
        </p:txBody>
      </p:sp>
      <p:sp>
        <p:nvSpPr>
          <p:cNvPr id="9" name="">
            <a:extLst xmlns:a="http://schemas.openxmlformats.org/drawingml/2006/main">
              <a:ext uri="{FF2B5EF4-FFF2-40B4-BE49-F238E27FC236}">
                <a16:creationId xmlns:a16="http://schemas.microsoft.com/office/drawing/2014/main" id="{F0EFE19F-CE24-491C-AEF6-B27C62E5DC1C}"/>
              </a:ext>
            </a:extLst>
          </p:cNvPr>
          <p:cNvSpPr>
            <a:spLocks xmlns:a="http://schemas.openxmlformats.org/drawingml/2006/main" noGrp="1"/>
          </p:cNvSpPr>
          <p:nvPr/>
        </p:nvSpPr>
        <p:spPr>
          <a:xfrm xmlns:a="http://schemas.openxmlformats.org/drawingml/2006/main">
            <a:off x="7419975" y="3629025"/>
            <a:ext cx="3857625" cy="895350"/>
          </a:xfrm>
          <a:prstGeom xmlns:a="http://schemas.openxmlformats.org/drawingml/2006/main" prst="rect">
            <a:avLst/>
          </a:prstGeom>
          <a:solidFill xmlns:a="http://schemas.openxmlformats.org/drawingml/2006/main">
            <a:srgbClr val="E1F3F0"/>
          </a:solidFill>
          <a:ln xmlns:a="http://schemas.openxmlformats.org/drawingml/2006/main" w="19050">
            <a:solidFill>
              <a:srgbClr val="086F9F"/>
            </a:solidFill>
          </a:ln>
        </p:spPr>
      </p:sp>
      <p:sp>
        <p:nvSpPr>
          <p:cNvPr id="10" name="">
            <a:extLst xmlns:a="http://schemas.openxmlformats.org/drawingml/2006/main">
              <a:ext uri="{FF2B5EF4-FFF2-40B4-BE49-F238E27FC236}">
                <a16:creationId xmlns:a16="http://schemas.microsoft.com/office/drawing/2014/main" id="{6C3E81B4-5E3A-4252-B752-F2CB560845EC}"/>
              </a:ext>
            </a:extLst>
          </p:cNvPr>
          <p:cNvSpPr>
            <a:spLocks xmlns:a="http://schemas.openxmlformats.org/drawingml/2006/main" noGrp="1"/>
          </p:cNvSpPr>
          <p:nvPr/>
        </p:nvSpPr>
        <p:spPr>
          <a:xfrm xmlns:a="http://schemas.openxmlformats.org/drawingml/2006/main">
            <a:off x="7648575" y="3762375"/>
            <a:ext cx="34004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Призначення і вартість</a:t>
            </a:r>
          </a:p>
        </p:txBody>
      </p:sp>
      <p:sp>
        <p:nvSpPr>
          <p:cNvPr id="11" name="">
            <a:extLst xmlns:a="http://schemas.openxmlformats.org/drawingml/2006/main">
              <a:ext uri="{FF2B5EF4-FFF2-40B4-BE49-F238E27FC236}">
                <a16:creationId xmlns:a16="http://schemas.microsoft.com/office/drawing/2014/main" id="{9F288513-0A2B-48BB-806B-7054FB061B60}"/>
              </a:ext>
            </a:extLst>
          </p:cNvPr>
          <p:cNvSpPr>
            <a:spLocks xmlns:a="http://schemas.openxmlformats.org/drawingml/2006/main" noGrp="1"/>
          </p:cNvSpPr>
          <p:nvPr/>
        </p:nvSpPr>
        <p:spPr>
          <a:xfrm xmlns:a="http://schemas.openxmlformats.org/drawingml/2006/main">
            <a:off x="1066800" y="5076825"/>
            <a:ext cx="4524375" cy="723900"/>
          </a:xfrm>
          <a:prstGeom xmlns:a="http://schemas.openxmlformats.org/drawingml/2006/main" prst="rect">
            <a:avLst/>
          </a:prstGeom>
          <a:solidFill xmlns:a="http://schemas.openxmlformats.org/drawingml/2006/main">
            <a:srgbClr val="F3F7F9"/>
          </a:solidFill>
          <a:ln xmlns:a="http://schemas.openxmlformats.org/drawingml/2006/main" w="19050">
            <a:solidFill>
              <a:srgbClr val="086F9F"/>
            </a:solidFill>
          </a:ln>
        </p:spPr>
      </p:sp>
      <p:sp>
        <p:nvSpPr>
          <p:cNvPr id="12" name="">
            <a:extLst xmlns:a="http://schemas.openxmlformats.org/drawingml/2006/main">
              <a:ext uri="{FF2B5EF4-FFF2-40B4-BE49-F238E27FC236}">
                <a16:creationId xmlns:a16="http://schemas.microsoft.com/office/drawing/2014/main" id="{A2758E00-CFBB-415F-B2BF-A92BC9008505}"/>
              </a:ext>
            </a:extLst>
          </p:cNvPr>
          <p:cNvSpPr>
            <a:spLocks xmlns:a="http://schemas.openxmlformats.org/drawingml/2006/main" noGrp="1"/>
          </p:cNvSpPr>
          <p:nvPr/>
        </p:nvSpPr>
        <p:spPr>
          <a:xfrm xmlns:a="http://schemas.openxmlformats.org/drawingml/2006/main">
            <a:off x="1295400" y="5210175"/>
            <a:ext cx="4067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Мінімум ліній покриття;</a:t>
            </a:r>
          </a:p>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корекція на δ</a:t>
            </a:r>
          </a:p>
        </p:txBody>
      </p:sp>
      <p:sp>
        <p:nvSpPr>
          <p:cNvPr id="18" name="">
            <a:extLst xmlns:a="http://schemas.openxmlformats.org/drawingml/2006/main">
              <a:ext uri="{FF2B5EF4-FFF2-40B4-BE49-F238E27FC236}">
                <a16:creationId xmlns:a16="http://schemas.microsoft.com/office/drawing/2014/main" id="{1CC424FA-3678-4DEA-848B-7335800E276A}"/>
              </a:ext>
            </a:extLst>
          </p:cNvPr>
          <p:cNvSpPr>
            <a:spLocks xmlns:a="http://schemas.openxmlformats.org/drawingml/2006/main" noGrp="1"/>
          </p:cNvSpPr>
          <p:nvPr/>
        </p:nvSpPr>
        <p:spPr>
          <a:xfrm xmlns:a="http://schemas.openxmlformats.org/drawingml/2006/main">
            <a:off x="6343650" y="3314700"/>
            <a:ext cx="685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475B6C"/>
                </a:solidFill>
                <a:latin typeface="DejaVu Sans"/>
                <a:ea typeface="DejaVu Sans"/>
                <a:cs typeface="DejaVu Sans"/>
              </a:defRPr>
            </a:pPr>
            <a:r>
              <a:rPr sz="1725" b="1">
                <a:solidFill>
                  <a:srgbClr val="475B6C"/>
                </a:solidFill>
                <a:latin typeface="Arial"/>
                <a:ea typeface="Arial"/>
                <a:cs typeface="Arial"/>
              </a:rPr>
              <a:t>так</a:t>
            </a:r>
          </a:p>
        </p:txBody>
      </p:sp>
      <p:sp>
        <p:nvSpPr>
          <p:cNvPr id="19" name="">
            <a:extLst xmlns:a="http://schemas.openxmlformats.org/drawingml/2006/main">
              <a:ext uri="{FF2B5EF4-FFF2-40B4-BE49-F238E27FC236}">
                <a16:creationId xmlns:a16="http://schemas.microsoft.com/office/drawing/2014/main" id="{C9A5B676-0D40-4D9B-BAD8-862710BB64DE}"/>
              </a:ext>
            </a:extLst>
          </p:cNvPr>
          <p:cNvSpPr>
            <a:spLocks xmlns:a="http://schemas.openxmlformats.org/drawingml/2006/main" noGrp="1"/>
          </p:cNvSpPr>
          <p:nvPr/>
        </p:nvSpPr>
        <p:spPr>
          <a:xfrm xmlns:a="http://schemas.openxmlformats.org/drawingml/2006/main">
            <a:off x="3962400" y="4772025"/>
            <a:ext cx="7048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475B6C"/>
                </a:solidFill>
                <a:latin typeface="DejaVu Sans"/>
                <a:ea typeface="DejaVu Sans"/>
                <a:cs typeface="DejaVu Sans"/>
              </a:defRPr>
            </a:pPr>
            <a:r>
              <a:rPr sz="1725" b="1">
                <a:solidFill>
                  <a:srgbClr val="475B6C"/>
                </a:solidFill>
                <a:latin typeface="Arial"/>
                <a:ea typeface="Arial"/>
                <a:cs typeface="Arial"/>
              </a:rPr>
              <a:t>ні</a:t>
            </a:r>
          </a:p>
        </p:txBody>
      </p:sp>
      <p:sp>
        <p:nvSpPr>
          <p:cNvPr id="20" name="">
            <a:extLst xmlns:a="http://schemas.openxmlformats.org/drawingml/2006/main">
              <a:ext uri="{FF2B5EF4-FFF2-40B4-BE49-F238E27FC236}">
                <a16:creationId xmlns:a16="http://schemas.microsoft.com/office/drawing/2014/main" id="{CD37652F-06A5-4C4F-94B5-19118FA06FBD}"/>
              </a:ext>
            </a:extLst>
          </p:cNvPr>
          <p:cNvSpPr>
            <a:spLocks xmlns:a="http://schemas.openxmlformats.org/drawingml/2006/main" noGrp="1"/>
          </p:cNvSpPr>
          <p:nvPr/>
        </p:nvSpPr>
        <p:spPr>
          <a:xfrm xmlns:a="http://schemas.openxmlformats.org/drawingml/2006/main">
            <a:off x="819150" y="589597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Після корекції знову шукаємо призначення. Вартість беремо з початкової матриці.</a:t>
            </a:r>
          </a:p>
        </p:txBody>
      </p:sp>
      <p:sp>
        <p:nvSpPr>
          <p:cNvPr id="78" name="">
            <a:extLst xmlns:a="http://schemas.openxmlformats.org/drawingml/2006/main">
              <a:ext uri="{FF2B5EF4-FFF2-40B4-BE49-F238E27FC236}">
                <a16:creationId xmlns:a16="http://schemas.microsoft.com/office/drawing/2014/main" id="{85CF4641-F871-4FD3-911E-DAB444998DBE}"/>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71</a:t>
            </a:r>
          </a:p>
        </p:txBody>
      </p:sp>
    </p:spTree>
    <p:extLst>
      <p:ext uri="{BB962C8B-B14F-4D97-AF65-F5344CB8AC3E}">
        <p14:creationId xmlns:p14="http://schemas.microsoft.com/office/powerpoint/2010/main" val="126376711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DFF3195-928D-4523-91DD-5B7731D838D6}"/>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Призначення: віднімання мінімумів рядків</a:t>
            </a:r>
          </a:p>
        </p:txBody>
      </p:sp>
      <p:sp>
        <p:nvSpPr>
          <p:cNvPr id="3" name="">
            <a:extLst xmlns:a="http://schemas.openxmlformats.org/drawingml/2006/main">
              <a:ext uri="{FF2B5EF4-FFF2-40B4-BE49-F238E27FC236}">
                <a16:creationId xmlns:a16="http://schemas.microsoft.com/office/drawing/2014/main" id="{36B48C76-EF5F-4473-9B46-0FC891BD8EA4}"/>
              </a:ext>
            </a:extLst>
          </p:cNvPr>
          <p:cNvSpPr>
            <a:spLocks xmlns:a="http://schemas.openxmlformats.org/drawingml/2006/main" noGrp="1"/>
          </p:cNvSpPr>
          <p:nvPr/>
        </p:nvSpPr>
        <p:spPr>
          <a:xfrm xmlns:a="http://schemas.openxmlformats.org/drawingml/2006/main">
            <a:off x="742950" y="1847850"/>
            <a:ext cx="1628775" cy="8572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38CA221B-D0A4-46DF-85CA-CECB36C389BE}"/>
              </a:ext>
            </a:extLst>
          </p:cNvPr>
          <p:cNvSpPr>
            <a:spLocks xmlns:a="http://schemas.openxmlformats.org/drawingml/2006/main" noGrp="1"/>
          </p:cNvSpPr>
          <p:nvPr/>
        </p:nvSpPr>
        <p:spPr>
          <a:xfrm xmlns:a="http://schemas.openxmlformats.org/drawingml/2006/main">
            <a:off x="838200" y="1924050"/>
            <a:ext cx="1438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Вузол</a:t>
            </a:r>
          </a:p>
        </p:txBody>
      </p:sp>
      <p:sp>
        <p:nvSpPr>
          <p:cNvPr id="5" name="">
            <a:extLst xmlns:a="http://schemas.openxmlformats.org/drawingml/2006/main">
              <a:ext uri="{FF2B5EF4-FFF2-40B4-BE49-F238E27FC236}">
                <a16:creationId xmlns:a16="http://schemas.microsoft.com/office/drawing/2014/main" id="{10AD70C4-6077-4E34-B852-73AE5B9262B8}"/>
              </a:ext>
            </a:extLst>
          </p:cNvPr>
          <p:cNvSpPr>
            <a:spLocks xmlns:a="http://schemas.openxmlformats.org/drawingml/2006/main" noGrp="1"/>
          </p:cNvSpPr>
          <p:nvPr/>
        </p:nvSpPr>
        <p:spPr>
          <a:xfrm xmlns:a="http://schemas.openxmlformats.org/drawingml/2006/main">
            <a:off x="2371725" y="1847850"/>
            <a:ext cx="3276600" cy="8572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CF195068-85EC-4BC8-8535-6B9CF20B4BEF}"/>
              </a:ext>
            </a:extLst>
          </p:cNvPr>
          <p:cNvSpPr>
            <a:spLocks xmlns:a="http://schemas.openxmlformats.org/drawingml/2006/main" noGrp="1"/>
          </p:cNvSpPr>
          <p:nvPr/>
        </p:nvSpPr>
        <p:spPr>
          <a:xfrm xmlns:a="http://schemas.openxmlformats.org/drawingml/2006/main">
            <a:off x="2466975" y="1924050"/>
            <a:ext cx="3086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Початкові I, A, B</a:t>
            </a:r>
          </a:p>
        </p:txBody>
      </p:sp>
      <p:sp>
        <p:nvSpPr>
          <p:cNvPr id="7" name="">
            <a:extLst xmlns:a="http://schemas.openxmlformats.org/drawingml/2006/main">
              <a:ext uri="{FF2B5EF4-FFF2-40B4-BE49-F238E27FC236}">
                <a16:creationId xmlns:a16="http://schemas.microsoft.com/office/drawing/2014/main" id="{070AAB01-B187-434F-B9F2-63EF58EC875B}"/>
              </a:ext>
            </a:extLst>
          </p:cNvPr>
          <p:cNvSpPr>
            <a:spLocks xmlns:a="http://schemas.openxmlformats.org/drawingml/2006/main" noGrp="1"/>
          </p:cNvSpPr>
          <p:nvPr/>
        </p:nvSpPr>
        <p:spPr>
          <a:xfrm xmlns:a="http://schemas.openxmlformats.org/drawingml/2006/main">
            <a:off x="5648325" y="1847850"/>
            <a:ext cx="1847850" cy="8572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2A72402E-6DF7-4D9F-915B-2016D91B60A6}"/>
              </a:ext>
            </a:extLst>
          </p:cNvPr>
          <p:cNvSpPr>
            <a:spLocks xmlns:a="http://schemas.openxmlformats.org/drawingml/2006/main" noGrp="1"/>
          </p:cNvSpPr>
          <p:nvPr/>
        </p:nvSpPr>
        <p:spPr>
          <a:xfrm xmlns:a="http://schemas.openxmlformats.org/drawingml/2006/main">
            <a:off x="5743575" y="1924050"/>
            <a:ext cx="1657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Мінімум</a:t>
            </a:r>
          </a:p>
        </p:txBody>
      </p:sp>
      <p:sp>
        <p:nvSpPr>
          <p:cNvPr id="9" name="">
            <a:extLst xmlns:a="http://schemas.openxmlformats.org/drawingml/2006/main">
              <a:ext uri="{FF2B5EF4-FFF2-40B4-BE49-F238E27FC236}">
                <a16:creationId xmlns:a16="http://schemas.microsoft.com/office/drawing/2014/main" id="{F0B6A905-B1D8-4047-8D9E-C5BEBC50CE35}"/>
              </a:ext>
            </a:extLst>
          </p:cNvPr>
          <p:cNvSpPr>
            <a:spLocks xmlns:a="http://schemas.openxmlformats.org/drawingml/2006/main" noGrp="1"/>
          </p:cNvSpPr>
          <p:nvPr/>
        </p:nvSpPr>
        <p:spPr>
          <a:xfrm xmlns:a="http://schemas.openxmlformats.org/drawingml/2006/main">
            <a:off x="7496175" y="1847850"/>
            <a:ext cx="3952875" cy="8572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BDD5CD67-0310-407B-8643-A72AA5C97639}"/>
              </a:ext>
            </a:extLst>
          </p:cNvPr>
          <p:cNvSpPr>
            <a:spLocks xmlns:a="http://schemas.openxmlformats.org/drawingml/2006/main" noGrp="1"/>
          </p:cNvSpPr>
          <p:nvPr/>
        </p:nvSpPr>
        <p:spPr>
          <a:xfrm xmlns:a="http://schemas.openxmlformats.org/drawingml/2006/main">
            <a:off x="7591425" y="1924050"/>
            <a:ext cx="3762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Після віднімання</a:t>
            </a:r>
          </a:p>
        </p:txBody>
      </p:sp>
      <p:sp>
        <p:nvSpPr>
          <p:cNvPr id="11" name="">
            <a:extLst xmlns:a="http://schemas.openxmlformats.org/drawingml/2006/main">
              <a:ext uri="{FF2B5EF4-FFF2-40B4-BE49-F238E27FC236}">
                <a16:creationId xmlns:a16="http://schemas.microsoft.com/office/drawing/2014/main" id="{17DB7894-CD4F-4032-9644-323730811932}"/>
              </a:ext>
            </a:extLst>
          </p:cNvPr>
          <p:cNvSpPr>
            <a:spLocks xmlns:a="http://schemas.openxmlformats.org/drawingml/2006/main" noGrp="1"/>
          </p:cNvSpPr>
          <p:nvPr/>
        </p:nvSpPr>
        <p:spPr>
          <a:xfrm xmlns:a="http://schemas.openxmlformats.org/drawingml/2006/main">
            <a:off x="742950" y="2705100"/>
            <a:ext cx="1628775" cy="8572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05FDD306-0AFE-4BEF-B422-F93271EC8CE2}"/>
              </a:ext>
            </a:extLst>
          </p:cNvPr>
          <p:cNvSpPr>
            <a:spLocks xmlns:a="http://schemas.openxmlformats.org/drawingml/2006/main" noGrp="1"/>
          </p:cNvSpPr>
          <p:nvPr/>
        </p:nvSpPr>
        <p:spPr>
          <a:xfrm xmlns:a="http://schemas.openxmlformats.org/drawingml/2006/main">
            <a:off x="838200" y="2781300"/>
            <a:ext cx="1438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S1</a:t>
            </a:r>
          </a:p>
        </p:txBody>
      </p:sp>
      <p:sp>
        <p:nvSpPr>
          <p:cNvPr id="13" name="">
            <a:extLst xmlns:a="http://schemas.openxmlformats.org/drawingml/2006/main">
              <a:ext uri="{FF2B5EF4-FFF2-40B4-BE49-F238E27FC236}">
                <a16:creationId xmlns:a16="http://schemas.microsoft.com/office/drawing/2014/main" id="{21A7C5FA-CC83-486E-BB5F-0716AA71B37D}"/>
              </a:ext>
            </a:extLst>
          </p:cNvPr>
          <p:cNvSpPr>
            <a:spLocks xmlns:a="http://schemas.openxmlformats.org/drawingml/2006/main" noGrp="1"/>
          </p:cNvSpPr>
          <p:nvPr/>
        </p:nvSpPr>
        <p:spPr>
          <a:xfrm xmlns:a="http://schemas.openxmlformats.org/drawingml/2006/main">
            <a:off x="2371725" y="2705100"/>
            <a:ext cx="3276600" cy="8572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AA343985-5D27-487E-B1D5-7464AFB8A127}"/>
              </a:ext>
            </a:extLst>
          </p:cNvPr>
          <p:cNvSpPr>
            <a:spLocks xmlns:a="http://schemas.openxmlformats.org/drawingml/2006/main" noGrp="1"/>
          </p:cNvSpPr>
          <p:nvPr/>
        </p:nvSpPr>
        <p:spPr>
          <a:xfrm xmlns:a="http://schemas.openxmlformats.org/drawingml/2006/main">
            <a:off x="2466975" y="2781300"/>
            <a:ext cx="3086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4, 1, 7</a:t>
            </a:r>
          </a:p>
        </p:txBody>
      </p:sp>
      <p:sp>
        <p:nvSpPr>
          <p:cNvPr id="15" name="">
            <a:extLst xmlns:a="http://schemas.openxmlformats.org/drawingml/2006/main">
              <a:ext uri="{FF2B5EF4-FFF2-40B4-BE49-F238E27FC236}">
                <a16:creationId xmlns:a16="http://schemas.microsoft.com/office/drawing/2014/main" id="{8370DFFE-4775-4CF6-867C-889515269C7E}"/>
              </a:ext>
            </a:extLst>
          </p:cNvPr>
          <p:cNvSpPr>
            <a:spLocks xmlns:a="http://schemas.openxmlformats.org/drawingml/2006/main" noGrp="1"/>
          </p:cNvSpPr>
          <p:nvPr/>
        </p:nvSpPr>
        <p:spPr>
          <a:xfrm xmlns:a="http://schemas.openxmlformats.org/drawingml/2006/main">
            <a:off x="5648325" y="2705100"/>
            <a:ext cx="1847850" cy="8572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41C5FEC1-A864-48AC-92AA-152B46565FD9}"/>
              </a:ext>
            </a:extLst>
          </p:cNvPr>
          <p:cNvSpPr>
            <a:spLocks xmlns:a="http://schemas.openxmlformats.org/drawingml/2006/main" noGrp="1"/>
          </p:cNvSpPr>
          <p:nvPr/>
        </p:nvSpPr>
        <p:spPr>
          <a:xfrm xmlns:a="http://schemas.openxmlformats.org/drawingml/2006/main">
            <a:off x="5743575" y="2781300"/>
            <a:ext cx="1657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D0409A57-235E-467F-ACBA-721765147B25}"/>
              </a:ext>
            </a:extLst>
          </p:cNvPr>
          <p:cNvSpPr>
            <a:spLocks xmlns:a="http://schemas.openxmlformats.org/drawingml/2006/main" noGrp="1"/>
          </p:cNvSpPr>
          <p:nvPr/>
        </p:nvSpPr>
        <p:spPr>
          <a:xfrm xmlns:a="http://schemas.openxmlformats.org/drawingml/2006/main">
            <a:off x="7496175" y="2705100"/>
            <a:ext cx="3952875" cy="8572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65300825-4DE0-490C-AEEB-9E3D98BA1924}"/>
              </a:ext>
            </a:extLst>
          </p:cNvPr>
          <p:cNvSpPr>
            <a:spLocks xmlns:a="http://schemas.openxmlformats.org/drawingml/2006/main" noGrp="1"/>
          </p:cNvSpPr>
          <p:nvPr/>
        </p:nvSpPr>
        <p:spPr>
          <a:xfrm xmlns:a="http://schemas.openxmlformats.org/drawingml/2006/main">
            <a:off x="7591425" y="2781300"/>
            <a:ext cx="3762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3, 0, 6</a:t>
            </a:r>
          </a:p>
        </p:txBody>
      </p:sp>
      <p:sp>
        <p:nvSpPr>
          <p:cNvPr id="19" name="">
            <a:extLst xmlns:a="http://schemas.openxmlformats.org/drawingml/2006/main">
              <a:ext uri="{FF2B5EF4-FFF2-40B4-BE49-F238E27FC236}">
                <a16:creationId xmlns:a16="http://schemas.microsoft.com/office/drawing/2014/main" id="{5CD612FA-931F-4030-A16F-B172FE697344}"/>
              </a:ext>
            </a:extLst>
          </p:cNvPr>
          <p:cNvSpPr>
            <a:spLocks xmlns:a="http://schemas.openxmlformats.org/drawingml/2006/main" noGrp="1"/>
          </p:cNvSpPr>
          <p:nvPr/>
        </p:nvSpPr>
        <p:spPr>
          <a:xfrm xmlns:a="http://schemas.openxmlformats.org/drawingml/2006/main">
            <a:off x="742950" y="3562350"/>
            <a:ext cx="1628775" cy="8572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67BB9E09-E4E9-40AE-A547-9582A0594B3B}"/>
              </a:ext>
            </a:extLst>
          </p:cNvPr>
          <p:cNvSpPr>
            <a:spLocks xmlns:a="http://schemas.openxmlformats.org/drawingml/2006/main" noGrp="1"/>
          </p:cNvSpPr>
          <p:nvPr/>
        </p:nvSpPr>
        <p:spPr>
          <a:xfrm xmlns:a="http://schemas.openxmlformats.org/drawingml/2006/main">
            <a:off x="838200" y="3638550"/>
            <a:ext cx="1438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S2</a:t>
            </a:r>
          </a:p>
        </p:txBody>
      </p:sp>
      <p:sp>
        <p:nvSpPr>
          <p:cNvPr id="21" name="">
            <a:extLst xmlns:a="http://schemas.openxmlformats.org/drawingml/2006/main">
              <a:ext uri="{FF2B5EF4-FFF2-40B4-BE49-F238E27FC236}">
                <a16:creationId xmlns:a16="http://schemas.microsoft.com/office/drawing/2014/main" id="{C62FBB03-3845-4650-8DEB-F724B9EE99E5}"/>
              </a:ext>
            </a:extLst>
          </p:cNvPr>
          <p:cNvSpPr>
            <a:spLocks xmlns:a="http://schemas.openxmlformats.org/drawingml/2006/main" noGrp="1"/>
          </p:cNvSpPr>
          <p:nvPr/>
        </p:nvSpPr>
        <p:spPr>
          <a:xfrm xmlns:a="http://schemas.openxmlformats.org/drawingml/2006/main">
            <a:off x="2371725" y="3562350"/>
            <a:ext cx="3276600" cy="8572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16B93080-74BD-421D-8305-4C708C8AB8C2}"/>
              </a:ext>
            </a:extLst>
          </p:cNvPr>
          <p:cNvSpPr>
            <a:spLocks xmlns:a="http://schemas.openxmlformats.org/drawingml/2006/main" noGrp="1"/>
          </p:cNvSpPr>
          <p:nvPr/>
        </p:nvSpPr>
        <p:spPr>
          <a:xfrm xmlns:a="http://schemas.openxmlformats.org/drawingml/2006/main">
            <a:off x="2466975" y="3638550"/>
            <a:ext cx="3086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2, 6, 5</a:t>
            </a:r>
          </a:p>
        </p:txBody>
      </p:sp>
      <p:sp>
        <p:nvSpPr>
          <p:cNvPr id="23" name="">
            <a:extLst xmlns:a="http://schemas.openxmlformats.org/drawingml/2006/main">
              <a:ext uri="{FF2B5EF4-FFF2-40B4-BE49-F238E27FC236}">
                <a16:creationId xmlns:a16="http://schemas.microsoft.com/office/drawing/2014/main" id="{CF41CB64-89F2-49C7-B537-493503C0D86D}"/>
              </a:ext>
            </a:extLst>
          </p:cNvPr>
          <p:cNvSpPr>
            <a:spLocks xmlns:a="http://schemas.openxmlformats.org/drawingml/2006/main" noGrp="1"/>
          </p:cNvSpPr>
          <p:nvPr/>
        </p:nvSpPr>
        <p:spPr>
          <a:xfrm xmlns:a="http://schemas.openxmlformats.org/drawingml/2006/main">
            <a:off x="5648325" y="3562350"/>
            <a:ext cx="1847850" cy="8572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CD01AD69-65DC-4937-B01A-6184923B7E2D}"/>
              </a:ext>
            </a:extLst>
          </p:cNvPr>
          <p:cNvSpPr>
            <a:spLocks xmlns:a="http://schemas.openxmlformats.org/drawingml/2006/main" noGrp="1"/>
          </p:cNvSpPr>
          <p:nvPr/>
        </p:nvSpPr>
        <p:spPr>
          <a:xfrm xmlns:a="http://schemas.openxmlformats.org/drawingml/2006/main">
            <a:off x="5743575" y="3638550"/>
            <a:ext cx="1657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2</a:t>
            </a:r>
          </a:p>
        </p:txBody>
      </p:sp>
      <p:sp>
        <p:nvSpPr>
          <p:cNvPr id="25" name="">
            <a:extLst xmlns:a="http://schemas.openxmlformats.org/drawingml/2006/main">
              <a:ext uri="{FF2B5EF4-FFF2-40B4-BE49-F238E27FC236}">
                <a16:creationId xmlns:a16="http://schemas.microsoft.com/office/drawing/2014/main" id="{4515ADC0-DEF7-4CFF-98D5-2CFAC641B335}"/>
              </a:ext>
            </a:extLst>
          </p:cNvPr>
          <p:cNvSpPr>
            <a:spLocks xmlns:a="http://schemas.openxmlformats.org/drawingml/2006/main" noGrp="1"/>
          </p:cNvSpPr>
          <p:nvPr/>
        </p:nvSpPr>
        <p:spPr>
          <a:xfrm xmlns:a="http://schemas.openxmlformats.org/drawingml/2006/main">
            <a:off x="7496175" y="3562350"/>
            <a:ext cx="3952875" cy="8572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E77D96E9-8BA2-4405-858B-3D3A5E5A9D5A}"/>
              </a:ext>
            </a:extLst>
          </p:cNvPr>
          <p:cNvSpPr>
            <a:spLocks xmlns:a="http://schemas.openxmlformats.org/drawingml/2006/main" noGrp="1"/>
          </p:cNvSpPr>
          <p:nvPr/>
        </p:nvSpPr>
        <p:spPr>
          <a:xfrm xmlns:a="http://schemas.openxmlformats.org/drawingml/2006/main">
            <a:off x="7591425" y="3638550"/>
            <a:ext cx="3762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0, 4, 3</a:t>
            </a:r>
          </a:p>
        </p:txBody>
      </p:sp>
      <p:sp>
        <p:nvSpPr>
          <p:cNvPr id="27" name="">
            <a:extLst xmlns:a="http://schemas.openxmlformats.org/drawingml/2006/main">
              <a:ext uri="{FF2B5EF4-FFF2-40B4-BE49-F238E27FC236}">
                <a16:creationId xmlns:a16="http://schemas.microsoft.com/office/drawing/2014/main" id="{42DA3530-C7DB-4875-960D-E4A5D7EA63F0}"/>
              </a:ext>
            </a:extLst>
          </p:cNvPr>
          <p:cNvSpPr>
            <a:spLocks xmlns:a="http://schemas.openxmlformats.org/drawingml/2006/main" noGrp="1"/>
          </p:cNvSpPr>
          <p:nvPr/>
        </p:nvSpPr>
        <p:spPr>
          <a:xfrm xmlns:a="http://schemas.openxmlformats.org/drawingml/2006/main">
            <a:off x="742950" y="4419600"/>
            <a:ext cx="1628775" cy="8572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8" name="">
            <a:extLst xmlns:a="http://schemas.openxmlformats.org/drawingml/2006/main">
              <a:ext uri="{FF2B5EF4-FFF2-40B4-BE49-F238E27FC236}">
                <a16:creationId xmlns:a16="http://schemas.microsoft.com/office/drawing/2014/main" id="{5C0C4C93-0F2E-4C59-9B3C-43BDF8A2F27E}"/>
              </a:ext>
            </a:extLst>
          </p:cNvPr>
          <p:cNvSpPr>
            <a:spLocks xmlns:a="http://schemas.openxmlformats.org/drawingml/2006/main" noGrp="1"/>
          </p:cNvSpPr>
          <p:nvPr/>
        </p:nvSpPr>
        <p:spPr>
          <a:xfrm xmlns:a="http://schemas.openxmlformats.org/drawingml/2006/main">
            <a:off x="838200" y="4495800"/>
            <a:ext cx="14382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S3</a:t>
            </a:r>
          </a:p>
        </p:txBody>
      </p:sp>
      <p:sp>
        <p:nvSpPr>
          <p:cNvPr id="29" name="">
            <a:extLst xmlns:a="http://schemas.openxmlformats.org/drawingml/2006/main">
              <a:ext uri="{FF2B5EF4-FFF2-40B4-BE49-F238E27FC236}">
                <a16:creationId xmlns:a16="http://schemas.microsoft.com/office/drawing/2014/main" id="{45DC375A-98D7-4FD2-ADDB-4036D97812F4}"/>
              </a:ext>
            </a:extLst>
          </p:cNvPr>
          <p:cNvSpPr>
            <a:spLocks xmlns:a="http://schemas.openxmlformats.org/drawingml/2006/main" noGrp="1"/>
          </p:cNvSpPr>
          <p:nvPr/>
        </p:nvSpPr>
        <p:spPr>
          <a:xfrm xmlns:a="http://schemas.openxmlformats.org/drawingml/2006/main">
            <a:off x="2371725" y="4419600"/>
            <a:ext cx="3276600" cy="8572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0" name="">
            <a:extLst xmlns:a="http://schemas.openxmlformats.org/drawingml/2006/main">
              <a:ext uri="{FF2B5EF4-FFF2-40B4-BE49-F238E27FC236}">
                <a16:creationId xmlns:a16="http://schemas.microsoft.com/office/drawing/2014/main" id="{B0CDAB5A-57CB-4F1F-A63D-B16DF6CFBBB8}"/>
              </a:ext>
            </a:extLst>
          </p:cNvPr>
          <p:cNvSpPr>
            <a:spLocks xmlns:a="http://schemas.openxmlformats.org/drawingml/2006/main" noGrp="1"/>
          </p:cNvSpPr>
          <p:nvPr/>
        </p:nvSpPr>
        <p:spPr>
          <a:xfrm xmlns:a="http://schemas.openxmlformats.org/drawingml/2006/main">
            <a:off x="2466975" y="4495800"/>
            <a:ext cx="3086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8, 3, 2</a:t>
            </a:r>
          </a:p>
        </p:txBody>
      </p:sp>
      <p:sp>
        <p:nvSpPr>
          <p:cNvPr id="31" name="">
            <a:extLst xmlns:a="http://schemas.openxmlformats.org/drawingml/2006/main">
              <a:ext uri="{FF2B5EF4-FFF2-40B4-BE49-F238E27FC236}">
                <a16:creationId xmlns:a16="http://schemas.microsoft.com/office/drawing/2014/main" id="{B90DC5F5-5ACB-4305-9FF8-2E0A337E247B}"/>
              </a:ext>
            </a:extLst>
          </p:cNvPr>
          <p:cNvSpPr>
            <a:spLocks xmlns:a="http://schemas.openxmlformats.org/drawingml/2006/main" noGrp="1"/>
          </p:cNvSpPr>
          <p:nvPr/>
        </p:nvSpPr>
        <p:spPr>
          <a:xfrm xmlns:a="http://schemas.openxmlformats.org/drawingml/2006/main">
            <a:off x="5648325" y="4419600"/>
            <a:ext cx="1847850" cy="8572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2" name="">
            <a:extLst xmlns:a="http://schemas.openxmlformats.org/drawingml/2006/main">
              <a:ext uri="{FF2B5EF4-FFF2-40B4-BE49-F238E27FC236}">
                <a16:creationId xmlns:a16="http://schemas.microsoft.com/office/drawing/2014/main" id="{325566CF-3401-4A08-BDC0-29C500154733}"/>
              </a:ext>
            </a:extLst>
          </p:cNvPr>
          <p:cNvSpPr>
            <a:spLocks xmlns:a="http://schemas.openxmlformats.org/drawingml/2006/main" noGrp="1"/>
          </p:cNvSpPr>
          <p:nvPr/>
        </p:nvSpPr>
        <p:spPr>
          <a:xfrm xmlns:a="http://schemas.openxmlformats.org/drawingml/2006/main">
            <a:off x="5743575" y="4495800"/>
            <a:ext cx="1657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2</a:t>
            </a:r>
          </a:p>
        </p:txBody>
      </p:sp>
      <p:sp>
        <p:nvSpPr>
          <p:cNvPr id="33" name="">
            <a:extLst xmlns:a="http://schemas.openxmlformats.org/drawingml/2006/main">
              <a:ext uri="{FF2B5EF4-FFF2-40B4-BE49-F238E27FC236}">
                <a16:creationId xmlns:a16="http://schemas.microsoft.com/office/drawing/2014/main" id="{5CF730BE-B15E-4487-8B37-5C6D56727CE5}"/>
              </a:ext>
            </a:extLst>
          </p:cNvPr>
          <p:cNvSpPr>
            <a:spLocks xmlns:a="http://schemas.openxmlformats.org/drawingml/2006/main" noGrp="1"/>
          </p:cNvSpPr>
          <p:nvPr/>
        </p:nvSpPr>
        <p:spPr>
          <a:xfrm xmlns:a="http://schemas.openxmlformats.org/drawingml/2006/main">
            <a:off x="7496175" y="4419600"/>
            <a:ext cx="3952875" cy="8572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4" name="">
            <a:extLst xmlns:a="http://schemas.openxmlformats.org/drawingml/2006/main">
              <a:ext uri="{FF2B5EF4-FFF2-40B4-BE49-F238E27FC236}">
                <a16:creationId xmlns:a16="http://schemas.microsoft.com/office/drawing/2014/main" id="{73392A5E-82D4-413E-8321-13C6B66ABFCE}"/>
              </a:ext>
            </a:extLst>
          </p:cNvPr>
          <p:cNvSpPr>
            <a:spLocks xmlns:a="http://schemas.openxmlformats.org/drawingml/2006/main" noGrp="1"/>
          </p:cNvSpPr>
          <p:nvPr/>
        </p:nvSpPr>
        <p:spPr>
          <a:xfrm xmlns:a="http://schemas.openxmlformats.org/drawingml/2006/main">
            <a:off x="7591425" y="4495800"/>
            <a:ext cx="3762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6, 1, 0</a:t>
            </a:r>
          </a:p>
        </p:txBody>
      </p:sp>
      <p:sp>
        <p:nvSpPr>
          <p:cNvPr id="35" name="">
            <a:extLst xmlns:a="http://schemas.openxmlformats.org/drawingml/2006/main">
              <a:ext uri="{FF2B5EF4-FFF2-40B4-BE49-F238E27FC236}">
                <a16:creationId xmlns:a16="http://schemas.microsoft.com/office/drawing/2014/main" id="{E7C7314A-6C2D-452B-8507-B76B0B9161A4}"/>
              </a:ext>
            </a:extLst>
          </p:cNvPr>
          <p:cNvSpPr>
            <a:spLocks xmlns:a="http://schemas.openxmlformats.org/drawingml/2006/main" noGrp="1"/>
          </p:cNvSpPr>
          <p:nvPr/>
        </p:nvSpPr>
        <p:spPr>
          <a:xfrm xmlns:a="http://schemas.openxmlformats.org/drawingml/2006/main">
            <a:off x="819150" y="563880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У кожному рядку з’явився нуль; далі перевіряємо стовпці.</a:t>
            </a:r>
          </a:p>
        </p:txBody>
      </p:sp>
      <p:sp>
        <p:nvSpPr>
          <p:cNvPr id="37" name="">
            <a:extLst xmlns:a="http://schemas.openxmlformats.org/drawingml/2006/main">
              <a:ext uri="{FF2B5EF4-FFF2-40B4-BE49-F238E27FC236}">
                <a16:creationId xmlns:a16="http://schemas.microsoft.com/office/drawing/2014/main" id="{B58FE1F4-BD43-44C7-A2B0-74E5E219BC25}"/>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72</a:t>
            </a:r>
          </a:p>
        </p:txBody>
      </p:sp>
    </p:spTree>
    <p:extLst>
      <p:ext uri="{BB962C8B-B14F-4D97-AF65-F5344CB8AC3E}">
        <p14:creationId xmlns:p14="http://schemas.microsoft.com/office/powerpoint/2010/main" val="338580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FE59DC-2DAC-40D8-8E86-EE91071B21F5}"/>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Незалежні нулі: по одному на рядок і стовпець</a:t>
            </a:r>
          </a:p>
        </p:txBody>
      </p:sp>
      <p:sp>
        <p:nvSpPr>
          <p:cNvPr id="2" name="">
            <a:extLst xmlns:a="http://schemas.openxmlformats.org/drawingml/2006/main">
              <a:ext uri="{FF2B5EF4-FFF2-40B4-BE49-F238E27FC236}">
                <a16:creationId xmlns:a16="http://schemas.microsoft.com/office/drawing/2014/main" id="{8DC50AC7-8495-4631-92A0-30A1FCD9145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S1→A, S2→I, S3→B; за початковими цінами C=1+2+2=5.</a:t>
            </a:r>
          </a:p>
        </p:txBody>
      </p:sp>
      <p:graphicFrame>
        <p:nvGraphicFramePr>
          <p:cNvPr id="13" name="">
            <a:extLst xmlns:a="http://schemas.openxmlformats.org/drawingml/2006/main">
              <a:ext uri="{FF2B5EF4-FFF2-40B4-BE49-F238E27FC236}">
                <a16:creationId xmlns:a16="http://schemas.microsoft.com/office/drawing/2014/main" id="{701405FD-D91E-4BCD-A38C-919075315FD7}"/>
              </a:ext>
            </a:extLst>
          </p:cNvPr>
          <p:cNvGraphicFramePr/>
          <p:nvPr/>
        </p:nvGraphicFramePr>
        <p:xfrm>
          <a:off xmlns:a="http://schemas.openxmlformats.org/drawingml/2006/main" x="762000" y="1647825"/>
          <a:ext xmlns:a="http://schemas.openxmlformats.org/drawingml/2006/main" cx="10668000" cy="3105150"/>
        </p:xfrm>
        <a:graphic xmlns:a="http://schemas.openxmlformats.org/drawingml/2006/main">
          <a:graphicData uri="http://schemas.openxmlformats.org/drawingml/2006/table">
            <a:tbl>
              <a:tblPr/>
              <a:tblGrid>
                <a:gridCol w="2667000"/>
                <a:gridCol w="2667000"/>
                <a:gridCol w="2667000"/>
                <a:gridCol w="2667000"/>
              </a:tblGrid>
              <a:tr h="776288">
                <a:tc>
                  <a:txBody>
                    <a:bodyPr/>
                    <a:lstStyle/>
                    <a:p>
                      <a:r>
                        <a:rPr sz="2550" b="1">
                          <a:solidFill>
                            <a:srgbClr val="FFFFFF"/>
                          </a:solidFill>
                          <a:latin typeface="Arial"/>
                          <a:ea typeface="Arial"/>
                          <a:cs typeface="Arial"/>
                        </a:rPr>
                        <a:t>Вузол</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I</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B</a:t>
                      </a:r>
                    </a:p>
                  </a:txBody>
                  <a:tcPr marL="114300" marR="114300" marT="66675" marB="66675" anchor="ctr">
                    <a:solidFill>
                      <a:srgbClr val="173047"/>
                    </a:solidFill>
                  </a:tcPr>
                </a:tc>
              </a:tr>
              <a:tr h="776288">
                <a:tc>
                  <a:txBody>
                    <a:bodyPr/>
                    <a:lstStyle/>
                    <a:p>
                      <a:r>
                        <a:rPr sz="2550">
                          <a:solidFill>
                            <a:srgbClr val="173047"/>
                          </a:solidFill>
                          <a:latin typeface="Arial"/>
                          <a:ea typeface="Arial"/>
                          <a:cs typeface="Arial"/>
                        </a:rPr>
                        <a:t>S1</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3</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c>
                  <a:txBody>
                    <a:bodyPr/>
                    <a:lstStyle/>
                    <a:p>
                      <a:pPr algn="ctr">
                        <a:buNone/>
                      </a:pPr>
                      <a:r>
                        <a:rPr sz="2550">
                          <a:solidFill>
                            <a:srgbClr val="173047"/>
                          </a:solidFill>
                          <a:latin typeface="Arial"/>
                          <a:ea typeface="Arial"/>
                          <a:cs typeface="Arial"/>
                        </a:rPr>
                        <a:t>6</a:t>
                      </a:r>
                    </a:p>
                  </a:txBody>
                  <a:tcPr marL="114300" marR="114300" marT="66675" marB="66675" anchor="ctr">
                    <a:solidFill>
                      <a:srgbClr val="FFFFFF"/>
                    </a:solidFill>
                  </a:tcPr>
                </a:tc>
              </a:tr>
              <a:tr h="776288">
                <a:tc>
                  <a:txBody>
                    <a:bodyPr/>
                    <a:lstStyle/>
                    <a:p>
                      <a:r>
                        <a:rPr sz="2550">
                          <a:solidFill>
                            <a:srgbClr val="173047"/>
                          </a:solidFill>
                          <a:latin typeface="Arial"/>
                          <a:ea typeface="Arial"/>
                          <a:cs typeface="Arial"/>
                        </a:rPr>
                        <a:t>S2</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c>
                  <a:txBody>
                    <a:bodyPr/>
                    <a:lstStyle/>
                    <a:p>
                      <a:pPr algn="ctr">
                        <a:buNone/>
                      </a:pPr>
                      <a:r>
                        <a:rPr sz="2550">
                          <a:solidFill>
                            <a:srgbClr val="173047"/>
                          </a:solidFill>
                          <a:latin typeface="Arial"/>
                          <a:ea typeface="Arial"/>
                          <a:cs typeface="Arial"/>
                        </a:rPr>
                        <a:t>4</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3</a:t>
                      </a:r>
                    </a:p>
                  </a:txBody>
                  <a:tcPr marL="114300" marR="114300" marT="66675" marB="66675" anchor="ctr">
                    <a:solidFill>
                      <a:srgbClr val="FFFFFF"/>
                    </a:solidFill>
                  </a:tcPr>
                </a:tc>
              </a:tr>
              <a:tr h="776288">
                <a:tc>
                  <a:txBody>
                    <a:bodyPr/>
                    <a:lstStyle/>
                    <a:p>
                      <a:r>
                        <a:rPr sz="2550">
                          <a:solidFill>
                            <a:srgbClr val="173047"/>
                          </a:solidFill>
                          <a:latin typeface="Arial"/>
                          <a:ea typeface="Arial"/>
                          <a:cs typeface="Arial"/>
                        </a:rPr>
                        <a:t>S3</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6</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r>
            </a:tbl>
          </a:graphicData>
        </a:graphic>
      </p:graphicFrame>
      <p:sp>
        <p:nvSpPr>
          <p:cNvPr id="4" name="">
            <a:extLst xmlns:a="http://schemas.openxmlformats.org/drawingml/2006/main">
              <a:ext uri="{FF2B5EF4-FFF2-40B4-BE49-F238E27FC236}">
                <a16:creationId xmlns:a16="http://schemas.microsoft.com/office/drawing/2014/main" id="{9929A181-F3C3-4CF3-B4ED-C20A653E584A}"/>
              </a:ext>
            </a:extLst>
          </p:cNvPr>
          <p:cNvSpPr>
            <a:spLocks xmlns:a="http://schemas.openxmlformats.org/drawingml/2006/main" noGrp="1"/>
          </p:cNvSpPr>
          <p:nvPr/>
        </p:nvSpPr>
        <p:spPr>
          <a:xfrm xmlns:a="http://schemas.openxmlformats.org/drawingml/2006/main">
            <a:off x="6953250" y="2557463"/>
            <a:ext cx="952500" cy="504825"/>
          </a:xfrm>
          <a:prstGeom xmlns:a="http://schemas.openxmlformats.org/drawingml/2006/main" prst="ellipse">
            <a:avLst/>
          </a:prstGeom>
          <a:noFill xmlns:a="http://schemas.openxmlformats.org/drawingml/2006/main"/>
          <a:ln xmlns:a="http://schemas.openxmlformats.org/drawingml/2006/main" w="14288">
            <a:solidFill>
              <a:srgbClr val="00857D"/>
            </a:solidFill>
          </a:ln>
        </p:spPr>
      </p:sp>
      <p:sp>
        <p:nvSpPr>
          <p:cNvPr id="5" name="">
            <a:extLst xmlns:a="http://schemas.openxmlformats.org/drawingml/2006/main">
              <a:ext uri="{FF2B5EF4-FFF2-40B4-BE49-F238E27FC236}">
                <a16:creationId xmlns:a16="http://schemas.microsoft.com/office/drawing/2014/main" id="{81F9E22B-D53F-4367-B8CA-082707D52F46}"/>
              </a:ext>
            </a:extLst>
          </p:cNvPr>
          <p:cNvSpPr>
            <a:spLocks xmlns:a="http://schemas.openxmlformats.org/drawingml/2006/main" noGrp="1"/>
          </p:cNvSpPr>
          <p:nvPr/>
        </p:nvSpPr>
        <p:spPr>
          <a:xfrm xmlns:a="http://schemas.openxmlformats.org/drawingml/2006/main">
            <a:off x="4286250" y="3333750"/>
            <a:ext cx="952500" cy="504825"/>
          </a:xfrm>
          <a:prstGeom xmlns:a="http://schemas.openxmlformats.org/drawingml/2006/main" prst="ellipse">
            <a:avLst/>
          </a:prstGeom>
          <a:noFill xmlns:a="http://schemas.openxmlformats.org/drawingml/2006/main"/>
          <a:ln xmlns:a="http://schemas.openxmlformats.org/drawingml/2006/main" w="14288">
            <a:solidFill>
              <a:srgbClr val="00857D"/>
            </a:solidFill>
          </a:ln>
        </p:spPr>
      </p:sp>
      <p:sp>
        <p:nvSpPr>
          <p:cNvPr id="6" name="">
            <a:extLst xmlns:a="http://schemas.openxmlformats.org/drawingml/2006/main">
              <a:ext uri="{FF2B5EF4-FFF2-40B4-BE49-F238E27FC236}">
                <a16:creationId xmlns:a16="http://schemas.microsoft.com/office/drawing/2014/main" id="{DA02B743-1192-4FF9-898F-92B73479AD8D}"/>
              </a:ext>
            </a:extLst>
          </p:cNvPr>
          <p:cNvSpPr>
            <a:spLocks xmlns:a="http://schemas.openxmlformats.org/drawingml/2006/main" noGrp="1"/>
          </p:cNvSpPr>
          <p:nvPr/>
        </p:nvSpPr>
        <p:spPr>
          <a:xfrm xmlns:a="http://schemas.openxmlformats.org/drawingml/2006/main">
            <a:off x="9620250" y="4110038"/>
            <a:ext cx="952500" cy="504825"/>
          </a:xfrm>
          <a:prstGeom xmlns:a="http://schemas.openxmlformats.org/drawingml/2006/main" prst="ellipse">
            <a:avLst/>
          </a:prstGeom>
          <a:noFill xmlns:a="http://schemas.openxmlformats.org/drawingml/2006/main"/>
          <a:ln xmlns:a="http://schemas.openxmlformats.org/drawingml/2006/main" w="14288">
            <a:solidFill>
              <a:srgbClr val="00857D"/>
            </a:solidFill>
          </a:ln>
        </p:spPr>
      </p:sp>
      <p:sp>
        <p:nvSpPr>
          <p:cNvPr id="10" name="">
            <a:extLst xmlns:a="http://schemas.openxmlformats.org/drawingml/2006/main">
              <a:ext uri="{FF2B5EF4-FFF2-40B4-BE49-F238E27FC236}">
                <a16:creationId xmlns:a16="http://schemas.microsoft.com/office/drawing/2014/main" id="{57D88455-7DAA-4C0C-AC88-BCE751521B7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73</a:t>
            </a:r>
          </a:p>
        </p:txBody>
      </p:sp>
    </p:spTree>
    <p:extLst>
      <p:ext uri="{BB962C8B-B14F-4D97-AF65-F5344CB8AC3E}">
        <p14:creationId xmlns:p14="http://schemas.microsoft.com/office/powerpoint/2010/main" val="779175881"/>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1D84BC3-4C92-4C87-8EB0-56EF6001DF8A}"/>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Угорський метод: приклад 2, редукція</a:t>
            </a:r>
          </a:p>
        </p:txBody>
      </p:sp>
      <p:sp>
        <p:nvSpPr>
          <p:cNvPr id="2" name="">
            <a:extLst xmlns:a="http://schemas.openxmlformats.org/drawingml/2006/main">
              <a:ext uri="{FF2B5EF4-FFF2-40B4-BE49-F238E27FC236}">
                <a16:creationId xmlns:a16="http://schemas.microsoft.com/office/drawing/2014/main" id="{FE1302F6-4B47-4766-9D30-558A51C5F48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Віднімаємо мінімум кожного рядка. Далі мінімум стовпця I дорівнює 1.</a:t>
            </a:r>
          </a:p>
        </p:txBody>
      </p:sp>
      <p:sp>
        <p:nvSpPr>
          <p:cNvPr id="3" name="">
            <a:extLst xmlns:a="http://schemas.openxmlformats.org/drawingml/2006/main">
              <a:ext uri="{FF2B5EF4-FFF2-40B4-BE49-F238E27FC236}">
                <a16:creationId xmlns:a16="http://schemas.microsoft.com/office/drawing/2014/main" id="{E994ADEE-2C43-425E-8C6B-FF6DFE2E468E}"/>
              </a:ext>
            </a:extLst>
          </p:cNvPr>
          <p:cNvSpPr>
            <a:spLocks xmlns:a="http://schemas.openxmlformats.org/drawingml/2006/main" noGrp="1"/>
          </p:cNvSpPr>
          <p:nvPr/>
        </p:nvSpPr>
        <p:spPr>
          <a:xfrm xmlns:a="http://schemas.openxmlformats.org/drawingml/2006/main">
            <a:off x="762000" y="13239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173047"/>
                </a:solidFill>
                <a:latin typeface="Arial"/>
                <a:ea typeface="Arial"/>
                <a:cs typeface="Arial"/>
              </a:defRPr>
            </a:pPr>
            <a:r>
              <a:rPr sz="2325" b="1">
                <a:solidFill>
                  <a:srgbClr val="173047"/>
                </a:solidFill>
                <a:latin typeface="Arial"/>
                <a:ea typeface="Arial"/>
                <a:cs typeface="Arial"/>
              </a:rPr>
              <a:t>Початкові витрати</a:t>
            </a:r>
          </a:p>
        </p:txBody>
      </p:sp>
      <p:sp>
        <p:nvSpPr>
          <p:cNvPr id="4" name="">
            <a:extLst xmlns:a="http://schemas.openxmlformats.org/drawingml/2006/main">
              <a:ext uri="{FF2B5EF4-FFF2-40B4-BE49-F238E27FC236}">
                <a16:creationId xmlns:a16="http://schemas.microsoft.com/office/drawing/2014/main" id="{5CF09C0C-40D9-4F15-980D-BDB597F794BC}"/>
              </a:ext>
            </a:extLst>
          </p:cNvPr>
          <p:cNvSpPr>
            <a:spLocks xmlns:a="http://schemas.openxmlformats.org/drawingml/2006/main" noGrp="1"/>
          </p:cNvSpPr>
          <p:nvPr/>
        </p:nvSpPr>
        <p:spPr>
          <a:xfrm xmlns:a="http://schemas.openxmlformats.org/drawingml/2006/main">
            <a:off x="5238750" y="13239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1">
                <a:solidFill>
                  <a:srgbClr val="173047"/>
                </a:solidFill>
                <a:latin typeface="Arial"/>
                <a:ea typeface="Arial"/>
                <a:cs typeface="Arial"/>
              </a:defRPr>
            </a:pPr>
            <a:r>
              <a:rPr sz="2250" b="1">
                <a:solidFill>
                  <a:srgbClr val="173047"/>
                </a:solidFill>
                <a:latin typeface="Arial"/>
                <a:ea typeface="Arial"/>
                <a:cs typeface="Arial"/>
              </a:rPr>
              <a:t>Мінімуми</a:t>
            </a:r>
          </a:p>
        </p:txBody>
      </p:sp>
      <p:sp>
        <p:nvSpPr>
          <p:cNvPr id="5" name="">
            <a:extLst xmlns:a="http://schemas.openxmlformats.org/drawingml/2006/main">
              <a:ext uri="{FF2B5EF4-FFF2-40B4-BE49-F238E27FC236}">
                <a16:creationId xmlns:a16="http://schemas.microsoft.com/office/drawing/2014/main" id="{FB19F314-A5AC-4C35-900E-766CA35E82D5}"/>
              </a:ext>
            </a:extLst>
          </p:cNvPr>
          <p:cNvSpPr>
            <a:spLocks xmlns:a="http://schemas.openxmlformats.org/drawingml/2006/main" noGrp="1"/>
          </p:cNvSpPr>
          <p:nvPr/>
        </p:nvSpPr>
        <p:spPr>
          <a:xfrm xmlns:a="http://schemas.openxmlformats.org/drawingml/2006/main">
            <a:off x="7334250" y="1323975"/>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173047"/>
                </a:solidFill>
                <a:latin typeface="Arial"/>
                <a:ea typeface="Arial"/>
                <a:cs typeface="Arial"/>
              </a:defRPr>
            </a:pPr>
            <a:r>
              <a:rPr sz="2325" b="1">
                <a:solidFill>
                  <a:srgbClr val="173047"/>
                </a:solidFill>
                <a:latin typeface="Arial"/>
                <a:ea typeface="Arial"/>
                <a:cs typeface="Arial"/>
              </a:rPr>
              <a:t>Після віднімання</a:t>
            </a:r>
          </a:p>
        </p:txBody>
      </p:sp>
      <p:graphicFrame>
        <p:nvGraphicFramePr>
          <p:cNvPr id="15" name="">
            <a:extLst xmlns:a="http://schemas.openxmlformats.org/drawingml/2006/main">
              <a:ext uri="{FF2B5EF4-FFF2-40B4-BE49-F238E27FC236}">
                <a16:creationId xmlns:a16="http://schemas.microsoft.com/office/drawing/2014/main" id="{FB4A9E9E-39E8-483E-9A63-06CDD2E20267}"/>
              </a:ext>
            </a:extLst>
          </p:cNvPr>
          <p:cNvGraphicFramePr/>
          <p:nvPr/>
        </p:nvGraphicFramePr>
        <p:xfrm>
          <a:off xmlns:a="http://schemas.openxmlformats.org/drawingml/2006/main" x="762000" y="1971675"/>
          <a:ext xmlns:a="http://schemas.openxmlformats.org/drawingml/2006/main" cx="4095750" cy="3314700"/>
        </p:xfrm>
        <a:graphic xmlns:a="http://schemas.openxmlformats.org/drawingml/2006/main">
          <a:graphicData uri="http://schemas.openxmlformats.org/drawingml/2006/table">
            <a:tbl>
              <a:tblPr/>
              <a:tblGrid>
                <a:gridCol w="1023938"/>
                <a:gridCol w="1023938"/>
                <a:gridCol w="1023938"/>
                <a:gridCol w="1023938"/>
              </a:tblGrid>
              <a:tr h="828675">
                <a:tc>
                  <a:txBody>
                    <a:bodyPr/>
                    <a:lstStyle/>
                    <a:p>
                      <a:r>
                        <a:rPr sz="2475" b="1">
                          <a:solidFill>
                            <a:srgbClr val="FFFFFF"/>
                          </a:solidFill>
                          <a:latin typeface="Arial"/>
                          <a:ea typeface="Arial"/>
                          <a:cs typeface="Arial"/>
                        </a:rPr>
                        <a:t/>
                      </a:r>
                    </a:p>
                  </a:txBody>
                  <a:tcPr marL="114300" marR="114300" marT="66675" marB="66675" anchor="ctr">
                    <a:solidFill>
                      <a:srgbClr val="173047"/>
                    </a:solidFill>
                  </a:tcPr>
                </a:tc>
                <a:tc>
                  <a:txBody>
                    <a:bodyPr/>
                    <a:lstStyle/>
                    <a:p>
                      <a:r>
                        <a:rPr sz="2475" b="1">
                          <a:solidFill>
                            <a:srgbClr val="FFFFFF"/>
                          </a:solidFill>
                          <a:latin typeface="Arial"/>
                          <a:ea typeface="Arial"/>
                          <a:cs typeface="Arial"/>
                        </a:rPr>
                        <a:t>I</a:t>
                      </a:r>
                    </a:p>
                  </a:txBody>
                  <a:tcPr marL="114300" marR="114300" marT="66675" marB="66675" anchor="ctr">
                    <a:solidFill>
                      <a:srgbClr val="173047"/>
                    </a:solidFill>
                  </a:tcPr>
                </a:tc>
                <a:tc>
                  <a:txBody>
                    <a:bodyPr/>
                    <a:lstStyle/>
                    <a:p>
                      <a:r>
                        <a:rPr sz="2475"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475" b="1">
                          <a:solidFill>
                            <a:srgbClr val="FFFFFF"/>
                          </a:solidFill>
                          <a:latin typeface="Arial"/>
                          <a:ea typeface="Arial"/>
                          <a:cs typeface="Arial"/>
                        </a:rPr>
                        <a:t>B</a:t>
                      </a:r>
                    </a:p>
                  </a:txBody>
                  <a:tcPr marL="114300" marR="114300" marT="66675" marB="66675" anchor="ctr">
                    <a:solidFill>
                      <a:srgbClr val="173047"/>
                    </a:solidFill>
                  </a:tcPr>
                </a:tc>
              </a:tr>
              <a:tr h="828675">
                <a:tc>
                  <a:txBody>
                    <a:bodyPr/>
                    <a:lstStyle/>
                    <a:p>
                      <a:r>
                        <a:rPr sz="2475">
                          <a:solidFill>
                            <a:srgbClr val="173047"/>
                          </a:solidFill>
                          <a:latin typeface="Arial"/>
                          <a:ea typeface="Arial"/>
                          <a:cs typeface="Arial"/>
                        </a:rPr>
                        <a:t>S1</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4</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3</a:t>
                      </a:r>
                    </a:p>
                  </a:txBody>
                  <a:tcPr marL="114300" marR="114300" marT="66675" marB="66675" anchor="ctr">
                    <a:solidFill>
                      <a:srgbClr val="FFFFFF"/>
                    </a:solidFill>
                  </a:tcPr>
                </a:tc>
              </a:tr>
              <a:tr h="828675">
                <a:tc>
                  <a:txBody>
                    <a:bodyPr/>
                    <a:lstStyle/>
                    <a:p>
                      <a:r>
                        <a:rPr sz="2475">
                          <a:solidFill>
                            <a:srgbClr val="173047"/>
                          </a:solidFill>
                          <a:latin typeface="Arial"/>
                          <a:ea typeface="Arial"/>
                          <a:cs typeface="Arial"/>
                        </a:rPr>
                        <a:t>S2</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3</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6</a:t>
                      </a:r>
                    </a:p>
                  </a:txBody>
                  <a:tcPr marL="114300" marR="114300" marT="66675" marB="66675" anchor="ctr">
                    <a:solidFill>
                      <a:srgbClr val="FFFFFF"/>
                    </a:solidFill>
                  </a:tcPr>
                </a:tc>
              </a:tr>
              <a:tr h="828675">
                <a:tc>
                  <a:txBody>
                    <a:bodyPr/>
                    <a:lstStyle/>
                    <a:p>
                      <a:r>
                        <a:rPr sz="2475">
                          <a:solidFill>
                            <a:srgbClr val="173047"/>
                          </a:solidFill>
                          <a:latin typeface="Arial"/>
                          <a:ea typeface="Arial"/>
                          <a:cs typeface="Arial"/>
                        </a:rPr>
                        <a:t>S3</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3</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2</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2</a:t>
                      </a:r>
                    </a:p>
                  </a:txBody>
                  <a:tcPr marL="114300" marR="114300" marT="66675" marB="66675" anchor="ctr">
                    <a:solidFill>
                      <a:srgbClr val="FFFFFF"/>
                    </a:solidFill>
                  </a:tcPr>
                </a:tc>
              </a:tr>
            </a:tbl>
          </a:graphicData>
        </a:graphic>
      </p:graphicFrame>
      <p:graphicFrame>
        <p:nvGraphicFramePr>
          <p:cNvPr id="16" name="">
            <a:extLst xmlns:a="http://schemas.openxmlformats.org/drawingml/2006/main">
              <a:ext uri="{FF2B5EF4-FFF2-40B4-BE49-F238E27FC236}">
                <a16:creationId xmlns:a16="http://schemas.microsoft.com/office/drawing/2014/main" id="{50700562-47DC-447C-8A71-D5AFF40824A6}"/>
              </a:ext>
            </a:extLst>
          </p:cNvPr>
          <p:cNvGraphicFramePr/>
          <p:nvPr/>
        </p:nvGraphicFramePr>
        <p:xfrm>
          <a:off xmlns:a="http://schemas.openxmlformats.org/drawingml/2006/main" x="5238750" y="1971675"/>
          <a:ext xmlns:a="http://schemas.openxmlformats.org/drawingml/2006/main" cx="1714500" cy="3314700"/>
        </p:xfrm>
        <a:graphic xmlns:a="http://schemas.openxmlformats.org/drawingml/2006/main">
          <a:graphicData uri="http://schemas.openxmlformats.org/drawingml/2006/table">
            <a:tbl>
              <a:tblPr/>
              <a:tblGrid>
                <a:gridCol w="857250"/>
                <a:gridCol w="857250"/>
              </a:tblGrid>
              <a:tr h="828675">
                <a:tc>
                  <a:txBody>
                    <a:bodyPr/>
                    <a:lstStyle/>
                    <a:p>
                      <a:r>
                        <a:rPr sz="2175" b="1">
                          <a:solidFill>
                            <a:srgbClr val="FFFFFF"/>
                          </a:solidFill>
                          <a:latin typeface="Arial"/>
                          <a:ea typeface="Arial"/>
                          <a:cs typeface="Arial"/>
                        </a:rPr>
                        <a:t>S</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min</a:t>
                      </a:r>
                    </a:p>
                  </a:txBody>
                  <a:tcPr marL="114300" marR="114300" marT="66675" marB="66675" anchor="ctr">
                    <a:solidFill>
                      <a:srgbClr val="173047"/>
                    </a:solidFill>
                  </a:tcPr>
                </a:tc>
              </a:tr>
              <a:tr h="828675">
                <a:tc>
                  <a:txBody>
                    <a:bodyPr/>
                    <a:lstStyle/>
                    <a:p>
                      <a:r>
                        <a:rPr sz="2175">
                          <a:solidFill>
                            <a:srgbClr val="173047"/>
                          </a:solidFill>
                          <a:latin typeface="Arial"/>
                          <a:ea typeface="Arial"/>
                          <a:cs typeface="Arial"/>
                        </a:rPr>
                        <a:t>S1</a:t>
                      </a:r>
                    </a:p>
                  </a:txBody>
                  <a:tcPr marL="114300" marR="114300" marT="66675" marB="66675" anchor="ctr">
                    <a:solidFill>
                      <a:srgbClr val="FFFFFF"/>
                    </a:solidFill>
                  </a:tcPr>
                </a:tc>
                <a:tc>
                  <a:txBody>
                    <a:bodyPr/>
                    <a:lstStyle/>
                    <a:p>
                      <a:pPr algn="ctr">
                        <a:buNone/>
                      </a:pPr>
                      <a:r>
                        <a:rPr sz="2175">
                          <a:solidFill>
                            <a:srgbClr val="173047"/>
                          </a:solidFill>
                          <a:latin typeface="Arial"/>
                          <a:ea typeface="Arial"/>
                          <a:cs typeface="Arial"/>
                        </a:rPr>
                        <a:t>1</a:t>
                      </a:r>
                    </a:p>
                  </a:txBody>
                  <a:tcPr marL="114300" marR="114300" marT="66675" marB="66675" anchor="ctr">
                    <a:solidFill>
                      <a:srgbClr val="FFFFFF"/>
                    </a:solidFill>
                  </a:tcPr>
                </a:tc>
              </a:tr>
              <a:tr h="828675">
                <a:tc>
                  <a:txBody>
                    <a:bodyPr/>
                    <a:lstStyle/>
                    <a:p>
                      <a:r>
                        <a:rPr sz="2175">
                          <a:solidFill>
                            <a:srgbClr val="173047"/>
                          </a:solidFill>
                          <a:latin typeface="Arial"/>
                          <a:ea typeface="Arial"/>
                          <a:cs typeface="Arial"/>
                        </a:rPr>
                        <a:t>S2</a:t>
                      </a:r>
                    </a:p>
                  </a:txBody>
                  <a:tcPr marL="114300" marR="114300" marT="66675" marB="66675" anchor="ctr">
                    <a:solidFill>
                      <a:srgbClr val="FFFFFF"/>
                    </a:solidFill>
                  </a:tcPr>
                </a:tc>
                <a:tc>
                  <a:txBody>
                    <a:bodyPr/>
                    <a:lstStyle/>
                    <a:p>
                      <a:pPr algn="ctr">
                        <a:buNone/>
                      </a:pPr>
                      <a:r>
                        <a:rPr sz="2175">
                          <a:solidFill>
                            <a:srgbClr val="173047"/>
                          </a:solidFill>
                          <a:latin typeface="Arial"/>
                          <a:ea typeface="Arial"/>
                          <a:cs typeface="Arial"/>
                        </a:rPr>
                        <a:t>1</a:t>
                      </a:r>
                    </a:p>
                  </a:txBody>
                  <a:tcPr marL="114300" marR="114300" marT="66675" marB="66675" anchor="ctr">
                    <a:solidFill>
                      <a:srgbClr val="FFFFFF"/>
                    </a:solidFill>
                  </a:tcPr>
                </a:tc>
              </a:tr>
              <a:tr h="828675">
                <a:tc>
                  <a:txBody>
                    <a:bodyPr/>
                    <a:lstStyle/>
                    <a:p>
                      <a:r>
                        <a:rPr sz="2175">
                          <a:solidFill>
                            <a:srgbClr val="173047"/>
                          </a:solidFill>
                          <a:latin typeface="Arial"/>
                          <a:ea typeface="Arial"/>
                          <a:cs typeface="Arial"/>
                        </a:rPr>
                        <a:t>S3</a:t>
                      </a:r>
                    </a:p>
                  </a:txBody>
                  <a:tcPr marL="114300" marR="114300" marT="66675" marB="66675" anchor="ctr">
                    <a:solidFill>
                      <a:srgbClr val="FFFFFF"/>
                    </a:solidFill>
                  </a:tcPr>
                </a:tc>
                <a:tc>
                  <a:txBody>
                    <a:bodyPr/>
                    <a:lstStyle/>
                    <a:p>
                      <a:pPr algn="ctr">
                        <a:buNone/>
                      </a:pPr>
                      <a:r>
                        <a:rPr sz="2175">
                          <a:solidFill>
                            <a:srgbClr val="173047"/>
                          </a:solidFill>
                          <a:latin typeface="Arial"/>
                          <a:ea typeface="Arial"/>
                          <a:cs typeface="Arial"/>
                        </a:rPr>
                        <a:t>2</a:t>
                      </a:r>
                    </a:p>
                  </a:txBody>
                  <a:tcPr marL="114300" marR="114300" marT="66675" marB="66675" anchor="ctr">
                    <a:solidFill>
                      <a:srgbClr val="FFFFFF"/>
                    </a:solidFill>
                  </a:tcPr>
                </a:tc>
              </a:tr>
            </a:tbl>
          </a:graphicData>
        </a:graphic>
      </p:graphicFrame>
      <p:graphicFrame>
        <p:nvGraphicFramePr>
          <p:cNvPr id="17" name="">
            <a:extLst xmlns:a="http://schemas.openxmlformats.org/drawingml/2006/main">
              <a:ext uri="{FF2B5EF4-FFF2-40B4-BE49-F238E27FC236}">
                <a16:creationId xmlns:a16="http://schemas.microsoft.com/office/drawing/2014/main" id="{DFF33BEF-87A6-4416-91E0-985277AFD9D1}"/>
              </a:ext>
            </a:extLst>
          </p:cNvPr>
          <p:cNvGraphicFramePr/>
          <p:nvPr/>
        </p:nvGraphicFramePr>
        <p:xfrm>
          <a:off xmlns:a="http://schemas.openxmlformats.org/drawingml/2006/main" x="7334250" y="1971675"/>
          <a:ext xmlns:a="http://schemas.openxmlformats.org/drawingml/2006/main" cx="4095750" cy="3314700"/>
        </p:xfrm>
        <a:graphic xmlns:a="http://schemas.openxmlformats.org/drawingml/2006/main">
          <a:graphicData uri="http://schemas.openxmlformats.org/drawingml/2006/table">
            <a:tbl>
              <a:tblPr/>
              <a:tblGrid>
                <a:gridCol w="1023938"/>
                <a:gridCol w="1023938"/>
                <a:gridCol w="1023938"/>
                <a:gridCol w="1023938"/>
              </a:tblGrid>
              <a:tr h="828675">
                <a:tc>
                  <a:txBody>
                    <a:bodyPr/>
                    <a:lstStyle/>
                    <a:p>
                      <a:r>
                        <a:rPr sz="2475" b="1">
                          <a:solidFill>
                            <a:srgbClr val="FFFFFF"/>
                          </a:solidFill>
                          <a:latin typeface="Arial"/>
                          <a:ea typeface="Arial"/>
                          <a:cs typeface="Arial"/>
                        </a:rPr>
                        <a:t/>
                      </a:r>
                    </a:p>
                  </a:txBody>
                  <a:tcPr marL="114300" marR="114300" marT="66675" marB="66675" anchor="ctr">
                    <a:solidFill>
                      <a:srgbClr val="173047"/>
                    </a:solidFill>
                  </a:tcPr>
                </a:tc>
                <a:tc>
                  <a:txBody>
                    <a:bodyPr/>
                    <a:lstStyle/>
                    <a:p>
                      <a:r>
                        <a:rPr sz="2475" b="1">
                          <a:solidFill>
                            <a:srgbClr val="FFFFFF"/>
                          </a:solidFill>
                          <a:latin typeface="Arial"/>
                          <a:ea typeface="Arial"/>
                          <a:cs typeface="Arial"/>
                        </a:rPr>
                        <a:t>I</a:t>
                      </a:r>
                    </a:p>
                  </a:txBody>
                  <a:tcPr marL="114300" marR="114300" marT="66675" marB="66675" anchor="ctr">
                    <a:solidFill>
                      <a:srgbClr val="173047"/>
                    </a:solidFill>
                  </a:tcPr>
                </a:tc>
                <a:tc>
                  <a:txBody>
                    <a:bodyPr/>
                    <a:lstStyle/>
                    <a:p>
                      <a:r>
                        <a:rPr sz="2475"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475" b="1">
                          <a:solidFill>
                            <a:srgbClr val="FFFFFF"/>
                          </a:solidFill>
                          <a:latin typeface="Arial"/>
                          <a:ea typeface="Arial"/>
                          <a:cs typeface="Arial"/>
                        </a:rPr>
                        <a:t>B</a:t>
                      </a:r>
                    </a:p>
                  </a:txBody>
                  <a:tcPr marL="114300" marR="114300" marT="66675" marB="66675" anchor="ctr">
                    <a:solidFill>
                      <a:srgbClr val="173047"/>
                    </a:solidFill>
                  </a:tcPr>
                </a:tc>
              </a:tr>
              <a:tr h="828675">
                <a:tc>
                  <a:txBody>
                    <a:bodyPr/>
                    <a:lstStyle/>
                    <a:p>
                      <a:r>
                        <a:rPr sz="2475">
                          <a:solidFill>
                            <a:srgbClr val="173047"/>
                          </a:solidFill>
                          <a:latin typeface="Arial"/>
                          <a:ea typeface="Arial"/>
                          <a:cs typeface="Arial"/>
                        </a:rPr>
                        <a:t>S1</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3</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2</a:t>
                      </a:r>
                    </a:p>
                  </a:txBody>
                  <a:tcPr marL="114300" marR="114300" marT="66675" marB="66675" anchor="ctr">
                    <a:solidFill>
                      <a:srgbClr val="FFFFFF"/>
                    </a:solidFill>
                  </a:tcPr>
                </a:tc>
              </a:tr>
              <a:tr h="828675">
                <a:tc>
                  <a:txBody>
                    <a:bodyPr/>
                    <a:lstStyle/>
                    <a:p>
                      <a:r>
                        <a:rPr sz="2475">
                          <a:solidFill>
                            <a:srgbClr val="173047"/>
                          </a:solidFill>
                          <a:latin typeface="Arial"/>
                          <a:ea typeface="Arial"/>
                          <a:cs typeface="Arial"/>
                        </a:rPr>
                        <a:t>S2</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2</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5</a:t>
                      </a:r>
                    </a:p>
                  </a:txBody>
                  <a:tcPr marL="114300" marR="114300" marT="66675" marB="66675" anchor="ctr">
                    <a:solidFill>
                      <a:srgbClr val="FFFFFF"/>
                    </a:solidFill>
                  </a:tcPr>
                </a:tc>
              </a:tr>
              <a:tr h="828675">
                <a:tc>
                  <a:txBody>
                    <a:bodyPr/>
                    <a:lstStyle/>
                    <a:p>
                      <a:r>
                        <a:rPr sz="2475">
                          <a:solidFill>
                            <a:srgbClr val="173047"/>
                          </a:solidFill>
                          <a:latin typeface="Arial"/>
                          <a:ea typeface="Arial"/>
                          <a:cs typeface="Arial"/>
                        </a:rPr>
                        <a:t>S3</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475">
                          <a:solidFill>
                            <a:srgbClr val="173047"/>
                          </a:solidFill>
                          <a:latin typeface="Arial"/>
                          <a:ea typeface="Arial"/>
                          <a:cs typeface="Arial"/>
                        </a:rPr>
                        <a:t>0</a:t>
                      </a:r>
                    </a:p>
                  </a:txBody>
                  <a:tcPr marL="114300" marR="114300" marT="66675" marB="6667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353EF6D1-452B-4164-B899-1EFA8D40233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74</a:t>
            </a:r>
          </a:p>
        </p:txBody>
      </p:sp>
    </p:spTree>
    <p:extLst>
      <p:ext uri="{BB962C8B-B14F-4D97-AF65-F5344CB8AC3E}">
        <p14:creationId xmlns:p14="http://schemas.microsoft.com/office/powerpoint/2010/main" val="6695375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79DCB0D9-0A55-4358-80A8-E1CB30CBF67B}"/>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Приклад 2: коли нулів бракує</a:t>
            </a:r>
          </a:p>
        </p:txBody>
      </p:sp>
      <p:sp>
        <p:nvSpPr>
          <p:cNvPr id="3" name="">
            <a:extLst xmlns:a="http://schemas.openxmlformats.org/drawingml/2006/main">
              <a:ext uri="{FF2B5EF4-FFF2-40B4-BE49-F238E27FC236}">
                <a16:creationId xmlns:a16="http://schemas.microsoft.com/office/drawing/2014/main" id="{01A3860A-C066-4B0C-A9EE-F28526BF9081}"/>
              </a:ext>
            </a:extLst>
          </p:cNvPr>
          <p:cNvSpPr>
            <a:spLocks xmlns:a="http://schemas.openxmlformats.org/drawingml/2006/main" noGrp="1"/>
          </p:cNvSpPr>
          <p:nvPr/>
        </p:nvSpPr>
        <p:spPr>
          <a:xfrm xmlns:a="http://schemas.openxmlformats.org/drawingml/2006/main">
            <a:off x="857250" y="1209675"/>
            <a:ext cx="1038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6F9F"/>
                </a:solidFill>
                <a:latin typeface="DejaVu Sans"/>
                <a:ea typeface="DejaVu Sans"/>
                <a:cs typeface="DejaVu Sans"/>
              </a:defRPr>
            </a:pPr>
            <a:r>
              <a:rPr sz="1725" b="1">
                <a:solidFill>
                  <a:srgbClr val="086F9F"/>
                </a:solidFill>
                <a:latin typeface="Arial"/>
                <a:ea typeface="Arial"/>
                <a:cs typeface="Arial"/>
              </a:rPr>
              <a:t>Приклад 2: S1=[4,1,3], S2=[3,1,6], S3=[3,2,2].</a:t>
            </a:r>
          </a:p>
          <a:p xmlns:a="http://schemas.openxmlformats.org/drawingml/2006/main">
            <a:pPr>
              <a:buNone/>
              <a:defRPr sz="2100" b="1">
                <a:solidFill>
                  <a:srgbClr val="086F9F"/>
                </a:solidFill>
                <a:latin typeface="DejaVu Sans"/>
                <a:ea typeface="DejaVu Sans"/>
                <a:cs typeface="DejaVu Sans"/>
              </a:defRPr>
            </a:pPr>
            <a:r>
              <a:rPr sz="1725" b="1">
                <a:solidFill>
                  <a:srgbClr val="086F9F"/>
                </a:solidFill>
                <a:latin typeface="Arial"/>
                <a:ea typeface="Arial"/>
                <a:cs typeface="Arial"/>
              </a:rPr>
              <a:t>Після віднімання мінімумів рядків і стовпців:</a:t>
            </a:r>
          </a:p>
        </p:txBody>
      </p:sp>
      <p:sp>
        <p:nvSpPr>
          <p:cNvPr id="4" name="">
            <a:extLst xmlns:a="http://schemas.openxmlformats.org/drawingml/2006/main">
              <a:ext uri="{FF2B5EF4-FFF2-40B4-BE49-F238E27FC236}">
                <a16:creationId xmlns:a16="http://schemas.microsoft.com/office/drawing/2014/main" id="{6337B84C-48ED-4605-88F8-BC25C77B7E79}"/>
              </a:ext>
            </a:extLst>
          </p:cNvPr>
          <p:cNvSpPr>
            <a:spLocks xmlns:a="http://schemas.openxmlformats.org/drawingml/2006/main" noGrp="1"/>
          </p:cNvSpPr>
          <p:nvPr/>
        </p:nvSpPr>
        <p:spPr>
          <a:xfrm xmlns:a="http://schemas.openxmlformats.org/drawingml/2006/main">
            <a:off x="742950" y="2028825"/>
            <a:ext cx="2952750" cy="7334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5" name="">
            <a:extLst xmlns:a="http://schemas.openxmlformats.org/drawingml/2006/main">
              <a:ext uri="{FF2B5EF4-FFF2-40B4-BE49-F238E27FC236}">
                <a16:creationId xmlns:a16="http://schemas.microsoft.com/office/drawing/2014/main" id="{033CDB97-0099-4E39-9033-9C135B288781}"/>
              </a:ext>
            </a:extLst>
          </p:cNvPr>
          <p:cNvSpPr>
            <a:spLocks xmlns:a="http://schemas.openxmlformats.org/drawingml/2006/main" noGrp="1"/>
          </p:cNvSpPr>
          <p:nvPr/>
        </p:nvSpPr>
        <p:spPr>
          <a:xfrm xmlns:a="http://schemas.openxmlformats.org/drawingml/2006/main">
            <a:off x="838200" y="2105025"/>
            <a:ext cx="276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Вузол</a:t>
            </a:r>
          </a:p>
        </p:txBody>
      </p:sp>
      <p:sp>
        <p:nvSpPr>
          <p:cNvPr id="6" name="">
            <a:extLst xmlns:a="http://schemas.openxmlformats.org/drawingml/2006/main">
              <a:ext uri="{FF2B5EF4-FFF2-40B4-BE49-F238E27FC236}">
                <a16:creationId xmlns:a16="http://schemas.microsoft.com/office/drawing/2014/main" id="{3BB553C6-53A8-470E-8252-C6F010174EE8}"/>
              </a:ext>
            </a:extLst>
          </p:cNvPr>
          <p:cNvSpPr>
            <a:spLocks xmlns:a="http://schemas.openxmlformats.org/drawingml/2006/main" noGrp="1"/>
          </p:cNvSpPr>
          <p:nvPr/>
        </p:nvSpPr>
        <p:spPr>
          <a:xfrm xmlns:a="http://schemas.openxmlformats.org/drawingml/2006/main">
            <a:off x="3695700" y="2028825"/>
            <a:ext cx="2581275" cy="7334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7" name="">
            <a:extLst xmlns:a="http://schemas.openxmlformats.org/drawingml/2006/main">
              <a:ext uri="{FF2B5EF4-FFF2-40B4-BE49-F238E27FC236}">
                <a16:creationId xmlns:a16="http://schemas.microsoft.com/office/drawing/2014/main" id="{AEBEF789-76E9-49F7-83A3-26D376003F0D}"/>
              </a:ext>
            </a:extLst>
          </p:cNvPr>
          <p:cNvSpPr>
            <a:spLocks xmlns:a="http://schemas.openxmlformats.org/drawingml/2006/main" noGrp="1"/>
          </p:cNvSpPr>
          <p:nvPr/>
        </p:nvSpPr>
        <p:spPr>
          <a:xfrm xmlns:a="http://schemas.openxmlformats.org/drawingml/2006/main">
            <a:off x="3790950" y="2105025"/>
            <a:ext cx="2390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I</a:t>
            </a:r>
          </a:p>
        </p:txBody>
      </p:sp>
      <p:sp>
        <p:nvSpPr>
          <p:cNvPr id="8" name="">
            <a:extLst xmlns:a="http://schemas.openxmlformats.org/drawingml/2006/main">
              <a:ext uri="{FF2B5EF4-FFF2-40B4-BE49-F238E27FC236}">
                <a16:creationId xmlns:a16="http://schemas.microsoft.com/office/drawing/2014/main" id="{F5B91081-A339-4DC5-AD56-CF3F6EF2B26C}"/>
              </a:ext>
            </a:extLst>
          </p:cNvPr>
          <p:cNvSpPr>
            <a:spLocks xmlns:a="http://schemas.openxmlformats.org/drawingml/2006/main" noGrp="1"/>
          </p:cNvSpPr>
          <p:nvPr/>
        </p:nvSpPr>
        <p:spPr>
          <a:xfrm xmlns:a="http://schemas.openxmlformats.org/drawingml/2006/main">
            <a:off x="6276975" y="2028825"/>
            <a:ext cx="2581275" cy="7334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9" name="">
            <a:extLst xmlns:a="http://schemas.openxmlformats.org/drawingml/2006/main">
              <a:ext uri="{FF2B5EF4-FFF2-40B4-BE49-F238E27FC236}">
                <a16:creationId xmlns:a16="http://schemas.microsoft.com/office/drawing/2014/main" id="{A4664475-D433-45A2-AFB7-283946331422}"/>
              </a:ext>
            </a:extLst>
          </p:cNvPr>
          <p:cNvSpPr>
            <a:spLocks xmlns:a="http://schemas.openxmlformats.org/drawingml/2006/main" noGrp="1"/>
          </p:cNvSpPr>
          <p:nvPr/>
        </p:nvSpPr>
        <p:spPr>
          <a:xfrm xmlns:a="http://schemas.openxmlformats.org/drawingml/2006/main">
            <a:off x="6372225" y="2105025"/>
            <a:ext cx="2390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A</a:t>
            </a:r>
          </a:p>
        </p:txBody>
      </p:sp>
      <p:sp>
        <p:nvSpPr>
          <p:cNvPr id="10" name="">
            <a:extLst xmlns:a="http://schemas.openxmlformats.org/drawingml/2006/main">
              <a:ext uri="{FF2B5EF4-FFF2-40B4-BE49-F238E27FC236}">
                <a16:creationId xmlns:a16="http://schemas.microsoft.com/office/drawing/2014/main" id="{39ED0601-E5AE-4442-8F3D-4EF73A29DC69}"/>
              </a:ext>
            </a:extLst>
          </p:cNvPr>
          <p:cNvSpPr>
            <a:spLocks xmlns:a="http://schemas.openxmlformats.org/drawingml/2006/main" noGrp="1"/>
          </p:cNvSpPr>
          <p:nvPr/>
        </p:nvSpPr>
        <p:spPr>
          <a:xfrm xmlns:a="http://schemas.openxmlformats.org/drawingml/2006/main">
            <a:off x="8858250" y="2028825"/>
            <a:ext cx="2590800" cy="73342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1" name="">
            <a:extLst xmlns:a="http://schemas.openxmlformats.org/drawingml/2006/main">
              <a:ext uri="{FF2B5EF4-FFF2-40B4-BE49-F238E27FC236}">
                <a16:creationId xmlns:a16="http://schemas.microsoft.com/office/drawing/2014/main" id="{EF50A3F2-43F9-484D-B7FD-4E39EC15F62E}"/>
              </a:ext>
            </a:extLst>
          </p:cNvPr>
          <p:cNvSpPr>
            <a:spLocks xmlns:a="http://schemas.openxmlformats.org/drawingml/2006/main" noGrp="1"/>
          </p:cNvSpPr>
          <p:nvPr/>
        </p:nvSpPr>
        <p:spPr>
          <a:xfrm xmlns:a="http://schemas.openxmlformats.org/drawingml/2006/main">
            <a:off x="8953500" y="2105025"/>
            <a:ext cx="2400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DejaVu Sans"/>
                <a:ea typeface="DejaVu Sans"/>
                <a:cs typeface="DejaVu Sans"/>
              </a:defRPr>
            </a:pPr>
            <a:r>
              <a:rPr sz="1875" b="1">
                <a:solidFill>
                  <a:srgbClr val="FFFFFF"/>
                </a:solidFill>
                <a:latin typeface="Arial"/>
                <a:ea typeface="Arial"/>
                <a:cs typeface="Arial"/>
              </a:rPr>
              <a:t>B</a:t>
            </a:r>
          </a:p>
        </p:txBody>
      </p:sp>
      <p:sp>
        <p:nvSpPr>
          <p:cNvPr id="12" name="">
            <a:extLst xmlns:a="http://schemas.openxmlformats.org/drawingml/2006/main">
              <a:ext uri="{FF2B5EF4-FFF2-40B4-BE49-F238E27FC236}">
                <a16:creationId xmlns:a16="http://schemas.microsoft.com/office/drawing/2014/main" id="{A99180FE-CB68-4358-90DB-5ED969A44B21}"/>
              </a:ext>
            </a:extLst>
          </p:cNvPr>
          <p:cNvSpPr>
            <a:spLocks xmlns:a="http://schemas.openxmlformats.org/drawingml/2006/main" noGrp="1"/>
          </p:cNvSpPr>
          <p:nvPr/>
        </p:nvSpPr>
        <p:spPr>
          <a:xfrm xmlns:a="http://schemas.openxmlformats.org/drawingml/2006/main">
            <a:off x="742950" y="2762250"/>
            <a:ext cx="2952750" cy="7334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3" name="">
            <a:extLst xmlns:a="http://schemas.openxmlformats.org/drawingml/2006/main">
              <a:ext uri="{FF2B5EF4-FFF2-40B4-BE49-F238E27FC236}">
                <a16:creationId xmlns:a16="http://schemas.microsoft.com/office/drawing/2014/main" id="{DECF009C-B3BA-4A58-9C75-7149C667ECBB}"/>
              </a:ext>
            </a:extLst>
          </p:cNvPr>
          <p:cNvSpPr>
            <a:spLocks xmlns:a="http://schemas.openxmlformats.org/drawingml/2006/main" noGrp="1"/>
          </p:cNvSpPr>
          <p:nvPr/>
        </p:nvSpPr>
        <p:spPr>
          <a:xfrm xmlns:a="http://schemas.openxmlformats.org/drawingml/2006/main">
            <a:off x="838200" y="2838450"/>
            <a:ext cx="276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S1</a:t>
            </a:r>
          </a:p>
        </p:txBody>
      </p:sp>
      <p:sp>
        <p:nvSpPr>
          <p:cNvPr id="14" name="">
            <a:extLst xmlns:a="http://schemas.openxmlformats.org/drawingml/2006/main">
              <a:ext uri="{FF2B5EF4-FFF2-40B4-BE49-F238E27FC236}">
                <a16:creationId xmlns:a16="http://schemas.microsoft.com/office/drawing/2014/main" id="{8CB1F674-AB69-46FF-959E-9F0876B902A4}"/>
              </a:ext>
            </a:extLst>
          </p:cNvPr>
          <p:cNvSpPr>
            <a:spLocks xmlns:a="http://schemas.openxmlformats.org/drawingml/2006/main" noGrp="1"/>
          </p:cNvSpPr>
          <p:nvPr/>
        </p:nvSpPr>
        <p:spPr>
          <a:xfrm xmlns:a="http://schemas.openxmlformats.org/drawingml/2006/main">
            <a:off x="3695700" y="2762250"/>
            <a:ext cx="2581275" cy="7334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5" name="">
            <a:extLst xmlns:a="http://schemas.openxmlformats.org/drawingml/2006/main">
              <a:ext uri="{FF2B5EF4-FFF2-40B4-BE49-F238E27FC236}">
                <a16:creationId xmlns:a16="http://schemas.microsoft.com/office/drawing/2014/main" id="{6476FE6C-30D8-4FAE-9DC9-2BCA1FEBB849}"/>
              </a:ext>
            </a:extLst>
          </p:cNvPr>
          <p:cNvSpPr>
            <a:spLocks xmlns:a="http://schemas.openxmlformats.org/drawingml/2006/main" noGrp="1"/>
          </p:cNvSpPr>
          <p:nvPr/>
        </p:nvSpPr>
        <p:spPr>
          <a:xfrm xmlns:a="http://schemas.openxmlformats.org/drawingml/2006/main">
            <a:off x="3790950" y="2838450"/>
            <a:ext cx="2390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D7D9F9BB-B498-46A1-A7AB-665A55C6287D}"/>
              </a:ext>
            </a:extLst>
          </p:cNvPr>
          <p:cNvSpPr>
            <a:spLocks xmlns:a="http://schemas.openxmlformats.org/drawingml/2006/main" noGrp="1"/>
          </p:cNvSpPr>
          <p:nvPr/>
        </p:nvSpPr>
        <p:spPr>
          <a:xfrm xmlns:a="http://schemas.openxmlformats.org/drawingml/2006/main">
            <a:off x="6276975" y="2762250"/>
            <a:ext cx="2581275" cy="7334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7" name="">
            <a:extLst xmlns:a="http://schemas.openxmlformats.org/drawingml/2006/main">
              <a:ext uri="{FF2B5EF4-FFF2-40B4-BE49-F238E27FC236}">
                <a16:creationId xmlns:a16="http://schemas.microsoft.com/office/drawing/2014/main" id="{47662232-A19F-40C0-B74E-FAF6AE576287}"/>
              </a:ext>
            </a:extLst>
          </p:cNvPr>
          <p:cNvSpPr>
            <a:spLocks xmlns:a="http://schemas.openxmlformats.org/drawingml/2006/main" noGrp="1"/>
          </p:cNvSpPr>
          <p:nvPr/>
        </p:nvSpPr>
        <p:spPr>
          <a:xfrm xmlns:a="http://schemas.openxmlformats.org/drawingml/2006/main">
            <a:off x="6372225" y="2838450"/>
            <a:ext cx="2390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0</a:t>
            </a:r>
          </a:p>
        </p:txBody>
      </p:sp>
      <p:sp>
        <p:nvSpPr>
          <p:cNvPr id="18" name="">
            <a:extLst xmlns:a="http://schemas.openxmlformats.org/drawingml/2006/main">
              <a:ext uri="{FF2B5EF4-FFF2-40B4-BE49-F238E27FC236}">
                <a16:creationId xmlns:a16="http://schemas.microsoft.com/office/drawing/2014/main" id="{375F4B7A-8833-4663-B6C7-1F1E029D1B34}"/>
              </a:ext>
            </a:extLst>
          </p:cNvPr>
          <p:cNvSpPr>
            <a:spLocks xmlns:a="http://schemas.openxmlformats.org/drawingml/2006/main" noGrp="1"/>
          </p:cNvSpPr>
          <p:nvPr/>
        </p:nvSpPr>
        <p:spPr>
          <a:xfrm xmlns:a="http://schemas.openxmlformats.org/drawingml/2006/main">
            <a:off x="8858250" y="2762250"/>
            <a:ext cx="2590800" cy="7334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9" name="">
            <a:extLst xmlns:a="http://schemas.openxmlformats.org/drawingml/2006/main">
              <a:ext uri="{FF2B5EF4-FFF2-40B4-BE49-F238E27FC236}">
                <a16:creationId xmlns:a16="http://schemas.microsoft.com/office/drawing/2014/main" id="{57ECE498-EFEF-4B46-A643-B5E86AB5B97C}"/>
              </a:ext>
            </a:extLst>
          </p:cNvPr>
          <p:cNvSpPr>
            <a:spLocks xmlns:a="http://schemas.openxmlformats.org/drawingml/2006/main" noGrp="1"/>
          </p:cNvSpPr>
          <p:nvPr/>
        </p:nvSpPr>
        <p:spPr>
          <a:xfrm xmlns:a="http://schemas.openxmlformats.org/drawingml/2006/main">
            <a:off x="8953500" y="2838450"/>
            <a:ext cx="2400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B3C3C95B-1538-4234-9398-AF935A1BB64E}"/>
              </a:ext>
            </a:extLst>
          </p:cNvPr>
          <p:cNvSpPr>
            <a:spLocks xmlns:a="http://schemas.openxmlformats.org/drawingml/2006/main" noGrp="1"/>
          </p:cNvSpPr>
          <p:nvPr/>
        </p:nvSpPr>
        <p:spPr>
          <a:xfrm xmlns:a="http://schemas.openxmlformats.org/drawingml/2006/main">
            <a:off x="742950" y="3495675"/>
            <a:ext cx="2952750" cy="7334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1" name="">
            <a:extLst xmlns:a="http://schemas.openxmlformats.org/drawingml/2006/main">
              <a:ext uri="{FF2B5EF4-FFF2-40B4-BE49-F238E27FC236}">
                <a16:creationId xmlns:a16="http://schemas.microsoft.com/office/drawing/2014/main" id="{3349A260-2E9D-4F40-874D-5DFB9DEF3ECB}"/>
              </a:ext>
            </a:extLst>
          </p:cNvPr>
          <p:cNvSpPr>
            <a:spLocks xmlns:a="http://schemas.openxmlformats.org/drawingml/2006/main" noGrp="1"/>
          </p:cNvSpPr>
          <p:nvPr/>
        </p:nvSpPr>
        <p:spPr>
          <a:xfrm xmlns:a="http://schemas.openxmlformats.org/drawingml/2006/main">
            <a:off x="838200" y="3571875"/>
            <a:ext cx="276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S2</a:t>
            </a:r>
          </a:p>
        </p:txBody>
      </p:sp>
      <p:sp>
        <p:nvSpPr>
          <p:cNvPr id="22" name="">
            <a:extLst xmlns:a="http://schemas.openxmlformats.org/drawingml/2006/main">
              <a:ext uri="{FF2B5EF4-FFF2-40B4-BE49-F238E27FC236}">
                <a16:creationId xmlns:a16="http://schemas.microsoft.com/office/drawing/2014/main" id="{960C2A5C-91A6-4E4A-8EE8-E2B1AD79D3BA}"/>
              </a:ext>
            </a:extLst>
          </p:cNvPr>
          <p:cNvSpPr>
            <a:spLocks xmlns:a="http://schemas.openxmlformats.org/drawingml/2006/main" noGrp="1"/>
          </p:cNvSpPr>
          <p:nvPr/>
        </p:nvSpPr>
        <p:spPr>
          <a:xfrm xmlns:a="http://schemas.openxmlformats.org/drawingml/2006/main">
            <a:off x="3695700" y="3495675"/>
            <a:ext cx="2581275" cy="7334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3" name="">
            <a:extLst xmlns:a="http://schemas.openxmlformats.org/drawingml/2006/main">
              <a:ext uri="{FF2B5EF4-FFF2-40B4-BE49-F238E27FC236}">
                <a16:creationId xmlns:a16="http://schemas.microsoft.com/office/drawing/2014/main" id="{6B41A265-359A-4E04-9A23-4B5291CDD342}"/>
              </a:ext>
            </a:extLst>
          </p:cNvPr>
          <p:cNvSpPr>
            <a:spLocks xmlns:a="http://schemas.openxmlformats.org/drawingml/2006/main" noGrp="1"/>
          </p:cNvSpPr>
          <p:nvPr/>
        </p:nvSpPr>
        <p:spPr>
          <a:xfrm xmlns:a="http://schemas.openxmlformats.org/drawingml/2006/main">
            <a:off x="3790950" y="3571875"/>
            <a:ext cx="2390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1</a:t>
            </a:r>
          </a:p>
        </p:txBody>
      </p:sp>
      <p:sp>
        <p:nvSpPr>
          <p:cNvPr id="24" name="">
            <a:extLst xmlns:a="http://schemas.openxmlformats.org/drawingml/2006/main">
              <a:ext uri="{FF2B5EF4-FFF2-40B4-BE49-F238E27FC236}">
                <a16:creationId xmlns:a16="http://schemas.microsoft.com/office/drawing/2014/main" id="{FEEA120B-4BE6-4D41-BA22-E50B611743BB}"/>
              </a:ext>
            </a:extLst>
          </p:cNvPr>
          <p:cNvSpPr>
            <a:spLocks xmlns:a="http://schemas.openxmlformats.org/drawingml/2006/main" noGrp="1"/>
          </p:cNvSpPr>
          <p:nvPr/>
        </p:nvSpPr>
        <p:spPr>
          <a:xfrm xmlns:a="http://schemas.openxmlformats.org/drawingml/2006/main">
            <a:off x="6276975" y="3495675"/>
            <a:ext cx="2581275" cy="7334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5" name="">
            <a:extLst xmlns:a="http://schemas.openxmlformats.org/drawingml/2006/main">
              <a:ext uri="{FF2B5EF4-FFF2-40B4-BE49-F238E27FC236}">
                <a16:creationId xmlns:a16="http://schemas.microsoft.com/office/drawing/2014/main" id="{C959F6B1-1A75-41E8-9FB5-3F21833A187F}"/>
              </a:ext>
            </a:extLst>
          </p:cNvPr>
          <p:cNvSpPr>
            <a:spLocks xmlns:a="http://schemas.openxmlformats.org/drawingml/2006/main" noGrp="1"/>
          </p:cNvSpPr>
          <p:nvPr/>
        </p:nvSpPr>
        <p:spPr>
          <a:xfrm xmlns:a="http://schemas.openxmlformats.org/drawingml/2006/main">
            <a:off x="6372225" y="3571875"/>
            <a:ext cx="2390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0</a:t>
            </a:r>
          </a:p>
        </p:txBody>
      </p:sp>
      <p:sp>
        <p:nvSpPr>
          <p:cNvPr id="26" name="">
            <a:extLst xmlns:a="http://schemas.openxmlformats.org/drawingml/2006/main">
              <a:ext uri="{FF2B5EF4-FFF2-40B4-BE49-F238E27FC236}">
                <a16:creationId xmlns:a16="http://schemas.microsoft.com/office/drawing/2014/main" id="{A3B61CDC-C50B-4BA0-BB32-8AAFF9A70525}"/>
              </a:ext>
            </a:extLst>
          </p:cNvPr>
          <p:cNvSpPr>
            <a:spLocks xmlns:a="http://schemas.openxmlformats.org/drawingml/2006/main" noGrp="1"/>
          </p:cNvSpPr>
          <p:nvPr/>
        </p:nvSpPr>
        <p:spPr>
          <a:xfrm xmlns:a="http://schemas.openxmlformats.org/drawingml/2006/main">
            <a:off x="8858250" y="3495675"/>
            <a:ext cx="2590800" cy="73342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7" name="">
            <a:extLst xmlns:a="http://schemas.openxmlformats.org/drawingml/2006/main">
              <a:ext uri="{FF2B5EF4-FFF2-40B4-BE49-F238E27FC236}">
                <a16:creationId xmlns:a16="http://schemas.microsoft.com/office/drawing/2014/main" id="{E664A1E4-1204-477B-B234-5CC0994DB76E}"/>
              </a:ext>
            </a:extLst>
          </p:cNvPr>
          <p:cNvSpPr>
            <a:spLocks xmlns:a="http://schemas.openxmlformats.org/drawingml/2006/main" noGrp="1"/>
          </p:cNvSpPr>
          <p:nvPr/>
        </p:nvSpPr>
        <p:spPr>
          <a:xfrm xmlns:a="http://schemas.openxmlformats.org/drawingml/2006/main">
            <a:off x="8953500" y="3571875"/>
            <a:ext cx="2400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5</a:t>
            </a:r>
          </a:p>
        </p:txBody>
      </p:sp>
      <p:sp>
        <p:nvSpPr>
          <p:cNvPr id="28" name="">
            <a:extLst xmlns:a="http://schemas.openxmlformats.org/drawingml/2006/main">
              <a:ext uri="{FF2B5EF4-FFF2-40B4-BE49-F238E27FC236}">
                <a16:creationId xmlns:a16="http://schemas.microsoft.com/office/drawing/2014/main" id="{AE2C5AC0-7CAD-495C-B46F-8C6702824C0E}"/>
              </a:ext>
            </a:extLst>
          </p:cNvPr>
          <p:cNvSpPr>
            <a:spLocks xmlns:a="http://schemas.openxmlformats.org/drawingml/2006/main" noGrp="1"/>
          </p:cNvSpPr>
          <p:nvPr/>
        </p:nvSpPr>
        <p:spPr>
          <a:xfrm xmlns:a="http://schemas.openxmlformats.org/drawingml/2006/main">
            <a:off x="742950" y="4229100"/>
            <a:ext cx="2952750" cy="7334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9" name="">
            <a:extLst xmlns:a="http://schemas.openxmlformats.org/drawingml/2006/main">
              <a:ext uri="{FF2B5EF4-FFF2-40B4-BE49-F238E27FC236}">
                <a16:creationId xmlns:a16="http://schemas.microsoft.com/office/drawing/2014/main" id="{E5520343-9F74-4273-A084-97D294BB35FB}"/>
              </a:ext>
            </a:extLst>
          </p:cNvPr>
          <p:cNvSpPr>
            <a:spLocks xmlns:a="http://schemas.openxmlformats.org/drawingml/2006/main" noGrp="1"/>
          </p:cNvSpPr>
          <p:nvPr/>
        </p:nvSpPr>
        <p:spPr>
          <a:xfrm xmlns:a="http://schemas.openxmlformats.org/drawingml/2006/main">
            <a:off x="838200" y="4305300"/>
            <a:ext cx="276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S3</a:t>
            </a:r>
          </a:p>
        </p:txBody>
      </p:sp>
      <p:sp>
        <p:nvSpPr>
          <p:cNvPr id="30" name="">
            <a:extLst xmlns:a="http://schemas.openxmlformats.org/drawingml/2006/main">
              <a:ext uri="{FF2B5EF4-FFF2-40B4-BE49-F238E27FC236}">
                <a16:creationId xmlns:a16="http://schemas.microsoft.com/office/drawing/2014/main" id="{D502651A-2310-4E1B-8F84-7F40161DDAB2}"/>
              </a:ext>
            </a:extLst>
          </p:cNvPr>
          <p:cNvSpPr>
            <a:spLocks xmlns:a="http://schemas.openxmlformats.org/drawingml/2006/main" noGrp="1"/>
          </p:cNvSpPr>
          <p:nvPr/>
        </p:nvSpPr>
        <p:spPr>
          <a:xfrm xmlns:a="http://schemas.openxmlformats.org/drawingml/2006/main">
            <a:off x="3695700" y="4229100"/>
            <a:ext cx="2581275" cy="7334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1" name="">
            <a:extLst xmlns:a="http://schemas.openxmlformats.org/drawingml/2006/main">
              <a:ext uri="{FF2B5EF4-FFF2-40B4-BE49-F238E27FC236}">
                <a16:creationId xmlns:a16="http://schemas.microsoft.com/office/drawing/2014/main" id="{E79B2939-A46E-4190-A909-73115BD5FF31}"/>
              </a:ext>
            </a:extLst>
          </p:cNvPr>
          <p:cNvSpPr>
            <a:spLocks xmlns:a="http://schemas.openxmlformats.org/drawingml/2006/main" noGrp="1"/>
          </p:cNvSpPr>
          <p:nvPr/>
        </p:nvSpPr>
        <p:spPr>
          <a:xfrm xmlns:a="http://schemas.openxmlformats.org/drawingml/2006/main">
            <a:off x="3790950" y="4305300"/>
            <a:ext cx="2390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0</a:t>
            </a:r>
          </a:p>
        </p:txBody>
      </p:sp>
      <p:sp>
        <p:nvSpPr>
          <p:cNvPr id="32" name="">
            <a:extLst xmlns:a="http://schemas.openxmlformats.org/drawingml/2006/main">
              <a:ext uri="{FF2B5EF4-FFF2-40B4-BE49-F238E27FC236}">
                <a16:creationId xmlns:a16="http://schemas.microsoft.com/office/drawing/2014/main" id="{64C709A6-18BD-4859-9684-3093FD8D149A}"/>
              </a:ext>
            </a:extLst>
          </p:cNvPr>
          <p:cNvSpPr>
            <a:spLocks xmlns:a="http://schemas.openxmlformats.org/drawingml/2006/main" noGrp="1"/>
          </p:cNvSpPr>
          <p:nvPr/>
        </p:nvSpPr>
        <p:spPr>
          <a:xfrm xmlns:a="http://schemas.openxmlformats.org/drawingml/2006/main">
            <a:off x="6276975" y="4229100"/>
            <a:ext cx="2581275" cy="7334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3" name="">
            <a:extLst xmlns:a="http://schemas.openxmlformats.org/drawingml/2006/main">
              <a:ext uri="{FF2B5EF4-FFF2-40B4-BE49-F238E27FC236}">
                <a16:creationId xmlns:a16="http://schemas.microsoft.com/office/drawing/2014/main" id="{2306CF96-44EE-4629-AEF2-731920C48532}"/>
              </a:ext>
            </a:extLst>
          </p:cNvPr>
          <p:cNvSpPr>
            <a:spLocks xmlns:a="http://schemas.openxmlformats.org/drawingml/2006/main" noGrp="1"/>
          </p:cNvSpPr>
          <p:nvPr/>
        </p:nvSpPr>
        <p:spPr>
          <a:xfrm xmlns:a="http://schemas.openxmlformats.org/drawingml/2006/main">
            <a:off x="6372225" y="4305300"/>
            <a:ext cx="23907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0</a:t>
            </a:r>
          </a:p>
        </p:txBody>
      </p:sp>
      <p:sp>
        <p:nvSpPr>
          <p:cNvPr id="34" name="">
            <a:extLst xmlns:a="http://schemas.openxmlformats.org/drawingml/2006/main">
              <a:ext uri="{FF2B5EF4-FFF2-40B4-BE49-F238E27FC236}">
                <a16:creationId xmlns:a16="http://schemas.microsoft.com/office/drawing/2014/main" id="{4A45153F-7A80-4F7D-88BA-DC3F3880709B}"/>
              </a:ext>
            </a:extLst>
          </p:cNvPr>
          <p:cNvSpPr>
            <a:spLocks xmlns:a="http://schemas.openxmlformats.org/drawingml/2006/main" noGrp="1"/>
          </p:cNvSpPr>
          <p:nvPr/>
        </p:nvSpPr>
        <p:spPr>
          <a:xfrm xmlns:a="http://schemas.openxmlformats.org/drawingml/2006/main">
            <a:off x="8858250" y="4229100"/>
            <a:ext cx="2590800" cy="73342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35" name="">
            <a:extLst xmlns:a="http://schemas.openxmlformats.org/drawingml/2006/main">
              <a:ext uri="{FF2B5EF4-FFF2-40B4-BE49-F238E27FC236}">
                <a16:creationId xmlns:a16="http://schemas.microsoft.com/office/drawing/2014/main" id="{6E5CB152-4D72-4F61-9DC7-3C31A094FEAB}"/>
              </a:ext>
            </a:extLst>
          </p:cNvPr>
          <p:cNvSpPr>
            <a:spLocks xmlns:a="http://schemas.openxmlformats.org/drawingml/2006/main" noGrp="1"/>
          </p:cNvSpPr>
          <p:nvPr/>
        </p:nvSpPr>
        <p:spPr>
          <a:xfrm xmlns:a="http://schemas.openxmlformats.org/drawingml/2006/main">
            <a:off x="8953500" y="4305300"/>
            <a:ext cx="2400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0</a:t>
            </a:r>
          </a:p>
        </p:txBody>
      </p:sp>
      <p:sp>
        <p:nvSpPr>
          <p:cNvPr id="36" name="">
            <a:extLst xmlns:a="http://schemas.openxmlformats.org/drawingml/2006/main">
              <a:ext uri="{FF2B5EF4-FFF2-40B4-BE49-F238E27FC236}">
                <a16:creationId xmlns:a16="http://schemas.microsoft.com/office/drawing/2014/main" id="{67A54D2F-0A75-4AFF-8730-CAC7E6ED4103}"/>
              </a:ext>
            </a:extLst>
          </p:cNvPr>
          <p:cNvSpPr>
            <a:spLocks xmlns:a="http://schemas.openxmlformats.org/drawingml/2006/main" noGrp="1"/>
          </p:cNvSpPr>
          <p:nvPr/>
        </p:nvSpPr>
        <p:spPr>
          <a:xfrm xmlns:a="http://schemas.openxmlformats.org/drawingml/2006/main">
            <a:off x="857250" y="5114925"/>
            <a:ext cx="10420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S1 і S2 мають нуль лише в стовпці A: трьох незалежних нулів немає.</a:t>
            </a:r>
          </a:p>
        </p:txBody>
      </p:sp>
      <p:sp>
        <p:nvSpPr>
          <p:cNvPr id="37" name="">
            <a:extLst xmlns:a="http://schemas.openxmlformats.org/drawingml/2006/main">
              <a:ext uri="{FF2B5EF4-FFF2-40B4-BE49-F238E27FC236}">
                <a16:creationId xmlns:a16="http://schemas.microsoft.com/office/drawing/2014/main" id="{10CD1B13-7EE8-4ED5-A9A3-7240B32AE93C}"/>
              </a:ext>
            </a:extLst>
          </p:cNvPr>
          <p:cNvSpPr>
            <a:spLocks xmlns:a="http://schemas.openxmlformats.org/drawingml/2006/main" noGrp="1"/>
          </p:cNvSpPr>
          <p:nvPr/>
        </p:nvSpPr>
        <p:spPr>
          <a:xfrm xmlns:a="http://schemas.openxmlformats.org/drawingml/2006/main">
            <a:off x="819150" y="578167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Накриваємо всі нулі стовпцем A і рядком S3.</a:t>
            </a:r>
          </a:p>
        </p:txBody>
      </p:sp>
      <p:sp>
        <p:nvSpPr>
          <p:cNvPr id="39" name="">
            <a:extLst xmlns:a="http://schemas.openxmlformats.org/drawingml/2006/main">
              <a:ext uri="{FF2B5EF4-FFF2-40B4-BE49-F238E27FC236}">
                <a16:creationId xmlns:a16="http://schemas.microsoft.com/office/drawing/2014/main" id="{62E7A0B1-A5BE-46C2-AB9F-AB79BE32717F}"/>
              </a:ext>
            </a:extLst>
          </p:cNvPr>
          <p:cNvSpPr>
            <a:spLocks xmlns:a="http://schemas.openxmlformats.org/drawingml/2006/main" noGrp="1"/>
          </p:cNvSpPr>
          <p:nvPr/>
        </p:nvSpPr>
        <p:spPr>
          <a:xfrm xmlns:a="http://schemas.openxmlformats.org/drawingml/2006/main">
            <a:off x="6286500" y="2771775"/>
            <a:ext cx="2571750" cy="2190750"/>
          </a:xfrm>
          <a:prstGeom xmlns:a="http://schemas.openxmlformats.org/drawingml/2006/main" prst="rect">
            <a:avLst/>
          </a:prstGeom>
          <a:noFill xmlns:a="http://schemas.openxmlformats.org/drawingml/2006/main"/>
          <a:ln xmlns:a="http://schemas.openxmlformats.org/drawingml/2006/main" w="38100">
            <a:solidFill>
              <a:srgbClr val="C4533F"/>
            </a:solidFill>
            <a:prstDash val="solid"/>
          </a:ln>
        </p:spPr>
      </p:sp>
      <p:sp>
        <p:nvSpPr>
          <p:cNvPr id="40" name="">
            <a:extLst xmlns:a="http://schemas.openxmlformats.org/drawingml/2006/main">
              <a:ext uri="{FF2B5EF4-FFF2-40B4-BE49-F238E27FC236}">
                <a16:creationId xmlns:a16="http://schemas.microsoft.com/office/drawing/2014/main" id="{245A2DC4-8EE3-4DE2-BEEB-8F4C3A29773E}"/>
              </a:ext>
            </a:extLst>
          </p:cNvPr>
          <p:cNvSpPr>
            <a:spLocks xmlns:a="http://schemas.openxmlformats.org/drawingml/2006/main" noGrp="1"/>
          </p:cNvSpPr>
          <p:nvPr/>
        </p:nvSpPr>
        <p:spPr>
          <a:xfrm xmlns:a="http://schemas.openxmlformats.org/drawingml/2006/main">
            <a:off x="752475" y="4238625"/>
            <a:ext cx="10687050" cy="714375"/>
          </a:xfrm>
          <a:prstGeom xmlns:a="http://schemas.openxmlformats.org/drawingml/2006/main" prst="rect">
            <a:avLst/>
          </a:prstGeom>
          <a:noFill xmlns:a="http://schemas.openxmlformats.org/drawingml/2006/main"/>
          <a:ln xmlns:a="http://schemas.openxmlformats.org/drawingml/2006/main" w="38100">
            <a:solidFill>
              <a:srgbClr val="C4533F"/>
            </a:solidFill>
            <a:prstDash val="solid"/>
          </a:ln>
        </p:spPr>
      </p:sp>
      <p:sp>
        <p:nvSpPr>
          <p:cNvPr id="41" name="">
            <a:extLst xmlns:a="http://schemas.openxmlformats.org/drawingml/2006/main">
              <a:ext uri="{FF2B5EF4-FFF2-40B4-BE49-F238E27FC236}">
                <a16:creationId xmlns:a16="http://schemas.microsoft.com/office/drawing/2014/main" id="{9DB90C13-5CE2-42F5-9F68-EC45DA7FFF01}"/>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75</a:t>
            </a:r>
          </a:p>
        </p:txBody>
      </p:sp>
    </p:spTree>
    <p:extLst>
      <p:ext uri="{BB962C8B-B14F-4D97-AF65-F5344CB8AC3E}">
        <p14:creationId xmlns:p14="http://schemas.microsoft.com/office/powerpoint/2010/main" val="1294600134"/>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CDAA2B-2100-4C91-9A88-FF158E751D5A}"/>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Приклад 2: незалежні нулі та покриття</a:t>
            </a:r>
          </a:p>
        </p:txBody>
      </p:sp>
      <p:sp>
        <p:nvSpPr>
          <p:cNvPr id="2" name="">
            <a:extLst xmlns:a="http://schemas.openxmlformats.org/drawingml/2006/main">
              <a:ext uri="{FF2B5EF4-FFF2-40B4-BE49-F238E27FC236}">
                <a16:creationId xmlns:a16="http://schemas.microsoft.com/office/drawing/2014/main" id="{5B318A34-B84B-4B8D-86BF-FC233709771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Найбільше можливе число пар — 2. Покриття: стовпець A і рядок S3.</a:t>
            </a:r>
          </a:p>
        </p:txBody>
      </p:sp>
      <p:graphicFrame>
        <p:nvGraphicFramePr>
          <p:cNvPr id="14" name="">
            <a:extLst xmlns:a="http://schemas.openxmlformats.org/drawingml/2006/main">
              <a:ext uri="{FF2B5EF4-FFF2-40B4-BE49-F238E27FC236}">
                <a16:creationId xmlns:a16="http://schemas.microsoft.com/office/drawing/2014/main" id="{05E818C9-B919-4DE9-8620-D1FAF50AA668}"/>
              </a:ext>
            </a:extLst>
          </p:cNvPr>
          <p:cNvGraphicFramePr/>
          <p:nvPr/>
        </p:nvGraphicFramePr>
        <p:xfrm>
          <a:off xmlns:a="http://schemas.openxmlformats.org/drawingml/2006/main" x="762000" y="1714500"/>
          <a:ext xmlns:a="http://schemas.openxmlformats.org/drawingml/2006/main" cx="4572000" cy="3048000"/>
        </p:xfrm>
        <a:graphic xmlns:a="http://schemas.openxmlformats.org/drawingml/2006/main">
          <a:graphicData uri="http://schemas.openxmlformats.org/drawingml/2006/table">
            <a:tbl>
              <a:tblPr/>
              <a:tblGrid>
                <a:gridCol w="1143000"/>
                <a:gridCol w="1143000"/>
                <a:gridCol w="1143000"/>
                <a:gridCol w="1143000"/>
              </a:tblGrid>
              <a:tr h="762000">
                <a:tc>
                  <a:txBody>
                    <a:bodyPr/>
                    <a:lstStyle/>
                    <a:p>
                      <a:r>
                        <a:rPr sz="2625" b="1">
                          <a:solidFill>
                            <a:srgbClr val="FFFFFF"/>
                          </a:solidFill>
                          <a:latin typeface="Arial"/>
                          <a:ea typeface="Arial"/>
                          <a:cs typeface="Arial"/>
                        </a:rPr>
                        <a:t/>
                      </a:r>
                    </a:p>
                  </a:txBody>
                  <a:tcPr marL="114300" marR="114300" marT="66675" marB="66675" anchor="ctr">
                    <a:solidFill>
                      <a:srgbClr val="173047"/>
                    </a:solidFill>
                  </a:tcPr>
                </a:tc>
                <a:tc>
                  <a:txBody>
                    <a:bodyPr/>
                    <a:lstStyle/>
                    <a:p>
                      <a:r>
                        <a:rPr sz="2625" b="1">
                          <a:solidFill>
                            <a:srgbClr val="FFFFFF"/>
                          </a:solidFill>
                          <a:latin typeface="Arial"/>
                          <a:ea typeface="Arial"/>
                          <a:cs typeface="Arial"/>
                        </a:rPr>
                        <a:t>I</a:t>
                      </a:r>
                    </a:p>
                  </a:txBody>
                  <a:tcPr marL="114300" marR="114300" marT="66675" marB="66675" anchor="ctr">
                    <a:solidFill>
                      <a:srgbClr val="173047"/>
                    </a:solidFill>
                  </a:tcPr>
                </a:tc>
                <a:tc>
                  <a:txBody>
                    <a:bodyPr/>
                    <a:lstStyle/>
                    <a:p>
                      <a:r>
                        <a:rPr sz="2625"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625" b="1">
                          <a:solidFill>
                            <a:srgbClr val="FFFFFF"/>
                          </a:solidFill>
                          <a:latin typeface="Arial"/>
                          <a:ea typeface="Arial"/>
                          <a:cs typeface="Arial"/>
                        </a:rPr>
                        <a:t>B</a:t>
                      </a:r>
                    </a:p>
                  </a:txBody>
                  <a:tcPr marL="114300" marR="114300" marT="66675" marB="66675" anchor="ctr">
                    <a:solidFill>
                      <a:srgbClr val="173047"/>
                    </a:solidFill>
                  </a:tcPr>
                </a:tc>
              </a:tr>
              <a:tr h="762000">
                <a:tc>
                  <a:txBody>
                    <a:bodyPr/>
                    <a:lstStyle/>
                    <a:p>
                      <a:r>
                        <a:rPr sz="2625">
                          <a:solidFill>
                            <a:srgbClr val="173047"/>
                          </a:solidFill>
                          <a:latin typeface="Arial"/>
                          <a:ea typeface="Arial"/>
                          <a:cs typeface="Arial"/>
                        </a:rPr>
                        <a:t>S1</a:t>
                      </a:r>
                    </a:p>
                  </a:txBody>
                  <a:tcPr marL="114300" marR="114300" marT="66675" marB="66675" anchor="ctr">
                    <a:solidFill>
                      <a:srgbClr val="FFFFFF"/>
                    </a:solidFill>
                  </a:tcPr>
                </a:tc>
                <a:tc>
                  <a:txBody>
                    <a:bodyPr/>
                    <a:lstStyle/>
                    <a:p>
                      <a:pPr algn="ctr">
                        <a:buNone/>
                      </a:pPr>
                      <a:r>
                        <a:rPr sz="2625">
                          <a:solidFill>
                            <a:srgbClr val="173047"/>
                          </a:solidFill>
                          <a:latin typeface="Arial"/>
                          <a:ea typeface="Arial"/>
                          <a:cs typeface="Arial"/>
                        </a:rPr>
                        <a:t>2</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c>
                  <a:txBody>
                    <a:bodyPr/>
                    <a:lstStyle/>
                    <a:p>
                      <a:pPr algn="ctr">
                        <a:buNone/>
                      </a:pPr>
                      <a:r>
                        <a:rPr sz="2625">
                          <a:solidFill>
                            <a:srgbClr val="173047"/>
                          </a:solidFill>
                          <a:latin typeface="Arial"/>
                          <a:ea typeface="Arial"/>
                          <a:cs typeface="Arial"/>
                        </a:rPr>
                        <a:t>2</a:t>
                      </a:r>
                    </a:p>
                  </a:txBody>
                  <a:tcPr marL="114300" marR="114300" marT="66675" marB="66675" anchor="ctr">
                    <a:solidFill>
                      <a:srgbClr val="FFFFFF"/>
                    </a:solidFill>
                  </a:tcPr>
                </a:tc>
              </a:tr>
              <a:tr h="762000">
                <a:tc>
                  <a:txBody>
                    <a:bodyPr/>
                    <a:lstStyle/>
                    <a:p>
                      <a:r>
                        <a:rPr sz="2625">
                          <a:solidFill>
                            <a:srgbClr val="173047"/>
                          </a:solidFill>
                          <a:latin typeface="Arial"/>
                          <a:ea typeface="Arial"/>
                          <a:cs typeface="Arial"/>
                        </a:rPr>
                        <a:t>S2</a:t>
                      </a:r>
                    </a:p>
                  </a:txBody>
                  <a:tcPr marL="114300" marR="114300" marT="66675" marB="66675" anchor="ctr">
                    <a:solidFill>
                      <a:srgbClr val="FFFFFF"/>
                    </a:solidFill>
                  </a:tcPr>
                </a:tc>
                <a:tc>
                  <a:txBody>
                    <a:bodyPr/>
                    <a:lstStyle/>
                    <a:p>
                      <a:pPr algn="ctr">
                        <a:buNone/>
                      </a:pPr>
                      <a:r>
                        <a:rPr sz="2625">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625">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625">
                          <a:solidFill>
                            <a:srgbClr val="173047"/>
                          </a:solidFill>
                          <a:latin typeface="Arial"/>
                          <a:ea typeface="Arial"/>
                          <a:cs typeface="Arial"/>
                        </a:rPr>
                        <a:t>5</a:t>
                      </a:r>
                    </a:p>
                  </a:txBody>
                  <a:tcPr marL="114300" marR="114300" marT="66675" marB="66675" anchor="ctr">
                    <a:solidFill>
                      <a:srgbClr val="FFFFFF"/>
                    </a:solidFill>
                  </a:tcPr>
                </a:tc>
              </a:tr>
              <a:tr h="762000">
                <a:tc>
                  <a:txBody>
                    <a:bodyPr/>
                    <a:lstStyle/>
                    <a:p>
                      <a:r>
                        <a:rPr sz="2625">
                          <a:solidFill>
                            <a:srgbClr val="173047"/>
                          </a:solidFill>
                          <a:latin typeface="Arial"/>
                          <a:ea typeface="Arial"/>
                          <a:cs typeface="Arial"/>
                        </a:rPr>
                        <a:t>S3</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c>
                  <a:txBody>
                    <a:bodyPr/>
                    <a:lstStyle/>
                    <a:p>
                      <a:pPr algn="ctr">
                        <a:buNone/>
                      </a:pPr>
                      <a:r>
                        <a:rPr sz="2625">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625">
                          <a:solidFill>
                            <a:srgbClr val="173047"/>
                          </a:solidFill>
                          <a:latin typeface="Arial"/>
                          <a:ea typeface="Arial"/>
                          <a:cs typeface="Arial"/>
                        </a:rPr>
                        <a:t>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B792C09-922C-4CBF-A280-8C8DD2B45E55}"/>
              </a:ext>
            </a:extLst>
          </p:cNvPr>
          <p:cNvSpPr>
            <a:spLocks xmlns:a="http://schemas.openxmlformats.org/drawingml/2006/main" noGrp="1"/>
          </p:cNvSpPr>
          <p:nvPr/>
        </p:nvSpPr>
        <p:spPr>
          <a:xfrm xmlns:a="http://schemas.openxmlformats.org/drawingml/2006/main">
            <a:off x="3219450" y="2638425"/>
            <a:ext cx="800100" cy="438150"/>
          </a:xfrm>
          <a:prstGeom xmlns:a="http://schemas.openxmlformats.org/drawingml/2006/main" prst="ellipse">
            <a:avLst/>
          </a:prstGeom>
          <a:noFill xmlns:a="http://schemas.openxmlformats.org/drawingml/2006/main"/>
          <a:ln xmlns:a="http://schemas.openxmlformats.org/drawingml/2006/main" w="14288">
            <a:solidFill>
              <a:srgbClr val="00857D"/>
            </a:solidFill>
          </a:ln>
        </p:spPr>
      </p:sp>
      <p:sp>
        <p:nvSpPr>
          <p:cNvPr id="5" name="">
            <a:extLst xmlns:a="http://schemas.openxmlformats.org/drawingml/2006/main">
              <a:ext uri="{FF2B5EF4-FFF2-40B4-BE49-F238E27FC236}">
                <a16:creationId xmlns:a16="http://schemas.microsoft.com/office/drawing/2014/main" id="{0A4CE37D-9F5F-49E4-900D-8B4A2EE0FECB}"/>
              </a:ext>
            </a:extLst>
          </p:cNvPr>
          <p:cNvSpPr>
            <a:spLocks xmlns:a="http://schemas.openxmlformats.org/drawingml/2006/main" noGrp="1"/>
          </p:cNvSpPr>
          <p:nvPr/>
        </p:nvSpPr>
        <p:spPr>
          <a:xfrm xmlns:a="http://schemas.openxmlformats.org/drawingml/2006/main">
            <a:off x="2076450" y="4162425"/>
            <a:ext cx="800100" cy="438150"/>
          </a:xfrm>
          <a:prstGeom xmlns:a="http://schemas.openxmlformats.org/drawingml/2006/main" prst="ellipse">
            <a:avLst/>
          </a:prstGeom>
          <a:noFill xmlns:a="http://schemas.openxmlformats.org/drawingml/2006/main"/>
          <a:ln xmlns:a="http://schemas.openxmlformats.org/drawingml/2006/main" w="14288">
            <a:solidFill>
              <a:srgbClr val="00857D"/>
            </a:solidFill>
          </a:ln>
        </p:spPr>
      </p:sp>
      <p:sp>
        <p:nvSpPr>
          <p:cNvPr id="6" name="">
            <a:extLst xmlns:a="http://schemas.openxmlformats.org/drawingml/2006/main">
              <a:ext uri="{FF2B5EF4-FFF2-40B4-BE49-F238E27FC236}">
                <a16:creationId xmlns:a16="http://schemas.microsoft.com/office/drawing/2014/main" id="{321CFDB9-3B24-4072-BDE2-4F2A3FFDDDE8}"/>
              </a:ext>
            </a:extLst>
          </p:cNvPr>
          <p:cNvSpPr>
            <a:spLocks xmlns:a="http://schemas.openxmlformats.org/drawingml/2006/main" noGrp="1"/>
          </p:cNvSpPr>
          <p:nvPr/>
        </p:nvSpPr>
        <p:spPr>
          <a:xfrm xmlns:a="http://schemas.openxmlformats.org/drawingml/2006/main">
            <a:off x="3048000" y="2476500"/>
            <a:ext cx="1143000" cy="2286000"/>
          </a:xfrm>
          <a:prstGeom xmlns:a="http://schemas.openxmlformats.org/drawingml/2006/main" prst="rect">
            <a:avLst/>
          </a:prstGeom>
          <a:noFill xmlns:a="http://schemas.openxmlformats.org/drawingml/2006/main"/>
          <a:ln xmlns:a="http://schemas.openxmlformats.org/drawingml/2006/main" w="14288">
            <a:solidFill>
              <a:srgbClr val="B64436"/>
            </a:solidFill>
          </a:ln>
        </p:spPr>
      </p:sp>
      <p:sp>
        <p:nvSpPr>
          <p:cNvPr id="7" name="">
            <a:extLst xmlns:a="http://schemas.openxmlformats.org/drawingml/2006/main">
              <a:ext uri="{FF2B5EF4-FFF2-40B4-BE49-F238E27FC236}">
                <a16:creationId xmlns:a16="http://schemas.microsoft.com/office/drawing/2014/main" id="{2827C2AA-2E9F-47B0-8D22-49134B693003}"/>
              </a:ext>
            </a:extLst>
          </p:cNvPr>
          <p:cNvSpPr>
            <a:spLocks xmlns:a="http://schemas.openxmlformats.org/drawingml/2006/main" noGrp="1"/>
          </p:cNvSpPr>
          <p:nvPr/>
        </p:nvSpPr>
        <p:spPr>
          <a:xfrm xmlns:a="http://schemas.openxmlformats.org/drawingml/2006/main">
            <a:off x="1905000" y="4000500"/>
            <a:ext cx="3429000" cy="762000"/>
          </a:xfrm>
          <a:prstGeom xmlns:a="http://schemas.openxmlformats.org/drawingml/2006/main" prst="rect">
            <a:avLst/>
          </a:prstGeom>
          <a:noFill xmlns:a="http://schemas.openxmlformats.org/drawingml/2006/main"/>
          <a:ln xmlns:a="http://schemas.openxmlformats.org/drawingml/2006/main" w="14288">
            <a:solidFill>
              <a:srgbClr val="B64436"/>
            </a:solidFill>
          </a:ln>
        </p:spPr>
      </p:sp>
      <p:sp>
        <p:nvSpPr>
          <p:cNvPr id="8" name="">
            <a:extLst xmlns:a="http://schemas.openxmlformats.org/drawingml/2006/main">
              <a:ext uri="{FF2B5EF4-FFF2-40B4-BE49-F238E27FC236}">
                <a16:creationId xmlns:a16="http://schemas.microsoft.com/office/drawing/2014/main" id="{4FD50638-050D-4996-8DF6-FFBA358D25CC}"/>
              </a:ext>
            </a:extLst>
          </p:cNvPr>
          <p:cNvSpPr>
            <a:spLocks xmlns:a="http://schemas.openxmlformats.org/drawingml/2006/main" noGrp="1"/>
          </p:cNvSpPr>
          <p:nvPr/>
        </p:nvSpPr>
        <p:spPr>
          <a:xfrm xmlns:a="http://schemas.openxmlformats.org/drawingml/2006/main">
            <a:off x="5810250" y="1533525"/>
            <a:ext cx="5619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Обираємо S1→A та S3→I.</a:t>
            </a:r>
          </a:p>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S2 залишається без пари.</a:t>
            </a:r>
          </a:p>
        </p:txBody>
      </p:sp>
      <p:sp>
        <p:nvSpPr>
          <p:cNvPr id="9" name="">
            <a:extLst xmlns:a="http://schemas.openxmlformats.org/drawingml/2006/main">
              <a:ext uri="{FF2B5EF4-FFF2-40B4-BE49-F238E27FC236}">
                <a16:creationId xmlns:a16="http://schemas.microsoft.com/office/drawing/2014/main" id="{151D19F2-E5D2-49FD-AA4D-8E25CF9DFAD1}"/>
              </a:ext>
            </a:extLst>
          </p:cNvPr>
          <p:cNvSpPr>
            <a:spLocks xmlns:a="http://schemas.openxmlformats.org/drawingml/2006/main" noGrp="1"/>
          </p:cNvSpPr>
          <p:nvPr/>
        </p:nvSpPr>
        <p:spPr>
          <a:xfrm xmlns:a="http://schemas.openxmlformats.org/drawingml/2006/main">
            <a:off x="5810250" y="2876550"/>
            <a:ext cx="5619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Позначки: S2, потім A, потім S1.</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Накриваємо непозначені рядки</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та позначені стовпці.</a:t>
            </a:r>
          </a:p>
        </p:txBody>
      </p:sp>
      <p:sp>
        <p:nvSpPr>
          <p:cNvPr id="10" name="">
            <a:extLst xmlns:a="http://schemas.openxmlformats.org/drawingml/2006/main">
              <a:ext uri="{FF2B5EF4-FFF2-40B4-BE49-F238E27FC236}">
                <a16:creationId xmlns:a16="http://schemas.microsoft.com/office/drawing/2014/main" id="{8AF8D562-EE09-4E8C-8448-98BA4BC8568D}"/>
              </a:ext>
            </a:extLst>
          </p:cNvPr>
          <p:cNvSpPr>
            <a:spLocks xmlns:a="http://schemas.openxmlformats.org/drawingml/2006/main" noGrp="1"/>
          </p:cNvSpPr>
          <p:nvPr/>
        </p:nvSpPr>
        <p:spPr>
          <a:xfrm xmlns:a="http://schemas.openxmlformats.org/drawingml/2006/main">
            <a:off x="762000" y="50673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Arial"/>
                <a:ea typeface="Arial"/>
                <a:cs typeface="Arial"/>
              </a:defRPr>
            </a:pPr>
            <a:r>
              <a:rPr sz="2175" b="1">
                <a:solidFill>
                  <a:srgbClr val="00857D"/>
                </a:solidFill>
                <a:latin typeface="Arial"/>
                <a:ea typeface="Arial"/>
                <a:cs typeface="Arial"/>
              </a:rPr>
              <a:t>Якщо спершу взяли S3→A, переносимо</a:t>
            </a:r>
          </a:p>
          <a:p xmlns:a="http://schemas.openxmlformats.org/drawingml/2006/main">
            <a:pPr algn="l">
              <a:buNone/>
              <a:defRPr sz="2175" b="1">
                <a:solidFill>
                  <a:srgbClr val="00857D"/>
                </a:solidFill>
                <a:latin typeface="Arial"/>
                <a:ea typeface="Arial"/>
                <a:cs typeface="Arial"/>
              </a:defRPr>
            </a:pPr>
            <a:r>
              <a:rPr sz="2175" b="1">
                <a:solidFill>
                  <a:srgbClr val="00857D"/>
                </a:solidFill>
                <a:latin typeface="Arial"/>
                <a:ea typeface="Arial"/>
                <a:cs typeface="Arial"/>
              </a:rPr>
              <a:t>його на I, щоб звільнити A для S1.</a:t>
            </a:r>
          </a:p>
        </p:txBody>
      </p:sp>
      <p:sp>
        <p:nvSpPr>
          <p:cNvPr id="11" name="">
            <a:extLst xmlns:a="http://schemas.openxmlformats.org/drawingml/2006/main">
              <a:ext uri="{FF2B5EF4-FFF2-40B4-BE49-F238E27FC236}">
                <a16:creationId xmlns:a16="http://schemas.microsoft.com/office/drawing/2014/main" id="{C9CFE1FE-BD34-42AE-AB51-81879A4AA21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76</a:t>
            </a:r>
          </a:p>
        </p:txBody>
      </p:sp>
    </p:spTree>
    <p:extLst>
      <p:ext uri="{BB962C8B-B14F-4D97-AF65-F5344CB8AC3E}">
        <p14:creationId xmlns:p14="http://schemas.microsoft.com/office/powerpoint/2010/main" val="1825109415"/>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B8E508-3EB3-4BC5-BD6B-8D952FC7D89C}"/>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Приклад 2: покриття та корекція</a:t>
            </a:r>
          </a:p>
        </p:txBody>
      </p:sp>
      <p:sp>
        <p:nvSpPr>
          <p:cNvPr id="2" name="">
            <a:extLst xmlns:a="http://schemas.openxmlformats.org/drawingml/2006/main">
              <a:ext uri="{FF2B5EF4-FFF2-40B4-BE49-F238E27FC236}">
                <a16:creationId xmlns:a16="http://schemas.microsoft.com/office/drawing/2014/main" id="{2E4C1492-883A-40CB-9CC7-C9C1D272B82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Вартість оптимального призначення обчислюємо за початковою матрицею.</a:t>
            </a:r>
          </a:p>
        </p:txBody>
      </p:sp>
      <p:sp>
        <p:nvSpPr>
          <p:cNvPr id="3" name="">
            <a:extLst xmlns:a="http://schemas.openxmlformats.org/drawingml/2006/main">
              <a:ext uri="{FF2B5EF4-FFF2-40B4-BE49-F238E27FC236}">
                <a16:creationId xmlns:a16="http://schemas.microsoft.com/office/drawing/2014/main" id="{9B2735DE-5BD4-4521-928D-80EEF4F5BDD5}"/>
              </a:ext>
            </a:extLst>
          </p:cNvPr>
          <p:cNvSpPr>
            <a:spLocks xmlns:a="http://schemas.openxmlformats.org/drawingml/2006/main" noGrp="1"/>
          </p:cNvSpPr>
          <p:nvPr/>
        </p:nvSpPr>
        <p:spPr>
          <a:xfrm xmlns:a="http://schemas.openxmlformats.org/drawingml/2006/main">
            <a:off x="762000" y="1314450"/>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173047"/>
                </a:solidFill>
                <a:latin typeface="Arial"/>
                <a:ea typeface="Arial"/>
                <a:cs typeface="Arial"/>
              </a:defRPr>
            </a:pPr>
            <a:r>
              <a:rPr sz="2400" b="1">
                <a:solidFill>
                  <a:srgbClr val="173047"/>
                </a:solidFill>
                <a:latin typeface="Arial"/>
                <a:ea typeface="Arial"/>
                <a:cs typeface="Arial"/>
              </a:rPr>
              <a:t>Покриття: A та S3</a:t>
            </a:r>
          </a:p>
        </p:txBody>
      </p:sp>
      <p:sp>
        <p:nvSpPr>
          <p:cNvPr id="4" name="">
            <a:extLst xmlns:a="http://schemas.openxmlformats.org/drawingml/2006/main">
              <a:ext uri="{FF2B5EF4-FFF2-40B4-BE49-F238E27FC236}">
                <a16:creationId xmlns:a16="http://schemas.microsoft.com/office/drawing/2014/main" id="{6143B8DD-9A03-4D0F-AEAD-A23FD90E44D4}"/>
              </a:ext>
            </a:extLst>
          </p:cNvPr>
          <p:cNvSpPr>
            <a:spLocks xmlns:a="http://schemas.openxmlformats.org/drawingml/2006/main" noGrp="1"/>
          </p:cNvSpPr>
          <p:nvPr/>
        </p:nvSpPr>
        <p:spPr>
          <a:xfrm xmlns:a="http://schemas.openxmlformats.org/drawingml/2006/main">
            <a:off x="6667500" y="1314450"/>
            <a:ext cx="476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B64436"/>
                </a:solidFill>
                <a:latin typeface="Arial"/>
                <a:ea typeface="Arial"/>
                <a:cs typeface="Arial"/>
              </a:defRPr>
            </a:pPr>
            <a:r>
              <a:rPr sz="2400" b="1">
                <a:solidFill>
                  <a:srgbClr val="B64436"/>
                </a:solidFill>
                <a:latin typeface="Arial"/>
                <a:ea typeface="Arial"/>
                <a:cs typeface="Arial"/>
              </a:rPr>
              <a:t>δ=min(2,2,1,5)=1</a:t>
            </a:r>
          </a:p>
        </p:txBody>
      </p:sp>
      <p:graphicFrame>
        <p:nvGraphicFramePr>
          <p:cNvPr id="15" name="">
            <a:extLst xmlns:a="http://schemas.openxmlformats.org/drawingml/2006/main">
              <a:ext uri="{FF2B5EF4-FFF2-40B4-BE49-F238E27FC236}">
                <a16:creationId xmlns:a16="http://schemas.microsoft.com/office/drawing/2014/main" id="{2C1DC0AA-5D21-42E8-A3D5-791C2CEAD13D}"/>
              </a:ext>
            </a:extLst>
          </p:cNvPr>
          <p:cNvGraphicFramePr/>
          <p:nvPr/>
        </p:nvGraphicFramePr>
        <p:xfrm>
          <a:off xmlns:a="http://schemas.openxmlformats.org/drawingml/2006/main" x="762000" y="1943100"/>
          <a:ext xmlns:a="http://schemas.openxmlformats.org/drawingml/2006/main" cx="4762500" cy="3124200"/>
        </p:xfrm>
        <a:graphic xmlns:a="http://schemas.openxmlformats.org/drawingml/2006/main">
          <a:graphicData uri="http://schemas.openxmlformats.org/drawingml/2006/table">
            <a:tbl>
              <a:tblPr/>
              <a:tblGrid>
                <a:gridCol w="1190625"/>
                <a:gridCol w="1190625"/>
                <a:gridCol w="1190625"/>
                <a:gridCol w="1190625"/>
              </a:tblGrid>
              <a:tr h="781050">
                <a:tc>
                  <a:txBody>
                    <a:bodyPr/>
                    <a:lstStyle/>
                    <a:p>
                      <a:r>
                        <a:rPr sz="2550" b="1">
                          <a:solidFill>
                            <a:srgbClr val="FFFFFF"/>
                          </a:solidFill>
                          <a:latin typeface="Arial"/>
                          <a:ea typeface="Arial"/>
                          <a:cs typeface="Arial"/>
                        </a:rPr>
                        <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I</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B</a:t>
                      </a:r>
                    </a:p>
                  </a:txBody>
                  <a:tcPr marL="114300" marR="114300" marT="66675" marB="66675" anchor="ctr">
                    <a:solidFill>
                      <a:srgbClr val="173047"/>
                    </a:solidFill>
                  </a:tcPr>
                </a:tc>
              </a:tr>
              <a:tr h="781050">
                <a:tc>
                  <a:txBody>
                    <a:bodyPr/>
                    <a:lstStyle/>
                    <a:p>
                      <a:r>
                        <a:rPr sz="2550">
                          <a:solidFill>
                            <a:srgbClr val="173047"/>
                          </a:solidFill>
                          <a:latin typeface="Arial"/>
                          <a:ea typeface="Arial"/>
                          <a:cs typeface="Arial"/>
                        </a:rPr>
                        <a:t>S1</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2</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7E5BE"/>
                    </a:solidFill>
                  </a:tcPr>
                </a:tc>
                <a:tc>
                  <a:txBody>
                    <a:bodyPr/>
                    <a:lstStyle/>
                    <a:p>
                      <a:pPr algn="ctr">
                        <a:buNone/>
                      </a:pPr>
                      <a:r>
                        <a:rPr sz="2550">
                          <a:solidFill>
                            <a:srgbClr val="173047"/>
                          </a:solidFill>
                          <a:latin typeface="Arial"/>
                          <a:ea typeface="Arial"/>
                          <a:cs typeface="Arial"/>
                        </a:rPr>
                        <a:t>2</a:t>
                      </a:r>
                    </a:p>
                  </a:txBody>
                  <a:tcPr marL="114300" marR="114300" marT="66675" marB="66675" anchor="ctr">
                    <a:solidFill>
                      <a:srgbClr val="FFFFFF"/>
                    </a:solidFill>
                  </a:tcPr>
                </a:tc>
              </a:tr>
              <a:tr h="781050">
                <a:tc>
                  <a:txBody>
                    <a:bodyPr/>
                    <a:lstStyle/>
                    <a:p>
                      <a:r>
                        <a:rPr sz="2550">
                          <a:solidFill>
                            <a:srgbClr val="173047"/>
                          </a:solidFill>
                          <a:latin typeface="Arial"/>
                          <a:ea typeface="Arial"/>
                          <a:cs typeface="Arial"/>
                        </a:rPr>
                        <a:t>S2</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7E5BE"/>
                    </a:solidFill>
                  </a:tcPr>
                </a:tc>
                <a:tc>
                  <a:txBody>
                    <a:bodyPr/>
                    <a:lstStyle/>
                    <a:p>
                      <a:pPr algn="ctr">
                        <a:buNone/>
                      </a:pPr>
                      <a:r>
                        <a:rPr sz="2550">
                          <a:solidFill>
                            <a:srgbClr val="173047"/>
                          </a:solidFill>
                          <a:latin typeface="Arial"/>
                          <a:ea typeface="Arial"/>
                          <a:cs typeface="Arial"/>
                        </a:rPr>
                        <a:t>5</a:t>
                      </a:r>
                    </a:p>
                  </a:txBody>
                  <a:tcPr marL="114300" marR="114300" marT="66675" marB="66675" anchor="ctr">
                    <a:solidFill>
                      <a:srgbClr val="FFFFFF"/>
                    </a:solidFill>
                  </a:tcPr>
                </a:tc>
              </a:tr>
              <a:tr h="781050">
                <a:tc>
                  <a:txBody>
                    <a:bodyPr/>
                    <a:lstStyle/>
                    <a:p>
                      <a:r>
                        <a:rPr sz="2550">
                          <a:solidFill>
                            <a:srgbClr val="173047"/>
                          </a:solidFill>
                          <a:latin typeface="Arial"/>
                          <a:ea typeface="Arial"/>
                          <a:cs typeface="Arial"/>
                        </a:rPr>
                        <a:t>S3</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7E5BE"/>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7E5BE"/>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7E5BE"/>
                    </a:solidFill>
                  </a:tcPr>
                </a:tc>
              </a:tr>
            </a:tbl>
          </a:graphicData>
        </a:graphic>
      </p:graphicFrame>
      <p:sp>
        <p:nvSpPr>
          <p:cNvPr id="6" name="">
            <a:extLst xmlns:a="http://schemas.openxmlformats.org/drawingml/2006/main">
              <a:ext uri="{FF2B5EF4-FFF2-40B4-BE49-F238E27FC236}">
                <a16:creationId xmlns:a16="http://schemas.microsoft.com/office/drawing/2014/main" id="{B5E97123-13D2-487B-8900-4EB60657BD32}"/>
              </a:ext>
            </a:extLst>
          </p:cNvPr>
          <p:cNvSpPr>
            <a:spLocks xmlns:a="http://schemas.openxmlformats.org/drawingml/2006/main" noGrp="1"/>
          </p:cNvSpPr>
          <p:nvPr/>
        </p:nvSpPr>
        <p:spPr>
          <a:xfrm xmlns:a="http://schemas.openxmlformats.org/drawingml/2006/main" flipV="0">
            <a:off x="3738563" y="2876550"/>
            <a:ext cx="0" cy="2038350"/>
          </a:xfrm>
          <a:prstGeom xmlns:a="http://schemas.openxmlformats.org/drawingml/2006/main" prst="line">
            <a:avLst/>
          </a:prstGeom>
          <a:noFill xmlns:a="http://schemas.openxmlformats.org/drawingml/2006/main"/>
          <a:ln xmlns:a="http://schemas.openxmlformats.org/drawingml/2006/main" w="28575">
            <a:solidFill>
              <a:srgbClr val="B64436"/>
            </a:solidFill>
          </a:ln>
        </p:spPr>
      </p:sp>
      <p:sp>
        <p:nvSpPr>
          <p:cNvPr id="7" name="">
            <a:extLst xmlns:a="http://schemas.openxmlformats.org/drawingml/2006/main">
              <a:ext uri="{FF2B5EF4-FFF2-40B4-BE49-F238E27FC236}">
                <a16:creationId xmlns:a16="http://schemas.microsoft.com/office/drawing/2014/main" id="{012DA6F0-708D-4021-9A07-2AEF9744CA3D}"/>
              </a:ext>
            </a:extLst>
          </p:cNvPr>
          <p:cNvSpPr>
            <a:spLocks xmlns:a="http://schemas.openxmlformats.org/drawingml/2006/main" noGrp="1"/>
          </p:cNvSpPr>
          <p:nvPr/>
        </p:nvSpPr>
        <p:spPr>
          <a:xfrm xmlns:a="http://schemas.openxmlformats.org/drawingml/2006/main" flipV="0">
            <a:off x="2076450" y="4876800"/>
            <a:ext cx="3276600" cy="0"/>
          </a:xfrm>
          <a:prstGeom xmlns:a="http://schemas.openxmlformats.org/drawingml/2006/main" prst="line">
            <a:avLst/>
          </a:prstGeom>
          <a:noFill xmlns:a="http://schemas.openxmlformats.org/drawingml/2006/main"/>
          <a:ln xmlns:a="http://schemas.openxmlformats.org/drawingml/2006/main" w="28575">
            <a:solidFill>
              <a:srgbClr val="B64436"/>
            </a:solidFill>
          </a:ln>
        </p:spPr>
      </p:sp>
      <p:graphicFrame>
        <p:nvGraphicFramePr>
          <p:cNvPr id="18" name="">
            <a:extLst xmlns:a="http://schemas.openxmlformats.org/drawingml/2006/main">
              <a:ext uri="{FF2B5EF4-FFF2-40B4-BE49-F238E27FC236}">
                <a16:creationId xmlns:a16="http://schemas.microsoft.com/office/drawing/2014/main" id="{88B7451F-ABCD-4429-9942-E8FA26B93A73}"/>
              </a:ext>
            </a:extLst>
          </p:cNvPr>
          <p:cNvGraphicFramePr/>
          <p:nvPr/>
        </p:nvGraphicFramePr>
        <p:xfrm>
          <a:off xmlns:a="http://schemas.openxmlformats.org/drawingml/2006/main" x="6667500" y="1943100"/>
          <a:ext xmlns:a="http://schemas.openxmlformats.org/drawingml/2006/main" cx="4762500" cy="3124200"/>
        </p:xfrm>
        <a:graphic xmlns:a="http://schemas.openxmlformats.org/drawingml/2006/main">
          <a:graphicData uri="http://schemas.openxmlformats.org/drawingml/2006/table">
            <a:tbl>
              <a:tblPr/>
              <a:tblGrid>
                <a:gridCol w="1190625"/>
                <a:gridCol w="1190625"/>
                <a:gridCol w="1190625"/>
                <a:gridCol w="1190625"/>
              </a:tblGrid>
              <a:tr h="781050">
                <a:tc>
                  <a:txBody>
                    <a:bodyPr/>
                    <a:lstStyle/>
                    <a:p>
                      <a:r>
                        <a:rPr sz="2550" b="1">
                          <a:solidFill>
                            <a:srgbClr val="FFFFFF"/>
                          </a:solidFill>
                          <a:latin typeface="Arial"/>
                          <a:ea typeface="Arial"/>
                          <a:cs typeface="Arial"/>
                        </a:rPr>
                        <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I</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B</a:t>
                      </a:r>
                    </a:p>
                  </a:txBody>
                  <a:tcPr marL="114300" marR="114300" marT="66675" marB="66675" anchor="ctr">
                    <a:solidFill>
                      <a:srgbClr val="173047"/>
                    </a:solidFill>
                  </a:tcPr>
                </a:tc>
              </a:tr>
              <a:tr h="781050">
                <a:tc>
                  <a:txBody>
                    <a:bodyPr/>
                    <a:lstStyle/>
                    <a:p>
                      <a:r>
                        <a:rPr sz="2550">
                          <a:solidFill>
                            <a:srgbClr val="173047"/>
                          </a:solidFill>
                          <a:latin typeface="Arial"/>
                          <a:ea typeface="Arial"/>
                          <a:cs typeface="Arial"/>
                        </a:rPr>
                        <a:t>S1</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c>
                  <a:txBody>
                    <a:bodyPr/>
                    <a:lstStyle/>
                    <a:p>
                      <a:pPr algn="ctr">
                        <a:buNone/>
                      </a:pPr>
                      <a:r>
                        <a:rPr sz="2550">
                          <a:solidFill>
                            <a:srgbClr val="173047"/>
                          </a:solidFill>
                          <a:latin typeface="Arial"/>
                          <a:ea typeface="Arial"/>
                          <a:cs typeface="Arial"/>
                        </a:rPr>
                        <a:t>1</a:t>
                      </a:r>
                    </a:p>
                  </a:txBody>
                  <a:tcPr marL="114300" marR="114300" marT="66675" marB="66675" anchor="ctr">
                    <a:solidFill>
                      <a:srgbClr val="FFFFFF"/>
                    </a:solidFill>
                  </a:tcPr>
                </a:tc>
              </a:tr>
              <a:tr h="781050">
                <a:tc>
                  <a:txBody>
                    <a:bodyPr/>
                    <a:lstStyle/>
                    <a:p>
                      <a:r>
                        <a:rPr sz="2550">
                          <a:solidFill>
                            <a:srgbClr val="173047"/>
                          </a:solidFill>
                          <a:latin typeface="Arial"/>
                          <a:ea typeface="Arial"/>
                          <a:cs typeface="Arial"/>
                        </a:rPr>
                        <a:t>S2</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4</a:t>
                      </a:r>
                    </a:p>
                  </a:txBody>
                  <a:tcPr marL="114300" marR="114300" marT="66675" marB="66675" anchor="ctr">
                    <a:solidFill>
                      <a:srgbClr val="FFFFFF"/>
                    </a:solidFill>
                  </a:tcPr>
                </a:tc>
              </a:tr>
              <a:tr h="781050">
                <a:tc>
                  <a:txBody>
                    <a:bodyPr/>
                    <a:lstStyle/>
                    <a:p>
                      <a:r>
                        <a:rPr sz="2550">
                          <a:solidFill>
                            <a:srgbClr val="173047"/>
                          </a:solidFill>
                          <a:latin typeface="Arial"/>
                          <a:ea typeface="Arial"/>
                          <a:cs typeface="Arial"/>
                        </a:rPr>
                        <a:t>S3</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r>
            </a:tbl>
          </a:graphicData>
        </a:graphic>
      </p:graphicFrame>
      <p:sp>
        <p:nvSpPr>
          <p:cNvPr id="9" name="">
            <a:extLst xmlns:a="http://schemas.openxmlformats.org/drawingml/2006/main">
              <a:ext uri="{FF2B5EF4-FFF2-40B4-BE49-F238E27FC236}">
                <a16:creationId xmlns:a16="http://schemas.microsoft.com/office/drawing/2014/main" id="{3AFDD372-6FB4-45E8-A978-A41CC398F8E5}"/>
              </a:ext>
            </a:extLst>
          </p:cNvPr>
          <p:cNvSpPr>
            <a:spLocks xmlns:a="http://schemas.openxmlformats.org/drawingml/2006/main" noGrp="1"/>
          </p:cNvSpPr>
          <p:nvPr/>
        </p:nvSpPr>
        <p:spPr>
          <a:xfrm xmlns:a="http://schemas.openxmlformats.org/drawingml/2006/main">
            <a:off x="762000" y="5238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Arial"/>
                <a:ea typeface="Arial"/>
                <a:cs typeface="Arial"/>
              </a:defRPr>
            </a:pPr>
            <a:r>
              <a:rPr sz="2175" b="0">
                <a:solidFill>
                  <a:srgbClr val="173047"/>
                </a:solidFill>
                <a:latin typeface="Arial"/>
                <a:ea typeface="Arial"/>
                <a:cs typeface="Arial"/>
              </a:rPr>
              <a:t>Непокриті: −1. Перетин S3,A: +1. Одноразово покриті: без змін.</a:t>
            </a:r>
          </a:p>
        </p:txBody>
      </p:sp>
      <p:sp>
        <p:nvSpPr>
          <p:cNvPr id="10" name="">
            <a:extLst xmlns:a="http://schemas.openxmlformats.org/drawingml/2006/main">
              <a:ext uri="{FF2B5EF4-FFF2-40B4-BE49-F238E27FC236}">
                <a16:creationId xmlns:a16="http://schemas.microsoft.com/office/drawing/2014/main" id="{323FAF4D-268E-4044-951A-2146DDD45529}"/>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77</a:t>
            </a:r>
          </a:p>
        </p:txBody>
      </p:sp>
    </p:spTree>
    <p:extLst>
      <p:ext uri="{BB962C8B-B14F-4D97-AF65-F5344CB8AC3E}">
        <p14:creationId xmlns:p14="http://schemas.microsoft.com/office/powerpoint/2010/main" val="130284366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041D5B-67FF-4F7E-863D-B79186D54C90}"/>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Приклад 2</a:t>
            </a:r>
            <a:r>
              <a:rPr sz="3000" b="1">
                <a:solidFill>
                  <a:srgbClr val="173047"/>
                </a:solidFill>
                <a:latin typeface="Arial"/>
                <a:ea typeface="Arial"/>
                <a:cs typeface="Arial"/>
              </a:rPr>
              <a:t>: корекція створила потрібні нулі</a:t>
            </a:r>
          </a:p>
        </p:txBody>
      </p:sp>
      <p:sp>
        <p:nvSpPr>
          <p:cNvPr id="2" name="">
            <a:extLst xmlns:a="http://schemas.openxmlformats.org/drawingml/2006/main">
              <a:ext uri="{FF2B5EF4-FFF2-40B4-BE49-F238E27FC236}">
                <a16:creationId xmlns:a16="http://schemas.microsoft.com/office/drawing/2014/main" id="{B294D3A8-FA23-4AC2-8BF3-7CA777FEAC1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S1→A,S2→I,S3→B; за початковими цінами C=1+3+2=6.</a:t>
            </a:r>
          </a:p>
        </p:txBody>
      </p:sp>
      <p:graphicFrame>
        <p:nvGraphicFramePr>
          <p:cNvPr id="13" name="">
            <a:extLst xmlns:a="http://schemas.openxmlformats.org/drawingml/2006/main">
              <a:ext uri="{FF2B5EF4-FFF2-40B4-BE49-F238E27FC236}">
                <a16:creationId xmlns:a16="http://schemas.microsoft.com/office/drawing/2014/main" id="{C17890AE-3FAA-4E3D-9B1F-69A6B70E5D1B}"/>
              </a:ext>
            </a:extLst>
          </p:cNvPr>
          <p:cNvGraphicFramePr/>
          <p:nvPr/>
        </p:nvGraphicFramePr>
        <p:xfrm>
          <a:off xmlns:a="http://schemas.openxmlformats.org/drawingml/2006/main" x="762000" y="1647825"/>
          <a:ext xmlns:a="http://schemas.openxmlformats.org/drawingml/2006/main" cx="10668000" cy="3105150"/>
        </p:xfrm>
        <a:graphic xmlns:a="http://schemas.openxmlformats.org/drawingml/2006/main">
          <a:graphicData uri="http://schemas.openxmlformats.org/drawingml/2006/table">
            <a:tbl>
              <a:tblPr/>
              <a:tblGrid>
                <a:gridCol w="2667000"/>
                <a:gridCol w="2667000"/>
                <a:gridCol w="2667000"/>
                <a:gridCol w="2667000"/>
              </a:tblGrid>
              <a:tr h="776288">
                <a:tc>
                  <a:txBody>
                    <a:bodyPr/>
                    <a:lstStyle/>
                    <a:p>
                      <a:r>
                        <a:rPr sz="2550" b="1">
                          <a:solidFill>
                            <a:srgbClr val="FFFFFF"/>
                          </a:solidFill>
                          <a:latin typeface="Arial"/>
                          <a:ea typeface="Arial"/>
                          <a:cs typeface="Arial"/>
                        </a:rPr>
                        <a:t>Вузол</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I</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A</a:t>
                      </a:r>
                    </a:p>
                  </a:txBody>
                  <a:tcPr marL="114300" marR="114300" marT="66675" marB="66675" anchor="ctr">
                    <a:solidFill>
                      <a:srgbClr val="173047"/>
                    </a:solidFill>
                  </a:tcPr>
                </a:tc>
                <a:tc>
                  <a:txBody>
                    <a:bodyPr/>
                    <a:lstStyle/>
                    <a:p>
                      <a:r>
                        <a:rPr sz="2550" b="1">
                          <a:solidFill>
                            <a:srgbClr val="FFFFFF"/>
                          </a:solidFill>
                          <a:latin typeface="Arial"/>
                          <a:ea typeface="Arial"/>
                          <a:cs typeface="Arial"/>
                        </a:rPr>
                        <a:t>B</a:t>
                      </a:r>
                    </a:p>
                  </a:txBody>
                  <a:tcPr marL="114300" marR="114300" marT="66675" marB="66675" anchor="ctr">
                    <a:solidFill>
                      <a:srgbClr val="173047"/>
                    </a:solidFill>
                  </a:tcPr>
                </a:tc>
              </a:tr>
              <a:tr h="776288">
                <a:tc>
                  <a:txBody>
                    <a:bodyPr/>
                    <a:lstStyle/>
                    <a:p>
                      <a:r>
                        <a:rPr sz="2550">
                          <a:solidFill>
                            <a:srgbClr val="173047"/>
                          </a:solidFill>
                          <a:latin typeface="Arial"/>
                          <a:ea typeface="Arial"/>
                          <a:cs typeface="Arial"/>
                        </a:rPr>
                        <a:t>S1</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c>
                  <a:txBody>
                    <a:bodyPr/>
                    <a:lstStyle/>
                    <a:p>
                      <a:pPr algn="ctr">
                        <a:buNone/>
                      </a:pPr>
                      <a:r>
                        <a:rPr sz="2550">
                          <a:solidFill>
                            <a:srgbClr val="173047"/>
                          </a:solidFill>
                          <a:latin typeface="Arial"/>
                          <a:ea typeface="Arial"/>
                          <a:cs typeface="Arial"/>
                        </a:rPr>
                        <a:t>1</a:t>
                      </a:r>
                    </a:p>
                  </a:txBody>
                  <a:tcPr marL="114300" marR="114300" marT="66675" marB="66675" anchor="ctr">
                    <a:solidFill>
                      <a:srgbClr val="FFFFFF"/>
                    </a:solidFill>
                  </a:tcPr>
                </a:tc>
              </a:tr>
              <a:tr h="776288">
                <a:tc>
                  <a:txBody>
                    <a:bodyPr/>
                    <a:lstStyle/>
                    <a:p>
                      <a:r>
                        <a:rPr sz="2550">
                          <a:solidFill>
                            <a:srgbClr val="173047"/>
                          </a:solidFill>
                          <a:latin typeface="Arial"/>
                          <a:ea typeface="Arial"/>
                          <a:cs typeface="Arial"/>
                        </a:rPr>
                        <a:t>S2</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4</a:t>
                      </a:r>
                    </a:p>
                  </a:txBody>
                  <a:tcPr marL="114300" marR="114300" marT="66675" marB="66675" anchor="ctr">
                    <a:solidFill>
                      <a:srgbClr val="FFFFFF"/>
                    </a:solidFill>
                  </a:tcPr>
                </a:tc>
              </a:tr>
              <a:tr h="776288">
                <a:tc>
                  <a:txBody>
                    <a:bodyPr/>
                    <a:lstStyle/>
                    <a:p>
                      <a:r>
                        <a:rPr sz="2550">
                          <a:solidFill>
                            <a:srgbClr val="173047"/>
                          </a:solidFill>
                          <a:latin typeface="Arial"/>
                          <a:ea typeface="Arial"/>
                          <a:cs typeface="Arial"/>
                        </a:rPr>
                        <a:t>S3</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0</a:t>
                      </a:r>
                    </a:p>
                  </a:txBody>
                  <a:tcPr marL="114300" marR="114300" marT="66675" marB="66675" anchor="ctr">
                    <a:solidFill>
                      <a:srgbClr val="FFFFFF"/>
                    </a:solidFill>
                  </a:tcPr>
                </a:tc>
                <a:tc>
                  <a:txBody>
                    <a:bodyPr/>
                    <a:lstStyle/>
                    <a:p>
                      <a:pPr algn="ctr">
                        <a:buNone/>
                      </a:pPr>
                      <a:r>
                        <a:rPr sz="2550">
                          <a:solidFill>
                            <a:srgbClr val="173047"/>
                          </a:solidFill>
                          <a:latin typeface="Arial"/>
                          <a:ea typeface="Arial"/>
                          <a:cs typeface="Arial"/>
                        </a:rPr>
                        <a:t>1</a:t>
                      </a:r>
                    </a:p>
                  </a:txBody>
                  <a:tcPr marL="114300" marR="114300" marT="66675" marB="66675" anchor="ctr">
                    <a:solidFill>
                      <a:srgbClr val="FFFFFF"/>
                    </a:solidFill>
                  </a:tcPr>
                </a:tc>
                <a:tc>
                  <a:txBody>
                    <a:bodyPr/>
                    <a:lstStyle/>
                    <a:p>
                      <a:pPr algn="ctr">
                        <a:buNone/>
                      </a:pPr>
                      <a:r>
                        <a:rPr sz="2400" b="1">
                          <a:solidFill>
                            <a:srgbClr val="00857D"/>
                          </a:solidFill>
                          <a:latin typeface="Arial"/>
                          <a:ea typeface="Arial"/>
                          <a:cs typeface="Arial"/>
                        </a:rPr>
                        <a:t>0</a:t>
                      </a:r>
                    </a:p>
                  </a:txBody>
                  <a:tcPr marL="114300" marR="114300" marT="66675" marB="66675" anchor="ctr">
                    <a:solidFill>
                      <a:srgbClr val="D6F0E9"/>
                    </a:solidFill>
                  </a:tcPr>
                </a:tc>
              </a:tr>
            </a:tbl>
          </a:graphicData>
        </a:graphic>
      </p:graphicFrame>
      <p:sp>
        <p:nvSpPr>
          <p:cNvPr id="4" name="">
            <a:extLst xmlns:a="http://schemas.openxmlformats.org/drawingml/2006/main">
              <a:ext uri="{FF2B5EF4-FFF2-40B4-BE49-F238E27FC236}">
                <a16:creationId xmlns:a16="http://schemas.microsoft.com/office/drawing/2014/main" id="{0F458C97-F673-4693-AC0B-F1B2D26B0B86}"/>
              </a:ext>
            </a:extLst>
          </p:cNvPr>
          <p:cNvSpPr>
            <a:spLocks xmlns:a="http://schemas.openxmlformats.org/drawingml/2006/main" noGrp="1"/>
          </p:cNvSpPr>
          <p:nvPr/>
        </p:nvSpPr>
        <p:spPr>
          <a:xfrm xmlns:a="http://schemas.openxmlformats.org/drawingml/2006/main">
            <a:off x="6953250" y="2557463"/>
            <a:ext cx="952500" cy="504825"/>
          </a:xfrm>
          <a:prstGeom xmlns:a="http://schemas.openxmlformats.org/drawingml/2006/main" prst="ellipse">
            <a:avLst/>
          </a:prstGeom>
          <a:noFill xmlns:a="http://schemas.openxmlformats.org/drawingml/2006/main"/>
          <a:ln xmlns:a="http://schemas.openxmlformats.org/drawingml/2006/main" w="14288">
            <a:solidFill>
              <a:srgbClr val="00857D"/>
            </a:solidFill>
          </a:ln>
        </p:spPr>
      </p:sp>
      <p:sp>
        <p:nvSpPr>
          <p:cNvPr id="5" name="">
            <a:extLst xmlns:a="http://schemas.openxmlformats.org/drawingml/2006/main">
              <a:ext uri="{FF2B5EF4-FFF2-40B4-BE49-F238E27FC236}">
                <a16:creationId xmlns:a16="http://schemas.microsoft.com/office/drawing/2014/main" id="{81EBB3DB-C19A-41C8-8B53-824A4F8B0057}"/>
              </a:ext>
            </a:extLst>
          </p:cNvPr>
          <p:cNvSpPr>
            <a:spLocks xmlns:a="http://schemas.openxmlformats.org/drawingml/2006/main" noGrp="1"/>
          </p:cNvSpPr>
          <p:nvPr/>
        </p:nvSpPr>
        <p:spPr>
          <a:xfrm xmlns:a="http://schemas.openxmlformats.org/drawingml/2006/main">
            <a:off x="4286250" y="3333750"/>
            <a:ext cx="952500" cy="504825"/>
          </a:xfrm>
          <a:prstGeom xmlns:a="http://schemas.openxmlformats.org/drawingml/2006/main" prst="ellipse">
            <a:avLst/>
          </a:prstGeom>
          <a:noFill xmlns:a="http://schemas.openxmlformats.org/drawingml/2006/main"/>
          <a:ln xmlns:a="http://schemas.openxmlformats.org/drawingml/2006/main" w="14288">
            <a:solidFill>
              <a:srgbClr val="00857D"/>
            </a:solidFill>
          </a:ln>
        </p:spPr>
      </p:sp>
      <p:sp>
        <p:nvSpPr>
          <p:cNvPr id="6" name="">
            <a:extLst xmlns:a="http://schemas.openxmlformats.org/drawingml/2006/main">
              <a:ext uri="{FF2B5EF4-FFF2-40B4-BE49-F238E27FC236}">
                <a16:creationId xmlns:a16="http://schemas.microsoft.com/office/drawing/2014/main" id="{F7975E91-E4D0-4ACB-BF5D-9FF869229B66}"/>
              </a:ext>
            </a:extLst>
          </p:cNvPr>
          <p:cNvSpPr>
            <a:spLocks xmlns:a="http://schemas.openxmlformats.org/drawingml/2006/main" noGrp="1"/>
          </p:cNvSpPr>
          <p:nvPr/>
        </p:nvSpPr>
        <p:spPr>
          <a:xfrm xmlns:a="http://schemas.openxmlformats.org/drawingml/2006/main">
            <a:off x="9620250" y="4110038"/>
            <a:ext cx="952500" cy="504825"/>
          </a:xfrm>
          <a:prstGeom xmlns:a="http://schemas.openxmlformats.org/drawingml/2006/main" prst="ellipse">
            <a:avLst/>
          </a:prstGeom>
          <a:noFill xmlns:a="http://schemas.openxmlformats.org/drawingml/2006/main"/>
          <a:ln xmlns:a="http://schemas.openxmlformats.org/drawingml/2006/main" w="14288">
            <a:solidFill>
              <a:srgbClr val="00857D"/>
            </a:solidFill>
          </a:ln>
        </p:spPr>
      </p:sp>
      <p:sp>
        <p:nvSpPr>
          <p:cNvPr id="10" name="">
            <a:extLst xmlns:a="http://schemas.openxmlformats.org/drawingml/2006/main">
              <a:ext uri="{FF2B5EF4-FFF2-40B4-BE49-F238E27FC236}">
                <a16:creationId xmlns:a16="http://schemas.microsoft.com/office/drawing/2014/main" id="{C13D3DDE-1A41-46D6-85ED-000D9F5F753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78</a:t>
            </a:r>
          </a:p>
        </p:txBody>
      </p:sp>
    </p:spTree>
    <p:extLst>
      <p:ext uri="{BB962C8B-B14F-4D97-AF65-F5344CB8AC3E}">
        <p14:creationId xmlns:p14="http://schemas.microsoft.com/office/powerpoint/2010/main" val="199796433"/>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F3C8CA-BD8B-4360-9BB7-D05FB4EF12FF}"/>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Приклад 2: фактична траса корекції</a:t>
            </a:r>
          </a:p>
        </p:txBody>
      </p:sp>
      <p:sp>
        <p:nvSpPr>
          <p:cNvPr id="2" name="">
            <a:extLst xmlns:a="http://schemas.openxmlformats.org/drawingml/2006/main">
              <a:ext uri="{FF2B5EF4-FFF2-40B4-BE49-F238E27FC236}">
                <a16:creationId xmlns:a16="http://schemas.microsoft.com/office/drawing/2014/main" id="{38A3BD37-57C1-43E0-A421-83CB64920DB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Ітерація 0</a:t>
            </a:r>
            <a:r>
              <a:rPr sz="2100" b="1">
                <a:solidFill>
                  <a:srgbClr val="00857D"/>
                </a:solidFill>
                <a:latin typeface="Arial"/>
                <a:ea typeface="Arial"/>
                <a:cs typeface="Arial"/>
              </a:rPr>
              <a:t>: пари бракує. Після δ=1 </a:t>
            </a:r>
            <a:r>
              <a:rPr sz="2100" b="1">
                <a:solidFill>
                  <a:srgbClr val="00857D"/>
                </a:solidFill>
                <a:latin typeface="Arial"/>
                <a:ea typeface="Arial"/>
                <a:cs typeface="Arial"/>
              </a:rPr>
              <a:t>ітерація 1</a:t>
            </a:r>
            <a:r>
              <a:rPr sz="2100" b="1">
                <a:solidFill>
                  <a:srgbClr val="00857D"/>
                </a:solidFill>
                <a:latin typeface="Arial"/>
                <a:ea typeface="Arial"/>
                <a:cs typeface="Arial"/>
              </a:rPr>
              <a:t> дає три пари.</a:t>
            </a:r>
          </a:p>
        </p:txBody>
      </p:sp>
      <p:sp>
        <p:nvSpPr>
          <p:cNvPr id="3" name="">
            <a:extLst xmlns:a="http://schemas.openxmlformats.org/drawingml/2006/main">
              <a:ext uri="{FF2B5EF4-FFF2-40B4-BE49-F238E27FC236}">
                <a16:creationId xmlns:a16="http://schemas.microsoft.com/office/drawing/2014/main" id="{6923B3BF-16F1-4DC9-AEFE-AE1310187277}"/>
              </a:ext>
            </a:extLst>
          </p:cNvPr>
          <p:cNvSpPr>
            <a:spLocks xmlns:a="http://schemas.openxmlformats.org/drawingml/2006/main" noGrp="1"/>
          </p:cNvSpPr>
          <p:nvPr/>
        </p:nvSpPr>
        <p:spPr>
          <a:xfrm xmlns:a="http://schemas.openxmlformats.org/drawingml/2006/main">
            <a:off x="762000" y="1504950"/>
            <a:ext cx="10668000" cy="323850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06E53A-B88F-4B34-AF8F-F979202D481A}"/>
              </a:ext>
            </a:extLst>
          </p:cNvPr>
          <p:cNvSpPr>
            <a:spLocks xmlns:a="http://schemas.openxmlformats.org/drawingml/2006/main" noGrp="1"/>
          </p:cNvSpPr>
          <p:nvPr/>
        </p:nvSpPr>
        <p:spPr>
          <a:xfrm xmlns:a="http://schemas.openxmlformats.org/drawingml/2006/main">
            <a:off x="933450" y="1600200"/>
            <a:ext cx="103251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Ітерація 0: повне призначення ще не знайдено</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Покриття: рядок S3, стовпець A; δ=1</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Після корекції:</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[1,0,1]</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[0,0,4]</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[0,1,0]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Ітерація 1: пари S1→A,S2→I,S3→B; C=6</a:t>
            </a:r>
          </a:p>
        </p:txBody>
      </p:sp>
      <p:sp>
        <p:nvSpPr>
          <p:cNvPr id="5" name="">
            <a:extLst xmlns:a="http://schemas.openxmlformats.org/drawingml/2006/main">
              <a:ext uri="{FF2B5EF4-FFF2-40B4-BE49-F238E27FC236}">
                <a16:creationId xmlns:a16="http://schemas.microsoft.com/office/drawing/2014/main" id="{C1763A0F-40F3-4837-90F7-AE9D2B4327A0}"/>
              </a:ext>
            </a:extLst>
          </p:cNvPr>
          <p:cNvSpPr>
            <a:spLocks xmlns:a="http://schemas.openxmlformats.org/drawingml/2006/main" noGrp="1"/>
          </p:cNvSpPr>
          <p:nvPr/>
        </p:nvSpPr>
        <p:spPr>
          <a:xfrm xmlns:a="http://schemas.openxmlformats.org/drawingml/2006/main">
            <a:off x="762000" y="49815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0">
                <a:solidFill>
                  <a:srgbClr val="173047"/>
                </a:solidFill>
                <a:latin typeface="Arial"/>
                <a:ea typeface="Arial"/>
                <a:cs typeface="Arial"/>
              </a:defRPr>
            </a:pPr>
            <a:r>
              <a:rPr sz="2100" b="0">
                <a:solidFill>
                  <a:srgbClr val="173047"/>
                </a:solidFill>
                <a:latin typeface="Arial"/>
                <a:ea typeface="Arial"/>
                <a:cs typeface="Arial"/>
              </a:rPr>
              <a:t>Скорочений фрагмент фактичного stdout; назви відповідають індексам матриці.</a:t>
            </a:r>
          </a:p>
        </p:txBody>
      </p:sp>
      <p:sp>
        <p:nvSpPr>
          <p:cNvPr id="6" name="">
            <a:extLst xmlns:a="http://schemas.openxmlformats.org/drawingml/2006/main">
              <a:ext uri="{FF2B5EF4-FFF2-40B4-BE49-F238E27FC236}">
                <a16:creationId xmlns:a16="http://schemas.microsoft.com/office/drawing/2014/main" id="{73EDF94C-F3F3-4435-9866-ECC7B5CABA5C}"/>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9" name="">
            <a:extLst xmlns:a="http://schemas.openxmlformats.org/drawingml/2006/main">
              <a:ext uri="{FF2B5EF4-FFF2-40B4-BE49-F238E27FC236}">
                <a16:creationId xmlns:a16="http://schemas.microsoft.com/office/drawing/2014/main" id="{85FF666E-3CA2-4B35-A968-A10B59166E8E}"/>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79</a:t>
            </a:r>
          </a:p>
        </p:txBody>
      </p:sp>
    </p:spTree>
    <p:extLst>
      <p:ext uri="{BB962C8B-B14F-4D97-AF65-F5344CB8AC3E}">
        <p14:creationId xmlns:p14="http://schemas.microsoft.com/office/powerpoint/2010/main" val="531231645"/>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E9B4DB-1E51-4FF8-A529-45D10CBBC0C2}"/>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linear_sum_assignment: повна функція</a:t>
            </a:r>
          </a:p>
        </p:txBody>
      </p:sp>
      <p:sp>
        <p:nvSpPr>
          <p:cNvPr id="2" name="">
            <a:extLst xmlns:a="http://schemas.openxmlformats.org/drawingml/2006/main">
              <a:ext uri="{FF2B5EF4-FFF2-40B4-BE49-F238E27FC236}">
                <a16:creationId xmlns:a16="http://schemas.microsoft.com/office/drawing/2014/main" id="{2A5D85B8-C37F-4671-BACF-39CC41429DD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Прямокутна матриця дає min(m,n) пар; індекси повертаються від нуля.</a:t>
            </a:r>
          </a:p>
        </p:txBody>
      </p:sp>
      <p:sp>
        <p:nvSpPr>
          <p:cNvPr id="3" name="">
            <a:extLst xmlns:a="http://schemas.openxmlformats.org/drawingml/2006/main">
              <a:ext uri="{FF2B5EF4-FFF2-40B4-BE49-F238E27FC236}">
                <a16:creationId xmlns:a16="http://schemas.microsoft.com/office/drawing/2014/main" id="{8C63EB32-27FF-467C-B904-76EF359F7D6D}"/>
              </a:ext>
            </a:extLst>
          </p:cNvPr>
          <p:cNvSpPr>
            <a:spLocks xmlns:a="http://schemas.openxmlformats.org/drawingml/2006/main" noGrp="1"/>
          </p:cNvSpPr>
          <p:nvPr/>
        </p:nvSpPr>
        <p:spPr>
          <a:xfrm xmlns:a="http://schemas.openxmlformats.org/drawingml/2006/main">
            <a:off x="762000" y="1476375"/>
            <a:ext cx="10668000" cy="103251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7000F4-7FEA-440B-A478-959637165B98}"/>
              </a:ext>
            </a:extLst>
          </p:cNvPr>
          <p:cNvSpPr>
            <a:spLocks xmlns:a="http://schemas.openxmlformats.org/drawingml/2006/main" noGrp="1"/>
          </p:cNvSpPr>
          <p:nvPr/>
        </p:nvSpPr>
        <p:spPr>
          <a:xfrm xmlns:a="http://schemas.openxmlformats.org/drawingml/2006/main">
            <a:off x="952500" y="1609725"/>
            <a:ext cx="1028700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rows, cols = linear_sum_assignment(</a:t>
            </a:r>
          </a:p>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    cost_matrix, maximize=False)</a:t>
            </a:r>
          </a:p>
        </p:txBody>
      </p:sp>
      <p:graphicFrame>
        <p:nvGraphicFramePr>
          <p:cNvPr id="15" name="">
            <a:extLst xmlns:a="http://schemas.openxmlformats.org/drawingml/2006/main">
              <a:ext uri="{FF2B5EF4-FFF2-40B4-BE49-F238E27FC236}">
                <a16:creationId xmlns:a16="http://schemas.microsoft.com/office/drawing/2014/main" id="{86B46D71-2FDE-400D-B317-40ECBA7E23AF}"/>
              </a:ext>
            </a:extLst>
          </p:cNvPr>
          <p:cNvGraphicFramePr/>
          <p:nvPr/>
        </p:nvGraphicFramePr>
        <p:xfrm>
          <a:off xmlns:a="http://schemas.openxmlformats.org/drawingml/2006/main" x="762000" y="2771775"/>
          <a:ext xmlns:a="http://schemas.openxmlformats.org/drawingml/2006/main" cx="10668000" cy="2886075"/>
        </p:xfrm>
        <a:graphic xmlns:a="http://schemas.openxmlformats.org/drawingml/2006/main">
          <a:graphicData uri="http://schemas.openxmlformats.org/drawingml/2006/table">
            <a:tbl>
              <a:tblPr/>
              <a:tblGrid>
                <a:gridCol w="4667250"/>
                <a:gridCol w="6000750"/>
              </a:tblGrid>
              <a:tr h="577215">
                <a:tc>
                  <a:txBody>
                    <a:bodyPr/>
                    <a:lstStyle/>
                    <a:p>
                      <a:r>
                        <a:rPr sz="2100" b="1">
                          <a:solidFill>
                            <a:srgbClr val="FFFFFF"/>
                          </a:solidFill>
                          <a:latin typeface="Arial"/>
                          <a:ea typeface="Arial"/>
                          <a:cs typeface="Arial"/>
                        </a:rPr>
                        <a:t>Аргумент / результат</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Що означає</a:t>
                      </a:r>
                    </a:p>
                  </a:txBody>
                  <a:tcPr marL="114300" marR="114300" marT="66675" marB="66675" anchor="ctr">
                    <a:solidFill>
                      <a:srgbClr val="173047"/>
                    </a:solidFill>
                  </a:tcPr>
                </a:tc>
              </a:tr>
              <a:tr h="577215">
                <a:tc>
                  <a:txBody>
                    <a:bodyPr/>
                    <a:lstStyle/>
                    <a:p>
                      <a:r>
                        <a:rPr sz="2100">
                          <a:solidFill>
                            <a:srgbClr val="173047"/>
                          </a:solidFill>
                          <a:latin typeface="Arial"/>
                          <a:ea typeface="Arial"/>
                          <a:cs typeface="Arial"/>
                        </a:rPr>
                        <a:t>cost_matrix</a:t>
                      </a:r>
                    </a:p>
                  </a:txBody>
                  <a:tcPr marL="114300" marR="114300" marT="66675" marB="66675" anchor="ctr">
                    <a:solidFill>
                      <a:srgbClr val="FFFFFF"/>
                    </a:solidFill>
                  </a:tcPr>
                </a:tc>
                <a:tc>
                  <a:txBody>
                    <a:bodyPr/>
                    <a:lstStyle/>
                    <a:p>
                      <a:r>
                        <a:rPr sz="2100">
                          <a:solidFill>
                            <a:srgbClr val="173047"/>
                          </a:solidFill>
                          <a:latin typeface="Arial"/>
                          <a:ea typeface="Arial"/>
                          <a:cs typeface="Arial"/>
                        </a:rPr>
                        <a:t>Рядки: сервери; стовпці: завдання</a:t>
                      </a:r>
                    </a:p>
                  </a:txBody>
                  <a:tcPr marL="114300" marR="114300" marT="66675" marB="66675" anchor="ctr">
                    <a:solidFill>
                      <a:srgbClr val="FFFFFF"/>
                    </a:solidFill>
                  </a:tcPr>
                </a:tc>
              </a:tr>
              <a:tr h="577215">
                <a:tc>
                  <a:txBody>
                    <a:bodyPr/>
                    <a:lstStyle/>
                    <a:p>
                      <a:r>
                        <a:rPr sz="2100">
                          <a:solidFill>
                            <a:srgbClr val="173047"/>
                          </a:solidFill>
                          <a:latin typeface="Arial"/>
                          <a:ea typeface="Arial"/>
                          <a:cs typeface="Arial"/>
                        </a:rPr>
                        <a:t>maximize=False</a:t>
                      </a:r>
                    </a:p>
                  </a:txBody>
                  <a:tcPr marL="114300" marR="114300" marT="66675" marB="66675" anchor="ctr">
                    <a:solidFill>
                      <a:srgbClr val="FFFFFF"/>
                    </a:solidFill>
                  </a:tcPr>
                </a:tc>
                <a:tc>
                  <a:txBody>
                    <a:bodyPr/>
                    <a:lstStyle/>
                    <a:p>
                      <a:r>
                        <a:rPr sz="2100">
                          <a:solidFill>
                            <a:srgbClr val="173047"/>
                          </a:solidFill>
                          <a:latin typeface="Arial"/>
                          <a:ea typeface="Arial"/>
                          <a:cs typeface="Arial"/>
                        </a:rPr>
                        <a:t>False — мінімум; True — максимум</a:t>
                      </a:r>
                    </a:p>
                  </a:txBody>
                  <a:tcPr marL="114300" marR="114300" marT="66675" marB="66675" anchor="ctr">
                    <a:solidFill>
                      <a:srgbClr val="FFFFFF"/>
                    </a:solidFill>
                  </a:tcPr>
                </a:tc>
              </a:tr>
              <a:tr h="577215">
                <a:tc>
                  <a:txBody>
                    <a:bodyPr/>
                    <a:lstStyle/>
                    <a:p>
                      <a:r>
                        <a:rPr sz="2100">
                          <a:solidFill>
                            <a:srgbClr val="173047"/>
                          </a:solidFill>
                          <a:latin typeface="Arial"/>
                          <a:ea typeface="Arial"/>
                          <a:cs typeface="Arial"/>
                        </a:rPr>
                        <a:t>rows, cols</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Відповідні індекси вибраних пар</a:t>
                      </a:r>
                    </a:p>
                  </a:txBody>
                  <a:tcPr marL="114300" marR="114300" marT="66675" marB="66675" anchor="ctr">
                    <a:solidFill>
                      <a:srgbClr val="FFFFFF"/>
                    </a:solidFill>
                  </a:tcPr>
                </a:tc>
              </a:tr>
              <a:tr h="577215">
                <a:tc>
                  <a:txBody>
                    <a:bodyPr/>
                    <a:lstStyle/>
                    <a:p>
                      <a:r>
                        <a:rPr sz="2100">
                          <a:solidFill>
                            <a:srgbClr val="173047"/>
                          </a:solidFill>
                          <a:latin typeface="Arial"/>
                          <a:ea typeface="Arial"/>
                          <a:cs typeface="Arial"/>
                        </a:rPr>
                        <a:t>cost_matrix[rows,cols]</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Вибрані вартості; .sum() дає їхню суму</a:t>
                      </a:r>
                    </a:p>
                  </a:txBody>
                  <a:tcPr marL="114300" marR="114300" marT="66675"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E5F594D-D969-4087-8366-C64390950D22}"/>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10" name="">
            <a:extLst xmlns:a="http://schemas.openxmlformats.org/drawingml/2006/main">
              <a:ext uri="{FF2B5EF4-FFF2-40B4-BE49-F238E27FC236}">
                <a16:creationId xmlns:a16="http://schemas.microsoft.com/office/drawing/2014/main" id="{F725FF37-A11A-424F-B59A-156BCAD629E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80</a:t>
            </a:r>
          </a:p>
        </p:txBody>
      </p:sp>
    </p:spTree>
    <p:extLst>
      <p:ext uri="{BB962C8B-B14F-4D97-AF65-F5344CB8AC3E}">
        <p14:creationId xmlns:p14="http://schemas.microsoft.com/office/powerpoint/2010/main" val="1945214658"/>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9D813E-2961-4B6C-86CF-2969B023E148}"/>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Призначення: матриця витрат і виклик</a:t>
            </a:r>
          </a:p>
        </p:txBody>
      </p:sp>
      <p:sp>
        <p:nvSpPr>
          <p:cNvPr id="2" name="">
            <a:extLst xmlns:a="http://schemas.openxmlformats.org/drawingml/2006/main">
              <a:ext uri="{FF2B5EF4-FFF2-40B4-BE49-F238E27FC236}">
                <a16:creationId xmlns:a16="http://schemas.microsoft.com/office/drawing/2014/main" id="{01BC1FB2-CAE6-44B2-AF4B-6F4D42EDF26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Рядки S1,S2,S3; стовпці I,A,B.</a:t>
            </a:r>
          </a:p>
        </p:txBody>
      </p:sp>
      <p:sp>
        <p:nvSpPr>
          <p:cNvPr id="3" name="">
            <a:extLst xmlns:a="http://schemas.openxmlformats.org/drawingml/2006/main">
              <a:ext uri="{FF2B5EF4-FFF2-40B4-BE49-F238E27FC236}">
                <a16:creationId xmlns:a16="http://schemas.microsoft.com/office/drawing/2014/main" id="{5E7885C7-F8B8-4DD6-873D-D74A0EFFA952}"/>
              </a:ext>
            </a:extLst>
          </p:cNvPr>
          <p:cNvSpPr>
            <a:spLocks xmlns:a="http://schemas.openxmlformats.org/drawingml/2006/main" noGrp="1"/>
          </p:cNvSpPr>
          <p:nvPr/>
        </p:nvSpPr>
        <p:spPr>
          <a:xfrm xmlns:a="http://schemas.openxmlformats.org/drawingml/2006/main">
            <a:off x="762000" y="1676400"/>
            <a:ext cx="10668000" cy="19812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AAE880-BF58-447A-A467-1D8AAF5FDAAF}"/>
              </a:ext>
            </a:extLst>
          </p:cNvPr>
          <p:cNvSpPr>
            <a:spLocks xmlns:a="http://schemas.openxmlformats.org/drawingml/2006/main" noGrp="1"/>
          </p:cNvSpPr>
          <p:nvPr/>
        </p:nvSpPr>
        <p:spPr>
          <a:xfrm xmlns:a="http://schemas.openxmlformats.org/drawingml/2006/main">
            <a:off x="952500" y="18097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import numpy as np</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from scipy.optimize import linear_sum_assignment</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cost = np.array([[4,1,7],[2,6,5],[8,3,2]])</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rows, cols = linear_sum_assignment(cost)</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print(rows); print(cols)</a:t>
            </a:r>
          </a:p>
        </p:txBody>
      </p:sp>
      <p:sp>
        <p:nvSpPr>
          <p:cNvPr id="5" name="">
            <a:extLst xmlns:a="http://schemas.openxmlformats.org/drawingml/2006/main">
              <a:ext uri="{FF2B5EF4-FFF2-40B4-BE49-F238E27FC236}">
                <a16:creationId xmlns:a16="http://schemas.microsoft.com/office/drawing/2014/main" id="{41123AD8-3BD2-4D87-92F0-891C66FA3625}"/>
              </a:ext>
            </a:extLst>
          </p:cNvPr>
          <p:cNvSpPr>
            <a:spLocks xmlns:a="http://schemas.openxmlformats.org/drawingml/2006/main" noGrp="1"/>
          </p:cNvSpPr>
          <p:nvPr/>
        </p:nvSpPr>
        <p:spPr>
          <a:xfrm xmlns:a="http://schemas.openxmlformats.org/drawingml/2006/main">
            <a:off x="762000" y="4010025"/>
            <a:ext cx="10668000" cy="102870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6C1EBE9-6FA0-4A75-9BAF-C3D9B8236A64}"/>
              </a:ext>
            </a:extLst>
          </p:cNvPr>
          <p:cNvSpPr>
            <a:spLocks xmlns:a="http://schemas.openxmlformats.org/drawingml/2006/main" noGrp="1"/>
          </p:cNvSpPr>
          <p:nvPr/>
        </p:nvSpPr>
        <p:spPr>
          <a:xfrm xmlns:a="http://schemas.openxmlformats.org/drawingml/2006/main">
            <a:off x="933450" y="4105275"/>
            <a:ext cx="10325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[0 1 2]</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[1 0 2]</a:t>
            </a:r>
          </a:p>
        </p:txBody>
      </p:sp>
      <p:sp>
        <p:nvSpPr>
          <p:cNvPr id="7" name="">
            <a:extLst xmlns:a="http://schemas.openxmlformats.org/drawingml/2006/main">
              <a:ext uri="{FF2B5EF4-FFF2-40B4-BE49-F238E27FC236}">
                <a16:creationId xmlns:a16="http://schemas.microsoft.com/office/drawing/2014/main" id="{959A33E8-38CA-477F-999C-37ADD257D8BA}"/>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10" name="">
            <a:extLst xmlns:a="http://schemas.openxmlformats.org/drawingml/2006/main">
              <a:ext uri="{FF2B5EF4-FFF2-40B4-BE49-F238E27FC236}">
                <a16:creationId xmlns:a16="http://schemas.microsoft.com/office/drawing/2014/main" id="{BA6F0017-FAAC-49BF-B5AA-4F707A09E0BE}"/>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81</a:t>
            </a:r>
          </a:p>
        </p:txBody>
      </p:sp>
    </p:spTree>
    <p:extLst>
      <p:ext uri="{BB962C8B-B14F-4D97-AF65-F5344CB8AC3E}">
        <p14:creationId xmlns:p14="http://schemas.microsoft.com/office/powerpoint/2010/main" val="1417050402"/>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BB8FE1-8426-4D7E-98C6-DF94A427665A}"/>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Призначення: пари та їхня сумарна вартість</a:t>
            </a:r>
          </a:p>
        </p:txBody>
      </p:sp>
      <p:sp>
        <p:nvSpPr>
          <p:cNvPr id="2" name="">
            <a:extLst xmlns:a="http://schemas.openxmlformats.org/drawingml/2006/main">
              <a:ext uri="{FF2B5EF4-FFF2-40B4-BE49-F238E27FC236}">
                <a16:creationId xmlns:a16="http://schemas.microsoft.com/office/drawing/2014/main" id="{AD1D8914-7A42-4471-A4B8-4E0B3B81DB7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Вартість береться з початкової матриці, а не з редукованих нулів.</a:t>
            </a:r>
          </a:p>
        </p:txBody>
      </p:sp>
      <p:sp>
        <p:nvSpPr>
          <p:cNvPr id="3" name="">
            <a:extLst xmlns:a="http://schemas.openxmlformats.org/drawingml/2006/main">
              <a:ext uri="{FF2B5EF4-FFF2-40B4-BE49-F238E27FC236}">
                <a16:creationId xmlns:a16="http://schemas.microsoft.com/office/drawing/2014/main" id="{294B4916-C00E-4B75-A565-A9C87288795B}"/>
              </a:ext>
            </a:extLst>
          </p:cNvPr>
          <p:cNvSpPr>
            <a:spLocks xmlns:a="http://schemas.openxmlformats.org/drawingml/2006/main" noGrp="1"/>
          </p:cNvSpPr>
          <p:nvPr/>
        </p:nvSpPr>
        <p:spPr>
          <a:xfrm xmlns:a="http://schemas.openxmlformats.org/drawingml/2006/main">
            <a:off x="762000" y="1638300"/>
            <a:ext cx="10668000" cy="138684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4F7E62-A48F-4DE5-863A-749E1792EE2C}"/>
              </a:ext>
            </a:extLst>
          </p:cNvPr>
          <p:cNvSpPr>
            <a:spLocks xmlns:a="http://schemas.openxmlformats.org/drawingml/2006/main" noGrp="1"/>
          </p:cNvSpPr>
          <p:nvPr/>
        </p:nvSpPr>
        <p:spPr>
          <a:xfrm xmlns:a="http://schemas.openxmlformats.org/drawingml/2006/main">
            <a:off x="952500" y="1771650"/>
            <a:ext cx="10287000" cy="1120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for i,j in zip(rows, cols):</a:t>
            </a:r>
          </a:p>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    print(i,j,cost[i,j])</a:t>
            </a:r>
          </a:p>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print(cost[rows,cols].sum())</a:t>
            </a:r>
          </a:p>
        </p:txBody>
      </p:sp>
      <p:sp>
        <p:nvSpPr>
          <p:cNvPr id="5" name="">
            <a:extLst xmlns:a="http://schemas.openxmlformats.org/drawingml/2006/main">
              <a:ext uri="{FF2B5EF4-FFF2-40B4-BE49-F238E27FC236}">
                <a16:creationId xmlns:a16="http://schemas.microsoft.com/office/drawing/2014/main" id="{59A0F02F-12AE-4612-B879-96F4DC8B592E}"/>
              </a:ext>
            </a:extLst>
          </p:cNvPr>
          <p:cNvSpPr>
            <a:spLocks xmlns:a="http://schemas.openxmlformats.org/drawingml/2006/main" noGrp="1"/>
          </p:cNvSpPr>
          <p:nvPr/>
        </p:nvSpPr>
        <p:spPr>
          <a:xfrm xmlns:a="http://schemas.openxmlformats.org/drawingml/2006/main">
            <a:off x="762000" y="3409950"/>
            <a:ext cx="3333750" cy="1819275"/>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BA8967-7184-48B3-9DE8-35369EF70C23}"/>
              </a:ext>
            </a:extLst>
          </p:cNvPr>
          <p:cNvSpPr>
            <a:spLocks xmlns:a="http://schemas.openxmlformats.org/drawingml/2006/main" noGrp="1"/>
          </p:cNvSpPr>
          <p:nvPr/>
        </p:nvSpPr>
        <p:spPr>
          <a:xfrm xmlns:a="http://schemas.openxmlformats.org/drawingml/2006/main">
            <a:off x="933450" y="3505200"/>
            <a:ext cx="299085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0 1 1</a:t>
            </a:r>
          </a:p>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1 0 2</a:t>
            </a:r>
          </a:p>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2 2 2</a:t>
            </a:r>
          </a:p>
          <a:p xmlns:a="http://schemas.openxmlformats.org/drawingml/2006/main">
            <a:pPr algn="l">
              <a:buNone/>
              <a:defRPr sz="2400" b="1">
                <a:solidFill>
                  <a:srgbClr val="00857D"/>
                </a:solidFill>
                <a:latin typeface="Courier New"/>
                <a:ea typeface="Courier New"/>
                <a:cs typeface="Courier New"/>
              </a:defRPr>
            </a:pPr>
            <a:r>
              <a:rPr sz="2400" b="1">
                <a:solidFill>
                  <a:srgbClr val="00857D"/>
                </a:solidFill>
                <a:latin typeface="Courier New"/>
                <a:ea typeface="Courier New"/>
                <a:cs typeface="Courier New"/>
              </a:rPr>
              <a:t>5</a:t>
            </a:r>
          </a:p>
        </p:txBody>
      </p:sp>
      <p:sp>
        <p:nvSpPr>
          <p:cNvPr id="7" name="">
            <a:extLst xmlns:a="http://schemas.openxmlformats.org/drawingml/2006/main">
              <a:ext uri="{FF2B5EF4-FFF2-40B4-BE49-F238E27FC236}">
                <a16:creationId xmlns:a16="http://schemas.microsoft.com/office/drawing/2014/main" id="{5D840028-AC48-4205-9023-67E97C9A7EB4}"/>
              </a:ext>
            </a:extLst>
          </p:cNvPr>
          <p:cNvSpPr>
            <a:spLocks xmlns:a="http://schemas.openxmlformats.org/drawingml/2006/main" noGrp="1"/>
          </p:cNvSpPr>
          <p:nvPr/>
        </p:nvSpPr>
        <p:spPr>
          <a:xfrm xmlns:a="http://schemas.openxmlformats.org/drawingml/2006/main">
            <a:off x="4933950" y="3429000"/>
            <a:ext cx="6334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00857D"/>
                </a:solidFill>
                <a:latin typeface="Arial"/>
                <a:ea typeface="Arial"/>
                <a:cs typeface="Arial"/>
              </a:defRPr>
            </a:pPr>
            <a:r>
              <a:rPr sz="2550" b="1">
                <a:solidFill>
                  <a:srgbClr val="00857D"/>
                </a:solidFill>
                <a:latin typeface="Arial"/>
                <a:ea typeface="Arial"/>
                <a:cs typeface="Arial"/>
              </a:rPr>
              <a:t>S1→A:1</a:t>
            </a:r>
          </a:p>
          <a:p xmlns:a="http://schemas.openxmlformats.org/drawingml/2006/main">
            <a:pPr algn="l">
              <a:buNone/>
              <a:defRPr sz="2550" b="1">
                <a:solidFill>
                  <a:srgbClr val="00857D"/>
                </a:solidFill>
                <a:latin typeface="Arial"/>
                <a:ea typeface="Arial"/>
                <a:cs typeface="Arial"/>
              </a:defRPr>
            </a:pPr>
            <a:r>
              <a:rPr sz="2550" b="1">
                <a:solidFill>
                  <a:srgbClr val="00857D"/>
                </a:solidFill>
                <a:latin typeface="Arial"/>
                <a:ea typeface="Arial"/>
                <a:cs typeface="Arial"/>
              </a:rPr>
              <a:t>S2→I:2</a:t>
            </a:r>
          </a:p>
          <a:p xmlns:a="http://schemas.openxmlformats.org/drawingml/2006/main">
            <a:pPr algn="l">
              <a:buNone/>
              <a:defRPr sz="2550" b="1">
                <a:solidFill>
                  <a:srgbClr val="00857D"/>
                </a:solidFill>
                <a:latin typeface="Arial"/>
                <a:ea typeface="Arial"/>
                <a:cs typeface="Arial"/>
              </a:defRPr>
            </a:pPr>
            <a:r>
              <a:rPr sz="2550" b="1">
                <a:solidFill>
                  <a:srgbClr val="00857D"/>
                </a:solidFill>
                <a:latin typeface="Arial"/>
                <a:ea typeface="Arial"/>
                <a:cs typeface="Arial"/>
              </a:rPr>
              <a:t>S3→B:2</a:t>
            </a:r>
          </a:p>
          <a:p xmlns:a="http://schemas.openxmlformats.org/drawingml/2006/main">
            <a:pPr algn="l">
              <a:buNone/>
              <a:defRPr sz="2550" b="1">
                <a:solidFill>
                  <a:srgbClr val="00857D"/>
                </a:solidFill>
                <a:latin typeface="Arial"/>
                <a:ea typeface="Arial"/>
                <a:cs typeface="Arial"/>
              </a:defRPr>
            </a:pPr>
            <a:r>
              <a:rPr sz="2550" b="1">
                <a:solidFill>
                  <a:srgbClr val="00857D"/>
                </a:solidFill>
                <a:latin typeface="Arial"/>
                <a:ea typeface="Arial"/>
                <a:cs typeface="Arial"/>
              </a:rPr>
              <a:t>Разом C=5</a:t>
            </a:r>
          </a:p>
        </p:txBody>
      </p:sp>
      <p:sp>
        <p:nvSpPr>
          <p:cNvPr id="8" name="">
            <a:extLst xmlns:a="http://schemas.openxmlformats.org/drawingml/2006/main">
              <a:ext uri="{FF2B5EF4-FFF2-40B4-BE49-F238E27FC236}">
                <a16:creationId xmlns:a16="http://schemas.microsoft.com/office/drawing/2014/main" id="{A1A41478-6A90-42E8-80FD-E8729763813A}"/>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11" name="">
            <a:extLst xmlns:a="http://schemas.openxmlformats.org/drawingml/2006/main">
              <a:ext uri="{FF2B5EF4-FFF2-40B4-BE49-F238E27FC236}">
                <a16:creationId xmlns:a16="http://schemas.microsoft.com/office/drawing/2014/main" id="{9A4F5555-6641-40A7-9A54-BB189BC67726}"/>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82</a:t>
            </a:r>
          </a:p>
        </p:txBody>
      </p:sp>
    </p:spTree>
    <p:extLst>
      <p:ext uri="{BB962C8B-B14F-4D97-AF65-F5344CB8AC3E}">
        <p14:creationId xmlns:p14="http://schemas.microsoft.com/office/powerpoint/2010/main" val="617612509"/>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068B33-697A-4210-8A9E-6E494A8698DE}"/>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Чому класичне призначення можна розв’язати як ЛП?</a:t>
            </a:r>
          </a:p>
        </p:txBody>
      </p:sp>
      <p:sp>
        <p:nvSpPr>
          <p:cNvPr id="2" name="">
            <a:extLst xmlns:a="http://schemas.openxmlformats.org/drawingml/2006/main">
              <a:ext uri="{FF2B5EF4-FFF2-40B4-BE49-F238E27FC236}">
                <a16:creationId xmlns:a16="http://schemas.microsoft.com/office/drawing/2014/main" id="{A14B8264-A9FF-440C-9F62-E8BB26A38E5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Спеціальна структура балансів дає цілі вершини; довільну MILP округлення не розв’язує.</a:t>
            </a:r>
          </a:p>
        </p:txBody>
      </p:sp>
      <p:sp>
        <p:nvSpPr>
          <p:cNvPr id="3" name="">
            <a:extLst xmlns:a="http://schemas.openxmlformats.org/drawingml/2006/main">
              <a:ext uri="{FF2B5EF4-FFF2-40B4-BE49-F238E27FC236}">
                <a16:creationId xmlns:a16="http://schemas.microsoft.com/office/drawing/2014/main" id="{CCB25DCF-A96F-4A60-9281-3CE9D243E51A}"/>
              </a:ext>
            </a:extLst>
          </p:cNvPr>
          <p:cNvSpPr>
            <a:spLocks xmlns:a="http://schemas.openxmlformats.org/drawingml/2006/main" noGrp="1"/>
          </p:cNvSpPr>
          <p:nvPr/>
        </p:nvSpPr>
        <p:spPr>
          <a:xfrm xmlns:a="http://schemas.openxmlformats.org/drawingml/2006/main">
            <a:off x="762000" y="15811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75" b="0">
                <a:solidFill>
                  <a:srgbClr val="173047"/>
                </a:solidFill>
                <a:latin typeface="Arial"/>
                <a:ea typeface="Arial"/>
                <a:cs typeface="Arial"/>
              </a:defRPr>
            </a:pPr>
            <a:r>
              <a:rPr sz="2775" b="0">
                <a:solidFill>
                  <a:srgbClr val="173047"/>
                </a:solidFill>
                <a:latin typeface="Arial"/>
                <a:ea typeface="Arial"/>
                <a:cs typeface="Arial"/>
              </a:rPr>
              <a:t>Замінюємо zᵢⱼ∈{0,1} на 0≤zᵢⱼ≤1.</a:t>
            </a:r>
          </a:p>
          <a:p xmlns:a="http://schemas.openxmlformats.org/drawingml/2006/main">
            <a:pPr algn="l">
              <a:buNone/>
              <a:defRPr sz="2775" b="0">
                <a:solidFill>
                  <a:srgbClr val="173047"/>
                </a:solidFill>
                <a:latin typeface="Arial"/>
                <a:ea typeface="Arial"/>
                <a:cs typeface="Arial"/>
              </a:defRPr>
            </a:pPr>
            <a:r>
              <a:rPr sz="2775" b="0">
                <a:solidFill>
                  <a:srgbClr val="173047"/>
                </a:solidFill>
                <a:latin typeface="Arial"/>
                <a:ea typeface="Arial"/>
                <a:cs typeface="Arial"/>
              </a:rPr>
              <a:t>Суми рядків і стовпців залишаються </a:t>
            </a:r>
            <a:r>
              <a:rPr sz="2775" b="0">
                <a:solidFill>
                  <a:srgbClr val="173047"/>
                </a:solidFill>
                <a:latin typeface="Arial"/>
                <a:ea typeface="Arial"/>
                <a:cs typeface="Arial"/>
              </a:rPr>
              <a:t>рівними 1</a:t>
            </a:r>
            <a:r>
              <a:rPr sz="2775" b="0">
                <a:solidFill>
                  <a:srgbClr val="173047"/>
                </a:solidFill>
                <a:latin typeface="Arial"/>
                <a:ea typeface="Arial"/>
                <a:cs typeface="Arial"/>
              </a:rPr>
              <a:t>.</a:t>
            </a:r>
          </a:p>
        </p:txBody>
      </p:sp>
      <p:sp>
        <p:nvSpPr>
          <p:cNvPr id="4" name="">
            <a:extLst xmlns:a="http://schemas.openxmlformats.org/drawingml/2006/main">
              <a:ext uri="{FF2B5EF4-FFF2-40B4-BE49-F238E27FC236}">
                <a16:creationId xmlns:a16="http://schemas.microsoft.com/office/drawing/2014/main" id="{4AE68683-D612-4BF8-856B-6DE5A9EF7554}"/>
              </a:ext>
            </a:extLst>
          </p:cNvPr>
          <p:cNvSpPr>
            <a:spLocks xmlns:a="http://schemas.openxmlformats.org/drawingml/2006/main" noGrp="1"/>
          </p:cNvSpPr>
          <p:nvPr/>
        </p:nvSpPr>
        <p:spPr>
          <a:xfrm xmlns:a="http://schemas.openxmlformats.org/drawingml/2006/main">
            <a:off x="762000" y="3343275"/>
            <a:ext cx="10668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Існує оптимальна ціла вершина:</a:t>
            </a:r>
          </a:p>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матриця балансів є цілком унімодулярною.</a:t>
            </a:r>
          </a:p>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Додаткові умови можуть прибрати цю гарантію.</a:t>
            </a:r>
          </a:p>
        </p:txBody>
      </p:sp>
      <p:sp>
        <p:nvSpPr>
          <p:cNvPr id="7" name="">
            <a:extLst xmlns:a="http://schemas.openxmlformats.org/drawingml/2006/main">
              <a:ext uri="{FF2B5EF4-FFF2-40B4-BE49-F238E27FC236}">
                <a16:creationId xmlns:a16="http://schemas.microsoft.com/office/drawing/2014/main" id="{140D2423-B757-45B9-8566-E644EF7F36A6}"/>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83</a:t>
            </a:r>
          </a:p>
        </p:txBody>
      </p:sp>
    </p:spTree>
    <p:extLst>
      <p:ext uri="{BB962C8B-B14F-4D97-AF65-F5344CB8AC3E}">
        <p14:creationId xmlns:p14="http://schemas.microsoft.com/office/powerpoint/2010/main" val="1708740415"/>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9B96E7-D8B7-426A-AB55-ED985B23A046}"/>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Призначення як ЛП: рядок = один баланс</a:t>
            </a:r>
          </a:p>
        </p:txBody>
      </p:sp>
      <p:sp>
        <p:nvSpPr>
          <p:cNvPr id="2" name="">
            <a:extLst xmlns:a="http://schemas.openxmlformats.org/drawingml/2006/main">
              <a:ext uri="{FF2B5EF4-FFF2-40B4-BE49-F238E27FC236}">
                <a16:creationId xmlns:a16="http://schemas.microsoft.com/office/drawing/2014/main" id="{6FDD6F90-3C0A-4AF2-96F1-ED6EEB2A726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ravel(): S1/I,S1/A,S1/B,S2/I,…,S3/B.</a:t>
            </a:r>
          </a:p>
        </p:txBody>
      </p:sp>
      <p:sp>
        <p:nvSpPr>
          <p:cNvPr id="3" name="">
            <a:extLst xmlns:a="http://schemas.openxmlformats.org/drawingml/2006/main">
              <a:ext uri="{FF2B5EF4-FFF2-40B4-BE49-F238E27FC236}">
                <a16:creationId xmlns:a16="http://schemas.microsoft.com/office/drawing/2014/main" id="{089948FC-3EE3-4182-A7A3-AA5B80ADE0D6}"/>
              </a:ext>
            </a:extLst>
          </p:cNvPr>
          <p:cNvSpPr>
            <a:spLocks xmlns:a="http://schemas.openxmlformats.org/drawingml/2006/main" noGrp="1"/>
          </p:cNvSpPr>
          <p:nvPr/>
        </p:nvSpPr>
        <p:spPr>
          <a:xfrm xmlns:a="http://schemas.openxmlformats.org/drawingml/2006/main">
            <a:off x="762000" y="1419225"/>
            <a:ext cx="10668000" cy="318135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21952B-42ED-48E2-9C84-8F4578D230DA}"/>
              </a:ext>
            </a:extLst>
          </p:cNvPr>
          <p:cNvSpPr>
            <a:spLocks xmlns:a="http://schemas.openxmlformats.org/drawingml/2006/main" noGrp="1"/>
          </p:cNvSpPr>
          <p:nvPr/>
        </p:nvSpPr>
        <p:spPr>
          <a:xfrm xmlns:a="http://schemas.openxmlformats.org/drawingml/2006/main">
            <a:off x="952500" y="1552575"/>
            <a:ext cx="102870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import numpy as np</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from scipy.optimize import linprog</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C = np.array([[4,1,7],[2,6,5],[8,3,2]])</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 = []</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for i in range(3):</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a = np.zeros((3,3)); a[i,:] = 1</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A.append(a.ravel())</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for j in range(3):</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a = np.zeros((3,3)); a[:,j] = 1</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A.append(a.ravel())</a:t>
            </a:r>
          </a:p>
        </p:txBody>
      </p:sp>
      <p:sp>
        <p:nvSpPr>
          <p:cNvPr id="5" name="">
            <a:extLst xmlns:a="http://schemas.openxmlformats.org/drawingml/2006/main">
              <a:ext uri="{FF2B5EF4-FFF2-40B4-BE49-F238E27FC236}">
                <a16:creationId xmlns:a16="http://schemas.microsoft.com/office/drawing/2014/main" id="{6D3D35D4-BFE2-4A94-B224-CA739965972D}"/>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8" name="">
            <a:extLst xmlns:a="http://schemas.openxmlformats.org/drawingml/2006/main">
              <a:ext uri="{FF2B5EF4-FFF2-40B4-BE49-F238E27FC236}">
                <a16:creationId xmlns:a16="http://schemas.microsoft.com/office/drawing/2014/main" id="{BBB1DB45-32AF-42AF-ACB3-8FBE3DA1985B}"/>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84</a:t>
            </a:r>
          </a:p>
        </p:txBody>
      </p:sp>
    </p:spTree>
    <p:extLst>
      <p:ext uri="{BB962C8B-B14F-4D97-AF65-F5344CB8AC3E}">
        <p14:creationId xmlns:p14="http://schemas.microsoft.com/office/powerpoint/2010/main" val="700529840"/>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CB23FD-F676-4542-ABCC-42E74E8B1C71}"/>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Призначення як ЛП: виконати та перевірити</a:t>
            </a:r>
          </a:p>
        </p:txBody>
      </p:sp>
      <p:sp>
        <p:nvSpPr>
          <p:cNvPr id="2" name="">
            <a:extLst xmlns:a="http://schemas.openxmlformats.org/drawingml/2006/main">
              <a:ext uri="{FF2B5EF4-FFF2-40B4-BE49-F238E27FC236}">
                <a16:creationId xmlns:a16="http://schemas.microsoft.com/office/drawing/2014/main" id="{C66A9527-43AA-403E-867C-A42948453B6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np.rint — лише для друку вже близького </a:t>
            </a:r>
            <a:r>
              <a:rPr sz="2100" b="1">
                <a:solidFill>
                  <a:srgbClr val="00857D"/>
                </a:solidFill>
                <a:latin typeface="Arial"/>
                <a:ea typeface="Arial"/>
                <a:cs typeface="Arial"/>
              </a:rPr>
              <a:t>до 0/1</a:t>
            </a:r>
            <a:r>
              <a:rPr sz="2100" b="1">
                <a:solidFill>
                  <a:srgbClr val="00857D"/>
                </a:solidFill>
                <a:latin typeface="Arial"/>
                <a:ea typeface="Arial"/>
                <a:cs typeface="Arial"/>
              </a:rPr>
              <a:t> плану.</a:t>
            </a:r>
          </a:p>
        </p:txBody>
      </p:sp>
      <p:sp>
        <p:nvSpPr>
          <p:cNvPr id="3" name="">
            <a:extLst xmlns:a="http://schemas.openxmlformats.org/drawingml/2006/main">
              <a:ext uri="{FF2B5EF4-FFF2-40B4-BE49-F238E27FC236}">
                <a16:creationId xmlns:a16="http://schemas.microsoft.com/office/drawing/2014/main" id="{9A8BCBF0-9E87-4C81-9494-7960C985F89E}"/>
              </a:ext>
            </a:extLst>
          </p:cNvPr>
          <p:cNvSpPr>
            <a:spLocks xmlns:a="http://schemas.openxmlformats.org/drawingml/2006/main" noGrp="1"/>
          </p:cNvSpPr>
          <p:nvPr/>
        </p:nvSpPr>
        <p:spPr>
          <a:xfrm xmlns:a="http://schemas.openxmlformats.org/drawingml/2006/main">
            <a:off x="762000" y="1381125"/>
            <a:ext cx="10668000" cy="260985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087258D-09D2-4F6A-9416-18B6E833C61D}"/>
              </a:ext>
            </a:extLst>
          </p:cNvPr>
          <p:cNvSpPr>
            <a:spLocks xmlns:a="http://schemas.openxmlformats.org/drawingml/2006/main" noGrp="1"/>
          </p:cNvSpPr>
          <p:nvPr/>
        </p:nvSpPr>
        <p:spPr>
          <a:xfrm xmlns:a="http://schemas.openxmlformats.org/drawingml/2006/main">
            <a:off x="952500" y="1514475"/>
            <a:ext cx="1028700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r = linprog(C.ravel(), A_eq=A, b_eq=np.ones(6),</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bounds=(0,1), method='highs')</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r.success, r.message</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X = r.x.reshape(3,3)</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np.allclose(X.sum(0), 1)</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np.allclose(X.sum(1), 1)</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assert np.allclose(X, np.rint(X))</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print(np.rint(X).astype(int)); print(r.fun)</a:t>
            </a:r>
          </a:p>
        </p:txBody>
      </p:sp>
      <p:sp>
        <p:nvSpPr>
          <p:cNvPr id="5" name="">
            <a:extLst xmlns:a="http://schemas.openxmlformats.org/drawingml/2006/main">
              <a:ext uri="{FF2B5EF4-FFF2-40B4-BE49-F238E27FC236}">
                <a16:creationId xmlns:a16="http://schemas.microsoft.com/office/drawing/2014/main" id="{25913CD4-EC58-4564-8824-FF6419BAAE27}"/>
              </a:ext>
            </a:extLst>
          </p:cNvPr>
          <p:cNvSpPr>
            <a:spLocks xmlns:a="http://schemas.openxmlformats.org/drawingml/2006/main" noGrp="1"/>
          </p:cNvSpPr>
          <p:nvPr/>
        </p:nvSpPr>
        <p:spPr>
          <a:xfrm xmlns:a="http://schemas.openxmlformats.org/drawingml/2006/main">
            <a:off x="762000" y="4352925"/>
            <a:ext cx="10668000" cy="123825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DDF1FD-A316-4F32-87FC-61AB7CB19E98}"/>
              </a:ext>
            </a:extLst>
          </p:cNvPr>
          <p:cNvSpPr>
            <a:spLocks xmlns:a="http://schemas.openxmlformats.org/drawingml/2006/main" noGrp="1"/>
          </p:cNvSpPr>
          <p:nvPr/>
        </p:nvSpPr>
        <p:spPr>
          <a:xfrm xmlns:a="http://schemas.openxmlformats.org/drawingml/2006/main">
            <a:off x="933450" y="4448175"/>
            <a:ext cx="103251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[[0 1 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[1 0 0]</a:t>
            </a:r>
          </a:p>
          <a:p xmlns:a="http://schemas.openxmlformats.org/drawingml/2006/main">
            <a:pPr algn="l">
              <a:buNone/>
              <a:defRPr sz="2175" b="1">
                <a:solidFill>
                  <a:srgbClr val="00857D"/>
                </a:solidFill>
                <a:latin typeface="Courier New"/>
                <a:ea typeface="Courier New"/>
                <a:cs typeface="Courier New"/>
              </a:defRPr>
            </a:pPr>
            <a:r>
              <a:rPr sz="2175" b="1">
                <a:solidFill>
                  <a:srgbClr val="00857D"/>
                </a:solidFill>
                <a:latin typeface="Courier New"/>
                <a:ea typeface="Courier New"/>
                <a:cs typeface="Courier New"/>
              </a:rPr>
              <a:t> [0 0 1]]    C = 5.0</a:t>
            </a:r>
          </a:p>
        </p:txBody>
      </p:sp>
      <p:sp>
        <p:nvSpPr>
          <p:cNvPr id="9" name="">
            <a:extLst xmlns:a="http://schemas.openxmlformats.org/drawingml/2006/main">
              <a:ext uri="{FF2B5EF4-FFF2-40B4-BE49-F238E27FC236}">
                <a16:creationId xmlns:a16="http://schemas.microsoft.com/office/drawing/2014/main" id="{D1163691-F61A-4312-98AC-B73D03641674}"/>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85</a:t>
            </a:r>
          </a:p>
        </p:txBody>
      </p:sp>
    </p:spTree>
    <p:extLst>
      <p:ext uri="{BB962C8B-B14F-4D97-AF65-F5344CB8AC3E}">
        <p14:creationId xmlns:p14="http://schemas.microsoft.com/office/powerpoint/2010/main" val="1856000796"/>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575C46-3177-43C1-B9A0-BF3D3F85C41E}"/>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Призначення: час спеціальної функції і ЛП</a:t>
            </a:r>
          </a:p>
        </p:txBody>
      </p:sp>
      <p:sp>
        <p:nvSpPr>
          <p:cNvPr id="2" name="">
            <a:extLst xmlns:a="http://schemas.openxmlformats.org/drawingml/2006/main">
              <a:ext uri="{FF2B5EF4-FFF2-40B4-BE49-F238E27FC236}">
                <a16:creationId xmlns:a16="http://schemas.microsoft.com/office/drawing/2014/main" id="{83AD59D7-75C5-455C-BE13-88CDE2444FB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Результат стосується матриці 3×3. Обидва способи дають C=5.</a:t>
            </a:r>
          </a:p>
        </p:txBody>
      </p:sp>
      <p:sp>
        <p:nvSpPr>
          <p:cNvPr id="3" name="">
            <a:extLst xmlns:a="http://schemas.openxmlformats.org/drawingml/2006/main">
              <a:ext uri="{FF2B5EF4-FFF2-40B4-BE49-F238E27FC236}">
                <a16:creationId xmlns:a16="http://schemas.microsoft.com/office/drawing/2014/main" id="{C605C368-7922-423C-B954-0021DD2BD228}"/>
              </a:ext>
            </a:extLst>
          </p:cNvPr>
          <p:cNvSpPr>
            <a:spLocks xmlns:a="http://schemas.openxmlformats.org/drawingml/2006/main" noGrp="1"/>
          </p:cNvSpPr>
          <p:nvPr/>
        </p:nvSpPr>
        <p:spPr>
          <a:xfrm xmlns:a="http://schemas.openxmlformats.org/drawingml/2006/main">
            <a:off x="762000" y="1543050"/>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SciPy: linear_sum_assignment</a:t>
            </a:r>
          </a:p>
        </p:txBody>
      </p:sp>
      <p:sp>
        <p:nvSpPr>
          <p:cNvPr id="4" name="">
            <a:extLst xmlns:a="http://schemas.openxmlformats.org/drawingml/2006/main">
              <a:ext uri="{FF2B5EF4-FFF2-40B4-BE49-F238E27FC236}">
                <a16:creationId xmlns:a16="http://schemas.microsoft.com/office/drawing/2014/main" id="{BBFF795F-2756-42B1-8019-A4314449DFFC}"/>
              </a:ext>
            </a:extLst>
          </p:cNvPr>
          <p:cNvSpPr>
            <a:spLocks xmlns:a="http://schemas.openxmlformats.org/drawingml/2006/main" noGrp="1"/>
          </p:cNvSpPr>
          <p:nvPr/>
        </p:nvSpPr>
        <p:spPr>
          <a:xfrm xmlns:a="http://schemas.openxmlformats.org/drawingml/2006/main">
            <a:off x="762000" y="2143125"/>
            <a:ext cx="7667625" cy="65532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4CCAA9D-0718-4F65-9850-C01727346F11}"/>
              </a:ext>
            </a:extLst>
          </p:cNvPr>
          <p:cNvSpPr>
            <a:spLocks xmlns:a="http://schemas.openxmlformats.org/drawingml/2006/main" noGrp="1"/>
          </p:cNvSpPr>
          <p:nvPr/>
        </p:nvSpPr>
        <p:spPr>
          <a:xfrm xmlns:a="http://schemas.openxmlformats.org/drawingml/2006/main">
            <a:off x="952500" y="2276475"/>
            <a:ext cx="7286625" cy="388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linear_sum_assignment(C)</a:t>
            </a:r>
          </a:p>
        </p:txBody>
      </p:sp>
      <p:sp>
        <p:nvSpPr>
          <p:cNvPr id="6" name="">
            <a:extLst xmlns:a="http://schemas.openxmlformats.org/drawingml/2006/main">
              <a:ext uri="{FF2B5EF4-FFF2-40B4-BE49-F238E27FC236}">
                <a16:creationId xmlns:a16="http://schemas.microsoft.com/office/drawing/2014/main" id="{0D656967-B64B-40D9-A1BD-D9AB93BFCC7F}"/>
              </a:ext>
            </a:extLst>
          </p:cNvPr>
          <p:cNvSpPr>
            <a:spLocks xmlns:a="http://schemas.openxmlformats.org/drawingml/2006/main" noGrp="1"/>
          </p:cNvSpPr>
          <p:nvPr/>
        </p:nvSpPr>
        <p:spPr>
          <a:xfrm xmlns:a="http://schemas.openxmlformats.org/drawingml/2006/main">
            <a:off x="8715375" y="22383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00857D"/>
                </a:solidFill>
                <a:latin typeface="Arial"/>
                <a:ea typeface="Arial"/>
                <a:cs typeface="Arial"/>
              </a:defRPr>
            </a:pPr>
            <a:r>
              <a:rPr sz="3000" b="1">
                <a:solidFill>
                  <a:srgbClr val="00857D"/>
                </a:solidFill>
                <a:latin typeface="Arial"/>
                <a:ea typeface="Arial"/>
                <a:cs typeface="Arial"/>
              </a:rPr>
              <a:t>0,929 мкс</a:t>
            </a:r>
          </a:p>
        </p:txBody>
      </p:sp>
      <p:sp>
        <p:nvSpPr>
          <p:cNvPr id="7" name="">
            <a:extLst xmlns:a="http://schemas.openxmlformats.org/drawingml/2006/main">
              <a:ext uri="{FF2B5EF4-FFF2-40B4-BE49-F238E27FC236}">
                <a16:creationId xmlns:a16="http://schemas.microsoft.com/office/drawing/2014/main" id="{0F591F10-67A0-4BBF-80C9-662CD036A576}"/>
              </a:ext>
            </a:extLst>
          </p:cNvPr>
          <p:cNvSpPr>
            <a:spLocks xmlns:a="http://schemas.openxmlformats.org/drawingml/2006/main" noGrp="1"/>
          </p:cNvSpPr>
          <p:nvPr/>
        </p:nvSpPr>
        <p:spPr>
          <a:xfrm xmlns:a="http://schemas.openxmlformats.org/drawingml/2006/main">
            <a:off x="762000" y="3486150"/>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SciPy: linprog</a:t>
            </a:r>
          </a:p>
        </p:txBody>
      </p:sp>
      <p:sp>
        <p:nvSpPr>
          <p:cNvPr id="8" name="">
            <a:extLst xmlns:a="http://schemas.openxmlformats.org/drawingml/2006/main">
              <a:ext uri="{FF2B5EF4-FFF2-40B4-BE49-F238E27FC236}">
                <a16:creationId xmlns:a16="http://schemas.microsoft.com/office/drawing/2014/main" id="{03F3943A-06B8-46AB-9A6C-88E559EC9089}"/>
              </a:ext>
            </a:extLst>
          </p:cNvPr>
          <p:cNvSpPr>
            <a:spLocks xmlns:a="http://schemas.openxmlformats.org/drawingml/2006/main" noGrp="1"/>
          </p:cNvSpPr>
          <p:nvPr/>
        </p:nvSpPr>
        <p:spPr>
          <a:xfrm xmlns:a="http://schemas.openxmlformats.org/drawingml/2006/main">
            <a:off x="762000" y="4086225"/>
            <a:ext cx="7667625" cy="89535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0A4A41-E1E1-4A34-8DE0-BBCB5144B231}"/>
              </a:ext>
            </a:extLst>
          </p:cNvPr>
          <p:cNvSpPr>
            <a:spLocks xmlns:a="http://schemas.openxmlformats.org/drawingml/2006/main" noGrp="1"/>
          </p:cNvSpPr>
          <p:nvPr/>
        </p:nvSpPr>
        <p:spPr>
          <a:xfrm xmlns:a="http://schemas.openxmlformats.org/drawingml/2006/main">
            <a:off x="952500" y="4219575"/>
            <a:ext cx="728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linprog(C.ravel(), A_eq=A, b_eq=np.ones(6),</a:t>
            </a:r>
          </a:p>
          <a:p xmlns:a="http://schemas.openxmlformats.org/drawingml/2006/main">
            <a:pPr algn="l">
              <a:buNone/>
              <a:defRPr sz="1875" b="0">
                <a:solidFill>
                  <a:srgbClr val="173047"/>
                </a:solidFill>
                <a:latin typeface="Courier New"/>
                <a:ea typeface="Courier New"/>
                <a:cs typeface="Courier New"/>
              </a:defRPr>
            </a:pPr>
            <a:r>
              <a:rPr sz="1875" b="0">
                <a:solidFill>
                  <a:srgbClr val="173047"/>
                </a:solidFill>
                <a:latin typeface="Courier New"/>
                <a:ea typeface="Courier New"/>
                <a:cs typeface="Courier New"/>
              </a:rPr>
              <a:t>        bounds=(0,1), method='highs')</a:t>
            </a:r>
          </a:p>
        </p:txBody>
      </p:sp>
      <p:sp>
        <p:nvSpPr>
          <p:cNvPr id="10" name="">
            <a:extLst xmlns:a="http://schemas.openxmlformats.org/drawingml/2006/main">
              <a:ext uri="{FF2B5EF4-FFF2-40B4-BE49-F238E27FC236}">
                <a16:creationId xmlns:a16="http://schemas.microsoft.com/office/drawing/2014/main" id="{FFE3C292-8230-4AB9-A4BF-0686E12A0596}"/>
              </a:ext>
            </a:extLst>
          </p:cNvPr>
          <p:cNvSpPr>
            <a:spLocks xmlns:a="http://schemas.openxmlformats.org/drawingml/2006/main" noGrp="1"/>
          </p:cNvSpPr>
          <p:nvPr/>
        </p:nvSpPr>
        <p:spPr>
          <a:xfrm xmlns:a="http://schemas.openxmlformats.org/drawingml/2006/main">
            <a:off x="8715375" y="4267200"/>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00857D"/>
                </a:solidFill>
                <a:latin typeface="Arial"/>
                <a:ea typeface="Arial"/>
                <a:cs typeface="Arial"/>
              </a:defRPr>
            </a:pPr>
            <a:r>
              <a:rPr sz="3000" b="1">
                <a:solidFill>
                  <a:srgbClr val="00857D"/>
                </a:solidFill>
                <a:latin typeface="Arial"/>
                <a:ea typeface="Arial"/>
                <a:cs typeface="Arial"/>
              </a:rPr>
              <a:t>1,033 мс</a:t>
            </a:r>
          </a:p>
        </p:txBody>
      </p:sp>
      <p:sp>
        <p:nvSpPr>
          <p:cNvPr id="11" name="">
            <a:extLst xmlns:a="http://schemas.openxmlformats.org/drawingml/2006/main">
              <a:ext uri="{FF2B5EF4-FFF2-40B4-BE49-F238E27FC236}">
                <a16:creationId xmlns:a16="http://schemas.microsoft.com/office/drawing/2014/main" id="{836CDB20-1E30-4DDB-B330-6B125D7A0BEE}"/>
              </a:ext>
            </a:extLst>
          </p:cNvPr>
          <p:cNvSpPr>
            <a:spLocks xmlns:a="http://schemas.openxmlformats.org/drawingml/2006/main" noGrp="1"/>
          </p:cNvSpPr>
          <p:nvPr/>
        </p:nvSpPr>
        <p:spPr>
          <a:xfrm xmlns:a="http://schemas.openxmlformats.org/drawingml/2006/main">
            <a:off x="762000" y="52768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0">
                <a:solidFill>
                  <a:srgbClr val="566779"/>
                </a:solidFill>
                <a:latin typeface="Arial"/>
                <a:ea typeface="Arial"/>
                <a:cs typeface="Arial"/>
              </a:defRPr>
            </a:pPr>
            <a:r>
              <a:rPr sz="2100" b="0">
                <a:solidFill>
                  <a:srgbClr val="566779"/>
                </a:solidFill>
                <a:latin typeface="Arial"/>
                <a:ea typeface="Arial"/>
                <a:cs typeface="Arial"/>
              </a:rPr>
              <a:t>1 мс = 1000 мкс. Медіана 7 серій по 1000 викликів.</a:t>
            </a:r>
          </a:p>
        </p:txBody>
      </p:sp>
      <p:sp>
        <p:nvSpPr>
          <p:cNvPr id="12" name="">
            <a:extLst xmlns:a="http://schemas.openxmlformats.org/drawingml/2006/main">
              <a:ext uri="{FF2B5EF4-FFF2-40B4-BE49-F238E27FC236}">
                <a16:creationId xmlns:a16="http://schemas.microsoft.com/office/drawing/2014/main" id="{9933A739-E805-4FDD-A0CF-00AA5FCB8352}"/>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86</a:t>
            </a:r>
          </a:p>
        </p:txBody>
      </p:sp>
    </p:spTree>
    <p:extLst>
      <p:ext uri="{BB962C8B-B14F-4D97-AF65-F5344CB8AC3E}">
        <p14:creationId xmlns:p14="http://schemas.microsoft.com/office/powerpoint/2010/main" val="577976312"/>
      </p:ext>
    </p:extLst>
  </p:cSld>
</p:sld>
</file>

<file path=ppt/slides/slide87.xml><?xml version="1.0" encoding="utf-8"?>
<p:sld xmlns:p="http://schemas.openxmlformats.org/presentationml/2006/main">
  <p:cSld>
    <p:bg>
      <p:bgPr>
        <a:solidFill xmlns:a="http://schemas.openxmlformats.org/drawingml/2006/main">
          <a:srgbClr val="173047"/>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576A879-3FC3-4913-959E-BDA904189518}"/>
              </a:ext>
            </a:extLst>
          </p:cNvPr>
          <p:cNvSpPr>
            <a:spLocks xmlns:a="http://schemas.openxmlformats.org/drawingml/2006/main" noGrp="1"/>
          </p:cNvSpPr>
          <p:nvPr/>
        </p:nvSpPr>
        <p:spPr>
          <a:xfrm xmlns:a="http://schemas.openxmlformats.org/drawingml/2006/main">
            <a:off x="762000" y="1428750"/>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250" b="1">
                <a:solidFill>
                  <a:srgbClr val="FFFFFF"/>
                </a:solidFill>
                <a:latin typeface="Arial"/>
                <a:ea typeface="Arial"/>
                <a:cs typeface="Arial"/>
              </a:defRPr>
            </a:defPPr>
          </a:lstStyle>
          <a:p xmlns:a="http://schemas.openxmlformats.org/drawingml/2006/main">
            <a:pPr algn="l">
              <a:defRPr sz="5250" b="1">
                <a:solidFill>
                  <a:srgbClr val="FFFFFF"/>
                </a:solidFill>
                <a:latin typeface="Arial"/>
                <a:ea typeface="Arial"/>
                <a:cs typeface="Arial"/>
              </a:defRPr>
            </a:pPr>
            <a:r>
              <a:rPr sz="5250" b="1">
                <a:solidFill>
                  <a:srgbClr val="FFFFFF"/>
                </a:solidFill>
                <a:latin typeface="Arial"/>
                <a:ea typeface="Arial"/>
                <a:cs typeface="Arial"/>
              </a:rPr>
              <a:t>Дискретне</a:t>
            </a:r>
          </a:p>
          <a:p xmlns:a="http://schemas.openxmlformats.org/drawingml/2006/main">
            <a:pPr algn="l">
              <a:defRPr sz="5250" b="1">
                <a:solidFill>
                  <a:srgbClr val="FFFFFF"/>
                </a:solidFill>
                <a:latin typeface="Arial"/>
                <a:ea typeface="Arial"/>
                <a:cs typeface="Arial"/>
              </a:defRPr>
            </a:pPr>
            <a:r>
              <a:rPr sz="5250" b="1">
                <a:solidFill>
                  <a:srgbClr val="FFFFFF"/>
                </a:solidFill>
                <a:latin typeface="Arial"/>
                <a:ea typeface="Arial"/>
                <a:cs typeface="Arial"/>
              </a:rPr>
              <a:t>програмування</a:t>
            </a:r>
          </a:p>
        </p:txBody>
      </p:sp>
      <p:sp>
        <p:nvSpPr>
          <p:cNvPr id="2" name="">
            <a:extLst xmlns:a="http://schemas.openxmlformats.org/drawingml/2006/main">
              <a:ext uri="{FF2B5EF4-FFF2-40B4-BE49-F238E27FC236}">
                <a16:creationId xmlns:a16="http://schemas.microsoft.com/office/drawing/2014/main" id="{C3F60768-2A23-4AF9-9E2F-C8EC4DBE7F38}"/>
              </a:ext>
            </a:extLst>
          </p:cNvPr>
          <p:cNvSpPr>
            <a:spLocks xmlns:a="http://schemas.openxmlformats.org/drawingml/2006/main" noGrp="1"/>
          </p:cNvSpPr>
          <p:nvPr/>
        </p:nvSpPr>
        <p:spPr>
          <a:xfrm xmlns:a="http://schemas.openxmlformats.org/drawingml/2006/main">
            <a:off x="762000" y="39052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0">
                <a:solidFill>
                  <a:srgbClr val="FFFFFF"/>
                </a:solidFill>
                <a:latin typeface="Arial"/>
                <a:ea typeface="Arial"/>
                <a:cs typeface="Arial"/>
              </a:defRPr>
            </a:defPPr>
          </a:lstStyle>
          <a:p xmlns:a="http://schemas.openxmlformats.org/drawingml/2006/main">
            <a:pPr algn="l">
              <a:defRPr sz="2700" b="0">
                <a:solidFill>
                  <a:srgbClr val="FFFFFF"/>
                </a:solidFill>
                <a:latin typeface="Arial"/>
                <a:ea typeface="Arial"/>
                <a:cs typeface="Arial"/>
              </a:defRPr>
            </a:pPr>
            <a:r>
              <a:rPr sz="2700" b="0">
                <a:solidFill>
                  <a:srgbClr val="FFFFFF"/>
                </a:solidFill>
                <a:latin typeface="Arial"/>
                <a:ea typeface="Arial"/>
                <a:cs typeface="Arial"/>
              </a:rPr>
              <a:t>Цілі екземпляри VM</a:t>
            </a:r>
          </a:p>
          <a:p xmlns:a="http://schemas.openxmlformats.org/drawingml/2006/main">
            <a:pPr algn="l">
              <a:defRPr sz="2700" b="0">
                <a:solidFill>
                  <a:srgbClr val="FFFFFF"/>
                </a:solidFill>
                <a:latin typeface="Arial"/>
                <a:ea typeface="Arial"/>
                <a:cs typeface="Arial"/>
              </a:defRPr>
            </a:pPr>
            <a:r>
              <a:rPr sz="2700" b="0">
                <a:solidFill>
                  <a:srgbClr val="FFFFFF"/>
                </a:solidFill>
                <a:latin typeface="Arial"/>
                <a:ea typeface="Arial"/>
                <a:cs typeface="Arial"/>
              </a:rPr>
              <a:t>Вибір GPU-завдань</a:t>
            </a:r>
          </a:p>
          <a:p xmlns:a="http://schemas.openxmlformats.org/drawingml/2006/main">
            <a:pPr algn="l">
              <a:defRPr sz="2700" b="0">
                <a:solidFill>
                  <a:srgbClr val="FFFFFF"/>
                </a:solidFill>
                <a:latin typeface="Arial"/>
                <a:ea typeface="Arial"/>
                <a:cs typeface="Arial"/>
              </a:defRPr>
            </a:pPr>
            <a:r>
              <a:rPr sz="2700" b="0">
                <a:solidFill>
                  <a:srgbClr val="FFFFFF"/>
                </a:solidFill>
                <a:latin typeface="Arial"/>
                <a:ea typeface="Arial"/>
                <a:cs typeface="Arial"/>
              </a:rPr>
              <a:t>Включення мережевого маршруту</a:t>
            </a:r>
          </a:p>
        </p:txBody>
      </p:sp>
      <p:sp>
        <p:nvSpPr>
          <p:cNvPr id="3" name="">
            <a:extLst xmlns:a="http://schemas.openxmlformats.org/drawingml/2006/main">
              <a:ext uri="{FF2B5EF4-FFF2-40B4-BE49-F238E27FC236}">
                <a16:creationId xmlns:a16="http://schemas.microsoft.com/office/drawing/2014/main" id="{5ACDA6F6-9D13-47BC-92D2-602D3CCDEA79}"/>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87</a:t>
            </a:r>
          </a:p>
        </p:txBody>
      </p:sp>
    </p:spTree>
    <p:extLst>
      <p:ext uri="{BB962C8B-B14F-4D97-AF65-F5344CB8AC3E}">
        <p14:creationId xmlns:p14="http://schemas.microsoft.com/office/powerpoint/2010/main" val="52448505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E4DFF4-A2D5-46C9-AD31-FBF047D871E4}"/>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Типи дискретних рішень</a:t>
            </a:r>
          </a:p>
        </p:txBody>
      </p:sp>
      <p:sp>
        <p:nvSpPr>
          <p:cNvPr id="2" name="">
            <a:extLst xmlns:a="http://schemas.openxmlformats.org/drawingml/2006/main">
              <a:ext uri="{FF2B5EF4-FFF2-40B4-BE49-F238E27FC236}">
                <a16:creationId xmlns:a16="http://schemas.microsoft.com/office/drawing/2014/main" id="{4FA5DEB2-CF34-46D8-B811-3DDB1CDDFE6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Тип змінної визначає зміст рішення.</a:t>
            </a:r>
          </a:p>
        </p:txBody>
      </p:sp>
      <p:graphicFrame>
        <p:nvGraphicFramePr>
          <p:cNvPr id="3" name="">
            <a:extLst xmlns:a="http://schemas.openxmlformats.org/drawingml/2006/main">
              <a:ext uri="{FF2B5EF4-FFF2-40B4-BE49-F238E27FC236}">
                <a16:creationId xmlns:a16="http://schemas.microsoft.com/office/drawing/2014/main" id="{5D8BFB45-B892-4B67-A1AA-231C757DAE80}"/>
              </a:ext>
            </a:extLst>
          </p:cNvPr>
          <p:cNvGraphicFramePr/>
          <p:nvPr/>
        </p:nvGraphicFramePr>
        <p:xfrm>
          <a:off xmlns:a="http://schemas.openxmlformats.org/drawingml/2006/main" x="762000" y="1562100"/>
          <a:ext xmlns:a="http://schemas.openxmlformats.org/drawingml/2006/main" cx="10668000" cy="3238500"/>
        </p:xfrm>
        <a:graphic xmlns:a="http://schemas.openxmlformats.org/drawingml/2006/main">
          <a:graphicData uri="http://schemas.openxmlformats.org/drawingml/2006/table">
            <a:tbl>
              <a:tblPr/>
              <a:tblGrid>
                <a:gridCol w="3048000"/>
                <a:gridCol w="3048000"/>
                <a:gridCol w="4572000"/>
              </a:tblGrid>
              <a:tr h="809625">
                <a:tc>
                  <a:txBody>
                    <a:bodyPr/>
                    <a:lstStyle/>
                    <a:p>
                      <a:r>
                        <a:rPr sz="2250" b="1">
                          <a:solidFill>
                            <a:srgbClr val="FFFFFF"/>
                          </a:solidFill>
                          <a:latin typeface="Arial"/>
                          <a:ea typeface="Arial"/>
                          <a:cs typeface="Arial"/>
                        </a:rPr>
                        <a:t>Модель</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Змінні</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ІТ-приклад</a:t>
                      </a:r>
                    </a:p>
                  </a:txBody>
                  <a:tcPr marL="114300" marR="114300" marT="66675" marB="66675" anchor="ctr">
                    <a:solidFill>
                      <a:srgbClr val="173047"/>
                    </a:solidFill>
                  </a:tcPr>
                </a:tc>
              </a:tr>
              <a:tr h="809625">
                <a:tc>
                  <a:txBody>
                    <a:bodyPr/>
                    <a:lstStyle/>
                    <a:p>
                      <a:r>
                        <a:rPr sz="2250">
                          <a:solidFill>
                            <a:srgbClr val="173047"/>
                          </a:solidFill>
                          <a:latin typeface="Arial"/>
                          <a:ea typeface="Arial"/>
                          <a:cs typeface="Arial"/>
                        </a:rPr>
                        <a:t>Цілочисельна</a:t>
                      </a:r>
                    </a:p>
                  </a:txBody>
                  <a:tcPr marL="114300" marR="114300" marT="66675" marB="66675" anchor="ctr">
                    <a:solidFill>
                      <a:srgbClr val="FFFFFF"/>
                    </a:solidFill>
                  </a:tcPr>
                </a:tc>
                <a:tc>
                  <a:txBody>
                    <a:bodyPr/>
                    <a:lstStyle/>
                    <a:p>
                      <a:r>
                        <a:rPr sz="2250">
                          <a:solidFill>
                            <a:srgbClr val="173047"/>
                          </a:solidFill>
                          <a:latin typeface="Arial"/>
                          <a:ea typeface="Arial"/>
                          <a:cs typeface="Arial"/>
                        </a:rPr>
                        <a:t>Цілі значення</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Кількість екземплярів VM</a:t>
                      </a:r>
                    </a:p>
                  </a:txBody>
                  <a:tcPr marL="114300" marR="114300" marT="66675" marB="66675" anchor="ctr">
                    <a:solidFill>
                      <a:srgbClr val="FFFFFF"/>
                    </a:solidFill>
                  </a:tcPr>
                </a:tc>
              </a:tr>
              <a:tr h="809625">
                <a:tc>
                  <a:txBody>
                    <a:bodyPr/>
                    <a:lstStyle/>
                    <a:p>
                      <a:r>
                        <a:rPr sz="2250">
                          <a:solidFill>
                            <a:srgbClr val="173047"/>
                          </a:solidFill>
                          <a:latin typeface="Arial"/>
                          <a:ea typeface="Arial"/>
                          <a:cs typeface="Arial"/>
                        </a:rPr>
                        <a:t>Бінарна</a:t>
                      </a:r>
                    </a:p>
                  </a:txBody>
                  <a:tcPr marL="114300" marR="114300" marT="66675" marB="66675" anchor="ctr">
                    <a:solidFill>
                      <a:srgbClr val="FFFFFF"/>
                    </a:solidFill>
                  </a:tcPr>
                </a:tc>
                <a:tc>
                  <a:txBody>
                    <a:bodyPr/>
                    <a:lstStyle/>
                    <a:p>
                      <a:r>
                        <a:rPr sz="2250">
                          <a:solidFill>
                            <a:srgbClr val="173047"/>
                          </a:solidFill>
                          <a:latin typeface="Arial"/>
                          <a:ea typeface="Arial"/>
                          <a:cs typeface="Arial"/>
                        </a:rPr>
                        <a:t>0 або 1</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Виконати завдання чи відкласти</a:t>
                      </a:r>
                    </a:p>
                  </a:txBody>
                  <a:tcPr marL="114300" marR="114300" marT="66675" marB="66675" anchor="ctr">
                    <a:solidFill>
                      <a:srgbClr val="FFFFFF"/>
                    </a:solidFill>
                  </a:tcPr>
                </a:tc>
              </a:tr>
              <a:tr h="809625">
                <a:tc>
                  <a:txBody>
                    <a:bodyPr/>
                    <a:lstStyle/>
                    <a:p>
                      <a:r>
                        <a:rPr sz="2250">
                          <a:solidFill>
                            <a:srgbClr val="173047"/>
                          </a:solidFill>
                          <a:latin typeface="Arial"/>
                          <a:ea typeface="Arial"/>
                          <a:cs typeface="Arial"/>
                        </a:rPr>
                        <a:t>Змішана (MILP)</a:t>
                      </a:r>
                    </a:p>
                  </a:txBody>
                  <a:tcPr marL="114300" marR="114300" marT="66675" marB="66675" anchor="ctr">
                    <a:solidFill>
                      <a:srgbClr val="FFFFFF"/>
                    </a:solidFill>
                  </a:tcPr>
                </a:tc>
                <a:tc>
                  <a:txBody>
                    <a:bodyPr/>
                    <a:lstStyle/>
                    <a:p>
                      <a:r>
                        <a:rPr sz="2250">
                          <a:solidFill>
                            <a:srgbClr val="173047"/>
                          </a:solidFill>
                          <a:latin typeface="Arial"/>
                          <a:ea typeface="Arial"/>
                          <a:cs typeface="Arial"/>
                        </a:rPr>
                        <a:t>Цілі й неперервні</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Запуск маршруту та його трафік</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0DDE687-EAED-4848-9AE0-9E1ADE125D0D}"/>
              </a:ext>
            </a:extLst>
          </p:cNvPr>
          <p:cNvSpPr>
            <a:spLocks xmlns:a="http://schemas.openxmlformats.org/drawingml/2006/main" noGrp="1"/>
          </p:cNvSpPr>
          <p:nvPr/>
        </p:nvSpPr>
        <p:spPr>
          <a:xfrm xmlns:a="http://schemas.openxmlformats.org/drawingml/2006/main">
            <a:off x="762000" y="5095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566779"/>
                </a:solidFill>
                <a:latin typeface="Arial"/>
                <a:ea typeface="Arial"/>
                <a:cs typeface="Arial"/>
              </a:defRPr>
            </a:defPPr>
          </a:lstStyle>
          <a:p xmlns:a="http://schemas.openxmlformats.org/drawingml/2006/main">
            <a:pPr algn="l">
              <a:defRPr sz="2325" b="0">
                <a:solidFill>
                  <a:srgbClr val="566779"/>
                </a:solidFill>
                <a:latin typeface="Arial"/>
                <a:ea typeface="Arial"/>
                <a:cs typeface="Arial"/>
              </a:defRPr>
            </a:pPr>
            <a:r>
              <a:rPr sz="2325" b="0">
                <a:solidFill>
                  <a:srgbClr val="566779"/>
                </a:solidFill>
                <a:latin typeface="Arial"/>
                <a:ea typeface="Arial"/>
                <a:cs typeface="Arial"/>
              </a:rPr>
              <a:t>Динамічне програмування є методом розв’язання.</a:t>
            </a:r>
          </a:p>
          <a:p xmlns:a="http://schemas.openxmlformats.org/drawingml/2006/main">
            <a:pPr algn="l">
              <a:defRPr sz="2325" b="0">
                <a:solidFill>
                  <a:srgbClr val="566779"/>
                </a:solidFill>
                <a:latin typeface="Arial"/>
                <a:ea typeface="Arial"/>
                <a:cs typeface="Arial"/>
              </a:defRPr>
            </a:pPr>
            <a:r>
              <a:rPr sz="2325" b="0">
                <a:solidFill>
                  <a:srgbClr val="566779"/>
                </a:solidFill>
                <a:latin typeface="Arial"/>
                <a:ea typeface="Arial"/>
                <a:cs typeface="Arial"/>
              </a:rPr>
              <a:t>Його застосовність залежить від структури задачі.</a:t>
            </a:r>
          </a:p>
        </p:txBody>
      </p:sp>
      <p:sp>
        <p:nvSpPr>
          <p:cNvPr id="5" name="">
            <a:extLst xmlns:a="http://schemas.openxmlformats.org/drawingml/2006/main">
              <a:ext uri="{FF2B5EF4-FFF2-40B4-BE49-F238E27FC236}">
                <a16:creationId xmlns:a16="http://schemas.microsoft.com/office/drawing/2014/main" id="{DEE0ABDC-632C-4F2A-911A-D72E590DA91F}"/>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88</a:t>
            </a:r>
          </a:p>
        </p:txBody>
      </p:sp>
    </p:spTree>
    <p:extLst>
      <p:ext uri="{BB962C8B-B14F-4D97-AF65-F5344CB8AC3E}">
        <p14:creationId xmlns:p14="http://schemas.microsoft.com/office/powerpoint/2010/main" val="130073371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C48341-4D47-42AD-9C3A-402854676CC9}"/>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Загальна модель MILP</a:t>
            </a:r>
          </a:p>
        </p:txBody>
      </p:sp>
      <p:sp>
        <p:nvSpPr>
          <p:cNvPr id="2" name="">
            <a:extLst xmlns:a="http://schemas.openxmlformats.org/drawingml/2006/main">
              <a:ext uri="{FF2B5EF4-FFF2-40B4-BE49-F238E27FC236}">
                <a16:creationId xmlns:a16="http://schemas.microsoft.com/office/drawing/2014/main" id="{27E73442-5287-4B94-9225-177F1C782D2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Цілочисельну вимогу задаємо лише потрібним компонентам x.</a:t>
            </a:r>
          </a:p>
        </p:txBody>
      </p:sp>
      <p:sp>
        <p:nvSpPr>
          <p:cNvPr id="3" name="">
            <a:extLst xmlns:a="http://schemas.openxmlformats.org/drawingml/2006/main">
              <a:ext uri="{FF2B5EF4-FFF2-40B4-BE49-F238E27FC236}">
                <a16:creationId xmlns:a16="http://schemas.microsoft.com/office/drawing/2014/main" id="{C88A5466-2FEB-4DBD-B10D-3EF334D9D2E0}"/>
              </a:ext>
            </a:extLst>
          </p:cNvPr>
          <p:cNvSpPr>
            <a:spLocks xmlns:a="http://schemas.openxmlformats.org/drawingml/2006/main" noGrp="1"/>
          </p:cNvSpPr>
          <p:nvPr/>
        </p:nvSpPr>
        <p:spPr>
          <a:xfrm xmlns:a="http://schemas.openxmlformats.org/drawingml/2006/main">
            <a:off x="762000" y="1476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1">
                <a:solidFill>
                  <a:srgbClr val="00857D"/>
                </a:solidFill>
                <a:latin typeface="Arial"/>
                <a:ea typeface="Arial"/>
                <a:cs typeface="Arial"/>
              </a:defRPr>
            </a:defPPr>
          </a:lstStyle>
          <a:p xmlns:a="http://schemas.openxmlformats.org/drawingml/2006/main">
            <a:pPr algn="l">
              <a:defRPr sz="3450" b="1">
                <a:solidFill>
                  <a:srgbClr val="00857D"/>
                </a:solidFill>
                <a:latin typeface="Arial"/>
                <a:ea typeface="Arial"/>
                <a:cs typeface="Arial"/>
              </a:defRPr>
            </a:pPr>
            <a:r>
              <a:rPr sz="3450" b="1">
                <a:solidFill>
                  <a:srgbClr val="00857D"/>
                </a:solidFill>
                <a:latin typeface="Arial"/>
                <a:ea typeface="Arial"/>
                <a:cs typeface="Arial"/>
              </a:rPr>
              <a:t>min  cᵀx</a:t>
            </a:r>
          </a:p>
        </p:txBody>
      </p:sp>
      <p:graphicFrame>
        <p:nvGraphicFramePr>
          <p:cNvPr id="4" name="">
            <a:extLst xmlns:a="http://schemas.openxmlformats.org/drawingml/2006/main">
              <a:ext uri="{FF2B5EF4-FFF2-40B4-BE49-F238E27FC236}">
                <a16:creationId xmlns:a16="http://schemas.microsoft.com/office/drawing/2014/main" id="{4CE672EF-8889-4138-AE25-0C36AB63D383}"/>
              </a:ext>
            </a:extLst>
          </p:cNvPr>
          <p:cNvGraphicFramePr/>
          <p:nvPr/>
        </p:nvGraphicFramePr>
        <p:xfrm>
          <a:off xmlns:a="http://schemas.openxmlformats.org/drawingml/2006/main" x="762000" y="2447925"/>
          <a:ext xmlns:a="http://schemas.openxmlformats.org/drawingml/2006/main" cx="10668000" cy="3238500"/>
        </p:xfrm>
        <a:graphic xmlns:a="http://schemas.openxmlformats.org/drawingml/2006/main">
          <a:graphicData uri="http://schemas.openxmlformats.org/drawingml/2006/table">
            <a:tbl>
              <a:tblPr/>
              <a:tblGrid>
                <a:gridCol w="4191000"/>
                <a:gridCol w="6477000"/>
              </a:tblGrid>
              <a:tr h="647700">
                <a:tc>
                  <a:txBody>
                    <a:bodyPr/>
                    <a:lstStyle/>
                    <a:p>
                      <a:r>
                        <a:rPr sz="2325" b="1">
                          <a:solidFill>
                            <a:srgbClr val="FFFFFF"/>
                          </a:solidFill>
                          <a:latin typeface="Arial"/>
                          <a:ea typeface="Arial"/>
                          <a:cs typeface="Arial"/>
                        </a:rPr>
                        <a:t>Умова</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Зміст</a:t>
                      </a:r>
                    </a:p>
                  </a:txBody>
                  <a:tcPr marL="114300" marR="114300" marT="66675" marB="66675" anchor="ctr">
                    <a:solidFill>
                      <a:srgbClr val="173047"/>
                    </a:solidFill>
                  </a:tcPr>
                </a:tc>
              </a:tr>
              <a:tr h="647700">
                <a:tc>
                  <a:txBody>
                    <a:bodyPr/>
                    <a:lstStyle/>
                    <a:p>
                      <a:r>
                        <a:rPr sz="2325">
                          <a:solidFill>
                            <a:srgbClr val="173047"/>
                          </a:solidFill>
                          <a:latin typeface="Arial"/>
                          <a:ea typeface="Arial"/>
                          <a:cs typeface="Arial"/>
                        </a:rPr>
                        <a:t>bₗ ≤ Ax ≤ bᵤ</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Рівності та нерівності моделі</a:t>
                      </a:r>
                    </a:p>
                  </a:txBody>
                  <a:tcPr marL="114300" marR="114300" marT="66675" marB="66675" anchor="ctr">
                    <a:solidFill>
                      <a:srgbClr val="FFFFFF"/>
                    </a:solidFill>
                  </a:tcPr>
                </a:tc>
              </a:tr>
              <a:tr h="647700">
                <a:tc>
                  <a:txBody>
                    <a:bodyPr/>
                    <a:lstStyle/>
                    <a:p>
                      <a:r>
                        <a:rPr sz="2325">
                          <a:solidFill>
                            <a:srgbClr val="173047"/>
                          </a:solidFill>
                          <a:latin typeface="Arial"/>
                          <a:ea typeface="Arial"/>
                          <a:cs typeface="Arial"/>
                        </a:rPr>
                        <a:t>l ≤ x ≤ u</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Межі кожної змінної</a:t>
                      </a:r>
                    </a:p>
                  </a:txBody>
                  <a:tcPr marL="114300" marR="114300" marT="66675" marB="66675" anchor="ctr">
                    <a:solidFill>
                      <a:srgbClr val="FFFFFF"/>
                    </a:solidFill>
                  </a:tcPr>
                </a:tc>
              </a:tr>
              <a:tr h="647700">
                <a:tc>
                  <a:txBody>
                    <a:bodyPr/>
                    <a:lstStyle/>
                    <a:p>
                      <a:r>
                        <a:rPr sz="2325">
                          <a:solidFill>
                            <a:srgbClr val="173047"/>
                          </a:solidFill>
                          <a:latin typeface="Arial"/>
                          <a:ea typeface="Arial"/>
                          <a:cs typeface="Arial"/>
                        </a:rPr>
                        <a:t>xⱼ ціла для j ∈ J</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Окремі рішення неподільні</a:t>
                      </a:r>
                    </a:p>
                  </a:txBody>
                  <a:tcPr marL="114300" marR="114300" marT="66675" marB="66675" anchor="ctr">
                    <a:solidFill>
                      <a:srgbClr val="FFFFFF"/>
                    </a:solidFill>
                  </a:tcPr>
                </a:tc>
              </a:tr>
              <a:tr h="647700">
                <a:tc>
                  <a:txBody>
                    <a:bodyPr/>
                    <a:lstStyle/>
                    <a:p>
                      <a:r>
                        <a:rPr sz="2325">
                          <a:solidFill>
                            <a:srgbClr val="173047"/>
                          </a:solidFill>
                          <a:latin typeface="Arial"/>
                          <a:ea typeface="Arial"/>
                          <a:cs typeface="Arial"/>
                        </a:rPr>
                        <a:t>0 ≤ xⱼ ≤ 1 та xⱼ ціла</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Бінарне рішення</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67C1132-2849-4D9B-9AE8-BA6485ECCB93}"/>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89</a:t>
            </a:r>
          </a:p>
        </p:txBody>
      </p:sp>
    </p:spTree>
    <p:extLst>
      <p:ext uri="{BB962C8B-B14F-4D97-AF65-F5344CB8AC3E}">
        <p14:creationId xmlns:p14="http://schemas.microsoft.com/office/powerpoint/2010/main" val="84392623"/>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4736C2-7614-4380-8387-DC43DBCB3DA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Приклад 1: скільки VM орендувати?</a:t>
            </a:r>
          </a:p>
        </p:txBody>
      </p:sp>
      <p:sp>
        <p:nvSpPr>
          <p:cNvPr id="2" name="">
            <a:extLst xmlns:a="http://schemas.openxmlformats.org/drawingml/2006/main">
              <a:ext uri="{FF2B5EF4-FFF2-40B4-BE49-F238E27FC236}">
                <a16:creationId xmlns:a16="http://schemas.microsoft.com/office/drawing/2014/main" id="{6EA1A341-AE22-4DC7-A672-07A648A4539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Кожний екземпляр VM орендуємо повністю.</a:t>
            </a:r>
          </a:p>
        </p:txBody>
      </p:sp>
      <p:sp>
        <p:nvSpPr>
          <p:cNvPr id="3" name="">
            <a:extLst xmlns:a="http://schemas.openxmlformats.org/drawingml/2006/main">
              <a:ext uri="{FF2B5EF4-FFF2-40B4-BE49-F238E27FC236}">
                <a16:creationId xmlns:a16="http://schemas.microsoft.com/office/drawing/2014/main" id="{A2BA6178-17D9-493B-B72F-D6BA5D5A56D0}"/>
              </a:ext>
            </a:extLst>
          </p:cNvPr>
          <p:cNvSpPr>
            <a:spLocks xmlns:a="http://schemas.openxmlformats.org/drawingml/2006/main" noGrp="1"/>
          </p:cNvSpPr>
          <p:nvPr/>
        </p:nvSpPr>
        <p:spPr>
          <a:xfrm xmlns:a="http://schemas.openxmlformats.org/drawingml/2006/main">
            <a:off x="762000" y="147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00857D"/>
                </a:solidFill>
                <a:latin typeface="Arial"/>
                <a:ea typeface="Arial"/>
                <a:cs typeface="Arial"/>
              </a:defRPr>
            </a:defPPr>
          </a:lstStyle>
          <a:p xmlns:a="http://schemas.openxmlformats.org/drawingml/2006/main">
            <a:pPr algn="l">
              <a:defRPr sz="2700" b="1">
                <a:solidFill>
                  <a:srgbClr val="00857D"/>
                </a:solidFill>
                <a:latin typeface="Arial"/>
                <a:ea typeface="Arial"/>
                <a:cs typeface="Arial"/>
              </a:defRPr>
            </a:pPr>
            <a:r>
              <a:rPr sz="2700" b="1">
                <a:solidFill>
                  <a:srgbClr val="00857D"/>
                </a:solidFill>
                <a:latin typeface="Arial"/>
                <a:ea typeface="Arial"/>
                <a:cs typeface="Arial"/>
              </a:rPr>
              <a:t>Сервісу потрібно щонайменше 11 vCPU.</a:t>
            </a:r>
          </a:p>
        </p:txBody>
      </p:sp>
      <p:graphicFrame>
        <p:nvGraphicFramePr>
          <p:cNvPr id="4" name="">
            <a:extLst xmlns:a="http://schemas.openxmlformats.org/drawingml/2006/main">
              <a:ext uri="{FF2B5EF4-FFF2-40B4-BE49-F238E27FC236}">
                <a16:creationId xmlns:a16="http://schemas.microsoft.com/office/drawing/2014/main" id="{25A1AFF0-EAA3-4A47-8459-F1CC154D480C}"/>
              </a:ext>
            </a:extLst>
          </p:cNvPr>
          <p:cNvGraphicFramePr/>
          <p:nvPr/>
        </p:nvGraphicFramePr>
        <p:xfrm>
          <a:off xmlns:a="http://schemas.openxmlformats.org/drawingml/2006/main" x="762000" y="2476500"/>
          <a:ext xmlns:a="http://schemas.openxmlformats.org/drawingml/2006/main" cx="10668000" cy="2476500"/>
        </p:xfrm>
        <a:graphic xmlns:a="http://schemas.openxmlformats.org/drawingml/2006/main">
          <a:graphicData uri="http://schemas.openxmlformats.org/drawingml/2006/table">
            <a:tbl>
              <a:tblPr/>
              <a:tblGrid>
                <a:gridCol w="3048000"/>
                <a:gridCol w="2190750"/>
                <a:gridCol w="2952750"/>
                <a:gridCol w="2476500"/>
              </a:tblGrid>
              <a:tr h="825500">
                <a:tc>
                  <a:txBody>
                    <a:bodyPr/>
                    <a:lstStyle/>
                    <a:p>
                      <a:r>
                        <a:rPr sz="2325" b="1">
                          <a:solidFill>
                            <a:srgbClr val="FFFFFF"/>
                          </a:solidFill>
                          <a:latin typeface="Arial"/>
                          <a:ea typeface="Arial"/>
                          <a:cs typeface="Arial"/>
                        </a:rPr>
                        <a:t>Конфігурація</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vCPU / VM</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Вартість / год</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Доступно VM</a:t>
                      </a:r>
                    </a:p>
                  </a:txBody>
                  <a:tcPr marL="114300" marR="114300" marT="66675" marB="66675" anchor="ctr">
                    <a:solidFill>
                      <a:srgbClr val="173047"/>
                    </a:solidFill>
                  </a:tcPr>
                </a:tc>
              </a:tr>
              <a:tr h="825500">
                <a:tc>
                  <a:txBody>
                    <a:bodyPr/>
                    <a:lstStyle/>
                    <a:p>
                      <a:r>
                        <a:rPr sz="2325">
                          <a:solidFill>
                            <a:srgbClr val="173047"/>
                          </a:solidFill>
                          <a:latin typeface="Arial"/>
                          <a:ea typeface="Arial"/>
                          <a:cs typeface="Arial"/>
                        </a:rPr>
                        <a:t>A</a:t>
                      </a:r>
                    </a:p>
                  </a:txBody>
                  <a:tcPr marL="114300" marR="114300" marT="66675" marB="66675" anchor="ctr">
                    <a:solidFill>
                      <a:srgbClr val="FFFFFF"/>
                    </a:solidFill>
                  </a:tcPr>
                </a:tc>
                <a:tc>
                  <a:txBody>
                    <a:bodyPr/>
                    <a:lstStyle/>
                    <a:p>
                      <a:r>
                        <a:rPr sz="2325">
                          <a:solidFill>
                            <a:srgbClr val="173047"/>
                          </a:solidFill>
                          <a:latin typeface="Arial"/>
                          <a:ea typeface="Arial"/>
                          <a:cs typeface="Arial"/>
                        </a:rPr>
                        <a:t>3</a:t>
                      </a:r>
                    </a:p>
                  </a:txBody>
                  <a:tcPr marL="114300" marR="114300" marT="66675" marB="66675" anchor="ctr">
                    <a:solidFill>
                      <a:srgbClr val="FFFFFF"/>
                    </a:solidFill>
                  </a:tcPr>
                </a:tc>
                <a:tc>
                  <a:txBody>
                    <a:bodyPr/>
                    <a:lstStyle/>
                    <a:p>
                      <a:r>
                        <a:rPr sz="2325">
                          <a:solidFill>
                            <a:srgbClr val="173047"/>
                          </a:solidFill>
                          <a:latin typeface="Arial"/>
                          <a:ea typeface="Arial"/>
                          <a:cs typeface="Arial"/>
                        </a:rPr>
                        <a:t>5 ум. од.</a:t>
                      </a:r>
                    </a:p>
                  </a:txBody>
                  <a:tcPr marL="114300" marR="114300" marT="66675" marB="66675" anchor="ctr">
                    <a:solidFill>
                      <a:srgbClr val="FFFFFF"/>
                    </a:solidFill>
                  </a:tcPr>
                </a:tc>
                <a:tc>
                  <a:txBody>
                    <a:bodyPr/>
                    <a:lstStyle/>
                    <a:p>
                      <a:r>
                        <a:rPr sz="2325">
                          <a:solidFill>
                            <a:srgbClr val="173047"/>
                          </a:solidFill>
                          <a:latin typeface="Arial"/>
                          <a:ea typeface="Arial"/>
                          <a:cs typeface="Arial"/>
                        </a:rPr>
                        <a:t>4</a:t>
                      </a:r>
                    </a:p>
                  </a:txBody>
                  <a:tcPr marL="114300" marR="114300" marT="66675" marB="66675" anchor="ctr">
                    <a:solidFill>
                      <a:srgbClr val="FFFFFF"/>
                    </a:solidFill>
                  </a:tcPr>
                </a:tc>
              </a:tr>
              <a:tr h="825500">
                <a:tc>
                  <a:txBody>
                    <a:bodyPr/>
                    <a:lstStyle/>
                    <a:p>
                      <a:r>
                        <a:rPr sz="2325">
                          <a:solidFill>
                            <a:srgbClr val="173047"/>
                          </a:solidFill>
                          <a:latin typeface="Arial"/>
                          <a:ea typeface="Arial"/>
                          <a:cs typeface="Arial"/>
                        </a:rPr>
                        <a:t>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5</a:t>
                      </a:r>
                    </a:p>
                  </a:txBody>
                  <a:tcPr marL="114300" marR="114300" marT="66675" marB="66675" anchor="ctr">
                    <a:solidFill>
                      <a:srgbClr val="FFFFFF"/>
                    </a:solidFill>
                  </a:tcPr>
                </a:tc>
                <a:tc>
                  <a:txBody>
                    <a:bodyPr/>
                    <a:lstStyle/>
                    <a:p>
                      <a:r>
                        <a:rPr sz="2325">
                          <a:solidFill>
                            <a:srgbClr val="173047"/>
                          </a:solidFill>
                          <a:latin typeface="Arial"/>
                          <a:ea typeface="Arial"/>
                          <a:cs typeface="Arial"/>
                        </a:rPr>
                        <a:t>8 ум. од.</a:t>
                      </a:r>
                    </a:p>
                  </a:txBody>
                  <a:tcPr marL="114300" marR="114300" marT="66675" marB="66675" anchor="ctr">
                    <a:solidFill>
                      <a:srgbClr val="FFFFFF"/>
                    </a:solidFill>
                  </a:tcPr>
                </a:tc>
                <a:tc>
                  <a:txBody>
                    <a:bodyPr/>
                    <a:lstStyle/>
                    <a:p>
                      <a:r>
                        <a:rPr sz="2325">
                          <a:solidFill>
                            <a:srgbClr val="173047"/>
                          </a:solidFill>
                          <a:latin typeface="Arial"/>
                          <a:ea typeface="Arial"/>
                          <a:cs typeface="Arial"/>
                        </a:rPr>
                        <a:t>3</a:t>
                      </a:r>
                    </a:p>
                  </a:txBody>
                  <a:tcPr marL="114300" marR="114300" marT="66675" marB="666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94AC06D-0351-452C-A15F-2308A97D2BA4}"/>
              </a:ext>
            </a:extLst>
          </p:cNvPr>
          <p:cNvSpPr>
            <a:spLocks xmlns:a="http://schemas.openxmlformats.org/drawingml/2006/main" noGrp="1"/>
          </p:cNvSpPr>
          <p:nvPr/>
        </p:nvSpPr>
        <p:spPr>
          <a:xfrm xmlns:a="http://schemas.openxmlformats.org/drawingml/2006/main">
            <a:off x="762000" y="5143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173047"/>
                </a:solidFill>
                <a:latin typeface="Arial"/>
                <a:ea typeface="Arial"/>
                <a:cs typeface="Arial"/>
              </a:defRPr>
            </a:defPPr>
          </a:lstStyle>
          <a:p xmlns:a="http://schemas.openxmlformats.org/drawingml/2006/main">
            <a:pPr algn="l">
              <a:defRPr sz="2400" b="0">
                <a:solidFill>
                  <a:srgbClr val="173047"/>
                </a:solidFill>
                <a:latin typeface="Arial"/>
                <a:ea typeface="Arial"/>
                <a:cs typeface="Arial"/>
              </a:defRPr>
            </a:pPr>
            <a:r>
              <a:rPr sz="2400" b="0">
                <a:solidFill>
                  <a:srgbClr val="173047"/>
                </a:solidFill>
                <a:latin typeface="Arial"/>
                <a:ea typeface="Arial"/>
                <a:cs typeface="Arial"/>
              </a:rPr>
              <a:t>x₁ — кількість VM типу A</a:t>
            </a:r>
          </a:p>
          <a:p xmlns:a="http://schemas.openxmlformats.org/drawingml/2006/main">
            <a:pPr algn="l">
              <a:defRPr sz="2400" b="0">
                <a:solidFill>
                  <a:srgbClr val="173047"/>
                </a:solidFill>
                <a:latin typeface="Arial"/>
                <a:ea typeface="Arial"/>
                <a:cs typeface="Arial"/>
              </a:defRPr>
            </a:pPr>
            <a:r>
              <a:rPr sz="2400" b="0">
                <a:solidFill>
                  <a:srgbClr val="173047"/>
                </a:solidFill>
                <a:latin typeface="Arial"/>
                <a:ea typeface="Arial"/>
                <a:cs typeface="Arial"/>
              </a:rPr>
              <a:t>x₂ — кількість VM типу B</a:t>
            </a:r>
          </a:p>
        </p:txBody>
      </p:sp>
      <p:sp>
        <p:nvSpPr>
          <p:cNvPr id="6" name="">
            <a:extLst xmlns:a="http://schemas.openxmlformats.org/drawingml/2006/main">
              <a:ext uri="{FF2B5EF4-FFF2-40B4-BE49-F238E27FC236}">
                <a16:creationId xmlns:a16="http://schemas.microsoft.com/office/drawing/2014/main" id="{A18AE996-A5AF-48B2-BE19-1FD2B108454A}"/>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90</a:t>
            </a:r>
          </a:p>
        </p:txBody>
      </p:sp>
    </p:spTree>
    <p:extLst>
      <p:ext uri="{BB962C8B-B14F-4D97-AF65-F5344CB8AC3E}">
        <p14:creationId xmlns:p14="http://schemas.microsoft.com/office/powerpoint/2010/main" val="193915019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C95B31-DFBE-4C2E-A6E9-28255DD75159}"/>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VM: конкретна математична модель</a:t>
            </a:r>
          </a:p>
        </p:txBody>
      </p:sp>
      <p:sp>
        <p:nvSpPr>
          <p:cNvPr id="2" name="">
            <a:extLst xmlns:a="http://schemas.openxmlformats.org/drawingml/2006/main">
              <a:ext uri="{FF2B5EF4-FFF2-40B4-BE49-F238E27FC236}">
                <a16:creationId xmlns:a16="http://schemas.microsoft.com/office/drawing/2014/main" id="{0F82AA00-FA6B-4326-9D4F-D1DDD2D23D7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Ціль вимірює витрати за годину.</a:t>
            </a:r>
          </a:p>
        </p:txBody>
      </p:sp>
      <p:sp>
        <p:nvSpPr>
          <p:cNvPr id="3" name="">
            <a:extLst xmlns:a="http://schemas.openxmlformats.org/drawingml/2006/main">
              <a:ext uri="{FF2B5EF4-FFF2-40B4-BE49-F238E27FC236}">
                <a16:creationId xmlns:a16="http://schemas.microsoft.com/office/drawing/2014/main" id="{73FAC46E-1C53-4F5D-9F4D-D3B9E2466FED}"/>
              </a:ext>
            </a:extLst>
          </p:cNvPr>
          <p:cNvSpPr>
            <a:spLocks xmlns:a="http://schemas.openxmlformats.org/drawingml/2006/main" noGrp="1"/>
          </p:cNvSpPr>
          <p:nvPr/>
        </p:nvSpPr>
        <p:spPr>
          <a:xfrm xmlns:a="http://schemas.openxmlformats.org/drawingml/2006/main">
            <a:off x="762000" y="146685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0">
                <a:solidFill>
                  <a:srgbClr val="173047"/>
                </a:solidFill>
                <a:latin typeface="Arial"/>
                <a:ea typeface="Arial"/>
                <a:cs typeface="Arial"/>
              </a:defRPr>
            </a:defPPr>
          </a:lstStyle>
          <a:p xmlns:a="http://schemas.openxmlformats.org/drawingml/2006/main">
            <a:pPr algn="l">
              <a:defRPr sz="3000" b="0">
                <a:solidFill>
                  <a:srgbClr val="173047"/>
                </a:solidFill>
                <a:latin typeface="Arial"/>
                <a:ea typeface="Arial"/>
                <a:cs typeface="Arial"/>
              </a:defRPr>
            </a:pPr>
            <a:r>
              <a:rPr sz="3000" b="0">
                <a:solidFill>
                  <a:srgbClr val="173047"/>
                </a:solidFill>
                <a:latin typeface="Arial"/>
                <a:ea typeface="Arial"/>
                <a:cs typeface="Arial"/>
              </a:rPr>
              <a:t>min C = 5x₁ + 8x₂</a:t>
            </a:r>
          </a:p>
        </p:txBody>
      </p:sp>
      <p:sp>
        <p:nvSpPr>
          <p:cNvPr id="4" name="">
            <a:extLst xmlns:a="http://schemas.openxmlformats.org/drawingml/2006/main">
              <a:ext uri="{FF2B5EF4-FFF2-40B4-BE49-F238E27FC236}">
                <a16:creationId xmlns:a16="http://schemas.microsoft.com/office/drawing/2014/main" id="{CB4C2EE9-6C8C-44BD-9AEC-90A83F36D602}"/>
              </a:ext>
            </a:extLst>
          </p:cNvPr>
          <p:cNvSpPr>
            <a:spLocks xmlns:a="http://schemas.openxmlformats.org/drawingml/2006/main" noGrp="1"/>
          </p:cNvSpPr>
          <p:nvPr/>
        </p:nvSpPr>
        <p:spPr>
          <a:xfrm xmlns:a="http://schemas.openxmlformats.org/drawingml/2006/main">
            <a:off x="762000" y="24669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0">
                <a:solidFill>
                  <a:srgbClr val="173047"/>
                </a:solidFill>
                <a:latin typeface="Arial"/>
                <a:ea typeface="Arial"/>
                <a:cs typeface="Arial"/>
              </a:defRPr>
            </a:defPPr>
          </a:lstStyle>
          <a:p xmlns:a="http://schemas.openxmlformats.org/drawingml/2006/main">
            <a:pPr algn="l">
              <a:defRPr sz="3000" b="0">
                <a:solidFill>
                  <a:srgbClr val="173047"/>
                </a:solidFill>
                <a:latin typeface="Arial"/>
                <a:ea typeface="Arial"/>
                <a:cs typeface="Arial"/>
              </a:defRPr>
            </a:pPr>
            <a:r>
              <a:rPr sz="3000" b="0">
                <a:solidFill>
                  <a:srgbClr val="173047"/>
                </a:solidFill>
                <a:latin typeface="Arial"/>
                <a:ea typeface="Arial"/>
                <a:cs typeface="Arial"/>
              </a:rPr>
              <a:t>3x₁ + 5x₂ ≥ 11</a:t>
            </a:r>
          </a:p>
        </p:txBody>
      </p:sp>
      <p:sp>
        <p:nvSpPr>
          <p:cNvPr id="5" name="">
            <a:extLst xmlns:a="http://schemas.openxmlformats.org/drawingml/2006/main">
              <a:ext uri="{FF2B5EF4-FFF2-40B4-BE49-F238E27FC236}">
                <a16:creationId xmlns:a16="http://schemas.microsoft.com/office/drawing/2014/main" id="{303DF71A-44BA-4BD0-811B-2309AF8E236B}"/>
              </a:ext>
            </a:extLst>
          </p:cNvPr>
          <p:cNvSpPr>
            <a:spLocks xmlns:a="http://schemas.openxmlformats.org/drawingml/2006/main" noGrp="1"/>
          </p:cNvSpPr>
          <p:nvPr/>
        </p:nvSpPr>
        <p:spPr>
          <a:xfrm xmlns:a="http://schemas.openxmlformats.org/drawingml/2006/main">
            <a:off x="762000" y="346710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0">
                <a:solidFill>
                  <a:srgbClr val="173047"/>
                </a:solidFill>
                <a:latin typeface="Arial"/>
                <a:ea typeface="Arial"/>
                <a:cs typeface="Arial"/>
              </a:defRPr>
            </a:defPPr>
          </a:lstStyle>
          <a:p xmlns:a="http://schemas.openxmlformats.org/drawingml/2006/main">
            <a:pPr algn="l">
              <a:defRPr sz="3000" b="0">
                <a:solidFill>
                  <a:srgbClr val="173047"/>
                </a:solidFill>
                <a:latin typeface="Arial"/>
                <a:ea typeface="Arial"/>
                <a:cs typeface="Arial"/>
              </a:defRPr>
            </a:pPr>
            <a:r>
              <a:rPr sz="3000" b="0">
                <a:solidFill>
                  <a:srgbClr val="173047"/>
                </a:solidFill>
                <a:latin typeface="Arial"/>
                <a:ea typeface="Arial"/>
                <a:cs typeface="Arial"/>
              </a:rPr>
              <a:t>0 ≤ x₁ ≤ 4,  0 ≤ x₂ ≤ 3</a:t>
            </a:r>
          </a:p>
        </p:txBody>
      </p:sp>
      <p:sp>
        <p:nvSpPr>
          <p:cNvPr id="6" name="">
            <a:extLst xmlns:a="http://schemas.openxmlformats.org/drawingml/2006/main">
              <a:ext uri="{FF2B5EF4-FFF2-40B4-BE49-F238E27FC236}">
                <a16:creationId xmlns:a16="http://schemas.microsoft.com/office/drawing/2014/main" id="{94BBEDEA-39F6-45E0-92F6-D8F022CDDBA0}"/>
              </a:ext>
            </a:extLst>
          </p:cNvPr>
          <p:cNvSpPr>
            <a:spLocks xmlns:a="http://schemas.openxmlformats.org/drawingml/2006/main" noGrp="1"/>
          </p:cNvSpPr>
          <p:nvPr/>
        </p:nvSpPr>
        <p:spPr>
          <a:xfrm xmlns:a="http://schemas.openxmlformats.org/drawingml/2006/main">
            <a:off x="762000" y="446722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0">
                <a:solidFill>
                  <a:srgbClr val="173047"/>
                </a:solidFill>
                <a:latin typeface="Arial"/>
                <a:ea typeface="Arial"/>
                <a:cs typeface="Arial"/>
              </a:defRPr>
            </a:defPPr>
          </a:lstStyle>
          <a:p xmlns:a="http://schemas.openxmlformats.org/drawingml/2006/main">
            <a:pPr algn="l">
              <a:defRPr sz="3000" b="0">
                <a:solidFill>
                  <a:srgbClr val="173047"/>
                </a:solidFill>
                <a:latin typeface="Arial"/>
                <a:ea typeface="Arial"/>
                <a:cs typeface="Arial"/>
              </a:defRPr>
            </a:pPr>
            <a:r>
              <a:rPr sz="3000" b="0">
                <a:solidFill>
                  <a:srgbClr val="173047"/>
                </a:solidFill>
                <a:latin typeface="Arial"/>
                <a:ea typeface="Arial"/>
                <a:cs typeface="Arial"/>
              </a:rPr>
              <a:t>x₁, x₂ — цілі</a:t>
            </a:r>
          </a:p>
        </p:txBody>
      </p:sp>
      <p:sp>
        <p:nvSpPr>
          <p:cNvPr id="7" name="">
            <a:extLst xmlns:a="http://schemas.openxmlformats.org/drawingml/2006/main">
              <a:ext uri="{FF2B5EF4-FFF2-40B4-BE49-F238E27FC236}">
                <a16:creationId xmlns:a16="http://schemas.microsoft.com/office/drawing/2014/main" id="{17893D2B-5DFA-4673-A47E-7A0B9FDDD298}"/>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91</a:t>
            </a:r>
          </a:p>
        </p:txBody>
      </p:sp>
    </p:spTree>
    <p:extLst>
      <p:ext uri="{BB962C8B-B14F-4D97-AF65-F5344CB8AC3E}">
        <p14:creationId xmlns:p14="http://schemas.microsoft.com/office/powerpoint/2010/main" val="445975767"/>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A326C9-0DE7-4DD7-88BA-FAB494FC22E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Чому округлення ЛП не розв’язує задачу?</a:t>
            </a:r>
          </a:p>
        </p:txBody>
      </p:sp>
      <p:sp>
        <p:nvSpPr>
          <p:cNvPr id="2" name="">
            <a:extLst xmlns:a="http://schemas.openxmlformats.org/drawingml/2006/main">
              <a:ext uri="{FF2B5EF4-FFF2-40B4-BE49-F238E27FC236}">
                <a16:creationId xmlns:a16="http://schemas.microsoft.com/office/drawing/2014/main" id="{D6E131E7-F57B-4346-86E0-5E734147DF7B}"/>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Оптимальна ціла пара: x = (2, 1), C = 18.</a:t>
            </a:r>
          </a:p>
        </p:txBody>
      </p:sp>
      <p:graphicFrame>
        <p:nvGraphicFramePr>
          <p:cNvPr id="3" name="">
            <a:extLst xmlns:a="http://schemas.openxmlformats.org/drawingml/2006/main">
              <a:ext uri="{FF2B5EF4-FFF2-40B4-BE49-F238E27FC236}">
                <a16:creationId xmlns:a16="http://schemas.microsoft.com/office/drawing/2014/main" id="{112A0D20-63F2-41A4-B45D-BCF28F6EF82D}"/>
              </a:ext>
            </a:extLst>
          </p:cNvPr>
          <p:cNvGraphicFramePr/>
          <p:nvPr/>
        </p:nvGraphicFramePr>
        <p:xfrm>
          <a:off xmlns:a="http://schemas.openxmlformats.org/drawingml/2006/main" x="762000" y="1552575"/>
          <a:ext xmlns:a="http://schemas.openxmlformats.org/drawingml/2006/main" cx="10668000" cy="4000500"/>
        </p:xfrm>
        <a:graphic xmlns:a="http://schemas.openxmlformats.org/drawingml/2006/main">
          <a:graphicData uri="http://schemas.openxmlformats.org/drawingml/2006/table">
            <a:tbl>
              <a:tblPr/>
              <a:tblGrid>
                <a:gridCol w="2714625"/>
                <a:gridCol w="1571625"/>
                <a:gridCol w="1285875"/>
                <a:gridCol w="1285875"/>
                <a:gridCol w="3810000"/>
              </a:tblGrid>
              <a:tr h="800100">
                <a:tc>
                  <a:txBody>
                    <a:bodyPr/>
                    <a:lstStyle/>
                    <a:p>
                      <a:r>
                        <a:rPr sz="2175" b="1">
                          <a:solidFill>
                            <a:srgbClr val="FFFFFF"/>
                          </a:solidFill>
                          <a:latin typeface="Arial"/>
                          <a:ea typeface="Arial"/>
                          <a:cs typeface="Arial"/>
                        </a:rPr>
                        <a:t>План</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x₁, x₂</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vCPU</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C</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Допустимість</a:t>
                      </a:r>
                    </a:p>
                  </a:txBody>
                  <a:tcPr marL="114300" marR="114300" marT="66675" marB="66675" anchor="ctr">
                    <a:solidFill>
                      <a:srgbClr val="173047"/>
                    </a:solidFill>
                  </a:tcPr>
                </a:tc>
              </a:tr>
              <a:tr h="800100">
                <a:tc>
                  <a:txBody>
                    <a:bodyPr/>
                    <a:lstStyle/>
                    <a:p>
                      <a:r>
                        <a:rPr sz="2175">
                          <a:solidFill>
                            <a:srgbClr val="173047"/>
                          </a:solidFill>
                          <a:latin typeface="Arial"/>
                          <a:ea typeface="Arial"/>
                          <a:cs typeface="Arial"/>
                        </a:rPr>
                        <a:t>LP</a:t>
                      </a:r>
                    </a:p>
                  </a:txBody>
                  <a:tcPr marL="114300" marR="114300" marT="66675" marB="66675" anchor="ctr">
                    <a:solidFill>
                      <a:srgbClr val="FFFFFF"/>
                    </a:solidFill>
                  </a:tcPr>
                </a:tc>
                <a:tc>
                  <a:txBody>
                    <a:bodyPr/>
                    <a:lstStyle/>
                    <a:p>
                      <a:r>
                        <a:rPr sz="2175">
                          <a:solidFill>
                            <a:srgbClr val="173047"/>
                          </a:solidFill>
                          <a:latin typeface="Arial"/>
                          <a:ea typeface="Arial"/>
                          <a:cs typeface="Arial"/>
                        </a:rPr>
                        <a:t>0; 2.2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11</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17.6</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Дробова VM</a:t>
                      </a:r>
                    </a:p>
                  </a:txBody>
                  <a:tcPr marL="114300" marR="114300" marT="66675" marB="66675" anchor="ctr">
                    <a:solidFill>
                      <a:srgbClr val="FFFFFF"/>
                    </a:solidFill>
                  </a:tcPr>
                </a:tc>
              </a:tr>
              <a:tr h="800100">
                <a:tc>
                  <a:txBody>
                    <a:bodyPr/>
                    <a:lstStyle/>
                    <a:p>
                      <a:r>
                        <a:rPr sz="2175">
                          <a:solidFill>
                            <a:srgbClr val="173047"/>
                          </a:solidFill>
                          <a:latin typeface="Arial"/>
                          <a:ea typeface="Arial"/>
                          <a:cs typeface="Arial"/>
                        </a:rPr>
                        <a:t>Найближче ціле</a:t>
                      </a:r>
                    </a:p>
                  </a:txBody>
                  <a:tcPr marL="114300" marR="114300" marT="66675" marB="66675" anchor="ctr">
                    <a:solidFill>
                      <a:srgbClr val="FFFFFF"/>
                    </a:solidFill>
                  </a:tcPr>
                </a:tc>
                <a:tc>
                  <a:txBody>
                    <a:bodyPr/>
                    <a:lstStyle/>
                    <a:p>
                      <a:r>
                        <a:rPr sz="2175">
                          <a:solidFill>
                            <a:srgbClr val="173047"/>
                          </a:solidFill>
                          <a:latin typeface="Arial"/>
                          <a:ea typeface="Arial"/>
                          <a:cs typeface="Arial"/>
                        </a:rPr>
                        <a:t>0; 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16</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Попит не виконано</a:t>
                      </a:r>
                    </a:p>
                  </a:txBody>
                  <a:tcPr marL="114300" marR="114300" marT="66675" marB="66675" anchor="ctr">
                    <a:solidFill>
                      <a:srgbClr val="FFFFFF"/>
                    </a:solidFill>
                  </a:tcPr>
                </a:tc>
              </a:tr>
              <a:tr h="800100">
                <a:tc>
                  <a:txBody>
                    <a:bodyPr/>
                    <a:lstStyle/>
                    <a:p>
                      <a:r>
                        <a:rPr sz="2175">
                          <a:solidFill>
                            <a:srgbClr val="173047"/>
                          </a:solidFill>
                          <a:latin typeface="Arial"/>
                          <a:ea typeface="Arial"/>
                          <a:cs typeface="Arial"/>
                        </a:rPr>
                        <a:t>Вгору</a:t>
                      </a:r>
                    </a:p>
                  </a:txBody>
                  <a:tcPr marL="114300" marR="114300" marT="66675" marB="66675" anchor="ctr">
                    <a:solidFill>
                      <a:srgbClr val="FFFFFF"/>
                    </a:solidFill>
                  </a:tcPr>
                </a:tc>
                <a:tc>
                  <a:txBody>
                    <a:bodyPr/>
                    <a:lstStyle/>
                    <a:p>
                      <a:r>
                        <a:rPr sz="2175">
                          <a:solidFill>
                            <a:srgbClr val="173047"/>
                          </a:solidFill>
                          <a:latin typeface="Arial"/>
                          <a:ea typeface="Arial"/>
                          <a:cs typeface="Arial"/>
                        </a:rPr>
                        <a:t>0; 3</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15</a:t>
                      </a:r>
                    </a:p>
                  </a:txBody>
                  <a:tcPr marL="114300" marR="114300" marT="66675" marB="66675" anchor="ctr">
                    <a:solidFill>
                      <a:srgbClr val="FFFFFF"/>
                    </a:solidFill>
                  </a:tcPr>
                </a:tc>
                <a:tc>
                  <a:txBody>
                    <a:bodyPr/>
                    <a:lstStyle/>
                    <a:p>
                      <a:r>
                        <a:rPr sz="2175">
                          <a:solidFill>
                            <a:srgbClr val="173047"/>
                          </a:solidFill>
                          <a:latin typeface="Arial"/>
                          <a:ea typeface="Arial"/>
                          <a:cs typeface="Arial"/>
                        </a:rPr>
                        <a:t>24</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Допустимий</a:t>
                      </a:r>
                    </a:p>
                  </a:txBody>
                  <a:tcPr marL="114300" marR="114300" marT="66675" marB="66675" anchor="ctr">
                    <a:solidFill>
                      <a:srgbClr val="FFFFFF"/>
                    </a:solidFill>
                  </a:tcPr>
                </a:tc>
              </a:tr>
              <a:tr h="800100">
                <a:tc>
                  <a:txBody>
                    <a:bodyPr/>
                    <a:lstStyle/>
                    <a:p>
                      <a:r>
                        <a:rPr sz="2175">
                          <a:solidFill>
                            <a:srgbClr val="173047"/>
                          </a:solidFill>
                          <a:latin typeface="Arial"/>
                          <a:ea typeface="Arial"/>
                          <a:cs typeface="Arial"/>
                        </a:rPr>
                        <a:t>MILP</a:t>
                      </a:r>
                    </a:p>
                  </a:txBody>
                  <a:tcPr marL="114300" marR="114300" marT="66675" marB="66675" anchor="ctr">
                    <a:solidFill>
                      <a:srgbClr val="FFFFFF"/>
                    </a:solidFill>
                  </a:tcPr>
                </a:tc>
                <a:tc>
                  <a:txBody>
                    <a:bodyPr/>
                    <a:lstStyle/>
                    <a:p>
                      <a:r>
                        <a:rPr sz="2175">
                          <a:solidFill>
                            <a:srgbClr val="173047"/>
                          </a:solidFill>
                          <a:latin typeface="Arial"/>
                          <a:ea typeface="Arial"/>
                          <a:cs typeface="Arial"/>
                        </a:rPr>
                        <a:t>2; 1</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11</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18</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Оптимальний</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607F416-091D-4B26-A0B4-DA07F951219B}"/>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92</a:t>
            </a:r>
          </a:p>
        </p:txBody>
      </p:sp>
    </p:spTree>
    <p:extLst>
      <p:ext uri="{BB962C8B-B14F-4D97-AF65-F5344CB8AC3E}">
        <p14:creationId xmlns:p14="http://schemas.microsoft.com/office/powerpoint/2010/main" val="1294395975"/>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FD3D1E-29EC-4ADA-BB26-5C6F6E978C7E}"/>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VM: повна програма SciPy</a:t>
            </a:r>
          </a:p>
        </p:txBody>
      </p:sp>
      <p:sp>
        <p:nvSpPr>
          <p:cNvPr id="2" name="">
            <a:extLst xmlns:a="http://schemas.openxmlformats.org/drawingml/2006/main">
              <a:ext uri="{FF2B5EF4-FFF2-40B4-BE49-F238E27FC236}">
                <a16:creationId xmlns:a16="http://schemas.microsoft.com/office/drawing/2014/main" id="{160AEA73-9684-4213-B4B0-7FA3C35158F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integrality=[1,1] робить обидві кількості цілими.</a:t>
            </a:r>
          </a:p>
        </p:txBody>
      </p:sp>
      <p:sp>
        <p:nvSpPr>
          <p:cNvPr id="3" name="">
            <a:extLst xmlns:a="http://schemas.openxmlformats.org/drawingml/2006/main">
              <a:ext uri="{FF2B5EF4-FFF2-40B4-BE49-F238E27FC236}">
                <a16:creationId xmlns:a16="http://schemas.microsoft.com/office/drawing/2014/main" id="{FE9A086D-7E73-4EBC-B660-74B311D5F28D}"/>
              </a:ext>
            </a:extLst>
          </p:cNvPr>
          <p:cNvSpPr>
            <a:spLocks xmlns:a="http://schemas.openxmlformats.org/drawingml/2006/main" noGrp="1"/>
          </p:cNvSpPr>
          <p:nvPr/>
        </p:nvSpPr>
        <p:spPr>
          <a:xfrm xmlns:a="http://schemas.openxmlformats.org/drawingml/2006/main">
            <a:off x="762000" y="1504950"/>
            <a:ext cx="10668000" cy="2170176"/>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BA63FB-8D9A-4977-9A55-D143388C5533}"/>
              </a:ext>
            </a:extLst>
          </p:cNvPr>
          <p:cNvSpPr>
            <a:spLocks xmlns:a="http://schemas.openxmlformats.org/drawingml/2006/main" noGrp="1"/>
          </p:cNvSpPr>
          <p:nvPr/>
        </p:nvSpPr>
        <p:spPr>
          <a:xfrm xmlns:a="http://schemas.openxmlformats.org/drawingml/2006/main">
            <a:off x="933450" y="1581150"/>
            <a:ext cx="10325100" cy="2017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scipy.optimize import milp, Bounds, LinearConstraint</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 = milp([5, 8], integrality=[1, 1],</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bounds=Bounds([0, 0], [4, 3]),</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constraints=LinearConstraint([[3, 5]], [11], [float("inf")]))</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r.success, r.message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print("x =", r.x, "C =", r.fun)</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print("vCPU =", 3*r.x[0] + 5*r.x[1])</a:t>
            </a:r>
          </a:p>
        </p:txBody>
      </p:sp>
      <p:sp>
        <p:nvSpPr>
          <p:cNvPr id="5" name="">
            <a:extLst xmlns:a="http://schemas.openxmlformats.org/drawingml/2006/main">
              <a:ext uri="{FF2B5EF4-FFF2-40B4-BE49-F238E27FC236}">
                <a16:creationId xmlns:a16="http://schemas.microsoft.com/office/drawing/2014/main" id="{79C054F9-A024-46F2-9DE2-459F5EED06F2}"/>
              </a:ext>
            </a:extLst>
          </p:cNvPr>
          <p:cNvSpPr>
            <a:spLocks xmlns:a="http://schemas.openxmlformats.org/drawingml/2006/main" noGrp="1"/>
          </p:cNvSpPr>
          <p:nvPr/>
        </p:nvSpPr>
        <p:spPr>
          <a:xfrm xmlns:a="http://schemas.openxmlformats.org/drawingml/2006/main">
            <a:off x="762000" y="3922776"/>
            <a:ext cx="10668000" cy="106680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AE28853-B620-44C4-904D-E64FD2F2106B}"/>
              </a:ext>
            </a:extLst>
          </p:cNvPr>
          <p:cNvSpPr>
            <a:spLocks xmlns:a="http://schemas.openxmlformats.org/drawingml/2006/main" noGrp="1"/>
          </p:cNvSpPr>
          <p:nvPr/>
        </p:nvSpPr>
        <p:spPr>
          <a:xfrm xmlns:a="http://schemas.openxmlformats.org/drawingml/2006/main">
            <a:off x="933450" y="3979926"/>
            <a:ext cx="10325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Courier New"/>
                <a:ea typeface="Courier New"/>
                <a:cs typeface="Courier New"/>
              </a:defRPr>
            </a:defPPr>
          </a:lstStyle>
          <a:p xmlns:a="http://schemas.openxmlformats.org/drawingml/2006/main">
            <a:pPr algn="l">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x = [2. 1.] C = 18.0</a:t>
            </a:r>
          </a:p>
          <a:p xmlns:a="http://schemas.openxmlformats.org/drawingml/2006/main">
            <a:pPr algn="l">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vCPU = 11.0</a:t>
            </a:r>
          </a:p>
        </p:txBody>
      </p:sp>
      <p:sp>
        <p:nvSpPr>
          <p:cNvPr id="7" name="">
            <a:extLst xmlns:a="http://schemas.openxmlformats.org/drawingml/2006/main">
              <a:ext uri="{FF2B5EF4-FFF2-40B4-BE49-F238E27FC236}">
                <a16:creationId xmlns:a16="http://schemas.microsoft.com/office/drawing/2014/main" id="{CCC3F0CA-DF3E-4149-9FC7-D65710381C56}"/>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93</a:t>
            </a:r>
          </a:p>
        </p:txBody>
      </p:sp>
    </p:spTree>
    <p:extLst>
      <p:ext uri="{BB962C8B-B14F-4D97-AF65-F5344CB8AC3E}">
        <p14:creationId xmlns:p14="http://schemas.microsoft.com/office/powerpoint/2010/main" val="429873564"/>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D94865-21BC-40DD-BE0D-7951AAAC3C7B}"/>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VM: перевірка знайденого плану</a:t>
            </a:r>
          </a:p>
        </p:txBody>
      </p:sp>
      <p:sp>
        <p:nvSpPr>
          <p:cNvPr id="2" name="">
            <a:extLst xmlns:a="http://schemas.openxmlformats.org/drawingml/2006/main">
              <a:ext uri="{FF2B5EF4-FFF2-40B4-BE49-F238E27FC236}">
                <a16:creationId xmlns:a16="http://schemas.microsoft.com/office/drawing/2014/main" id="{B6FB8D7C-CE6F-45EF-BDDF-8A391837A9D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Розв’язок перевіряємо в початковій моделі.</a:t>
            </a:r>
          </a:p>
        </p:txBody>
      </p:sp>
      <p:graphicFrame>
        <p:nvGraphicFramePr>
          <p:cNvPr id="3" name="">
            <a:extLst xmlns:a="http://schemas.openxmlformats.org/drawingml/2006/main">
              <a:ext uri="{FF2B5EF4-FFF2-40B4-BE49-F238E27FC236}">
                <a16:creationId xmlns:a16="http://schemas.microsoft.com/office/drawing/2014/main" id="{92C534E8-542C-4DC6-A6DF-BF13A1A6749D}"/>
              </a:ext>
            </a:extLst>
          </p:cNvPr>
          <p:cNvGraphicFramePr/>
          <p:nvPr/>
        </p:nvGraphicFramePr>
        <p:xfrm>
          <a:off xmlns:a="http://schemas.openxmlformats.org/drawingml/2006/main" x="762000" y="1562100"/>
          <a:ext xmlns:a="http://schemas.openxmlformats.org/drawingml/2006/main" cx="10668000" cy="4000500"/>
        </p:xfrm>
        <a:graphic xmlns:a="http://schemas.openxmlformats.org/drawingml/2006/main">
          <a:graphicData uri="http://schemas.openxmlformats.org/drawingml/2006/table">
            <a:tbl>
              <a:tblPr/>
              <a:tblGrid>
                <a:gridCol w="2571750"/>
                <a:gridCol w="3143250"/>
                <a:gridCol w="2762250"/>
                <a:gridCol w="2190750"/>
              </a:tblGrid>
              <a:tr h="800100">
                <a:tc>
                  <a:txBody>
                    <a:bodyPr/>
                    <a:lstStyle/>
                    <a:p>
                      <a:r>
                        <a:rPr sz="2250" b="1">
                          <a:solidFill>
                            <a:srgbClr val="FFFFFF"/>
                          </a:solidFill>
                          <a:latin typeface="Arial"/>
                          <a:ea typeface="Arial"/>
                          <a:cs typeface="Arial"/>
                        </a:rPr>
                        <a:t>План (x₁,x₂)</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vCPU</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Вартість</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Висновок</a:t>
                      </a:r>
                    </a:p>
                  </a:txBody>
                  <a:tcPr marL="114300" marR="114300" marT="66675" marB="66675" anchor="ctr">
                    <a:solidFill>
                      <a:srgbClr val="173047"/>
                    </a:solidFill>
                  </a:tcPr>
                </a:tc>
              </a:tr>
              <a:tr h="800100">
                <a:tc>
                  <a:txBody>
                    <a:bodyPr/>
                    <a:lstStyle/>
                    <a:p>
                      <a:r>
                        <a:rPr sz="2250">
                          <a:solidFill>
                            <a:srgbClr val="173047"/>
                          </a:solidFill>
                          <a:latin typeface="Arial"/>
                          <a:ea typeface="Arial"/>
                          <a:cs typeface="Arial"/>
                        </a:rPr>
                        <a:t>(2,1)</a:t>
                      </a:r>
                    </a:p>
                  </a:txBody>
                  <a:tcPr marL="114300" marR="114300" marT="66675" marB="66675" anchor="ctr">
                    <a:solidFill>
                      <a:srgbClr val="FFFFFF"/>
                    </a:solidFill>
                  </a:tcPr>
                </a:tc>
                <a:tc>
                  <a:txBody>
                    <a:bodyPr/>
                    <a:lstStyle/>
                    <a:p>
                      <a:r>
                        <a:rPr sz="2250">
                          <a:solidFill>
                            <a:srgbClr val="173047"/>
                          </a:solidFill>
                          <a:latin typeface="Arial"/>
                          <a:ea typeface="Arial"/>
                          <a:cs typeface="Arial"/>
                        </a:rPr>
                        <a:t>3·2 + 5·1 = 11</a:t>
                      </a:r>
                    </a:p>
                  </a:txBody>
                  <a:tcPr marL="114300" marR="114300" marT="66675" marB="66675" anchor="ctr">
                    <a:solidFill>
                      <a:srgbClr val="FFFFFF"/>
                    </a:solidFill>
                  </a:tcPr>
                </a:tc>
                <a:tc>
                  <a:txBody>
                    <a:bodyPr/>
                    <a:lstStyle/>
                    <a:p>
                      <a:r>
                        <a:rPr sz="2250">
                          <a:solidFill>
                            <a:srgbClr val="173047"/>
                          </a:solidFill>
                          <a:latin typeface="Arial"/>
                          <a:ea typeface="Arial"/>
                          <a:cs typeface="Arial"/>
                        </a:rPr>
                        <a:t>5·2 + 8·1 = 18</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Найдешевший</a:t>
                      </a:r>
                    </a:p>
                  </a:txBody>
                  <a:tcPr marL="114300" marR="114300" marT="66675" marB="66675" anchor="ctr">
                    <a:solidFill>
                      <a:srgbClr val="FFFFFF"/>
                    </a:solidFill>
                  </a:tcPr>
                </a:tc>
              </a:tr>
              <a:tr h="800100">
                <a:tc>
                  <a:txBody>
                    <a:bodyPr/>
                    <a:lstStyle/>
                    <a:p>
                      <a:r>
                        <a:rPr sz="2250">
                          <a:solidFill>
                            <a:srgbClr val="173047"/>
                          </a:solidFill>
                          <a:latin typeface="Arial"/>
                          <a:ea typeface="Arial"/>
                          <a:cs typeface="Arial"/>
                        </a:rPr>
                        <a:t>(4,0)</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12</a:t>
                      </a:r>
                    </a:p>
                  </a:txBody>
                  <a:tcPr marL="114300" marR="114300" marT="66675" marB="66675" anchor="ctr">
                    <a:solidFill>
                      <a:srgbClr val="FFFFFF"/>
                    </a:solidFill>
                  </a:tcPr>
                </a:tc>
                <a:tc>
                  <a:txBody>
                    <a:bodyPr/>
                    <a:lstStyle/>
                    <a:p>
                      <a:r>
                        <a:rPr sz="2250">
                          <a:solidFill>
                            <a:srgbClr val="173047"/>
                          </a:solidFill>
                          <a:latin typeface="Arial"/>
                          <a:ea typeface="Arial"/>
                          <a:cs typeface="Arial"/>
                        </a:rPr>
                        <a:t>20</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Дорожчий</a:t>
                      </a:r>
                    </a:p>
                  </a:txBody>
                  <a:tcPr marL="114300" marR="114300" marT="66675" marB="66675" anchor="ctr">
                    <a:solidFill>
                      <a:srgbClr val="FFFFFF"/>
                    </a:solidFill>
                  </a:tcPr>
                </a:tc>
              </a:tr>
              <a:tr h="800100">
                <a:tc>
                  <a:txBody>
                    <a:bodyPr/>
                    <a:lstStyle/>
                    <a:p>
                      <a:r>
                        <a:rPr sz="2250">
                          <a:solidFill>
                            <a:srgbClr val="173047"/>
                          </a:solidFill>
                          <a:latin typeface="Arial"/>
                          <a:ea typeface="Arial"/>
                          <a:cs typeface="Arial"/>
                        </a:rPr>
                        <a:t>(1,2)</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13</a:t>
                      </a:r>
                    </a:p>
                  </a:txBody>
                  <a:tcPr marL="114300" marR="114300" marT="66675" marB="66675" anchor="ctr">
                    <a:solidFill>
                      <a:srgbClr val="FFFFFF"/>
                    </a:solidFill>
                  </a:tcPr>
                </a:tc>
                <a:tc>
                  <a:txBody>
                    <a:bodyPr/>
                    <a:lstStyle/>
                    <a:p>
                      <a:r>
                        <a:rPr sz="2250">
                          <a:solidFill>
                            <a:srgbClr val="173047"/>
                          </a:solidFill>
                          <a:latin typeface="Arial"/>
                          <a:ea typeface="Arial"/>
                          <a:cs typeface="Arial"/>
                        </a:rPr>
                        <a:t>21</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Дорожчий</a:t>
                      </a:r>
                    </a:p>
                  </a:txBody>
                  <a:tcPr marL="114300" marR="114300" marT="66675" marB="66675" anchor="ctr">
                    <a:solidFill>
                      <a:srgbClr val="FFFFFF"/>
                    </a:solidFill>
                  </a:tcPr>
                </a:tc>
              </a:tr>
              <a:tr h="800100">
                <a:tc>
                  <a:txBody>
                    <a:bodyPr/>
                    <a:lstStyle/>
                    <a:p>
                      <a:r>
                        <a:rPr sz="2250">
                          <a:solidFill>
                            <a:srgbClr val="173047"/>
                          </a:solidFill>
                          <a:latin typeface="Arial"/>
                          <a:ea typeface="Arial"/>
                          <a:cs typeface="Arial"/>
                        </a:rPr>
                        <a:t>(0,3)</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15</a:t>
                      </a:r>
                    </a:p>
                  </a:txBody>
                  <a:tcPr marL="114300" marR="114300" marT="66675" marB="66675" anchor="ctr">
                    <a:solidFill>
                      <a:srgbClr val="FFFFFF"/>
                    </a:solidFill>
                  </a:tcPr>
                </a:tc>
                <a:tc>
                  <a:txBody>
                    <a:bodyPr/>
                    <a:lstStyle/>
                    <a:p>
                      <a:r>
                        <a:rPr sz="2250">
                          <a:solidFill>
                            <a:srgbClr val="173047"/>
                          </a:solidFill>
                          <a:latin typeface="Arial"/>
                          <a:ea typeface="Arial"/>
                          <a:cs typeface="Arial"/>
                        </a:rPr>
                        <a:t>24</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Дорожчий</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B98585E-B93B-44C7-9DB7-A576E1F076D6}"/>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94</a:t>
            </a:r>
          </a:p>
        </p:txBody>
      </p:sp>
    </p:spTree>
    <p:extLst>
      <p:ext uri="{BB962C8B-B14F-4D97-AF65-F5344CB8AC3E}">
        <p14:creationId xmlns:p14="http://schemas.microsoft.com/office/powerpoint/2010/main" val="24975019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001A70-3C9A-4A9C-A1C7-15B80406A5DD}"/>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Змішана задача: вмикати маршрут A?</a:t>
            </a:r>
          </a:p>
        </p:txBody>
      </p:sp>
      <p:pic>
        <p:nvPicPr>
          <p:cNvPr id="17" name="">
            <a:extLst xmlns:a="http://schemas.openxmlformats.org/drawingml/2006/main">
              <a:ext uri="{FF2B5EF4-FFF2-40B4-BE49-F238E27FC236}">
                <a16:creationId xmlns:a16="http://schemas.microsoft.com/office/drawing/2014/main" id="{7EDBD6E2-08F9-48AC-A06A-CF40CBEF7A55}"/>
              </a:ext>
            </a:extLst>
          </p:cNvPr>
          <p:cNvPicPr>
            <a:picLocks xmlns:a="http://schemas.openxmlformats.org/drawingml/2006/main" noChangeAspect="1"/>
          </p:cNvPicPr>
          <p:nvPr/>
        </p:nvPicPr>
        <p:blipFill>
          <a:blip xmlns:r="http://schemas.openxmlformats.org/officeDocument/2006/relationships" xmlns:a="http://schemas.openxmlformats.org/drawingml/2006/main" r:embed="Rd6200a1d191d4167"/>
          <a:stretch xmlns:a="http://schemas.openxmlformats.org/drawingml/2006/main"/>
        </p:blipFill>
        <p:spPr>
          <a:xfrm xmlns:a="http://schemas.openxmlformats.org/drawingml/2006/main">
            <a:off x="762000" y="2057400"/>
            <a:ext cx="6619875" cy="35528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525ACF-7B01-4398-A19B-7C01099F49E4}"/>
              </a:ext>
            </a:extLst>
          </p:cNvPr>
          <p:cNvSpPr>
            <a:spLocks xmlns:a="http://schemas.openxmlformats.org/drawingml/2006/main" noGrp="1"/>
          </p:cNvSpPr>
          <p:nvPr/>
        </p:nvSpPr>
        <p:spPr>
          <a:xfrm xmlns:a="http://schemas.openxmlformats.org/drawingml/2006/main">
            <a:off x="7543800" y="2295525"/>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79AE"/>
                </a:solidFill>
                <a:latin typeface="Arial"/>
                <a:ea typeface="Arial"/>
                <a:cs typeface="Arial"/>
              </a:defRPr>
            </a:pPr>
            <a:r>
              <a:rPr sz="2325" b="1">
                <a:solidFill>
                  <a:srgbClr val="1479AE"/>
                </a:solidFill>
                <a:latin typeface="Arial"/>
                <a:ea typeface="Arial"/>
                <a:cs typeface="Arial"/>
              </a:rPr>
              <a:t>A: ціна 2, місткість 40</a:t>
            </a:r>
          </a:p>
          <a:p xmlns:a="http://schemas.openxmlformats.org/drawingml/2006/main">
            <a:pPr>
              <a:buNone/>
              <a:defRPr sz="2325" b="1">
                <a:solidFill>
                  <a:srgbClr val="1479AE"/>
                </a:solidFill>
                <a:latin typeface="Arial"/>
                <a:ea typeface="Arial"/>
                <a:cs typeface="Arial"/>
              </a:defRPr>
            </a:pPr>
            <a:r>
              <a:rPr sz="2325" b="1">
                <a:solidFill>
                  <a:srgbClr val="1479AE"/>
                </a:solidFill>
                <a:latin typeface="Arial"/>
                <a:ea typeface="Arial"/>
                <a:cs typeface="Arial"/>
              </a:rPr>
              <a:t>Плата за запуск: 100</a:t>
            </a:r>
          </a:p>
        </p:txBody>
      </p:sp>
      <p:sp>
        <p:nvSpPr>
          <p:cNvPr id="5" name="">
            <a:extLst xmlns:a="http://schemas.openxmlformats.org/drawingml/2006/main">
              <a:ext uri="{FF2B5EF4-FFF2-40B4-BE49-F238E27FC236}">
                <a16:creationId xmlns:a16="http://schemas.microsoft.com/office/drawing/2014/main" id="{82505FEB-B078-48E5-A715-E6506F2B4DAC}"/>
              </a:ext>
            </a:extLst>
          </p:cNvPr>
          <p:cNvSpPr>
            <a:spLocks xmlns:a="http://schemas.openxmlformats.org/drawingml/2006/main" noGrp="1"/>
          </p:cNvSpPr>
          <p:nvPr/>
        </p:nvSpPr>
        <p:spPr>
          <a:xfrm xmlns:a="http://schemas.openxmlformats.org/drawingml/2006/main">
            <a:off x="7543800" y="3619500"/>
            <a:ext cx="3905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73047"/>
                </a:solidFill>
                <a:latin typeface="Arial"/>
                <a:ea typeface="Arial"/>
                <a:cs typeface="Arial"/>
              </a:defRPr>
            </a:pPr>
            <a:r>
              <a:rPr sz="2325" b="0">
                <a:solidFill>
                  <a:srgbClr val="173047"/>
                </a:solidFill>
                <a:latin typeface="Arial"/>
                <a:ea typeface="Arial"/>
                <a:cs typeface="Arial"/>
              </a:rPr>
              <a:t>B: ціна 5, місткість 50</a:t>
            </a:r>
          </a:p>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
            </a:r>
          </a:p>
          <a:p xmlns:a="http://schemas.openxmlformats.org/drawingml/2006/main">
            <a:pPr>
              <a:buNone/>
              <a:defRPr sz="2325" b="0">
                <a:solidFill>
                  <a:srgbClr val="173047"/>
                </a:solidFill>
                <a:latin typeface="Arial"/>
                <a:ea typeface="Arial"/>
                <a:cs typeface="Arial"/>
              </a:defRPr>
            </a:pPr>
            <a:r>
              <a:rPr sz="2325" b="0">
                <a:solidFill>
                  <a:srgbClr val="173047"/>
                </a:solidFill>
                <a:latin typeface="Arial"/>
                <a:ea typeface="Arial"/>
                <a:cs typeface="Arial"/>
              </a:rPr>
              <a:t>C: ціна 4, місткість 30</a:t>
            </a:r>
          </a:p>
        </p:txBody>
      </p:sp>
      <p:sp>
        <p:nvSpPr>
          <p:cNvPr id="6" name="">
            <a:extLst xmlns:a="http://schemas.openxmlformats.org/drawingml/2006/main">
              <a:ext uri="{FF2B5EF4-FFF2-40B4-BE49-F238E27FC236}">
                <a16:creationId xmlns:a16="http://schemas.microsoft.com/office/drawing/2014/main" id="{6837BE6C-817E-4111-99A3-A2B10E35E3E4}"/>
              </a:ext>
            </a:extLst>
          </p:cNvPr>
          <p:cNvSpPr>
            <a:spLocks xmlns:a="http://schemas.openxmlformats.org/drawingml/2006/main" noGrp="1"/>
          </p:cNvSpPr>
          <p:nvPr/>
        </p:nvSpPr>
        <p:spPr>
          <a:xfrm xmlns:a="http://schemas.openxmlformats.org/drawingml/2006/main">
            <a:off x="819150" y="58102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Трафік подільний. yA керує запуском A. Ціни умовні.</a:t>
            </a:r>
          </a:p>
        </p:txBody>
      </p:sp>
      <p:sp>
        <p:nvSpPr>
          <p:cNvPr id="9" name="">
            <a:extLst xmlns:a="http://schemas.openxmlformats.org/drawingml/2006/main">
              <a:ext uri="{FF2B5EF4-FFF2-40B4-BE49-F238E27FC236}">
                <a16:creationId xmlns:a16="http://schemas.microsoft.com/office/drawing/2014/main" id="{F38B616F-5D24-4DC0-B375-A18B4E099019}"/>
              </a:ext>
            </a:extLst>
          </p:cNvPr>
          <p:cNvSpPr>
            <a:spLocks xmlns:a="http://schemas.openxmlformats.org/drawingml/2006/main" noGrp="1"/>
          </p:cNvSpPr>
          <p:nvPr/>
        </p:nvSpPr>
        <p:spPr>
          <a:xfrm xmlns:a="http://schemas.openxmlformats.org/drawingml/2006/main">
            <a:off x="762000" y="1276350"/>
            <a:ext cx="1066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00857D"/>
                </a:solidFill>
                <a:latin typeface="Arial"/>
                <a:ea typeface="Arial"/>
                <a:cs typeface="Arial"/>
              </a:defRPr>
            </a:pPr>
            <a:r>
              <a:rPr sz="2325" b="1">
                <a:solidFill>
                  <a:srgbClr val="00857D"/>
                </a:solidFill>
                <a:latin typeface="Arial"/>
                <a:ea typeface="Arial"/>
                <a:cs typeface="Arial"/>
              </a:rPr>
              <a:t>D=60 од. трафіку за один інтервал планування</a:t>
            </a:r>
          </a:p>
        </p:txBody>
      </p:sp>
      <p:sp>
        <p:nvSpPr>
          <p:cNvPr id="10" name="">
            <a:extLst xmlns:a="http://schemas.openxmlformats.org/drawingml/2006/main">
              <a:ext uri="{FF2B5EF4-FFF2-40B4-BE49-F238E27FC236}">
                <a16:creationId xmlns:a16="http://schemas.microsoft.com/office/drawing/2014/main" id="{29B6EA8E-94DA-4496-83CA-B206ED0119A0}"/>
              </a:ext>
            </a:extLst>
          </p:cNvPr>
          <p:cNvSpPr>
            <a:spLocks xmlns:a="http://schemas.openxmlformats.org/drawingml/2006/main" noGrp="1"/>
          </p:cNvSpPr>
          <p:nvPr/>
        </p:nvSpPr>
        <p:spPr>
          <a:xfrm xmlns:a="http://schemas.openxmlformats.org/drawingml/2006/main">
            <a:off x="1562100" y="2857500"/>
            <a:ext cx="571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1479AE"/>
                </a:solidFill>
                <a:latin typeface="Arial"/>
                <a:ea typeface="Arial"/>
                <a:cs typeface="Arial"/>
              </a:defRPr>
            </a:pPr>
            <a:r>
              <a:rPr sz="2400" b="1">
                <a:solidFill>
                  <a:srgbClr val="1479AE"/>
                </a:solidFill>
                <a:latin typeface="Arial"/>
                <a:ea typeface="Arial"/>
                <a:cs typeface="Arial"/>
              </a:rPr>
              <a:t>A</a:t>
            </a:r>
          </a:p>
        </p:txBody>
      </p:sp>
      <p:sp>
        <p:nvSpPr>
          <p:cNvPr id="11" name="">
            <a:extLst xmlns:a="http://schemas.openxmlformats.org/drawingml/2006/main">
              <a:ext uri="{FF2B5EF4-FFF2-40B4-BE49-F238E27FC236}">
                <a16:creationId xmlns:a16="http://schemas.microsoft.com/office/drawing/2014/main" id="{9F915468-9B04-47F0-B48D-3801C235B710}"/>
              </a:ext>
            </a:extLst>
          </p:cNvPr>
          <p:cNvSpPr>
            <a:spLocks xmlns:a="http://schemas.openxmlformats.org/drawingml/2006/main" noGrp="1"/>
          </p:cNvSpPr>
          <p:nvPr/>
        </p:nvSpPr>
        <p:spPr>
          <a:xfrm xmlns:a="http://schemas.openxmlformats.org/drawingml/2006/main">
            <a:off x="1562100" y="3952875"/>
            <a:ext cx="571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1479AE"/>
                </a:solidFill>
                <a:latin typeface="Arial"/>
                <a:ea typeface="Arial"/>
                <a:cs typeface="Arial"/>
              </a:defRPr>
            </a:pPr>
            <a:r>
              <a:rPr sz="2400" b="1">
                <a:solidFill>
                  <a:srgbClr val="1479AE"/>
                </a:solidFill>
                <a:latin typeface="Arial"/>
                <a:ea typeface="Arial"/>
                <a:cs typeface="Arial"/>
              </a:rPr>
              <a:t>B</a:t>
            </a:r>
          </a:p>
        </p:txBody>
      </p:sp>
      <p:sp>
        <p:nvSpPr>
          <p:cNvPr id="12" name="">
            <a:extLst xmlns:a="http://schemas.openxmlformats.org/drawingml/2006/main">
              <a:ext uri="{FF2B5EF4-FFF2-40B4-BE49-F238E27FC236}">
                <a16:creationId xmlns:a16="http://schemas.microsoft.com/office/drawing/2014/main" id="{0B6EE8A5-9775-4F79-A644-033156E9AA52}"/>
              </a:ext>
            </a:extLst>
          </p:cNvPr>
          <p:cNvSpPr>
            <a:spLocks xmlns:a="http://schemas.openxmlformats.org/drawingml/2006/main" noGrp="1"/>
          </p:cNvSpPr>
          <p:nvPr/>
        </p:nvSpPr>
        <p:spPr>
          <a:xfrm xmlns:a="http://schemas.openxmlformats.org/drawingml/2006/main">
            <a:off x="1562100" y="5029200"/>
            <a:ext cx="571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1">
                <a:solidFill>
                  <a:srgbClr val="1479AE"/>
                </a:solidFill>
                <a:latin typeface="Arial"/>
                <a:ea typeface="Arial"/>
                <a:cs typeface="Arial"/>
              </a:defRPr>
            </a:pPr>
            <a:r>
              <a:rPr sz="2400" b="1">
                <a:solidFill>
                  <a:srgbClr val="1479AE"/>
                </a:solidFill>
                <a:latin typeface="Arial"/>
                <a:ea typeface="Arial"/>
                <a:cs typeface="Arial"/>
              </a:rPr>
              <a:t>C</a:t>
            </a:r>
          </a:p>
        </p:txBody>
      </p:sp>
      <p:sp>
        <p:nvSpPr>
          <p:cNvPr id="15" name="">
            <a:extLst xmlns:a="http://schemas.openxmlformats.org/drawingml/2006/main">
              <a:ext uri="{FF2B5EF4-FFF2-40B4-BE49-F238E27FC236}">
                <a16:creationId xmlns:a16="http://schemas.microsoft.com/office/drawing/2014/main" id="{1F14FBC4-5D36-4CB7-A28D-97E2621AA679}"/>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95</a:t>
            </a:r>
          </a:p>
        </p:txBody>
      </p:sp>
    </p:spTree>
    <p:extLst>
      <p:ext uri="{BB962C8B-B14F-4D97-AF65-F5344CB8AC3E}">
        <p14:creationId xmlns:p14="http://schemas.microsoft.com/office/powerpoint/2010/main" val="560997109"/>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926D0B-7F9F-40A2-A7A6-7DCAC949D64F}"/>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Конкретна модель: потоки та бінарний запуск</a:t>
            </a:r>
          </a:p>
        </p:txBody>
      </p:sp>
      <p:sp>
        <p:nvSpPr>
          <p:cNvPr id="2" name="">
            <a:extLst xmlns:a="http://schemas.openxmlformats.org/drawingml/2006/main">
              <a:ext uri="{FF2B5EF4-FFF2-40B4-BE49-F238E27FC236}">
                <a16:creationId xmlns:a16="http://schemas.microsoft.com/office/drawing/2014/main" id="{98A5905B-A5E8-4FBB-B07E-6359472837B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yA=0 вимикає маршрут; yA=1 дозволяє потік xA≤40.</a:t>
            </a:r>
          </a:p>
        </p:txBody>
      </p:sp>
      <p:sp>
        <p:nvSpPr>
          <p:cNvPr id="3" name="">
            <a:extLst xmlns:a="http://schemas.openxmlformats.org/drawingml/2006/main">
              <a:ext uri="{FF2B5EF4-FFF2-40B4-BE49-F238E27FC236}">
                <a16:creationId xmlns:a16="http://schemas.microsoft.com/office/drawing/2014/main" id="{28DC67C7-CC72-4300-98C0-5FF756D518EB}"/>
              </a:ext>
            </a:extLst>
          </p:cNvPr>
          <p:cNvSpPr>
            <a:spLocks xmlns:a="http://schemas.openxmlformats.org/drawingml/2006/main" noGrp="1"/>
          </p:cNvSpPr>
          <p:nvPr/>
        </p:nvSpPr>
        <p:spPr>
          <a:xfrm xmlns:a="http://schemas.openxmlformats.org/drawingml/2006/main">
            <a:off x="762000" y="16287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0">
                <a:solidFill>
                  <a:srgbClr val="173047"/>
                </a:solidFill>
                <a:latin typeface="Arial"/>
                <a:ea typeface="Arial"/>
                <a:cs typeface="Arial"/>
              </a:defRPr>
            </a:pPr>
            <a:r>
              <a:rPr sz="3150" b="0">
                <a:solidFill>
                  <a:srgbClr val="173047"/>
                </a:solidFill>
                <a:latin typeface="Arial"/>
                <a:ea typeface="Arial"/>
                <a:cs typeface="Arial"/>
              </a:rPr>
              <a:t>min C=2xA+5xB+4xC+100yA</a:t>
            </a:r>
          </a:p>
        </p:txBody>
      </p:sp>
      <p:sp>
        <p:nvSpPr>
          <p:cNvPr id="4" name="">
            <a:extLst xmlns:a="http://schemas.openxmlformats.org/drawingml/2006/main">
              <a:ext uri="{FF2B5EF4-FFF2-40B4-BE49-F238E27FC236}">
                <a16:creationId xmlns:a16="http://schemas.microsoft.com/office/drawing/2014/main" id="{27763552-93B8-4846-B251-959CE1AD26DD}"/>
              </a:ext>
            </a:extLst>
          </p:cNvPr>
          <p:cNvSpPr>
            <a:spLocks xmlns:a="http://schemas.openxmlformats.org/drawingml/2006/main" noGrp="1"/>
          </p:cNvSpPr>
          <p:nvPr/>
        </p:nvSpPr>
        <p:spPr>
          <a:xfrm xmlns:a="http://schemas.openxmlformats.org/drawingml/2006/main">
            <a:off x="762000" y="2867025"/>
            <a:ext cx="1066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850" b="0">
                <a:solidFill>
                  <a:srgbClr val="173047"/>
                </a:solidFill>
                <a:latin typeface="Arial"/>
                <a:ea typeface="Arial"/>
                <a:cs typeface="Arial"/>
              </a:defRPr>
            </a:pPr>
            <a:r>
              <a:rPr sz="2850" b="0">
                <a:solidFill>
                  <a:srgbClr val="173047"/>
                </a:solidFill>
                <a:latin typeface="Arial"/>
                <a:ea typeface="Arial"/>
                <a:cs typeface="Arial"/>
              </a:rPr>
              <a:t>xA+xB+xC=60</a:t>
            </a:r>
          </a:p>
          <a:p xmlns:a="http://schemas.openxmlformats.org/drawingml/2006/main">
            <a:pPr algn="l">
              <a:buNone/>
              <a:defRPr sz="2850" b="0">
                <a:solidFill>
                  <a:srgbClr val="173047"/>
                </a:solidFill>
                <a:latin typeface="Arial"/>
                <a:ea typeface="Arial"/>
                <a:cs typeface="Arial"/>
              </a:defRPr>
            </a:pPr>
            <a:r>
              <a:rPr sz="2850" b="0">
                <a:solidFill>
                  <a:srgbClr val="173047"/>
                </a:solidFill>
                <a:latin typeface="Arial"/>
                <a:ea typeface="Arial"/>
                <a:cs typeface="Arial"/>
              </a:rPr>
              <a:t>0≤xA≤40yA; 0≤xB≤50; 0≤xC≤30</a:t>
            </a:r>
          </a:p>
        </p:txBody>
      </p:sp>
      <p:sp>
        <p:nvSpPr>
          <p:cNvPr id="5" name="">
            <a:extLst xmlns:a="http://schemas.openxmlformats.org/drawingml/2006/main">
              <a:ext uri="{FF2B5EF4-FFF2-40B4-BE49-F238E27FC236}">
                <a16:creationId xmlns:a16="http://schemas.microsoft.com/office/drawing/2014/main" id="{3EEBD974-D152-4A27-A018-E83C6430BBAD}"/>
              </a:ext>
            </a:extLst>
          </p:cNvPr>
          <p:cNvSpPr>
            <a:spLocks xmlns:a="http://schemas.openxmlformats.org/drawingml/2006/main" noGrp="1"/>
          </p:cNvSpPr>
          <p:nvPr/>
        </p:nvSpPr>
        <p:spPr>
          <a:xfrm xmlns:a="http://schemas.openxmlformats.org/drawingml/2006/main">
            <a:off x="762000" y="47053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00857D"/>
                </a:solidFill>
                <a:latin typeface="Arial"/>
                <a:ea typeface="Arial"/>
                <a:cs typeface="Arial"/>
              </a:defRPr>
            </a:pPr>
            <a:r>
              <a:rPr sz="2700" b="1">
                <a:solidFill>
                  <a:srgbClr val="00857D"/>
                </a:solidFill>
                <a:latin typeface="Arial"/>
                <a:ea typeface="Arial"/>
                <a:cs typeface="Arial"/>
              </a:rPr>
              <a:t>yA∈{0,1}; потоки xA,xB,xC — неперервні</a:t>
            </a:r>
          </a:p>
        </p:txBody>
      </p:sp>
      <p:sp>
        <p:nvSpPr>
          <p:cNvPr id="8" name="">
            <a:extLst xmlns:a="http://schemas.openxmlformats.org/drawingml/2006/main">
              <a:ext uri="{FF2B5EF4-FFF2-40B4-BE49-F238E27FC236}">
                <a16:creationId xmlns:a16="http://schemas.microsoft.com/office/drawing/2014/main" id="{2A55CA26-00BE-4BA4-92C2-C3B644A9221B}"/>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96</a:t>
            </a:r>
          </a:p>
        </p:txBody>
      </p:sp>
    </p:spTree>
    <p:extLst>
      <p:ext uri="{BB962C8B-B14F-4D97-AF65-F5344CB8AC3E}">
        <p14:creationId xmlns:p14="http://schemas.microsoft.com/office/powerpoint/2010/main" val="423498126"/>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1DE999-6B71-4506-8EBA-CE76DBA39882}"/>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Загальна модель з бінарним запуском</a:t>
            </a:r>
          </a:p>
        </p:txBody>
      </p:sp>
      <p:sp>
        <p:nvSpPr>
          <p:cNvPr id="2" name="">
            <a:extLst xmlns:a="http://schemas.openxmlformats.org/drawingml/2006/main">
              <a:ext uri="{FF2B5EF4-FFF2-40B4-BE49-F238E27FC236}">
                <a16:creationId xmlns:a16="http://schemas.microsoft.com/office/drawing/2014/main" id="{106F24F7-9485-4AD3-BE94-0D2C5707675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xⱼ≤uⱼyⱼ поєднує подільний потік і дискретне рішення.</a:t>
            </a:r>
          </a:p>
        </p:txBody>
      </p:sp>
      <p:sp>
        <p:nvSpPr>
          <p:cNvPr id="3" name="">
            <a:extLst xmlns:a="http://schemas.openxmlformats.org/drawingml/2006/main">
              <a:ext uri="{FF2B5EF4-FFF2-40B4-BE49-F238E27FC236}">
                <a16:creationId xmlns:a16="http://schemas.microsoft.com/office/drawing/2014/main" id="{D08C1461-AE6A-47EF-A185-C805217A7BD1}"/>
              </a:ext>
            </a:extLst>
          </p:cNvPr>
          <p:cNvSpPr>
            <a:spLocks xmlns:a="http://schemas.openxmlformats.org/drawingml/2006/main" noGrp="1"/>
          </p:cNvSpPr>
          <p:nvPr/>
        </p:nvSpPr>
        <p:spPr>
          <a:xfrm xmlns:a="http://schemas.openxmlformats.org/drawingml/2006/main">
            <a:off x="762000" y="1552575"/>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0">
                <a:solidFill>
                  <a:srgbClr val="173047"/>
                </a:solidFill>
                <a:latin typeface="Arial"/>
                <a:ea typeface="Arial"/>
                <a:cs typeface="Arial"/>
              </a:defRPr>
            </a:pPr>
            <a:r>
              <a:rPr sz="3150" b="0">
                <a:solidFill>
                  <a:srgbClr val="173047"/>
                </a:solidFill>
                <a:latin typeface="Arial"/>
                <a:ea typeface="Arial"/>
                <a:cs typeface="Arial"/>
              </a:rPr>
              <a:t>min</a:t>
            </a:r>
          </a:p>
        </p:txBody>
      </p:sp>
      <p:sp>
        <p:nvSpPr>
          <p:cNvPr id="4" name="">
            <a:extLst xmlns:a="http://schemas.openxmlformats.org/drawingml/2006/main">
              <a:ext uri="{FF2B5EF4-FFF2-40B4-BE49-F238E27FC236}">
                <a16:creationId xmlns:a16="http://schemas.microsoft.com/office/drawing/2014/main" id="{AEF9F139-006E-4553-9C6B-49083A30F571}"/>
              </a:ext>
            </a:extLst>
          </p:cNvPr>
          <p:cNvSpPr>
            <a:spLocks xmlns:a="http://schemas.openxmlformats.org/drawingml/2006/main" noGrp="1"/>
          </p:cNvSpPr>
          <p:nvPr/>
        </p:nvSpPr>
        <p:spPr>
          <a:xfrm xmlns:a="http://schemas.openxmlformats.org/drawingml/2006/main">
            <a:off x="1857375" y="1628775"/>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750" b="0">
                <a:solidFill>
                  <a:srgbClr val="173047"/>
                </a:solidFill>
                <a:latin typeface="Arial"/>
                <a:ea typeface="Arial"/>
                <a:cs typeface="Arial"/>
              </a:defRPr>
            </a:pPr>
            <a:r>
              <a:rPr sz="3750" b="0">
                <a:solidFill>
                  <a:srgbClr val="173047"/>
                </a:solidFill>
                <a:latin typeface="Arial"/>
                <a:ea typeface="Arial"/>
                <a:cs typeface="Arial"/>
              </a:rPr>
              <a:t>Σ</a:t>
            </a:r>
          </a:p>
        </p:txBody>
      </p:sp>
      <p:sp>
        <p:nvSpPr>
          <p:cNvPr id="5" name="">
            <a:extLst xmlns:a="http://schemas.openxmlformats.org/drawingml/2006/main">
              <a:ext uri="{FF2B5EF4-FFF2-40B4-BE49-F238E27FC236}">
                <a16:creationId xmlns:a16="http://schemas.microsoft.com/office/drawing/2014/main" id="{17314175-EF53-4444-B41E-0429EB62BAA0}"/>
              </a:ext>
            </a:extLst>
          </p:cNvPr>
          <p:cNvSpPr>
            <a:spLocks xmlns:a="http://schemas.openxmlformats.org/drawingml/2006/main" noGrp="1"/>
          </p:cNvSpPr>
          <p:nvPr/>
        </p:nvSpPr>
        <p:spPr>
          <a:xfrm xmlns:a="http://schemas.openxmlformats.org/drawingml/2006/main">
            <a:off x="1714500" y="21621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66779"/>
                </a:solidFill>
                <a:latin typeface="Arial"/>
                <a:ea typeface="Arial"/>
                <a:cs typeface="Arial"/>
              </a:defRPr>
            </a:pPr>
            <a:r>
              <a:rPr sz="1650" b="0">
                <a:solidFill>
                  <a:srgbClr val="566779"/>
                </a:solidFill>
                <a:latin typeface="Arial"/>
                <a:ea typeface="Arial"/>
                <a:cs typeface="Arial"/>
              </a:rPr>
              <a:t>j=1…n</a:t>
            </a:r>
          </a:p>
        </p:txBody>
      </p:sp>
      <p:sp>
        <p:nvSpPr>
          <p:cNvPr id="6" name="">
            <a:extLst xmlns:a="http://schemas.openxmlformats.org/drawingml/2006/main">
              <a:ext uri="{FF2B5EF4-FFF2-40B4-BE49-F238E27FC236}">
                <a16:creationId xmlns:a16="http://schemas.microsoft.com/office/drawing/2014/main" id="{92DFA2D4-1366-4A5F-803B-A7DA87C500F6}"/>
              </a:ext>
            </a:extLst>
          </p:cNvPr>
          <p:cNvSpPr>
            <a:spLocks xmlns:a="http://schemas.openxmlformats.org/drawingml/2006/main" noGrp="1"/>
          </p:cNvSpPr>
          <p:nvPr/>
        </p:nvSpPr>
        <p:spPr>
          <a:xfrm xmlns:a="http://schemas.openxmlformats.org/drawingml/2006/main">
            <a:off x="2905125" y="1628775"/>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(cⱼxⱼ+fⱼyⱼ)</a:t>
            </a:r>
          </a:p>
        </p:txBody>
      </p:sp>
      <p:sp>
        <p:nvSpPr>
          <p:cNvPr id="7" name="">
            <a:extLst xmlns:a="http://schemas.openxmlformats.org/drawingml/2006/main">
              <a:ext uri="{FF2B5EF4-FFF2-40B4-BE49-F238E27FC236}">
                <a16:creationId xmlns:a16="http://schemas.microsoft.com/office/drawing/2014/main" id="{7E00F3D7-82FD-417B-B72A-A1AECBF7C714}"/>
              </a:ext>
            </a:extLst>
          </p:cNvPr>
          <p:cNvSpPr>
            <a:spLocks xmlns:a="http://schemas.openxmlformats.org/drawingml/2006/main" noGrp="1"/>
          </p:cNvSpPr>
          <p:nvPr/>
        </p:nvSpPr>
        <p:spPr>
          <a:xfrm xmlns:a="http://schemas.openxmlformats.org/drawingml/2006/main">
            <a:off x="1143000" y="3028950"/>
            <a:ext cx="85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750" b="0">
                <a:solidFill>
                  <a:srgbClr val="173047"/>
                </a:solidFill>
                <a:latin typeface="Arial"/>
                <a:ea typeface="Arial"/>
                <a:cs typeface="Arial"/>
              </a:defRPr>
            </a:pPr>
            <a:r>
              <a:rPr sz="3750" b="0">
                <a:solidFill>
                  <a:srgbClr val="173047"/>
                </a:solidFill>
                <a:latin typeface="Arial"/>
                <a:ea typeface="Arial"/>
                <a:cs typeface="Arial"/>
              </a:rPr>
              <a:t>Σ</a:t>
            </a:r>
          </a:p>
        </p:txBody>
      </p:sp>
      <p:sp>
        <p:nvSpPr>
          <p:cNvPr id="8" name="">
            <a:extLst xmlns:a="http://schemas.openxmlformats.org/drawingml/2006/main">
              <a:ext uri="{FF2B5EF4-FFF2-40B4-BE49-F238E27FC236}">
                <a16:creationId xmlns:a16="http://schemas.microsoft.com/office/drawing/2014/main" id="{3C3DE7B2-1109-47AD-8264-920513D61136}"/>
              </a:ext>
            </a:extLst>
          </p:cNvPr>
          <p:cNvSpPr>
            <a:spLocks xmlns:a="http://schemas.openxmlformats.org/drawingml/2006/main" noGrp="1"/>
          </p:cNvSpPr>
          <p:nvPr/>
        </p:nvSpPr>
        <p:spPr>
          <a:xfrm xmlns:a="http://schemas.openxmlformats.org/drawingml/2006/main">
            <a:off x="1000125" y="35623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566779"/>
                </a:solidFill>
                <a:latin typeface="Arial"/>
                <a:ea typeface="Arial"/>
                <a:cs typeface="Arial"/>
              </a:defRPr>
            </a:pPr>
            <a:r>
              <a:rPr sz="1650" b="0">
                <a:solidFill>
                  <a:srgbClr val="566779"/>
                </a:solidFill>
                <a:latin typeface="Arial"/>
                <a:ea typeface="Arial"/>
                <a:cs typeface="Arial"/>
              </a:rPr>
              <a:t>j=1…n</a:t>
            </a:r>
          </a:p>
        </p:txBody>
      </p:sp>
      <p:sp>
        <p:nvSpPr>
          <p:cNvPr id="9" name="">
            <a:extLst xmlns:a="http://schemas.openxmlformats.org/drawingml/2006/main">
              <a:ext uri="{FF2B5EF4-FFF2-40B4-BE49-F238E27FC236}">
                <a16:creationId xmlns:a16="http://schemas.microsoft.com/office/drawing/2014/main" id="{94179370-0615-4840-8371-A97265506EDA}"/>
              </a:ext>
            </a:extLst>
          </p:cNvPr>
          <p:cNvSpPr>
            <a:spLocks xmlns:a="http://schemas.openxmlformats.org/drawingml/2006/main" noGrp="1"/>
          </p:cNvSpPr>
          <p:nvPr/>
        </p:nvSpPr>
        <p:spPr>
          <a:xfrm xmlns:a="http://schemas.openxmlformats.org/drawingml/2006/main">
            <a:off x="2190750" y="3028950"/>
            <a:ext cx="3905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73047"/>
                </a:solidFill>
                <a:latin typeface="Arial"/>
                <a:ea typeface="Arial"/>
                <a:cs typeface="Arial"/>
              </a:defRPr>
            </a:pPr>
            <a:r>
              <a:rPr sz="3000" b="0">
                <a:solidFill>
                  <a:srgbClr val="173047"/>
                </a:solidFill>
                <a:latin typeface="Arial"/>
                <a:ea typeface="Arial"/>
                <a:cs typeface="Arial"/>
              </a:rPr>
              <a:t>xⱼ=D</a:t>
            </a:r>
          </a:p>
        </p:txBody>
      </p:sp>
      <p:sp>
        <p:nvSpPr>
          <p:cNvPr id="10" name="">
            <a:extLst xmlns:a="http://schemas.openxmlformats.org/drawingml/2006/main">
              <a:ext uri="{FF2B5EF4-FFF2-40B4-BE49-F238E27FC236}">
                <a16:creationId xmlns:a16="http://schemas.microsoft.com/office/drawing/2014/main" id="{EC52BC2C-2433-4EED-A277-AAFD5F3BC82A}"/>
              </a:ext>
            </a:extLst>
          </p:cNvPr>
          <p:cNvSpPr>
            <a:spLocks xmlns:a="http://schemas.openxmlformats.org/drawingml/2006/main" noGrp="1"/>
          </p:cNvSpPr>
          <p:nvPr/>
        </p:nvSpPr>
        <p:spPr>
          <a:xfrm xmlns:a="http://schemas.openxmlformats.org/drawingml/2006/main">
            <a:off x="6905625" y="3095625"/>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850" b="0">
                <a:solidFill>
                  <a:srgbClr val="173047"/>
                </a:solidFill>
                <a:latin typeface="Arial"/>
                <a:ea typeface="Arial"/>
                <a:cs typeface="Arial"/>
              </a:defRPr>
            </a:pPr>
            <a:r>
              <a:rPr sz="2850" b="0">
                <a:solidFill>
                  <a:srgbClr val="173047"/>
                </a:solidFill>
                <a:latin typeface="Arial"/>
                <a:ea typeface="Arial"/>
                <a:cs typeface="Arial"/>
              </a:rPr>
              <a:t>0≤xⱼ≤uⱼyⱼ</a:t>
            </a:r>
          </a:p>
        </p:txBody>
      </p:sp>
      <p:sp>
        <p:nvSpPr>
          <p:cNvPr id="11" name="">
            <a:extLst xmlns:a="http://schemas.openxmlformats.org/drawingml/2006/main">
              <a:ext uri="{FF2B5EF4-FFF2-40B4-BE49-F238E27FC236}">
                <a16:creationId xmlns:a16="http://schemas.microsoft.com/office/drawing/2014/main" id="{CF9B8039-2B49-4E0A-ADA9-C69FCDCBC749}"/>
              </a:ext>
            </a:extLst>
          </p:cNvPr>
          <p:cNvSpPr>
            <a:spLocks xmlns:a="http://schemas.openxmlformats.org/drawingml/2006/main" noGrp="1"/>
          </p:cNvSpPr>
          <p:nvPr/>
        </p:nvSpPr>
        <p:spPr>
          <a:xfrm xmlns:a="http://schemas.openxmlformats.org/drawingml/2006/main">
            <a:off x="762000" y="44958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850" b="1">
                <a:solidFill>
                  <a:srgbClr val="00857D"/>
                </a:solidFill>
                <a:latin typeface="Arial"/>
                <a:ea typeface="Arial"/>
                <a:cs typeface="Arial"/>
              </a:defRPr>
            </a:pPr>
            <a:r>
              <a:rPr sz="2850" b="1">
                <a:solidFill>
                  <a:srgbClr val="00857D"/>
                </a:solidFill>
                <a:latin typeface="Arial"/>
                <a:ea typeface="Arial"/>
                <a:cs typeface="Arial"/>
              </a:rPr>
              <a:t>yⱼ∈{0,1}; xⱼ≥0</a:t>
            </a:r>
          </a:p>
        </p:txBody>
      </p:sp>
      <p:sp>
        <p:nvSpPr>
          <p:cNvPr id="14" name="">
            <a:extLst xmlns:a="http://schemas.openxmlformats.org/drawingml/2006/main">
              <a:ext uri="{FF2B5EF4-FFF2-40B4-BE49-F238E27FC236}">
                <a16:creationId xmlns:a16="http://schemas.microsoft.com/office/drawing/2014/main" id="{35E4F2D7-71F5-4B60-85FA-19CD049CF059}"/>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97</a:t>
            </a:r>
          </a:p>
        </p:txBody>
      </p:sp>
    </p:spTree>
    <p:extLst>
      <p:ext uri="{BB962C8B-B14F-4D97-AF65-F5344CB8AC3E}">
        <p14:creationId xmlns:p14="http://schemas.microsoft.com/office/powerpoint/2010/main" val="378309725"/>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D734C3-F1A1-4725-A6E2-D8867853465E}"/>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Потік і запуск: звідки береться xA ≤ 40yA?</a:t>
            </a:r>
          </a:p>
        </p:txBody>
      </p:sp>
      <p:sp>
        <p:nvSpPr>
          <p:cNvPr id="2" name="">
            <a:extLst xmlns:a="http://schemas.openxmlformats.org/drawingml/2006/main">
              <a:ext uri="{FF2B5EF4-FFF2-40B4-BE49-F238E27FC236}">
                <a16:creationId xmlns:a16="http://schemas.microsoft.com/office/drawing/2014/main" id="{2EF6E282-D822-4C9F-A53B-671F01A54B76}"/>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40 — фізична місткість маршруту A.</a:t>
            </a:r>
          </a:p>
        </p:txBody>
      </p:sp>
      <p:graphicFrame>
        <p:nvGraphicFramePr>
          <p:cNvPr id="3" name="">
            <a:extLst xmlns:a="http://schemas.openxmlformats.org/drawingml/2006/main">
              <a:ext uri="{FF2B5EF4-FFF2-40B4-BE49-F238E27FC236}">
                <a16:creationId xmlns:a16="http://schemas.microsoft.com/office/drawing/2014/main" id="{0A4761EE-4550-4D70-A76D-1CD783AC171A}"/>
              </a:ext>
            </a:extLst>
          </p:cNvPr>
          <p:cNvGraphicFramePr/>
          <p:nvPr/>
        </p:nvGraphicFramePr>
        <p:xfrm>
          <a:off xmlns:a="http://schemas.openxmlformats.org/drawingml/2006/main" x="762000" y="1571625"/>
          <a:ext xmlns:a="http://schemas.openxmlformats.org/drawingml/2006/main" cx="10668000" cy="2857500"/>
        </p:xfrm>
        <a:graphic xmlns:a="http://schemas.openxmlformats.org/drawingml/2006/main">
          <a:graphicData uri="http://schemas.openxmlformats.org/drawingml/2006/table">
            <a:tbl>
              <a:tblPr/>
              <a:tblGrid>
                <a:gridCol w="2571750"/>
                <a:gridCol w="4000500"/>
                <a:gridCol w="4095750"/>
              </a:tblGrid>
              <a:tr h="952500">
                <a:tc>
                  <a:txBody>
                    <a:bodyPr/>
                    <a:lstStyle/>
                    <a:p>
                      <a:r>
                        <a:rPr sz="2400" b="1">
                          <a:solidFill>
                            <a:srgbClr val="FFFFFF"/>
                          </a:solidFill>
                          <a:latin typeface="Arial"/>
                          <a:ea typeface="Arial"/>
                          <a:cs typeface="Arial"/>
                        </a:rPr>
                        <a:t>Стан</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Підстановка</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Наслідок</a:t>
                      </a:r>
                    </a:p>
                  </a:txBody>
                  <a:tcPr marL="114300" marR="114300" marT="66675" marB="66675" anchor="ctr">
                    <a:solidFill>
                      <a:srgbClr val="173047"/>
                    </a:solidFill>
                  </a:tcPr>
                </a:tc>
              </a:tr>
              <a:tr h="952500">
                <a:tc>
                  <a:txBody>
                    <a:bodyPr/>
                    <a:lstStyle/>
                    <a:p>
                      <a:r>
                        <a:rPr sz="2400">
                          <a:solidFill>
                            <a:srgbClr val="173047"/>
                          </a:solidFill>
                          <a:latin typeface="Arial"/>
                          <a:ea typeface="Arial"/>
                          <a:cs typeface="Arial"/>
                        </a:rPr>
                        <a:t>yA = 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 ≤ xA ≤ 40·0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Потік A дорівнює 0</a:t>
                      </a:r>
                    </a:p>
                  </a:txBody>
                  <a:tcPr marL="114300" marR="114300" marT="66675" marB="66675" anchor="ctr">
                    <a:solidFill>
                      <a:srgbClr val="FFFFFF"/>
                    </a:solidFill>
                  </a:tcPr>
                </a:tc>
              </a:tr>
              <a:tr h="952500">
                <a:tc>
                  <a:txBody>
                    <a:bodyPr/>
                    <a:lstStyle/>
                    <a:p>
                      <a:r>
                        <a:rPr sz="2400">
                          <a:solidFill>
                            <a:srgbClr val="173047"/>
                          </a:solidFill>
                          <a:latin typeface="Arial"/>
                          <a:ea typeface="Arial"/>
                          <a:cs typeface="Arial"/>
                        </a:rPr>
                        <a:t>yA = 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 ≤ xA ≤ 40·1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Будь-який потік від 0 до 40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6BF3E29-4A1E-4F36-8108-9A33FCFF60E0}"/>
              </a:ext>
            </a:extLst>
          </p:cNvPr>
          <p:cNvSpPr>
            <a:spLocks xmlns:a="http://schemas.openxmlformats.org/drawingml/2006/main" noGrp="1"/>
          </p:cNvSpPr>
          <p:nvPr/>
        </p:nvSpPr>
        <p:spPr>
          <a:xfrm xmlns:a="http://schemas.openxmlformats.org/drawingml/2006/main">
            <a:off x="762000" y="4762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0">
                <a:solidFill>
                  <a:srgbClr val="173047"/>
                </a:solidFill>
                <a:latin typeface="Arial"/>
                <a:ea typeface="Arial"/>
                <a:cs typeface="Arial"/>
              </a:defRPr>
            </a:defPPr>
          </a:lstStyle>
          <a:p xmlns:a="http://schemas.openxmlformats.org/drawingml/2006/main">
            <a:pPr algn="l">
              <a:defRPr sz="2550" b="0">
                <a:solidFill>
                  <a:srgbClr val="173047"/>
                </a:solidFill>
                <a:latin typeface="Arial"/>
                <a:ea typeface="Arial"/>
                <a:cs typeface="Arial"/>
              </a:defRPr>
            </a:pPr>
            <a:r>
              <a:rPr sz="2550" b="0">
                <a:solidFill>
                  <a:srgbClr val="173047"/>
                </a:solidFill>
                <a:latin typeface="Arial"/>
                <a:ea typeface="Arial"/>
                <a:cs typeface="Arial"/>
              </a:rPr>
              <a:t>Плата 100yA додається один раз за запуск.</a:t>
            </a:r>
          </a:p>
          <a:p xmlns:a="http://schemas.openxmlformats.org/drawingml/2006/main">
            <a:pPr algn="l">
              <a:defRPr sz="2550" b="0">
                <a:solidFill>
                  <a:srgbClr val="173047"/>
                </a:solidFill>
                <a:latin typeface="Arial"/>
                <a:ea typeface="Arial"/>
                <a:cs typeface="Arial"/>
              </a:defRPr>
            </a:pPr>
            <a:r>
              <a:rPr sz="2550" b="0">
                <a:solidFill>
                  <a:srgbClr val="173047"/>
                </a:solidFill>
                <a:latin typeface="Arial"/>
                <a:ea typeface="Arial"/>
                <a:cs typeface="Arial"/>
              </a:rPr>
              <a:t>Вартість 2xA залежить від обсягу потоку.</a:t>
            </a:r>
          </a:p>
        </p:txBody>
      </p:sp>
      <p:sp>
        <p:nvSpPr>
          <p:cNvPr id="5" name="">
            <a:extLst xmlns:a="http://schemas.openxmlformats.org/drawingml/2006/main">
              <a:ext uri="{FF2B5EF4-FFF2-40B4-BE49-F238E27FC236}">
                <a16:creationId xmlns:a16="http://schemas.microsoft.com/office/drawing/2014/main" id="{E40E39B0-AF0E-4E36-AEDA-A0009E237119}"/>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98</a:t>
            </a:r>
          </a:p>
        </p:txBody>
      </p:sp>
    </p:spTree>
    <p:extLst>
      <p:ext uri="{BB962C8B-B14F-4D97-AF65-F5344CB8AC3E}">
        <p14:creationId xmlns:p14="http://schemas.microsoft.com/office/powerpoint/2010/main" val="961152603"/>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02191A-049B-4DEF-BA06-426D8BD050D3}"/>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Велике M: одна модель, різні LP-межі</a:t>
            </a:r>
          </a:p>
        </p:txBody>
      </p:sp>
      <p:sp>
        <p:nvSpPr>
          <p:cNvPr id="2" name="">
            <a:extLst xmlns:a="http://schemas.openxmlformats.org/drawingml/2006/main">
              <a:ext uri="{FF2B5EF4-FFF2-40B4-BE49-F238E27FC236}">
                <a16:creationId xmlns:a16="http://schemas.microsoft.com/office/drawing/2014/main" id="{511273AC-03DA-4AA7-A99A-6075FA655DB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Найтісніша коректна межа тут M = 40.</a:t>
            </a:r>
          </a:p>
        </p:txBody>
      </p:sp>
      <p:graphicFrame>
        <p:nvGraphicFramePr>
          <p:cNvPr id="3" name="">
            <a:extLst xmlns:a="http://schemas.openxmlformats.org/drawingml/2006/main">
              <a:ext uri="{FF2B5EF4-FFF2-40B4-BE49-F238E27FC236}">
                <a16:creationId xmlns:a16="http://schemas.microsoft.com/office/drawing/2014/main" id="{2C8D7235-0171-4F66-BB01-6C0AD7C0B48E}"/>
              </a:ext>
            </a:extLst>
          </p:cNvPr>
          <p:cNvGraphicFramePr/>
          <p:nvPr/>
        </p:nvGraphicFramePr>
        <p:xfrm>
          <a:off xmlns:a="http://schemas.openxmlformats.org/drawingml/2006/main" x="762000" y="1571625"/>
          <a:ext xmlns:a="http://schemas.openxmlformats.org/drawingml/2006/main" cx="10668000" cy="3143250"/>
        </p:xfrm>
        <a:graphic xmlns:a="http://schemas.openxmlformats.org/drawingml/2006/main">
          <a:graphicData uri="http://schemas.openxmlformats.org/drawingml/2006/table">
            <a:tbl>
              <a:tblPr/>
              <a:tblGrid>
                <a:gridCol w="3143250"/>
                <a:gridCol w="5048250"/>
                <a:gridCol w="2476500"/>
              </a:tblGrid>
              <a:tr h="785813">
                <a:tc>
                  <a:txBody>
                    <a:bodyPr/>
                    <a:lstStyle/>
                    <a:p>
                      <a:r>
                        <a:rPr sz="2175" b="1">
                          <a:solidFill>
                            <a:srgbClr val="FFFFFF"/>
                          </a:solidFill>
                          <a:latin typeface="Arial"/>
                          <a:ea typeface="Arial"/>
                          <a:cs typeface="Arial"/>
                        </a:rPr>
                        <a:t>Зв’язок</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LP-план (xA,xB,xC,yA)</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Межа min</a:t>
                      </a:r>
                    </a:p>
                  </a:txBody>
                  <a:tcPr marL="114300" marR="114300" marT="66675" marB="66675" anchor="ctr">
                    <a:solidFill>
                      <a:srgbClr val="173047"/>
                    </a:solidFill>
                  </a:tcPr>
                </a:tc>
              </a:tr>
              <a:tr h="785813">
                <a:tc>
                  <a:txBody>
                    <a:bodyPr/>
                    <a:lstStyle/>
                    <a:p>
                      <a:r>
                        <a:rPr sz="2175">
                          <a:solidFill>
                            <a:srgbClr val="173047"/>
                          </a:solidFill>
                          <a:latin typeface="Arial"/>
                          <a:ea typeface="Arial"/>
                          <a:cs typeface="Arial"/>
                        </a:rPr>
                        <a:t>xA ≤ 40yA</a:t>
                      </a:r>
                    </a:p>
                  </a:txBody>
                  <a:tcPr marL="114300" marR="114300" marT="66675" marB="66675" anchor="ctr">
                    <a:solidFill>
                      <a:srgbClr val="FFFFFF"/>
                    </a:solidFill>
                  </a:tcPr>
                </a:tc>
                <a:tc>
                  <a:txBody>
                    <a:bodyPr/>
                    <a:lstStyle/>
                    <a:p>
                      <a:r>
                        <a:rPr sz="2175">
                          <a:solidFill>
                            <a:srgbClr val="173047"/>
                          </a:solidFill>
                          <a:latin typeface="Arial"/>
                          <a:ea typeface="Arial"/>
                          <a:cs typeface="Arial"/>
                        </a:rPr>
                        <a:t>(30, 0, 30, 0.75)</a:t>
                      </a:r>
                    </a:p>
                  </a:txBody>
                  <a:tcPr marL="114300" marR="114300" marT="66675" marB="66675" anchor="ctr">
                    <a:solidFill>
                      <a:srgbClr val="FFFFFF"/>
                    </a:solidFill>
                  </a:tcPr>
                </a:tc>
                <a:tc>
                  <a:txBody>
                    <a:bodyPr/>
                    <a:lstStyle/>
                    <a:p>
                      <a:r>
                        <a:rPr sz="2175">
                          <a:solidFill>
                            <a:srgbClr val="173047"/>
                          </a:solidFill>
                          <a:latin typeface="Arial"/>
                          <a:ea typeface="Arial"/>
                          <a:cs typeface="Arial"/>
                        </a:rPr>
                        <a:t>255</a:t>
                      </a:r>
                    </a:p>
                  </a:txBody>
                  <a:tcPr marL="114300" marR="114300" marT="66675" marB="66675" anchor="ctr">
                    <a:solidFill>
                      <a:srgbClr val="FFFFFF"/>
                    </a:solidFill>
                  </a:tcPr>
                </a:tc>
              </a:tr>
              <a:tr h="785813">
                <a:tc>
                  <a:txBody>
                    <a:bodyPr/>
                    <a:lstStyle/>
                    <a:p>
                      <a:r>
                        <a:rPr sz="2175">
                          <a:solidFill>
                            <a:srgbClr val="173047"/>
                          </a:solidFill>
                          <a:latin typeface="Arial"/>
                          <a:ea typeface="Arial"/>
                          <a:cs typeface="Arial"/>
                        </a:rPr>
                        <a:t>xA ≤ 1000yA</a:t>
                      </a:r>
                    </a:p>
                  </a:txBody>
                  <a:tcPr marL="114300" marR="114300" marT="66675" marB="66675" anchor="ctr">
                    <a:solidFill>
                      <a:srgbClr val="FFFFFF"/>
                    </a:solidFill>
                  </a:tcPr>
                </a:tc>
                <a:tc>
                  <a:txBody>
                    <a:bodyPr/>
                    <a:lstStyle/>
                    <a:p>
                      <a:r>
                        <a:rPr sz="2175">
                          <a:solidFill>
                            <a:srgbClr val="173047"/>
                          </a:solidFill>
                          <a:latin typeface="Arial"/>
                          <a:ea typeface="Arial"/>
                          <a:cs typeface="Arial"/>
                        </a:rPr>
                        <a:t>(40, 0, 20, 0.04)</a:t>
                      </a:r>
                    </a:p>
                  </a:txBody>
                  <a:tcPr marL="114300" marR="114300" marT="66675" marB="66675" anchor="ctr">
                    <a:solidFill>
                      <a:srgbClr val="FFFFFF"/>
                    </a:solidFill>
                  </a:tcPr>
                </a:tc>
                <a:tc>
                  <a:txBody>
                    <a:bodyPr/>
                    <a:lstStyle/>
                    <a:p>
                      <a:r>
                        <a:rPr sz="2175">
                          <a:solidFill>
                            <a:srgbClr val="173047"/>
                          </a:solidFill>
                          <a:latin typeface="Arial"/>
                          <a:ea typeface="Arial"/>
                          <a:cs typeface="Arial"/>
                        </a:rPr>
                        <a:t>164</a:t>
                      </a:r>
                    </a:p>
                  </a:txBody>
                  <a:tcPr marL="114300" marR="114300" marT="66675" marB="66675" anchor="ctr">
                    <a:solidFill>
                      <a:srgbClr val="FFFFFF"/>
                    </a:solidFill>
                  </a:tcPr>
                </a:tc>
              </a:tr>
              <a:tr h="785813">
                <a:tc>
                  <a:txBody>
                    <a:bodyPr/>
                    <a:lstStyle/>
                    <a:p>
                      <a:r>
                        <a:rPr sz="2175">
                          <a:solidFill>
                            <a:srgbClr val="173047"/>
                          </a:solidFill>
                          <a:latin typeface="Arial"/>
                          <a:ea typeface="Arial"/>
                          <a:cs typeface="Arial"/>
                        </a:rPr>
                        <a:t>Цілий оптимум</a:t>
                      </a:r>
                    </a:p>
                  </a:txBody>
                  <a:tcPr marL="114300" marR="114300" marT="66675" marB="66675" anchor="ctr">
                    <a:solidFill>
                      <a:srgbClr val="FFFFFF"/>
                    </a:solidFill>
                  </a:tcPr>
                </a:tc>
                <a:tc>
                  <a:txBody>
                    <a:bodyPr/>
                    <a:lstStyle/>
                    <a:p>
                      <a:r>
                        <a:rPr sz="2175">
                          <a:solidFill>
                            <a:srgbClr val="173047"/>
                          </a:solidFill>
                          <a:latin typeface="Arial"/>
                          <a:ea typeface="Arial"/>
                          <a:cs typeface="Arial"/>
                        </a:rPr>
                        <a:t>(40, 0, 20, 1)</a:t>
                      </a:r>
                    </a:p>
                  </a:txBody>
                  <a:tcPr marL="114300" marR="114300" marT="66675" marB="66675" anchor="ctr">
                    <a:solidFill>
                      <a:srgbClr val="FFFFFF"/>
                    </a:solidFill>
                  </a:tcPr>
                </a:tc>
                <a:tc>
                  <a:txBody>
                    <a:bodyPr/>
                    <a:lstStyle/>
                    <a:p>
                      <a:r>
                        <a:rPr sz="2175">
                          <a:solidFill>
                            <a:srgbClr val="173047"/>
                          </a:solidFill>
                          <a:latin typeface="Arial"/>
                          <a:ea typeface="Arial"/>
                          <a:cs typeface="Arial"/>
                        </a:rPr>
                        <a:t>260</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DB84756-4673-484E-94D4-03BF191E9CDD}"/>
              </a:ext>
            </a:extLst>
          </p:cNvPr>
          <p:cNvSpPr>
            <a:spLocks xmlns:a="http://schemas.openxmlformats.org/drawingml/2006/main" noGrp="1"/>
          </p:cNvSpPr>
          <p:nvPr/>
        </p:nvSpPr>
        <p:spPr>
          <a:xfrm xmlns:a="http://schemas.openxmlformats.org/drawingml/2006/main">
            <a:off x="762000" y="50673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73047"/>
                </a:solidFill>
                <a:latin typeface="Arial"/>
                <a:ea typeface="Arial"/>
                <a:cs typeface="Arial"/>
              </a:defRPr>
            </a:defPPr>
          </a:lstStyle>
          <a:p xmlns:a="http://schemas.openxmlformats.org/drawingml/2006/main">
            <a:pPr algn="l">
              <a:defRPr sz="2325" b="0">
                <a:solidFill>
                  <a:srgbClr val="173047"/>
                </a:solidFill>
                <a:latin typeface="Arial"/>
                <a:ea typeface="Arial"/>
                <a:cs typeface="Arial"/>
              </a:defRPr>
            </a:pPr>
            <a:r>
              <a:rPr sz="2325" b="0">
                <a:solidFill>
                  <a:srgbClr val="173047"/>
                </a:solidFill>
                <a:latin typeface="Arial"/>
                <a:ea typeface="Arial"/>
                <a:cs typeface="Arial"/>
              </a:rPr>
              <a:t>M=1000 дає слабшу оцінку вартості.</a:t>
            </a:r>
          </a:p>
          <a:p xmlns:a="http://schemas.openxmlformats.org/drawingml/2006/main">
            <a:pPr algn="l">
              <a:defRPr sz="2325" b="0">
                <a:solidFill>
                  <a:srgbClr val="173047"/>
                </a:solidFill>
                <a:latin typeface="Arial"/>
                <a:ea typeface="Arial"/>
                <a:cs typeface="Arial"/>
              </a:defRPr>
            </a:pPr>
            <a:r>
              <a:rPr sz="2325" b="0">
                <a:solidFill>
                  <a:srgbClr val="173047"/>
                </a:solidFill>
                <a:latin typeface="Arial"/>
                <a:ea typeface="Arial"/>
                <a:cs typeface="Arial"/>
              </a:rPr>
              <a:t>Фізичну верхню межу xA≤40 зберігаємо в обох моделях.</a:t>
            </a:r>
          </a:p>
        </p:txBody>
      </p:sp>
      <p:sp>
        <p:nvSpPr>
          <p:cNvPr id="5" name="">
            <a:extLst xmlns:a="http://schemas.openxmlformats.org/drawingml/2006/main">
              <a:ext uri="{FF2B5EF4-FFF2-40B4-BE49-F238E27FC236}">
                <a16:creationId xmlns:a16="http://schemas.microsoft.com/office/drawing/2014/main" id="{2663DB96-1396-44A6-B288-4C0F565CEA66}"/>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99</a:t>
            </a:r>
          </a:p>
        </p:txBody>
      </p:sp>
    </p:spTree>
    <p:extLst>
      <p:ext uri="{BB962C8B-B14F-4D97-AF65-F5344CB8AC3E}">
        <p14:creationId xmlns:p14="http://schemas.microsoft.com/office/powerpoint/2010/main" val="1819328182"/>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F80F76-1B6B-4749-AA4E-EB4F9F59321C}"/>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Логічні умови через бінарні змінні</a:t>
            </a:r>
          </a:p>
        </p:txBody>
      </p:sp>
      <p:sp>
        <p:nvSpPr>
          <p:cNvPr id="2" name="">
            <a:extLst xmlns:a="http://schemas.openxmlformats.org/drawingml/2006/main">
              <a:ext uri="{FF2B5EF4-FFF2-40B4-BE49-F238E27FC236}">
                <a16:creationId xmlns:a16="http://schemas.microsoft.com/office/drawing/2014/main" id="{586C7191-BEE7-4DE5-BD71-37C6E1F99D0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Кожне правило має прозоре лінійне обмеження.</a:t>
            </a:r>
          </a:p>
        </p:txBody>
      </p:sp>
      <p:graphicFrame>
        <p:nvGraphicFramePr>
          <p:cNvPr id="3" name="">
            <a:extLst xmlns:a="http://schemas.openxmlformats.org/drawingml/2006/main">
              <a:ext uri="{FF2B5EF4-FFF2-40B4-BE49-F238E27FC236}">
                <a16:creationId xmlns:a16="http://schemas.microsoft.com/office/drawing/2014/main" id="{A576AE45-6512-4DF7-A616-D96B4BB9D948}"/>
              </a:ext>
            </a:extLst>
          </p:cNvPr>
          <p:cNvGraphicFramePr/>
          <p:nvPr/>
        </p:nvGraphicFramePr>
        <p:xfrm>
          <a:off xmlns:a="http://schemas.openxmlformats.org/drawingml/2006/main" x="762000" y="1571625"/>
          <a:ext xmlns:a="http://schemas.openxmlformats.org/drawingml/2006/main" cx="10668000" cy="3905250"/>
        </p:xfrm>
        <a:graphic xmlns:a="http://schemas.openxmlformats.org/drawingml/2006/main">
          <a:graphicData uri="http://schemas.openxmlformats.org/drawingml/2006/table">
            <a:tbl>
              <a:tblPr/>
              <a:tblGrid>
                <a:gridCol w="7143750"/>
                <a:gridCol w="3524250"/>
              </a:tblGrid>
              <a:tr h="781050">
                <a:tc>
                  <a:txBody>
                    <a:bodyPr/>
                    <a:lstStyle/>
                    <a:p>
                      <a:r>
                        <a:rPr sz="2325" b="1">
                          <a:solidFill>
                            <a:srgbClr val="FFFFFF"/>
                          </a:solidFill>
                          <a:latin typeface="Arial"/>
                          <a:ea typeface="Arial"/>
                          <a:cs typeface="Arial"/>
                        </a:rPr>
                        <a:t>Правило для завдань</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Лінійна умова</a:t>
                      </a:r>
                    </a:p>
                  </a:txBody>
                  <a:tcPr marL="114300" marR="114300" marT="66675" marB="66675" anchor="ctr">
                    <a:solidFill>
                      <a:srgbClr val="173047"/>
                    </a:solidFill>
                  </a:tcPr>
                </a:tc>
              </a:tr>
              <a:tr h="781050">
                <a:tc>
                  <a:txBody>
                    <a:bodyPr/>
                    <a:lstStyle/>
                    <a:p>
                      <a:r>
                        <a:rPr sz="2325">
                          <a:solidFill>
                            <a:srgbClr val="173047"/>
                          </a:solidFill>
                          <a:latin typeface="Arial"/>
                          <a:ea typeface="Arial"/>
                          <a:cs typeface="Arial"/>
                        </a:rPr>
                        <a:t>C можна обрати лише разом із B</a:t>
                      </a:r>
                    </a:p>
                  </a:txBody>
                  <a:tcPr marL="114300" marR="114300" marT="66675" marB="66675" anchor="ctr">
                    <a:solidFill>
                      <a:srgbClr val="FFFFFF"/>
                    </a:solidFill>
                  </a:tcPr>
                </a:tc>
                <a:tc>
                  <a:txBody>
                    <a:bodyPr/>
                    <a:lstStyle/>
                    <a:p>
                      <a:r>
                        <a:rPr sz="2325">
                          <a:solidFill>
                            <a:srgbClr val="173047"/>
                          </a:solidFill>
                          <a:latin typeface="Arial"/>
                          <a:ea typeface="Arial"/>
                          <a:cs typeface="Arial"/>
                        </a:rPr>
                        <a:t>xC ≤ xB</a:t>
                      </a:r>
                    </a:p>
                  </a:txBody>
                  <a:tcPr marL="114300" marR="114300" marT="66675" marB="66675" anchor="ctr">
                    <a:solidFill>
                      <a:srgbClr val="FFFFFF"/>
                    </a:solidFill>
                  </a:tcPr>
                </a:tc>
              </a:tr>
              <a:tr h="781050">
                <a:tc>
                  <a:txBody>
                    <a:bodyPr/>
                    <a:lstStyle/>
                    <a:p>
                      <a:r>
                        <a:rPr sz="2325">
                          <a:solidFill>
                            <a:srgbClr val="173047"/>
                          </a:solidFill>
                          <a:latin typeface="Arial"/>
                          <a:ea typeface="Arial"/>
                          <a:cs typeface="Arial"/>
                        </a:rPr>
                        <a:t>A і B не можна виконати разом</a:t>
                      </a:r>
                    </a:p>
                  </a:txBody>
                  <a:tcPr marL="114300" marR="114300" marT="66675" marB="66675" anchor="ctr">
                    <a:solidFill>
                      <a:srgbClr val="FFFFFF"/>
                    </a:solidFill>
                  </a:tcPr>
                </a:tc>
                <a:tc>
                  <a:txBody>
                    <a:bodyPr/>
                    <a:lstStyle/>
                    <a:p>
                      <a:r>
                        <a:rPr sz="2325">
                          <a:solidFill>
                            <a:srgbClr val="173047"/>
                          </a:solidFill>
                          <a:latin typeface="Arial"/>
                          <a:ea typeface="Arial"/>
                          <a:cs typeface="Arial"/>
                        </a:rPr>
                        <a:t>xA + xB ≤ 1</a:t>
                      </a:r>
                    </a:p>
                  </a:txBody>
                  <a:tcPr marL="114300" marR="114300" marT="66675" marB="66675" anchor="ctr">
                    <a:solidFill>
                      <a:srgbClr val="FFFFFF"/>
                    </a:solidFill>
                  </a:tcPr>
                </a:tc>
              </a:tr>
              <a:tr h="781050">
                <a:tc>
                  <a:txBody>
                    <a:bodyPr/>
                    <a:lstStyle/>
                    <a:p>
                      <a:r>
                        <a:rPr sz="2325">
                          <a:solidFill>
                            <a:srgbClr val="173047"/>
                          </a:solidFill>
                          <a:latin typeface="Arial"/>
                          <a:ea typeface="Arial"/>
                          <a:cs typeface="Arial"/>
                        </a:rPr>
                        <a:t>Потрібне рівно одне з A,B,C</a:t>
                      </a:r>
                    </a:p>
                  </a:txBody>
                  <a:tcPr marL="114300" marR="114300" marT="66675" marB="66675" anchor="ctr">
                    <a:solidFill>
                      <a:srgbClr val="FFFFFF"/>
                    </a:solidFill>
                  </a:tcPr>
                </a:tc>
                <a:tc>
                  <a:txBody>
                    <a:bodyPr/>
                    <a:lstStyle/>
                    <a:p>
                      <a:r>
                        <a:rPr sz="2325">
                          <a:solidFill>
                            <a:srgbClr val="173047"/>
                          </a:solidFill>
                          <a:latin typeface="Arial"/>
                          <a:ea typeface="Arial"/>
                          <a:cs typeface="Arial"/>
                        </a:rPr>
                        <a:t>xA + xB + xC = 1</a:t>
                      </a:r>
                    </a:p>
                  </a:txBody>
                  <a:tcPr marL="114300" marR="114300" marT="66675" marB="66675" anchor="ctr">
                    <a:solidFill>
                      <a:srgbClr val="FFFFFF"/>
                    </a:solidFill>
                  </a:tcPr>
                </a:tc>
              </a:tr>
              <a:tr h="781050">
                <a:tc>
                  <a:txBody>
                    <a:bodyPr/>
                    <a:lstStyle/>
                    <a:p>
                      <a:r>
                        <a:rPr sz="2325">
                          <a:solidFill>
                            <a:srgbClr val="173047"/>
                          </a:solidFill>
                          <a:latin typeface="Arial"/>
                          <a:ea typeface="Arial"/>
                          <a:cs typeface="Arial"/>
                        </a:rPr>
                        <a:t>A і B мають однаковий стан</a:t>
                      </a:r>
                    </a:p>
                  </a:txBody>
                  <a:tcPr marL="114300" marR="114300" marT="66675" marB="66675" anchor="ctr">
                    <a:solidFill>
                      <a:srgbClr val="FFFFFF"/>
                    </a:solidFill>
                  </a:tcPr>
                </a:tc>
                <a:tc>
                  <a:txBody>
                    <a:bodyPr/>
                    <a:lstStyle/>
                    <a:p>
                      <a:r>
                        <a:rPr sz="2325">
                          <a:solidFill>
                            <a:srgbClr val="173047"/>
                          </a:solidFill>
                          <a:latin typeface="Arial"/>
                          <a:ea typeface="Arial"/>
                          <a:cs typeface="Arial"/>
                        </a:rPr>
                        <a:t>xA = xB</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4FC6EEE-A69B-431F-BAC9-7323DE952623}"/>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100</a:t>
            </a:r>
          </a:p>
        </p:txBody>
      </p:sp>
    </p:spTree>
    <p:extLst>
      <p:ext uri="{BB962C8B-B14F-4D97-AF65-F5344CB8AC3E}">
        <p14:creationId xmlns:p14="http://schemas.microsoft.com/office/powerpoint/2010/main" val="52901723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2" name="">
            <a:extLst xmlns:a="http://schemas.openxmlformats.org/drawingml/2006/main">
              <a:ext uri="{FF2B5EF4-FFF2-40B4-BE49-F238E27FC236}">
                <a16:creationId xmlns:a16="http://schemas.microsoft.com/office/drawing/2014/main" id="{7AA2475D-2E5A-4985-B7D1-FE027CDE4ECB}"/>
              </a:ext>
            </a:extLst>
          </p:cNvPr>
          <p:cNvCxnSpPr>
            <a:stCxn xmlns:a="http://schemas.openxmlformats.org/drawingml/2006/main" id="7" idx="3"/>
            <a:endCxn xmlns:a="http://schemas.openxmlformats.org/drawingml/2006/main" id="13" idx="1"/>
          </p:cNvCxnSpPr>
          <p:nvPr/>
        </p:nvCxnSpPr>
        <p:spPr>
          <a:xfrm xmlns:a="http://schemas.openxmlformats.org/drawingml/2006/main">
            <a:off x="6048375" y="3648075"/>
            <a:ext cx="2066925" cy="13335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3" name="">
            <a:extLst xmlns:a="http://schemas.openxmlformats.org/drawingml/2006/main">
              <a:ext uri="{FF2B5EF4-FFF2-40B4-BE49-F238E27FC236}">
                <a16:creationId xmlns:a16="http://schemas.microsoft.com/office/drawing/2014/main" id="{684868EC-A3FE-42E9-A0E7-39B267B7413B}"/>
              </a:ext>
            </a:extLst>
          </p:cNvPr>
          <p:cNvCxnSpPr>
            <a:stCxn xmlns:a="http://schemas.openxmlformats.org/drawingml/2006/main" id="5" idx="3"/>
            <a:endCxn xmlns:a="http://schemas.openxmlformats.org/drawingml/2006/main" id="11" idx="1"/>
          </p:cNvCxnSpPr>
          <p:nvPr/>
        </p:nvCxnSpPr>
        <p:spPr>
          <a:xfrm xmlns:a="http://schemas.openxmlformats.org/drawingml/2006/main">
            <a:off x="6048375" y="2571750"/>
            <a:ext cx="2066925" cy="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4" name="">
            <a:extLst xmlns:a="http://schemas.openxmlformats.org/drawingml/2006/main">
              <a:ext uri="{FF2B5EF4-FFF2-40B4-BE49-F238E27FC236}">
                <a16:creationId xmlns:a16="http://schemas.microsoft.com/office/drawing/2014/main" id="{C380AD81-AF08-4A1A-83FD-29B6C1823D68}"/>
              </a:ext>
            </a:extLst>
          </p:cNvPr>
          <p:cNvCxnSpPr>
            <a:stCxn xmlns:a="http://schemas.openxmlformats.org/drawingml/2006/main" id="7" idx="2"/>
            <a:endCxn xmlns:a="http://schemas.openxmlformats.org/drawingml/2006/main" id="9" idx="0"/>
          </p:cNvCxnSpPr>
          <p:nvPr/>
        </p:nvCxnSpPr>
        <p:spPr>
          <a:xfrm xmlns:a="http://schemas.openxmlformats.org/drawingml/2006/main">
            <a:off x="3857625" y="3971925"/>
            <a:ext cx="47625" cy="43815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5" name="">
            <a:extLst xmlns:a="http://schemas.openxmlformats.org/drawingml/2006/main">
              <a:ext uri="{FF2B5EF4-FFF2-40B4-BE49-F238E27FC236}">
                <a16:creationId xmlns:a16="http://schemas.microsoft.com/office/drawing/2014/main" id="{CA338355-0BC8-4E29-9939-7206F7C44A05}"/>
              </a:ext>
            </a:extLst>
          </p:cNvPr>
          <p:cNvCxnSpPr>
            <a:stCxn xmlns:a="http://schemas.openxmlformats.org/drawingml/2006/main" id="5" idx="2"/>
            <a:endCxn xmlns:a="http://schemas.openxmlformats.org/drawingml/2006/main" id="7" idx="0"/>
          </p:cNvCxnSpPr>
          <p:nvPr/>
        </p:nvCxnSpPr>
        <p:spPr>
          <a:xfrm xmlns:a="http://schemas.openxmlformats.org/drawingml/2006/main">
            <a:off x="3857625" y="2895600"/>
            <a:ext cx="0" cy="428625"/>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6" name="">
            <a:extLst xmlns:a="http://schemas.openxmlformats.org/drawingml/2006/main">
              <a:ext uri="{FF2B5EF4-FFF2-40B4-BE49-F238E27FC236}">
                <a16:creationId xmlns:a16="http://schemas.microsoft.com/office/drawing/2014/main" id="{2337F4B6-A1E8-4F71-9007-DF8781A56715}"/>
              </a:ext>
            </a:extLst>
          </p:cNvPr>
          <p:cNvCxnSpPr>
            <a:stCxn xmlns:a="http://schemas.openxmlformats.org/drawingml/2006/main" id="3" idx="2"/>
            <a:endCxn xmlns:a="http://schemas.openxmlformats.org/drawingml/2006/main" id="5" idx="0"/>
          </p:cNvCxnSpPr>
          <p:nvPr/>
        </p:nvCxnSpPr>
        <p:spPr>
          <a:xfrm xmlns:a="http://schemas.openxmlformats.org/drawingml/2006/main" flipH="1">
            <a:off x="3857625" y="1924050"/>
            <a:ext cx="47625" cy="32385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30" name="">
            <a:extLst xmlns:a="http://schemas.openxmlformats.org/drawingml/2006/main">
              <a:ext uri="{FF2B5EF4-FFF2-40B4-BE49-F238E27FC236}">
                <a16:creationId xmlns:a16="http://schemas.microsoft.com/office/drawing/2014/main" id="{0C6D0BDB-D1A3-49EB-8AFE-9D35CBF3B041}"/>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Гілки і межі для min: рішення у вузлі</a:t>
            </a:r>
          </a:p>
        </p:txBody>
      </p:sp>
      <p:sp>
        <p:nvSpPr>
          <p:cNvPr id="2" name="">
            <a:extLst xmlns:a="http://schemas.openxmlformats.org/drawingml/2006/main">
              <a:ext uri="{FF2B5EF4-FFF2-40B4-BE49-F238E27FC236}">
                <a16:creationId xmlns:a16="http://schemas.microsoft.com/office/drawing/2014/main" id="{B26D20FC-775E-4186-BA36-3977DFF92E9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Для змінної з цілочисельною умовою LP-значення 2,7 дає гілки x≤2 та x≥3.</a:t>
            </a:r>
          </a:p>
        </p:txBody>
      </p:sp>
      <p:sp>
        <p:nvSpPr>
          <p:cNvPr id="3" name="">
            <a:extLst xmlns:a="http://schemas.openxmlformats.org/drawingml/2006/main">
              <a:ext uri="{FF2B5EF4-FFF2-40B4-BE49-F238E27FC236}">
                <a16:creationId xmlns:a16="http://schemas.microsoft.com/office/drawing/2014/main" id="{434EB813-3910-4F6B-AA7A-422E7C08E727}"/>
              </a:ext>
            </a:extLst>
          </p:cNvPr>
          <p:cNvSpPr>
            <a:spLocks xmlns:a="http://schemas.openxmlformats.org/drawingml/2006/main" noGrp="1"/>
          </p:cNvSpPr>
          <p:nvPr/>
        </p:nvSpPr>
        <p:spPr>
          <a:xfrm xmlns:a="http://schemas.openxmlformats.org/drawingml/2006/main">
            <a:off x="762000" y="1371600"/>
            <a:ext cx="6286500" cy="552450"/>
          </a:xfrm>
          <a:prstGeom xmlns:a="http://schemas.openxmlformats.org/drawingml/2006/main" prst="roundRect">
            <a:avLst>
              <a:gd name="adj" fmla="val 13793"/>
            </a:avLst>
          </a:prstGeom>
          <a:solidFill xmlns:a="http://schemas.openxmlformats.org/drawingml/2006/main">
            <a:srgbClr val="F1F5F8"/>
          </a:solidFill>
          <a:ln xmlns:a="http://schemas.openxmlformats.org/drawingml/2006/main" w="14288">
            <a:solidFill>
              <a:srgbClr val="CDD8E1"/>
            </a:solidFill>
          </a:ln>
        </p:spPr>
      </p:sp>
      <p:sp>
        <p:nvSpPr>
          <p:cNvPr id="4" name="">
            <a:extLst xmlns:a="http://schemas.openxmlformats.org/drawingml/2006/main">
              <a:ext uri="{FF2B5EF4-FFF2-40B4-BE49-F238E27FC236}">
                <a16:creationId xmlns:a16="http://schemas.microsoft.com/office/drawing/2014/main" id="{F65C1D0F-7DA3-45B0-B09C-14496D64DEBC}"/>
              </a:ext>
            </a:extLst>
          </p:cNvPr>
          <p:cNvSpPr>
            <a:spLocks xmlns:a="http://schemas.openxmlformats.org/drawingml/2006/main" noGrp="1"/>
          </p:cNvSpPr>
          <p:nvPr/>
        </p:nvSpPr>
        <p:spPr>
          <a:xfrm xmlns:a="http://schemas.openxmlformats.org/drawingml/2006/main">
            <a:off x="895350" y="1447800"/>
            <a:ext cx="601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LP-розв’язок активного вузла</a:t>
            </a:r>
          </a:p>
        </p:txBody>
      </p:sp>
      <p:sp>
        <p:nvSpPr>
          <p:cNvPr id="5" name="">
            <a:extLst xmlns:a="http://schemas.openxmlformats.org/drawingml/2006/main">
              <a:ext uri="{FF2B5EF4-FFF2-40B4-BE49-F238E27FC236}">
                <a16:creationId xmlns:a16="http://schemas.microsoft.com/office/drawing/2014/main" id="{A5C27B61-E631-4449-A588-0CBFD606B4AA}"/>
              </a:ext>
            </a:extLst>
          </p:cNvPr>
          <p:cNvSpPr>
            <a:spLocks xmlns:a="http://schemas.openxmlformats.org/drawingml/2006/main" noGrp="1"/>
          </p:cNvSpPr>
          <p:nvPr/>
        </p:nvSpPr>
        <p:spPr>
          <a:xfrm xmlns:a="http://schemas.openxmlformats.org/drawingml/2006/main">
            <a:off x="1666875" y="2247900"/>
            <a:ext cx="4381500" cy="647700"/>
          </a:xfrm>
          <a:prstGeom xmlns:a="http://schemas.openxmlformats.org/drawingml/2006/main" prst="roundRect">
            <a:avLst>
              <a:gd name="adj" fmla="val 11765"/>
            </a:avLst>
          </a:prstGeom>
          <a:solidFill xmlns:a="http://schemas.openxmlformats.org/drawingml/2006/main">
            <a:srgbClr val="F1F5F8"/>
          </a:solidFill>
          <a:ln xmlns:a="http://schemas.openxmlformats.org/drawingml/2006/main" w="14288">
            <a:solidFill>
              <a:srgbClr val="CDD8E1"/>
            </a:solidFill>
          </a:ln>
        </p:spPr>
      </p:sp>
      <p:sp>
        <p:nvSpPr>
          <p:cNvPr id="6" name="">
            <a:extLst xmlns:a="http://schemas.openxmlformats.org/drawingml/2006/main">
              <a:ext uri="{FF2B5EF4-FFF2-40B4-BE49-F238E27FC236}">
                <a16:creationId xmlns:a16="http://schemas.microsoft.com/office/drawing/2014/main" id="{08522BF8-3A3A-4721-9C61-C2537C597EF8}"/>
              </a:ext>
            </a:extLst>
          </p:cNvPr>
          <p:cNvSpPr>
            <a:spLocks xmlns:a="http://schemas.openxmlformats.org/drawingml/2006/main" noGrp="1"/>
          </p:cNvSpPr>
          <p:nvPr/>
        </p:nvSpPr>
        <p:spPr>
          <a:xfrm xmlns:a="http://schemas.openxmlformats.org/drawingml/2006/main">
            <a:off x="1800225" y="2324100"/>
            <a:ext cx="4114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Недопустиме або L≥U?</a:t>
            </a:r>
          </a:p>
        </p:txBody>
      </p:sp>
      <p:sp>
        <p:nvSpPr>
          <p:cNvPr id="7" name="">
            <a:extLst xmlns:a="http://schemas.openxmlformats.org/drawingml/2006/main">
              <a:ext uri="{FF2B5EF4-FFF2-40B4-BE49-F238E27FC236}">
                <a16:creationId xmlns:a16="http://schemas.microsoft.com/office/drawing/2014/main" id="{99DC647D-86EC-4EAF-8947-58DAD7804C59}"/>
              </a:ext>
            </a:extLst>
          </p:cNvPr>
          <p:cNvSpPr>
            <a:spLocks xmlns:a="http://schemas.openxmlformats.org/drawingml/2006/main" noGrp="1"/>
          </p:cNvSpPr>
          <p:nvPr/>
        </p:nvSpPr>
        <p:spPr>
          <a:xfrm xmlns:a="http://schemas.openxmlformats.org/drawingml/2006/main">
            <a:off x="1666875" y="3324225"/>
            <a:ext cx="4381500" cy="647700"/>
          </a:xfrm>
          <a:prstGeom xmlns:a="http://schemas.openxmlformats.org/drawingml/2006/main" prst="roundRect">
            <a:avLst>
              <a:gd name="adj" fmla="val 11765"/>
            </a:avLst>
          </a:prstGeom>
          <a:solidFill xmlns:a="http://schemas.openxmlformats.org/drawingml/2006/main">
            <a:srgbClr val="F1F5F8"/>
          </a:solidFill>
          <a:ln xmlns:a="http://schemas.openxmlformats.org/drawingml/2006/main" w="14288">
            <a:solidFill>
              <a:srgbClr val="CDD8E1"/>
            </a:solidFill>
          </a:ln>
        </p:spPr>
      </p:sp>
      <p:sp>
        <p:nvSpPr>
          <p:cNvPr id="8" name="">
            <a:extLst xmlns:a="http://schemas.openxmlformats.org/drawingml/2006/main">
              <a:ext uri="{FF2B5EF4-FFF2-40B4-BE49-F238E27FC236}">
                <a16:creationId xmlns:a16="http://schemas.microsoft.com/office/drawing/2014/main" id="{DE707DB7-787C-4C49-BDE9-100A1E8D6E10}"/>
              </a:ext>
            </a:extLst>
          </p:cNvPr>
          <p:cNvSpPr>
            <a:spLocks xmlns:a="http://schemas.openxmlformats.org/drawingml/2006/main" noGrp="1"/>
          </p:cNvSpPr>
          <p:nvPr/>
        </p:nvSpPr>
        <p:spPr>
          <a:xfrm xmlns:a="http://schemas.openxmlformats.org/drawingml/2006/main">
            <a:off x="1800225" y="3400425"/>
            <a:ext cx="4114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Дискретні змінні цілі?</a:t>
            </a:r>
          </a:p>
        </p:txBody>
      </p:sp>
      <p:sp>
        <p:nvSpPr>
          <p:cNvPr id="9" name="">
            <a:extLst xmlns:a="http://schemas.openxmlformats.org/drawingml/2006/main">
              <a:ext uri="{FF2B5EF4-FFF2-40B4-BE49-F238E27FC236}">
                <a16:creationId xmlns:a16="http://schemas.microsoft.com/office/drawing/2014/main" id="{6620981C-EF50-41C0-9469-ABB8925B659F}"/>
              </a:ext>
            </a:extLst>
          </p:cNvPr>
          <p:cNvSpPr>
            <a:spLocks xmlns:a="http://schemas.openxmlformats.org/drawingml/2006/main" noGrp="1"/>
          </p:cNvSpPr>
          <p:nvPr/>
        </p:nvSpPr>
        <p:spPr>
          <a:xfrm xmlns:a="http://schemas.openxmlformats.org/drawingml/2006/main">
            <a:off x="762000" y="4410075"/>
            <a:ext cx="6286500" cy="847725"/>
          </a:xfrm>
          <a:prstGeom xmlns:a="http://schemas.openxmlformats.org/drawingml/2006/main" prst="roundRect">
            <a:avLst>
              <a:gd name="adj" fmla="val 8989"/>
            </a:avLst>
          </a:prstGeom>
          <a:solidFill xmlns:a="http://schemas.openxmlformats.org/drawingml/2006/main">
            <a:srgbClr val="F1F5F8"/>
          </a:solidFill>
          <a:ln xmlns:a="http://schemas.openxmlformats.org/drawingml/2006/main" w="14288">
            <a:solidFill>
              <a:srgbClr val="CDD8E1"/>
            </a:solidFill>
          </a:ln>
        </p:spPr>
      </p:sp>
      <p:sp>
        <p:nvSpPr>
          <p:cNvPr id="10" name="">
            <a:extLst xmlns:a="http://schemas.openxmlformats.org/drawingml/2006/main">
              <a:ext uri="{FF2B5EF4-FFF2-40B4-BE49-F238E27FC236}">
                <a16:creationId xmlns:a16="http://schemas.microsoft.com/office/drawing/2014/main" id="{48A4D1B4-130D-45AA-8AAF-D731B80F04FE}"/>
              </a:ext>
            </a:extLst>
          </p:cNvPr>
          <p:cNvSpPr>
            <a:spLocks xmlns:a="http://schemas.openxmlformats.org/drawingml/2006/main" noGrp="1"/>
          </p:cNvSpPr>
          <p:nvPr/>
        </p:nvSpPr>
        <p:spPr>
          <a:xfrm xmlns:a="http://schemas.openxmlformats.org/drawingml/2006/main">
            <a:off x="895350" y="4486275"/>
            <a:ext cx="6019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Вибрати дробову yA;</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гілки yA=0 та yA=1 → у чергу</a:t>
            </a:r>
          </a:p>
        </p:txBody>
      </p:sp>
      <p:sp>
        <p:nvSpPr>
          <p:cNvPr id="11" name="">
            <a:extLst xmlns:a="http://schemas.openxmlformats.org/drawingml/2006/main">
              <a:ext uri="{FF2B5EF4-FFF2-40B4-BE49-F238E27FC236}">
                <a16:creationId xmlns:a16="http://schemas.microsoft.com/office/drawing/2014/main" id="{ACB41186-8180-4FBA-8414-7493AD2FCF26}"/>
              </a:ext>
            </a:extLst>
          </p:cNvPr>
          <p:cNvSpPr>
            <a:spLocks xmlns:a="http://schemas.openxmlformats.org/drawingml/2006/main" noGrp="1"/>
          </p:cNvSpPr>
          <p:nvPr/>
        </p:nvSpPr>
        <p:spPr>
          <a:xfrm xmlns:a="http://schemas.openxmlformats.org/drawingml/2006/main">
            <a:off x="8115300" y="2247900"/>
            <a:ext cx="3286125" cy="647700"/>
          </a:xfrm>
          <a:prstGeom xmlns:a="http://schemas.openxmlformats.org/drawingml/2006/main" prst="roundRect">
            <a:avLst>
              <a:gd name="adj" fmla="val 11765"/>
            </a:avLst>
          </a:prstGeom>
          <a:solidFill xmlns:a="http://schemas.openxmlformats.org/drawingml/2006/main">
            <a:srgbClr val="F9E3DE"/>
          </a:solidFill>
          <a:ln xmlns:a="http://schemas.openxmlformats.org/drawingml/2006/main" w="14288">
            <a:solidFill>
              <a:srgbClr val="CDD8E1"/>
            </a:solidFill>
          </a:ln>
        </p:spPr>
      </p:sp>
      <p:sp>
        <p:nvSpPr>
          <p:cNvPr id="12" name="">
            <a:extLst xmlns:a="http://schemas.openxmlformats.org/drawingml/2006/main">
              <a:ext uri="{FF2B5EF4-FFF2-40B4-BE49-F238E27FC236}">
                <a16:creationId xmlns:a16="http://schemas.microsoft.com/office/drawing/2014/main" id="{7D3004C9-6674-4029-BFBE-9B69B8914773}"/>
              </a:ext>
            </a:extLst>
          </p:cNvPr>
          <p:cNvSpPr>
            <a:spLocks xmlns:a="http://schemas.openxmlformats.org/drawingml/2006/main" noGrp="1"/>
          </p:cNvSpPr>
          <p:nvPr/>
        </p:nvSpPr>
        <p:spPr>
          <a:xfrm xmlns:a="http://schemas.openxmlformats.org/drawingml/2006/main">
            <a:off x="8248650" y="2324100"/>
            <a:ext cx="30194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Відсіяти вузол</a:t>
            </a:r>
          </a:p>
        </p:txBody>
      </p:sp>
      <p:sp>
        <p:nvSpPr>
          <p:cNvPr id="13" name="">
            <a:extLst xmlns:a="http://schemas.openxmlformats.org/drawingml/2006/main">
              <a:ext uri="{FF2B5EF4-FFF2-40B4-BE49-F238E27FC236}">
                <a16:creationId xmlns:a16="http://schemas.microsoft.com/office/drawing/2014/main" id="{16721A74-771B-4CE9-A8E6-A415E5585136}"/>
              </a:ext>
            </a:extLst>
          </p:cNvPr>
          <p:cNvSpPr>
            <a:spLocks xmlns:a="http://schemas.openxmlformats.org/drawingml/2006/main" noGrp="1"/>
          </p:cNvSpPr>
          <p:nvPr/>
        </p:nvSpPr>
        <p:spPr>
          <a:xfrm xmlns:a="http://schemas.openxmlformats.org/drawingml/2006/main">
            <a:off x="8115300" y="3324225"/>
            <a:ext cx="3286125" cy="914400"/>
          </a:xfrm>
          <a:prstGeom xmlns:a="http://schemas.openxmlformats.org/drawingml/2006/main" prst="roundRect">
            <a:avLst>
              <a:gd name="adj" fmla="val 8333"/>
            </a:avLst>
          </a:prstGeom>
          <a:solidFill xmlns:a="http://schemas.openxmlformats.org/drawingml/2006/main">
            <a:srgbClr val="DCF1E9"/>
          </a:solidFill>
          <a:ln xmlns:a="http://schemas.openxmlformats.org/drawingml/2006/main" w="14288">
            <a:solidFill>
              <a:srgbClr val="CDD8E1"/>
            </a:solidFill>
          </a:ln>
        </p:spPr>
      </p:sp>
      <p:sp>
        <p:nvSpPr>
          <p:cNvPr id="14" name="">
            <a:extLst xmlns:a="http://schemas.openxmlformats.org/drawingml/2006/main">
              <a:ext uri="{FF2B5EF4-FFF2-40B4-BE49-F238E27FC236}">
                <a16:creationId xmlns:a16="http://schemas.microsoft.com/office/drawing/2014/main" id="{EC38ACAA-2FE6-4BA1-B07B-2BB2E3DA4A78}"/>
              </a:ext>
            </a:extLst>
          </p:cNvPr>
          <p:cNvSpPr>
            <a:spLocks xmlns:a="http://schemas.openxmlformats.org/drawingml/2006/main" noGrp="1"/>
          </p:cNvSpPr>
          <p:nvPr/>
        </p:nvSpPr>
        <p:spPr>
          <a:xfrm xmlns:a="http://schemas.openxmlformats.org/drawingml/2006/main">
            <a:off x="8248650" y="3400425"/>
            <a:ext cx="30194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U=min(U,C);</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зберегти цілий план</a:t>
            </a:r>
          </a:p>
        </p:txBody>
      </p:sp>
      <p:sp>
        <p:nvSpPr>
          <p:cNvPr id="20" name="">
            <a:extLst xmlns:a="http://schemas.openxmlformats.org/drawingml/2006/main">
              <a:ext uri="{FF2B5EF4-FFF2-40B4-BE49-F238E27FC236}">
                <a16:creationId xmlns:a16="http://schemas.microsoft.com/office/drawing/2014/main" id="{B9ECE555-B429-4FE2-8214-8E0DF8EA531F}"/>
              </a:ext>
            </a:extLst>
          </p:cNvPr>
          <p:cNvSpPr>
            <a:spLocks xmlns:a="http://schemas.openxmlformats.org/drawingml/2006/main" noGrp="1"/>
          </p:cNvSpPr>
          <p:nvPr/>
        </p:nvSpPr>
        <p:spPr>
          <a:xfrm xmlns:a="http://schemas.openxmlformats.org/drawingml/2006/main">
            <a:off x="7010400" y="2266950"/>
            <a:ext cx="76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так</a:t>
            </a:r>
          </a:p>
        </p:txBody>
      </p:sp>
      <p:sp>
        <p:nvSpPr>
          <p:cNvPr id="21" name="">
            <a:extLst xmlns:a="http://schemas.openxmlformats.org/drawingml/2006/main">
              <a:ext uri="{FF2B5EF4-FFF2-40B4-BE49-F238E27FC236}">
                <a16:creationId xmlns:a16="http://schemas.microsoft.com/office/drawing/2014/main" id="{DA375D44-44B4-4D05-872E-A339C16D0829}"/>
              </a:ext>
            </a:extLst>
          </p:cNvPr>
          <p:cNvSpPr>
            <a:spLocks xmlns:a="http://schemas.openxmlformats.org/drawingml/2006/main" noGrp="1"/>
          </p:cNvSpPr>
          <p:nvPr/>
        </p:nvSpPr>
        <p:spPr>
          <a:xfrm xmlns:a="http://schemas.openxmlformats.org/drawingml/2006/main">
            <a:off x="7010400" y="3362325"/>
            <a:ext cx="76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так</a:t>
            </a:r>
          </a:p>
        </p:txBody>
      </p:sp>
      <p:sp>
        <p:nvSpPr>
          <p:cNvPr id="22" name="">
            <a:extLst xmlns:a="http://schemas.openxmlformats.org/drawingml/2006/main">
              <a:ext uri="{FF2B5EF4-FFF2-40B4-BE49-F238E27FC236}">
                <a16:creationId xmlns:a16="http://schemas.microsoft.com/office/drawing/2014/main" id="{A88A8B78-E92C-42D8-A5F3-BDC5092E31C3}"/>
              </a:ext>
            </a:extLst>
          </p:cNvPr>
          <p:cNvSpPr>
            <a:spLocks xmlns:a="http://schemas.openxmlformats.org/drawingml/2006/main" noGrp="1"/>
          </p:cNvSpPr>
          <p:nvPr/>
        </p:nvSpPr>
        <p:spPr>
          <a:xfrm xmlns:a="http://schemas.openxmlformats.org/drawingml/2006/main">
            <a:off x="6181725" y="2943225"/>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ні</a:t>
            </a:r>
          </a:p>
        </p:txBody>
      </p:sp>
      <p:sp>
        <p:nvSpPr>
          <p:cNvPr id="23" name="">
            <a:extLst xmlns:a="http://schemas.openxmlformats.org/drawingml/2006/main">
              <a:ext uri="{FF2B5EF4-FFF2-40B4-BE49-F238E27FC236}">
                <a16:creationId xmlns:a16="http://schemas.microsoft.com/office/drawing/2014/main" id="{4B740E39-0BF7-453D-A6A8-C6CBD24DFDF0}"/>
              </a:ext>
            </a:extLst>
          </p:cNvPr>
          <p:cNvSpPr>
            <a:spLocks xmlns:a="http://schemas.openxmlformats.org/drawingml/2006/main" noGrp="1"/>
          </p:cNvSpPr>
          <p:nvPr/>
        </p:nvSpPr>
        <p:spPr>
          <a:xfrm xmlns:a="http://schemas.openxmlformats.org/drawingml/2006/main">
            <a:off x="6181725" y="4029075"/>
            <a:ext cx="685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ні</a:t>
            </a:r>
          </a:p>
        </p:txBody>
      </p:sp>
      <p:sp>
        <p:nvSpPr>
          <p:cNvPr id="31" name="">
            <a:extLst xmlns:a="http://schemas.openxmlformats.org/drawingml/2006/main">
              <a:ext uri="{FF2B5EF4-FFF2-40B4-BE49-F238E27FC236}">
                <a16:creationId xmlns:a16="http://schemas.microsoft.com/office/drawing/2014/main" id="{E4A674AC-4C1D-409E-BA19-008FD6E88614}"/>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101</a:t>
            </a:r>
          </a:p>
        </p:txBody>
      </p:sp>
    </p:spTree>
    <p:extLst>
      <p:ext uri="{BB962C8B-B14F-4D97-AF65-F5344CB8AC3E}">
        <p14:creationId xmlns:p14="http://schemas.microsoft.com/office/powerpoint/2010/main" val="535132711"/>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AEE2E922-FDE2-4733-951E-9CC202CF6B1A}"/>
              </a:ext>
            </a:extLst>
          </p:cNvPr>
          <p:cNvCxnSpPr>
            <a:stCxn xmlns:a="http://schemas.openxmlformats.org/drawingml/2006/main" id="9" idx="3"/>
            <a:endCxn xmlns:a="http://schemas.openxmlformats.org/drawingml/2006/main" id="13" idx="0"/>
          </p:cNvCxnSpPr>
          <p:nvPr/>
        </p:nvCxnSpPr>
        <p:spPr>
          <a:xfrm xmlns:a="http://schemas.openxmlformats.org/drawingml/2006/main" flipH="1">
            <a:off x="10668000" y="2905125"/>
            <a:ext cx="781050" cy="14097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1" name="">
            <a:extLst xmlns:a="http://schemas.openxmlformats.org/drawingml/2006/main">
              <a:ext uri="{FF2B5EF4-FFF2-40B4-BE49-F238E27FC236}">
                <a16:creationId xmlns:a16="http://schemas.microsoft.com/office/drawing/2014/main" id="{B29069CB-12F4-40E7-BA25-8459867EC426}"/>
              </a:ext>
            </a:extLst>
          </p:cNvPr>
          <p:cNvCxnSpPr>
            <a:stCxn xmlns:a="http://schemas.openxmlformats.org/drawingml/2006/main" id="9" idx="2"/>
            <a:endCxn xmlns:a="http://schemas.openxmlformats.org/drawingml/2006/main" id="11" idx="0"/>
          </p:cNvCxnSpPr>
          <p:nvPr/>
        </p:nvCxnSpPr>
        <p:spPr>
          <a:xfrm xmlns:a="http://schemas.openxmlformats.org/drawingml/2006/main" flipH="1">
            <a:off x="8382000" y="3476625"/>
            <a:ext cx="1257300" cy="8382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2" name="">
            <a:extLst xmlns:a="http://schemas.openxmlformats.org/drawingml/2006/main">
              <a:ext uri="{FF2B5EF4-FFF2-40B4-BE49-F238E27FC236}">
                <a16:creationId xmlns:a16="http://schemas.microsoft.com/office/drawing/2014/main" id="{58E64F14-F0C0-457B-A689-C35AFF8FA96B}"/>
              </a:ext>
            </a:extLst>
          </p:cNvPr>
          <p:cNvCxnSpPr>
            <a:stCxn xmlns:a="http://schemas.openxmlformats.org/drawingml/2006/main" id="5" idx="3"/>
            <a:endCxn xmlns:a="http://schemas.openxmlformats.org/drawingml/2006/main" id="9" idx="1"/>
          </p:cNvCxnSpPr>
          <p:nvPr/>
        </p:nvCxnSpPr>
        <p:spPr>
          <a:xfrm xmlns:a="http://schemas.openxmlformats.org/drawingml/2006/main">
            <a:off x="5048250" y="2838450"/>
            <a:ext cx="2781300" cy="66675"/>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3" name="">
            <a:extLst xmlns:a="http://schemas.openxmlformats.org/drawingml/2006/main">
              <a:ext uri="{FF2B5EF4-FFF2-40B4-BE49-F238E27FC236}">
                <a16:creationId xmlns:a16="http://schemas.microsoft.com/office/drawing/2014/main" id="{DE912121-D37F-4F1B-9731-E09D9B7818A2}"/>
              </a:ext>
            </a:extLst>
          </p:cNvPr>
          <p:cNvCxnSpPr>
            <a:stCxn xmlns:a="http://schemas.openxmlformats.org/drawingml/2006/main" id="5" idx="2"/>
            <a:endCxn xmlns:a="http://schemas.openxmlformats.org/drawingml/2006/main" id="7" idx="0"/>
          </p:cNvCxnSpPr>
          <p:nvPr/>
        </p:nvCxnSpPr>
        <p:spPr>
          <a:xfrm xmlns:a="http://schemas.openxmlformats.org/drawingml/2006/main">
            <a:off x="3381375" y="3314700"/>
            <a:ext cx="0" cy="809625"/>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4" name="">
            <a:extLst xmlns:a="http://schemas.openxmlformats.org/drawingml/2006/main">
              <a:ext uri="{FF2B5EF4-FFF2-40B4-BE49-F238E27FC236}">
                <a16:creationId xmlns:a16="http://schemas.microsoft.com/office/drawing/2014/main" id="{CA3DCF50-DB17-4540-BE5E-8B333C1B6C84}"/>
              </a:ext>
            </a:extLst>
          </p:cNvPr>
          <p:cNvCxnSpPr>
            <a:stCxn xmlns:a="http://schemas.openxmlformats.org/drawingml/2006/main" id="3" idx="2"/>
            <a:endCxn xmlns:a="http://schemas.openxmlformats.org/drawingml/2006/main" id="5" idx="0"/>
          </p:cNvCxnSpPr>
          <p:nvPr/>
        </p:nvCxnSpPr>
        <p:spPr>
          <a:xfrm xmlns:a="http://schemas.openxmlformats.org/drawingml/2006/main">
            <a:off x="3381375" y="1962150"/>
            <a:ext cx="0" cy="40005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35" name="">
            <a:extLst xmlns:a="http://schemas.openxmlformats.org/drawingml/2006/main">
              <a:ext uri="{FF2B5EF4-FFF2-40B4-BE49-F238E27FC236}">
                <a16:creationId xmlns:a16="http://schemas.microsoft.com/office/drawing/2014/main" id="{C5257F54-7DFA-4547-A79E-FF6D26820BC1}"/>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Гілки і межі: повний цикл черги</a:t>
            </a:r>
          </a:p>
        </p:txBody>
      </p:sp>
      <p:sp>
        <p:nvSpPr>
          <p:cNvPr id="2" name="">
            <a:extLst xmlns:a="http://schemas.openxmlformats.org/drawingml/2006/main">
              <a:ext uri="{FF2B5EF4-FFF2-40B4-BE49-F238E27FC236}">
                <a16:creationId xmlns:a16="http://schemas.microsoft.com/office/drawing/2014/main" id="{E34F3098-0229-49C0-9E13-691BCF1457E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Після відсіву, цілого плану або розгалуження повертаємося до перевірки черги.</a:t>
            </a:r>
          </a:p>
        </p:txBody>
      </p:sp>
      <p:sp>
        <p:nvSpPr>
          <p:cNvPr id="3" name="">
            <a:extLst xmlns:a="http://schemas.openxmlformats.org/drawingml/2006/main">
              <a:ext uri="{FF2B5EF4-FFF2-40B4-BE49-F238E27FC236}">
                <a16:creationId xmlns:a16="http://schemas.microsoft.com/office/drawing/2014/main" id="{719F43BD-4893-4C08-B635-03B15D1B13F0}"/>
              </a:ext>
            </a:extLst>
          </p:cNvPr>
          <p:cNvSpPr>
            <a:spLocks xmlns:a="http://schemas.openxmlformats.org/drawingml/2006/main" noGrp="1"/>
          </p:cNvSpPr>
          <p:nvPr/>
        </p:nvSpPr>
        <p:spPr>
          <a:xfrm xmlns:a="http://schemas.openxmlformats.org/drawingml/2006/main">
            <a:off x="762000" y="1438275"/>
            <a:ext cx="5238750" cy="523875"/>
          </a:xfrm>
          <a:prstGeom xmlns:a="http://schemas.openxmlformats.org/drawingml/2006/main" prst="roundRect">
            <a:avLst>
              <a:gd name="adj" fmla="val 14545"/>
            </a:avLst>
          </a:prstGeom>
          <a:solidFill xmlns:a="http://schemas.openxmlformats.org/drawingml/2006/main">
            <a:srgbClr val="F1F5F8"/>
          </a:solidFill>
          <a:ln xmlns:a="http://schemas.openxmlformats.org/drawingml/2006/main" w="14288">
            <a:solidFill>
              <a:srgbClr val="CDD8E1"/>
            </a:solidFill>
          </a:ln>
        </p:spPr>
      </p:sp>
      <p:sp>
        <p:nvSpPr>
          <p:cNvPr id="4" name="">
            <a:extLst xmlns:a="http://schemas.openxmlformats.org/drawingml/2006/main">
              <a:ext uri="{FF2B5EF4-FFF2-40B4-BE49-F238E27FC236}">
                <a16:creationId xmlns:a16="http://schemas.microsoft.com/office/drawing/2014/main" id="{5AB44D1A-A124-4B4F-A49C-A8C4249E7083}"/>
              </a:ext>
            </a:extLst>
          </p:cNvPr>
          <p:cNvSpPr>
            <a:spLocks xmlns:a="http://schemas.openxmlformats.org/drawingml/2006/main" noGrp="1"/>
          </p:cNvSpPr>
          <p:nvPr/>
        </p:nvSpPr>
        <p:spPr>
          <a:xfrm xmlns:a="http://schemas.openxmlformats.org/drawingml/2006/main">
            <a:off x="895350" y="1514475"/>
            <a:ext cx="4972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Черга містить корінь. U=∞.</a:t>
            </a:r>
          </a:p>
        </p:txBody>
      </p:sp>
      <p:sp>
        <p:nvSpPr>
          <p:cNvPr id="5" name="">
            <a:extLst xmlns:a="http://schemas.openxmlformats.org/drawingml/2006/main">
              <a:ext uri="{FF2B5EF4-FFF2-40B4-BE49-F238E27FC236}">
                <a16:creationId xmlns:a16="http://schemas.microsoft.com/office/drawing/2014/main" id="{44158999-8B58-4A01-9B70-D3EE911DD0A9}"/>
              </a:ext>
            </a:extLst>
          </p:cNvPr>
          <p:cNvSpPr>
            <a:spLocks xmlns:a="http://schemas.openxmlformats.org/drawingml/2006/main" noGrp="1"/>
          </p:cNvSpPr>
          <p:nvPr/>
        </p:nvSpPr>
        <p:spPr>
          <a:xfrm xmlns:a="http://schemas.openxmlformats.org/drawingml/2006/main">
            <a:off x="1714500" y="2362200"/>
            <a:ext cx="3333750" cy="952500"/>
          </a:xfrm>
          <a:prstGeom xmlns:a="http://schemas.openxmlformats.org/drawingml/2006/main" prst="diamond">
            <a:avLst/>
          </a:prstGeom>
          <a:solidFill xmlns:a="http://schemas.openxmlformats.org/drawingml/2006/main">
            <a:srgbClr val="FFF1D8"/>
          </a:solidFill>
          <a:ln xmlns:a="http://schemas.openxmlformats.org/drawingml/2006/main" w="14288">
            <a:solidFill>
              <a:srgbClr val="E5B74A"/>
            </a:solidFill>
          </a:ln>
        </p:spPr>
      </p:sp>
      <p:sp>
        <p:nvSpPr>
          <p:cNvPr id="6" name="">
            <a:extLst xmlns:a="http://schemas.openxmlformats.org/drawingml/2006/main">
              <a:ext uri="{FF2B5EF4-FFF2-40B4-BE49-F238E27FC236}">
                <a16:creationId xmlns:a16="http://schemas.microsoft.com/office/drawing/2014/main" id="{2239875E-6366-4948-8AA6-D90233137F40}"/>
              </a:ext>
            </a:extLst>
          </p:cNvPr>
          <p:cNvSpPr>
            <a:spLocks xmlns:a="http://schemas.openxmlformats.org/drawingml/2006/main" noGrp="1"/>
          </p:cNvSpPr>
          <p:nvPr/>
        </p:nvSpPr>
        <p:spPr>
          <a:xfrm xmlns:a="http://schemas.openxmlformats.org/drawingml/2006/main">
            <a:off x="2114550" y="2552700"/>
            <a:ext cx="2533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Черга порожня?</a:t>
            </a:r>
          </a:p>
        </p:txBody>
      </p:sp>
      <p:sp>
        <p:nvSpPr>
          <p:cNvPr id="7" name="">
            <a:extLst xmlns:a="http://schemas.openxmlformats.org/drawingml/2006/main">
              <a:ext uri="{FF2B5EF4-FFF2-40B4-BE49-F238E27FC236}">
                <a16:creationId xmlns:a16="http://schemas.microsoft.com/office/drawing/2014/main" id="{31E5FD4A-F5BC-4E69-879E-6089FE87D1CE}"/>
              </a:ext>
            </a:extLst>
          </p:cNvPr>
          <p:cNvSpPr>
            <a:spLocks xmlns:a="http://schemas.openxmlformats.org/drawingml/2006/main" noGrp="1"/>
          </p:cNvSpPr>
          <p:nvPr/>
        </p:nvSpPr>
        <p:spPr>
          <a:xfrm xmlns:a="http://schemas.openxmlformats.org/drawingml/2006/main">
            <a:off x="762000" y="4124325"/>
            <a:ext cx="5238750" cy="1285875"/>
          </a:xfrm>
          <a:prstGeom xmlns:a="http://schemas.openxmlformats.org/drawingml/2006/main" prst="roundRect">
            <a:avLst>
              <a:gd name="adj" fmla="val 5926"/>
            </a:avLst>
          </a:prstGeom>
          <a:solidFill xmlns:a="http://schemas.openxmlformats.org/drawingml/2006/main">
            <a:srgbClr val="F1F5F8"/>
          </a:solidFill>
          <a:ln xmlns:a="http://schemas.openxmlformats.org/drawingml/2006/main" w="14288">
            <a:solidFill>
              <a:srgbClr val="CDD8E1"/>
            </a:solidFill>
          </a:ln>
        </p:spPr>
      </p:sp>
      <p:sp>
        <p:nvSpPr>
          <p:cNvPr id="8" name="">
            <a:extLst xmlns:a="http://schemas.openxmlformats.org/drawingml/2006/main">
              <a:ext uri="{FF2B5EF4-FFF2-40B4-BE49-F238E27FC236}">
                <a16:creationId xmlns:a16="http://schemas.microsoft.com/office/drawing/2014/main" id="{0177F9AF-7898-4256-9614-555BD236CBBF}"/>
              </a:ext>
            </a:extLst>
          </p:cNvPr>
          <p:cNvSpPr>
            <a:spLocks xmlns:a="http://schemas.openxmlformats.org/drawingml/2006/main" noGrp="1"/>
          </p:cNvSpPr>
          <p:nvPr/>
        </p:nvSpPr>
        <p:spPr>
          <a:xfrm xmlns:a="http://schemas.openxmlformats.org/drawingml/2006/main">
            <a:off x="895350" y="4200525"/>
            <a:ext cx="49720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Взяти вузол і розв’язати LP.</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Відсіяти, оновити U або додати гілки</a:t>
            </a:r>
          </a:p>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за схемою рішення у вузлі.</a:t>
            </a:r>
          </a:p>
        </p:txBody>
      </p:sp>
      <p:sp>
        <p:nvSpPr>
          <p:cNvPr id="9" name="">
            <a:extLst xmlns:a="http://schemas.openxmlformats.org/drawingml/2006/main">
              <a:ext uri="{FF2B5EF4-FFF2-40B4-BE49-F238E27FC236}">
                <a16:creationId xmlns:a16="http://schemas.microsoft.com/office/drawing/2014/main" id="{C92205D7-635B-46B0-9483-73E233211897}"/>
              </a:ext>
            </a:extLst>
          </p:cNvPr>
          <p:cNvSpPr>
            <a:spLocks xmlns:a="http://schemas.openxmlformats.org/drawingml/2006/main" noGrp="1"/>
          </p:cNvSpPr>
          <p:nvPr/>
        </p:nvSpPr>
        <p:spPr>
          <a:xfrm xmlns:a="http://schemas.openxmlformats.org/drawingml/2006/main">
            <a:off x="7829550" y="2333625"/>
            <a:ext cx="3619500" cy="1143000"/>
          </a:xfrm>
          <a:prstGeom xmlns:a="http://schemas.openxmlformats.org/drawingml/2006/main" prst="diamond">
            <a:avLst/>
          </a:prstGeom>
          <a:solidFill xmlns:a="http://schemas.openxmlformats.org/drawingml/2006/main">
            <a:srgbClr val="FFF1D8"/>
          </a:solidFill>
          <a:ln xmlns:a="http://schemas.openxmlformats.org/drawingml/2006/main" w="14288">
            <a:solidFill>
              <a:srgbClr val="E5B74A"/>
            </a:solidFill>
          </a:ln>
        </p:spPr>
      </p:sp>
      <p:sp>
        <p:nvSpPr>
          <p:cNvPr id="10" name="">
            <a:extLst xmlns:a="http://schemas.openxmlformats.org/drawingml/2006/main">
              <a:ext uri="{FF2B5EF4-FFF2-40B4-BE49-F238E27FC236}">
                <a16:creationId xmlns:a16="http://schemas.microsoft.com/office/drawing/2014/main" id="{643C4B0C-32B6-47D9-B7F0-A5F7C6020B68}"/>
              </a:ext>
            </a:extLst>
          </p:cNvPr>
          <p:cNvSpPr>
            <a:spLocks xmlns:a="http://schemas.openxmlformats.org/drawingml/2006/main" noGrp="1"/>
          </p:cNvSpPr>
          <p:nvPr/>
        </p:nvSpPr>
        <p:spPr>
          <a:xfrm xmlns:a="http://schemas.openxmlformats.org/drawingml/2006/main">
            <a:off x="8263890" y="2562225"/>
            <a:ext cx="275082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Є збережений</a:t>
            </a:r>
          </a:p>
          <a:p xmlns:a="http://schemas.openxmlformats.org/drawingml/2006/main">
            <a:pPr algn="ctr">
              <a:buNone/>
              <a:defRPr sz="2025" b="1">
                <a:solidFill>
                  <a:srgbClr val="173047"/>
                </a:solidFill>
                <a:latin typeface="Arial"/>
                <a:ea typeface="Arial"/>
                <a:cs typeface="Arial"/>
              </a:defRPr>
            </a:pPr>
            <a:r>
              <a:rPr sz="2025" b="1">
                <a:solidFill>
                  <a:srgbClr val="173047"/>
                </a:solidFill>
                <a:latin typeface="Arial"/>
                <a:ea typeface="Arial"/>
                <a:cs typeface="Arial"/>
              </a:rPr>
              <a:t>допустимий план?</a:t>
            </a:r>
          </a:p>
        </p:txBody>
      </p:sp>
      <p:sp>
        <p:nvSpPr>
          <p:cNvPr id="11" name="">
            <a:extLst xmlns:a="http://schemas.openxmlformats.org/drawingml/2006/main">
              <a:ext uri="{FF2B5EF4-FFF2-40B4-BE49-F238E27FC236}">
                <a16:creationId xmlns:a16="http://schemas.microsoft.com/office/drawing/2014/main" id="{CFD5C1D4-A54D-4692-96FE-46B76ABDC329}"/>
              </a:ext>
            </a:extLst>
          </p:cNvPr>
          <p:cNvSpPr>
            <a:spLocks xmlns:a="http://schemas.openxmlformats.org/drawingml/2006/main" noGrp="1"/>
          </p:cNvSpPr>
          <p:nvPr/>
        </p:nvSpPr>
        <p:spPr>
          <a:xfrm xmlns:a="http://schemas.openxmlformats.org/drawingml/2006/main">
            <a:off x="7286625" y="4314825"/>
            <a:ext cx="2190750" cy="876300"/>
          </a:xfrm>
          <a:prstGeom xmlns:a="http://schemas.openxmlformats.org/drawingml/2006/main" prst="roundRect">
            <a:avLst>
              <a:gd name="adj" fmla="val 8696"/>
            </a:avLst>
          </a:prstGeom>
          <a:solidFill xmlns:a="http://schemas.openxmlformats.org/drawingml/2006/main">
            <a:srgbClr val="D6F0E9"/>
          </a:solidFill>
          <a:ln xmlns:a="http://schemas.openxmlformats.org/drawingml/2006/main" w="14288">
            <a:solidFill>
              <a:srgbClr val="CDD8E1"/>
            </a:solidFill>
          </a:ln>
        </p:spPr>
      </p:sp>
      <p:sp>
        <p:nvSpPr>
          <p:cNvPr id="12" name="">
            <a:extLst xmlns:a="http://schemas.openxmlformats.org/drawingml/2006/main">
              <a:ext uri="{FF2B5EF4-FFF2-40B4-BE49-F238E27FC236}">
                <a16:creationId xmlns:a16="http://schemas.microsoft.com/office/drawing/2014/main" id="{47B0EE54-34B0-4328-92AE-7BAF81C8693B}"/>
              </a:ext>
            </a:extLst>
          </p:cNvPr>
          <p:cNvSpPr>
            <a:spLocks xmlns:a="http://schemas.openxmlformats.org/drawingml/2006/main" noGrp="1"/>
          </p:cNvSpPr>
          <p:nvPr/>
        </p:nvSpPr>
        <p:spPr>
          <a:xfrm xmlns:a="http://schemas.openxmlformats.org/drawingml/2006/main">
            <a:off x="7419975" y="4391025"/>
            <a:ext cx="19240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1">
                <a:solidFill>
                  <a:srgbClr val="173047"/>
                </a:solidFill>
                <a:latin typeface="Arial"/>
                <a:ea typeface="Arial"/>
                <a:cs typeface="Arial"/>
              </a:defRPr>
            </a:pPr>
            <a:r>
              <a:rPr sz="2100" b="1">
                <a:solidFill>
                  <a:srgbClr val="173047"/>
                </a:solidFill>
                <a:latin typeface="Arial"/>
                <a:ea typeface="Arial"/>
                <a:cs typeface="Arial"/>
              </a:rPr>
              <a:t>Оптимум U</a:t>
            </a:r>
          </a:p>
        </p:txBody>
      </p:sp>
      <p:sp>
        <p:nvSpPr>
          <p:cNvPr id="13" name="">
            <a:extLst xmlns:a="http://schemas.openxmlformats.org/drawingml/2006/main">
              <a:ext uri="{FF2B5EF4-FFF2-40B4-BE49-F238E27FC236}">
                <a16:creationId xmlns:a16="http://schemas.microsoft.com/office/drawing/2014/main" id="{48BDDE56-767C-4B32-8F62-6C8B8AEDD581}"/>
              </a:ext>
            </a:extLst>
          </p:cNvPr>
          <p:cNvSpPr>
            <a:spLocks xmlns:a="http://schemas.openxmlformats.org/drawingml/2006/main" noGrp="1"/>
          </p:cNvSpPr>
          <p:nvPr/>
        </p:nvSpPr>
        <p:spPr>
          <a:xfrm xmlns:a="http://schemas.openxmlformats.org/drawingml/2006/main">
            <a:off x="9858375" y="4314825"/>
            <a:ext cx="1619250" cy="876300"/>
          </a:xfrm>
          <a:prstGeom xmlns:a="http://schemas.openxmlformats.org/drawingml/2006/main" prst="roundRect">
            <a:avLst>
              <a:gd name="adj" fmla="val 8696"/>
            </a:avLst>
          </a:prstGeom>
          <a:solidFill xmlns:a="http://schemas.openxmlformats.org/drawingml/2006/main">
            <a:srgbClr val="F9E3DE"/>
          </a:solidFill>
          <a:ln xmlns:a="http://schemas.openxmlformats.org/drawingml/2006/main" w="14288">
            <a:solidFill>
              <a:srgbClr val="CDD8E1"/>
            </a:solidFill>
          </a:ln>
        </p:spPr>
      </p:sp>
      <p:sp>
        <p:nvSpPr>
          <p:cNvPr id="14" name="">
            <a:extLst xmlns:a="http://schemas.openxmlformats.org/drawingml/2006/main">
              <a:ext uri="{FF2B5EF4-FFF2-40B4-BE49-F238E27FC236}">
                <a16:creationId xmlns:a16="http://schemas.microsoft.com/office/drawing/2014/main" id="{3D8C0B6A-927F-4269-9504-CEEAE9F57F9D}"/>
              </a:ext>
            </a:extLst>
          </p:cNvPr>
          <p:cNvSpPr>
            <a:spLocks xmlns:a="http://schemas.openxmlformats.org/drawingml/2006/main" noGrp="1"/>
          </p:cNvSpPr>
          <p:nvPr/>
        </p:nvSpPr>
        <p:spPr>
          <a:xfrm xmlns:a="http://schemas.openxmlformats.org/drawingml/2006/main">
            <a:off x="9991725" y="4391025"/>
            <a:ext cx="1352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Немає</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розв’язку</a:t>
            </a:r>
          </a:p>
        </p:txBody>
      </p:sp>
      <p:sp>
        <p:nvSpPr>
          <p:cNvPr id="20" name="">
            <a:extLst xmlns:a="http://schemas.openxmlformats.org/drawingml/2006/main">
              <a:ext uri="{FF2B5EF4-FFF2-40B4-BE49-F238E27FC236}">
                <a16:creationId xmlns:a16="http://schemas.microsoft.com/office/drawing/2014/main" id="{C7C9C03A-6841-4B21-A560-F9DB6CAC36C5}"/>
              </a:ext>
            </a:extLst>
          </p:cNvPr>
          <p:cNvSpPr>
            <a:spLocks xmlns:a="http://schemas.openxmlformats.org/drawingml/2006/main" noGrp="1"/>
          </p:cNvSpPr>
          <p:nvPr/>
        </p:nvSpPr>
        <p:spPr>
          <a:xfrm xmlns:a="http://schemas.openxmlformats.org/drawingml/2006/main">
            <a:off x="6400800" y="255270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так</a:t>
            </a:r>
          </a:p>
        </p:txBody>
      </p:sp>
      <p:sp>
        <p:nvSpPr>
          <p:cNvPr id="21" name="">
            <a:extLst xmlns:a="http://schemas.openxmlformats.org/drawingml/2006/main">
              <a:ext uri="{FF2B5EF4-FFF2-40B4-BE49-F238E27FC236}">
                <a16:creationId xmlns:a16="http://schemas.microsoft.com/office/drawing/2014/main" id="{608D862D-F73D-4645-8412-76044AFA1096}"/>
              </a:ext>
            </a:extLst>
          </p:cNvPr>
          <p:cNvSpPr>
            <a:spLocks xmlns:a="http://schemas.openxmlformats.org/drawingml/2006/main" noGrp="1"/>
          </p:cNvSpPr>
          <p:nvPr/>
        </p:nvSpPr>
        <p:spPr>
          <a:xfrm xmlns:a="http://schemas.openxmlformats.org/drawingml/2006/main">
            <a:off x="3638550" y="352425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ні</a:t>
            </a:r>
          </a:p>
        </p:txBody>
      </p:sp>
      <p:sp>
        <p:nvSpPr>
          <p:cNvPr id="22" name="">
            <a:extLst xmlns:a="http://schemas.openxmlformats.org/drawingml/2006/main">
              <a:ext uri="{FF2B5EF4-FFF2-40B4-BE49-F238E27FC236}">
                <a16:creationId xmlns:a16="http://schemas.microsoft.com/office/drawing/2014/main" id="{61CD3C7D-3234-4746-B945-B92C441E49A6}"/>
              </a:ext>
            </a:extLst>
          </p:cNvPr>
          <p:cNvSpPr>
            <a:spLocks xmlns:a="http://schemas.openxmlformats.org/drawingml/2006/main" noGrp="1"/>
          </p:cNvSpPr>
          <p:nvPr/>
        </p:nvSpPr>
        <p:spPr>
          <a:xfrm xmlns:a="http://schemas.openxmlformats.org/drawingml/2006/main">
            <a:off x="7705725" y="3790950"/>
            <a:ext cx="76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так</a:t>
            </a:r>
          </a:p>
        </p:txBody>
      </p:sp>
      <p:sp>
        <p:nvSpPr>
          <p:cNvPr id="23" name="">
            <a:extLst xmlns:a="http://schemas.openxmlformats.org/drawingml/2006/main">
              <a:ext uri="{FF2B5EF4-FFF2-40B4-BE49-F238E27FC236}">
                <a16:creationId xmlns:a16="http://schemas.microsoft.com/office/drawing/2014/main" id="{F3B2B6A6-9211-434B-8189-ED3F5DE26E1B}"/>
              </a:ext>
            </a:extLst>
          </p:cNvPr>
          <p:cNvSpPr>
            <a:spLocks xmlns:a="http://schemas.openxmlformats.org/drawingml/2006/main" noGrp="1"/>
          </p:cNvSpPr>
          <p:nvPr/>
        </p:nvSpPr>
        <p:spPr>
          <a:xfrm xmlns:a="http://schemas.openxmlformats.org/drawingml/2006/main">
            <a:off x="10839450" y="38100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173047"/>
                </a:solidFill>
                <a:latin typeface="Arial"/>
                <a:ea typeface="Arial"/>
                <a:cs typeface="Arial"/>
              </a:defRPr>
            </a:pPr>
            <a:r>
              <a:rPr sz="1875" b="0">
                <a:solidFill>
                  <a:srgbClr val="173047"/>
                </a:solidFill>
                <a:latin typeface="Arial"/>
                <a:ea typeface="Arial"/>
                <a:cs typeface="Arial"/>
              </a:rPr>
              <a:t>ні</a:t>
            </a:r>
          </a:p>
        </p:txBody>
      </p:sp>
      <p:sp>
        <p:nvSpPr>
          <p:cNvPr id="24" name="">
            <a:extLst xmlns:a="http://schemas.openxmlformats.org/drawingml/2006/main">
              <a:ext uri="{FF2B5EF4-FFF2-40B4-BE49-F238E27FC236}">
                <a16:creationId xmlns:a16="http://schemas.microsoft.com/office/drawing/2014/main" id="{31BB0917-7936-46C7-B700-EE0F095A8167}"/>
              </a:ext>
            </a:extLst>
          </p:cNvPr>
          <p:cNvSpPr>
            <a:spLocks xmlns:a="http://schemas.openxmlformats.org/drawingml/2006/main" noGrp="1"/>
          </p:cNvSpPr>
          <p:nvPr/>
        </p:nvSpPr>
        <p:spPr>
          <a:xfrm xmlns:a="http://schemas.openxmlformats.org/drawingml/2006/main" flipV="0">
            <a:off x="447675" y="4762500"/>
            <a:ext cx="314325" cy="0"/>
          </a:xfrm>
          <a:prstGeom xmlns:a="http://schemas.openxmlformats.org/drawingml/2006/main" prst="line">
            <a:avLst/>
          </a:prstGeom>
          <a:noFill xmlns:a="http://schemas.openxmlformats.org/drawingml/2006/main"/>
          <a:ln xmlns:a="http://schemas.openxmlformats.org/drawingml/2006/main" w="28575">
            <a:solidFill>
              <a:srgbClr val="00857D"/>
            </a:solidFill>
          </a:ln>
        </p:spPr>
      </p:sp>
      <p:sp>
        <p:nvSpPr>
          <p:cNvPr id="25" name="">
            <a:extLst xmlns:a="http://schemas.openxmlformats.org/drawingml/2006/main">
              <a:ext uri="{FF2B5EF4-FFF2-40B4-BE49-F238E27FC236}">
                <a16:creationId xmlns:a16="http://schemas.microsoft.com/office/drawing/2014/main" id="{737E7A8B-6A9F-4B2F-A2C2-4D98FDC5EECA}"/>
              </a:ext>
            </a:extLst>
          </p:cNvPr>
          <p:cNvSpPr>
            <a:spLocks xmlns:a="http://schemas.openxmlformats.org/drawingml/2006/main" noGrp="1"/>
          </p:cNvSpPr>
          <p:nvPr/>
        </p:nvSpPr>
        <p:spPr>
          <a:xfrm xmlns:a="http://schemas.openxmlformats.org/drawingml/2006/main" flipV="1">
            <a:off x="447675" y="2838450"/>
            <a:ext cx="0" cy="1924050"/>
          </a:xfrm>
          <a:prstGeom xmlns:a="http://schemas.openxmlformats.org/drawingml/2006/main" prst="line">
            <a:avLst/>
          </a:prstGeom>
          <a:noFill xmlns:a="http://schemas.openxmlformats.org/drawingml/2006/main"/>
          <a:ln xmlns:a="http://schemas.openxmlformats.org/drawingml/2006/main" w="28575">
            <a:solidFill>
              <a:srgbClr val="00857D"/>
            </a:solidFill>
          </a:ln>
        </p:spPr>
      </p:sp>
      <p:sp>
        <p:nvSpPr>
          <p:cNvPr id="26" name="">
            <a:extLst xmlns:a="http://schemas.openxmlformats.org/drawingml/2006/main">
              <a:ext uri="{FF2B5EF4-FFF2-40B4-BE49-F238E27FC236}">
                <a16:creationId xmlns:a16="http://schemas.microsoft.com/office/drawing/2014/main" id="{D83FA158-0CB5-4C0F-82E6-4105ACD20916}"/>
              </a:ext>
            </a:extLst>
          </p:cNvPr>
          <p:cNvSpPr>
            <a:spLocks xmlns:a="http://schemas.openxmlformats.org/drawingml/2006/main" noGrp="1"/>
          </p:cNvSpPr>
          <p:nvPr/>
        </p:nvSpPr>
        <p:spPr>
          <a:xfrm xmlns:a="http://schemas.openxmlformats.org/drawingml/2006/main">
            <a:off x="438150" y="28289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F9C82BE-1672-4CFF-ABE3-EF6E86404619}"/>
              </a:ext>
            </a:extLst>
          </p:cNvPr>
          <p:cNvSpPr>
            <a:spLocks xmlns:a="http://schemas.openxmlformats.org/drawingml/2006/main" noGrp="1"/>
          </p:cNvSpPr>
          <p:nvPr/>
        </p:nvSpPr>
        <p:spPr>
          <a:xfrm xmlns:a="http://schemas.openxmlformats.org/drawingml/2006/main">
            <a:off x="1704975" y="28289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7" name="">
            <a:extLst xmlns:a="http://schemas.openxmlformats.org/drawingml/2006/main">
              <a:ext uri="{FF2B5EF4-FFF2-40B4-BE49-F238E27FC236}">
                <a16:creationId xmlns:a16="http://schemas.microsoft.com/office/drawing/2014/main" id="{E51B97BA-2715-4ABD-B2EF-A0233F22611B}"/>
              </a:ext>
            </a:extLst>
          </p:cNvPr>
          <p:cNvCxnSpPr>
            <a:stCxn xmlns:a="http://schemas.openxmlformats.org/drawingml/2006/main" id="26" idx="3"/>
            <a:endCxn xmlns:a="http://schemas.openxmlformats.org/drawingml/2006/main" id="27" idx="1"/>
          </p:cNvCxnSpPr>
          <p:nvPr/>
        </p:nvCxnSpPr>
        <p:spPr>
          <a:xfrm xmlns:a="http://schemas.openxmlformats.org/drawingml/2006/main">
            <a:off x="457200" y="2838450"/>
            <a:ext cx="1247775" cy="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29" name="">
            <a:extLst xmlns:a="http://schemas.openxmlformats.org/drawingml/2006/main">
              <a:ext uri="{FF2B5EF4-FFF2-40B4-BE49-F238E27FC236}">
                <a16:creationId xmlns:a16="http://schemas.microsoft.com/office/drawing/2014/main" id="{9F03E9CD-8642-4E59-BD90-004E98BC4C6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102</a:t>
            </a:r>
          </a:p>
        </p:txBody>
      </p:sp>
    </p:spTree>
    <p:extLst>
      <p:ext uri="{BB962C8B-B14F-4D97-AF65-F5344CB8AC3E}">
        <p14:creationId xmlns:p14="http://schemas.microsoft.com/office/powerpoint/2010/main" val="1384672732"/>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1392211-293B-46EB-9D92-C4F07F1FF74B}"/>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MILP: послаблення без цілочисельності</a:t>
            </a:r>
          </a:p>
        </p:txBody>
      </p:sp>
      <p:sp>
        <p:nvSpPr>
          <p:cNvPr id="3" name="">
            <a:extLst xmlns:a="http://schemas.openxmlformats.org/drawingml/2006/main">
              <a:ext uri="{FF2B5EF4-FFF2-40B4-BE49-F238E27FC236}">
                <a16:creationId xmlns:a16="http://schemas.microsoft.com/office/drawing/2014/main" id="{632D4509-BCFD-44FF-B6D5-2BDA1D5D1393}"/>
              </a:ext>
            </a:extLst>
          </p:cNvPr>
          <p:cNvSpPr>
            <a:spLocks xmlns:a="http://schemas.openxmlformats.org/drawingml/2006/main" noGrp="1"/>
          </p:cNvSpPr>
          <p:nvPr/>
        </p:nvSpPr>
        <p:spPr>
          <a:xfrm xmlns:a="http://schemas.openxmlformats.org/drawingml/2006/main">
            <a:off x="866775" y="1590675"/>
            <a:ext cx="10401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6F9F"/>
                </a:solidFill>
                <a:latin typeface="DejaVu Sans"/>
                <a:ea typeface="DejaVu Sans"/>
                <a:cs typeface="DejaVu Sans"/>
              </a:defRPr>
            </a:pPr>
            <a:r>
              <a:rPr sz="2100" b="1">
                <a:solidFill>
                  <a:srgbClr val="086F9F"/>
                </a:solidFill>
                <a:latin typeface="Arial"/>
                <a:ea typeface="Arial"/>
                <a:cs typeface="Arial"/>
              </a:rPr>
              <a:t>Для заданого xA найдешевше взяти yA=xA/40.</a:t>
            </a:r>
          </a:p>
        </p:txBody>
      </p:sp>
      <p:sp>
        <p:nvSpPr>
          <p:cNvPr id="4" name="">
            <a:extLst xmlns:a="http://schemas.openxmlformats.org/drawingml/2006/main">
              <a:ext uri="{FF2B5EF4-FFF2-40B4-BE49-F238E27FC236}">
                <a16:creationId xmlns:a16="http://schemas.microsoft.com/office/drawing/2014/main" id="{39986E52-EB66-4119-A823-438471140643}"/>
              </a:ext>
            </a:extLst>
          </p:cNvPr>
          <p:cNvSpPr>
            <a:spLocks xmlns:a="http://schemas.openxmlformats.org/drawingml/2006/main" noGrp="1"/>
          </p:cNvSpPr>
          <p:nvPr/>
        </p:nvSpPr>
        <p:spPr>
          <a:xfrm xmlns:a="http://schemas.openxmlformats.org/drawingml/2006/main">
            <a:off x="866775" y="2447925"/>
            <a:ext cx="10410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C42"/>
                </a:solidFill>
                <a:latin typeface="DejaVu Sans"/>
                <a:ea typeface="DejaVu Sans"/>
                <a:cs typeface="DejaVu Sans"/>
              </a:defRPr>
            </a:pPr>
            <a:r>
              <a:rPr sz="2175" b="0">
                <a:solidFill>
                  <a:srgbClr val="152C42"/>
                </a:solidFill>
                <a:latin typeface="Arial"/>
                <a:ea typeface="Arial"/>
                <a:cs typeface="Arial"/>
              </a:rPr>
              <a:t>Тоді витрата A: 2xA+100·xA/40=4,5xA.</a:t>
            </a:r>
          </a:p>
        </p:txBody>
      </p:sp>
      <p:sp>
        <p:nvSpPr>
          <p:cNvPr id="5" name="">
            <a:extLst xmlns:a="http://schemas.openxmlformats.org/drawingml/2006/main">
              <a:ext uri="{FF2B5EF4-FFF2-40B4-BE49-F238E27FC236}">
                <a16:creationId xmlns:a16="http://schemas.microsoft.com/office/drawing/2014/main" id="{EECBE531-BB63-4CDD-82D2-E0A59BCC94BF}"/>
              </a:ext>
            </a:extLst>
          </p:cNvPr>
          <p:cNvSpPr>
            <a:spLocks xmlns:a="http://schemas.openxmlformats.org/drawingml/2006/main" noGrp="1"/>
          </p:cNvSpPr>
          <p:nvPr/>
        </p:nvSpPr>
        <p:spPr>
          <a:xfrm xmlns:a="http://schemas.openxmlformats.org/drawingml/2006/main">
            <a:off x="742950" y="3371850"/>
            <a:ext cx="2952750" cy="6000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E248C1B2-FD98-4A57-8187-20E262A69DE0}"/>
              </a:ext>
            </a:extLst>
          </p:cNvPr>
          <p:cNvSpPr>
            <a:spLocks xmlns:a="http://schemas.openxmlformats.org/drawingml/2006/main" noGrp="1"/>
          </p:cNvSpPr>
          <p:nvPr/>
        </p:nvSpPr>
        <p:spPr>
          <a:xfrm xmlns:a="http://schemas.openxmlformats.org/drawingml/2006/main">
            <a:off x="838200" y="344805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Маршрут</a:t>
            </a:r>
          </a:p>
        </p:txBody>
      </p:sp>
      <p:sp>
        <p:nvSpPr>
          <p:cNvPr id="7" name="">
            <a:extLst xmlns:a="http://schemas.openxmlformats.org/drawingml/2006/main">
              <a:ext uri="{FF2B5EF4-FFF2-40B4-BE49-F238E27FC236}">
                <a16:creationId xmlns:a16="http://schemas.microsoft.com/office/drawing/2014/main" id="{4289017C-1BAB-413B-B4E6-AD6EAED4981A}"/>
              </a:ext>
            </a:extLst>
          </p:cNvPr>
          <p:cNvSpPr>
            <a:spLocks xmlns:a="http://schemas.openxmlformats.org/drawingml/2006/main" noGrp="1"/>
          </p:cNvSpPr>
          <p:nvPr/>
        </p:nvSpPr>
        <p:spPr>
          <a:xfrm xmlns:a="http://schemas.openxmlformats.org/drawingml/2006/main">
            <a:off x="3695700" y="3371850"/>
            <a:ext cx="4305300" cy="6000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30C852F2-5BA5-465F-9A47-4E9C69069A9F}"/>
              </a:ext>
            </a:extLst>
          </p:cNvPr>
          <p:cNvSpPr>
            <a:spLocks xmlns:a="http://schemas.openxmlformats.org/drawingml/2006/main" noGrp="1"/>
          </p:cNvSpPr>
          <p:nvPr/>
        </p:nvSpPr>
        <p:spPr>
          <a:xfrm xmlns:a="http://schemas.openxmlformats.org/drawingml/2006/main">
            <a:off x="3790950" y="3448050"/>
            <a:ext cx="4114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Гранична витрата</a:t>
            </a:r>
          </a:p>
        </p:txBody>
      </p:sp>
      <p:sp>
        <p:nvSpPr>
          <p:cNvPr id="9" name="">
            <a:extLst xmlns:a="http://schemas.openxmlformats.org/drawingml/2006/main">
              <a:ext uri="{FF2B5EF4-FFF2-40B4-BE49-F238E27FC236}">
                <a16:creationId xmlns:a16="http://schemas.microsoft.com/office/drawing/2014/main" id="{43E3FE4B-61D3-4A93-9B25-AE585EB95255}"/>
              </a:ext>
            </a:extLst>
          </p:cNvPr>
          <p:cNvSpPr>
            <a:spLocks xmlns:a="http://schemas.openxmlformats.org/drawingml/2006/main" noGrp="1"/>
          </p:cNvSpPr>
          <p:nvPr/>
        </p:nvSpPr>
        <p:spPr>
          <a:xfrm xmlns:a="http://schemas.openxmlformats.org/drawingml/2006/main">
            <a:off x="8001000" y="3371850"/>
            <a:ext cx="3448050" cy="6000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751D23B9-EB12-4820-8AE4-A7B7345B78FF}"/>
              </a:ext>
            </a:extLst>
          </p:cNvPr>
          <p:cNvSpPr>
            <a:spLocks xmlns:a="http://schemas.openxmlformats.org/drawingml/2006/main" noGrp="1"/>
          </p:cNvSpPr>
          <p:nvPr/>
        </p:nvSpPr>
        <p:spPr>
          <a:xfrm xmlns:a="http://schemas.openxmlformats.org/drawingml/2006/main">
            <a:off x="8096250" y="3448050"/>
            <a:ext cx="3257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Обраний потік</a:t>
            </a:r>
          </a:p>
        </p:txBody>
      </p:sp>
      <p:sp>
        <p:nvSpPr>
          <p:cNvPr id="11" name="">
            <a:extLst xmlns:a="http://schemas.openxmlformats.org/drawingml/2006/main">
              <a:ext uri="{FF2B5EF4-FFF2-40B4-BE49-F238E27FC236}">
                <a16:creationId xmlns:a16="http://schemas.microsoft.com/office/drawing/2014/main" id="{84326C7E-4F52-4979-A9C3-EC84AEFA84AE}"/>
              </a:ext>
            </a:extLst>
          </p:cNvPr>
          <p:cNvSpPr>
            <a:spLocks xmlns:a="http://schemas.openxmlformats.org/drawingml/2006/main" noGrp="1"/>
          </p:cNvSpPr>
          <p:nvPr/>
        </p:nvSpPr>
        <p:spPr>
          <a:xfrm xmlns:a="http://schemas.openxmlformats.org/drawingml/2006/main">
            <a:off x="742950" y="3971925"/>
            <a:ext cx="2952750" cy="6000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8D32ED95-914B-47A5-BB16-22153E88A1BD}"/>
              </a:ext>
            </a:extLst>
          </p:cNvPr>
          <p:cNvSpPr>
            <a:spLocks xmlns:a="http://schemas.openxmlformats.org/drawingml/2006/main" noGrp="1"/>
          </p:cNvSpPr>
          <p:nvPr/>
        </p:nvSpPr>
        <p:spPr>
          <a:xfrm xmlns:a="http://schemas.openxmlformats.org/drawingml/2006/main">
            <a:off x="838200" y="404812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C</a:t>
            </a:r>
          </a:p>
        </p:txBody>
      </p:sp>
      <p:sp>
        <p:nvSpPr>
          <p:cNvPr id="13" name="">
            <a:extLst xmlns:a="http://schemas.openxmlformats.org/drawingml/2006/main">
              <a:ext uri="{FF2B5EF4-FFF2-40B4-BE49-F238E27FC236}">
                <a16:creationId xmlns:a16="http://schemas.microsoft.com/office/drawing/2014/main" id="{621778E8-B0D5-44CC-80D6-852D4F178831}"/>
              </a:ext>
            </a:extLst>
          </p:cNvPr>
          <p:cNvSpPr>
            <a:spLocks xmlns:a="http://schemas.openxmlformats.org/drawingml/2006/main" noGrp="1"/>
          </p:cNvSpPr>
          <p:nvPr/>
        </p:nvSpPr>
        <p:spPr>
          <a:xfrm xmlns:a="http://schemas.openxmlformats.org/drawingml/2006/main">
            <a:off x="3695700" y="3971925"/>
            <a:ext cx="4305300" cy="6000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9358BCEE-4BCC-4D7E-A9E5-29D99E8F7439}"/>
              </a:ext>
            </a:extLst>
          </p:cNvPr>
          <p:cNvSpPr>
            <a:spLocks xmlns:a="http://schemas.openxmlformats.org/drawingml/2006/main" noGrp="1"/>
          </p:cNvSpPr>
          <p:nvPr/>
        </p:nvSpPr>
        <p:spPr>
          <a:xfrm xmlns:a="http://schemas.openxmlformats.org/drawingml/2006/main">
            <a:off x="3790950" y="4048125"/>
            <a:ext cx="4114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4 / </a:t>
            </a:r>
            <a:r>
              <a:rPr sz="1800" b="0">
                <a:solidFill>
                  <a:srgbClr val="152C42"/>
                </a:solidFill>
                <a:latin typeface="Arial"/>
                <a:ea typeface="Arial"/>
                <a:cs typeface="Arial"/>
              </a:rPr>
              <a:t>од. трафіку</a:t>
            </a:r>
          </a:p>
        </p:txBody>
      </p:sp>
      <p:sp>
        <p:nvSpPr>
          <p:cNvPr id="15" name="">
            <a:extLst xmlns:a="http://schemas.openxmlformats.org/drawingml/2006/main">
              <a:ext uri="{FF2B5EF4-FFF2-40B4-BE49-F238E27FC236}">
                <a16:creationId xmlns:a16="http://schemas.microsoft.com/office/drawing/2014/main" id="{12D85CE0-2788-41EA-A813-8758F4106050}"/>
              </a:ext>
            </a:extLst>
          </p:cNvPr>
          <p:cNvSpPr>
            <a:spLocks xmlns:a="http://schemas.openxmlformats.org/drawingml/2006/main" noGrp="1"/>
          </p:cNvSpPr>
          <p:nvPr/>
        </p:nvSpPr>
        <p:spPr>
          <a:xfrm xmlns:a="http://schemas.openxmlformats.org/drawingml/2006/main">
            <a:off x="8001000" y="3971925"/>
            <a:ext cx="3448050" cy="6000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22DD23A0-AACE-4214-9D13-DC08A9A41968}"/>
              </a:ext>
            </a:extLst>
          </p:cNvPr>
          <p:cNvSpPr>
            <a:spLocks xmlns:a="http://schemas.openxmlformats.org/drawingml/2006/main" noGrp="1"/>
          </p:cNvSpPr>
          <p:nvPr/>
        </p:nvSpPr>
        <p:spPr>
          <a:xfrm xmlns:a="http://schemas.openxmlformats.org/drawingml/2006/main">
            <a:off x="8096250" y="4048125"/>
            <a:ext cx="3257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30</a:t>
            </a:r>
          </a:p>
        </p:txBody>
      </p:sp>
      <p:sp>
        <p:nvSpPr>
          <p:cNvPr id="17" name="">
            <a:extLst xmlns:a="http://schemas.openxmlformats.org/drawingml/2006/main">
              <a:ext uri="{FF2B5EF4-FFF2-40B4-BE49-F238E27FC236}">
                <a16:creationId xmlns:a16="http://schemas.microsoft.com/office/drawing/2014/main" id="{30476D00-9386-46EF-A1F5-A102E11F16C3}"/>
              </a:ext>
            </a:extLst>
          </p:cNvPr>
          <p:cNvSpPr>
            <a:spLocks xmlns:a="http://schemas.openxmlformats.org/drawingml/2006/main" noGrp="1"/>
          </p:cNvSpPr>
          <p:nvPr/>
        </p:nvSpPr>
        <p:spPr>
          <a:xfrm xmlns:a="http://schemas.openxmlformats.org/drawingml/2006/main">
            <a:off x="742950" y="4572000"/>
            <a:ext cx="295275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80ACF3B3-7300-4F06-B5E0-E74555BD2A7C}"/>
              </a:ext>
            </a:extLst>
          </p:cNvPr>
          <p:cNvSpPr>
            <a:spLocks xmlns:a="http://schemas.openxmlformats.org/drawingml/2006/main" noGrp="1"/>
          </p:cNvSpPr>
          <p:nvPr/>
        </p:nvSpPr>
        <p:spPr>
          <a:xfrm xmlns:a="http://schemas.openxmlformats.org/drawingml/2006/main">
            <a:off x="838200" y="4648200"/>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A</a:t>
            </a:r>
          </a:p>
        </p:txBody>
      </p:sp>
      <p:sp>
        <p:nvSpPr>
          <p:cNvPr id="19" name="">
            <a:extLst xmlns:a="http://schemas.openxmlformats.org/drawingml/2006/main">
              <a:ext uri="{FF2B5EF4-FFF2-40B4-BE49-F238E27FC236}">
                <a16:creationId xmlns:a16="http://schemas.microsoft.com/office/drawing/2014/main" id="{6A0C5E9C-77CB-4369-A0BB-69EE02B243CA}"/>
              </a:ext>
            </a:extLst>
          </p:cNvPr>
          <p:cNvSpPr>
            <a:spLocks xmlns:a="http://schemas.openxmlformats.org/drawingml/2006/main" noGrp="1"/>
          </p:cNvSpPr>
          <p:nvPr/>
        </p:nvSpPr>
        <p:spPr>
          <a:xfrm xmlns:a="http://schemas.openxmlformats.org/drawingml/2006/main">
            <a:off x="3695700" y="4572000"/>
            <a:ext cx="430530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4AA8CF11-61AA-46F8-976A-9CF2E37A155C}"/>
              </a:ext>
            </a:extLst>
          </p:cNvPr>
          <p:cNvSpPr>
            <a:spLocks xmlns:a="http://schemas.openxmlformats.org/drawingml/2006/main" noGrp="1"/>
          </p:cNvSpPr>
          <p:nvPr/>
        </p:nvSpPr>
        <p:spPr>
          <a:xfrm xmlns:a="http://schemas.openxmlformats.org/drawingml/2006/main">
            <a:off x="3790950" y="4648200"/>
            <a:ext cx="4114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4,5 / </a:t>
            </a:r>
            <a:r>
              <a:rPr sz="1800" b="0">
                <a:solidFill>
                  <a:srgbClr val="152C42"/>
                </a:solidFill>
                <a:latin typeface="Arial"/>
                <a:ea typeface="Arial"/>
                <a:cs typeface="Arial"/>
              </a:rPr>
              <a:t>од. трафіку</a:t>
            </a:r>
          </a:p>
        </p:txBody>
      </p:sp>
      <p:sp>
        <p:nvSpPr>
          <p:cNvPr id="21" name="">
            <a:extLst xmlns:a="http://schemas.openxmlformats.org/drawingml/2006/main">
              <a:ext uri="{FF2B5EF4-FFF2-40B4-BE49-F238E27FC236}">
                <a16:creationId xmlns:a16="http://schemas.microsoft.com/office/drawing/2014/main" id="{5FFAB274-D1F9-4005-8DB2-BA3ECBDEEA6D}"/>
              </a:ext>
            </a:extLst>
          </p:cNvPr>
          <p:cNvSpPr>
            <a:spLocks xmlns:a="http://schemas.openxmlformats.org/drawingml/2006/main" noGrp="1"/>
          </p:cNvSpPr>
          <p:nvPr/>
        </p:nvSpPr>
        <p:spPr>
          <a:xfrm xmlns:a="http://schemas.openxmlformats.org/drawingml/2006/main">
            <a:off x="8001000" y="4572000"/>
            <a:ext cx="3448050" cy="6000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A122AFD8-6777-4301-9D51-3EDB4E718301}"/>
              </a:ext>
            </a:extLst>
          </p:cNvPr>
          <p:cNvSpPr>
            <a:spLocks xmlns:a="http://schemas.openxmlformats.org/drawingml/2006/main" noGrp="1"/>
          </p:cNvSpPr>
          <p:nvPr/>
        </p:nvSpPr>
        <p:spPr>
          <a:xfrm xmlns:a="http://schemas.openxmlformats.org/drawingml/2006/main">
            <a:off x="8096250" y="4648200"/>
            <a:ext cx="3257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30</a:t>
            </a:r>
          </a:p>
        </p:txBody>
      </p:sp>
      <p:sp>
        <p:nvSpPr>
          <p:cNvPr id="23" name="">
            <a:extLst xmlns:a="http://schemas.openxmlformats.org/drawingml/2006/main">
              <a:ext uri="{FF2B5EF4-FFF2-40B4-BE49-F238E27FC236}">
                <a16:creationId xmlns:a16="http://schemas.microsoft.com/office/drawing/2014/main" id="{7BEFEAEE-549B-4D4F-8698-2F56D9FBF7B9}"/>
              </a:ext>
            </a:extLst>
          </p:cNvPr>
          <p:cNvSpPr>
            <a:spLocks xmlns:a="http://schemas.openxmlformats.org/drawingml/2006/main" noGrp="1"/>
          </p:cNvSpPr>
          <p:nvPr/>
        </p:nvSpPr>
        <p:spPr>
          <a:xfrm xmlns:a="http://schemas.openxmlformats.org/drawingml/2006/main">
            <a:off x="742950" y="5172075"/>
            <a:ext cx="2952750" cy="6000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2A34FD13-3D38-46EF-8244-572ECA8F2CE5}"/>
              </a:ext>
            </a:extLst>
          </p:cNvPr>
          <p:cNvSpPr>
            <a:spLocks xmlns:a="http://schemas.openxmlformats.org/drawingml/2006/main" noGrp="1"/>
          </p:cNvSpPr>
          <p:nvPr/>
        </p:nvSpPr>
        <p:spPr>
          <a:xfrm xmlns:a="http://schemas.openxmlformats.org/drawingml/2006/main">
            <a:off x="838200" y="5248275"/>
            <a:ext cx="276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B</a:t>
            </a:r>
          </a:p>
        </p:txBody>
      </p:sp>
      <p:sp>
        <p:nvSpPr>
          <p:cNvPr id="25" name="">
            <a:extLst xmlns:a="http://schemas.openxmlformats.org/drawingml/2006/main">
              <a:ext uri="{FF2B5EF4-FFF2-40B4-BE49-F238E27FC236}">
                <a16:creationId xmlns:a16="http://schemas.microsoft.com/office/drawing/2014/main" id="{B7DFBA61-6D1D-4945-80C6-8F93AE58B274}"/>
              </a:ext>
            </a:extLst>
          </p:cNvPr>
          <p:cNvSpPr>
            <a:spLocks xmlns:a="http://schemas.openxmlformats.org/drawingml/2006/main" noGrp="1"/>
          </p:cNvSpPr>
          <p:nvPr/>
        </p:nvSpPr>
        <p:spPr>
          <a:xfrm xmlns:a="http://schemas.openxmlformats.org/drawingml/2006/main">
            <a:off x="3695700" y="5172075"/>
            <a:ext cx="4305300" cy="6000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018F1B89-716D-4383-8741-61544A4957BE}"/>
              </a:ext>
            </a:extLst>
          </p:cNvPr>
          <p:cNvSpPr>
            <a:spLocks xmlns:a="http://schemas.openxmlformats.org/drawingml/2006/main" noGrp="1"/>
          </p:cNvSpPr>
          <p:nvPr/>
        </p:nvSpPr>
        <p:spPr>
          <a:xfrm xmlns:a="http://schemas.openxmlformats.org/drawingml/2006/main">
            <a:off x="3790950" y="5248275"/>
            <a:ext cx="4114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5 / </a:t>
            </a:r>
            <a:r>
              <a:rPr sz="1800" b="0">
                <a:solidFill>
                  <a:srgbClr val="152C42"/>
                </a:solidFill>
                <a:latin typeface="Arial"/>
                <a:ea typeface="Arial"/>
                <a:cs typeface="Arial"/>
              </a:rPr>
              <a:t>од. трафіку</a:t>
            </a:r>
          </a:p>
        </p:txBody>
      </p:sp>
      <p:sp>
        <p:nvSpPr>
          <p:cNvPr id="27" name="">
            <a:extLst xmlns:a="http://schemas.openxmlformats.org/drawingml/2006/main">
              <a:ext uri="{FF2B5EF4-FFF2-40B4-BE49-F238E27FC236}">
                <a16:creationId xmlns:a16="http://schemas.microsoft.com/office/drawing/2014/main" id="{75C43BD5-489A-4F59-ACE0-0C4373B7EA5C}"/>
              </a:ext>
            </a:extLst>
          </p:cNvPr>
          <p:cNvSpPr>
            <a:spLocks xmlns:a="http://schemas.openxmlformats.org/drawingml/2006/main" noGrp="1"/>
          </p:cNvSpPr>
          <p:nvPr/>
        </p:nvSpPr>
        <p:spPr>
          <a:xfrm xmlns:a="http://schemas.openxmlformats.org/drawingml/2006/main">
            <a:off x="8001000" y="5172075"/>
            <a:ext cx="3448050" cy="6000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8" name="">
            <a:extLst xmlns:a="http://schemas.openxmlformats.org/drawingml/2006/main">
              <a:ext uri="{FF2B5EF4-FFF2-40B4-BE49-F238E27FC236}">
                <a16:creationId xmlns:a16="http://schemas.microsoft.com/office/drawing/2014/main" id="{EB4F13CE-6693-4CCF-9133-363CFF14E842}"/>
              </a:ext>
            </a:extLst>
          </p:cNvPr>
          <p:cNvSpPr>
            <a:spLocks xmlns:a="http://schemas.openxmlformats.org/drawingml/2006/main" noGrp="1"/>
          </p:cNvSpPr>
          <p:nvPr/>
        </p:nvSpPr>
        <p:spPr>
          <a:xfrm xmlns:a="http://schemas.openxmlformats.org/drawingml/2006/main">
            <a:off x="8096250" y="5248275"/>
            <a:ext cx="3257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52C42"/>
                </a:solidFill>
                <a:latin typeface="DejaVu Sans"/>
                <a:ea typeface="DejaVu Sans"/>
                <a:cs typeface="DejaVu Sans"/>
              </a:defRPr>
            </a:pPr>
            <a:r>
              <a:rPr sz="1800" b="0">
                <a:solidFill>
                  <a:srgbClr val="152C42"/>
                </a:solidFill>
                <a:latin typeface="Arial"/>
                <a:ea typeface="Arial"/>
                <a:cs typeface="Arial"/>
              </a:rPr>
              <a:t>0</a:t>
            </a:r>
          </a:p>
        </p:txBody>
      </p:sp>
      <p:sp>
        <p:nvSpPr>
          <p:cNvPr id="29" name="">
            <a:extLst xmlns:a="http://schemas.openxmlformats.org/drawingml/2006/main">
              <a:ext uri="{FF2B5EF4-FFF2-40B4-BE49-F238E27FC236}">
                <a16:creationId xmlns:a16="http://schemas.microsoft.com/office/drawing/2014/main" id="{019029A2-9933-4C21-9908-4EBF7C67BC9C}"/>
              </a:ext>
            </a:extLst>
          </p:cNvPr>
          <p:cNvSpPr>
            <a:spLocks xmlns:a="http://schemas.openxmlformats.org/drawingml/2006/main" noGrp="1"/>
          </p:cNvSpPr>
          <p:nvPr/>
        </p:nvSpPr>
        <p:spPr>
          <a:xfrm xmlns:a="http://schemas.openxmlformats.org/drawingml/2006/main">
            <a:off x="819150" y="58102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x=(30,0,30), yA=0,75; нижня межа L=120+135=255.</a:t>
            </a:r>
          </a:p>
        </p:txBody>
      </p:sp>
      <p:sp>
        <p:nvSpPr>
          <p:cNvPr id="31" name="">
            <a:extLst xmlns:a="http://schemas.openxmlformats.org/drawingml/2006/main">
              <a:ext uri="{FF2B5EF4-FFF2-40B4-BE49-F238E27FC236}">
                <a16:creationId xmlns:a16="http://schemas.microsoft.com/office/drawing/2014/main" id="{A6F5C2B8-C354-4F69-B919-1676866CD6A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103</a:t>
            </a:r>
          </a:p>
        </p:txBody>
      </p:sp>
    </p:spTree>
    <p:extLst>
      <p:ext uri="{BB962C8B-B14F-4D97-AF65-F5344CB8AC3E}">
        <p14:creationId xmlns:p14="http://schemas.microsoft.com/office/powerpoint/2010/main" val="611764801"/>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8B6F8D-8B4B-4F7D-9164-C8EA6D58F745}"/>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Перевірте себе: </a:t>
            </a:r>
            <a:r>
              <a:rPr sz="3000" b="1">
                <a:solidFill>
                  <a:srgbClr val="173047"/>
                </a:solidFill>
                <a:latin typeface="Arial"/>
                <a:ea typeface="Arial"/>
                <a:cs typeface="Arial"/>
              </a:rPr>
              <a:t>чому 255</a:t>
            </a:r>
            <a:r>
              <a:rPr sz="3000" b="1">
                <a:solidFill>
                  <a:srgbClr val="173047"/>
                </a:solidFill>
                <a:latin typeface="Arial"/>
                <a:ea typeface="Arial"/>
                <a:cs typeface="Arial"/>
              </a:rPr>
              <a:t> ще не відповідь?</a:t>
            </a:r>
          </a:p>
        </p:txBody>
      </p:sp>
      <p:sp>
        <p:nvSpPr>
          <p:cNvPr id="2" name="">
            <a:extLst xmlns:a="http://schemas.openxmlformats.org/drawingml/2006/main">
              <a:ext uri="{FF2B5EF4-FFF2-40B4-BE49-F238E27FC236}">
                <a16:creationId xmlns:a16="http://schemas.microsoft.com/office/drawing/2014/main" id="{C4F4AE3A-2444-4B8B-AC23-CD090BB0DF0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Перевірте всі умови початкової моделі та поясніть свій висновок.</a:t>
            </a:r>
          </a:p>
        </p:txBody>
      </p:sp>
      <p:sp>
        <p:nvSpPr>
          <p:cNvPr id="3" name="">
            <a:extLst xmlns:a="http://schemas.openxmlformats.org/drawingml/2006/main">
              <a:ext uri="{FF2B5EF4-FFF2-40B4-BE49-F238E27FC236}">
                <a16:creationId xmlns:a16="http://schemas.microsoft.com/office/drawing/2014/main" id="{227949E2-1062-404B-B1F6-940CD0DDEEB6}"/>
              </a:ext>
            </a:extLst>
          </p:cNvPr>
          <p:cNvSpPr>
            <a:spLocks xmlns:a="http://schemas.openxmlformats.org/drawingml/2006/main" noGrp="1"/>
          </p:cNvSpPr>
          <p:nvPr/>
        </p:nvSpPr>
        <p:spPr>
          <a:xfrm xmlns:a="http://schemas.openxmlformats.org/drawingml/2006/main">
            <a:off x="857250" y="1809750"/>
            <a:ext cx="10477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0">
                <a:solidFill>
                  <a:srgbClr val="173047"/>
                </a:solidFill>
                <a:latin typeface="Arial"/>
                <a:ea typeface="Arial"/>
                <a:cs typeface="Arial"/>
              </a:defRPr>
            </a:pPr>
            <a:r>
              <a:rPr sz="2925" b="0">
                <a:solidFill>
                  <a:srgbClr val="173047"/>
                </a:solidFill>
                <a:latin typeface="Arial"/>
                <a:ea typeface="Arial"/>
                <a:cs typeface="Arial"/>
              </a:rPr>
              <a:t>LP: x=(30,0,30), yA=0,75; C=255.</a:t>
            </a:r>
          </a:p>
          <a:p xmlns:a="http://schemas.openxmlformats.org/drawingml/2006/main">
            <a:pPr algn="l">
              <a:buNone/>
              <a:defRPr sz="2925" b="0">
                <a:solidFill>
                  <a:srgbClr val="173047"/>
                </a:solidFill>
                <a:latin typeface="Arial"/>
                <a:ea typeface="Arial"/>
                <a:cs typeface="Arial"/>
              </a:defRPr>
            </a:pPr>
            <a:r>
              <a:rPr sz="2925" b="0">
                <a:solidFill>
                  <a:srgbClr val="173047"/>
                </a:solidFill>
                <a:latin typeface="Arial"/>
                <a:ea typeface="Arial"/>
                <a:cs typeface="Arial"/>
              </a:rPr>
              <a:t>Чи допустимий цей план?</a:t>
            </a:r>
          </a:p>
          <a:p xmlns:a="http://schemas.openxmlformats.org/drawingml/2006/main">
            <a:pPr algn="l">
              <a:buNone/>
              <a:defRPr sz="2925" b="0">
                <a:solidFill>
                  <a:srgbClr val="173047"/>
                </a:solidFill>
                <a:latin typeface="Arial"/>
                <a:ea typeface="Arial"/>
                <a:cs typeface="Arial"/>
              </a:defRPr>
            </a:pPr>
            <a:r>
              <a:rPr sz="2925" b="0">
                <a:solidFill>
                  <a:srgbClr val="173047"/>
                </a:solidFill>
                <a:latin typeface="Arial"/>
                <a:ea typeface="Arial"/>
                <a:cs typeface="Arial"/>
              </a:rPr>
              <a:t>Яке обмеження він порушує?</a:t>
            </a:r>
          </a:p>
        </p:txBody>
      </p:sp>
      <p:sp>
        <p:nvSpPr>
          <p:cNvPr id="6" name="">
            <a:extLst xmlns:a="http://schemas.openxmlformats.org/drawingml/2006/main">
              <a:ext uri="{FF2B5EF4-FFF2-40B4-BE49-F238E27FC236}">
                <a16:creationId xmlns:a16="http://schemas.microsoft.com/office/drawing/2014/main" id="{1B820220-1A25-4CAD-9FAC-8CD529965BA6}"/>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104</a:t>
            </a:r>
          </a:p>
        </p:txBody>
      </p:sp>
    </p:spTree>
    <p:extLst>
      <p:ext uri="{BB962C8B-B14F-4D97-AF65-F5344CB8AC3E}">
        <p14:creationId xmlns:p14="http://schemas.microsoft.com/office/powerpoint/2010/main" val="1246317834"/>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EB0D09-68B8-43A1-867D-966757697EAA}"/>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MILP: гілка yA=0</a:t>
            </a:r>
          </a:p>
        </p:txBody>
      </p:sp>
      <p:sp>
        <p:nvSpPr>
          <p:cNvPr id="3" name="">
            <a:extLst xmlns:a="http://schemas.openxmlformats.org/drawingml/2006/main">
              <a:ext uri="{FF2B5EF4-FFF2-40B4-BE49-F238E27FC236}">
                <a16:creationId xmlns:a16="http://schemas.microsoft.com/office/drawing/2014/main" id="{D9C55619-E1FD-4B31-9EC5-7997B9B9D2F5}"/>
              </a:ext>
            </a:extLst>
          </p:cNvPr>
          <p:cNvSpPr>
            <a:spLocks xmlns:a="http://schemas.openxmlformats.org/drawingml/2006/main" noGrp="1"/>
          </p:cNvSpPr>
          <p:nvPr/>
        </p:nvSpPr>
        <p:spPr>
          <a:xfrm xmlns:a="http://schemas.openxmlformats.org/drawingml/2006/main">
            <a:off x="866775" y="1657350"/>
            <a:ext cx="10401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6F9F"/>
                </a:solidFill>
                <a:latin typeface="DejaVu Sans"/>
                <a:ea typeface="DejaVu Sans"/>
                <a:cs typeface="DejaVu Sans"/>
              </a:defRPr>
            </a:pPr>
            <a:r>
              <a:rPr sz="2175" b="1">
                <a:solidFill>
                  <a:srgbClr val="086F9F"/>
                </a:solidFill>
                <a:latin typeface="Arial"/>
                <a:ea typeface="Arial"/>
                <a:cs typeface="Arial"/>
              </a:rPr>
              <a:t>xA≤40·0=0: маршрут A вимкнений.</a:t>
            </a:r>
          </a:p>
        </p:txBody>
      </p:sp>
      <p:sp>
        <p:nvSpPr>
          <p:cNvPr id="4" name="">
            <a:extLst xmlns:a="http://schemas.openxmlformats.org/drawingml/2006/main">
              <a:ext uri="{FF2B5EF4-FFF2-40B4-BE49-F238E27FC236}">
                <a16:creationId xmlns:a16="http://schemas.microsoft.com/office/drawing/2014/main" id="{7A9C4D94-2D33-475E-B1A6-70DE47551061}"/>
              </a:ext>
            </a:extLst>
          </p:cNvPr>
          <p:cNvSpPr>
            <a:spLocks xmlns:a="http://schemas.openxmlformats.org/drawingml/2006/main" noGrp="1"/>
          </p:cNvSpPr>
          <p:nvPr/>
        </p:nvSpPr>
        <p:spPr>
          <a:xfrm xmlns:a="http://schemas.openxmlformats.org/drawingml/2006/main">
            <a:off x="866775" y="2600325"/>
            <a:ext cx="10401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C42"/>
                </a:solidFill>
                <a:latin typeface="DejaVu Sans"/>
                <a:ea typeface="DejaVu Sans"/>
                <a:cs typeface="DejaVu Sans"/>
              </a:defRPr>
            </a:pPr>
            <a:r>
              <a:rPr sz="2175" b="0">
                <a:solidFill>
                  <a:srgbClr val="152C42"/>
                </a:solidFill>
                <a:latin typeface="Arial"/>
                <a:ea typeface="Arial"/>
                <a:cs typeface="Arial"/>
              </a:rPr>
              <a:t>Із 60 од. трафіку маршрут C бере максимум 30.</a:t>
            </a:r>
          </a:p>
        </p:txBody>
      </p:sp>
      <p:sp>
        <p:nvSpPr>
          <p:cNvPr id="5" name="">
            <a:extLst xmlns:a="http://schemas.openxmlformats.org/drawingml/2006/main">
              <a:ext uri="{FF2B5EF4-FFF2-40B4-BE49-F238E27FC236}">
                <a16:creationId xmlns:a16="http://schemas.microsoft.com/office/drawing/2014/main" id="{5344208B-2A4D-4028-B058-AA7BEABE1D14}"/>
              </a:ext>
            </a:extLst>
          </p:cNvPr>
          <p:cNvSpPr>
            <a:spLocks xmlns:a="http://schemas.openxmlformats.org/drawingml/2006/main" noGrp="1"/>
          </p:cNvSpPr>
          <p:nvPr/>
        </p:nvSpPr>
        <p:spPr>
          <a:xfrm xmlns:a="http://schemas.openxmlformats.org/drawingml/2006/main">
            <a:off x="866775" y="3533775"/>
            <a:ext cx="10401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C42"/>
                </a:solidFill>
                <a:latin typeface="DejaVu Sans"/>
                <a:ea typeface="DejaVu Sans"/>
                <a:cs typeface="DejaVu Sans"/>
              </a:defRPr>
            </a:pPr>
            <a:r>
              <a:rPr sz="2175" b="0">
                <a:solidFill>
                  <a:srgbClr val="152C42"/>
                </a:solidFill>
                <a:latin typeface="Arial"/>
                <a:ea typeface="Arial"/>
                <a:cs typeface="Arial"/>
              </a:rPr>
              <a:t>Решту 30 спрямовуємо через B.</a:t>
            </a:r>
          </a:p>
        </p:txBody>
      </p:sp>
      <p:sp>
        <p:nvSpPr>
          <p:cNvPr id="6" name="">
            <a:extLst xmlns:a="http://schemas.openxmlformats.org/drawingml/2006/main">
              <a:ext uri="{FF2B5EF4-FFF2-40B4-BE49-F238E27FC236}">
                <a16:creationId xmlns:a16="http://schemas.microsoft.com/office/drawing/2014/main" id="{1153F0F6-5DB3-4A8F-9AD2-3DE90AF66215}"/>
              </a:ext>
            </a:extLst>
          </p:cNvPr>
          <p:cNvSpPr>
            <a:spLocks xmlns:a="http://schemas.openxmlformats.org/drawingml/2006/main" noGrp="1"/>
          </p:cNvSpPr>
          <p:nvPr/>
        </p:nvSpPr>
        <p:spPr>
          <a:xfrm xmlns:a="http://schemas.openxmlformats.org/drawingml/2006/main">
            <a:off x="819150" y="4772025"/>
            <a:ext cx="10572750" cy="962025"/>
          </a:xfrm>
          <a:prstGeom xmlns:a="http://schemas.openxmlformats.org/drawingml/2006/main" prst="rect">
            <a:avLst/>
          </a:prstGeom>
          <a:solidFill xmlns:a="http://schemas.openxmlformats.org/drawingml/2006/main">
            <a:srgbClr val="E1F3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ED34B7-19B8-45A2-A3C1-151EFFE895FF}"/>
              </a:ext>
            </a:extLst>
          </p:cNvPr>
          <p:cNvSpPr>
            <a:spLocks xmlns:a="http://schemas.openxmlformats.org/drawingml/2006/main" noGrp="1"/>
          </p:cNvSpPr>
          <p:nvPr/>
        </p:nvSpPr>
        <p:spPr>
          <a:xfrm xmlns:a="http://schemas.openxmlformats.org/drawingml/2006/main">
            <a:off x="1000125" y="4991100"/>
            <a:ext cx="10125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786F"/>
                </a:solidFill>
                <a:latin typeface="DejaVu Sans"/>
                <a:ea typeface="DejaVu Sans"/>
                <a:cs typeface="DejaVu Sans"/>
              </a:defRPr>
            </a:pPr>
            <a:r>
              <a:rPr sz="2100" b="1">
                <a:solidFill>
                  <a:srgbClr val="08786F"/>
                </a:solidFill>
                <a:latin typeface="Arial"/>
                <a:ea typeface="Arial"/>
                <a:cs typeface="Arial"/>
              </a:rPr>
              <a:t>x=(0,30,30), yA=0; C=30·5+30·4=270</a:t>
            </a:r>
          </a:p>
        </p:txBody>
      </p:sp>
      <p:sp>
        <p:nvSpPr>
          <p:cNvPr id="8" name="">
            <a:extLst xmlns:a="http://schemas.openxmlformats.org/drawingml/2006/main">
              <a:ext uri="{FF2B5EF4-FFF2-40B4-BE49-F238E27FC236}">
                <a16:creationId xmlns:a16="http://schemas.microsoft.com/office/drawing/2014/main" id="{9550739A-EA3B-4747-8FBD-E4B0517B01CB}"/>
              </a:ext>
            </a:extLst>
          </p:cNvPr>
          <p:cNvSpPr>
            <a:spLocks xmlns:a="http://schemas.openxmlformats.org/drawingml/2006/main" noGrp="1"/>
          </p:cNvSpPr>
          <p:nvPr/>
        </p:nvSpPr>
        <p:spPr>
          <a:xfrm xmlns:a="http://schemas.openxmlformats.org/drawingml/2006/main">
            <a:off x="819150" y="589597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Цілий допустимий план дає поточну верхню межу U=270.</a:t>
            </a:r>
          </a:p>
        </p:txBody>
      </p:sp>
      <p:sp>
        <p:nvSpPr>
          <p:cNvPr id="10" name="">
            <a:extLst xmlns:a="http://schemas.openxmlformats.org/drawingml/2006/main">
              <a:ext uri="{FF2B5EF4-FFF2-40B4-BE49-F238E27FC236}">
                <a16:creationId xmlns:a16="http://schemas.microsoft.com/office/drawing/2014/main" id="{C2717F86-BCB6-4EDF-9E89-52D8FA1E8F53}"/>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105</a:t>
            </a:r>
          </a:p>
        </p:txBody>
      </p:sp>
    </p:spTree>
    <p:extLst>
      <p:ext uri="{BB962C8B-B14F-4D97-AF65-F5344CB8AC3E}">
        <p14:creationId xmlns:p14="http://schemas.microsoft.com/office/powerpoint/2010/main" val="107035008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2FCBC6-DC34-4A17-8BF3-F970DB3E8517}"/>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MILP: гілка yA=1</a:t>
            </a:r>
          </a:p>
        </p:txBody>
      </p:sp>
      <p:sp>
        <p:nvSpPr>
          <p:cNvPr id="3" name="">
            <a:extLst xmlns:a="http://schemas.openxmlformats.org/drawingml/2006/main">
              <a:ext uri="{FF2B5EF4-FFF2-40B4-BE49-F238E27FC236}">
                <a16:creationId xmlns:a16="http://schemas.microsoft.com/office/drawing/2014/main" id="{1108FF8E-C974-434C-9856-E061E5E1C83C}"/>
              </a:ext>
            </a:extLst>
          </p:cNvPr>
          <p:cNvSpPr>
            <a:spLocks xmlns:a="http://schemas.openxmlformats.org/drawingml/2006/main" noGrp="1"/>
          </p:cNvSpPr>
          <p:nvPr/>
        </p:nvSpPr>
        <p:spPr>
          <a:xfrm xmlns:a="http://schemas.openxmlformats.org/drawingml/2006/main">
            <a:off x="866775" y="1657350"/>
            <a:ext cx="10401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6F9F"/>
                </a:solidFill>
                <a:latin typeface="DejaVu Sans"/>
                <a:ea typeface="DejaVu Sans"/>
                <a:cs typeface="DejaVu Sans"/>
              </a:defRPr>
            </a:pPr>
            <a:r>
              <a:rPr sz="2175" b="1">
                <a:solidFill>
                  <a:srgbClr val="086F9F"/>
                </a:solidFill>
                <a:latin typeface="Arial"/>
                <a:ea typeface="Arial"/>
                <a:cs typeface="Arial"/>
              </a:rPr>
              <a:t>A коштує 2 за </a:t>
            </a:r>
            <a:r>
              <a:rPr sz="2175" b="1">
                <a:solidFill>
                  <a:srgbClr val="086F9F"/>
                </a:solidFill>
                <a:latin typeface="Arial"/>
                <a:ea typeface="Arial"/>
                <a:cs typeface="Arial"/>
              </a:rPr>
              <a:t>од. трафіку</a:t>
            </a:r>
            <a:r>
              <a:rPr sz="2175" b="1">
                <a:solidFill>
                  <a:srgbClr val="086F9F"/>
                </a:solidFill>
                <a:latin typeface="Arial"/>
                <a:ea typeface="Arial"/>
                <a:cs typeface="Arial"/>
              </a:rPr>
              <a:t> і вміщує 40: беремо xA=40.</a:t>
            </a:r>
          </a:p>
        </p:txBody>
      </p:sp>
      <p:sp>
        <p:nvSpPr>
          <p:cNvPr id="4" name="">
            <a:extLst xmlns:a="http://schemas.openxmlformats.org/drawingml/2006/main">
              <a:ext uri="{FF2B5EF4-FFF2-40B4-BE49-F238E27FC236}">
                <a16:creationId xmlns:a16="http://schemas.microsoft.com/office/drawing/2014/main" id="{117018D9-948E-43A3-9537-9712CDD2A105}"/>
              </a:ext>
            </a:extLst>
          </p:cNvPr>
          <p:cNvSpPr>
            <a:spLocks xmlns:a="http://schemas.openxmlformats.org/drawingml/2006/main" noGrp="1"/>
          </p:cNvSpPr>
          <p:nvPr/>
        </p:nvSpPr>
        <p:spPr>
          <a:xfrm xmlns:a="http://schemas.openxmlformats.org/drawingml/2006/main">
            <a:off x="866775" y="2714625"/>
            <a:ext cx="1040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C42"/>
                </a:solidFill>
                <a:latin typeface="DejaVu Sans"/>
                <a:ea typeface="DejaVu Sans"/>
                <a:cs typeface="DejaVu Sans"/>
              </a:defRPr>
            </a:pPr>
            <a:r>
              <a:rPr sz="2100" b="0">
                <a:solidFill>
                  <a:srgbClr val="152C42"/>
                </a:solidFill>
                <a:latin typeface="Arial"/>
                <a:ea typeface="Arial"/>
                <a:cs typeface="Arial"/>
              </a:rPr>
              <a:t>Із решти маршрут C дешевший за B: xC=20, xB=0.</a:t>
            </a:r>
          </a:p>
        </p:txBody>
      </p:sp>
      <p:sp>
        <p:nvSpPr>
          <p:cNvPr id="5" name="">
            <a:extLst xmlns:a="http://schemas.openxmlformats.org/drawingml/2006/main">
              <a:ext uri="{FF2B5EF4-FFF2-40B4-BE49-F238E27FC236}">
                <a16:creationId xmlns:a16="http://schemas.microsoft.com/office/drawing/2014/main" id="{0E1DC3B1-6F0A-411B-BED8-34AAD5BC937C}"/>
              </a:ext>
            </a:extLst>
          </p:cNvPr>
          <p:cNvSpPr>
            <a:spLocks xmlns:a="http://schemas.openxmlformats.org/drawingml/2006/main" noGrp="1"/>
          </p:cNvSpPr>
          <p:nvPr/>
        </p:nvSpPr>
        <p:spPr>
          <a:xfrm xmlns:a="http://schemas.openxmlformats.org/drawingml/2006/main">
            <a:off x="819150" y="4448175"/>
            <a:ext cx="10572750" cy="1143000"/>
          </a:xfrm>
          <a:prstGeom xmlns:a="http://schemas.openxmlformats.org/drawingml/2006/main" prst="rect">
            <a:avLst/>
          </a:prstGeom>
          <a:solidFill xmlns:a="http://schemas.openxmlformats.org/drawingml/2006/main">
            <a:srgbClr val="E1F3F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828934-39B7-43D1-BB96-544B65F6E6EE}"/>
              </a:ext>
            </a:extLst>
          </p:cNvPr>
          <p:cNvSpPr>
            <a:spLocks xmlns:a="http://schemas.openxmlformats.org/drawingml/2006/main" noGrp="1"/>
          </p:cNvSpPr>
          <p:nvPr/>
        </p:nvSpPr>
        <p:spPr>
          <a:xfrm xmlns:a="http://schemas.openxmlformats.org/drawingml/2006/main">
            <a:off x="1019175" y="4619625"/>
            <a:ext cx="10039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8786F"/>
                </a:solidFill>
                <a:latin typeface="DejaVu Sans"/>
                <a:ea typeface="DejaVu Sans"/>
                <a:cs typeface="DejaVu Sans"/>
              </a:defRPr>
            </a:pPr>
            <a:r>
              <a:rPr sz="2025" b="1">
                <a:solidFill>
                  <a:srgbClr val="08786F"/>
                </a:solidFill>
                <a:latin typeface="Arial"/>
                <a:ea typeface="Arial"/>
                <a:cs typeface="Arial"/>
              </a:rPr>
              <a:t>x=(40,0,20), yA=1</a:t>
            </a:r>
          </a:p>
        </p:txBody>
      </p:sp>
      <p:sp>
        <p:nvSpPr>
          <p:cNvPr id="7" name="">
            <a:extLst xmlns:a="http://schemas.openxmlformats.org/drawingml/2006/main">
              <a:ext uri="{FF2B5EF4-FFF2-40B4-BE49-F238E27FC236}">
                <a16:creationId xmlns:a16="http://schemas.microsoft.com/office/drawing/2014/main" id="{7C3B3DE2-2F7D-4B3A-B689-C41C3E725482}"/>
              </a:ext>
            </a:extLst>
          </p:cNvPr>
          <p:cNvSpPr>
            <a:spLocks xmlns:a="http://schemas.openxmlformats.org/drawingml/2006/main" noGrp="1"/>
          </p:cNvSpPr>
          <p:nvPr/>
        </p:nvSpPr>
        <p:spPr>
          <a:xfrm xmlns:a="http://schemas.openxmlformats.org/drawingml/2006/main">
            <a:off x="1019175" y="5067300"/>
            <a:ext cx="10048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786F"/>
                </a:solidFill>
                <a:latin typeface="DejaVu Sans"/>
                <a:ea typeface="DejaVu Sans"/>
                <a:cs typeface="DejaVu Sans"/>
              </a:defRPr>
            </a:pPr>
            <a:r>
              <a:rPr sz="2100" b="1">
                <a:solidFill>
                  <a:srgbClr val="08786F"/>
                </a:solidFill>
                <a:latin typeface="Arial"/>
                <a:ea typeface="Arial"/>
                <a:cs typeface="Arial"/>
              </a:rPr>
              <a:t>C=40·2+20·4+100=260</a:t>
            </a:r>
          </a:p>
        </p:txBody>
      </p:sp>
      <p:sp>
        <p:nvSpPr>
          <p:cNvPr id="8" name="">
            <a:extLst xmlns:a="http://schemas.openxmlformats.org/drawingml/2006/main">
              <a:ext uri="{FF2B5EF4-FFF2-40B4-BE49-F238E27FC236}">
                <a16:creationId xmlns:a16="http://schemas.microsoft.com/office/drawing/2014/main" id="{30F668F6-D43F-4721-8375-954447161A22}"/>
              </a:ext>
            </a:extLst>
          </p:cNvPr>
          <p:cNvSpPr>
            <a:spLocks xmlns:a="http://schemas.openxmlformats.org/drawingml/2006/main" noGrp="1"/>
          </p:cNvSpPr>
          <p:nvPr/>
        </p:nvSpPr>
        <p:spPr>
          <a:xfrm xmlns:a="http://schemas.openxmlformats.org/drawingml/2006/main">
            <a:off x="819150" y="589597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Покращуємо верхню межу: U=min(270,260)=260.</a:t>
            </a:r>
          </a:p>
        </p:txBody>
      </p:sp>
      <p:sp>
        <p:nvSpPr>
          <p:cNvPr id="10" name="">
            <a:extLst xmlns:a="http://schemas.openxmlformats.org/drawingml/2006/main">
              <a:ext uri="{FF2B5EF4-FFF2-40B4-BE49-F238E27FC236}">
                <a16:creationId xmlns:a16="http://schemas.microsoft.com/office/drawing/2014/main" id="{1E053BE1-3D58-40B4-9230-8A3F93C12AA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106</a:t>
            </a:r>
          </a:p>
        </p:txBody>
      </p:sp>
    </p:spTree>
    <p:extLst>
      <p:ext uri="{BB962C8B-B14F-4D97-AF65-F5344CB8AC3E}">
        <p14:creationId xmlns:p14="http://schemas.microsoft.com/office/powerpoint/2010/main" val="242271019"/>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AC8F18-953C-4E4A-8D67-1064221060AD}"/>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Гілки і межі: оновлення найкращого плану</a:t>
            </a:r>
          </a:p>
        </p:txBody>
      </p:sp>
      <p:sp>
        <p:nvSpPr>
          <p:cNvPr id="2" name="">
            <a:extLst xmlns:a="http://schemas.openxmlformats.org/drawingml/2006/main">
              <a:ext uri="{FF2B5EF4-FFF2-40B4-BE49-F238E27FC236}">
                <a16:creationId xmlns:a16="http://schemas.microsoft.com/office/drawing/2014/main" id="{0E17CC6C-9CCF-4386-86D8-60FFA92C165C}"/>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Обидва листки цілі; відсів за межею проілюстровано у </a:t>
            </a:r>
            <a:r>
              <a:rPr sz="2100" b="1">
                <a:solidFill>
                  <a:srgbClr val="00857D"/>
                </a:solidFill>
                <a:latin typeface="Arial"/>
                <a:ea typeface="Arial"/>
                <a:cs typeface="Arial"/>
              </a:rPr>
              <a:t>додатку MIT</a:t>
            </a:r>
            <a:r>
              <a:rPr sz="2100" b="1">
                <a:solidFill>
                  <a:srgbClr val="00857D"/>
                </a:solidFill>
                <a:latin typeface="Arial"/>
                <a:ea typeface="Arial"/>
                <a:cs typeface="Arial"/>
              </a:rPr>
              <a:t>.</a:t>
            </a:r>
          </a:p>
        </p:txBody>
      </p:sp>
      <p:graphicFrame>
        <p:nvGraphicFramePr>
          <p:cNvPr id="10" name="">
            <a:extLst xmlns:a="http://schemas.openxmlformats.org/drawingml/2006/main">
              <a:ext uri="{FF2B5EF4-FFF2-40B4-BE49-F238E27FC236}">
                <a16:creationId xmlns:a16="http://schemas.microsoft.com/office/drawing/2014/main" id="{25D505FB-4F47-4143-9E98-D52D62040429}"/>
              </a:ext>
            </a:extLst>
          </p:cNvPr>
          <p:cNvGraphicFramePr/>
          <p:nvPr/>
        </p:nvGraphicFramePr>
        <p:xfrm>
          <a:off xmlns:a="http://schemas.openxmlformats.org/drawingml/2006/main" x="762000" y="1647825"/>
          <a:ext xmlns:a="http://schemas.openxmlformats.org/drawingml/2006/main" cx="10668000" cy="3371850"/>
        </p:xfrm>
        <a:graphic xmlns:a="http://schemas.openxmlformats.org/drawingml/2006/main">
          <a:graphicData uri="http://schemas.openxmlformats.org/drawingml/2006/table">
            <a:tbl>
              <a:tblPr/>
              <a:tblGrid>
                <a:gridCol w="2000250"/>
                <a:gridCol w="4857750"/>
                <a:gridCol w="1905000"/>
                <a:gridCol w="1905000"/>
              </a:tblGrid>
              <a:tr h="842963">
                <a:tc>
                  <a:txBody>
                    <a:bodyPr/>
                    <a:lstStyle/>
                    <a:p>
                      <a:r>
                        <a:rPr sz="2400" b="1">
                          <a:solidFill>
                            <a:srgbClr val="FFFFFF"/>
                          </a:solidFill>
                          <a:latin typeface="Arial"/>
                          <a:ea typeface="Arial"/>
                          <a:cs typeface="Arial"/>
                        </a:rPr>
                        <a:t>Вузол</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План / статус</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L</a:t>
                      </a:r>
                    </a:p>
                  </a:txBody>
                  <a:tcPr marL="114300" marR="114300" marT="66675" marB="66675" anchor="ctr">
                    <a:solidFill>
                      <a:srgbClr val="173047"/>
                    </a:solidFill>
                  </a:tcPr>
                </a:tc>
                <a:tc>
                  <a:txBody>
                    <a:bodyPr/>
                    <a:lstStyle/>
                    <a:p>
                      <a:r>
                        <a:rPr sz="2400" b="1">
                          <a:solidFill>
                            <a:srgbClr val="FFFFFF"/>
                          </a:solidFill>
                          <a:latin typeface="Arial"/>
                          <a:ea typeface="Arial"/>
                          <a:cs typeface="Arial"/>
                        </a:rPr>
                        <a:t>U після</a:t>
                      </a:r>
                    </a:p>
                  </a:txBody>
                  <a:tcPr marL="114300" marR="114300" marT="66675" marB="66675" anchor="ctr">
                    <a:solidFill>
                      <a:srgbClr val="173047"/>
                    </a:solidFill>
                  </a:tcPr>
                </a:tc>
              </a:tr>
              <a:tr h="842963">
                <a:tc>
                  <a:txBody>
                    <a:bodyPr/>
                    <a:lstStyle/>
                    <a:p>
                      <a:r>
                        <a:rPr sz="2400">
                          <a:solidFill>
                            <a:srgbClr val="173047"/>
                          </a:solidFill>
                          <a:latin typeface="Arial"/>
                          <a:ea typeface="Arial"/>
                          <a:cs typeface="Arial"/>
                        </a:rPr>
                        <a:t>Корінь</a:t>
                      </a:r>
                    </a:p>
                  </a:txBody>
                  <a:tcPr marL="114300" marR="114300" marT="66675" marB="66675" anchor="ctr">
                    <a:solidFill>
                      <a:srgbClr val="FFFFFF"/>
                    </a:solidFill>
                  </a:tcPr>
                </a:tc>
                <a:tc>
                  <a:txBody>
                    <a:bodyPr/>
                    <a:lstStyle/>
                    <a:p>
                      <a:r>
                        <a:rPr sz="2400">
                          <a:solidFill>
                            <a:srgbClr val="173047"/>
                          </a:solidFill>
                          <a:latin typeface="Arial"/>
                          <a:ea typeface="Arial"/>
                          <a:cs typeface="Arial"/>
                        </a:rPr>
                        <a:t>yA=0,75; дробовий</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255</a:t>
                      </a:r>
                    </a:p>
                  </a:txBody>
                  <a:tcPr marL="114300" marR="114300" marT="66675" marB="66675" anchor="ctr">
                    <a:solidFill>
                      <a:srgbClr val="FFFFFF"/>
                    </a:solidFill>
                  </a:tcPr>
                </a:tc>
                <a:tc>
                  <a:txBody>
                    <a:bodyPr/>
                    <a:lstStyle/>
                    <a:p>
                      <a:r>
                        <a:rPr sz="2400">
                          <a:solidFill>
                            <a:srgbClr val="173047"/>
                          </a:solidFill>
                          <a:latin typeface="Arial"/>
                          <a:ea typeface="Arial"/>
                          <a:cs typeface="Arial"/>
                        </a:rPr>
                        <a:t>∞</a:t>
                      </a:r>
                    </a:p>
                  </a:txBody>
                  <a:tcPr marL="114300" marR="114300" marT="66675" marB="66675" anchor="ctr">
                    <a:solidFill>
                      <a:srgbClr val="FFFFFF"/>
                    </a:solidFill>
                  </a:tcPr>
                </a:tc>
              </a:tr>
              <a:tr h="842963">
                <a:tc>
                  <a:txBody>
                    <a:bodyPr/>
                    <a:lstStyle/>
                    <a:p>
                      <a:r>
                        <a:rPr sz="2400">
                          <a:solidFill>
                            <a:srgbClr val="173047"/>
                          </a:solidFill>
                          <a:latin typeface="Arial"/>
                          <a:ea typeface="Arial"/>
                          <a:cs typeface="Arial"/>
                        </a:rPr>
                        <a:t>yA=0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(0,30,30); цілий</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270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270</a:t>
                      </a:r>
                    </a:p>
                  </a:txBody>
                  <a:tcPr marL="114300" marR="114300" marT="66675" marB="66675" anchor="ctr">
                    <a:solidFill>
                      <a:srgbClr val="FFFFFF"/>
                    </a:solidFill>
                  </a:tcPr>
                </a:tc>
              </a:tr>
              <a:tr h="842963">
                <a:tc>
                  <a:txBody>
                    <a:bodyPr/>
                    <a:lstStyle/>
                    <a:p>
                      <a:r>
                        <a:rPr sz="2400">
                          <a:solidFill>
                            <a:srgbClr val="173047"/>
                          </a:solidFill>
                          <a:latin typeface="Arial"/>
                          <a:ea typeface="Arial"/>
                          <a:cs typeface="Arial"/>
                        </a:rPr>
                        <a:t>yA=1</a:t>
                      </a:r>
                    </a:p>
                  </a:txBody>
                  <a:tcPr marL="114300" marR="114300" marT="66675" marB="66675" anchor="ctr">
                    <a:solidFill>
                      <a:srgbClr val="FFFFFF"/>
                    </a:solidFill>
                  </a:tcPr>
                </a:tc>
                <a:tc>
                  <a:txBody>
                    <a:bodyPr/>
                    <a:lstStyle/>
                    <a:p>
                      <a:r>
                        <a:rPr sz="2400">
                          <a:solidFill>
                            <a:srgbClr val="173047"/>
                          </a:solidFill>
                          <a:latin typeface="Arial"/>
                          <a:ea typeface="Arial"/>
                          <a:cs typeface="Arial"/>
                        </a:rPr>
                        <a:t>(40,0,20); цілий</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260</a:t>
                      </a:r>
                    </a:p>
                  </a:txBody>
                  <a:tcPr marL="114300" marR="114300" marT="66675" marB="66675" anchor="ctr">
                    <a:solidFill>
                      <a:srgbClr val="FFFFFF"/>
                    </a:solidFill>
                  </a:tcPr>
                </a:tc>
                <a:tc>
                  <a:txBody>
                    <a:bodyPr/>
                    <a:lstStyle/>
                    <a:p>
                      <a:r>
                        <a:rPr sz="2400">
                          <a:solidFill>
                            <a:srgbClr val="173047"/>
                          </a:solidFill>
                          <a:latin typeface="Arial"/>
                          <a:ea typeface="Arial"/>
                          <a:cs typeface="Arial"/>
                        </a:rPr>
                        <a:t>260</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E8E1BAA-EF51-4E49-AC1C-BA0700C0D859}"/>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107</a:t>
            </a:r>
          </a:p>
        </p:txBody>
      </p:sp>
    </p:spTree>
    <p:extLst>
      <p:ext uri="{BB962C8B-B14F-4D97-AF65-F5344CB8AC3E}">
        <p14:creationId xmlns:p14="http://schemas.microsoft.com/office/powerpoint/2010/main" val="1416091699"/>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1478507-4F69-45F2-B95A-7E41F95BF7B3}"/>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MILP: чому 260 — оптимум</a:t>
            </a:r>
          </a:p>
        </p:txBody>
      </p:sp>
      <p:sp>
        <p:nvSpPr>
          <p:cNvPr id="3" name="">
            <a:extLst xmlns:a="http://schemas.openxmlformats.org/drawingml/2006/main">
              <a:ext uri="{FF2B5EF4-FFF2-40B4-BE49-F238E27FC236}">
                <a16:creationId xmlns:a16="http://schemas.microsoft.com/office/drawing/2014/main" id="{CF3DCBF9-A409-4188-8A6A-267B81FC49A2}"/>
              </a:ext>
            </a:extLst>
          </p:cNvPr>
          <p:cNvSpPr>
            <a:spLocks xmlns:a="http://schemas.openxmlformats.org/drawingml/2006/main" noGrp="1"/>
          </p:cNvSpPr>
          <p:nvPr/>
        </p:nvSpPr>
        <p:spPr>
          <a:xfrm xmlns:a="http://schemas.openxmlformats.org/drawingml/2006/main">
            <a:off x="742950" y="1809750"/>
            <a:ext cx="4048125" cy="8191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3DA4731F-6902-473B-8CBF-ACF3C46932B9}"/>
              </a:ext>
            </a:extLst>
          </p:cNvPr>
          <p:cNvSpPr>
            <a:spLocks xmlns:a="http://schemas.openxmlformats.org/drawingml/2006/main" noGrp="1"/>
          </p:cNvSpPr>
          <p:nvPr/>
        </p:nvSpPr>
        <p:spPr>
          <a:xfrm xmlns:a="http://schemas.openxmlformats.org/drawingml/2006/main">
            <a:off x="838200" y="1885950"/>
            <a:ext cx="3857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Вузол дерева</a:t>
            </a:r>
          </a:p>
        </p:txBody>
      </p:sp>
      <p:sp>
        <p:nvSpPr>
          <p:cNvPr id="5" name="">
            <a:extLst xmlns:a="http://schemas.openxmlformats.org/drawingml/2006/main">
              <a:ext uri="{FF2B5EF4-FFF2-40B4-BE49-F238E27FC236}">
                <a16:creationId xmlns:a16="http://schemas.microsoft.com/office/drawing/2014/main" id="{1C53DEF0-2183-400D-A55F-61A60350B770}"/>
              </a:ext>
            </a:extLst>
          </p:cNvPr>
          <p:cNvSpPr>
            <a:spLocks xmlns:a="http://schemas.openxmlformats.org/drawingml/2006/main" noGrp="1"/>
          </p:cNvSpPr>
          <p:nvPr/>
        </p:nvSpPr>
        <p:spPr>
          <a:xfrm xmlns:a="http://schemas.openxmlformats.org/drawingml/2006/main">
            <a:off x="4791075" y="1809750"/>
            <a:ext cx="3324225" cy="8191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22E6C8B9-2008-4092-85AE-80C78CBA9BF5}"/>
              </a:ext>
            </a:extLst>
          </p:cNvPr>
          <p:cNvSpPr>
            <a:spLocks xmlns:a="http://schemas.openxmlformats.org/drawingml/2006/main" noGrp="1"/>
          </p:cNvSpPr>
          <p:nvPr/>
        </p:nvSpPr>
        <p:spPr>
          <a:xfrm xmlns:a="http://schemas.openxmlformats.org/drawingml/2006/main">
            <a:off x="4886325" y="1885950"/>
            <a:ext cx="3133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Найкращий план</a:t>
            </a:r>
          </a:p>
        </p:txBody>
      </p:sp>
      <p:sp>
        <p:nvSpPr>
          <p:cNvPr id="7" name="">
            <a:extLst xmlns:a="http://schemas.openxmlformats.org/drawingml/2006/main">
              <a:ext uri="{FF2B5EF4-FFF2-40B4-BE49-F238E27FC236}">
                <a16:creationId xmlns:a16="http://schemas.microsoft.com/office/drawing/2014/main" id="{CD48104C-A57A-43FE-8522-D3AE8F74BCE5}"/>
              </a:ext>
            </a:extLst>
          </p:cNvPr>
          <p:cNvSpPr>
            <a:spLocks xmlns:a="http://schemas.openxmlformats.org/drawingml/2006/main" noGrp="1"/>
          </p:cNvSpPr>
          <p:nvPr/>
        </p:nvSpPr>
        <p:spPr>
          <a:xfrm xmlns:a="http://schemas.openxmlformats.org/drawingml/2006/main">
            <a:off x="8115300" y="1809750"/>
            <a:ext cx="3333750" cy="819150"/>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12728CF0-CBCF-4377-B205-C0A0B86FB3B9}"/>
              </a:ext>
            </a:extLst>
          </p:cNvPr>
          <p:cNvSpPr>
            <a:spLocks xmlns:a="http://schemas.openxmlformats.org/drawingml/2006/main" noGrp="1"/>
          </p:cNvSpPr>
          <p:nvPr/>
        </p:nvSpPr>
        <p:spPr>
          <a:xfrm xmlns:a="http://schemas.openxmlformats.org/drawingml/2006/main">
            <a:off x="8210550" y="188595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DejaVu Sans"/>
                <a:ea typeface="DejaVu Sans"/>
                <a:cs typeface="DejaVu Sans"/>
              </a:defRPr>
            </a:pPr>
            <a:r>
              <a:rPr sz="1725" b="1">
                <a:solidFill>
                  <a:srgbClr val="FFFFFF"/>
                </a:solidFill>
                <a:latin typeface="Arial"/>
                <a:ea typeface="Arial"/>
                <a:cs typeface="Arial"/>
              </a:rPr>
              <a:t>Вартість / межа</a:t>
            </a:r>
          </a:p>
        </p:txBody>
      </p:sp>
      <p:sp>
        <p:nvSpPr>
          <p:cNvPr id="9" name="">
            <a:extLst xmlns:a="http://schemas.openxmlformats.org/drawingml/2006/main">
              <a:ext uri="{FF2B5EF4-FFF2-40B4-BE49-F238E27FC236}">
                <a16:creationId xmlns:a16="http://schemas.microsoft.com/office/drawing/2014/main" id="{2BD1C761-98FF-4E6C-9BB4-86D0CF8BDEDE}"/>
              </a:ext>
            </a:extLst>
          </p:cNvPr>
          <p:cNvSpPr>
            <a:spLocks xmlns:a="http://schemas.openxmlformats.org/drawingml/2006/main" noGrp="1"/>
          </p:cNvSpPr>
          <p:nvPr/>
        </p:nvSpPr>
        <p:spPr>
          <a:xfrm xmlns:a="http://schemas.openxmlformats.org/drawingml/2006/main">
            <a:off x="742950" y="2628900"/>
            <a:ext cx="4048125" cy="8191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4FFDFBCD-35FF-4ACA-A5F6-56CFB260F25B}"/>
              </a:ext>
            </a:extLst>
          </p:cNvPr>
          <p:cNvSpPr>
            <a:spLocks xmlns:a="http://schemas.openxmlformats.org/drawingml/2006/main" noGrp="1"/>
          </p:cNvSpPr>
          <p:nvPr/>
        </p:nvSpPr>
        <p:spPr>
          <a:xfrm xmlns:a="http://schemas.openxmlformats.org/drawingml/2006/main">
            <a:off x="838200" y="2705100"/>
            <a:ext cx="3857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Послаблення</a:t>
            </a:r>
          </a:p>
        </p:txBody>
      </p:sp>
      <p:sp>
        <p:nvSpPr>
          <p:cNvPr id="11" name="">
            <a:extLst xmlns:a="http://schemas.openxmlformats.org/drawingml/2006/main">
              <a:ext uri="{FF2B5EF4-FFF2-40B4-BE49-F238E27FC236}">
                <a16:creationId xmlns:a16="http://schemas.microsoft.com/office/drawing/2014/main" id="{4E84FEDA-1D7C-46C2-9744-697AE59D138A}"/>
              </a:ext>
            </a:extLst>
          </p:cNvPr>
          <p:cNvSpPr>
            <a:spLocks xmlns:a="http://schemas.openxmlformats.org/drawingml/2006/main" noGrp="1"/>
          </p:cNvSpPr>
          <p:nvPr/>
        </p:nvSpPr>
        <p:spPr>
          <a:xfrm xmlns:a="http://schemas.openxmlformats.org/drawingml/2006/main">
            <a:off x="4791075" y="2628900"/>
            <a:ext cx="3324225" cy="8191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9FB314F9-4ABF-48D9-A5FB-E81EDAAAB24D}"/>
              </a:ext>
            </a:extLst>
          </p:cNvPr>
          <p:cNvSpPr>
            <a:spLocks xmlns:a="http://schemas.openxmlformats.org/drawingml/2006/main" noGrp="1"/>
          </p:cNvSpPr>
          <p:nvPr/>
        </p:nvSpPr>
        <p:spPr>
          <a:xfrm xmlns:a="http://schemas.openxmlformats.org/drawingml/2006/main">
            <a:off x="4886325" y="2705100"/>
            <a:ext cx="3133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yA=0,75</a:t>
            </a:r>
          </a:p>
        </p:txBody>
      </p:sp>
      <p:sp>
        <p:nvSpPr>
          <p:cNvPr id="13" name="">
            <a:extLst xmlns:a="http://schemas.openxmlformats.org/drawingml/2006/main">
              <a:ext uri="{FF2B5EF4-FFF2-40B4-BE49-F238E27FC236}">
                <a16:creationId xmlns:a16="http://schemas.microsoft.com/office/drawing/2014/main" id="{4541F61C-145C-49B8-AA89-7D329374F88A}"/>
              </a:ext>
            </a:extLst>
          </p:cNvPr>
          <p:cNvSpPr>
            <a:spLocks xmlns:a="http://schemas.openxmlformats.org/drawingml/2006/main" noGrp="1"/>
          </p:cNvSpPr>
          <p:nvPr/>
        </p:nvSpPr>
        <p:spPr>
          <a:xfrm xmlns:a="http://schemas.openxmlformats.org/drawingml/2006/main">
            <a:off x="8115300" y="2628900"/>
            <a:ext cx="3333750" cy="8191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C09B0F7B-8245-4E1F-917F-FB3FC35A61E1}"/>
              </a:ext>
            </a:extLst>
          </p:cNvPr>
          <p:cNvSpPr>
            <a:spLocks xmlns:a="http://schemas.openxmlformats.org/drawingml/2006/main" noGrp="1"/>
          </p:cNvSpPr>
          <p:nvPr/>
        </p:nvSpPr>
        <p:spPr>
          <a:xfrm xmlns:a="http://schemas.openxmlformats.org/drawingml/2006/main">
            <a:off x="8210550" y="270510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L=255</a:t>
            </a:r>
          </a:p>
        </p:txBody>
      </p:sp>
      <p:sp>
        <p:nvSpPr>
          <p:cNvPr id="15" name="">
            <a:extLst xmlns:a="http://schemas.openxmlformats.org/drawingml/2006/main">
              <a:ext uri="{FF2B5EF4-FFF2-40B4-BE49-F238E27FC236}">
                <a16:creationId xmlns:a16="http://schemas.microsoft.com/office/drawing/2014/main" id="{BC8C1137-0882-48B1-84B9-852FB71E1020}"/>
              </a:ext>
            </a:extLst>
          </p:cNvPr>
          <p:cNvSpPr>
            <a:spLocks xmlns:a="http://schemas.openxmlformats.org/drawingml/2006/main" noGrp="1"/>
          </p:cNvSpPr>
          <p:nvPr/>
        </p:nvSpPr>
        <p:spPr>
          <a:xfrm xmlns:a="http://schemas.openxmlformats.org/drawingml/2006/main">
            <a:off x="742950" y="3448050"/>
            <a:ext cx="4048125" cy="8191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2E070C48-9322-411B-8D45-2D62C9B895F2}"/>
              </a:ext>
            </a:extLst>
          </p:cNvPr>
          <p:cNvSpPr>
            <a:spLocks xmlns:a="http://schemas.openxmlformats.org/drawingml/2006/main" noGrp="1"/>
          </p:cNvSpPr>
          <p:nvPr/>
        </p:nvSpPr>
        <p:spPr>
          <a:xfrm xmlns:a="http://schemas.openxmlformats.org/drawingml/2006/main">
            <a:off x="838200" y="3524250"/>
            <a:ext cx="3857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Гілка yA=0</a:t>
            </a:r>
          </a:p>
        </p:txBody>
      </p:sp>
      <p:sp>
        <p:nvSpPr>
          <p:cNvPr id="17" name="">
            <a:extLst xmlns:a="http://schemas.openxmlformats.org/drawingml/2006/main">
              <a:ext uri="{FF2B5EF4-FFF2-40B4-BE49-F238E27FC236}">
                <a16:creationId xmlns:a16="http://schemas.microsoft.com/office/drawing/2014/main" id="{33208A38-48B9-461B-9315-0A4DDE78DC01}"/>
              </a:ext>
            </a:extLst>
          </p:cNvPr>
          <p:cNvSpPr>
            <a:spLocks xmlns:a="http://schemas.openxmlformats.org/drawingml/2006/main" noGrp="1"/>
          </p:cNvSpPr>
          <p:nvPr/>
        </p:nvSpPr>
        <p:spPr>
          <a:xfrm xmlns:a="http://schemas.openxmlformats.org/drawingml/2006/main">
            <a:off x="4791075" y="3448050"/>
            <a:ext cx="3324225" cy="8191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C6E72C78-37E9-44BD-864E-131AC86F0166}"/>
              </a:ext>
            </a:extLst>
          </p:cNvPr>
          <p:cNvSpPr>
            <a:spLocks xmlns:a="http://schemas.openxmlformats.org/drawingml/2006/main" noGrp="1"/>
          </p:cNvSpPr>
          <p:nvPr/>
        </p:nvSpPr>
        <p:spPr>
          <a:xfrm xmlns:a="http://schemas.openxmlformats.org/drawingml/2006/main">
            <a:off x="4886325" y="3524250"/>
            <a:ext cx="3133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(0,30,30)</a:t>
            </a:r>
          </a:p>
        </p:txBody>
      </p:sp>
      <p:sp>
        <p:nvSpPr>
          <p:cNvPr id="19" name="">
            <a:extLst xmlns:a="http://schemas.openxmlformats.org/drawingml/2006/main">
              <a:ext uri="{FF2B5EF4-FFF2-40B4-BE49-F238E27FC236}">
                <a16:creationId xmlns:a16="http://schemas.microsoft.com/office/drawing/2014/main" id="{EFA92E1A-5D03-403B-9679-827A443739C3}"/>
              </a:ext>
            </a:extLst>
          </p:cNvPr>
          <p:cNvSpPr>
            <a:spLocks xmlns:a="http://schemas.openxmlformats.org/drawingml/2006/main" noGrp="1"/>
          </p:cNvSpPr>
          <p:nvPr/>
        </p:nvSpPr>
        <p:spPr>
          <a:xfrm xmlns:a="http://schemas.openxmlformats.org/drawingml/2006/main">
            <a:off x="8115300" y="3448050"/>
            <a:ext cx="3333750" cy="819150"/>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A6A99E9F-4DA1-453E-A39B-304FD0C28FDC}"/>
              </a:ext>
            </a:extLst>
          </p:cNvPr>
          <p:cNvSpPr>
            <a:spLocks xmlns:a="http://schemas.openxmlformats.org/drawingml/2006/main" noGrp="1"/>
          </p:cNvSpPr>
          <p:nvPr/>
        </p:nvSpPr>
        <p:spPr>
          <a:xfrm xmlns:a="http://schemas.openxmlformats.org/drawingml/2006/main">
            <a:off x="8210550" y="352425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270</a:t>
            </a:r>
          </a:p>
        </p:txBody>
      </p:sp>
      <p:sp>
        <p:nvSpPr>
          <p:cNvPr id="21" name="">
            <a:extLst xmlns:a="http://schemas.openxmlformats.org/drawingml/2006/main">
              <a:ext uri="{FF2B5EF4-FFF2-40B4-BE49-F238E27FC236}">
                <a16:creationId xmlns:a16="http://schemas.microsoft.com/office/drawing/2014/main" id="{56139A52-211B-43A1-B20F-8A1990CBD296}"/>
              </a:ext>
            </a:extLst>
          </p:cNvPr>
          <p:cNvSpPr>
            <a:spLocks xmlns:a="http://schemas.openxmlformats.org/drawingml/2006/main" noGrp="1"/>
          </p:cNvSpPr>
          <p:nvPr/>
        </p:nvSpPr>
        <p:spPr>
          <a:xfrm xmlns:a="http://schemas.openxmlformats.org/drawingml/2006/main">
            <a:off x="742950" y="4267200"/>
            <a:ext cx="4048125" cy="8191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0DCECBDE-6C77-4E56-BCAC-220FCD908883}"/>
              </a:ext>
            </a:extLst>
          </p:cNvPr>
          <p:cNvSpPr>
            <a:spLocks xmlns:a="http://schemas.openxmlformats.org/drawingml/2006/main" noGrp="1"/>
          </p:cNvSpPr>
          <p:nvPr/>
        </p:nvSpPr>
        <p:spPr>
          <a:xfrm xmlns:a="http://schemas.openxmlformats.org/drawingml/2006/main">
            <a:off x="838200" y="4343400"/>
            <a:ext cx="3857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Гілка yA=1</a:t>
            </a:r>
          </a:p>
        </p:txBody>
      </p:sp>
      <p:sp>
        <p:nvSpPr>
          <p:cNvPr id="23" name="">
            <a:extLst xmlns:a="http://schemas.openxmlformats.org/drawingml/2006/main">
              <a:ext uri="{FF2B5EF4-FFF2-40B4-BE49-F238E27FC236}">
                <a16:creationId xmlns:a16="http://schemas.microsoft.com/office/drawing/2014/main" id="{05B13175-05BE-4784-A13D-1AEBB1640E9B}"/>
              </a:ext>
            </a:extLst>
          </p:cNvPr>
          <p:cNvSpPr>
            <a:spLocks xmlns:a="http://schemas.openxmlformats.org/drawingml/2006/main" noGrp="1"/>
          </p:cNvSpPr>
          <p:nvPr/>
        </p:nvSpPr>
        <p:spPr>
          <a:xfrm xmlns:a="http://schemas.openxmlformats.org/drawingml/2006/main">
            <a:off x="4791075" y="4267200"/>
            <a:ext cx="3324225" cy="8191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6B8E01EA-B04F-45BB-A0A5-20D3E2AE1F2F}"/>
              </a:ext>
            </a:extLst>
          </p:cNvPr>
          <p:cNvSpPr>
            <a:spLocks xmlns:a="http://schemas.openxmlformats.org/drawingml/2006/main" noGrp="1"/>
          </p:cNvSpPr>
          <p:nvPr/>
        </p:nvSpPr>
        <p:spPr>
          <a:xfrm xmlns:a="http://schemas.openxmlformats.org/drawingml/2006/main">
            <a:off x="4886325" y="4343400"/>
            <a:ext cx="31337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(40,0,20)</a:t>
            </a:r>
          </a:p>
        </p:txBody>
      </p:sp>
      <p:sp>
        <p:nvSpPr>
          <p:cNvPr id="25" name="">
            <a:extLst xmlns:a="http://schemas.openxmlformats.org/drawingml/2006/main">
              <a:ext uri="{FF2B5EF4-FFF2-40B4-BE49-F238E27FC236}">
                <a16:creationId xmlns:a16="http://schemas.microsoft.com/office/drawing/2014/main" id="{B9DDA1D1-3562-422F-8820-CE9E6F188868}"/>
              </a:ext>
            </a:extLst>
          </p:cNvPr>
          <p:cNvSpPr>
            <a:spLocks xmlns:a="http://schemas.openxmlformats.org/drawingml/2006/main" noGrp="1"/>
          </p:cNvSpPr>
          <p:nvPr/>
        </p:nvSpPr>
        <p:spPr>
          <a:xfrm xmlns:a="http://schemas.openxmlformats.org/drawingml/2006/main">
            <a:off x="8115300" y="4267200"/>
            <a:ext cx="3333750" cy="819150"/>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3834082F-3834-4AD3-AF23-729A3B7539FA}"/>
              </a:ext>
            </a:extLst>
          </p:cNvPr>
          <p:cNvSpPr>
            <a:spLocks xmlns:a="http://schemas.openxmlformats.org/drawingml/2006/main" noGrp="1"/>
          </p:cNvSpPr>
          <p:nvPr/>
        </p:nvSpPr>
        <p:spPr>
          <a:xfrm xmlns:a="http://schemas.openxmlformats.org/drawingml/2006/main">
            <a:off x="8210550" y="4343400"/>
            <a:ext cx="314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52C42"/>
                </a:solidFill>
                <a:latin typeface="DejaVu Sans"/>
                <a:ea typeface="DejaVu Sans"/>
                <a:cs typeface="DejaVu Sans"/>
              </a:defRPr>
            </a:pPr>
            <a:r>
              <a:rPr sz="1875" b="0">
                <a:solidFill>
                  <a:srgbClr val="152C42"/>
                </a:solidFill>
                <a:latin typeface="Arial"/>
                <a:ea typeface="Arial"/>
                <a:cs typeface="Arial"/>
              </a:rPr>
              <a:t>U=260</a:t>
            </a:r>
          </a:p>
        </p:txBody>
      </p:sp>
      <p:sp>
        <p:nvSpPr>
          <p:cNvPr id="27" name="">
            <a:extLst xmlns:a="http://schemas.openxmlformats.org/drawingml/2006/main">
              <a:ext uri="{FF2B5EF4-FFF2-40B4-BE49-F238E27FC236}">
                <a16:creationId xmlns:a16="http://schemas.microsoft.com/office/drawing/2014/main" id="{E30DE241-9876-4087-A2FB-C2F5267D74EB}"/>
              </a:ext>
            </a:extLst>
          </p:cNvPr>
          <p:cNvSpPr>
            <a:spLocks xmlns:a="http://schemas.openxmlformats.org/drawingml/2006/main" noGrp="1"/>
          </p:cNvSpPr>
          <p:nvPr/>
        </p:nvSpPr>
        <p:spPr>
          <a:xfrm xmlns:a="http://schemas.openxmlformats.org/drawingml/2006/main">
            <a:off x="866775" y="5381625"/>
            <a:ext cx="1038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86F9F"/>
                </a:solidFill>
                <a:latin typeface="DejaVu Sans"/>
                <a:ea typeface="DejaVu Sans"/>
                <a:cs typeface="DejaVu Sans"/>
              </a:defRPr>
            </a:pPr>
            <a:r>
              <a:rPr sz="2100" b="1">
                <a:solidFill>
                  <a:srgbClr val="086F9F"/>
                </a:solidFill>
                <a:latin typeface="Arial"/>
                <a:ea typeface="Arial"/>
                <a:cs typeface="Arial"/>
              </a:rPr>
              <a:t>Більше гілок немає; 260 &lt; 270.</a:t>
            </a:r>
          </a:p>
        </p:txBody>
      </p:sp>
      <p:sp>
        <p:nvSpPr>
          <p:cNvPr id="28" name="">
            <a:extLst xmlns:a="http://schemas.openxmlformats.org/drawingml/2006/main">
              <a:ext uri="{FF2B5EF4-FFF2-40B4-BE49-F238E27FC236}">
                <a16:creationId xmlns:a16="http://schemas.microsoft.com/office/drawing/2014/main" id="{D584CA81-E10F-4FC6-B96A-088E03C7F308}"/>
              </a:ext>
            </a:extLst>
          </p:cNvPr>
          <p:cNvSpPr>
            <a:spLocks xmlns:a="http://schemas.openxmlformats.org/drawingml/2006/main" noGrp="1"/>
          </p:cNvSpPr>
          <p:nvPr/>
        </p:nvSpPr>
        <p:spPr>
          <a:xfrm xmlns:a="http://schemas.openxmlformats.org/drawingml/2006/main">
            <a:off x="819150" y="594360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Оптимальне дискретне рішення: увімкнути A; вартість 260.</a:t>
            </a:r>
          </a:p>
        </p:txBody>
      </p:sp>
      <p:sp>
        <p:nvSpPr>
          <p:cNvPr id="30" name="">
            <a:extLst xmlns:a="http://schemas.openxmlformats.org/drawingml/2006/main">
              <a:ext uri="{FF2B5EF4-FFF2-40B4-BE49-F238E27FC236}">
                <a16:creationId xmlns:a16="http://schemas.microsoft.com/office/drawing/2014/main" id="{1175A155-5C35-4CBF-B96A-1DA67C7A2F19}"/>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108</a:t>
            </a:r>
          </a:p>
        </p:txBody>
      </p:sp>
    </p:spTree>
    <p:extLst>
      <p:ext uri="{BB962C8B-B14F-4D97-AF65-F5344CB8AC3E}">
        <p14:creationId xmlns:p14="http://schemas.microsoft.com/office/powerpoint/2010/main" val="735767092"/>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FE0A7C3-CA58-4D6C-91CE-328570615BB0}"/>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C42"/>
                </a:solidFill>
                <a:latin typeface="Arial"/>
                <a:ea typeface="Arial"/>
                <a:cs typeface="Arial"/>
              </a:defRPr>
            </a:pPr>
            <a:r>
              <a:rPr sz="3225" b="1">
                <a:solidFill>
                  <a:srgbClr val="152C42"/>
                </a:solidFill>
                <a:latin typeface="Arial"/>
                <a:ea typeface="Arial"/>
                <a:cs typeface="Arial"/>
              </a:rPr>
              <a:t>Дерево гілок і меж: повна картина</a:t>
            </a:r>
          </a:p>
        </p:txBody>
      </p:sp>
      <p:sp>
        <p:nvSpPr>
          <p:cNvPr id="2" name="">
            <a:extLst xmlns:a="http://schemas.openxmlformats.org/drawingml/2006/main">
              <a:ext uri="{FF2B5EF4-FFF2-40B4-BE49-F238E27FC236}">
                <a16:creationId xmlns:a16="http://schemas.microsoft.com/office/drawing/2014/main" id="{1E8B6404-CB49-421B-839B-CBEC1FE70B4A}"/>
              </a:ext>
            </a:extLst>
          </p:cNvPr>
          <p:cNvSpPr>
            <a:spLocks xmlns:a="http://schemas.openxmlformats.org/drawingml/2006/main" noGrp="1"/>
          </p:cNvSpPr>
          <p:nvPr/>
        </p:nvSpPr>
        <p:spPr>
          <a:xfrm xmlns:a="http://schemas.openxmlformats.org/drawingml/2006/main">
            <a:off x="4362450" y="1562100"/>
            <a:ext cx="3476625" cy="1238250"/>
          </a:xfrm>
          <a:prstGeom xmlns:a="http://schemas.openxmlformats.org/drawingml/2006/main" prst="rect">
            <a:avLst/>
          </a:prstGeom>
          <a:solidFill xmlns:a="http://schemas.openxmlformats.org/drawingml/2006/main">
            <a:srgbClr val="E2F2F0"/>
          </a:solidFill>
          <a:ln xmlns:a="http://schemas.openxmlformats.org/drawingml/2006/main" w="28575">
            <a:solidFill>
              <a:srgbClr val="08786F"/>
            </a:solidFill>
            <a:prstDash val="solid"/>
          </a:ln>
        </p:spPr>
      </p:sp>
      <p:sp>
        <p:nvSpPr>
          <p:cNvPr id="3" name="">
            <a:extLst xmlns:a="http://schemas.openxmlformats.org/drawingml/2006/main">
              <a:ext uri="{FF2B5EF4-FFF2-40B4-BE49-F238E27FC236}">
                <a16:creationId xmlns:a16="http://schemas.microsoft.com/office/drawing/2014/main" id="{4B2443BE-5FFA-4C18-8EC2-7CD031E3CEC5}"/>
              </a:ext>
            </a:extLst>
          </p:cNvPr>
          <p:cNvSpPr>
            <a:spLocks xmlns:a="http://schemas.openxmlformats.org/drawingml/2006/main" noGrp="1"/>
          </p:cNvSpPr>
          <p:nvPr/>
        </p:nvSpPr>
        <p:spPr>
          <a:xfrm xmlns:a="http://schemas.openxmlformats.org/drawingml/2006/main">
            <a:off x="4552950" y="1733550"/>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52C42"/>
                </a:solidFill>
                <a:latin typeface="Arial"/>
                <a:ea typeface="Arial"/>
                <a:cs typeface="Arial"/>
              </a:defRPr>
            </a:pPr>
            <a:r>
              <a:rPr sz="2025" b="1">
                <a:solidFill>
                  <a:srgbClr val="152C42"/>
                </a:solidFill>
                <a:latin typeface="Arial"/>
                <a:ea typeface="Arial"/>
                <a:cs typeface="Arial"/>
              </a:rPr>
              <a:t>LP-послаблення</a:t>
            </a:r>
          </a:p>
          <a:p xmlns:a="http://schemas.openxmlformats.org/drawingml/2006/main">
            <a:pPr>
              <a:buNone/>
              <a:defRPr sz="2025" b="1">
                <a:solidFill>
                  <a:srgbClr val="152C42"/>
                </a:solidFill>
                <a:latin typeface="Arial"/>
                <a:ea typeface="Arial"/>
                <a:cs typeface="Arial"/>
              </a:defRPr>
            </a:pPr>
            <a:r>
              <a:rPr sz="2025" b="1">
                <a:solidFill>
                  <a:srgbClr val="152C42"/>
                </a:solidFill>
                <a:latin typeface="Arial"/>
                <a:ea typeface="Arial"/>
                <a:cs typeface="Arial"/>
              </a:rPr>
              <a:t>yA = 0,75    L = 255</a:t>
            </a:r>
          </a:p>
        </p:txBody>
      </p:sp>
      <p:sp>
        <p:nvSpPr>
          <p:cNvPr id="4" name="">
            <a:extLst xmlns:a="http://schemas.openxmlformats.org/drawingml/2006/main">
              <a:ext uri="{FF2B5EF4-FFF2-40B4-BE49-F238E27FC236}">
                <a16:creationId xmlns:a16="http://schemas.microsoft.com/office/drawing/2014/main" id="{1564E238-917E-40BE-91DE-EB08792A36CF}"/>
              </a:ext>
            </a:extLst>
          </p:cNvPr>
          <p:cNvSpPr>
            <a:spLocks xmlns:a="http://schemas.openxmlformats.org/drawingml/2006/main" noGrp="1"/>
          </p:cNvSpPr>
          <p:nvPr/>
        </p:nvSpPr>
        <p:spPr>
          <a:xfrm xmlns:a="http://schemas.openxmlformats.org/drawingml/2006/main">
            <a:off x="1143000" y="4029075"/>
            <a:ext cx="4191000" cy="1428750"/>
          </a:xfrm>
          <a:prstGeom xmlns:a="http://schemas.openxmlformats.org/drawingml/2006/main" prst="rect">
            <a:avLst/>
          </a:prstGeom>
          <a:solidFill xmlns:a="http://schemas.openxmlformats.org/drawingml/2006/main">
            <a:srgbClr val="F1F6F8"/>
          </a:solidFill>
          <a:ln xmlns:a="http://schemas.openxmlformats.org/drawingml/2006/main" w="28575">
            <a:solidFill>
              <a:srgbClr val="4C7390"/>
            </a:solidFill>
            <a:prstDash val="solid"/>
          </a:ln>
        </p:spPr>
      </p:sp>
      <p:sp>
        <p:nvSpPr>
          <p:cNvPr id="5" name="">
            <a:extLst xmlns:a="http://schemas.openxmlformats.org/drawingml/2006/main">
              <a:ext uri="{FF2B5EF4-FFF2-40B4-BE49-F238E27FC236}">
                <a16:creationId xmlns:a16="http://schemas.microsoft.com/office/drawing/2014/main" id="{9A396CF9-F8DE-44B2-8B39-B25AC87CB627}"/>
              </a:ext>
            </a:extLst>
          </p:cNvPr>
          <p:cNvSpPr>
            <a:spLocks xmlns:a="http://schemas.openxmlformats.org/drawingml/2006/main" noGrp="1"/>
          </p:cNvSpPr>
          <p:nvPr/>
        </p:nvSpPr>
        <p:spPr>
          <a:xfrm xmlns:a="http://schemas.openxmlformats.org/drawingml/2006/main">
            <a:off x="1362075" y="4181475"/>
            <a:ext cx="3762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2C42"/>
                </a:solidFill>
                <a:latin typeface="Arial"/>
                <a:ea typeface="Arial"/>
                <a:cs typeface="Arial"/>
              </a:defRPr>
            </a:pPr>
            <a:r>
              <a:rPr sz="1875" b="1">
                <a:solidFill>
                  <a:srgbClr val="152C42"/>
                </a:solidFill>
                <a:latin typeface="Arial"/>
                <a:ea typeface="Arial"/>
                <a:cs typeface="Arial"/>
              </a:rPr>
              <a:t>yA = 0</a:t>
            </a:r>
          </a:p>
          <a:p xmlns:a="http://schemas.openxmlformats.org/drawingml/2006/main">
            <a:pPr>
              <a:buNone/>
              <a:defRPr sz="1875" b="1">
                <a:solidFill>
                  <a:srgbClr val="152C42"/>
                </a:solidFill>
                <a:latin typeface="Arial"/>
                <a:ea typeface="Arial"/>
                <a:cs typeface="Arial"/>
              </a:defRPr>
            </a:pPr>
            <a:r>
              <a:rPr sz="1875" b="1">
                <a:solidFill>
                  <a:srgbClr val="152C42"/>
                </a:solidFill>
                <a:latin typeface="Arial"/>
                <a:ea typeface="Arial"/>
                <a:cs typeface="Arial"/>
              </a:rPr>
              <a:t>x = (0, 30, 30)</a:t>
            </a:r>
          </a:p>
          <a:p xmlns:a="http://schemas.openxmlformats.org/drawingml/2006/main">
            <a:pPr>
              <a:buNone/>
              <a:defRPr sz="1875" b="1">
                <a:solidFill>
                  <a:srgbClr val="152C42"/>
                </a:solidFill>
                <a:latin typeface="Arial"/>
                <a:ea typeface="Arial"/>
                <a:cs typeface="Arial"/>
              </a:defRPr>
            </a:pPr>
            <a:r>
              <a:rPr sz="1875" b="1">
                <a:solidFill>
                  <a:srgbClr val="152C42"/>
                </a:solidFill>
                <a:latin typeface="Arial"/>
                <a:ea typeface="Arial"/>
                <a:cs typeface="Arial"/>
              </a:rPr>
              <a:t>C = 270</a:t>
            </a:r>
          </a:p>
        </p:txBody>
      </p:sp>
      <p:sp>
        <p:nvSpPr>
          <p:cNvPr id="6" name="">
            <a:extLst xmlns:a="http://schemas.openxmlformats.org/drawingml/2006/main">
              <a:ext uri="{FF2B5EF4-FFF2-40B4-BE49-F238E27FC236}">
                <a16:creationId xmlns:a16="http://schemas.microsoft.com/office/drawing/2014/main" id="{9158652A-7EF9-4162-A04B-AEEE6FEC166A}"/>
              </a:ext>
            </a:extLst>
          </p:cNvPr>
          <p:cNvSpPr>
            <a:spLocks xmlns:a="http://schemas.openxmlformats.org/drawingml/2006/main" noGrp="1"/>
          </p:cNvSpPr>
          <p:nvPr/>
        </p:nvSpPr>
        <p:spPr>
          <a:xfrm xmlns:a="http://schemas.openxmlformats.org/drawingml/2006/main">
            <a:off x="6867525" y="4029075"/>
            <a:ext cx="4191000" cy="1428750"/>
          </a:xfrm>
          <a:prstGeom xmlns:a="http://schemas.openxmlformats.org/drawingml/2006/main" prst="rect">
            <a:avLst/>
          </a:prstGeom>
          <a:solidFill xmlns:a="http://schemas.openxmlformats.org/drawingml/2006/main">
            <a:srgbClr val="DDF2EF"/>
          </a:solidFill>
          <a:ln xmlns:a="http://schemas.openxmlformats.org/drawingml/2006/main" w="28575">
            <a:solidFill>
              <a:srgbClr val="08786F"/>
            </a:solidFill>
            <a:prstDash val="solid"/>
          </a:ln>
        </p:spPr>
      </p:sp>
      <p:sp>
        <p:nvSpPr>
          <p:cNvPr id="7" name="">
            <a:extLst xmlns:a="http://schemas.openxmlformats.org/drawingml/2006/main">
              <a:ext uri="{FF2B5EF4-FFF2-40B4-BE49-F238E27FC236}">
                <a16:creationId xmlns:a16="http://schemas.microsoft.com/office/drawing/2014/main" id="{6608CC4E-AD81-466A-8700-F5150A713017}"/>
              </a:ext>
            </a:extLst>
          </p:cNvPr>
          <p:cNvSpPr>
            <a:spLocks xmlns:a="http://schemas.openxmlformats.org/drawingml/2006/main" noGrp="1"/>
          </p:cNvSpPr>
          <p:nvPr/>
        </p:nvSpPr>
        <p:spPr>
          <a:xfrm xmlns:a="http://schemas.openxmlformats.org/drawingml/2006/main">
            <a:off x="7096125" y="4181475"/>
            <a:ext cx="376237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52C42"/>
                </a:solidFill>
                <a:latin typeface="Arial"/>
                <a:ea typeface="Arial"/>
                <a:cs typeface="Arial"/>
              </a:defRPr>
            </a:pPr>
            <a:r>
              <a:rPr sz="1875" b="1">
                <a:solidFill>
                  <a:srgbClr val="152C42"/>
                </a:solidFill>
                <a:latin typeface="Arial"/>
                <a:ea typeface="Arial"/>
                <a:cs typeface="Arial"/>
              </a:rPr>
              <a:t>yA = 1</a:t>
            </a:r>
          </a:p>
          <a:p xmlns:a="http://schemas.openxmlformats.org/drawingml/2006/main">
            <a:pPr>
              <a:buNone/>
              <a:defRPr sz="1875" b="1">
                <a:solidFill>
                  <a:srgbClr val="152C42"/>
                </a:solidFill>
                <a:latin typeface="Arial"/>
                <a:ea typeface="Arial"/>
                <a:cs typeface="Arial"/>
              </a:defRPr>
            </a:pPr>
            <a:r>
              <a:rPr sz="1875" b="1">
                <a:solidFill>
                  <a:srgbClr val="152C42"/>
                </a:solidFill>
                <a:latin typeface="Arial"/>
                <a:ea typeface="Arial"/>
                <a:cs typeface="Arial"/>
              </a:rPr>
              <a:t>x = (40, 0, 20)</a:t>
            </a:r>
          </a:p>
          <a:p xmlns:a="http://schemas.openxmlformats.org/drawingml/2006/main">
            <a:pPr>
              <a:buNone/>
              <a:defRPr sz="1875" b="1">
                <a:solidFill>
                  <a:srgbClr val="152C42"/>
                </a:solidFill>
                <a:latin typeface="Arial"/>
                <a:ea typeface="Arial"/>
                <a:cs typeface="Arial"/>
              </a:defRPr>
            </a:pPr>
            <a:r>
              <a:rPr sz="1875" b="1">
                <a:solidFill>
                  <a:srgbClr val="152C42"/>
                </a:solidFill>
                <a:latin typeface="Arial"/>
                <a:ea typeface="Arial"/>
                <a:cs typeface="Arial"/>
              </a:rPr>
              <a:t>C = 260</a:t>
            </a:r>
          </a:p>
        </p:txBody>
      </p:sp>
      <p:sp>
        <p:nvSpPr>
          <p:cNvPr id="8" name="">
            <a:extLst xmlns:a="http://schemas.openxmlformats.org/drawingml/2006/main">
              <a:ext uri="{FF2B5EF4-FFF2-40B4-BE49-F238E27FC236}">
                <a16:creationId xmlns:a16="http://schemas.microsoft.com/office/drawing/2014/main" id="{701B6252-C9C0-47BE-997D-54B7DA2C5A8A}"/>
              </a:ext>
            </a:extLst>
          </p:cNvPr>
          <p:cNvSpPr>
            <a:spLocks xmlns:a="http://schemas.openxmlformats.org/drawingml/2006/main" noGrp="1"/>
          </p:cNvSpPr>
          <p:nvPr/>
        </p:nvSpPr>
        <p:spPr>
          <a:xfrm xmlns:a="http://schemas.openxmlformats.org/drawingml/2006/main">
            <a:off x="3238500" y="2800350"/>
            <a:ext cx="2000250" cy="1228725"/>
          </a:xfrm>
          <a:custGeom xmlns:a="http://schemas.openxmlformats.org/drawingml/2006/main">
            <a:pathLst>
              <a:path w="2000250" h="1228725">
                <a:moveTo>
                  <a:pt x="2000250" y="0"/>
                </a:moveTo>
                <a:lnTo>
                  <a:pt x="0" y="1228725"/>
                </a:lnTo>
              </a:path>
            </a:pathLst>
          </a:custGeom>
          <a:noFill xmlns:a="http://schemas.openxmlformats.org/drawingml/2006/main"/>
          <a:ln xmlns:a="http://schemas.openxmlformats.org/drawingml/2006/main" w="28575">
            <a:solidFill>
              <a:srgbClr val="4C7390"/>
            </a:solidFill>
            <a:prstDash val="solid"/>
          </a:ln>
        </p:spPr>
      </p:sp>
      <p:sp>
        <p:nvSpPr>
          <p:cNvPr id="9" name="">
            <a:extLst xmlns:a="http://schemas.openxmlformats.org/drawingml/2006/main">
              <a:ext uri="{FF2B5EF4-FFF2-40B4-BE49-F238E27FC236}">
                <a16:creationId xmlns:a16="http://schemas.microsoft.com/office/drawing/2014/main" id="{C74CEB57-ADFB-401D-AE71-D773EB3A9938}"/>
              </a:ext>
            </a:extLst>
          </p:cNvPr>
          <p:cNvSpPr>
            <a:spLocks xmlns:a="http://schemas.openxmlformats.org/drawingml/2006/main" noGrp="1"/>
          </p:cNvSpPr>
          <p:nvPr/>
        </p:nvSpPr>
        <p:spPr>
          <a:xfrm xmlns:a="http://schemas.openxmlformats.org/drawingml/2006/main">
            <a:off x="6953250" y="2800350"/>
            <a:ext cx="2009775" cy="1228725"/>
          </a:xfrm>
          <a:custGeom xmlns:a="http://schemas.openxmlformats.org/drawingml/2006/main">
            <a:pathLst>
              <a:path w="2009775" h="1228725">
                <a:moveTo>
                  <a:pt x="0" y="0"/>
                </a:moveTo>
                <a:lnTo>
                  <a:pt x="2009775" y="1228725"/>
                </a:lnTo>
              </a:path>
            </a:pathLst>
          </a:custGeom>
          <a:noFill xmlns:a="http://schemas.openxmlformats.org/drawingml/2006/main"/>
          <a:ln xmlns:a="http://schemas.openxmlformats.org/drawingml/2006/main" w="28575">
            <a:solidFill>
              <a:srgbClr val="08786F"/>
            </a:solidFill>
            <a:prstDash val="solid"/>
          </a:ln>
        </p:spPr>
      </p:sp>
      <p:sp>
        <p:nvSpPr>
          <p:cNvPr id="10" name="">
            <a:extLst xmlns:a="http://schemas.openxmlformats.org/drawingml/2006/main">
              <a:ext uri="{FF2B5EF4-FFF2-40B4-BE49-F238E27FC236}">
                <a16:creationId xmlns:a16="http://schemas.microsoft.com/office/drawing/2014/main" id="{3C793763-B4CF-4A9C-A611-06D19F98D9E6}"/>
              </a:ext>
            </a:extLst>
          </p:cNvPr>
          <p:cNvSpPr>
            <a:spLocks xmlns:a="http://schemas.openxmlformats.org/drawingml/2006/main" noGrp="1"/>
          </p:cNvSpPr>
          <p:nvPr/>
        </p:nvSpPr>
        <p:spPr>
          <a:xfrm xmlns:a="http://schemas.openxmlformats.org/drawingml/2006/main">
            <a:off x="2781300" y="31432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4C7390"/>
                </a:solidFill>
                <a:latin typeface="Arial"/>
                <a:ea typeface="Arial"/>
                <a:cs typeface="Arial"/>
              </a:defRPr>
            </a:pPr>
            <a:r>
              <a:rPr sz="1650" b="1">
                <a:solidFill>
                  <a:srgbClr val="4C7390"/>
                </a:solidFill>
                <a:latin typeface="Arial"/>
                <a:ea typeface="Arial"/>
                <a:cs typeface="Arial"/>
              </a:rPr>
              <a:t>Гілка 0</a:t>
            </a:r>
          </a:p>
        </p:txBody>
      </p:sp>
      <p:sp>
        <p:nvSpPr>
          <p:cNvPr id="11" name="">
            <a:extLst xmlns:a="http://schemas.openxmlformats.org/drawingml/2006/main">
              <a:ext uri="{FF2B5EF4-FFF2-40B4-BE49-F238E27FC236}">
                <a16:creationId xmlns:a16="http://schemas.microsoft.com/office/drawing/2014/main" id="{66942405-F622-49C5-8ACE-D012477206FF}"/>
              </a:ext>
            </a:extLst>
          </p:cNvPr>
          <p:cNvSpPr>
            <a:spLocks xmlns:a="http://schemas.openxmlformats.org/drawingml/2006/main" noGrp="1"/>
          </p:cNvSpPr>
          <p:nvPr/>
        </p:nvSpPr>
        <p:spPr>
          <a:xfrm xmlns:a="http://schemas.openxmlformats.org/drawingml/2006/main">
            <a:off x="8105775" y="31432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8786F"/>
                </a:solidFill>
                <a:latin typeface="Arial"/>
                <a:ea typeface="Arial"/>
                <a:cs typeface="Arial"/>
              </a:defRPr>
            </a:pPr>
            <a:r>
              <a:rPr sz="1650" b="1">
                <a:solidFill>
                  <a:srgbClr val="08786F"/>
                </a:solidFill>
                <a:latin typeface="Arial"/>
                <a:ea typeface="Arial"/>
                <a:cs typeface="Arial"/>
              </a:rPr>
              <a:t>Гілка 1</a:t>
            </a:r>
          </a:p>
        </p:txBody>
      </p:sp>
      <p:sp>
        <p:nvSpPr>
          <p:cNvPr id="12" name="">
            <a:extLst xmlns:a="http://schemas.openxmlformats.org/drawingml/2006/main">
              <a:ext uri="{FF2B5EF4-FFF2-40B4-BE49-F238E27FC236}">
                <a16:creationId xmlns:a16="http://schemas.microsoft.com/office/drawing/2014/main" id="{9E628EB1-A434-49A5-A834-FECED2E231BF}"/>
              </a:ext>
            </a:extLst>
          </p:cNvPr>
          <p:cNvSpPr>
            <a:spLocks xmlns:a="http://schemas.openxmlformats.org/drawingml/2006/main" noGrp="1"/>
          </p:cNvSpPr>
          <p:nvPr/>
        </p:nvSpPr>
        <p:spPr>
          <a:xfrm xmlns:a="http://schemas.openxmlformats.org/drawingml/2006/main">
            <a:off x="1000125" y="5943600"/>
            <a:ext cx="10239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8786F"/>
                </a:solidFill>
                <a:latin typeface="Arial"/>
                <a:ea typeface="Arial"/>
                <a:cs typeface="Arial"/>
              </a:defRPr>
            </a:pPr>
            <a:r>
              <a:rPr sz="2025" b="1">
                <a:solidFill>
                  <a:srgbClr val="08786F"/>
                </a:solidFill>
                <a:latin typeface="Arial"/>
                <a:ea typeface="Arial"/>
                <a:cs typeface="Arial"/>
              </a:rPr>
              <a:t>Обидві гілки перевірено. Мінімальна вартість — 260.</a:t>
            </a:r>
          </a:p>
        </p:txBody>
      </p:sp>
      <p:sp>
        <p:nvSpPr>
          <p:cNvPr id="15" name="">
            <a:extLst xmlns:a="http://schemas.openxmlformats.org/drawingml/2006/main">
              <a:ext uri="{FF2B5EF4-FFF2-40B4-BE49-F238E27FC236}">
                <a16:creationId xmlns:a16="http://schemas.microsoft.com/office/drawing/2014/main" id="{793F24C1-5391-40E9-92B4-456B74E8163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109</a:t>
            </a:r>
          </a:p>
        </p:txBody>
      </p:sp>
    </p:spTree>
    <p:extLst>
      <p:ext uri="{BB962C8B-B14F-4D97-AF65-F5344CB8AC3E}">
        <p14:creationId xmlns:p14="http://schemas.microsoft.com/office/powerpoint/2010/main" val="920431383"/>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DF610A08-EB97-4EC4-A89E-BC98521B5647}"/>
              </a:ext>
            </a:extLst>
          </p:cNvPr>
          <p:cNvCxnSpPr>
            <a:stCxn xmlns:a="http://schemas.openxmlformats.org/drawingml/2006/main" id="12" idx="2"/>
            <a:endCxn xmlns:a="http://schemas.openxmlformats.org/drawingml/2006/main" id="16" idx="0"/>
          </p:cNvCxnSpPr>
          <p:nvPr/>
        </p:nvCxnSpPr>
        <p:spPr>
          <a:xfrm xmlns:a="http://schemas.openxmlformats.org/drawingml/2006/main">
            <a:off x="7953375" y="4619625"/>
            <a:ext cx="2333625" cy="43815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2" name="">
            <a:extLst xmlns:a="http://schemas.openxmlformats.org/drawingml/2006/main">
              <a:ext uri="{FF2B5EF4-FFF2-40B4-BE49-F238E27FC236}">
                <a16:creationId xmlns:a16="http://schemas.microsoft.com/office/drawing/2014/main" id="{06CC63F7-330B-4C2A-B761-76CC7D8B0DE6}"/>
              </a:ext>
            </a:extLst>
          </p:cNvPr>
          <p:cNvCxnSpPr>
            <a:stCxn xmlns:a="http://schemas.openxmlformats.org/drawingml/2006/main" id="12" idx="2"/>
            <a:endCxn xmlns:a="http://schemas.openxmlformats.org/drawingml/2006/main" id="14" idx="0"/>
          </p:cNvCxnSpPr>
          <p:nvPr/>
        </p:nvCxnSpPr>
        <p:spPr>
          <a:xfrm xmlns:a="http://schemas.openxmlformats.org/drawingml/2006/main" flipH="1">
            <a:off x="6381750" y="4619625"/>
            <a:ext cx="1571625" cy="43815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3" name="">
            <a:extLst xmlns:a="http://schemas.openxmlformats.org/drawingml/2006/main">
              <a:ext uri="{FF2B5EF4-FFF2-40B4-BE49-F238E27FC236}">
                <a16:creationId xmlns:a16="http://schemas.microsoft.com/office/drawing/2014/main" id="{DA2B44F1-949A-4496-949E-4E106CCAB381}"/>
              </a:ext>
            </a:extLst>
          </p:cNvPr>
          <p:cNvCxnSpPr>
            <a:stCxn xmlns:a="http://schemas.openxmlformats.org/drawingml/2006/main" id="6" idx="2"/>
            <a:endCxn xmlns:a="http://schemas.openxmlformats.org/drawingml/2006/main" id="12" idx="0"/>
          </p:cNvCxnSpPr>
          <p:nvPr/>
        </p:nvCxnSpPr>
        <p:spPr>
          <a:xfrm xmlns:a="http://schemas.openxmlformats.org/drawingml/2006/main">
            <a:off x="5476875" y="3371850"/>
            <a:ext cx="2476500" cy="4572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4" name="">
            <a:extLst xmlns:a="http://schemas.openxmlformats.org/drawingml/2006/main">
              <a:ext uri="{FF2B5EF4-FFF2-40B4-BE49-F238E27FC236}">
                <a16:creationId xmlns:a16="http://schemas.microsoft.com/office/drawing/2014/main" id="{1D3E7EF1-172C-4BFD-8630-C36DFD6606AE}"/>
              </a:ext>
            </a:extLst>
          </p:cNvPr>
          <p:cNvCxnSpPr>
            <a:stCxn xmlns:a="http://schemas.openxmlformats.org/drawingml/2006/main" id="6" idx="2"/>
            <a:endCxn xmlns:a="http://schemas.openxmlformats.org/drawingml/2006/main" id="10" idx="0"/>
          </p:cNvCxnSpPr>
          <p:nvPr/>
        </p:nvCxnSpPr>
        <p:spPr>
          <a:xfrm xmlns:a="http://schemas.openxmlformats.org/drawingml/2006/main" flipH="1">
            <a:off x="4262438" y="3371850"/>
            <a:ext cx="1214438" cy="4572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5" name="">
            <a:extLst xmlns:a="http://schemas.openxmlformats.org/drawingml/2006/main">
              <a:ext uri="{FF2B5EF4-FFF2-40B4-BE49-F238E27FC236}">
                <a16:creationId xmlns:a16="http://schemas.microsoft.com/office/drawing/2014/main" id="{6237B97D-5E70-499A-9B65-51D3C1031A67}"/>
              </a:ext>
            </a:extLst>
          </p:cNvPr>
          <p:cNvCxnSpPr>
            <a:stCxn xmlns:a="http://schemas.openxmlformats.org/drawingml/2006/main" id="4" idx="2"/>
            <a:endCxn xmlns:a="http://schemas.openxmlformats.org/drawingml/2006/main" id="8" idx="0"/>
          </p:cNvCxnSpPr>
          <p:nvPr/>
        </p:nvCxnSpPr>
        <p:spPr>
          <a:xfrm xmlns:a="http://schemas.openxmlformats.org/drawingml/2006/main">
            <a:off x="7334250" y="2171700"/>
            <a:ext cx="2952750" cy="409575"/>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36" name="">
            <a:extLst xmlns:a="http://schemas.openxmlformats.org/drawingml/2006/main">
              <a:ext uri="{FF2B5EF4-FFF2-40B4-BE49-F238E27FC236}">
                <a16:creationId xmlns:a16="http://schemas.microsoft.com/office/drawing/2014/main" id="{B9BF6E24-374B-429F-9417-CADB4F52F438}"/>
              </a:ext>
            </a:extLst>
          </p:cNvPr>
          <p:cNvCxnSpPr>
            <a:stCxn xmlns:a="http://schemas.openxmlformats.org/drawingml/2006/main" id="4" idx="2"/>
            <a:endCxn xmlns:a="http://schemas.openxmlformats.org/drawingml/2006/main" id="6" idx="0"/>
          </p:cNvCxnSpPr>
          <p:nvPr/>
        </p:nvCxnSpPr>
        <p:spPr>
          <a:xfrm xmlns:a="http://schemas.openxmlformats.org/drawingml/2006/main" flipH="1">
            <a:off x="5476875" y="2171700"/>
            <a:ext cx="1857375" cy="409575"/>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37" name="">
            <a:extLst xmlns:a="http://schemas.openxmlformats.org/drawingml/2006/main">
              <a:ext uri="{FF2B5EF4-FFF2-40B4-BE49-F238E27FC236}">
                <a16:creationId xmlns:a16="http://schemas.microsoft.com/office/drawing/2014/main" id="{B6442FFD-921E-46C2-8DCB-547782516232}"/>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MIT: модель і дерево максимізації</a:t>
            </a:r>
          </a:p>
        </p:txBody>
      </p:sp>
      <p:sp>
        <p:nvSpPr>
          <p:cNvPr id="2" name="">
            <a:extLst xmlns:a="http://schemas.openxmlformats.org/drawingml/2006/main">
              <a:ext uri="{FF2B5EF4-FFF2-40B4-BE49-F238E27FC236}">
                <a16:creationId xmlns:a16="http://schemas.microsoft.com/office/drawing/2014/main" id="{4A5D80BB-B21B-4580-B4D8-3F18DBBB167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LP дає верхню межу. Цілий план (0,5) дає відому нижню межу 40.</a:t>
            </a:r>
          </a:p>
        </p:txBody>
      </p:sp>
      <p:sp>
        <p:nvSpPr>
          <p:cNvPr id="3" name="">
            <a:extLst xmlns:a="http://schemas.openxmlformats.org/drawingml/2006/main">
              <a:ext uri="{FF2B5EF4-FFF2-40B4-BE49-F238E27FC236}">
                <a16:creationId xmlns:a16="http://schemas.microsoft.com/office/drawing/2014/main" id="{5592D132-48B5-440B-8E78-0C7056A7221F}"/>
              </a:ext>
            </a:extLst>
          </p:cNvPr>
          <p:cNvSpPr>
            <a:spLocks xmlns:a="http://schemas.openxmlformats.org/drawingml/2006/main" noGrp="1"/>
          </p:cNvSpPr>
          <p:nvPr/>
        </p:nvSpPr>
        <p:spPr>
          <a:xfrm xmlns:a="http://schemas.openxmlformats.org/drawingml/2006/main">
            <a:off x="762000" y="1457325"/>
            <a:ext cx="381000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max z=5x₁+8x₂</a:t>
            </a:r>
          </a:p>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x₁+x₂≤6</a:t>
            </a:r>
          </a:p>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5x₁+9x₂≤45</a:t>
            </a:r>
          </a:p>
          <a:p xmlns:a="http://schemas.openxmlformats.org/drawingml/2006/main">
            <a:pPr algn="l">
              <a:buNone/>
              <a:defRPr sz="2550" b="1">
                <a:solidFill>
                  <a:srgbClr val="173047"/>
                </a:solidFill>
                <a:latin typeface="Arial"/>
                <a:ea typeface="Arial"/>
                <a:cs typeface="Arial"/>
              </a:defRPr>
            </a:pPr>
            <a:r>
              <a:rPr sz="2550" b="1">
                <a:solidFill>
                  <a:srgbClr val="173047"/>
                </a:solidFill>
                <a:latin typeface="Arial"/>
                <a:ea typeface="Arial"/>
                <a:cs typeface="Arial"/>
              </a:rPr>
              <a:t>x₁,x₂≥0, цілі</a:t>
            </a:r>
          </a:p>
        </p:txBody>
      </p:sp>
      <p:sp>
        <p:nvSpPr>
          <p:cNvPr id="4" name="">
            <a:extLst xmlns:a="http://schemas.openxmlformats.org/drawingml/2006/main">
              <a:ext uri="{FF2B5EF4-FFF2-40B4-BE49-F238E27FC236}">
                <a16:creationId xmlns:a16="http://schemas.microsoft.com/office/drawing/2014/main" id="{AC46265B-DC4D-42DC-BBA0-9A3EAB294FD1}"/>
              </a:ext>
            </a:extLst>
          </p:cNvPr>
          <p:cNvSpPr>
            <a:spLocks xmlns:a="http://schemas.openxmlformats.org/drawingml/2006/main" noGrp="1"/>
          </p:cNvSpPr>
          <p:nvPr/>
        </p:nvSpPr>
        <p:spPr>
          <a:xfrm xmlns:a="http://schemas.openxmlformats.org/drawingml/2006/main">
            <a:off x="6191250" y="1381125"/>
            <a:ext cx="2286000" cy="790575"/>
          </a:xfrm>
          <a:prstGeom xmlns:a="http://schemas.openxmlformats.org/drawingml/2006/main" prst="roundRect">
            <a:avLst>
              <a:gd name="adj" fmla="val 9639"/>
            </a:avLst>
          </a:prstGeom>
          <a:solidFill xmlns:a="http://schemas.openxmlformats.org/drawingml/2006/main">
            <a:srgbClr val="EAF2FC"/>
          </a:solidFill>
          <a:ln xmlns:a="http://schemas.openxmlformats.org/drawingml/2006/main" w="14288">
            <a:solidFill>
              <a:srgbClr val="CDD8E1"/>
            </a:solidFill>
          </a:ln>
        </p:spPr>
      </p:sp>
      <p:sp>
        <p:nvSpPr>
          <p:cNvPr id="5" name="">
            <a:extLst xmlns:a="http://schemas.openxmlformats.org/drawingml/2006/main">
              <a:ext uri="{FF2B5EF4-FFF2-40B4-BE49-F238E27FC236}">
                <a16:creationId xmlns:a16="http://schemas.microsoft.com/office/drawing/2014/main" id="{796B5C3B-E954-4384-AF1D-62ECCA616A1A}"/>
              </a:ext>
            </a:extLst>
          </p:cNvPr>
          <p:cNvSpPr>
            <a:spLocks xmlns:a="http://schemas.openxmlformats.org/drawingml/2006/main" noGrp="1"/>
          </p:cNvSpPr>
          <p:nvPr/>
        </p:nvSpPr>
        <p:spPr>
          <a:xfrm xmlns:a="http://schemas.openxmlformats.org/drawingml/2006/main">
            <a:off x="6324600" y="1457325"/>
            <a:ext cx="2019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L0: z=41,25</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(2,25;3,75)</a:t>
            </a:r>
          </a:p>
        </p:txBody>
      </p:sp>
      <p:sp>
        <p:nvSpPr>
          <p:cNvPr id="6" name="">
            <a:extLst xmlns:a="http://schemas.openxmlformats.org/drawingml/2006/main">
              <a:ext uri="{FF2B5EF4-FFF2-40B4-BE49-F238E27FC236}">
                <a16:creationId xmlns:a16="http://schemas.microsoft.com/office/drawing/2014/main" id="{600B61F6-4AB0-4BAE-B289-82C383C4BFA6}"/>
              </a:ext>
            </a:extLst>
          </p:cNvPr>
          <p:cNvSpPr>
            <a:spLocks xmlns:a="http://schemas.openxmlformats.org/drawingml/2006/main" noGrp="1"/>
          </p:cNvSpPr>
          <p:nvPr/>
        </p:nvSpPr>
        <p:spPr>
          <a:xfrm xmlns:a="http://schemas.openxmlformats.org/drawingml/2006/main">
            <a:off x="4333875" y="2581275"/>
            <a:ext cx="2286000" cy="790575"/>
          </a:xfrm>
          <a:prstGeom xmlns:a="http://schemas.openxmlformats.org/drawingml/2006/main" prst="roundRect">
            <a:avLst>
              <a:gd name="adj" fmla="val 9639"/>
            </a:avLst>
          </a:prstGeom>
          <a:solidFill xmlns:a="http://schemas.openxmlformats.org/drawingml/2006/main">
            <a:srgbClr val="F1F5F8"/>
          </a:solidFill>
          <a:ln xmlns:a="http://schemas.openxmlformats.org/drawingml/2006/main" w="14288">
            <a:solidFill>
              <a:srgbClr val="CDD8E1"/>
            </a:solidFill>
          </a:ln>
        </p:spPr>
      </p:sp>
      <p:sp>
        <p:nvSpPr>
          <p:cNvPr id="7" name="">
            <a:extLst xmlns:a="http://schemas.openxmlformats.org/drawingml/2006/main">
              <a:ext uri="{FF2B5EF4-FFF2-40B4-BE49-F238E27FC236}">
                <a16:creationId xmlns:a16="http://schemas.microsoft.com/office/drawing/2014/main" id="{5AB016C3-71B1-4A00-A3E0-F7B3D01B560B}"/>
              </a:ext>
            </a:extLst>
          </p:cNvPr>
          <p:cNvSpPr>
            <a:spLocks xmlns:a="http://schemas.openxmlformats.org/drawingml/2006/main" noGrp="1"/>
          </p:cNvSpPr>
          <p:nvPr/>
        </p:nvSpPr>
        <p:spPr>
          <a:xfrm xmlns:a="http://schemas.openxmlformats.org/drawingml/2006/main">
            <a:off x="4467225" y="2657475"/>
            <a:ext cx="2019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L1: z=41</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(1,8;4)</a:t>
            </a:r>
          </a:p>
        </p:txBody>
      </p:sp>
      <p:sp>
        <p:nvSpPr>
          <p:cNvPr id="8" name="">
            <a:extLst xmlns:a="http://schemas.openxmlformats.org/drawingml/2006/main">
              <a:ext uri="{FF2B5EF4-FFF2-40B4-BE49-F238E27FC236}">
                <a16:creationId xmlns:a16="http://schemas.microsoft.com/office/drawing/2014/main" id="{BC99D865-ED72-43B6-A712-05B3AD87D576}"/>
              </a:ext>
            </a:extLst>
          </p:cNvPr>
          <p:cNvSpPr>
            <a:spLocks xmlns:a="http://schemas.openxmlformats.org/drawingml/2006/main" noGrp="1"/>
          </p:cNvSpPr>
          <p:nvPr/>
        </p:nvSpPr>
        <p:spPr>
          <a:xfrm xmlns:a="http://schemas.openxmlformats.org/drawingml/2006/main">
            <a:off x="9144000" y="2581275"/>
            <a:ext cx="2286000" cy="790575"/>
          </a:xfrm>
          <a:prstGeom xmlns:a="http://schemas.openxmlformats.org/drawingml/2006/main" prst="roundRect">
            <a:avLst>
              <a:gd name="adj" fmla="val 9639"/>
            </a:avLst>
          </a:prstGeom>
          <a:solidFill xmlns:a="http://schemas.openxmlformats.org/drawingml/2006/main">
            <a:srgbClr val="F1F5F8"/>
          </a:solidFill>
          <a:ln xmlns:a="http://schemas.openxmlformats.org/drawingml/2006/main" w="14288">
            <a:solidFill>
              <a:srgbClr val="CDD8E1"/>
            </a:solidFill>
          </a:ln>
        </p:spPr>
      </p:sp>
      <p:sp>
        <p:nvSpPr>
          <p:cNvPr id="9" name="">
            <a:extLst xmlns:a="http://schemas.openxmlformats.org/drawingml/2006/main">
              <a:ext uri="{FF2B5EF4-FFF2-40B4-BE49-F238E27FC236}">
                <a16:creationId xmlns:a16="http://schemas.microsoft.com/office/drawing/2014/main" id="{0C41C919-EE3B-46F6-AD8A-6082C859A8D2}"/>
              </a:ext>
            </a:extLst>
          </p:cNvPr>
          <p:cNvSpPr>
            <a:spLocks xmlns:a="http://schemas.openxmlformats.org/drawingml/2006/main" noGrp="1"/>
          </p:cNvSpPr>
          <p:nvPr/>
        </p:nvSpPr>
        <p:spPr>
          <a:xfrm xmlns:a="http://schemas.openxmlformats.org/drawingml/2006/main">
            <a:off x="9277350" y="2657475"/>
            <a:ext cx="2019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L2: z=39</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(3;3), цілий</a:t>
            </a:r>
          </a:p>
        </p:txBody>
      </p:sp>
      <p:sp>
        <p:nvSpPr>
          <p:cNvPr id="10" name="">
            <a:extLst xmlns:a="http://schemas.openxmlformats.org/drawingml/2006/main">
              <a:ext uri="{FF2B5EF4-FFF2-40B4-BE49-F238E27FC236}">
                <a16:creationId xmlns:a16="http://schemas.microsoft.com/office/drawing/2014/main" id="{9B7BB8A9-65E9-4955-9E0A-89D22F4553B8}"/>
              </a:ext>
            </a:extLst>
          </p:cNvPr>
          <p:cNvSpPr>
            <a:spLocks xmlns:a="http://schemas.openxmlformats.org/drawingml/2006/main" noGrp="1"/>
          </p:cNvSpPr>
          <p:nvPr/>
        </p:nvSpPr>
        <p:spPr>
          <a:xfrm xmlns:a="http://schemas.openxmlformats.org/drawingml/2006/main">
            <a:off x="3048000" y="3829050"/>
            <a:ext cx="2428875" cy="714375"/>
          </a:xfrm>
          <a:prstGeom xmlns:a="http://schemas.openxmlformats.org/drawingml/2006/main" prst="roundRect">
            <a:avLst>
              <a:gd name="adj" fmla="val 10667"/>
            </a:avLst>
          </a:prstGeom>
          <a:solidFill xmlns:a="http://schemas.openxmlformats.org/drawingml/2006/main">
            <a:srgbClr val="F9E3DE"/>
          </a:solidFill>
          <a:ln xmlns:a="http://schemas.openxmlformats.org/drawingml/2006/main" w="14288">
            <a:solidFill>
              <a:srgbClr val="CDD8E1"/>
            </a:solidFill>
          </a:ln>
        </p:spPr>
      </p:sp>
      <p:sp>
        <p:nvSpPr>
          <p:cNvPr id="11" name="">
            <a:extLst xmlns:a="http://schemas.openxmlformats.org/drawingml/2006/main">
              <a:ext uri="{FF2B5EF4-FFF2-40B4-BE49-F238E27FC236}">
                <a16:creationId xmlns:a16="http://schemas.microsoft.com/office/drawing/2014/main" id="{4C4248DB-ED62-4CB3-95DE-F6C93D7F4161}"/>
              </a:ext>
            </a:extLst>
          </p:cNvPr>
          <p:cNvSpPr>
            <a:spLocks xmlns:a="http://schemas.openxmlformats.org/drawingml/2006/main" noGrp="1"/>
          </p:cNvSpPr>
          <p:nvPr/>
        </p:nvSpPr>
        <p:spPr>
          <a:xfrm xmlns:a="http://schemas.openxmlformats.org/drawingml/2006/main">
            <a:off x="3181350" y="3905250"/>
            <a:ext cx="21621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L3: немає ОПР</a:t>
            </a:r>
          </a:p>
        </p:txBody>
      </p:sp>
      <p:sp>
        <p:nvSpPr>
          <p:cNvPr id="12" name="">
            <a:extLst xmlns:a="http://schemas.openxmlformats.org/drawingml/2006/main">
              <a:ext uri="{FF2B5EF4-FFF2-40B4-BE49-F238E27FC236}">
                <a16:creationId xmlns:a16="http://schemas.microsoft.com/office/drawing/2014/main" id="{DC8B0533-70FB-405C-B211-9142F541D1B0}"/>
              </a:ext>
            </a:extLst>
          </p:cNvPr>
          <p:cNvSpPr>
            <a:spLocks xmlns:a="http://schemas.openxmlformats.org/drawingml/2006/main" noGrp="1"/>
          </p:cNvSpPr>
          <p:nvPr/>
        </p:nvSpPr>
        <p:spPr>
          <a:xfrm xmlns:a="http://schemas.openxmlformats.org/drawingml/2006/main">
            <a:off x="6810375" y="3829050"/>
            <a:ext cx="2286000" cy="790575"/>
          </a:xfrm>
          <a:prstGeom xmlns:a="http://schemas.openxmlformats.org/drawingml/2006/main" prst="roundRect">
            <a:avLst>
              <a:gd name="adj" fmla="val 9639"/>
            </a:avLst>
          </a:prstGeom>
          <a:solidFill xmlns:a="http://schemas.openxmlformats.org/drawingml/2006/main">
            <a:srgbClr val="F1F5F8"/>
          </a:solidFill>
          <a:ln xmlns:a="http://schemas.openxmlformats.org/drawingml/2006/main" w="14288">
            <a:solidFill>
              <a:srgbClr val="CDD8E1"/>
            </a:solidFill>
          </a:ln>
        </p:spPr>
      </p:sp>
      <p:sp>
        <p:nvSpPr>
          <p:cNvPr id="13" name="">
            <a:extLst xmlns:a="http://schemas.openxmlformats.org/drawingml/2006/main">
              <a:ext uri="{FF2B5EF4-FFF2-40B4-BE49-F238E27FC236}">
                <a16:creationId xmlns:a16="http://schemas.microsoft.com/office/drawing/2014/main" id="{D330AFFE-3728-4CB5-8CE5-7D09EB0629B9}"/>
              </a:ext>
            </a:extLst>
          </p:cNvPr>
          <p:cNvSpPr>
            <a:spLocks xmlns:a="http://schemas.openxmlformats.org/drawingml/2006/main" noGrp="1"/>
          </p:cNvSpPr>
          <p:nvPr/>
        </p:nvSpPr>
        <p:spPr>
          <a:xfrm xmlns:a="http://schemas.openxmlformats.org/drawingml/2006/main">
            <a:off x="6943725" y="3905250"/>
            <a:ext cx="2019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L4: z=40 5/9</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(1;4 4/9)</a:t>
            </a:r>
          </a:p>
        </p:txBody>
      </p:sp>
      <p:sp>
        <p:nvSpPr>
          <p:cNvPr id="14" name="">
            <a:extLst xmlns:a="http://schemas.openxmlformats.org/drawingml/2006/main">
              <a:ext uri="{FF2B5EF4-FFF2-40B4-BE49-F238E27FC236}">
                <a16:creationId xmlns:a16="http://schemas.microsoft.com/office/drawing/2014/main" id="{F1777E4D-23D8-4CE8-BE9E-930721FEC402}"/>
              </a:ext>
            </a:extLst>
          </p:cNvPr>
          <p:cNvSpPr>
            <a:spLocks xmlns:a="http://schemas.openxmlformats.org/drawingml/2006/main" noGrp="1"/>
          </p:cNvSpPr>
          <p:nvPr/>
        </p:nvSpPr>
        <p:spPr>
          <a:xfrm xmlns:a="http://schemas.openxmlformats.org/drawingml/2006/main">
            <a:off x="5238750" y="5057775"/>
            <a:ext cx="2286000" cy="714375"/>
          </a:xfrm>
          <a:prstGeom xmlns:a="http://schemas.openxmlformats.org/drawingml/2006/main" prst="roundRect">
            <a:avLst>
              <a:gd name="adj" fmla="val 10667"/>
            </a:avLst>
          </a:prstGeom>
          <a:solidFill xmlns:a="http://schemas.openxmlformats.org/drawingml/2006/main">
            <a:srgbClr val="F1F5F8"/>
          </a:solidFill>
          <a:ln xmlns:a="http://schemas.openxmlformats.org/drawingml/2006/main" w="14288">
            <a:solidFill>
              <a:srgbClr val="CDD8E1"/>
            </a:solidFill>
          </a:ln>
        </p:spPr>
      </p:sp>
      <p:sp>
        <p:nvSpPr>
          <p:cNvPr id="15" name="">
            <a:extLst xmlns:a="http://schemas.openxmlformats.org/drawingml/2006/main">
              <a:ext uri="{FF2B5EF4-FFF2-40B4-BE49-F238E27FC236}">
                <a16:creationId xmlns:a16="http://schemas.microsoft.com/office/drawing/2014/main" id="{75535512-1FD3-4992-9A6E-DA55B6B8DCED}"/>
              </a:ext>
            </a:extLst>
          </p:cNvPr>
          <p:cNvSpPr>
            <a:spLocks xmlns:a="http://schemas.openxmlformats.org/drawingml/2006/main" noGrp="1"/>
          </p:cNvSpPr>
          <p:nvPr/>
        </p:nvSpPr>
        <p:spPr>
          <a:xfrm xmlns:a="http://schemas.openxmlformats.org/drawingml/2006/main">
            <a:off x="5372100" y="5133975"/>
            <a:ext cx="2019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L5: z=37</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(1;4), цілий</a:t>
            </a:r>
          </a:p>
        </p:txBody>
      </p:sp>
      <p:sp>
        <p:nvSpPr>
          <p:cNvPr id="16" name="">
            <a:extLst xmlns:a="http://schemas.openxmlformats.org/drawingml/2006/main">
              <a:ext uri="{FF2B5EF4-FFF2-40B4-BE49-F238E27FC236}">
                <a16:creationId xmlns:a16="http://schemas.microsoft.com/office/drawing/2014/main" id="{DABA3177-0A5C-4453-A62E-62AA5D676068}"/>
              </a:ext>
            </a:extLst>
          </p:cNvPr>
          <p:cNvSpPr>
            <a:spLocks xmlns:a="http://schemas.openxmlformats.org/drawingml/2006/main" noGrp="1"/>
          </p:cNvSpPr>
          <p:nvPr/>
        </p:nvSpPr>
        <p:spPr>
          <a:xfrm xmlns:a="http://schemas.openxmlformats.org/drawingml/2006/main">
            <a:off x="9144000" y="5057775"/>
            <a:ext cx="2286000" cy="714375"/>
          </a:xfrm>
          <a:prstGeom xmlns:a="http://schemas.openxmlformats.org/drawingml/2006/main" prst="roundRect">
            <a:avLst>
              <a:gd name="adj" fmla="val 10667"/>
            </a:avLst>
          </a:prstGeom>
          <a:solidFill xmlns:a="http://schemas.openxmlformats.org/drawingml/2006/main">
            <a:srgbClr val="D6F0E9"/>
          </a:solidFill>
          <a:ln xmlns:a="http://schemas.openxmlformats.org/drawingml/2006/main" w="14288">
            <a:solidFill>
              <a:srgbClr val="CDD8E1"/>
            </a:solidFill>
          </a:ln>
        </p:spPr>
      </p:sp>
      <p:sp>
        <p:nvSpPr>
          <p:cNvPr id="17" name="">
            <a:extLst xmlns:a="http://schemas.openxmlformats.org/drawingml/2006/main">
              <a:ext uri="{FF2B5EF4-FFF2-40B4-BE49-F238E27FC236}">
                <a16:creationId xmlns:a16="http://schemas.microsoft.com/office/drawing/2014/main" id="{6355CC1D-3A64-47A6-9074-49DC6089AD87}"/>
              </a:ext>
            </a:extLst>
          </p:cNvPr>
          <p:cNvSpPr>
            <a:spLocks xmlns:a="http://schemas.openxmlformats.org/drawingml/2006/main" noGrp="1"/>
          </p:cNvSpPr>
          <p:nvPr/>
        </p:nvSpPr>
        <p:spPr>
          <a:xfrm xmlns:a="http://schemas.openxmlformats.org/drawingml/2006/main">
            <a:off x="9277350" y="5133975"/>
            <a:ext cx="2019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L6: z=40</a:t>
            </a:r>
          </a:p>
          <a:p xmlns:a="http://schemas.openxmlformats.org/drawingml/2006/main">
            <a:pPr algn="ctr">
              <a:buNone/>
              <a:defRPr sz="1950" b="1">
                <a:solidFill>
                  <a:srgbClr val="173047"/>
                </a:solidFill>
                <a:latin typeface="Arial"/>
                <a:ea typeface="Arial"/>
                <a:cs typeface="Arial"/>
              </a:defRPr>
            </a:pPr>
            <a:r>
              <a:rPr sz="1950" b="1">
                <a:solidFill>
                  <a:srgbClr val="173047"/>
                </a:solidFill>
                <a:latin typeface="Arial"/>
                <a:ea typeface="Arial"/>
                <a:cs typeface="Arial"/>
              </a:rPr>
              <a:t>(0;5), оптимум</a:t>
            </a:r>
          </a:p>
        </p:txBody>
      </p:sp>
      <p:sp>
        <p:nvSpPr>
          <p:cNvPr id="24" name="">
            <a:extLst xmlns:a="http://schemas.openxmlformats.org/drawingml/2006/main">
              <a:ext uri="{FF2B5EF4-FFF2-40B4-BE49-F238E27FC236}">
                <a16:creationId xmlns:a16="http://schemas.microsoft.com/office/drawing/2014/main" id="{7EEB0A00-AB33-44A5-98B4-71B5044ACB12}"/>
              </a:ext>
            </a:extLst>
          </p:cNvPr>
          <p:cNvSpPr>
            <a:spLocks xmlns:a="http://schemas.openxmlformats.org/drawingml/2006/main" noGrp="1"/>
          </p:cNvSpPr>
          <p:nvPr/>
        </p:nvSpPr>
        <p:spPr>
          <a:xfrm xmlns:a="http://schemas.openxmlformats.org/drawingml/2006/main">
            <a:off x="4762500" y="22098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x₂≥4</a:t>
            </a:r>
          </a:p>
        </p:txBody>
      </p:sp>
      <p:sp>
        <p:nvSpPr>
          <p:cNvPr id="25" name="">
            <a:extLst xmlns:a="http://schemas.openxmlformats.org/drawingml/2006/main">
              <a:ext uri="{FF2B5EF4-FFF2-40B4-BE49-F238E27FC236}">
                <a16:creationId xmlns:a16="http://schemas.microsoft.com/office/drawing/2014/main" id="{FA1192CB-E893-459F-8C43-D2249C23B3CB}"/>
              </a:ext>
            </a:extLst>
          </p:cNvPr>
          <p:cNvSpPr>
            <a:spLocks xmlns:a="http://schemas.openxmlformats.org/drawingml/2006/main" noGrp="1"/>
          </p:cNvSpPr>
          <p:nvPr/>
        </p:nvSpPr>
        <p:spPr>
          <a:xfrm xmlns:a="http://schemas.openxmlformats.org/drawingml/2006/main">
            <a:off x="9667875" y="22098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x₂≤3</a:t>
            </a:r>
          </a:p>
        </p:txBody>
      </p:sp>
      <p:sp>
        <p:nvSpPr>
          <p:cNvPr id="26" name="">
            <a:extLst xmlns:a="http://schemas.openxmlformats.org/drawingml/2006/main">
              <a:ext uri="{FF2B5EF4-FFF2-40B4-BE49-F238E27FC236}">
                <a16:creationId xmlns:a16="http://schemas.microsoft.com/office/drawing/2014/main" id="{26D7E6FE-5015-4CDE-835A-DC01718277CD}"/>
              </a:ext>
            </a:extLst>
          </p:cNvPr>
          <p:cNvSpPr>
            <a:spLocks xmlns:a="http://schemas.openxmlformats.org/drawingml/2006/main" noGrp="1"/>
          </p:cNvSpPr>
          <p:nvPr/>
        </p:nvSpPr>
        <p:spPr>
          <a:xfrm xmlns:a="http://schemas.openxmlformats.org/drawingml/2006/main">
            <a:off x="3476625" y="34671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x₁≥2</a:t>
            </a:r>
          </a:p>
        </p:txBody>
      </p:sp>
      <p:sp>
        <p:nvSpPr>
          <p:cNvPr id="27" name="">
            <a:extLst xmlns:a="http://schemas.openxmlformats.org/drawingml/2006/main">
              <a:ext uri="{FF2B5EF4-FFF2-40B4-BE49-F238E27FC236}">
                <a16:creationId xmlns:a16="http://schemas.microsoft.com/office/drawing/2014/main" id="{FCCBFF05-92D4-476E-A645-A05F44B0218E}"/>
              </a:ext>
            </a:extLst>
          </p:cNvPr>
          <p:cNvSpPr>
            <a:spLocks xmlns:a="http://schemas.openxmlformats.org/drawingml/2006/main" noGrp="1"/>
          </p:cNvSpPr>
          <p:nvPr/>
        </p:nvSpPr>
        <p:spPr>
          <a:xfrm xmlns:a="http://schemas.openxmlformats.org/drawingml/2006/main">
            <a:off x="7286625" y="34671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x₁≤1</a:t>
            </a:r>
          </a:p>
        </p:txBody>
      </p:sp>
      <p:sp>
        <p:nvSpPr>
          <p:cNvPr id="28" name="">
            <a:extLst xmlns:a="http://schemas.openxmlformats.org/drawingml/2006/main">
              <a:ext uri="{FF2B5EF4-FFF2-40B4-BE49-F238E27FC236}">
                <a16:creationId xmlns:a16="http://schemas.microsoft.com/office/drawing/2014/main" id="{0845CE12-847A-4BAA-A597-B3F43DFB2527}"/>
              </a:ext>
            </a:extLst>
          </p:cNvPr>
          <p:cNvSpPr>
            <a:spLocks xmlns:a="http://schemas.openxmlformats.org/drawingml/2006/main" noGrp="1"/>
          </p:cNvSpPr>
          <p:nvPr/>
        </p:nvSpPr>
        <p:spPr>
          <a:xfrm xmlns:a="http://schemas.openxmlformats.org/drawingml/2006/main">
            <a:off x="5514975" y="46863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x₂≤4</a:t>
            </a:r>
          </a:p>
        </p:txBody>
      </p:sp>
      <p:sp>
        <p:nvSpPr>
          <p:cNvPr id="29" name="">
            <a:extLst xmlns:a="http://schemas.openxmlformats.org/drawingml/2006/main">
              <a:ext uri="{FF2B5EF4-FFF2-40B4-BE49-F238E27FC236}">
                <a16:creationId xmlns:a16="http://schemas.microsoft.com/office/drawing/2014/main" id="{D3C26B61-F0FF-4FC5-B5FC-54BAA7E01D78}"/>
              </a:ext>
            </a:extLst>
          </p:cNvPr>
          <p:cNvSpPr>
            <a:spLocks xmlns:a="http://schemas.openxmlformats.org/drawingml/2006/main" noGrp="1"/>
          </p:cNvSpPr>
          <p:nvPr/>
        </p:nvSpPr>
        <p:spPr>
          <a:xfrm xmlns:a="http://schemas.openxmlformats.org/drawingml/2006/main">
            <a:off x="9677400" y="46863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73047"/>
                </a:solidFill>
                <a:latin typeface="Arial"/>
                <a:ea typeface="Arial"/>
                <a:cs typeface="Arial"/>
              </a:defRPr>
            </a:pPr>
            <a:r>
              <a:rPr sz="1800" b="0">
                <a:solidFill>
                  <a:srgbClr val="173047"/>
                </a:solidFill>
                <a:latin typeface="Arial"/>
                <a:ea typeface="Arial"/>
                <a:cs typeface="Arial"/>
              </a:rPr>
              <a:t>x₂≥5</a:t>
            </a:r>
          </a:p>
        </p:txBody>
      </p:sp>
      <p:sp>
        <p:nvSpPr>
          <p:cNvPr id="30" name="">
            <a:extLst xmlns:a="http://schemas.openxmlformats.org/drawingml/2006/main">
              <a:ext uri="{FF2B5EF4-FFF2-40B4-BE49-F238E27FC236}">
                <a16:creationId xmlns:a16="http://schemas.microsoft.com/office/drawing/2014/main" id="{9BB1CA7A-AC9E-4B6C-8AD5-978A81C17D1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110</a:t>
            </a:r>
          </a:p>
        </p:txBody>
      </p:sp>
    </p:spTree>
    <p:extLst>
      <p:ext uri="{BB962C8B-B14F-4D97-AF65-F5344CB8AC3E}">
        <p14:creationId xmlns:p14="http://schemas.microsoft.com/office/powerpoint/2010/main" val="880895609"/>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6BC107A-1CEC-4E92-BF5E-FC6FA7FB0080}"/>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MIT: коли можна відсікти за межею</a:t>
            </a:r>
          </a:p>
        </p:txBody>
      </p:sp>
      <p:sp>
        <p:nvSpPr>
          <p:cNvPr id="2" name="">
            <a:extLst xmlns:a="http://schemas.openxmlformats.org/drawingml/2006/main">
              <a:ext uri="{FF2B5EF4-FFF2-40B4-BE49-F238E27FC236}">
                <a16:creationId xmlns:a16="http://schemas.microsoft.com/office/drawing/2014/main" id="{91688BAC-0A6C-432C-A824-6243BF93DDB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Верхня LP-межа≤40 не поліпшить уже знайдений цілий результат 40.</a:t>
            </a:r>
          </a:p>
        </p:txBody>
      </p:sp>
      <p:graphicFrame>
        <p:nvGraphicFramePr>
          <p:cNvPr id="7" name="">
            <a:extLst xmlns:a="http://schemas.openxmlformats.org/drawingml/2006/main">
              <a:ext uri="{FF2B5EF4-FFF2-40B4-BE49-F238E27FC236}">
                <a16:creationId xmlns:a16="http://schemas.microsoft.com/office/drawing/2014/main" id="{B4835FEF-2877-4B05-BE6C-66FD6DAD4F41}"/>
              </a:ext>
            </a:extLst>
          </p:cNvPr>
          <p:cNvGraphicFramePr/>
          <p:nvPr/>
        </p:nvGraphicFramePr>
        <p:xfrm>
          <a:off xmlns:a="http://schemas.openxmlformats.org/drawingml/2006/main" x="762000" y="1628775"/>
          <a:ext xmlns:a="http://schemas.openxmlformats.org/drawingml/2006/main" cx="10668000" cy="3762375"/>
        </p:xfrm>
        <a:graphic xmlns:a="http://schemas.openxmlformats.org/drawingml/2006/main">
          <a:graphicData uri="http://schemas.openxmlformats.org/drawingml/2006/table">
            <a:tbl>
              <a:tblPr/>
              <a:tblGrid>
                <a:gridCol w="2190750"/>
                <a:gridCol w="3000375"/>
                <a:gridCol w="2286000"/>
                <a:gridCol w="3190875"/>
              </a:tblGrid>
              <a:tr h="627063">
                <a:tc>
                  <a:txBody>
                    <a:bodyPr/>
                    <a:lstStyle/>
                    <a:p>
                      <a:r>
                        <a:rPr sz="2175" b="1">
                          <a:solidFill>
                            <a:srgbClr val="FFFFFF"/>
                          </a:solidFill>
                          <a:latin typeface="Arial"/>
                          <a:ea typeface="Arial"/>
                          <a:cs typeface="Arial"/>
                        </a:rPr>
                        <a:t>Вузол</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LP-результат</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Найкраще z</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Рішення</a:t>
                      </a:r>
                    </a:p>
                  </a:txBody>
                  <a:tcPr marL="114300" marR="114300" marT="66675" marB="66675" anchor="ctr">
                    <a:solidFill>
                      <a:srgbClr val="173047"/>
                    </a:solidFill>
                  </a:tcPr>
                </a:tc>
              </a:tr>
              <a:tr h="627063">
                <a:tc>
                  <a:txBody>
                    <a:bodyPr/>
                    <a:lstStyle/>
                    <a:p>
                      <a:r>
                        <a:rPr sz="2175">
                          <a:solidFill>
                            <a:srgbClr val="173047"/>
                          </a:solidFill>
                          <a:latin typeface="Arial"/>
                          <a:ea typeface="Arial"/>
                          <a:cs typeface="Arial"/>
                        </a:rPr>
                        <a:t>L0, L1, L4</a:t>
                      </a:r>
                    </a:p>
                  </a:txBody>
                  <a:tcPr marL="114300" marR="114300" marT="66675" marB="66675" anchor="ctr">
                    <a:solidFill>
                      <a:srgbClr val="FFFFFF"/>
                    </a:solidFill>
                  </a:tcPr>
                </a:tc>
                <a:tc>
                  <a:txBody>
                    <a:bodyPr/>
                    <a:lstStyle/>
                    <a:p>
                      <a:r>
                        <a:rPr sz="2175">
                          <a:solidFill>
                            <a:srgbClr val="173047"/>
                          </a:solidFill>
                          <a:latin typeface="Arial"/>
                          <a:ea typeface="Arial"/>
                          <a:cs typeface="Arial"/>
                        </a:rPr>
                        <a:t>41,25; 41; 40 5/9</a:t>
                      </a:r>
                    </a:p>
                  </a:txBody>
                  <a:tcPr marL="114300" marR="114300" marT="66675" marB="66675" anchor="ctr">
                    <a:solidFill>
                      <a:srgbClr val="FFFFFF"/>
                    </a:solidFill>
                  </a:tcPr>
                </a:tc>
                <a:tc>
                  <a:txBody>
                    <a:bodyPr/>
                    <a:lstStyle/>
                    <a:p>
                      <a:r>
                        <a:rPr sz="2175">
                          <a:solidFill>
                            <a:srgbClr val="173047"/>
                          </a:solidFill>
                          <a:latin typeface="Arial"/>
                          <a:ea typeface="Arial"/>
                          <a:cs typeface="Arial"/>
                        </a:rPr>
                        <a:t>ще немає</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Дробові: гілкуємо</a:t>
                      </a:r>
                    </a:p>
                  </a:txBody>
                  <a:tcPr marL="114300" marR="114300" marT="66675" marB="66675" anchor="ctr">
                    <a:solidFill>
                      <a:srgbClr val="FFFFFF"/>
                    </a:solidFill>
                  </a:tcPr>
                </a:tc>
              </a:tr>
              <a:tr h="627063">
                <a:tc>
                  <a:txBody>
                    <a:bodyPr/>
                    <a:lstStyle/>
                    <a:p>
                      <a:r>
                        <a:rPr sz="2175">
                          <a:solidFill>
                            <a:srgbClr val="173047"/>
                          </a:solidFill>
                          <a:latin typeface="Arial"/>
                          <a:ea typeface="Arial"/>
                          <a:cs typeface="Arial"/>
                        </a:rPr>
                        <a:t>L6</a:t>
                      </a:r>
                    </a:p>
                  </a:txBody>
                  <a:tcPr marL="114300" marR="114300" marT="66675" marB="66675" anchor="ctr">
                    <a:solidFill>
                      <a:srgbClr val="FFFFFF"/>
                    </a:solidFill>
                  </a:tcPr>
                </a:tc>
                <a:tc>
                  <a:txBody>
                    <a:bodyPr/>
                    <a:lstStyle/>
                    <a:p>
                      <a:r>
                        <a:rPr sz="2175">
                          <a:solidFill>
                            <a:srgbClr val="173047"/>
                          </a:solidFill>
                          <a:latin typeface="Arial"/>
                          <a:ea typeface="Arial"/>
                          <a:cs typeface="Arial"/>
                        </a:rPr>
                        <a:t>(0,5), z=40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40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Зберегти z=40</a:t>
                      </a:r>
                    </a:p>
                  </a:txBody>
                  <a:tcPr marL="114300" marR="114300" marT="66675" marB="66675" anchor="ctr">
                    <a:solidFill>
                      <a:srgbClr val="FFFFFF"/>
                    </a:solidFill>
                  </a:tcPr>
                </a:tc>
              </a:tr>
              <a:tr h="627063">
                <a:tc>
                  <a:txBody>
                    <a:bodyPr/>
                    <a:lstStyle/>
                    <a:p>
                      <a:r>
                        <a:rPr sz="2175">
                          <a:solidFill>
                            <a:srgbClr val="173047"/>
                          </a:solidFill>
                          <a:latin typeface="Arial"/>
                          <a:ea typeface="Arial"/>
                          <a:cs typeface="Arial"/>
                        </a:rPr>
                        <a:t>L5</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межа 37</a:t>
                      </a:r>
                    </a:p>
                  </a:txBody>
                  <a:tcPr marL="114300" marR="114300" marT="66675" marB="66675" anchor="ctr">
                    <a:solidFill>
                      <a:srgbClr val="FFFFFF"/>
                    </a:solidFill>
                  </a:tcPr>
                </a:tc>
                <a:tc>
                  <a:txBody>
                    <a:bodyPr/>
                    <a:lstStyle/>
                    <a:p>
                      <a:r>
                        <a:rPr sz="2175">
                          <a:solidFill>
                            <a:srgbClr val="173047"/>
                          </a:solidFill>
                          <a:latin typeface="Arial"/>
                          <a:ea typeface="Arial"/>
                          <a:cs typeface="Arial"/>
                        </a:rPr>
                        <a:t>40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37≤40: відсів</a:t>
                      </a:r>
                    </a:p>
                  </a:txBody>
                  <a:tcPr marL="114300" marR="114300" marT="66675" marB="66675" anchor="ctr">
                    <a:solidFill>
                      <a:srgbClr val="FFFFFF"/>
                    </a:solidFill>
                  </a:tcPr>
                </a:tc>
              </a:tr>
              <a:tr h="627063">
                <a:tc>
                  <a:txBody>
                    <a:bodyPr/>
                    <a:lstStyle/>
                    <a:p>
                      <a:r>
                        <a:rPr sz="2175">
                          <a:solidFill>
                            <a:srgbClr val="173047"/>
                          </a:solidFill>
                          <a:latin typeface="Arial"/>
                          <a:ea typeface="Arial"/>
                          <a:cs typeface="Arial"/>
                        </a:rPr>
                        <a:t>L3</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немає ОПР</a:t>
                      </a:r>
                    </a:p>
                  </a:txBody>
                  <a:tcPr marL="114300" marR="114300" marT="66675" marB="66675" anchor="ctr">
                    <a:solidFill>
                      <a:srgbClr val="FFFFFF"/>
                    </a:solidFill>
                  </a:tcPr>
                </a:tc>
                <a:tc>
                  <a:txBody>
                    <a:bodyPr/>
                    <a:lstStyle/>
                    <a:p>
                      <a:r>
                        <a:rPr sz="2175">
                          <a:solidFill>
                            <a:srgbClr val="173047"/>
                          </a:solidFill>
                          <a:latin typeface="Arial"/>
                          <a:ea typeface="Arial"/>
                          <a:cs typeface="Arial"/>
                        </a:rPr>
                        <a:t>40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Недопустимий</a:t>
                      </a:r>
                    </a:p>
                  </a:txBody>
                  <a:tcPr marL="114300" marR="114300" marT="66675" marB="66675" anchor="ctr">
                    <a:solidFill>
                      <a:srgbClr val="FFFFFF"/>
                    </a:solidFill>
                  </a:tcPr>
                </a:tc>
              </a:tr>
              <a:tr h="627063">
                <a:tc>
                  <a:txBody>
                    <a:bodyPr/>
                    <a:lstStyle/>
                    <a:p>
                      <a:r>
                        <a:rPr sz="2175">
                          <a:solidFill>
                            <a:srgbClr val="173047"/>
                          </a:solidFill>
                          <a:latin typeface="Arial"/>
                          <a:ea typeface="Arial"/>
                          <a:cs typeface="Arial"/>
                        </a:rPr>
                        <a:t>L2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межа 39</a:t>
                      </a:r>
                    </a:p>
                  </a:txBody>
                  <a:tcPr marL="114300" marR="114300" marT="66675" marB="66675" anchor="ctr">
                    <a:solidFill>
                      <a:srgbClr val="FFFFFF"/>
                    </a:solidFill>
                  </a:tcPr>
                </a:tc>
                <a:tc>
                  <a:txBody>
                    <a:bodyPr/>
                    <a:lstStyle/>
                    <a:p>
                      <a:r>
                        <a:rPr sz="2175">
                          <a:solidFill>
                            <a:srgbClr val="173047"/>
                          </a:solidFill>
                          <a:latin typeface="Arial"/>
                          <a:ea typeface="Arial"/>
                          <a:cs typeface="Arial"/>
                        </a:rPr>
                        <a:t>40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39≤40: відсів</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27AE62C-60FB-4745-9B69-643729B12252}"/>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111</a:t>
            </a:r>
          </a:p>
        </p:txBody>
      </p:sp>
    </p:spTree>
    <p:extLst>
      <p:ext uri="{BB962C8B-B14F-4D97-AF65-F5344CB8AC3E}">
        <p14:creationId xmlns:p14="http://schemas.microsoft.com/office/powerpoint/2010/main" val="67225283"/>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CF33B5-AE56-44CB-BF3B-E0F425A21DED}"/>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MILP: навчальне дерево та </a:t>
            </a:r>
            <a:r>
              <a:rPr sz="3000" b="1">
                <a:solidFill>
                  <a:srgbClr val="173047"/>
                </a:solidFill>
                <a:latin typeface="Arial"/>
                <a:ea typeface="Arial"/>
                <a:cs typeface="Arial"/>
              </a:rPr>
              <a:t>журнал HiGHS</a:t>
            </a:r>
          </a:p>
        </p:txBody>
      </p:sp>
      <p:sp>
        <p:nvSpPr>
          <p:cNvPr id="2" name="">
            <a:extLst xmlns:a="http://schemas.openxmlformats.org/drawingml/2006/main">
              <a:ext uri="{FF2B5EF4-FFF2-40B4-BE49-F238E27FC236}">
                <a16:creationId xmlns:a16="http://schemas.microsoft.com/office/drawing/2014/main" id="{DD2D4E9F-475D-447E-B4C9-780FD32DC08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Три навчальні LP-вузли та один </a:t>
            </a:r>
            <a:r>
              <a:rPr sz="2100" b="1">
                <a:solidFill>
                  <a:srgbClr val="00857D"/>
                </a:solidFill>
                <a:latin typeface="Arial"/>
                <a:ea typeface="Arial"/>
                <a:cs typeface="Arial"/>
              </a:rPr>
              <a:t>вузол HiGHS</a:t>
            </a:r>
            <a:r>
              <a:rPr sz="2100" b="1">
                <a:solidFill>
                  <a:srgbClr val="00857D"/>
                </a:solidFill>
                <a:latin typeface="Arial"/>
                <a:ea typeface="Arial"/>
                <a:cs typeface="Arial"/>
              </a:rPr>
              <a:t> — різна організація обчислень.</a:t>
            </a:r>
          </a:p>
        </p:txBody>
      </p:sp>
      <p:sp>
        <p:nvSpPr>
          <p:cNvPr id="3" name="">
            <a:extLst xmlns:a="http://schemas.openxmlformats.org/drawingml/2006/main">
              <a:ext uri="{FF2B5EF4-FFF2-40B4-BE49-F238E27FC236}">
                <a16:creationId xmlns:a16="http://schemas.microsoft.com/office/drawing/2014/main" id="{2205C10D-02E4-43AC-831B-3366181017F0}"/>
              </a:ext>
            </a:extLst>
          </p:cNvPr>
          <p:cNvSpPr>
            <a:spLocks xmlns:a="http://schemas.openxmlformats.org/drawingml/2006/main" noGrp="1"/>
          </p:cNvSpPr>
          <p:nvPr/>
        </p:nvSpPr>
        <p:spPr>
          <a:xfrm xmlns:a="http://schemas.openxmlformats.org/drawingml/2006/main">
            <a:off x="762000" y="1581150"/>
            <a:ext cx="6381750" cy="2486025"/>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AF27584-F50F-422B-AB79-CFC1E7A9B3C3}"/>
              </a:ext>
            </a:extLst>
          </p:cNvPr>
          <p:cNvSpPr>
            <a:spLocks xmlns:a="http://schemas.openxmlformats.org/drawingml/2006/main" noGrp="1"/>
          </p:cNvSpPr>
          <p:nvPr/>
        </p:nvSpPr>
        <p:spPr>
          <a:xfrm xmlns:a="http://schemas.openxmlformats.org/drawingml/2006/main">
            <a:off x="933450" y="1676400"/>
            <a:ext cx="60388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Навчальна траса</a:t>
            </a:r>
          </a:p>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root: yA=0.75, L=255</a:t>
            </a:r>
          </a:p>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yA=0: C=270 → U=270</a:t>
            </a:r>
          </a:p>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yA=1: C=260 → U=260</a:t>
            </a:r>
          </a:p>
        </p:txBody>
      </p:sp>
      <p:sp>
        <p:nvSpPr>
          <p:cNvPr id="5" name="">
            <a:extLst xmlns:a="http://schemas.openxmlformats.org/drawingml/2006/main">
              <a:ext uri="{FF2B5EF4-FFF2-40B4-BE49-F238E27FC236}">
                <a16:creationId xmlns:a16="http://schemas.microsoft.com/office/drawing/2014/main" id="{DA060BDD-D2C6-486A-8221-8AF40FDC4DBF}"/>
              </a:ext>
            </a:extLst>
          </p:cNvPr>
          <p:cNvSpPr>
            <a:spLocks xmlns:a="http://schemas.openxmlformats.org/drawingml/2006/main" noGrp="1"/>
          </p:cNvSpPr>
          <p:nvPr/>
        </p:nvSpPr>
        <p:spPr>
          <a:xfrm xmlns:a="http://schemas.openxmlformats.org/drawingml/2006/main">
            <a:off x="7572375" y="1581150"/>
            <a:ext cx="3857625" cy="2486025"/>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95365B-0E42-410D-9099-12EF9587B992}"/>
              </a:ext>
            </a:extLst>
          </p:cNvPr>
          <p:cNvSpPr>
            <a:spLocks xmlns:a="http://schemas.openxmlformats.org/drawingml/2006/main" noGrp="1"/>
          </p:cNvSpPr>
          <p:nvPr/>
        </p:nvSpPr>
        <p:spPr>
          <a:xfrm xmlns:a="http://schemas.openxmlformats.org/drawingml/2006/main">
            <a:off x="7743825" y="1676400"/>
            <a:ext cx="3514725"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HiGHS</a:t>
            </a:r>
          </a:p>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Nodes: 1</a:t>
            </a:r>
          </a:p>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Dual bound: 260</a:t>
            </a:r>
          </a:p>
          <a:p xmlns:a="http://schemas.openxmlformats.org/drawingml/2006/main">
            <a:pPr algn="l">
              <a:buNone/>
              <a:defRPr sz="2100" b="1">
                <a:solidFill>
                  <a:srgbClr val="00857D"/>
                </a:solidFill>
                <a:latin typeface="Courier New"/>
                <a:ea typeface="Courier New"/>
                <a:cs typeface="Courier New"/>
              </a:defRPr>
            </a:pPr>
            <a:r>
              <a:rPr sz="2100" b="1">
                <a:solidFill>
                  <a:srgbClr val="00857D"/>
                </a:solidFill>
                <a:latin typeface="Courier New"/>
                <a:ea typeface="Courier New"/>
                <a:cs typeface="Courier New"/>
              </a:rPr>
              <a:t>Gap: 0%</a:t>
            </a:r>
          </a:p>
        </p:txBody>
      </p:sp>
      <p:sp>
        <p:nvSpPr>
          <p:cNvPr id="7" name="">
            <a:extLst xmlns:a="http://schemas.openxmlformats.org/drawingml/2006/main">
              <a:ext uri="{FF2B5EF4-FFF2-40B4-BE49-F238E27FC236}">
                <a16:creationId xmlns:a16="http://schemas.microsoft.com/office/drawing/2014/main" id="{2746DF1D-5700-4BEC-8AE9-5CAEEEC15471}"/>
              </a:ext>
            </a:extLst>
          </p:cNvPr>
          <p:cNvSpPr>
            <a:spLocks xmlns:a="http://schemas.openxmlformats.org/drawingml/2006/main" noGrp="1"/>
          </p:cNvSpPr>
          <p:nvPr/>
        </p:nvSpPr>
        <p:spPr>
          <a:xfrm xmlns:a="http://schemas.openxmlformats.org/drawingml/2006/main">
            <a:off x="762000" y="44958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Попередня обробка та внутрішні процедури можуть</a:t>
            </a:r>
          </a:p>
          <a:p xmlns:a="http://schemas.openxmlformats.org/drawingml/2006/main">
            <a:pPr algn="l">
              <a:buNone/>
              <a:defRPr sz="2400" b="0">
                <a:solidFill>
                  <a:srgbClr val="173047"/>
                </a:solidFill>
                <a:latin typeface="Arial"/>
                <a:ea typeface="Arial"/>
                <a:cs typeface="Arial"/>
              </a:defRPr>
            </a:pPr>
            <a:r>
              <a:rPr sz="2400" b="0">
                <a:solidFill>
                  <a:srgbClr val="173047"/>
                </a:solidFill>
                <a:latin typeface="Arial"/>
                <a:ea typeface="Arial"/>
                <a:cs typeface="Arial"/>
              </a:rPr>
              <a:t>скоротити дерево; журнал не повторює ручні кроки.</a:t>
            </a:r>
          </a:p>
        </p:txBody>
      </p:sp>
      <p:sp>
        <p:nvSpPr>
          <p:cNvPr id="8" name="">
            <a:extLst xmlns:a="http://schemas.openxmlformats.org/drawingml/2006/main">
              <a:ext uri="{FF2B5EF4-FFF2-40B4-BE49-F238E27FC236}">
                <a16:creationId xmlns:a16="http://schemas.microsoft.com/office/drawing/2014/main" id="{E5E29B44-12AC-4496-932F-AD59FBC91D12}"/>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11" name="">
            <a:extLst xmlns:a="http://schemas.openxmlformats.org/drawingml/2006/main">
              <a:ext uri="{FF2B5EF4-FFF2-40B4-BE49-F238E27FC236}">
                <a16:creationId xmlns:a16="http://schemas.microsoft.com/office/drawing/2014/main" id="{71360A73-6397-4AAC-903A-EFE2BEDE9F93}"/>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112</a:t>
            </a:r>
          </a:p>
        </p:txBody>
      </p:sp>
    </p:spTree>
    <p:extLst>
      <p:ext uri="{BB962C8B-B14F-4D97-AF65-F5344CB8AC3E}">
        <p14:creationId xmlns:p14="http://schemas.microsoft.com/office/powerpoint/2010/main" val="978507450"/>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9A7EC2-3B8E-407B-A042-A745ADE5BFE1}"/>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milp: повна функція та керування</a:t>
            </a:r>
          </a:p>
        </p:txBody>
      </p:sp>
      <p:sp>
        <p:nvSpPr>
          <p:cNvPr id="2" name="">
            <a:extLst xmlns:a="http://schemas.openxmlformats.org/drawingml/2006/main">
              <a:ext uri="{FF2B5EF4-FFF2-40B4-BE49-F238E27FC236}">
                <a16:creationId xmlns:a16="http://schemas.microsoft.com/office/drawing/2014/main" id="{1C2458FA-545A-45E3-974C-5B57981B5389}"/>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 означає: наступні аргументи передаємо за назвою.</a:t>
            </a:r>
          </a:p>
        </p:txBody>
      </p:sp>
      <p:sp>
        <p:nvSpPr>
          <p:cNvPr id="3" name="">
            <a:extLst xmlns:a="http://schemas.openxmlformats.org/drawingml/2006/main">
              <a:ext uri="{FF2B5EF4-FFF2-40B4-BE49-F238E27FC236}">
                <a16:creationId xmlns:a16="http://schemas.microsoft.com/office/drawing/2014/main" id="{1D5BEE13-268B-406C-A913-A5A4B2EEBFCE}"/>
              </a:ext>
            </a:extLst>
          </p:cNvPr>
          <p:cNvSpPr>
            <a:spLocks xmlns:a="http://schemas.openxmlformats.org/drawingml/2006/main" noGrp="1"/>
          </p:cNvSpPr>
          <p:nvPr/>
        </p:nvSpPr>
        <p:spPr>
          <a:xfrm xmlns:a="http://schemas.openxmlformats.org/drawingml/2006/main">
            <a:off x="762000" y="1485900"/>
            <a:ext cx="10668000" cy="103251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793D93-30E1-4A70-9B12-66CA923AC510}"/>
              </a:ext>
            </a:extLst>
          </p:cNvPr>
          <p:cNvSpPr>
            <a:spLocks xmlns:a="http://schemas.openxmlformats.org/drawingml/2006/main" noGrp="1"/>
          </p:cNvSpPr>
          <p:nvPr/>
        </p:nvSpPr>
        <p:spPr>
          <a:xfrm xmlns:a="http://schemas.openxmlformats.org/drawingml/2006/main">
            <a:off x="952500" y="1619250"/>
            <a:ext cx="1028700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milp(c, *, integrality=None, bounds=None,</a:t>
            </a:r>
          </a:p>
          <a:p xmlns:a="http://schemas.openxmlformats.org/drawingml/2006/main">
            <a:pPr algn="l">
              <a:buNone/>
              <a:defRPr sz="2325" b="0">
                <a:solidFill>
                  <a:srgbClr val="173047"/>
                </a:solidFill>
                <a:latin typeface="Courier New"/>
                <a:ea typeface="Courier New"/>
                <a:cs typeface="Courier New"/>
              </a:defRPr>
            </a:pPr>
            <a:r>
              <a:rPr sz="2325" b="0">
                <a:solidFill>
                  <a:srgbClr val="173047"/>
                </a:solidFill>
                <a:latin typeface="Courier New"/>
                <a:ea typeface="Courier New"/>
                <a:cs typeface="Courier New"/>
              </a:rPr>
              <a:t>     constraints=None, options=None)</a:t>
            </a:r>
          </a:p>
        </p:txBody>
      </p:sp>
      <p:graphicFrame>
        <p:nvGraphicFramePr>
          <p:cNvPr id="15" name="">
            <a:extLst xmlns:a="http://schemas.openxmlformats.org/drawingml/2006/main">
              <a:ext uri="{FF2B5EF4-FFF2-40B4-BE49-F238E27FC236}">
                <a16:creationId xmlns:a16="http://schemas.microsoft.com/office/drawing/2014/main" id="{0B6E60E4-D362-4E69-9862-09BFE09B8BFC}"/>
              </a:ext>
            </a:extLst>
          </p:cNvPr>
          <p:cNvGraphicFramePr/>
          <p:nvPr/>
        </p:nvGraphicFramePr>
        <p:xfrm>
          <a:off xmlns:a="http://schemas.openxmlformats.org/drawingml/2006/main" x="762000" y="2667000"/>
          <a:ext xmlns:a="http://schemas.openxmlformats.org/drawingml/2006/main" cx="10668000" cy="3009900"/>
        </p:xfrm>
        <a:graphic xmlns:a="http://schemas.openxmlformats.org/drawingml/2006/main">
          <a:graphicData uri="http://schemas.openxmlformats.org/drawingml/2006/table">
            <a:tbl>
              <a:tblPr/>
              <a:tblGrid>
                <a:gridCol w="3476625"/>
                <a:gridCol w="7191375"/>
              </a:tblGrid>
              <a:tr h="601980">
                <a:tc>
                  <a:txBody>
                    <a:bodyPr/>
                    <a:lstStyle/>
                    <a:p>
                      <a:r>
                        <a:rPr sz="2100" b="1">
                          <a:solidFill>
                            <a:srgbClr val="FFFFFF"/>
                          </a:solidFill>
                          <a:latin typeface="Arial"/>
                          <a:ea typeface="Arial"/>
                          <a:cs typeface="Arial"/>
                        </a:rPr>
                        <a:t>Аргумент</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Зміст</a:t>
                      </a:r>
                    </a:p>
                  </a:txBody>
                  <a:tcPr marL="114300" marR="114300" marT="66675" marB="66675" anchor="ctr">
                    <a:solidFill>
                      <a:srgbClr val="173047"/>
                    </a:solidFill>
                  </a:tcPr>
                </a:tc>
              </a:tr>
              <a:tr h="601980">
                <a:tc>
                  <a:txBody>
                    <a:bodyPr/>
                    <a:lstStyle/>
                    <a:p>
                      <a:r>
                        <a:rPr sz="2100">
                          <a:solidFill>
                            <a:srgbClr val="173047"/>
                          </a:solidFill>
                          <a:latin typeface="Arial"/>
                          <a:ea typeface="Arial"/>
                          <a:cs typeface="Arial"/>
                        </a:rPr>
                        <a:t>c</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Коефіцієнти мінімізації</a:t>
                      </a:r>
                    </a:p>
                  </a:txBody>
                  <a:tcPr marL="114300" marR="114300" marT="66675" marB="66675" anchor="ctr">
                    <a:solidFill>
                      <a:srgbClr val="FFFFFF"/>
                    </a:solidFill>
                  </a:tcPr>
                </a:tc>
              </a:tr>
              <a:tr h="601980">
                <a:tc>
                  <a:txBody>
                    <a:bodyPr/>
                    <a:lstStyle/>
                    <a:p>
                      <a:r>
                        <a:rPr sz="2100">
                          <a:solidFill>
                            <a:srgbClr val="173047"/>
                          </a:solidFill>
                          <a:latin typeface="Arial"/>
                          <a:ea typeface="Arial"/>
                          <a:cs typeface="Arial"/>
                        </a:rPr>
                        <a:t>integrality</a:t>
                      </a:r>
                    </a:p>
                  </a:txBody>
                  <a:tcPr marL="114300" marR="114300" marT="66675" marB="66675" anchor="ctr">
                    <a:solidFill>
                      <a:srgbClr val="FFFFFF"/>
                    </a:solidFill>
                  </a:tcPr>
                </a:tc>
                <a:tc>
                  <a:txBody>
                    <a:bodyPr/>
                    <a:lstStyle/>
                    <a:p>
                      <a:r>
                        <a:rPr sz="2100">
                          <a:solidFill>
                            <a:srgbClr val="173047"/>
                          </a:solidFill>
                          <a:latin typeface="Arial"/>
                          <a:ea typeface="Arial"/>
                          <a:cs typeface="Arial"/>
                        </a:rPr>
                        <a:t>0: неперервна; 1: ціла, а межі 0…1 дають бінарну</a:t>
                      </a:r>
                    </a:p>
                  </a:txBody>
                  <a:tcPr marL="114300" marR="114300" marT="66675" marB="66675" anchor="ctr">
                    <a:solidFill>
                      <a:srgbClr val="FFFFFF"/>
                    </a:solidFill>
                  </a:tcPr>
                </a:tc>
              </a:tr>
              <a:tr h="601980">
                <a:tc>
                  <a:txBody>
                    <a:bodyPr/>
                    <a:lstStyle/>
                    <a:p>
                      <a:r>
                        <a:rPr sz="2100">
                          <a:solidFill>
                            <a:srgbClr val="173047"/>
                          </a:solidFill>
                          <a:latin typeface="Arial"/>
                          <a:ea typeface="Arial"/>
                          <a:cs typeface="Arial"/>
                        </a:rPr>
                        <a:t>bounds / constraints</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Межі змінних / лінійні умови</a:t>
                      </a:r>
                    </a:p>
                  </a:txBody>
                  <a:tcPr marL="114300" marR="114300" marT="66675" marB="66675" anchor="ctr">
                    <a:solidFill>
                      <a:srgbClr val="FFFFFF"/>
                    </a:solidFill>
                  </a:tcPr>
                </a:tc>
              </a:tr>
              <a:tr h="601980">
                <a:tc>
                  <a:txBody>
                    <a:bodyPr/>
                    <a:lstStyle/>
                    <a:p>
                      <a:r>
                        <a:rPr sz="2100">
                          <a:solidFill>
                            <a:srgbClr val="173047"/>
                          </a:solidFill>
                          <a:latin typeface="Arial"/>
                          <a:ea typeface="Arial"/>
                          <a:cs typeface="Arial"/>
                        </a:rPr>
                        <a:t>options</a:t>
                      </a:r>
                    </a:p>
                  </a:txBody>
                  <a:tcPr marL="114300" marR="114300" marT="66675" marB="66675" anchor="ctr">
                    <a:solidFill>
                      <a:srgbClr val="FFFFFF"/>
                    </a:solidFill>
                  </a:tcPr>
                </a:tc>
                <a:tc>
                  <a:txBody>
                    <a:bodyPr/>
                    <a:lstStyle/>
                    <a:p>
                      <a:r>
                        <a:rPr sz="2100">
                          <a:solidFill>
                            <a:srgbClr val="173047"/>
                          </a:solidFill>
                          <a:latin typeface="Arial"/>
                          <a:ea typeface="Arial"/>
                          <a:cs typeface="Arial"/>
                        </a:rPr>
                        <a:t>disp,presolve,time_limit,node_limit,mip_rel_gap</a:t>
                      </a:r>
                    </a:p>
                  </a:txBody>
                  <a:tcPr marL="114300" marR="114300" marT="66675" marB="6667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458D37B-C571-42FE-B8B3-E7A5AC334EC2}"/>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10" name="">
            <a:extLst xmlns:a="http://schemas.openxmlformats.org/drawingml/2006/main">
              <a:ext uri="{FF2B5EF4-FFF2-40B4-BE49-F238E27FC236}">
                <a16:creationId xmlns:a16="http://schemas.microsoft.com/office/drawing/2014/main" id="{9383EFA8-1537-42EE-B5E1-0E1DB6396618}"/>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113</a:t>
            </a:r>
          </a:p>
        </p:txBody>
      </p:sp>
    </p:spTree>
    <p:extLst>
      <p:ext uri="{BB962C8B-B14F-4D97-AF65-F5344CB8AC3E}">
        <p14:creationId xmlns:p14="http://schemas.microsoft.com/office/powerpoint/2010/main" val="703982305"/>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1B6DAB-BEEA-4912-A87D-9EAC15CA3A8A}"/>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Bounds і LinearConstraint: що вони задають?</a:t>
            </a:r>
          </a:p>
        </p:txBody>
      </p:sp>
      <p:sp>
        <p:nvSpPr>
          <p:cNvPr id="2" name="">
            <a:extLst xmlns:a="http://schemas.openxmlformats.org/drawingml/2006/main">
              <a:ext uri="{FF2B5EF4-FFF2-40B4-BE49-F238E27FC236}">
                <a16:creationId xmlns:a16="http://schemas.microsoft.com/office/drawing/2014/main" id="{2ED72D04-4527-40C9-AAF3-EE90CE902C7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Межі змінних і межі лінійних виразів — різні об’єкти.</a:t>
            </a:r>
          </a:p>
        </p:txBody>
      </p:sp>
      <p:sp>
        <p:nvSpPr>
          <p:cNvPr id="3" name="">
            <a:extLst xmlns:a="http://schemas.openxmlformats.org/drawingml/2006/main">
              <a:ext uri="{FF2B5EF4-FFF2-40B4-BE49-F238E27FC236}">
                <a16:creationId xmlns:a16="http://schemas.microsoft.com/office/drawing/2014/main" id="{4C4B6C8D-BE1A-4187-B572-520CF02EDEF5}"/>
              </a:ext>
            </a:extLst>
          </p:cNvPr>
          <p:cNvSpPr>
            <a:spLocks xmlns:a="http://schemas.openxmlformats.org/drawingml/2006/main" noGrp="1"/>
          </p:cNvSpPr>
          <p:nvPr/>
        </p:nvSpPr>
        <p:spPr>
          <a:xfrm xmlns:a="http://schemas.openxmlformats.org/drawingml/2006/main">
            <a:off x="762000" y="1447800"/>
            <a:ext cx="10668000" cy="19812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B60C98-2417-405C-9D4B-CF74FA58B5C9}"/>
              </a:ext>
            </a:extLst>
          </p:cNvPr>
          <p:cNvSpPr>
            <a:spLocks xmlns:a="http://schemas.openxmlformats.org/drawingml/2006/main" noGrp="1"/>
          </p:cNvSpPr>
          <p:nvPr/>
        </p:nvSpPr>
        <p:spPr>
          <a:xfrm xmlns:a="http://schemas.openxmlformats.org/drawingml/2006/main">
            <a:off x="952500" y="15811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 z = [xA,xB,xC,yA]</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Bounds([0,0,0,0], [40,50,30,1])</a:t>
            </a:r>
          </a:p>
          <a:p xmlns:a="http://schemas.openxmlformats.org/drawingml/2006/main">
            <a:r>
              <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 lo &lt;= A @ z &lt;= hi</a:t>
            </a:r>
          </a:p>
          <a:p xmlns:a="http://schemas.openxmlformats.org/drawingml/2006/main">
            <a:pPr algn="l">
              <a:buNone/>
              <a:defRPr sz="2175" b="0">
                <a:solidFill>
                  <a:srgbClr val="173047"/>
                </a:solidFill>
                <a:latin typeface="Courier New"/>
                <a:ea typeface="Courier New"/>
                <a:cs typeface="Courier New"/>
              </a:defRPr>
            </a:pPr>
            <a:r>
              <a:rPr sz="2175" b="0">
                <a:solidFill>
                  <a:srgbClr val="173047"/>
                </a:solidFill>
                <a:latin typeface="Courier New"/>
                <a:ea typeface="Courier New"/>
                <a:cs typeface="Courier New"/>
              </a:rPr>
              <a:t>LinearConstraint(A, [60,-np.inf], [60,0])</a:t>
            </a:r>
          </a:p>
        </p:txBody>
      </p:sp>
      <p:graphicFrame>
        <p:nvGraphicFramePr>
          <p:cNvPr id="14" name="">
            <a:extLst xmlns:a="http://schemas.openxmlformats.org/drawingml/2006/main">
              <a:ext uri="{FF2B5EF4-FFF2-40B4-BE49-F238E27FC236}">
                <a16:creationId xmlns:a16="http://schemas.microsoft.com/office/drawing/2014/main" id="{20A73E4A-999F-418A-9B2A-3D6E433AB16F}"/>
              </a:ext>
            </a:extLst>
          </p:cNvPr>
          <p:cNvGraphicFramePr/>
          <p:nvPr/>
        </p:nvGraphicFramePr>
        <p:xfrm>
          <a:off xmlns:a="http://schemas.openxmlformats.org/drawingml/2006/main" x="762000" y="3657600"/>
          <a:ext xmlns:a="http://schemas.openxmlformats.org/drawingml/2006/main" cx="10668000" cy="1828800"/>
        </p:xfrm>
        <a:graphic xmlns:a="http://schemas.openxmlformats.org/drawingml/2006/main">
          <a:graphicData uri="http://schemas.openxmlformats.org/drawingml/2006/table">
            <a:tbl>
              <a:tblPr/>
              <a:tblGrid>
                <a:gridCol w="3667125"/>
                <a:gridCol w="3619500"/>
                <a:gridCol w="3381375"/>
              </a:tblGrid>
              <a:tr h="609600">
                <a:tc>
                  <a:txBody>
                    <a:bodyPr/>
                    <a:lstStyle/>
                    <a:p>
                      <a:r>
                        <a:rPr sz="2175" b="1">
                          <a:solidFill>
                            <a:srgbClr val="FFFFFF"/>
                          </a:solidFill>
                          <a:latin typeface="Arial"/>
                          <a:ea typeface="Arial"/>
                          <a:cs typeface="Arial"/>
                        </a:rPr>
                        <a:t>Рядок A</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Нижня / верхня</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Умова</a:t>
                      </a:r>
                    </a:p>
                  </a:txBody>
                  <a:tcPr marL="114300" marR="114300" marT="66675" marB="66675" anchor="ctr">
                    <a:solidFill>
                      <a:srgbClr val="173047"/>
                    </a:solidFill>
                  </a:tcPr>
                </a:tc>
              </a:tr>
              <a:tr h="609600">
                <a:tc>
                  <a:txBody>
                    <a:bodyPr/>
                    <a:lstStyle/>
                    <a:p>
                      <a:r>
                        <a:rPr sz="2175">
                          <a:solidFill>
                            <a:srgbClr val="173047"/>
                          </a:solidFill>
                          <a:latin typeface="Arial"/>
                          <a:ea typeface="Arial"/>
                          <a:cs typeface="Arial"/>
                        </a:rPr>
                        <a:t>[1,1,1,0]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60 /60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xA+xB+xC=60</a:t>
                      </a:r>
                    </a:p>
                  </a:txBody>
                  <a:tcPr marL="114300" marR="114300" marT="66675" marB="66675" anchor="ctr">
                    <a:solidFill>
                      <a:srgbClr val="FFFFFF"/>
                    </a:solidFill>
                  </a:tcPr>
                </a:tc>
              </a:tr>
              <a:tr h="609600">
                <a:tc>
                  <a:txBody>
                    <a:bodyPr/>
                    <a:lstStyle/>
                    <a:p>
                      <a:r>
                        <a:rPr sz="2175">
                          <a:solidFill>
                            <a:srgbClr val="173047"/>
                          </a:solidFill>
                          <a:latin typeface="Arial"/>
                          <a:ea typeface="Arial"/>
                          <a:cs typeface="Arial"/>
                        </a:rPr>
                        <a:t>[1,0,0,−40]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 /0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xA−40yA≤0</a:t>
                      </a:r>
                    </a:p>
                  </a:txBody>
                  <a:tcPr marL="114300" marR="114300" marT="66675" marB="6667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A5612028-D0D3-4BC3-AAA9-0021ADF7E56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114</a:t>
            </a:r>
          </a:p>
        </p:txBody>
      </p:sp>
    </p:spTree>
    <p:extLst>
      <p:ext uri="{BB962C8B-B14F-4D97-AF65-F5344CB8AC3E}">
        <p14:creationId xmlns:p14="http://schemas.microsoft.com/office/powerpoint/2010/main" val="955589943"/>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FB2A28-FFCB-44F0-B465-93A3B78BD869}"/>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MILP: змінні, межі та типи</a:t>
            </a:r>
          </a:p>
        </p:txBody>
      </p:sp>
      <p:sp>
        <p:nvSpPr>
          <p:cNvPr id="2" name="">
            <a:extLst xmlns:a="http://schemas.openxmlformats.org/drawingml/2006/main">
              <a:ext uri="{FF2B5EF4-FFF2-40B4-BE49-F238E27FC236}">
                <a16:creationId xmlns:a16="http://schemas.microsoft.com/office/drawing/2014/main" id="{0D5E4CD0-9014-4568-9BF3-D710D2E126B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Ціла yA з </a:t>
            </a:r>
            <a:r>
              <a:rPr sz="2100" b="1">
                <a:solidFill>
                  <a:srgbClr val="00857D"/>
                </a:solidFill>
                <a:latin typeface="Arial"/>
                <a:ea typeface="Arial"/>
                <a:cs typeface="Arial"/>
              </a:rPr>
              <a:t>межами 0</a:t>
            </a:r>
            <a:r>
              <a:rPr sz="2100" b="1">
                <a:solidFill>
                  <a:srgbClr val="00857D"/>
                </a:solidFill>
                <a:latin typeface="Arial"/>
                <a:ea typeface="Arial"/>
                <a:cs typeface="Arial"/>
              </a:rPr>
              <a:t>…1 — бінарна; потоки залишаються неперервними.</a:t>
            </a:r>
          </a:p>
        </p:txBody>
      </p:sp>
      <p:sp>
        <p:nvSpPr>
          <p:cNvPr id="3" name="">
            <a:extLst xmlns:a="http://schemas.openxmlformats.org/drawingml/2006/main">
              <a:ext uri="{FF2B5EF4-FFF2-40B4-BE49-F238E27FC236}">
                <a16:creationId xmlns:a16="http://schemas.microsoft.com/office/drawing/2014/main" id="{558157A4-FE36-4E17-9824-A93B7A9887D7}"/>
              </a:ext>
            </a:extLst>
          </p:cNvPr>
          <p:cNvSpPr>
            <a:spLocks xmlns:a="http://schemas.openxmlformats.org/drawingml/2006/main" noGrp="1"/>
          </p:cNvSpPr>
          <p:nvPr/>
        </p:nvSpPr>
        <p:spPr>
          <a:xfrm xmlns:a="http://schemas.openxmlformats.org/drawingml/2006/main">
            <a:off x="762000" y="1562100"/>
            <a:ext cx="10668000" cy="224409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04C07D-FAC2-40E6-A5F6-C136ACFB72A9}"/>
              </a:ext>
            </a:extLst>
          </p:cNvPr>
          <p:cNvSpPr>
            <a:spLocks xmlns:a="http://schemas.openxmlformats.org/drawingml/2006/main" noGrp="1"/>
          </p:cNvSpPr>
          <p:nvPr/>
        </p:nvSpPr>
        <p:spPr>
          <a:xfrm xmlns:a="http://schemas.openxmlformats.org/drawingml/2006/main">
            <a:off x="952500" y="1695450"/>
            <a:ext cx="10287000" cy="1977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from scipy.optimize import milp, Bounds, LinearConstraint</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import numpy as np</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 z = [xA,xB,xC,yA]</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c = [2,5,4,100]</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bounds = Bounds([0,0,0,0], [40,50,30,1])</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integrality = [0,0,0,1]</a:t>
            </a:r>
          </a:p>
        </p:txBody>
      </p:sp>
      <p:sp>
        <p:nvSpPr>
          <p:cNvPr id="5" name="">
            <a:extLst xmlns:a="http://schemas.openxmlformats.org/drawingml/2006/main">
              <a:ext uri="{FF2B5EF4-FFF2-40B4-BE49-F238E27FC236}">
                <a16:creationId xmlns:a16="http://schemas.microsoft.com/office/drawing/2014/main" id="{66F6F935-1560-4D01-A7A2-F31549205FD6}"/>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8" name="">
            <a:extLst xmlns:a="http://schemas.openxmlformats.org/drawingml/2006/main">
              <a:ext uri="{FF2B5EF4-FFF2-40B4-BE49-F238E27FC236}">
                <a16:creationId xmlns:a16="http://schemas.microsoft.com/office/drawing/2014/main" id="{BEEB5B84-A74B-4693-8418-1BF3D7CAE55E}"/>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115</a:t>
            </a:r>
          </a:p>
        </p:txBody>
      </p:sp>
    </p:spTree>
    <p:extLst>
      <p:ext uri="{BB962C8B-B14F-4D97-AF65-F5344CB8AC3E}">
        <p14:creationId xmlns:p14="http://schemas.microsoft.com/office/powerpoint/2010/main" val="676230075"/>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7B41B9-2C42-4A37-A9BF-4793915B274A}"/>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MILP: сформувати обмеження</a:t>
            </a:r>
          </a:p>
        </p:txBody>
      </p:sp>
      <p:sp>
        <p:nvSpPr>
          <p:cNvPr id="2" name="">
            <a:extLst xmlns:a="http://schemas.openxmlformats.org/drawingml/2006/main">
              <a:ext uri="{FF2B5EF4-FFF2-40B4-BE49-F238E27FC236}">
                <a16:creationId xmlns:a16="http://schemas.microsoft.com/office/drawing/2014/main" id="{2413619F-24B9-4722-8AFA-B75D749FF70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Перший рядок — попит 60; другий — потік лише на ввімкненому маршруті.</a:t>
            </a:r>
          </a:p>
        </p:txBody>
      </p:sp>
      <p:sp>
        <p:nvSpPr>
          <p:cNvPr id="3" name="">
            <a:extLst xmlns:a="http://schemas.openxmlformats.org/drawingml/2006/main">
              <a:ext uri="{FF2B5EF4-FFF2-40B4-BE49-F238E27FC236}">
                <a16:creationId xmlns:a16="http://schemas.microsoft.com/office/drawing/2014/main" id="{82E403CD-978A-49DD-82AE-DD8A2A68CE7B}"/>
              </a:ext>
            </a:extLst>
          </p:cNvPr>
          <p:cNvSpPr>
            <a:spLocks xmlns:a="http://schemas.openxmlformats.org/drawingml/2006/main" noGrp="1"/>
          </p:cNvSpPr>
          <p:nvPr/>
        </p:nvSpPr>
        <p:spPr>
          <a:xfrm xmlns:a="http://schemas.openxmlformats.org/drawingml/2006/main">
            <a:off x="762000" y="1714500"/>
            <a:ext cx="10668000" cy="178689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8E78F7-0F38-4722-87AB-A3E79CFEDFD8}"/>
              </a:ext>
            </a:extLst>
          </p:cNvPr>
          <p:cNvSpPr>
            <a:spLocks xmlns:a="http://schemas.openxmlformats.org/drawingml/2006/main" noGrp="1"/>
          </p:cNvSpPr>
          <p:nvPr/>
        </p:nvSpPr>
        <p:spPr>
          <a:xfrm xmlns:a="http://schemas.openxmlformats.org/drawingml/2006/main">
            <a:off x="952500" y="1847850"/>
            <a:ext cx="10287000" cy="1520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400" b="0">
                <a:solidFill>
                  <a:srgbClr val="173047"/>
                </a:solidFill>
                <a:latin typeface="Courier New"/>
                <a:ea typeface="Courier New"/>
                <a:cs typeface="Courier New"/>
              </a:defRPr>
            </a:pPr>
            <a:r>
              <a:rPr sz="2400" b="0">
                <a:solidFill>
                  <a:srgbClr val="173047"/>
                </a:solidFill>
                <a:latin typeface="Courier New"/>
                <a:ea typeface="Courier New"/>
                <a:cs typeface="Courier New"/>
              </a:rPr>
              <a:t>A = [[1,1,1,0], [1,0,0,-40]]</a:t>
            </a:r>
          </a:p>
          <a:p xmlns:a="http://schemas.openxmlformats.org/drawingml/2006/main">
            <a:pPr algn="l">
              <a:buNone/>
              <a:defRPr sz="2400" b="0">
                <a:solidFill>
                  <a:srgbClr val="173047"/>
                </a:solidFill>
                <a:latin typeface="Courier New"/>
                <a:ea typeface="Courier New"/>
                <a:cs typeface="Courier New"/>
              </a:defRPr>
            </a:pPr>
            <a:r>
              <a:rPr sz="2400" b="0">
                <a:solidFill>
                  <a:srgbClr val="173047"/>
                </a:solidFill>
                <a:latin typeface="Courier New"/>
                <a:ea typeface="Courier New"/>
                <a:cs typeface="Courier New"/>
              </a:rPr>
              <a:t>lo = [60,-np.inf]</a:t>
            </a:r>
          </a:p>
          <a:p xmlns:a="http://schemas.openxmlformats.org/drawingml/2006/main">
            <a:pPr algn="l">
              <a:buNone/>
              <a:defRPr sz="2400" b="0">
                <a:solidFill>
                  <a:srgbClr val="173047"/>
                </a:solidFill>
                <a:latin typeface="Courier New"/>
                <a:ea typeface="Courier New"/>
                <a:cs typeface="Courier New"/>
              </a:defRPr>
            </a:pPr>
            <a:r>
              <a:rPr sz="2400" b="0">
                <a:solidFill>
                  <a:srgbClr val="173047"/>
                </a:solidFill>
                <a:latin typeface="Courier New"/>
                <a:ea typeface="Courier New"/>
                <a:cs typeface="Courier New"/>
              </a:rPr>
              <a:t>hi = [60,0]</a:t>
            </a:r>
          </a:p>
          <a:p xmlns:a="http://schemas.openxmlformats.org/drawingml/2006/main">
            <a:pPr algn="l">
              <a:buNone/>
              <a:defRPr sz="2400" b="0">
                <a:solidFill>
                  <a:srgbClr val="173047"/>
                </a:solidFill>
                <a:latin typeface="Courier New"/>
                <a:ea typeface="Courier New"/>
                <a:cs typeface="Courier New"/>
              </a:defRPr>
            </a:pPr>
            <a:r>
              <a:rPr sz="2400" b="0">
                <a:solidFill>
                  <a:srgbClr val="173047"/>
                </a:solidFill>
                <a:latin typeface="Courier New"/>
                <a:ea typeface="Courier New"/>
                <a:cs typeface="Courier New"/>
              </a:rPr>
              <a:t>con = LinearConstraint(A, lo, hi)</a:t>
            </a:r>
          </a:p>
        </p:txBody>
      </p:sp>
      <p:sp>
        <p:nvSpPr>
          <p:cNvPr id="5" name="">
            <a:extLst xmlns:a="http://schemas.openxmlformats.org/drawingml/2006/main">
              <a:ext uri="{FF2B5EF4-FFF2-40B4-BE49-F238E27FC236}">
                <a16:creationId xmlns:a16="http://schemas.microsoft.com/office/drawing/2014/main" id="{809E22EE-273A-4741-82C9-D3E4F1C64C63}"/>
              </a:ext>
            </a:extLst>
          </p:cNvPr>
          <p:cNvSpPr>
            <a:spLocks xmlns:a="http://schemas.openxmlformats.org/drawingml/2006/main" noGrp="1"/>
          </p:cNvSpPr>
          <p:nvPr/>
        </p:nvSpPr>
        <p:spPr>
          <a:xfrm xmlns:a="http://schemas.openxmlformats.org/drawingml/2006/main">
            <a:off x="762000" y="4038600"/>
            <a:ext cx="10668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lo[0]=hi[0] → рівність.</a:t>
            </a:r>
          </a:p>
          <a:p xmlns:a="http://schemas.openxmlformats.org/drawingml/2006/main">
            <a:pPr algn="l">
              <a:buNone/>
              <a:defRPr sz="2550" b="0">
                <a:solidFill>
                  <a:srgbClr val="173047"/>
                </a:solidFill>
                <a:latin typeface="Arial"/>
                <a:ea typeface="Arial"/>
                <a:cs typeface="Arial"/>
              </a:defRPr>
            </a:pPr>
            <a:r>
              <a:rPr sz="2550" b="0">
                <a:solidFill>
                  <a:srgbClr val="173047"/>
                </a:solidFill>
                <a:latin typeface="Arial"/>
                <a:ea typeface="Arial"/>
                <a:cs typeface="Arial"/>
              </a:rPr>
              <a:t>lo[1]=−∞,hi[1]=0 → нерівність≤.</a:t>
            </a:r>
          </a:p>
        </p:txBody>
      </p:sp>
      <p:sp>
        <p:nvSpPr>
          <p:cNvPr id="6" name="">
            <a:extLst xmlns:a="http://schemas.openxmlformats.org/drawingml/2006/main">
              <a:ext uri="{FF2B5EF4-FFF2-40B4-BE49-F238E27FC236}">
                <a16:creationId xmlns:a16="http://schemas.microsoft.com/office/drawing/2014/main" id="{69B06573-C232-43CF-B7AF-ABA7C57A66D7}"/>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9" name="">
            <a:extLst xmlns:a="http://schemas.openxmlformats.org/drawingml/2006/main">
              <a:ext uri="{FF2B5EF4-FFF2-40B4-BE49-F238E27FC236}">
                <a16:creationId xmlns:a16="http://schemas.microsoft.com/office/drawing/2014/main" id="{259A8AD9-E2BD-4C06-902D-74FCE1075EFD}"/>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116</a:t>
            </a:r>
          </a:p>
        </p:txBody>
      </p:sp>
    </p:spTree>
    <p:extLst>
      <p:ext uri="{BB962C8B-B14F-4D97-AF65-F5344CB8AC3E}">
        <p14:creationId xmlns:p14="http://schemas.microsoft.com/office/powerpoint/2010/main" val="1832956925"/>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05B4A3-5959-4E8A-A8CA-C1C07B7C2BA7}"/>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MILP: виконати та прочитати результат</a:t>
            </a:r>
          </a:p>
        </p:txBody>
      </p:sp>
      <p:sp>
        <p:nvSpPr>
          <p:cNvPr id="2" name="">
            <a:extLst xmlns:a="http://schemas.openxmlformats.org/drawingml/2006/main">
              <a:ext uri="{FF2B5EF4-FFF2-40B4-BE49-F238E27FC236}">
                <a16:creationId xmlns:a16="http://schemas.microsoft.com/office/drawing/2014/main" id="{DEF3B047-0942-47FA-A812-B79B0E4312C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Фактичний оптимум:(40,0,20), </a:t>
            </a:r>
            <a:r>
              <a:rPr sz="2100" b="1">
                <a:solidFill>
                  <a:srgbClr val="00857D"/>
                </a:solidFill>
                <a:latin typeface="Arial"/>
                <a:ea typeface="Arial"/>
                <a:cs typeface="Arial"/>
              </a:rPr>
              <a:t>запуск A</a:t>
            </a:r>
            <a:r>
              <a:rPr sz="2100" b="1">
                <a:solidFill>
                  <a:srgbClr val="00857D"/>
                </a:solidFill>
                <a:latin typeface="Arial"/>
                <a:ea typeface="Arial"/>
                <a:cs typeface="Arial"/>
              </a:rPr>
              <a:t>=1, C=260.</a:t>
            </a:r>
          </a:p>
        </p:txBody>
      </p:sp>
      <p:sp>
        <p:nvSpPr>
          <p:cNvPr id="3" name="">
            <a:extLst xmlns:a="http://schemas.openxmlformats.org/drawingml/2006/main">
              <a:ext uri="{FF2B5EF4-FFF2-40B4-BE49-F238E27FC236}">
                <a16:creationId xmlns:a16="http://schemas.microsoft.com/office/drawing/2014/main" id="{31DE01CD-6BC8-4842-A509-71A9348303A6}"/>
              </a:ext>
            </a:extLst>
          </p:cNvPr>
          <p:cNvSpPr>
            <a:spLocks xmlns:a="http://schemas.openxmlformats.org/drawingml/2006/main" noGrp="1"/>
          </p:cNvSpPr>
          <p:nvPr/>
        </p:nvSpPr>
        <p:spPr>
          <a:xfrm xmlns:a="http://schemas.openxmlformats.org/drawingml/2006/main">
            <a:off x="762000" y="1504950"/>
            <a:ext cx="10668000" cy="18669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999E8D-C3E6-4DDD-87CB-4C49C985FA2B}"/>
              </a:ext>
            </a:extLst>
          </p:cNvPr>
          <p:cNvSpPr>
            <a:spLocks xmlns:a="http://schemas.openxmlformats.org/drawingml/2006/main" noGrp="1"/>
          </p:cNvSpPr>
          <p:nvPr/>
        </p:nvSpPr>
        <p:spPr>
          <a:xfrm xmlns:a="http://schemas.openxmlformats.org/drawingml/2006/main">
            <a:off x="952500" y="1638300"/>
            <a:ext cx="10287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r = milp(c, integrality=integrality,</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bounds=bounds, constraints=con)</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if not r.success: raise RuntimeError(r.message)</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print(r.x); print(r.fun)</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print(r.mip_node_count, r.mip_dual_bound, r.mip_gap)</a:t>
            </a:r>
          </a:p>
        </p:txBody>
      </p:sp>
      <p:sp>
        <p:nvSpPr>
          <p:cNvPr id="5" name="">
            <a:extLst xmlns:a="http://schemas.openxmlformats.org/drawingml/2006/main">
              <a:ext uri="{FF2B5EF4-FFF2-40B4-BE49-F238E27FC236}">
                <a16:creationId xmlns:a16="http://schemas.microsoft.com/office/drawing/2014/main" id="{5A5E86A3-D311-4A9E-A5AC-0E9408B1924C}"/>
              </a:ext>
            </a:extLst>
          </p:cNvPr>
          <p:cNvSpPr>
            <a:spLocks xmlns:a="http://schemas.openxmlformats.org/drawingml/2006/main" noGrp="1"/>
          </p:cNvSpPr>
          <p:nvPr/>
        </p:nvSpPr>
        <p:spPr>
          <a:xfrm xmlns:a="http://schemas.openxmlformats.org/drawingml/2006/main">
            <a:off x="762000" y="3857625"/>
            <a:ext cx="10668000" cy="1400175"/>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413FF4-F756-4351-911E-B60934358225}"/>
              </a:ext>
            </a:extLst>
          </p:cNvPr>
          <p:cNvSpPr>
            <a:spLocks xmlns:a="http://schemas.openxmlformats.org/drawingml/2006/main" noGrp="1"/>
          </p:cNvSpPr>
          <p:nvPr/>
        </p:nvSpPr>
        <p:spPr>
          <a:xfrm xmlns:a="http://schemas.openxmlformats.org/drawingml/2006/main">
            <a:off x="933450" y="3952875"/>
            <a:ext cx="103251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[40.  0. 20.  1.]</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260.0</a:t>
            </a:r>
          </a:p>
          <a:p xmlns:a="http://schemas.openxmlformats.org/drawingml/2006/main">
            <a:pPr algn="l">
              <a:buNone/>
              <a:defRPr sz="2325" b="1">
                <a:solidFill>
                  <a:srgbClr val="00857D"/>
                </a:solidFill>
                <a:latin typeface="Courier New"/>
                <a:ea typeface="Courier New"/>
                <a:cs typeface="Courier New"/>
              </a:defRPr>
            </a:pPr>
            <a:r>
              <a:rPr sz="2325" b="1">
                <a:solidFill>
                  <a:srgbClr val="00857D"/>
                </a:solidFill>
                <a:latin typeface="Courier New"/>
                <a:ea typeface="Courier New"/>
                <a:cs typeface="Courier New"/>
              </a:rPr>
              <a:t>1 260.0 0.0</a:t>
            </a:r>
          </a:p>
        </p:txBody>
      </p:sp>
      <p:sp>
        <p:nvSpPr>
          <p:cNvPr id="9" name="">
            <a:extLst xmlns:a="http://schemas.openxmlformats.org/drawingml/2006/main">
              <a:ext uri="{FF2B5EF4-FFF2-40B4-BE49-F238E27FC236}">
                <a16:creationId xmlns:a16="http://schemas.microsoft.com/office/drawing/2014/main" id="{0164E307-A2D9-4C8E-979C-6AF28618BB4A}"/>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117</a:t>
            </a:r>
          </a:p>
        </p:txBody>
      </p:sp>
    </p:spTree>
    <p:extLst>
      <p:ext uri="{BB962C8B-B14F-4D97-AF65-F5344CB8AC3E}">
        <p14:creationId xmlns:p14="http://schemas.microsoft.com/office/powerpoint/2010/main" val="49594313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28B16B-38AA-46A7-9B1F-13C449913B76}"/>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linprog для LP і MILP: спільна постановка</a:t>
            </a:r>
          </a:p>
        </p:txBody>
      </p:sp>
      <p:sp>
        <p:nvSpPr>
          <p:cNvPr id="2" name="">
            <a:extLst xmlns:a="http://schemas.openxmlformats.org/drawingml/2006/main">
              <a:ext uri="{FF2B5EF4-FFF2-40B4-BE49-F238E27FC236}">
                <a16:creationId xmlns:a16="http://schemas.microsoft.com/office/drawing/2014/main" id="{693AF9FA-A517-4E09-A4C5-E905D6A6D6A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method="highs" з integrality вмикає цілочисельні механізмиHiGHS.</a:t>
            </a:r>
          </a:p>
        </p:txBody>
      </p:sp>
      <p:sp>
        <p:nvSpPr>
          <p:cNvPr id="3" name="">
            <a:extLst xmlns:a="http://schemas.openxmlformats.org/drawingml/2006/main">
              <a:ext uri="{FF2B5EF4-FFF2-40B4-BE49-F238E27FC236}">
                <a16:creationId xmlns:a16="http://schemas.microsoft.com/office/drawing/2014/main" id="{0A4E485D-F337-44AF-BCD9-5F45286C1E48}"/>
              </a:ext>
            </a:extLst>
          </p:cNvPr>
          <p:cNvSpPr>
            <a:spLocks xmlns:a="http://schemas.openxmlformats.org/drawingml/2006/main" noGrp="1"/>
          </p:cNvSpPr>
          <p:nvPr/>
        </p:nvSpPr>
        <p:spPr>
          <a:xfrm xmlns:a="http://schemas.openxmlformats.org/drawingml/2006/main">
            <a:off x="762000" y="1543050"/>
            <a:ext cx="10668000" cy="288417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7C13EE-7FB5-471E-A863-7881EF104C1E}"/>
              </a:ext>
            </a:extLst>
          </p:cNvPr>
          <p:cNvSpPr>
            <a:spLocks xmlns:a="http://schemas.openxmlformats.org/drawingml/2006/main" noGrp="1"/>
          </p:cNvSpPr>
          <p:nvPr/>
        </p:nvSpPr>
        <p:spPr>
          <a:xfrm xmlns:a="http://schemas.openxmlformats.org/drawingml/2006/main">
            <a:off x="952500" y="1676400"/>
            <a:ext cx="10287000" cy="2617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from scipy.optimize import linprog</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model = dict(</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    c=[2,5,4,100],</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    A_eq=[[1,1,1,0]], b_eq=[60],</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    A_ub=[[1,0,0,-40]], b_ub=[0],</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    bounds=[(0,40),(0,50),(0,30),(0,1)],</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    method='highs'</a:t>
            </a:r>
          </a:p>
          <a:p xmlns:a="http://schemas.openxmlformats.org/drawingml/2006/main">
            <a:pPr algn="l">
              <a:buNone/>
              <a:defRPr sz="2100" b="0">
                <a:solidFill>
                  <a:srgbClr val="173047"/>
                </a:solidFill>
                <a:latin typeface="Courier New"/>
                <a:ea typeface="Courier New"/>
                <a:cs typeface="Courier New"/>
              </a:defRPr>
            </a:pPr>
            <a:r>
              <a:rPr sz="2100" b="0">
                <a:solidFill>
                  <a:srgbClr val="173047"/>
                </a:solidFill>
                <a:latin typeface="Courier New"/>
                <a:ea typeface="Courier New"/>
                <a:cs typeface="Courier New"/>
              </a:rPr>
              <a:t>)</a:t>
            </a:r>
          </a:p>
        </p:txBody>
      </p:sp>
      <p:sp>
        <p:nvSpPr>
          <p:cNvPr id="5" name="">
            <a:extLst xmlns:a="http://schemas.openxmlformats.org/drawingml/2006/main">
              <a:ext uri="{FF2B5EF4-FFF2-40B4-BE49-F238E27FC236}">
                <a16:creationId xmlns:a16="http://schemas.microsoft.com/office/drawing/2014/main" id="{BC3D4887-00D3-49F6-A3AF-DF07F62D0676}"/>
              </a:ext>
            </a:extLst>
          </p:cNvPr>
          <p:cNvSpPr>
            <a:spLocks xmlns:a="http://schemas.openxmlformats.org/drawingml/2006/main" noGrp="1"/>
          </p:cNvSpPr>
          <p:nvPr/>
        </p:nvSpPr>
        <p:spPr>
          <a:xfrm xmlns:a="http://schemas.openxmlformats.org/drawingml/2006/main">
            <a:off x="9239250" y="1219200"/>
            <a:ext cx="219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00" b="1">
                <a:solidFill>
                  <a:srgbClr val="566779"/>
                </a:solidFill>
                <a:latin typeface="Arial"/>
                <a:ea typeface="Arial"/>
                <a:cs typeface="Arial"/>
              </a:defRPr>
            </a:pPr>
            <a:r>
              <a:rPr sz="1500" b="1">
                <a:solidFill>
                  <a:srgbClr val="566779"/>
                </a:solidFill>
                <a:latin typeface="Arial"/>
                <a:ea typeface="Arial"/>
                <a:cs typeface="Arial"/>
              </a:rPr>
              <a:t>ПРАКТИКУМ</a:t>
            </a:r>
          </a:p>
        </p:txBody>
      </p:sp>
      <p:sp>
        <p:nvSpPr>
          <p:cNvPr id="8" name="">
            <a:extLst xmlns:a="http://schemas.openxmlformats.org/drawingml/2006/main">
              <a:ext uri="{FF2B5EF4-FFF2-40B4-BE49-F238E27FC236}">
                <a16:creationId xmlns:a16="http://schemas.microsoft.com/office/drawing/2014/main" id="{CE88EBC2-0917-41A6-A2D7-6A194E467B8D}"/>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118</a:t>
            </a:r>
          </a:p>
        </p:txBody>
      </p:sp>
    </p:spTree>
    <p:extLst>
      <p:ext uri="{BB962C8B-B14F-4D97-AF65-F5344CB8AC3E}">
        <p14:creationId xmlns:p14="http://schemas.microsoft.com/office/powerpoint/2010/main" val="1648293464"/>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29FABE-0BE8-493B-8F4D-CE2A962D7E00}"/>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Той самий linprog: послаблення або MILP</a:t>
            </a:r>
          </a:p>
        </p:txBody>
      </p:sp>
      <p:sp>
        <p:nvSpPr>
          <p:cNvPr id="2" name="">
            <a:extLst xmlns:a="http://schemas.openxmlformats.org/drawingml/2006/main">
              <a:ext uri="{FF2B5EF4-FFF2-40B4-BE49-F238E27FC236}">
                <a16:creationId xmlns:a16="http://schemas.microsoft.com/office/drawing/2014/main" id="{E03AB230-1AF4-46FF-8EE4-57A7C391561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Чисте LP дає </a:t>
            </a:r>
            <a:r>
              <a:rPr sz="2100" b="1">
                <a:solidFill>
                  <a:srgbClr val="00857D"/>
                </a:solidFill>
                <a:latin typeface="Arial"/>
                <a:ea typeface="Arial"/>
                <a:cs typeface="Arial"/>
              </a:rPr>
              <a:t>межу 255</a:t>
            </a:r>
            <a:r>
              <a:rPr sz="2100" b="1">
                <a:solidFill>
                  <a:srgbClr val="00857D"/>
                </a:solidFill>
                <a:latin typeface="Arial"/>
                <a:ea typeface="Arial"/>
                <a:cs typeface="Arial"/>
              </a:rPr>
              <a:t>; явна цілочисельність — допустимий оптимум260.</a:t>
            </a:r>
          </a:p>
        </p:txBody>
      </p:sp>
      <p:sp>
        <p:nvSpPr>
          <p:cNvPr id="3" name="">
            <a:extLst xmlns:a="http://schemas.openxmlformats.org/drawingml/2006/main">
              <a:ext uri="{FF2B5EF4-FFF2-40B4-BE49-F238E27FC236}">
                <a16:creationId xmlns:a16="http://schemas.microsoft.com/office/drawing/2014/main" id="{48861BE1-AF3A-46AE-A3A1-BE4AEFB13F07}"/>
              </a:ext>
            </a:extLst>
          </p:cNvPr>
          <p:cNvSpPr>
            <a:spLocks xmlns:a="http://schemas.openxmlformats.org/drawingml/2006/main" noGrp="1"/>
          </p:cNvSpPr>
          <p:nvPr/>
        </p:nvSpPr>
        <p:spPr>
          <a:xfrm xmlns:a="http://schemas.openxmlformats.org/drawingml/2006/main">
            <a:off x="762000" y="1447800"/>
            <a:ext cx="10668000" cy="186690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CFEA0DF-CAFB-482D-B441-0629FA1EEFED}"/>
              </a:ext>
            </a:extLst>
          </p:cNvPr>
          <p:cNvSpPr>
            <a:spLocks xmlns:a="http://schemas.openxmlformats.org/drawingml/2006/main" noGrp="1"/>
          </p:cNvSpPr>
          <p:nvPr/>
        </p:nvSpPr>
        <p:spPr>
          <a:xfrm xmlns:a="http://schemas.openxmlformats.org/drawingml/2006/main">
            <a:off x="952500" y="1581150"/>
            <a:ext cx="10287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lp = linprog(**model)</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mip = linprog(**model, integrality=[0,0,0,1])</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for name,r in [('LP',lp),('MILP',mip)]:</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assert r.success, r.message</a:t>
            </a:r>
          </a:p>
          <a:p xmlns:a="http://schemas.openxmlformats.org/drawingml/2006/main">
            <a:pPr algn="l">
              <a:buNone/>
              <a:defRPr sz="2025" b="0">
                <a:solidFill>
                  <a:srgbClr val="173047"/>
                </a:solidFill>
                <a:latin typeface="Courier New"/>
                <a:ea typeface="Courier New"/>
                <a:cs typeface="Courier New"/>
              </a:defRPr>
            </a:pPr>
            <a:r>
              <a:rPr sz="2025" b="0">
                <a:solidFill>
                  <a:srgbClr val="173047"/>
                </a:solidFill>
                <a:latin typeface="Courier New"/>
                <a:ea typeface="Courier New"/>
                <a:cs typeface="Courier New"/>
              </a:rPr>
              <a:t>    print(name, r.x, r.fun)</a:t>
            </a:r>
          </a:p>
        </p:txBody>
      </p:sp>
      <p:sp>
        <p:nvSpPr>
          <p:cNvPr id="5" name="">
            <a:extLst xmlns:a="http://schemas.openxmlformats.org/drawingml/2006/main">
              <a:ext uri="{FF2B5EF4-FFF2-40B4-BE49-F238E27FC236}">
                <a16:creationId xmlns:a16="http://schemas.microsoft.com/office/drawing/2014/main" id="{CB47BD82-59FD-4C12-B22D-73FD6EAF673F}"/>
              </a:ext>
            </a:extLst>
          </p:cNvPr>
          <p:cNvSpPr>
            <a:spLocks xmlns:a="http://schemas.openxmlformats.org/drawingml/2006/main" noGrp="1"/>
          </p:cNvSpPr>
          <p:nvPr/>
        </p:nvSpPr>
        <p:spPr>
          <a:xfrm xmlns:a="http://schemas.openxmlformats.org/drawingml/2006/main">
            <a:off x="762000" y="3848100"/>
            <a:ext cx="10668000" cy="1295400"/>
          </a:xfrm>
          <a:prstGeom xmlns:a="http://schemas.openxmlformats.org/drawingml/2006/main" prst="rect">
            <a:avLst/>
          </a:prstGeom>
          <a:solidFill xmlns:a="http://schemas.openxmlformats.org/drawingml/2006/main">
            <a:srgbClr val="E7F5F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C2DCB4-53CE-452E-9191-26D39F4CFF17}"/>
              </a:ext>
            </a:extLst>
          </p:cNvPr>
          <p:cNvSpPr>
            <a:spLocks xmlns:a="http://schemas.openxmlformats.org/drawingml/2006/main" noGrp="1"/>
          </p:cNvSpPr>
          <p:nvPr/>
        </p:nvSpPr>
        <p:spPr>
          <a:xfrm xmlns:a="http://schemas.openxmlformats.org/drawingml/2006/main">
            <a:off x="933450" y="3943350"/>
            <a:ext cx="103251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LP   [30.  0. 30.  0.75] 255.0</a:t>
            </a:r>
          </a:p>
          <a:p xmlns:a="http://schemas.openxmlformats.org/drawingml/2006/main">
            <a:pPr algn="l">
              <a:buNone/>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MILP [40.  0. 20.  1.  ] 260.0</a:t>
            </a:r>
          </a:p>
        </p:txBody>
      </p:sp>
      <p:sp>
        <p:nvSpPr>
          <p:cNvPr id="9" name="">
            <a:extLst xmlns:a="http://schemas.openxmlformats.org/drawingml/2006/main">
              <a:ext uri="{FF2B5EF4-FFF2-40B4-BE49-F238E27FC236}">
                <a16:creationId xmlns:a16="http://schemas.microsoft.com/office/drawing/2014/main" id="{F04F99A2-D2D7-48CB-9B6D-2B1ED8010598}"/>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119</a:t>
            </a:r>
          </a:p>
        </p:txBody>
      </p:sp>
    </p:spTree>
    <p:extLst>
      <p:ext uri="{BB962C8B-B14F-4D97-AF65-F5344CB8AC3E}">
        <p14:creationId xmlns:p14="http://schemas.microsoft.com/office/powerpoint/2010/main" val="789640980"/>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2F745B-7D49-48CC-8D4F-9AA3D2E3653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Приклад 2: вибір GPU-завдань</a:t>
            </a:r>
          </a:p>
        </p:txBody>
      </p:sp>
      <p:sp>
        <p:nvSpPr>
          <p:cNvPr id="2" name="">
            <a:extLst xmlns:a="http://schemas.openxmlformats.org/drawingml/2006/main">
              <a:ext uri="{FF2B5EF4-FFF2-40B4-BE49-F238E27FC236}">
                <a16:creationId xmlns:a16="http://schemas.microsoft.com/office/drawing/2014/main" id="{D999A95D-9520-406E-B31E-FC574008C3E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Бюджет на інтервал: 8 GPU-годин.</a:t>
            </a:r>
          </a:p>
        </p:txBody>
      </p:sp>
      <p:graphicFrame>
        <p:nvGraphicFramePr>
          <p:cNvPr id="3" name="">
            <a:extLst xmlns:a="http://schemas.openxmlformats.org/drawingml/2006/main">
              <a:ext uri="{FF2B5EF4-FFF2-40B4-BE49-F238E27FC236}">
                <a16:creationId xmlns:a16="http://schemas.microsoft.com/office/drawing/2014/main" id="{49D05B14-FE5D-4007-B59C-4B9AFB5993E2}"/>
              </a:ext>
            </a:extLst>
          </p:cNvPr>
          <p:cNvGraphicFramePr/>
          <p:nvPr/>
        </p:nvGraphicFramePr>
        <p:xfrm>
          <a:off xmlns:a="http://schemas.openxmlformats.org/drawingml/2006/main" x="762000" y="1562100"/>
          <a:ext xmlns:a="http://schemas.openxmlformats.org/drawingml/2006/main" cx="10668000" cy="3952875"/>
        </p:xfrm>
        <a:graphic xmlns:a="http://schemas.openxmlformats.org/drawingml/2006/main">
          <a:graphicData uri="http://schemas.openxmlformats.org/drawingml/2006/table">
            <a:tbl>
              <a:tblPr/>
              <a:tblGrid>
                <a:gridCol w="4714875"/>
                <a:gridCol w="2333625"/>
                <a:gridCol w="1809750"/>
                <a:gridCol w="1809750"/>
              </a:tblGrid>
              <a:tr h="790575">
                <a:tc>
                  <a:txBody>
                    <a:bodyPr/>
                    <a:lstStyle/>
                    <a:p>
                      <a:r>
                        <a:rPr sz="2250" b="1">
                          <a:solidFill>
                            <a:srgbClr val="FFFFFF"/>
                          </a:solidFill>
                          <a:latin typeface="Arial"/>
                          <a:ea typeface="Arial"/>
                          <a:cs typeface="Arial"/>
                        </a:rPr>
                        <a:t>Завдання</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GPU-години</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Користь</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Рішення</a:t>
                      </a:r>
                    </a:p>
                  </a:txBody>
                  <a:tcPr marL="114300" marR="114300" marT="66675" marB="66675" anchor="ctr">
                    <a:solidFill>
                      <a:srgbClr val="173047"/>
                    </a:solidFill>
                  </a:tcPr>
                </a:tc>
              </a:tr>
              <a:tr h="790575">
                <a:tc>
                  <a:txBody>
                    <a:bodyPr/>
                    <a:lstStyle/>
                    <a:p>
                      <a:r>
                        <a:rPr sz="2250">
                          <a:solidFill>
                            <a:srgbClr val="173047"/>
                          </a:solidFill>
                          <a:latin typeface="Arial"/>
                          <a:ea typeface="Arial"/>
                          <a:cs typeface="Arial"/>
                        </a:rPr>
                        <a:t>A: інференс-пакет</a:t>
                      </a:r>
                    </a:p>
                  </a:txBody>
                  <a:tcPr marL="114300" marR="114300" marT="66675" marB="66675" anchor="ctr">
                    <a:solidFill>
                      <a:srgbClr val="FFFFFF"/>
                    </a:solidFill>
                  </a:tcPr>
                </a:tc>
                <a:tc>
                  <a:txBody>
                    <a:bodyPr/>
                    <a:lstStyle/>
                    <a:p>
                      <a:r>
                        <a:rPr sz="2250">
                          <a:solidFill>
                            <a:srgbClr val="173047"/>
                          </a:solidFill>
                          <a:latin typeface="Arial"/>
                          <a:ea typeface="Arial"/>
                          <a:cs typeface="Arial"/>
                        </a:rPr>
                        <a:t>5</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10</a:t>
                      </a:r>
                    </a:p>
                  </a:txBody>
                  <a:tcPr marL="114300" marR="114300" marT="66675" marB="66675" anchor="ctr">
                    <a:solidFill>
                      <a:srgbClr val="FFFFFF"/>
                    </a:solidFill>
                  </a:tcPr>
                </a:tc>
                <a:tc>
                  <a:txBody>
                    <a:bodyPr/>
                    <a:lstStyle/>
                    <a:p>
                      <a:r>
                        <a:rPr sz="2250">
                          <a:solidFill>
                            <a:srgbClr val="173047"/>
                          </a:solidFill>
                          <a:latin typeface="Arial"/>
                          <a:ea typeface="Arial"/>
                          <a:cs typeface="Arial"/>
                        </a:rPr>
                        <a:t>x₁</a:t>
                      </a:r>
                    </a:p>
                  </a:txBody>
                  <a:tcPr marL="114300" marR="114300" marT="66675" marB="66675" anchor="ctr">
                    <a:solidFill>
                      <a:srgbClr val="FFFFFF"/>
                    </a:solidFill>
                  </a:tcPr>
                </a:tc>
              </a:tr>
              <a:tr h="790575">
                <a:tc>
                  <a:txBody>
                    <a:bodyPr/>
                    <a:lstStyle/>
                    <a:p>
                      <a:r>
                        <a:rPr sz="2250">
                          <a:solidFill>
                            <a:srgbClr val="173047"/>
                          </a:solidFill>
                          <a:latin typeface="Arial"/>
                          <a:ea typeface="Arial"/>
                          <a:cs typeface="Arial"/>
                        </a:rPr>
                        <a:t>B: аналітика</a:t>
                      </a:r>
                    </a:p>
                  </a:txBody>
                  <a:tcPr marL="114300" marR="114300" marT="66675" marB="66675" anchor="ctr">
                    <a:solidFill>
                      <a:srgbClr val="FFFFFF"/>
                    </a:solidFill>
                  </a:tcPr>
                </a:tc>
                <a:tc>
                  <a:txBody>
                    <a:bodyPr/>
                    <a:lstStyle/>
                    <a:p>
                      <a:r>
                        <a:rPr sz="2250">
                          <a:solidFill>
                            <a:srgbClr val="173047"/>
                          </a:solidFill>
                          <a:latin typeface="Arial"/>
                          <a:ea typeface="Arial"/>
                          <a:cs typeface="Arial"/>
                        </a:rPr>
                        <a:t>4</a:t>
                      </a:r>
                    </a:p>
                  </a:txBody>
                  <a:tcPr marL="114300" marR="114300" marT="66675" marB="66675" anchor="ctr">
                    <a:solidFill>
                      <a:srgbClr val="FFFFFF"/>
                    </a:solidFill>
                  </a:tcPr>
                </a:tc>
                <a:tc>
                  <a:txBody>
                    <a:bodyPr/>
                    <a:lstStyle/>
                    <a:p>
                      <a:r>
                        <a:rPr sz="2250">
                          <a:solidFill>
                            <a:srgbClr val="173047"/>
                          </a:solidFill>
                          <a:latin typeface="Arial"/>
                          <a:ea typeface="Arial"/>
                          <a:cs typeface="Arial"/>
                        </a:rPr>
                        <a:t>7</a:t>
                      </a:r>
                    </a:p>
                  </a:txBody>
                  <a:tcPr marL="114300" marR="114300" marT="66675" marB="66675" anchor="ctr">
                    <a:solidFill>
                      <a:srgbClr val="FFFFFF"/>
                    </a:solidFill>
                  </a:tcPr>
                </a:tc>
                <a:tc>
                  <a:txBody>
                    <a:bodyPr/>
                    <a:lstStyle/>
                    <a:p>
                      <a:r>
                        <a:rPr sz="2250">
                          <a:solidFill>
                            <a:srgbClr val="173047"/>
                          </a:solidFill>
                          <a:latin typeface="Arial"/>
                          <a:ea typeface="Arial"/>
                          <a:cs typeface="Arial"/>
                        </a:rPr>
                        <a:t>x₂</a:t>
                      </a:r>
                    </a:p>
                  </a:txBody>
                  <a:tcPr marL="114300" marR="114300" marT="66675" marB="66675" anchor="ctr">
                    <a:solidFill>
                      <a:srgbClr val="FFFFFF"/>
                    </a:solidFill>
                  </a:tcPr>
                </a:tc>
              </a:tr>
              <a:tr h="790575">
                <a:tc>
                  <a:txBody>
                    <a:bodyPr/>
                    <a:lstStyle/>
                    <a:p>
                      <a:r>
                        <a:rPr sz="2250">
                          <a:solidFill>
                            <a:srgbClr val="173047"/>
                          </a:solidFill>
                          <a:latin typeface="Arial"/>
                          <a:ea typeface="Arial"/>
                          <a:cs typeface="Arial"/>
                        </a:rPr>
                        <a:t>C: оцінювання моделі</a:t>
                      </a:r>
                    </a:p>
                  </a:txBody>
                  <a:tcPr marL="114300" marR="114300" marT="66675" marB="66675" anchor="ctr">
                    <a:solidFill>
                      <a:srgbClr val="FFFFFF"/>
                    </a:solidFill>
                  </a:tcPr>
                </a:tc>
                <a:tc>
                  <a:txBody>
                    <a:bodyPr/>
                    <a:lstStyle/>
                    <a:p>
                      <a:r>
                        <a:rPr sz="2250">
                          <a:solidFill>
                            <a:srgbClr val="173047"/>
                          </a:solidFill>
                          <a:latin typeface="Arial"/>
                          <a:ea typeface="Arial"/>
                          <a:cs typeface="Arial"/>
                        </a:rPr>
                        <a:t>3</a:t>
                      </a:r>
                    </a:p>
                  </a:txBody>
                  <a:tcPr marL="114300" marR="114300" marT="66675" marB="66675" anchor="ctr">
                    <a:solidFill>
                      <a:srgbClr val="FFFFFF"/>
                    </a:solidFill>
                  </a:tcPr>
                </a:tc>
                <a:tc>
                  <a:txBody>
                    <a:bodyPr/>
                    <a:lstStyle/>
                    <a:p>
                      <a:r>
                        <a:rPr sz="2250">
                          <a:solidFill>
                            <a:srgbClr val="173047"/>
                          </a:solidFill>
                          <a:latin typeface="Arial"/>
                          <a:ea typeface="Arial"/>
                          <a:cs typeface="Arial"/>
                        </a:rPr>
                        <a:t>5</a:t>
                      </a:r>
                    </a:p>
                  </a:txBody>
                  <a:tcPr marL="114300" marR="114300" marT="66675" marB="66675" anchor="ctr">
                    <a:solidFill>
                      <a:srgbClr val="FFFFFF"/>
                    </a:solidFill>
                  </a:tcPr>
                </a:tc>
                <a:tc>
                  <a:txBody>
                    <a:bodyPr/>
                    <a:lstStyle/>
                    <a:p>
                      <a:r>
                        <a:rPr sz="2250">
                          <a:solidFill>
                            <a:srgbClr val="173047"/>
                          </a:solidFill>
                          <a:latin typeface="Arial"/>
                          <a:ea typeface="Arial"/>
                          <a:cs typeface="Arial"/>
                        </a:rPr>
                        <a:t>x₃</a:t>
                      </a:r>
                    </a:p>
                  </a:txBody>
                  <a:tcPr marL="114300" marR="114300" marT="66675" marB="66675" anchor="ctr">
                    <a:solidFill>
                      <a:srgbClr val="FFFFFF"/>
                    </a:solidFill>
                  </a:tcPr>
                </a:tc>
              </a:tr>
              <a:tr h="790575">
                <a:tc>
                  <a:txBody>
                    <a:bodyPr/>
                    <a:lstStyle/>
                    <a:p>
                      <a:r>
                        <a:rPr sz="2250">
                          <a:solidFill>
                            <a:srgbClr val="173047"/>
                          </a:solidFill>
                          <a:latin typeface="Arial"/>
                          <a:ea typeface="Arial"/>
                          <a:cs typeface="Arial"/>
                        </a:rPr>
                        <a:t>D: перевірка даних</a:t>
                      </a:r>
                    </a:p>
                  </a:txBody>
                  <a:tcPr marL="114300" marR="114300" marT="66675" marB="66675" anchor="ctr">
                    <a:solidFill>
                      <a:srgbClr val="FFFFFF"/>
                    </a:solidFill>
                  </a:tcPr>
                </a:tc>
                <a:tc>
                  <a:txBody>
                    <a:bodyPr/>
                    <a:lstStyle/>
                    <a:p>
                      <a:r>
                        <a:rPr sz="2250">
                          <a:solidFill>
                            <a:srgbClr val="173047"/>
                          </a:solidFill>
                          <a:latin typeface="Arial"/>
                          <a:ea typeface="Arial"/>
                          <a:cs typeface="Arial"/>
                        </a:rPr>
                        <a:t>2</a:t>
                      </a:r>
                    </a:p>
                  </a:txBody>
                  <a:tcPr marL="114300" marR="114300" marT="66675" marB="66675" anchor="ctr">
                    <a:solidFill>
                      <a:srgbClr val="FFFFFF"/>
                    </a:solidFill>
                  </a:tcPr>
                </a:tc>
                <a:tc>
                  <a:txBody>
                    <a:bodyPr/>
                    <a:lstStyle/>
                    <a:p>
                      <a:r>
                        <a:rPr sz="2250">
                          <a:solidFill>
                            <a:srgbClr val="173047"/>
                          </a:solidFill>
                          <a:latin typeface="Arial"/>
                          <a:ea typeface="Arial"/>
                          <a:cs typeface="Arial"/>
                        </a:rPr>
                        <a:t>3</a:t>
                      </a:r>
                    </a:p>
                  </a:txBody>
                  <a:tcPr marL="114300" marR="114300" marT="66675" marB="66675" anchor="ctr">
                    <a:solidFill>
                      <a:srgbClr val="FFFFFF"/>
                    </a:solidFill>
                  </a:tcPr>
                </a:tc>
                <a:tc>
                  <a:txBody>
                    <a:bodyPr/>
                    <a:lstStyle/>
                    <a:p>
                      <a:r>
                        <a:rPr sz="2250">
                          <a:solidFill>
                            <a:srgbClr val="173047"/>
                          </a:solidFill>
                          <a:latin typeface="Arial"/>
                          <a:ea typeface="Arial"/>
                          <a:cs typeface="Arial"/>
                        </a:rPr>
                        <a:t>x₄</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4D35FC8-D332-4CE8-A51C-D36D28D4677F}"/>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120</a:t>
            </a:r>
          </a:p>
        </p:txBody>
      </p:sp>
    </p:spTree>
    <p:extLst>
      <p:ext uri="{BB962C8B-B14F-4D97-AF65-F5344CB8AC3E}">
        <p14:creationId xmlns:p14="http://schemas.microsoft.com/office/powerpoint/2010/main" val="349775822"/>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E40D93-91BC-44B2-A269-47E852B4C71E}"/>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GPU-завдання: бінарна модель</a:t>
            </a:r>
          </a:p>
        </p:txBody>
      </p:sp>
      <p:sp>
        <p:nvSpPr>
          <p:cNvPr id="2" name="">
            <a:extLst xmlns:a="http://schemas.openxmlformats.org/drawingml/2006/main">
              <a:ext uri="{FF2B5EF4-FFF2-40B4-BE49-F238E27FC236}">
                <a16:creationId xmlns:a16="http://schemas.microsoft.com/office/drawing/2014/main" id="{9AA2247B-EB37-4B03-BE06-CD90B8B9205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xᵢ = 1 означає повне виконання завдання i.</a:t>
            </a:r>
          </a:p>
        </p:txBody>
      </p:sp>
      <p:sp>
        <p:nvSpPr>
          <p:cNvPr id="3" name="">
            <a:extLst xmlns:a="http://schemas.openxmlformats.org/drawingml/2006/main">
              <a:ext uri="{FF2B5EF4-FFF2-40B4-BE49-F238E27FC236}">
                <a16:creationId xmlns:a16="http://schemas.microsoft.com/office/drawing/2014/main" id="{AAFB40B1-974D-4B0E-9CD6-226FBEB0AEC5}"/>
              </a:ext>
            </a:extLst>
          </p:cNvPr>
          <p:cNvSpPr>
            <a:spLocks xmlns:a="http://schemas.openxmlformats.org/drawingml/2006/main" noGrp="1"/>
          </p:cNvSpPr>
          <p:nvPr/>
        </p:nvSpPr>
        <p:spPr>
          <a:xfrm xmlns:a="http://schemas.openxmlformats.org/drawingml/2006/main">
            <a:off x="762000" y="14763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0">
                <a:solidFill>
                  <a:srgbClr val="173047"/>
                </a:solidFill>
                <a:latin typeface="Arial"/>
                <a:ea typeface="Arial"/>
                <a:cs typeface="Arial"/>
              </a:defRPr>
            </a:defPPr>
          </a:lstStyle>
          <a:p xmlns:a="http://schemas.openxmlformats.org/drawingml/2006/main">
            <a:pPr algn="l">
              <a:defRPr sz="2850" b="0">
                <a:solidFill>
                  <a:srgbClr val="173047"/>
                </a:solidFill>
                <a:latin typeface="Arial"/>
                <a:ea typeface="Arial"/>
                <a:cs typeface="Arial"/>
              </a:defRPr>
            </a:pPr>
            <a:r>
              <a:rPr sz="2850" b="0">
                <a:solidFill>
                  <a:srgbClr val="173047"/>
                </a:solidFill>
                <a:latin typeface="Arial"/>
                <a:ea typeface="Arial"/>
                <a:cs typeface="Arial"/>
              </a:rPr>
              <a:t>max F = 10x₁ + 7x₂ + 5x₃ + 3x₄</a:t>
            </a:r>
          </a:p>
        </p:txBody>
      </p:sp>
      <p:sp>
        <p:nvSpPr>
          <p:cNvPr id="4" name="">
            <a:extLst xmlns:a="http://schemas.openxmlformats.org/drawingml/2006/main">
              <a:ext uri="{FF2B5EF4-FFF2-40B4-BE49-F238E27FC236}">
                <a16:creationId xmlns:a16="http://schemas.microsoft.com/office/drawing/2014/main" id="{D9CFF567-571C-440A-BD8F-D7DEA17FF7C2}"/>
              </a:ext>
            </a:extLst>
          </p:cNvPr>
          <p:cNvSpPr>
            <a:spLocks xmlns:a="http://schemas.openxmlformats.org/drawingml/2006/main" noGrp="1"/>
          </p:cNvSpPr>
          <p:nvPr/>
        </p:nvSpPr>
        <p:spPr>
          <a:xfrm xmlns:a="http://schemas.openxmlformats.org/drawingml/2006/main">
            <a:off x="762000" y="252412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0">
                <a:solidFill>
                  <a:srgbClr val="173047"/>
                </a:solidFill>
                <a:latin typeface="Arial"/>
                <a:ea typeface="Arial"/>
                <a:cs typeface="Arial"/>
              </a:defRPr>
            </a:defPPr>
          </a:lstStyle>
          <a:p xmlns:a="http://schemas.openxmlformats.org/drawingml/2006/main">
            <a:pPr algn="l">
              <a:defRPr sz="2850" b="0">
                <a:solidFill>
                  <a:srgbClr val="173047"/>
                </a:solidFill>
                <a:latin typeface="Arial"/>
                <a:ea typeface="Arial"/>
                <a:cs typeface="Arial"/>
              </a:defRPr>
            </a:pPr>
            <a:r>
              <a:rPr sz="2850" b="0">
                <a:solidFill>
                  <a:srgbClr val="173047"/>
                </a:solidFill>
                <a:latin typeface="Arial"/>
                <a:ea typeface="Arial"/>
                <a:cs typeface="Arial"/>
              </a:rPr>
              <a:t>5x₁ + 4x₂ + 3x₃ + 2x₄ ≤ 8</a:t>
            </a:r>
          </a:p>
        </p:txBody>
      </p:sp>
      <p:sp>
        <p:nvSpPr>
          <p:cNvPr id="5" name="">
            <a:extLst xmlns:a="http://schemas.openxmlformats.org/drawingml/2006/main">
              <a:ext uri="{FF2B5EF4-FFF2-40B4-BE49-F238E27FC236}">
                <a16:creationId xmlns:a16="http://schemas.microsoft.com/office/drawing/2014/main" id="{EA73E22A-61A2-480C-B55A-8BFD2FB4D7BF}"/>
              </a:ext>
            </a:extLst>
          </p:cNvPr>
          <p:cNvSpPr>
            <a:spLocks xmlns:a="http://schemas.openxmlformats.org/drawingml/2006/main" noGrp="1"/>
          </p:cNvSpPr>
          <p:nvPr/>
        </p:nvSpPr>
        <p:spPr>
          <a:xfrm xmlns:a="http://schemas.openxmlformats.org/drawingml/2006/main">
            <a:off x="762000" y="3571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0">
                <a:solidFill>
                  <a:srgbClr val="173047"/>
                </a:solidFill>
                <a:latin typeface="Arial"/>
                <a:ea typeface="Arial"/>
                <a:cs typeface="Arial"/>
              </a:defRPr>
            </a:defPPr>
          </a:lstStyle>
          <a:p xmlns:a="http://schemas.openxmlformats.org/drawingml/2006/main">
            <a:pPr algn="l">
              <a:defRPr sz="2850" b="0">
                <a:solidFill>
                  <a:srgbClr val="173047"/>
                </a:solidFill>
                <a:latin typeface="Arial"/>
                <a:ea typeface="Arial"/>
                <a:cs typeface="Arial"/>
              </a:defRPr>
            </a:pPr>
            <a:r>
              <a:rPr sz="2850" b="0">
                <a:solidFill>
                  <a:srgbClr val="173047"/>
                </a:solidFill>
                <a:latin typeface="Arial"/>
                <a:ea typeface="Arial"/>
                <a:cs typeface="Arial"/>
              </a:rPr>
              <a:t>x₁, x₂, x₃, x₄ ∈ {0,1}</a:t>
            </a:r>
          </a:p>
        </p:txBody>
      </p:sp>
      <p:sp>
        <p:nvSpPr>
          <p:cNvPr id="6" name="">
            <a:extLst xmlns:a="http://schemas.openxmlformats.org/drawingml/2006/main">
              <a:ext uri="{FF2B5EF4-FFF2-40B4-BE49-F238E27FC236}">
                <a16:creationId xmlns:a16="http://schemas.microsoft.com/office/drawing/2014/main" id="{A73FB9A5-5A7E-4550-9348-0B1B29EA585A}"/>
              </a:ext>
            </a:extLst>
          </p:cNvPr>
          <p:cNvSpPr>
            <a:spLocks xmlns:a="http://schemas.openxmlformats.org/drawingml/2006/main" noGrp="1"/>
          </p:cNvSpPr>
          <p:nvPr/>
        </p:nvSpPr>
        <p:spPr>
          <a:xfrm xmlns:a="http://schemas.openxmlformats.org/drawingml/2006/main">
            <a:off x="762000" y="5010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00857D"/>
                </a:solidFill>
                <a:latin typeface="Arial"/>
                <a:ea typeface="Arial"/>
                <a:cs typeface="Arial"/>
              </a:defRPr>
            </a:defPPr>
          </a:lstStyle>
          <a:p xmlns:a="http://schemas.openxmlformats.org/drawingml/2006/main">
            <a:pPr algn="l">
              <a:defRPr sz="2400" b="1">
                <a:solidFill>
                  <a:srgbClr val="00857D"/>
                </a:solidFill>
                <a:latin typeface="Arial"/>
                <a:ea typeface="Arial"/>
                <a:cs typeface="Arial"/>
              </a:defRPr>
            </a:pPr>
            <a:r>
              <a:rPr sz="2400" b="1">
                <a:solidFill>
                  <a:srgbClr val="00857D"/>
                </a:solidFill>
                <a:latin typeface="Arial"/>
                <a:ea typeface="Arial"/>
                <a:cs typeface="Arial"/>
              </a:rPr>
              <a:t>Загальна форма: max vᵀx,  wᵀx ≤ W,  x бінарний</a:t>
            </a:r>
          </a:p>
        </p:txBody>
      </p:sp>
      <p:sp>
        <p:nvSpPr>
          <p:cNvPr id="7" name="">
            <a:extLst xmlns:a="http://schemas.openxmlformats.org/drawingml/2006/main">
              <a:ext uri="{FF2B5EF4-FFF2-40B4-BE49-F238E27FC236}">
                <a16:creationId xmlns:a16="http://schemas.microsoft.com/office/drawing/2014/main" id="{E336B82E-3EA6-4637-9ACF-65642D44560F}"/>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121</a:t>
            </a:r>
          </a:p>
        </p:txBody>
      </p:sp>
    </p:spTree>
    <p:extLst>
      <p:ext uri="{BB962C8B-B14F-4D97-AF65-F5344CB8AC3E}">
        <p14:creationId xmlns:p14="http://schemas.microsoft.com/office/powerpoint/2010/main" val="698556485"/>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265B72-EA15-4114-98BC-690660FC2567}"/>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GPU-завдання: відповідь і LP-послаблення</a:t>
            </a:r>
          </a:p>
        </p:txBody>
      </p:sp>
      <p:sp>
        <p:nvSpPr>
          <p:cNvPr id="2" name="">
            <a:extLst xmlns:a="http://schemas.openxmlformats.org/drawingml/2006/main">
              <a:ext uri="{FF2B5EF4-FFF2-40B4-BE49-F238E27FC236}">
                <a16:creationId xmlns:a16="http://schemas.microsoft.com/office/drawing/2014/main" id="{05F0244C-1E2A-4F8F-B08F-91D08857F00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Виконуємо A та C: 5 + 3 = 8 GPU-годин, F = 15.</a:t>
            </a:r>
          </a:p>
        </p:txBody>
      </p:sp>
      <p:graphicFrame>
        <p:nvGraphicFramePr>
          <p:cNvPr id="3" name="">
            <a:extLst xmlns:a="http://schemas.openxmlformats.org/drawingml/2006/main">
              <a:ext uri="{FF2B5EF4-FFF2-40B4-BE49-F238E27FC236}">
                <a16:creationId xmlns:a16="http://schemas.microsoft.com/office/drawing/2014/main" id="{C19CF5AA-399F-46B9-A505-9B9B07D2DD5E}"/>
              </a:ext>
            </a:extLst>
          </p:cNvPr>
          <p:cNvGraphicFramePr/>
          <p:nvPr/>
        </p:nvGraphicFramePr>
        <p:xfrm>
          <a:off xmlns:a="http://schemas.openxmlformats.org/drawingml/2006/main" x="762000" y="1562100"/>
          <a:ext xmlns:a="http://schemas.openxmlformats.org/drawingml/2006/main" cx="10668000" cy="3238500"/>
        </p:xfrm>
        <a:graphic xmlns:a="http://schemas.openxmlformats.org/drawingml/2006/main">
          <a:graphicData uri="http://schemas.openxmlformats.org/drawingml/2006/table">
            <a:tbl>
              <a:tblPr/>
              <a:tblGrid>
                <a:gridCol w="2619375"/>
                <a:gridCol w="3048000"/>
                <a:gridCol w="1619250"/>
                <a:gridCol w="3381375"/>
              </a:tblGrid>
              <a:tr h="809625">
                <a:tc>
                  <a:txBody>
                    <a:bodyPr/>
                    <a:lstStyle/>
                    <a:p>
                      <a:r>
                        <a:rPr sz="2250" b="1">
                          <a:solidFill>
                            <a:srgbClr val="FFFFFF"/>
                          </a:solidFill>
                          <a:latin typeface="Arial"/>
                          <a:ea typeface="Arial"/>
                          <a:cs typeface="Arial"/>
                        </a:rPr>
                        <a:t>Спосіб</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План x</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Користь</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Сенс</a:t>
                      </a:r>
                    </a:p>
                  </a:txBody>
                  <a:tcPr marL="114300" marR="114300" marT="66675" marB="66675" anchor="ctr">
                    <a:solidFill>
                      <a:srgbClr val="173047"/>
                    </a:solidFill>
                  </a:tcPr>
                </a:tc>
              </a:tr>
              <a:tr h="809625">
                <a:tc>
                  <a:txBody>
                    <a:bodyPr/>
                    <a:lstStyle/>
                    <a:p>
                      <a:r>
                        <a:rPr sz="2250">
                          <a:solidFill>
                            <a:srgbClr val="173047"/>
                          </a:solidFill>
                          <a:latin typeface="Arial"/>
                          <a:ea typeface="Arial"/>
                          <a:cs typeface="Arial"/>
                        </a:rPr>
                        <a:t>LP</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(1, 0.75, 0, 0)</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15.25</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Верхня межа для max</a:t>
                      </a:r>
                    </a:p>
                  </a:txBody>
                  <a:tcPr marL="114300" marR="114300" marT="66675" marB="66675" anchor="ctr">
                    <a:solidFill>
                      <a:srgbClr val="FFFFFF"/>
                    </a:solidFill>
                  </a:tcPr>
                </a:tc>
              </a:tr>
              <a:tr h="809625">
                <a:tc>
                  <a:txBody>
                    <a:bodyPr/>
                    <a:lstStyle/>
                    <a:p>
                      <a:r>
                        <a:rPr sz="2250">
                          <a:solidFill>
                            <a:srgbClr val="173047"/>
                          </a:solidFill>
                          <a:latin typeface="Arial"/>
                          <a:ea typeface="Arial"/>
                          <a:cs typeface="Arial"/>
                        </a:rPr>
                        <a:t>MILP</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(1, 0, 1, 0)</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15</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Виконати A і C</a:t>
                      </a:r>
                    </a:p>
                  </a:txBody>
                  <a:tcPr marL="114300" marR="114300" marT="66675" marB="66675" anchor="ctr">
                    <a:solidFill>
                      <a:srgbClr val="FFFFFF"/>
                    </a:solidFill>
                  </a:tcPr>
                </a:tc>
              </a:tr>
              <a:tr h="809625">
                <a:tc>
                  <a:txBody>
                    <a:bodyPr/>
                    <a:lstStyle/>
                    <a:p>
                      <a:r>
                        <a:rPr sz="2250">
                          <a:solidFill>
                            <a:srgbClr val="173047"/>
                          </a:solidFill>
                          <a:latin typeface="Arial"/>
                          <a:ea typeface="Arial"/>
                          <a:cs typeface="Arial"/>
                        </a:rPr>
                        <a:t>Повний перебір</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16 кандидатів</a:t>
                      </a:r>
                    </a:p>
                  </a:txBody>
                  <a:tcPr marL="114300" marR="114300" marT="66675" marB="66675" anchor="ctr">
                    <a:solidFill>
                      <a:srgbClr val="FFFFFF"/>
                    </a:solidFill>
                  </a:tcPr>
                </a:tc>
                <a:tc>
                  <a:txBody>
                    <a:bodyPr/>
                    <a:lstStyle/>
                    <a:p>
                      <a:r>
                        <a:rPr sz="2250">
                          <a:solidFill>
                            <a:srgbClr val="173047"/>
                          </a:solidFill>
                          <a:latin typeface="Arial"/>
                          <a:ea typeface="Arial"/>
                          <a:cs typeface="Arial"/>
                        </a:rPr>
                        <a:t>15</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Незалежна перевірка</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BF782FC-0AB5-47AE-9724-3CA7035D078D}"/>
              </a:ext>
            </a:extLst>
          </p:cNvPr>
          <p:cNvSpPr>
            <a:spLocks xmlns:a="http://schemas.openxmlformats.org/drawingml/2006/main" noGrp="1"/>
          </p:cNvSpPr>
          <p:nvPr/>
        </p:nvSpPr>
        <p:spPr>
          <a:xfrm xmlns:a="http://schemas.openxmlformats.org/drawingml/2006/main">
            <a:off x="762000" y="50768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defRPr sz="2250" b="0">
                <a:solidFill>
                  <a:srgbClr val="566779"/>
                </a:solidFill>
                <a:latin typeface="Arial"/>
                <a:ea typeface="Arial"/>
                <a:cs typeface="Arial"/>
              </a:defRPr>
            </a:pPr>
            <a:r>
              <a:rPr sz="2250" b="0">
                <a:solidFill>
                  <a:srgbClr val="566779"/>
                </a:solidFill>
                <a:latin typeface="Arial"/>
                <a:ea typeface="Arial"/>
                <a:cs typeface="Arial"/>
              </a:rPr>
              <a:t>У повному переборі n бінарних змінних дають 2ⁿ кандидатів.</a:t>
            </a:r>
          </a:p>
          <a:p xmlns:a="http://schemas.openxmlformats.org/drawingml/2006/main">
            <a:pPr algn="l">
              <a:defRPr sz="2250" b="0">
                <a:solidFill>
                  <a:srgbClr val="566779"/>
                </a:solidFill>
                <a:latin typeface="Arial"/>
                <a:ea typeface="Arial"/>
                <a:cs typeface="Arial"/>
              </a:defRPr>
            </a:pPr>
            <a:r>
              <a:rPr sz="2250" b="0">
                <a:solidFill>
                  <a:srgbClr val="566779"/>
                </a:solidFill>
                <a:latin typeface="Arial"/>
                <a:ea typeface="Arial"/>
                <a:cs typeface="Arial"/>
              </a:rPr>
              <a:t>Тому для великих моделей потрібен відсів.</a:t>
            </a:r>
          </a:p>
        </p:txBody>
      </p:sp>
      <p:sp>
        <p:nvSpPr>
          <p:cNvPr id="5" name="">
            <a:extLst xmlns:a="http://schemas.openxmlformats.org/drawingml/2006/main">
              <a:ext uri="{FF2B5EF4-FFF2-40B4-BE49-F238E27FC236}">
                <a16:creationId xmlns:a16="http://schemas.microsoft.com/office/drawing/2014/main" id="{9D8B56E5-6463-4744-8E7C-D28E4AE7E8C3}"/>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122</a:t>
            </a:r>
          </a:p>
        </p:txBody>
      </p:sp>
    </p:spTree>
    <p:extLst>
      <p:ext uri="{BB962C8B-B14F-4D97-AF65-F5344CB8AC3E}">
        <p14:creationId xmlns:p14="http://schemas.microsoft.com/office/powerpoint/2010/main" val="532327605"/>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D66F3C-6D3B-4CD0-9763-E8438DC3E70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Гілки і межі: напрям оцінок</a:t>
            </a:r>
          </a:p>
        </p:txBody>
      </p:sp>
      <p:sp>
        <p:nvSpPr>
          <p:cNvPr id="2" name="">
            <a:extLst xmlns:a="http://schemas.openxmlformats.org/drawingml/2006/main">
              <a:ext uri="{FF2B5EF4-FFF2-40B4-BE49-F238E27FC236}">
                <a16:creationId xmlns:a16="http://schemas.microsoft.com/office/drawing/2014/main" id="{F5263224-AB06-4C34-BC92-FC17042362A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Відсів порівнює LP-межу вузла з уже допустимим планом.</a:t>
            </a:r>
          </a:p>
        </p:txBody>
      </p:sp>
      <p:graphicFrame>
        <p:nvGraphicFramePr>
          <p:cNvPr id="3" name="">
            <a:extLst xmlns:a="http://schemas.openxmlformats.org/drawingml/2006/main">
              <a:ext uri="{FF2B5EF4-FFF2-40B4-BE49-F238E27FC236}">
                <a16:creationId xmlns:a16="http://schemas.microsoft.com/office/drawing/2014/main" id="{7998DF8A-6C1F-452A-BE2A-2BC392070AC3}"/>
              </a:ext>
            </a:extLst>
          </p:cNvPr>
          <p:cNvGraphicFramePr/>
          <p:nvPr/>
        </p:nvGraphicFramePr>
        <p:xfrm>
          <a:off xmlns:a="http://schemas.openxmlformats.org/drawingml/2006/main" x="762000" y="1590675"/>
          <a:ext xmlns:a="http://schemas.openxmlformats.org/drawingml/2006/main" cx="10668000" cy="2476500"/>
        </p:xfrm>
        <a:graphic xmlns:a="http://schemas.openxmlformats.org/drawingml/2006/main">
          <a:graphicData uri="http://schemas.openxmlformats.org/drawingml/2006/table">
            <a:tbl>
              <a:tblPr/>
              <a:tblGrid>
                <a:gridCol w="2000250"/>
                <a:gridCol w="3048000"/>
                <a:gridCol w="3048000"/>
                <a:gridCol w="2571750"/>
              </a:tblGrid>
              <a:tr h="825500">
                <a:tc>
                  <a:txBody>
                    <a:bodyPr/>
                    <a:lstStyle/>
                    <a:p>
                      <a:r>
                        <a:rPr sz="2250" b="1">
                          <a:solidFill>
                            <a:srgbClr val="FFFFFF"/>
                          </a:solidFill>
                          <a:latin typeface="Arial"/>
                          <a:ea typeface="Arial"/>
                          <a:cs typeface="Arial"/>
                        </a:rPr>
                        <a:t>Задача</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Оцінка LP-вузла</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Відомий цілий план</a:t>
                      </a:r>
                    </a:p>
                  </a:txBody>
                  <a:tcPr marL="114300" marR="114300" marT="66675" marB="66675" anchor="ctr">
                    <a:solidFill>
                      <a:srgbClr val="173047"/>
                    </a:solidFill>
                  </a:tcPr>
                </a:tc>
                <a:tc>
                  <a:txBody>
                    <a:bodyPr/>
                    <a:lstStyle/>
                    <a:p>
                      <a:r>
                        <a:rPr sz="2250" b="1">
                          <a:solidFill>
                            <a:srgbClr val="FFFFFF"/>
                          </a:solidFill>
                          <a:latin typeface="Arial"/>
                          <a:ea typeface="Arial"/>
                          <a:cs typeface="Arial"/>
                        </a:rPr>
                        <a:t>Відсів вузла</a:t>
                      </a:r>
                    </a:p>
                  </a:txBody>
                  <a:tcPr marL="114300" marR="114300" marT="66675" marB="66675" anchor="ctr">
                    <a:solidFill>
                      <a:srgbClr val="173047"/>
                    </a:solidFill>
                  </a:tcPr>
                </a:tc>
              </a:tr>
              <a:tr h="825500">
                <a:tc>
                  <a:txBody>
                    <a:bodyPr/>
                    <a:lstStyle/>
                    <a:p>
                      <a:r>
                        <a:rPr sz="2250">
                          <a:solidFill>
                            <a:srgbClr val="173047"/>
                          </a:solidFill>
                          <a:latin typeface="Arial"/>
                          <a:ea typeface="Arial"/>
                          <a:cs typeface="Arial"/>
                        </a:rPr>
                        <a:t>min C</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Нижня межа L</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Верхня межа U</a:t>
                      </a:r>
                    </a:p>
                  </a:txBody>
                  <a:tcPr marL="114300" marR="114300" marT="66675" marB="66675" anchor="ctr">
                    <a:solidFill>
                      <a:srgbClr val="FFFFFF"/>
                    </a:solidFill>
                  </a:tcPr>
                </a:tc>
                <a:tc>
                  <a:txBody>
                    <a:bodyPr/>
                    <a:lstStyle/>
                    <a:p>
                      <a:r>
                        <a:rPr sz="2250">
                          <a:solidFill>
                            <a:srgbClr val="173047"/>
                          </a:solidFill>
                          <a:latin typeface="Arial"/>
                          <a:ea typeface="Arial"/>
                          <a:cs typeface="Arial"/>
                        </a:rPr>
                        <a:t>L ≥ U</a:t>
                      </a:r>
                    </a:p>
                  </a:txBody>
                  <a:tcPr marL="114300" marR="114300" marT="66675" marB="66675" anchor="ctr">
                    <a:solidFill>
                      <a:srgbClr val="FFFFFF"/>
                    </a:solidFill>
                  </a:tcPr>
                </a:tc>
              </a:tr>
              <a:tr h="825500">
                <a:tc>
                  <a:txBody>
                    <a:bodyPr/>
                    <a:lstStyle/>
                    <a:p>
                      <a:r>
                        <a:rPr sz="2250">
                          <a:solidFill>
                            <a:srgbClr val="173047"/>
                          </a:solidFill>
                          <a:latin typeface="Arial"/>
                          <a:ea typeface="Arial"/>
                          <a:cs typeface="Arial"/>
                        </a:rPr>
                        <a:t>max F</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Верхня межа U</a:t>
                      </a:r>
                    </a:p>
                  </a:txBody>
                  <a:tcPr marL="114300" marR="114300" marT="66675" marB="66675" anchor="ctr">
                    <a:solidFill>
                      <a:srgbClr val="FFFFFF"/>
                    </a:solidFill>
                  </a:tcPr>
                </a:tc>
                <a:tc>
                  <a:txBody>
                    <a:bodyPr/>
                    <a:lstStyle/>
                    <a:p>
                      <a:r>
                        <a:rPr sz="2250">
                          <a:solidFill>
                            <a:srgbClr val="173047"/>
                          </a:solidFill>
                          <a:latin typeface="Arial"/>
                          <a:ea typeface="Arial"/>
                          <a:cs typeface="Arial"/>
                        </a:rPr>
                        <a:t>Нижня межа L</a:t>
                      </a:r>
                    </a:p>
                  </a:txBody>
                  <a:tcPr marL="114300" marR="114300" marT="66675" marB="66675" anchor="ctr">
                    <a:solidFill>
                      <a:srgbClr val="FFFFFF"/>
                    </a:solidFill>
                  </a:tcPr>
                </a:tc>
                <a:tc>
                  <a:txBody>
                    <a:bodyPr/>
                    <a:lstStyle/>
                    <a:p>
                      <a:r>
                        <a:rPr sz="2250">
                          <a:solidFill>
                            <a:srgbClr val="173047"/>
                          </a:solidFill>
                          <a:latin typeface="Arial"/>
                          <a:ea typeface="Arial"/>
                          <a:cs typeface="Arial"/>
                        </a:rPr>
                        <a:t>U ≤ L</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8FBEF53-5160-40BA-93AF-34DD133D219F}"/>
              </a:ext>
            </a:extLst>
          </p:cNvPr>
          <p:cNvSpPr>
            <a:spLocks xmlns:a="http://schemas.openxmlformats.org/drawingml/2006/main" noGrp="1"/>
          </p:cNvSpPr>
          <p:nvPr/>
        </p:nvSpPr>
        <p:spPr>
          <a:xfrm xmlns:a="http://schemas.openxmlformats.org/drawingml/2006/main">
            <a:off x="762000" y="46005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00857D"/>
                </a:solidFill>
                <a:latin typeface="Arial"/>
                <a:ea typeface="Arial"/>
                <a:cs typeface="Arial"/>
              </a:defRPr>
            </a:defPPr>
          </a:lstStyle>
          <a:p xmlns:a="http://schemas.openxmlformats.org/drawingml/2006/main">
            <a:pPr algn="l">
              <a:defRPr sz="2700" b="1">
                <a:solidFill>
                  <a:srgbClr val="00857D"/>
                </a:solidFill>
                <a:latin typeface="Arial"/>
                <a:ea typeface="Arial"/>
                <a:cs typeface="Arial"/>
              </a:defRPr>
            </a:pPr>
            <a:r>
              <a:rPr sz="2700" b="1">
                <a:solidFill>
                  <a:srgbClr val="00857D"/>
                </a:solidFill>
                <a:latin typeface="Arial"/>
                <a:ea typeface="Arial"/>
                <a:cs typeface="Arial"/>
              </a:rPr>
              <a:t>У GPU-прикладі: LP дає U=15.25.</a:t>
            </a:r>
          </a:p>
          <a:p xmlns:a="http://schemas.openxmlformats.org/drawingml/2006/main">
            <a:pPr algn="l">
              <a:defRPr sz="2700" b="1">
                <a:solidFill>
                  <a:srgbClr val="00857D"/>
                </a:solidFill>
                <a:latin typeface="Arial"/>
                <a:ea typeface="Arial"/>
                <a:cs typeface="Arial"/>
              </a:defRPr>
            </a:pPr>
            <a:r>
              <a:rPr sz="2700" b="1">
                <a:solidFill>
                  <a:srgbClr val="00857D"/>
                </a:solidFill>
                <a:latin typeface="Arial"/>
                <a:ea typeface="Arial"/>
                <a:cs typeface="Arial"/>
              </a:rPr>
              <a:t>Після плану A,C відома нижня межа L=15.</a:t>
            </a:r>
          </a:p>
        </p:txBody>
      </p:sp>
      <p:sp>
        <p:nvSpPr>
          <p:cNvPr id="5" name="">
            <a:extLst xmlns:a="http://schemas.openxmlformats.org/drawingml/2006/main">
              <a:ext uri="{FF2B5EF4-FFF2-40B4-BE49-F238E27FC236}">
                <a16:creationId xmlns:a16="http://schemas.microsoft.com/office/drawing/2014/main" id="{A71F74A3-CA24-4EDA-A8B7-A66D69E791D9}"/>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123</a:t>
            </a:r>
          </a:p>
        </p:txBody>
      </p:sp>
    </p:spTree>
    <p:extLst>
      <p:ext uri="{BB962C8B-B14F-4D97-AF65-F5344CB8AC3E}">
        <p14:creationId xmlns:p14="http://schemas.microsoft.com/office/powerpoint/2010/main" val="1532621459"/>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02299F-BEB3-402C-A321-DB85ECFEF5A1}"/>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Гілки і межі: три LP-вузли GPU-прикладу</a:t>
            </a:r>
          </a:p>
        </p:txBody>
      </p:sp>
      <p:sp>
        <p:nvSpPr>
          <p:cNvPr id="2" name="">
            <a:extLst xmlns:a="http://schemas.openxmlformats.org/drawingml/2006/main">
              <a:ext uri="{FF2B5EF4-FFF2-40B4-BE49-F238E27FC236}">
                <a16:creationId xmlns:a16="http://schemas.microsoft.com/office/drawing/2014/main" id="{F0482F4C-A33E-4CB5-A437-B65D263EE71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Гілка x₂=1 має межу 15 і вже не поліпшить план із F=15.</a:t>
            </a:r>
          </a:p>
        </p:txBody>
      </p:sp>
      <p:graphicFrame>
        <p:nvGraphicFramePr>
          <p:cNvPr id="3" name="">
            <a:extLst xmlns:a="http://schemas.openxmlformats.org/drawingml/2006/main">
              <a:ext uri="{FF2B5EF4-FFF2-40B4-BE49-F238E27FC236}">
                <a16:creationId xmlns:a16="http://schemas.microsoft.com/office/drawing/2014/main" id="{706664E0-9294-4E60-BC64-160AE08098D2}"/>
              </a:ext>
            </a:extLst>
          </p:cNvPr>
          <p:cNvGraphicFramePr/>
          <p:nvPr/>
        </p:nvGraphicFramePr>
        <p:xfrm>
          <a:off xmlns:a="http://schemas.openxmlformats.org/drawingml/2006/main" x="762000" y="1590675"/>
          <a:ext xmlns:a="http://schemas.openxmlformats.org/drawingml/2006/main" cx="10668000" cy="3276600"/>
        </p:xfrm>
        <a:graphic xmlns:a="http://schemas.openxmlformats.org/drawingml/2006/main">
          <a:graphicData uri="http://schemas.openxmlformats.org/drawingml/2006/table">
            <a:tbl>
              <a:tblPr/>
              <a:tblGrid>
                <a:gridCol w="1047750"/>
                <a:gridCol w="2095500"/>
                <a:gridCol w="2952750"/>
                <a:gridCol w="1666875"/>
                <a:gridCol w="2905125"/>
              </a:tblGrid>
              <a:tr h="819150">
                <a:tc>
                  <a:txBody>
                    <a:bodyPr/>
                    <a:lstStyle/>
                    <a:p>
                      <a:r>
                        <a:rPr sz="2100" b="1">
                          <a:solidFill>
                            <a:srgbClr val="FFFFFF"/>
                          </a:solidFill>
                          <a:latin typeface="Arial"/>
                          <a:ea typeface="Arial"/>
                          <a:cs typeface="Arial"/>
                        </a:rPr>
                        <a:t>Крок</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Умова вузла</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LP-план</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U вузла</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Дія</a:t>
                      </a:r>
                    </a:p>
                  </a:txBody>
                  <a:tcPr marL="114300" marR="114300" marT="66675" marB="66675" anchor="ctr">
                    <a:solidFill>
                      <a:srgbClr val="173047"/>
                    </a:solidFill>
                  </a:tcPr>
                </a:tc>
              </a:tr>
              <a:tr h="819150">
                <a:tc>
                  <a:txBody>
                    <a:bodyPr/>
                    <a:lstStyle/>
                    <a:p>
                      <a:r>
                        <a:rPr sz="2100">
                          <a:solidFill>
                            <a:srgbClr val="173047"/>
                          </a:solidFill>
                          <a:latin typeface="Arial"/>
                          <a:ea typeface="Arial"/>
                          <a:cs typeface="Arial"/>
                        </a:rPr>
                        <a:t>0</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Корінь</a:t>
                      </a:r>
                    </a:p>
                  </a:txBody>
                  <a:tcPr marL="114300" marR="114300" marT="66675" marB="66675" anchor="ctr">
                    <a:solidFill>
                      <a:srgbClr val="FFFFFF"/>
                    </a:solidFill>
                  </a:tcPr>
                </a:tc>
                <a:tc>
                  <a:txBody>
                    <a:bodyPr/>
                    <a:lstStyle/>
                    <a:p>
                      <a:r>
                        <a:rPr sz="2100">
                          <a:solidFill>
                            <a:srgbClr val="173047"/>
                          </a:solidFill>
                          <a:latin typeface="Arial"/>
                          <a:ea typeface="Arial"/>
                          <a:cs typeface="Arial"/>
                        </a:rPr>
                        <a:t>(1,0.75,0,0)</a:t>
                      </a:r>
                    </a:p>
                  </a:txBody>
                  <a:tcPr marL="114300" marR="114300" marT="66675" marB="66675" anchor="ctr">
                    <a:solidFill>
                      <a:srgbClr val="FFFFFF"/>
                    </a:solidFill>
                  </a:tcPr>
                </a:tc>
                <a:tc>
                  <a:txBody>
                    <a:bodyPr/>
                    <a:lstStyle/>
                    <a:p>
                      <a:r>
                        <a:rPr sz="2100">
                          <a:solidFill>
                            <a:srgbClr val="173047"/>
                          </a:solidFill>
                          <a:latin typeface="Arial"/>
                          <a:ea typeface="Arial"/>
                          <a:cs typeface="Arial"/>
                        </a:rPr>
                        <a:t>15.25</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Гілкувати x₂</a:t>
                      </a:r>
                    </a:p>
                  </a:txBody>
                  <a:tcPr marL="114300" marR="114300" marT="66675" marB="66675" anchor="ctr">
                    <a:solidFill>
                      <a:srgbClr val="FFFFFF"/>
                    </a:solidFill>
                  </a:tcPr>
                </a:tc>
              </a:tr>
              <a:tr h="819150">
                <a:tc>
                  <a:txBody>
                    <a:bodyPr/>
                    <a:lstStyle/>
                    <a:p>
                      <a:r>
                        <a:rPr sz="2100">
                          <a:solidFill>
                            <a:srgbClr val="173047"/>
                          </a:solidFill>
                          <a:latin typeface="Arial"/>
                          <a:ea typeface="Arial"/>
                          <a:cs typeface="Arial"/>
                        </a:rPr>
                        <a:t>1</a:t>
                      </a:r>
                    </a:p>
                  </a:txBody>
                  <a:tcPr marL="114300" marR="114300" marT="66675" marB="66675" anchor="ctr">
                    <a:solidFill>
                      <a:srgbClr val="FFFFFF"/>
                    </a:solidFill>
                  </a:tcPr>
                </a:tc>
                <a:tc>
                  <a:txBody>
                    <a:bodyPr/>
                    <a:lstStyle/>
                    <a:p>
                      <a:r>
                        <a:rPr sz="2100">
                          <a:solidFill>
                            <a:srgbClr val="173047"/>
                          </a:solidFill>
                          <a:latin typeface="Arial"/>
                          <a:ea typeface="Arial"/>
                          <a:cs typeface="Arial"/>
                        </a:rPr>
                        <a:t>x₂=0</a:t>
                      </a:r>
                    </a:p>
                  </a:txBody>
                  <a:tcPr marL="114300" marR="114300" marT="66675" marB="66675" anchor="ctr">
                    <a:solidFill>
                      <a:srgbClr val="FFFFFF"/>
                    </a:solidFill>
                  </a:tcPr>
                </a:tc>
                <a:tc>
                  <a:txBody>
                    <a:bodyPr/>
                    <a:lstStyle/>
                    <a:p>
                      <a:r>
                        <a:rPr sz="2100">
                          <a:solidFill>
                            <a:srgbClr val="173047"/>
                          </a:solidFill>
                          <a:latin typeface="Arial"/>
                          <a:ea typeface="Arial"/>
                          <a:cs typeface="Arial"/>
                        </a:rPr>
                        <a:t>(1,0,1,0)</a:t>
                      </a:r>
                    </a:p>
                  </a:txBody>
                  <a:tcPr marL="114300" marR="114300" marT="66675" marB="66675" anchor="ctr">
                    <a:solidFill>
                      <a:srgbClr val="FFFFFF"/>
                    </a:solidFill>
                  </a:tcPr>
                </a:tc>
                <a:tc>
                  <a:txBody>
                    <a:bodyPr/>
                    <a:lstStyle/>
                    <a:p>
                      <a:r>
                        <a:rPr sz="2100">
                          <a:solidFill>
                            <a:srgbClr val="173047"/>
                          </a:solidFill>
                          <a:latin typeface="Arial"/>
                          <a:ea typeface="Arial"/>
                          <a:cs typeface="Arial"/>
                        </a:rPr>
                        <a:t>15</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Оновити L=15</a:t>
                      </a:r>
                    </a:p>
                  </a:txBody>
                  <a:tcPr marL="114300" marR="114300" marT="66675" marB="66675" anchor="ctr">
                    <a:solidFill>
                      <a:srgbClr val="FFFFFF"/>
                    </a:solidFill>
                  </a:tcPr>
                </a:tc>
              </a:tr>
              <a:tr h="819150">
                <a:tc>
                  <a:txBody>
                    <a:bodyPr/>
                    <a:lstStyle/>
                    <a:p>
                      <a:r>
                        <a:rPr sz="2100">
                          <a:solidFill>
                            <a:srgbClr val="173047"/>
                          </a:solidFill>
                          <a:latin typeface="Arial"/>
                          <a:ea typeface="Arial"/>
                          <a:cs typeface="Arial"/>
                        </a:rPr>
                        <a:t>2</a:t>
                      </a:r>
                    </a:p>
                  </a:txBody>
                  <a:tcPr marL="114300" marR="114300" marT="66675" marB="66675" anchor="ctr">
                    <a:solidFill>
                      <a:srgbClr val="FFFFFF"/>
                    </a:solidFill>
                  </a:tcPr>
                </a:tc>
                <a:tc>
                  <a:txBody>
                    <a:bodyPr/>
                    <a:lstStyle/>
                    <a:p>
                      <a:r>
                        <a:rPr sz="2100">
                          <a:solidFill>
                            <a:srgbClr val="173047"/>
                          </a:solidFill>
                          <a:latin typeface="Arial"/>
                          <a:ea typeface="Arial"/>
                          <a:cs typeface="Arial"/>
                        </a:rPr>
                        <a:t>x₂=1</a:t>
                      </a:r>
                    </a:p>
                  </a:txBody>
                  <a:tcPr marL="114300" marR="114300" marT="66675" marB="66675" anchor="ctr">
                    <a:solidFill>
                      <a:srgbClr val="FFFFFF"/>
                    </a:solidFill>
                  </a:tcPr>
                </a:tc>
                <a:tc>
                  <a:txBody>
                    <a:bodyPr/>
                    <a:lstStyle/>
                    <a:p>
                      <a:r>
                        <a:rPr sz="2100">
                          <a:solidFill>
                            <a:srgbClr val="173047"/>
                          </a:solidFill>
                          <a:latin typeface="Arial"/>
                          <a:ea typeface="Arial"/>
                          <a:cs typeface="Arial"/>
                        </a:rPr>
                        <a:t>(0.8,1,0,0)</a:t>
                      </a:r>
                    </a:p>
                  </a:txBody>
                  <a:tcPr marL="114300" marR="114300" marT="66675" marB="66675" anchor="ctr">
                    <a:solidFill>
                      <a:srgbClr val="FFFFFF"/>
                    </a:solidFill>
                  </a:tcPr>
                </a:tc>
                <a:tc>
                  <a:txBody>
                    <a:bodyPr/>
                    <a:lstStyle/>
                    <a:p>
                      <a:r>
                        <a:rPr sz="2100">
                          <a:solidFill>
                            <a:srgbClr val="173047"/>
                          </a:solidFill>
                          <a:latin typeface="Arial"/>
                          <a:ea typeface="Arial"/>
                          <a:cs typeface="Arial"/>
                        </a:rPr>
                        <a:t>15</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Відсів: U≤L</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466A2BF-CB1F-4EA5-B17F-EB399F969490}"/>
              </a:ext>
            </a:extLst>
          </p:cNvPr>
          <p:cNvSpPr>
            <a:spLocks xmlns:a="http://schemas.openxmlformats.org/drawingml/2006/main" noGrp="1"/>
          </p:cNvSpPr>
          <p:nvPr/>
        </p:nvSpPr>
        <p:spPr>
          <a:xfrm xmlns:a="http://schemas.openxmlformats.org/drawingml/2006/main">
            <a:off x="762000" y="52197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00857D"/>
                </a:solidFill>
                <a:latin typeface="Arial"/>
                <a:ea typeface="Arial"/>
                <a:cs typeface="Arial"/>
              </a:defRPr>
            </a:defPPr>
          </a:lstStyle>
          <a:p xmlns:a="http://schemas.openxmlformats.org/drawingml/2006/main">
            <a:pPr algn="l">
              <a:defRPr sz="2400" b="1">
                <a:solidFill>
                  <a:srgbClr val="00857D"/>
                </a:solidFill>
                <a:latin typeface="Arial"/>
                <a:ea typeface="Arial"/>
                <a:cs typeface="Arial"/>
              </a:defRPr>
            </a:pPr>
            <a:r>
              <a:rPr sz="2400" b="1">
                <a:solidFill>
                  <a:srgbClr val="00857D"/>
                </a:solidFill>
                <a:latin typeface="Arial"/>
                <a:ea typeface="Arial"/>
                <a:cs typeface="Arial"/>
              </a:rPr>
              <a:t>Останній LP-план дробовий, але ділити цю гілку вже не потрібно.</a:t>
            </a:r>
          </a:p>
        </p:txBody>
      </p:sp>
      <p:sp>
        <p:nvSpPr>
          <p:cNvPr id="5" name="">
            <a:extLst xmlns:a="http://schemas.openxmlformats.org/drawingml/2006/main">
              <a:ext uri="{FF2B5EF4-FFF2-40B4-BE49-F238E27FC236}">
                <a16:creationId xmlns:a16="http://schemas.microsoft.com/office/drawing/2014/main" id="{47AC0FEF-6BF9-4348-884F-54ABCBD5E9DD}"/>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124</a:t>
            </a:r>
          </a:p>
        </p:txBody>
      </p:sp>
    </p:spTree>
    <p:extLst>
      <p:ext uri="{BB962C8B-B14F-4D97-AF65-F5344CB8AC3E}">
        <p14:creationId xmlns:p14="http://schemas.microsoft.com/office/powerpoint/2010/main" val="1733347745"/>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4DA4C6A7-0AF0-4E1F-AE01-11BB71A42586}"/>
              </a:ext>
            </a:extLst>
          </p:cNvPr>
          <p:cNvCxnSpPr>
            <a:stCxn xmlns:a="http://schemas.openxmlformats.org/drawingml/2006/main" id="3" idx="2"/>
            <a:endCxn xmlns:a="http://schemas.openxmlformats.org/drawingml/2006/main" id="7" idx="0"/>
          </p:cNvCxnSpPr>
          <p:nvPr/>
        </p:nvCxnSpPr>
        <p:spPr>
          <a:xfrm xmlns:a="http://schemas.openxmlformats.org/drawingml/2006/main">
            <a:off x="6096000" y="2619375"/>
            <a:ext cx="2857500" cy="1257300"/>
          </a:xfrm>
          <a:prstGeom xmlns:a="http://schemas.openxmlformats.org/drawingml/2006/main" prst="straightConnector1">
            <a:avLst/>
          </a:prstGeom>
          <a:ln xmlns:a="http://schemas.openxmlformats.org/drawingml/2006/main" w="28575">
            <a:solidFill>
              <a:srgbClr val="00857D"/>
            </a:solidFill>
            <a:tailEnd type="triangle" w="med" len="med"/>
          </a:ln>
        </p:spPr>
      </p:cxnSp>
      <p:cxnSp>
        <p:nvCxnSpPr>
          <p:cNvPr id="9" name="">
            <a:extLst xmlns:a="http://schemas.openxmlformats.org/drawingml/2006/main">
              <a:ext uri="{FF2B5EF4-FFF2-40B4-BE49-F238E27FC236}">
                <a16:creationId xmlns:a16="http://schemas.microsoft.com/office/drawing/2014/main" id="{18C50DA6-C708-43CB-B05E-5240FE51E813}"/>
              </a:ext>
            </a:extLst>
          </p:cNvPr>
          <p:cNvCxnSpPr>
            <a:stCxn xmlns:a="http://schemas.openxmlformats.org/drawingml/2006/main" id="3" idx="2"/>
            <a:endCxn xmlns:a="http://schemas.openxmlformats.org/drawingml/2006/main" id="5" idx="0"/>
          </p:cNvCxnSpPr>
          <p:nvPr/>
        </p:nvCxnSpPr>
        <p:spPr>
          <a:xfrm xmlns:a="http://schemas.openxmlformats.org/drawingml/2006/main" flipH="1">
            <a:off x="3190875" y="2619375"/>
            <a:ext cx="2905125" cy="1257300"/>
          </a:xfrm>
          <a:prstGeom xmlns:a="http://schemas.openxmlformats.org/drawingml/2006/main" prst="straightConnector1">
            <a:avLst/>
          </a:prstGeom>
          <a:ln xmlns:a="http://schemas.openxmlformats.org/drawingml/2006/main" w="28575">
            <a:solidFill>
              <a:srgbClr val="00857D"/>
            </a:solidFill>
            <a:tailEnd type="triangle" w="med" len="med"/>
          </a:ln>
        </p:spPr>
      </p:cxnSp>
      <p:sp>
        <p:nvSpPr>
          <p:cNvPr id="14" name="">
            <a:extLst xmlns:a="http://schemas.openxmlformats.org/drawingml/2006/main">
              <a:ext uri="{FF2B5EF4-FFF2-40B4-BE49-F238E27FC236}">
                <a16:creationId xmlns:a16="http://schemas.microsoft.com/office/drawing/2014/main" id="{2AE0B5E5-6AC3-476D-87AE-E087016DC595}"/>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GPU-завдання: дерево з відсівом</a:t>
            </a:r>
          </a:p>
        </p:txBody>
      </p:sp>
      <p:sp>
        <p:nvSpPr>
          <p:cNvPr id="2" name="">
            <a:extLst xmlns:a="http://schemas.openxmlformats.org/drawingml/2006/main">
              <a:ext uri="{FF2B5EF4-FFF2-40B4-BE49-F238E27FC236}">
                <a16:creationId xmlns:a16="http://schemas.microsoft.com/office/drawing/2014/main" id="{3C48959D-5399-4041-BED0-22A87C52B053}"/>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Черга порожня, а найкращий допустимий план має F=15.</a:t>
            </a:r>
          </a:p>
        </p:txBody>
      </p:sp>
      <p:sp>
        <p:nvSpPr>
          <p:cNvPr id="3" name="">
            <a:extLst xmlns:a="http://schemas.openxmlformats.org/drawingml/2006/main">
              <a:ext uri="{FF2B5EF4-FFF2-40B4-BE49-F238E27FC236}">
                <a16:creationId xmlns:a16="http://schemas.microsoft.com/office/drawing/2014/main" id="{E7F19E4B-A719-405F-B261-443C79286C9F}"/>
              </a:ext>
            </a:extLst>
          </p:cNvPr>
          <p:cNvSpPr>
            <a:spLocks xmlns:a="http://schemas.openxmlformats.org/drawingml/2006/main" noGrp="1"/>
          </p:cNvSpPr>
          <p:nvPr/>
        </p:nvSpPr>
        <p:spPr>
          <a:xfrm xmlns:a="http://schemas.openxmlformats.org/drawingml/2006/main">
            <a:off x="4095750" y="1476375"/>
            <a:ext cx="4000500" cy="1143000"/>
          </a:xfrm>
          <a:prstGeom xmlns:a="http://schemas.openxmlformats.org/drawingml/2006/main" prst="rect">
            <a:avLst/>
          </a:prstGeom>
          <a:solidFill xmlns:a="http://schemas.openxmlformats.org/drawingml/2006/main">
            <a:srgbClr val="F1F5F8"/>
          </a:solidFill>
          <a:ln xmlns:a="http://schemas.openxmlformats.org/drawingml/2006/main" w="19050">
            <a:solidFill>
              <a:srgbClr val="CDD8E1"/>
            </a:solidFill>
          </a:ln>
        </p:spPr>
      </p:sp>
      <p:sp>
        <p:nvSpPr>
          <p:cNvPr id="4" name="">
            <a:extLst xmlns:a="http://schemas.openxmlformats.org/drawingml/2006/main">
              <a:ext uri="{FF2B5EF4-FFF2-40B4-BE49-F238E27FC236}">
                <a16:creationId xmlns:a16="http://schemas.microsoft.com/office/drawing/2014/main" id="{1B6FE062-537E-4874-9FD5-9397E3A3A3C2}"/>
              </a:ext>
            </a:extLst>
          </p:cNvPr>
          <p:cNvSpPr>
            <a:spLocks xmlns:a="http://schemas.openxmlformats.org/drawingml/2006/main" noGrp="1"/>
          </p:cNvSpPr>
          <p:nvPr/>
        </p:nvSpPr>
        <p:spPr>
          <a:xfrm xmlns:a="http://schemas.openxmlformats.org/drawingml/2006/main">
            <a:off x="4229100" y="1552575"/>
            <a:ext cx="3733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defRPr sz="2250" b="1">
                <a:solidFill>
                  <a:srgbClr val="173047"/>
                </a:solidFill>
                <a:latin typeface="Arial"/>
                <a:ea typeface="Arial"/>
                <a:cs typeface="Arial"/>
              </a:defRPr>
            </a:pPr>
            <a:r>
              <a:rPr sz="2250" b="1">
                <a:solidFill>
                  <a:srgbClr val="173047"/>
                </a:solidFill>
                <a:latin typeface="Arial"/>
                <a:ea typeface="Arial"/>
                <a:cs typeface="Arial"/>
              </a:rPr>
              <a:t>0. Корінь</a:t>
            </a:r>
          </a:p>
          <a:p xmlns:a="http://schemas.openxmlformats.org/drawingml/2006/main">
            <a:pPr algn="ctr">
              <a:defRPr sz="2250" b="1">
                <a:solidFill>
                  <a:srgbClr val="173047"/>
                </a:solidFill>
                <a:latin typeface="Arial"/>
                <a:ea typeface="Arial"/>
                <a:cs typeface="Arial"/>
              </a:defRPr>
            </a:pPr>
            <a:r>
              <a:rPr sz="2250" b="1">
                <a:solidFill>
                  <a:srgbClr val="173047"/>
                </a:solidFill>
                <a:latin typeface="Arial"/>
                <a:ea typeface="Arial"/>
                <a:cs typeface="Arial"/>
              </a:rPr>
              <a:t>x₂=0.75, U=15.25</a:t>
            </a:r>
          </a:p>
        </p:txBody>
      </p:sp>
      <p:sp>
        <p:nvSpPr>
          <p:cNvPr id="5" name="">
            <a:extLst xmlns:a="http://schemas.openxmlformats.org/drawingml/2006/main">
              <a:ext uri="{FF2B5EF4-FFF2-40B4-BE49-F238E27FC236}">
                <a16:creationId xmlns:a16="http://schemas.microsoft.com/office/drawing/2014/main" id="{5708600C-665B-411A-ADF7-B3E3DF47B4F0}"/>
              </a:ext>
            </a:extLst>
          </p:cNvPr>
          <p:cNvSpPr>
            <a:spLocks xmlns:a="http://schemas.openxmlformats.org/drawingml/2006/main" noGrp="1"/>
          </p:cNvSpPr>
          <p:nvPr/>
        </p:nvSpPr>
        <p:spPr>
          <a:xfrm xmlns:a="http://schemas.openxmlformats.org/drawingml/2006/main">
            <a:off x="762000" y="3876675"/>
            <a:ext cx="4857750" cy="1447800"/>
          </a:xfrm>
          <a:prstGeom xmlns:a="http://schemas.openxmlformats.org/drawingml/2006/main" prst="rect">
            <a:avLst/>
          </a:prstGeom>
          <a:solidFill xmlns:a="http://schemas.openxmlformats.org/drawingml/2006/main">
            <a:srgbClr val="DDF3EC"/>
          </a:solidFill>
          <a:ln xmlns:a="http://schemas.openxmlformats.org/drawingml/2006/main" w="19050">
            <a:solidFill>
              <a:srgbClr val="CDD8E1"/>
            </a:solidFill>
          </a:ln>
        </p:spPr>
      </p:sp>
      <p:sp>
        <p:nvSpPr>
          <p:cNvPr id="6" name="">
            <a:extLst xmlns:a="http://schemas.openxmlformats.org/drawingml/2006/main">
              <a:ext uri="{FF2B5EF4-FFF2-40B4-BE49-F238E27FC236}">
                <a16:creationId xmlns:a16="http://schemas.microsoft.com/office/drawing/2014/main" id="{C1BBE859-BF88-42EF-B397-AD442F13D985}"/>
              </a:ext>
            </a:extLst>
          </p:cNvPr>
          <p:cNvSpPr>
            <a:spLocks xmlns:a="http://schemas.openxmlformats.org/drawingml/2006/main" noGrp="1"/>
          </p:cNvSpPr>
          <p:nvPr/>
        </p:nvSpPr>
        <p:spPr>
          <a:xfrm xmlns:a="http://schemas.openxmlformats.org/drawingml/2006/main">
            <a:off x="895350" y="3952875"/>
            <a:ext cx="45910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defRPr sz="2250" b="1">
                <a:solidFill>
                  <a:srgbClr val="173047"/>
                </a:solidFill>
                <a:latin typeface="Arial"/>
                <a:ea typeface="Arial"/>
                <a:cs typeface="Arial"/>
              </a:defRPr>
            </a:pPr>
            <a:r>
              <a:rPr sz="2250" b="1">
                <a:solidFill>
                  <a:srgbClr val="173047"/>
                </a:solidFill>
                <a:latin typeface="Arial"/>
                <a:ea typeface="Arial"/>
                <a:cs typeface="Arial"/>
              </a:rPr>
              <a:t>1. x₂=0</a:t>
            </a:r>
          </a:p>
          <a:p xmlns:a="http://schemas.openxmlformats.org/drawingml/2006/main">
            <a:pPr algn="ctr">
              <a:defRPr sz="2250" b="1">
                <a:solidFill>
                  <a:srgbClr val="173047"/>
                </a:solidFill>
                <a:latin typeface="Arial"/>
                <a:ea typeface="Arial"/>
                <a:cs typeface="Arial"/>
              </a:defRPr>
            </a:pPr>
            <a:r>
              <a:rPr sz="2250" b="1">
                <a:solidFill>
                  <a:srgbClr val="173047"/>
                </a:solidFill>
                <a:latin typeface="Arial"/>
                <a:ea typeface="Arial"/>
                <a:cs typeface="Arial"/>
              </a:rPr>
              <a:t>x=(1,0,1,0), F=15</a:t>
            </a:r>
          </a:p>
          <a:p xmlns:a="http://schemas.openxmlformats.org/drawingml/2006/main">
            <a:pPr algn="ctr">
              <a:defRPr sz="2250" b="1">
                <a:solidFill>
                  <a:srgbClr val="173047"/>
                </a:solidFill>
                <a:latin typeface="Arial"/>
                <a:ea typeface="Arial"/>
                <a:cs typeface="Arial"/>
              </a:defRPr>
            </a:pPr>
            <a:r>
              <a:rPr sz="2250" b="1">
                <a:solidFill>
                  <a:srgbClr val="173047"/>
                </a:solidFill>
                <a:latin typeface="Arial"/>
                <a:ea typeface="Arial"/>
                <a:cs typeface="Arial"/>
              </a:rPr>
              <a:t>Цілий план, L=15</a:t>
            </a:r>
          </a:p>
        </p:txBody>
      </p:sp>
      <p:sp>
        <p:nvSpPr>
          <p:cNvPr id="7" name="">
            <a:extLst xmlns:a="http://schemas.openxmlformats.org/drawingml/2006/main">
              <a:ext uri="{FF2B5EF4-FFF2-40B4-BE49-F238E27FC236}">
                <a16:creationId xmlns:a16="http://schemas.microsoft.com/office/drawing/2014/main" id="{059D7E68-AD31-4524-8278-001DAA911249}"/>
              </a:ext>
            </a:extLst>
          </p:cNvPr>
          <p:cNvSpPr>
            <a:spLocks xmlns:a="http://schemas.openxmlformats.org/drawingml/2006/main" noGrp="1"/>
          </p:cNvSpPr>
          <p:nvPr/>
        </p:nvSpPr>
        <p:spPr>
          <a:xfrm xmlns:a="http://schemas.openxmlformats.org/drawingml/2006/main">
            <a:off x="6477000" y="3876675"/>
            <a:ext cx="4953000" cy="1447800"/>
          </a:xfrm>
          <a:prstGeom xmlns:a="http://schemas.openxmlformats.org/drawingml/2006/main" prst="rect">
            <a:avLst/>
          </a:prstGeom>
          <a:solidFill xmlns:a="http://schemas.openxmlformats.org/drawingml/2006/main">
            <a:srgbClr val="F1F5F8"/>
          </a:solidFill>
          <a:ln xmlns:a="http://schemas.openxmlformats.org/drawingml/2006/main" w="19050">
            <a:solidFill>
              <a:srgbClr val="CDD8E1"/>
            </a:solidFill>
          </a:ln>
        </p:spPr>
      </p:sp>
      <p:sp>
        <p:nvSpPr>
          <p:cNvPr id="8" name="">
            <a:extLst xmlns:a="http://schemas.openxmlformats.org/drawingml/2006/main">
              <a:ext uri="{FF2B5EF4-FFF2-40B4-BE49-F238E27FC236}">
                <a16:creationId xmlns:a16="http://schemas.microsoft.com/office/drawing/2014/main" id="{A7FFA94B-DB63-4731-AC58-415D04919803}"/>
              </a:ext>
            </a:extLst>
          </p:cNvPr>
          <p:cNvSpPr>
            <a:spLocks xmlns:a="http://schemas.openxmlformats.org/drawingml/2006/main" noGrp="1"/>
          </p:cNvSpPr>
          <p:nvPr/>
        </p:nvSpPr>
        <p:spPr>
          <a:xfrm xmlns:a="http://schemas.openxmlformats.org/drawingml/2006/main">
            <a:off x="6610350" y="3952875"/>
            <a:ext cx="46863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173047"/>
                </a:solidFill>
                <a:latin typeface="Arial"/>
                <a:ea typeface="Arial"/>
                <a:cs typeface="Arial"/>
              </a:defRPr>
            </a:defPPr>
          </a:lstStyle>
          <a:p xmlns:a="http://schemas.openxmlformats.org/drawingml/2006/main">
            <a:pPr algn="ctr">
              <a:defRPr sz="2250" b="1">
                <a:solidFill>
                  <a:srgbClr val="173047"/>
                </a:solidFill>
                <a:latin typeface="Arial"/>
                <a:ea typeface="Arial"/>
                <a:cs typeface="Arial"/>
              </a:defRPr>
            </a:pPr>
            <a:r>
              <a:rPr sz="2250" b="1">
                <a:solidFill>
                  <a:srgbClr val="173047"/>
                </a:solidFill>
                <a:latin typeface="Arial"/>
                <a:ea typeface="Arial"/>
                <a:cs typeface="Arial"/>
              </a:rPr>
              <a:t>2. x₂=1</a:t>
            </a:r>
          </a:p>
          <a:p xmlns:a="http://schemas.openxmlformats.org/drawingml/2006/main">
            <a:pPr algn="ctr">
              <a:defRPr sz="2250" b="1">
                <a:solidFill>
                  <a:srgbClr val="173047"/>
                </a:solidFill>
                <a:latin typeface="Arial"/>
                <a:ea typeface="Arial"/>
                <a:cs typeface="Arial"/>
              </a:defRPr>
            </a:pPr>
            <a:r>
              <a:rPr sz="2250" b="1">
                <a:solidFill>
                  <a:srgbClr val="173047"/>
                </a:solidFill>
                <a:latin typeface="Arial"/>
                <a:ea typeface="Arial"/>
                <a:cs typeface="Arial"/>
              </a:rPr>
              <a:t>x=(0.8,1,0,0), U=15</a:t>
            </a:r>
          </a:p>
          <a:p xmlns:a="http://schemas.openxmlformats.org/drawingml/2006/main">
            <a:pPr algn="ctr">
              <a:defRPr sz="2250" b="1">
                <a:solidFill>
                  <a:srgbClr val="173047"/>
                </a:solidFill>
                <a:latin typeface="Arial"/>
                <a:ea typeface="Arial"/>
                <a:cs typeface="Arial"/>
              </a:defRPr>
            </a:pPr>
            <a:r>
              <a:rPr sz="2250" b="1">
                <a:solidFill>
                  <a:srgbClr val="173047"/>
                </a:solidFill>
                <a:latin typeface="Arial"/>
                <a:ea typeface="Arial"/>
                <a:cs typeface="Arial"/>
              </a:rPr>
              <a:t>Відсів: U≤L</a:t>
            </a:r>
          </a:p>
        </p:txBody>
      </p:sp>
      <p:sp>
        <p:nvSpPr>
          <p:cNvPr id="11" name="">
            <a:extLst xmlns:a="http://schemas.openxmlformats.org/drawingml/2006/main">
              <a:ext uri="{FF2B5EF4-FFF2-40B4-BE49-F238E27FC236}">
                <a16:creationId xmlns:a16="http://schemas.microsoft.com/office/drawing/2014/main" id="{5B457E46-F7C4-46F1-849E-431AC54F866F}"/>
              </a:ext>
            </a:extLst>
          </p:cNvPr>
          <p:cNvSpPr>
            <a:spLocks xmlns:a="http://schemas.openxmlformats.org/drawingml/2006/main" noGrp="1"/>
          </p:cNvSpPr>
          <p:nvPr/>
        </p:nvSpPr>
        <p:spPr>
          <a:xfrm xmlns:a="http://schemas.openxmlformats.org/drawingml/2006/main">
            <a:off x="2524125" y="3095625"/>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857D"/>
                </a:solidFill>
                <a:latin typeface="Arial"/>
                <a:ea typeface="Arial"/>
                <a:cs typeface="Arial"/>
              </a:defRPr>
            </a:defPPr>
          </a:lstStyle>
          <a:p xmlns:a="http://schemas.openxmlformats.org/drawingml/2006/main">
            <a:pPr algn="l">
              <a:defRPr sz="2025" b="1">
                <a:solidFill>
                  <a:srgbClr val="00857D"/>
                </a:solidFill>
                <a:latin typeface="Arial"/>
                <a:ea typeface="Arial"/>
                <a:cs typeface="Arial"/>
              </a:defRPr>
            </a:pPr>
            <a:r>
              <a:rPr sz="2025" b="1">
                <a:solidFill>
                  <a:srgbClr val="00857D"/>
                </a:solidFill>
                <a:latin typeface="Arial"/>
                <a:ea typeface="Arial"/>
                <a:cs typeface="Arial"/>
              </a:rPr>
              <a:t>Спочатку</a:t>
            </a:r>
          </a:p>
        </p:txBody>
      </p:sp>
      <p:sp>
        <p:nvSpPr>
          <p:cNvPr id="12" name="">
            <a:extLst xmlns:a="http://schemas.openxmlformats.org/drawingml/2006/main">
              <a:ext uri="{FF2B5EF4-FFF2-40B4-BE49-F238E27FC236}">
                <a16:creationId xmlns:a16="http://schemas.microsoft.com/office/drawing/2014/main" id="{0817A589-AD00-477E-AB6A-F2DBAD5073E7}"/>
              </a:ext>
            </a:extLst>
          </p:cNvPr>
          <p:cNvSpPr>
            <a:spLocks xmlns:a="http://schemas.openxmlformats.org/drawingml/2006/main" noGrp="1"/>
          </p:cNvSpPr>
          <p:nvPr/>
        </p:nvSpPr>
        <p:spPr>
          <a:xfrm xmlns:a="http://schemas.openxmlformats.org/drawingml/2006/main">
            <a:off x="8001000" y="3095625"/>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566779"/>
                </a:solidFill>
                <a:latin typeface="Arial"/>
                <a:ea typeface="Arial"/>
                <a:cs typeface="Arial"/>
              </a:defRPr>
            </a:defPPr>
          </a:lstStyle>
          <a:p xmlns:a="http://schemas.openxmlformats.org/drawingml/2006/main">
            <a:pPr algn="l">
              <a:defRPr sz="2025" b="1">
                <a:solidFill>
                  <a:srgbClr val="566779"/>
                </a:solidFill>
                <a:latin typeface="Arial"/>
                <a:ea typeface="Arial"/>
                <a:cs typeface="Arial"/>
              </a:defRPr>
            </a:pPr>
            <a:r>
              <a:rPr sz="2025" b="1">
                <a:solidFill>
                  <a:srgbClr val="566779"/>
                </a:solidFill>
                <a:latin typeface="Arial"/>
                <a:ea typeface="Arial"/>
                <a:cs typeface="Arial"/>
              </a:rPr>
              <a:t>Потім</a:t>
            </a:r>
          </a:p>
        </p:txBody>
      </p:sp>
      <p:sp>
        <p:nvSpPr>
          <p:cNvPr id="13" name="">
            <a:extLst xmlns:a="http://schemas.openxmlformats.org/drawingml/2006/main">
              <a:ext uri="{FF2B5EF4-FFF2-40B4-BE49-F238E27FC236}">
                <a16:creationId xmlns:a16="http://schemas.microsoft.com/office/drawing/2014/main" id="{AECA3C20-C01D-45BE-BE5B-E3DC3575BF7A}"/>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125</a:t>
            </a:r>
          </a:p>
        </p:txBody>
      </p:sp>
    </p:spTree>
    <p:extLst>
      <p:ext uri="{BB962C8B-B14F-4D97-AF65-F5344CB8AC3E}">
        <p14:creationId xmlns:p14="http://schemas.microsoft.com/office/powerpoint/2010/main" val="1542406095"/>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EC98A8-074F-405A-9F0E-E9BB4B897432}"/>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Навчальний B&amp;B: розв’язання LP-вузла</a:t>
            </a:r>
          </a:p>
        </p:txBody>
      </p:sp>
      <p:sp>
        <p:nvSpPr>
          <p:cNvPr id="2" name="">
            <a:extLst xmlns:a="http://schemas.openxmlformats.org/drawingml/2006/main">
              <a:ext uri="{FF2B5EF4-FFF2-40B4-BE49-F238E27FC236}">
                <a16:creationId xmlns:a16="http://schemas.microsoft.com/office/drawing/2014/main" id="{FF8D5EFF-9E06-4E0D-8F68-14D2AB4F737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bounds зберігає додаткові умови поточної гілки.</a:t>
            </a:r>
          </a:p>
        </p:txBody>
      </p:sp>
      <p:sp>
        <p:nvSpPr>
          <p:cNvPr id="3" name="">
            <a:extLst xmlns:a="http://schemas.openxmlformats.org/drawingml/2006/main">
              <a:ext uri="{FF2B5EF4-FFF2-40B4-BE49-F238E27FC236}">
                <a16:creationId xmlns:a16="http://schemas.microsoft.com/office/drawing/2014/main" id="{72B3EF72-7C2C-431E-9D79-728EA75C8BC4}"/>
              </a:ext>
            </a:extLst>
          </p:cNvPr>
          <p:cNvSpPr>
            <a:spLocks xmlns:a="http://schemas.openxmlformats.org/drawingml/2006/main" noGrp="1"/>
          </p:cNvSpPr>
          <p:nvPr/>
        </p:nvSpPr>
        <p:spPr>
          <a:xfrm xmlns:a="http://schemas.openxmlformats.org/drawingml/2006/main">
            <a:off x="762000" y="1504950"/>
            <a:ext cx="10668000" cy="3279648"/>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871F79-B8E6-40A6-BEAE-BBA98620C3D4}"/>
              </a:ext>
            </a:extLst>
          </p:cNvPr>
          <p:cNvSpPr>
            <a:spLocks xmlns:a="http://schemas.openxmlformats.org/drawingml/2006/main" noGrp="1"/>
          </p:cNvSpPr>
          <p:nvPr/>
        </p:nvSpPr>
        <p:spPr>
          <a:xfrm xmlns:a="http://schemas.openxmlformats.org/drawingml/2006/main">
            <a:off x="933450" y="1581150"/>
            <a:ext cx="10325100" cy="31272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value, w, name, bounds задано повною програмою</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 = linprog(-value, A_ub=[w], b_ub=[8],</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bounds=bounds, method="highs")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if not r.success: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r.status != 2: raise RuntimeError(r.message)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continue                    # порожня ОПР вузла</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upper = -r.fun                 # верхня межа max F</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if upper &lt;= incumbent + 1e-7:</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continue                    # відсів за межею</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frac = [j for j, x in enumerate(r.x)</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if abs(x - round(x)) &gt; 1e-7]</a:t>
            </a:r>
          </a:p>
        </p:txBody>
      </p:sp>
      <p:sp>
        <p:nvSpPr>
          <p:cNvPr id="5" name="">
            <a:extLst xmlns:a="http://schemas.openxmlformats.org/drawingml/2006/main">
              <a:ext uri="{FF2B5EF4-FFF2-40B4-BE49-F238E27FC236}">
                <a16:creationId xmlns:a16="http://schemas.microsoft.com/office/drawing/2014/main" id="{F4F6E113-D55F-4AFA-B956-EBA895F6B3EB}"/>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126</a:t>
            </a:r>
          </a:p>
        </p:txBody>
      </p:sp>
    </p:spTree>
    <p:extLst>
      <p:ext uri="{BB962C8B-B14F-4D97-AF65-F5344CB8AC3E}">
        <p14:creationId xmlns:p14="http://schemas.microsoft.com/office/powerpoint/2010/main" val="1453764819"/>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506EF6-AF10-4AD6-BCD9-F84909EDAF9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Навчальний B&amp;B: цілий план і дві гілки</a:t>
            </a:r>
          </a:p>
        </p:txBody>
      </p:sp>
      <p:sp>
        <p:nvSpPr>
          <p:cNvPr id="2" name="">
            <a:extLst xmlns:a="http://schemas.openxmlformats.org/drawingml/2006/main">
              <a:ext uri="{FF2B5EF4-FFF2-40B4-BE49-F238E27FC236}">
                <a16:creationId xmlns:a16="http://schemas.microsoft.com/office/drawing/2014/main" id="{FCBA6490-B87D-4086-9B63-8E3BEEC6285D}"/>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У стек спочатку додаємо 1, щоб гілку 0 розглянути першою.</a:t>
            </a:r>
          </a:p>
        </p:txBody>
      </p:sp>
      <p:sp>
        <p:nvSpPr>
          <p:cNvPr id="3" name="">
            <a:extLst xmlns:a="http://schemas.openxmlformats.org/drawingml/2006/main">
              <a:ext uri="{FF2B5EF4-FFF2-40B4-BE49-F238E27FC236}">
                <a16:creationId xmlns:a16="http://schemas.microsoft.com/office/drawing/2014/main" id="{1F66BCE5-9908-41E0-AC85-37E47FDCEC12}"/>
              </a:ext>
            </a:extLst>
          </p:cNvPr>
          <p:cNvSpPr>
            <a:spLocks xmlns:a="http://schemas.openxmlformats.org/drawingml/2006/main" noGrp="1"/>
          </p:cNvSpPr>
          <p:nvPr/>
        </p:nvSpPr>
        <p:spPr>
          <a:xfrm xmlns:a="http://schemas.openxmlformats.org/drawingml/2006/main">
            <a:off x="762000" y="1504950"/>
            <a:ext cx="10668000" cy="300228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BE97EE9-3FE3-4B76-9862-91CADA575E57}"/>
              </a:ext>
            </a:extLst>
          </p:cNvPr>
          <p:cNvSpPr>
            <a:spLocks xmlns:a="http://schemas.openxmlformats.org/drawingml/2006/main" noGrp="1"/>
          </p:cNvSpPr>
          <p:nvPr/>
        </p:nvSpPr>
        <p:spPr>
          <a:xfrm xmlns:a="http://schemas.openxmlformats.org/drawingml/2006/main">
            <a:off x="933450" y="1581150"/>
            <a:ext cx="10325100" cy="2849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if not frac:</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incumbent = upper</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best = r.x.copy()</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continue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j = frac[0]                    # перша дробова змінна</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left = list(bounds); right = list(bounds)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left[j] = (bounds[j][0], 0.)</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right[j] = (1., bounds[j][1])</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stack.append((f"x{j+1}=1", right))</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stack.append((f"x{j+1}=0", left))</a:t>
            </a:r>
          </a:p>
        </p:txBody>
      </p:sp>
      <p:sp>
        <p:nvSpPr>
          <p:cNvPr id="5" name="">
            <a:extLst xmlns:a="http://schemas.openxmlformats.org/drawingml/2006/main">
              <a:ext uri="{FF2B5EF4-FFF2-40B4-BE49-F238E27FC236}">
                <a16:creationId xmlns:a16="http://schemas.microsoft.com/office/drawing/2014/main" id="{F0B08940-2D79-484D-83C1-7DD41E5660E4}"/>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127</a:t>
            </a:r>
          </a:p>
        </p:txBody>
      </p:sp>
    </p:spTree>
    <p:extLst>
      <p:ext uri="{BB962C8B-B14F-4D97-AF65-F5344CB8AC3E}">
        <p14:creationId xmlns:p14="http://schemas.microsoft.com/office/powerpoint/2010/main" val="251336455"/>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3A8DA8-148A-42A3-BF98-977CFD27421F}"/>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Навчальний B&amp;B: фактичний друк кроків</a:t>
            </a:r>
          </a:p>
        </p:txBody>
      </p:sp>
      <p:sp>
        <p:nvSpPr>
          <p:cNvPr id="2" name="">
            <a:extLst xmlns:a="http://schemas.openxmlformats.org/drawingml/2006/main">
              <a:ext uri="{FF2B5EF4-FFF2-40B4-BE49-F238E27FC236}">
                <a16:creationId xmlns:a16="http://schemas.microsoft.com/office/drawing/2014/main" id="{8674F486-CF86-4653-9961-473BEFF1CD2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Це навчальний алгоритм із linprog у кожному вузлі.</a:t>
            </a:r>
          </a:p>
        </p:txBody>
      </p:sp>
      <p:sp>
        <p:nvSpPr>
          <p:cNvPr id="3" name="">
            <a:extLst xmlns:a="http://schemas.openxmlformats.org/drawingml/2006/main">
              <a:ext uri="{FF2B5EF4-FFF2-40B4-BE49-F238E27FC236}">
                <a16:creationId xmlns:a16="http://schemas.microsoft.com/office/drawing/2014/main" id="{8AF11E55-A5F4-48C9-841D-8E46F26715F8}"/>
              </a:ext>
            </a:extLst>
          </p:cNvPr>
          <p:cNvSpPr>
            <a:spLocks xmlns:a="http://schemas.openxmlformats.org/drawingml/2006/main" noGrp="1"/>
          </p:cNvSpPr>
          <p:nvPr/>
        </p:nvSpPr>
        <p:spPr>
          <a:xfrm xmlns:a="http://schemas.openxmlformats.org/drawingml/2006/main">
            <a:off x="762000" y="1571625"/>
            <a:ext cx="10668000" cy="371475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B4B761-78D9-444E-80B6-1079DE658729}"/>
              </a:ext>
            </a:extLst>
          </p:cNvPr>
          <p:cNvSpPr>
            <a:spLocks xmlns:a="http://schemas.openxmlformats.org/drawingml/2006/main" noGrp="1"/>
          </p:cNvSpPr>
          <p:nvPr/>
        </p:nvSpPr>
        <p:spPr>
          <a:xfrm xmlns:a="http://schemas.openxmlformats.org/drawingml/2006/main">
            <a:off x="933450" y="1628775"/>
            <a:ext cx="1032510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857D"/>
                </a:solidFill>
                <a:latin typeface="Courier New"/>
                <a:ea typeface="Courier New"/>
                <a:cs typeface="Courier New"/>
              </a:defRPr>
            </a:defPPr>
          </a:lstStyle>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root x = [1.   0.75 0.   0.  ] upper = 15.25</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  branch on x2</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x2=0 x = [ 1.  0.  1. -0.] upper = 15.0</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  integer plan, incumbent = 15.0</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x2=1 x = [0.8 1.  0.  0. ] upper = 15.0</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  prune by bound, incumbent = 15.0</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Optimum: [ 1.  0.  1. -0.] F = 15.0</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Visited LP nodes = 3</a:t>
            </a:r>
          </a:p>
        </p:txBody>
      </p:sp>
      <p:sp>
        <p:nvSpPr>
          <p:cNvPr id="5" name="">
            <a:extLst xmlns:a="http://schemas.openxmlformats.org/drawingml/2006/main">
              <a:ext uri="{FF2B5EF4-FFF2-40B4-BE49-F238E27FC236}">
                <a16:creationId xmlns:a16="http://schemas.microsoft.com/office/drawing/2014/main" id="{CBF7E3A3-21AA-44A1-8C51-F37459590097}"/>
              </a:ext>
            </a:extLst>
          </p:cNvPr>
          <p:cNvSpPr>
            <a:spLocks xmlns:a="http://schemas.openxmlformats.org/drawingml/2006/main" noGrp="1"/>
          </p:cNvSpPr>
          <p:nvPr/>
        </p:nvSpPr>
        <p:spPr>
          <a:xfrm xmlns:a="http://schemas.openxmlformats.org/drawingml/2006/main">
            <a:off x="762000" y="5476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defRPr sz="2250" b="0">
                <a:solidFill>
                  <a:srgbClr val="566779"/>
                </a:solidFill>
                <a:latin typeface="Arial"/>
                <a:ea typeface="Arial"/>
                <a:cs typeface="Arial"/>
              </a:defRPr>
            </a:pPr>
            <a:r>
              <a:rPr sz="2250" b="0">
                <a:solidFill>
                  <a:srgbClr val="566779"/>
                </a:solidFill>
                <a:latin typeface="Arial"/>
                <a:ea typeface="Arial"/>
                <a:cs typeface="Arial"/>
              </a:rPr>
              <a:t>Промисловий HiGHS може обробити цю модель іншим шляхом.</a:t>
            </a:r>
          </a:p>
        </p:txBody>
      </p:sp>
      <p:sp>
        <p:nvSpPr>
          <p:cNvPr id="6" name="">
            <a:extLst xmlns:a="http://schemas.openxmlformats.org/drawingml/2006/main">
              <a:ext uri="{FF2B5EF4-FFF2-40B4-BE49-F238E27FC236}">
                <a16:creationId xmlns:a16="http://schemas.microsoft.com/office/drawing/2014/main" id="{C6B3DE0E-31E5-41D2-B06E-56531B7A973D}"/>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128</a:t>
            </a:r>
          </a:p>
        </p:txBody>
      </p:sp>
    </p:spTree>
    <p:extLst>
      <p:ext uri="{BB962C8B-B14F-4D97-AF65-F5344CB8AC3E}">
        <p14:creationId xmlns:p14="http://schemas.microsoft.com/office/powerpoint/2010/main" val="1013756103"/>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B80A48-56A4-4E41-B6E8-F2DA2EC05330}"/>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GPU-завдання: повна програма SciPy</a:t>
            </a:r>
          </a:p>
        </p:txBody>
      </p:sp>
      <p:sp>
        <p:nvSpPr>
          <p:cNvPr id="2" name="">
            <a:extLst xmlns:a="http://schemas.openxmlformats.org/drawingml/2006/main">
              <a:ext uri="{FF2B5EF4-FFF2-40B4-BE49-F238E27FC236}">
                <a16:creationId xmlns:a16="http://schemas.microsoft.com/office/drawing/2014/main" id="{814FAD8B-7D61-48F4-B759-FA2D95DD5F0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milp мінімізує −F, тому користь виводимо як −r.fun.</a:t>
            </a:r>
          </a:p>
        </p:txBody>
      </p:sp>
      <p:sp>
        <p:nvSpPr>
          <p:cNvPr id="3" name="">
            <a:extLst xmlns:a="http://schemas.openxmlformats.org/drawingml/2006/main">
              <a:ext uri="{FF2B5EF4-FFF2-40B4-BE49-F238E27FC236}">
                <a16:creationId xmlns:a16="http://schemas.microsoft.com/office/drawing/2014/main" id="{D81484E1-9011-47B9-BF0A-1116271187C8}"/>
              </a:ext>
            </a:extLst>
          </p:cNvPr>
          <p:cNvSpPr>
            <a:spLocks xmlns:a="http://schemas.openxmlformats.org/drawingml/2006/main" noGrp="1"/>
          </p:cNvSpPr>
          <p:nvPr/>
        </p:nvSpPr>
        <p:spPr>
          <a:xfrm xmlns:a="http://schemas.openxmlformats.org/drawingml/2006/main">
            <a:off x="762000" y="1504950"/>
            <a:ext cx="10668000" cy="3002280"/>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D49C95-21CA-4678-9A00-09EB2E8B8BE6}"/>
              </a:ext>
            </a:extLst>
          </p:cNvPr>
          <p:cNvSpPr>
            <a:spLocks xmlns:a="http://schemas.openxmlformats.org/drawingml/2006/main" noGrp="1"/>
          </p:cNvSpPr>
          <p:nvPr/>
        </p:nvSpPr>
        <p:spPr>
          <a:xfrm xmlns:a="http://schemas.openxmlformats.org/drawingml/2006/main">
            <a:off x="933450" y="1581150"/>
            <a:ext cx="10325100" cy="2849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import numpy as np</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scipy.optimize import milp, Bounds, LinearConstraint</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w = np.array([5, 4, 3, 2])</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v = np.array([10, 7, 5, 3])</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 = milp(-v, integrality=np.ones(4),</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bounds=Bounds(np.zeros(4), np.ones(4)),</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constraints=LinearConstraint([w], [-np.inf], [8]))</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r.success, r.message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print(r.x, "F =", -r.fun)</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print("GPU hours =", w @ r.x)</a:t>
            </a:r>
          </a:p>
        </p:txBody>
      </p:sp>
      <p:sp>
        <p:nvSpPr>
          <p:cNvPr id="5" name="">
            <a:extLst xmlns:a="http://schemas.openxmlformats.org/drawingml/2006/main">
              <a:ext uri="{FF2B5EF4-FFF2-40B4-BE49-F238E27FC236}">
                <a16:creationId xmlns:a16="http://schemas.microsoft.com/office/drawing/2014/main" id="{E561B11A-3DDA-4775-8172-5871C777010B}"/>
              </a:ext>
            </a:extLst>
          </p:cNvPr>
          <p:cNvSpPr>
            <a:spLocks xmlns:a="http://schemas.openxmlformats.org/drawingml/2006/main" noGrp="1"/>
          </p:cNvSpPr>
          <p:nvPr/>
        </p:nvSpPr>
        <p:spPr>
          <a:xfrm xmlns:a="http://schemas.openxmlformats.org/drawingml/2006/main">
            <a:off x="762000" y="4650105"/>
            <a:ext cx="10668000" cy="90487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CFED87F-B535-4DBC-9882-AEFB79EFC98D}"/>
              </a:ext>
            </a:extLst>
          </p:cNvPr>
          <p:cNvSpPr>
            <a:spLocks xmlns:a="http://schemas.openxmlformats.org/drawingml/2006/main" noGrp="1"/>
          </p:cNvSpPr>
          <p:nvPr/>
        </p:nvSpPr>
        <p:spPr>
          <a:xfrm xmlns:a="http://schemas.openxmlformats.org/drawingml/2006/main">
            <a:off x="933450" y="4707255"/>
            <a:ext cx="103251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857D"/>
                </a:solidFill>
                <a:latin typeface="Courier New"/>
                <a:ea typeface="Courier New"/>
                <a:cs typeface="Courier New"/>
              </a:defRPr>
            </a:defPPr>
          </a:lstStyle>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[ 1.  0.  1. -0.] F = 15.0</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GPU hours = 8.0</a:t>
            </a:r>
          </a:p>
        </p:txBody>
      </p:sp>
      <p:sp>
        <p:nvSpPr>
          <p:cNvPr id="7" name="">
            <a:extLst xmlns:a="http://schemas.openxmlformats.org/drawingml/2006/main">
              <a:ext uri="{FF2B5EF4-FFF2-40B4-BE49-F238E27FC236}">
                <a16:creationId xmlns:a16="http://schemas.microsoft.com/office/drawing/2014/main" id="{615209F0-C19F-4239-8087-498A2C4A5C03}"/>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129</a:t>
            </a:r>
          </a:p>
        </p:txBody>
      </p:sp>
    </p:spTree>
    <p:extLst>
      <p:ext uri="{BB962C8B-B14F-4D97-AF65-F5344CB8AC3E}">
        <p14:creationId xmlns:p14="http://schemas.microsoft.com/office/powerpoint/2010/main" val="1829679264"/>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AC4D24-7B7B-4E28-99DF-C090E565EEA9}"/>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GPU-завдання: додаткова залежність</a:t>
            </a:r>
          </a:p>
        </p:txBody>
      </p:sp>
      <p:sp>
        <p:nvSpPr>
          <p:cNvPr id="2" name="">
            <a:extLst xmlns:a="http://schemas.openxmlformats.org/drawingml/2006/main">
              <a:ext uri="{FF2B5EF4-FFF2-40B4-BE49-F238E27FC236}">
                <a16:creationId xmlns:a16="http://schemas.microsoft.com/office/drawing/2014/main" id="{F12A0F61-7DCF-40DD-9CFF-AA0A862DFFC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Якщо C потребує результат B, додаємо x₃ ≤ x₂.</a:t>
            </a:r>
          </a:p>
        </p:txBody>
      </p:sp>
      <p:sp>
        <p:nvSpPr>
          <p:cNvPr id="3" name="">
            <a:extLst xmlns:a="http://schemas.openxmlformats.org/drawingml/2006/main">
              <a:ext uri="{FF2B5EF4-FFF2-40B4-BE49-F238E27FC236}">
                <a16:creationId xmlns:a16="http://schemas.microsoft.com/office/drawing/2014/main" id="{D3E9D3C7-6773-46EB-9758-BC389DA8E793}"/>
              </a:ext>
            </a:extLst>
          </p:cNvPr>
          <p:cNvSpPr>
            <a:spLocks xmlns:a="http://schemas.openxmlformats.org/drawingml/2006/main" noGrp="1"/>
          </p:cNvSpPr>
          <p:nvPr/>
        </p:nvSpPr>
        <p:spPr>
          <a:xfrm xmlns:a="http://schemas.openxmlformats.org/drawingml/2006/main">
            <a:off x="762000" y="1504950"/>
            <a:ext cx="10668000" cy="2447544"/>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6BB5F5E-619A-42CE-B49B-6EB0797FB828}"/>
              </a:ext>
            </a:extLst>
          </p:cNvPr>
          <p:cNvSpPr>
            <a:spLocks xmlns:a="http://schemas.openxmlformats.org/drawingml/2006/main" noGrp="1"/>
          </p:cNvSpPr>
          <p:nvPr/>
        </p:nvSpPr>
        <p:spPr>
          <a:xfrm xmlns:a="http://schemas.openxmlformats.org/drawingml/2006/main">
            <a:off x="933450" y="1581150"/>
            <a:ext cx="10325100" cy="2295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w, v та імпорти з попереднього прикладу</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con = LinearConstraint(</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[[5, 4, 3, 2], [0, -1, 1, 0]],</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[-np.inf, -np.inf], [8, 0])</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r = milp(-v, integrality=np.ones(4),</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bounds=Bounds(np.zeros(4), np.ones(4)), constraints=con)</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r.success, r.message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print(r.x, "F =", -r.fun)</a:t>
            </a:r>
          </a:p>
        </p:txBody>
      </p:sp>
      <p:sp>
        <p:nvSpPr>
          <p:cNvPr id="5" name="">
            <a:extLst xmlns:a="http://schemas.openxmlformats.org/drawingml/2006/main">
              <a:ext uri="{FF2B5EF4-FFF2-40B4-BE49-F238E27FC236}">
                <a16:creationId xmlns:a16="http://schemas.microsoft.com/office/drawing/2014/main" id="{648329E0-254A-42FD-9666-8D3E9BB0E3E3}"/>
              </a:ext>
            </a:extLst>
          </p:cNvPr>
          <p:cNvSpPr>
            <a:spLocks xmlns:a="http://schemas.openxmlformats.org/drawingml/2006/main" noGrp="1"/>
          </p:cNvSpPr>
          <p:nvPr/>
        </p:nvSpPr>
        <p:spPr>
          <a:xfrm xmlns:a="http://schemas.openxmlformats.org/drawingml/2006/main">
            <a:off x="762000" y="4181094"/>
            <a:ext cx="10668000" cy="1076325"/>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0E560D-7419-45F8-A0DE-A3724F1CCE5D}"/>
              </a:ext>
            </a:extLst>
          </p:cNvPr>
          <p:cNvSpPr>
            <a:spLocks xmlns:a="http://schemas.openxmlformats.org/drawingml/2006/main" noGrp="1"/>
          </p:cNvSpPr>
          <p:nvPr/>
        </p:nvSpPr>
        <p:spPr>
          <a:xfrm xmlns:a="http://schemas.openxmlformats.org/drawingml/2006/main">
            <a:off x="933450" y="4238244"/>
            <a:ext cx="103251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857D"/>
                </a:solidFill>
                <a:latin typeface="Courier New"/>
                <a:ea typeface="Courier New"/>
                <a:cs typeface="Courier New"/>
              </a:defRPr>
            </a:defPPr>
          </a:lstStyle>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[1. 0. 0. 1.] F = 13.0</a:t>
            </a:r>
          </a:p>
          <a:p xmlns:a="http://schemas.openxmlformats.org/drawingml/2006/main">
            <a:pPr algn="l">
              <a:defRPr sz="2025" b="1">
                <a:solidFill>
                  <a:srgbClr val="00857D"/>
                </a:solidFill>
                <a:latin typeface="Courier New"/>
                <a:ea typeface="Courier New"/>
                <a:cs typeface="Courier New"/>
              </a:defRPr>
            </a:pPr>
            <a:r>
              <a:rPr sz="2025" b="1">
                <a:solidFill>
                  <a:srgbClr val="00857D"/>
                </a:solidFill>
                <a:latin typeface="Courier New"/>
                <a:ea typeface="Courier New"/>
                <a:cs typeface="Courier New"/>
              </a:rPr>
              <a:t>Обрано A і D. План A,C більше недопустимий.</a:t>
            </a:r>
          </a:p>
        </p:txBody>
      </p:sp>
      <p:sp>
        <p:nvSpPr>
          <p:cNvPr id="7" name="">
            <a:extLst xmlns:a="http://schemas.openxmlformats.org/drawingml/2006/main">
              <a:ext uri="{FF2B5EF4-FFF2-40B4-BE49-F238E27FC236}">
                <a16:creationId xmlns:a16="http://schemas.microsoft.com/office/drawing/2014/main" id="{93FA1C5B-C274-4BA9-95C3-2074D6555336}"/>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130</a:t>
            </a:r>
          </a:p>
        </p:txBody>
      </p:sp>
    </p:spTree>
    <p:extLst>
      <p:ext uri="{BB962C8B-B14F-4D97-AF65-F5344CB8AC3E}">
        <p14:creationId xmlns:p14="http://schemas.microsoft.com/office/powerpoint/2010/main" val="1833766100"/>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F7597B-4498-4A08-9FC9-FFA83310BDE9}"/>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Відсічення: коректна нерівність</a:t>
            </a:r>
          </a:p>
        </p:txBody>
      </p:sp>
      <p:sp>
        <p:nvSpPr>
          <p:cNvPr id="2" name="">
            <a:extLst xmlns:a="http://schemas.openxmlformats.org/drawingml/2006/main">
              <a:ext uri="{FF2B5EF4-FFF2-40B4-BE49-F238E27FC236}">
                <a16:creationId xmlns:a16="http://schemas.microsoft.com/office/drawing/2014/main" id="{AB3E29BF-72CB-46A5-827B-15738ABFA77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Відсічення зберігає всі допустимі цілі плани.</a:t>
            </a:r>
          </a:p>
        </p:txBody>
      </p:sp>
      <p:sp>
        <p:nvSpPr>
          <p:cNvPr id="3" name="">
            <a:extLst xmlns:a="http://schemas.openxmlformats.org/drawingml/2006/main">
              <a:ext uri="{FF2B5EF4-FFF2-40B4-BE49-F238E27FC236}">
                <a16:creationId xmlns:a16="http://schemas.microsoft.com/office/drawing/2014/main" id="{EED8F4B5-2DE6-4FF3-A63A-778A4D1409FD}"/>
              </a:ext>
            </a:extLst>
          </p:cNvPr>
          <p:cNvSpPr>
            <a:spLocks xmlns:a="http://schemas.openxmlformats.org/drawingml/2006/main" noGrp="1"/>
          </p:cNvSpPr>
          <p:nvPr/>
        </p:nvSpPr>
        <p:spPr>
          <a:xfrm xmlns:a="http://schemas.openxmlformats.org/drawingml/2006/main">
            <a:off x="762000" y="1428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566779"/>
                </a:solidFill>
                <a:latin typeface="Arial"/>
                <a:ea typeface="Arial"/>
                <a:cs typeface="Arial"/>
              </a:defRPr>
            </a:defPPr>
          </a:lstStyle>
          <a:p xmlns:a="http://schemas.openxmlformats.org/drawingml/2006/main">
            <a:pPr algn="l">
              <a:defRPr sz="2250" b="0">
                <a:solidFill>
                  <a:srgbClr val="566779"/>
                </a:solidFill>
                <a:latin typeface="Arial"/>
                <a:ea typeface="Arial"/>
                <a:cs typeface="Arial"/>
              </a:defRPr>
            </a:pPr>
            <a:r>
              <a:rPr sz="2250" b="0">
                <a:solidFill>
                  <a:srgbClr val="566779"/>
                </a:solidFill>
                <a:latin typeface="Arial"/>
                <a:ea typeface="Arial"/>
                <a:cs typeface="Arial"/>
              </a:rPr>
              <a:t>Є 3 GPU-години. Кожне неподільне завдання потребує 2.</a:t>
            </a:r>
          </a:p>
        </p:txBody>
      </p:sp>
      <p:sp>
        <p:nvSpPr>
          <p:cNvPr id="4" name="">
            <a:extLst xmlns:a="http://schemas.openxmlformats.org/drawingml/2006/main">
              <a:ext uri="{FF2B5EF4-FFF2-40B4-BE49-F238E27FC236}">
                <a16:creationId xmlns:a16="http://schemas.microsoft.com/office/drawing/2014/main" id="{C9DA8701-DB71-4C09-9C0A-32CB21E0C35A}"/>
              </a:ext>
            </a:extLst>
          </p:cNvPr>
          <p:cNvSpPr>
            <a:spLocks xmlns:a="http://schemas.openxmlformats.org/drawingml/2006/main" noGrp="1"/>
          </p:cNvSpPr>
          <p:nvPr/>
        </p:nvSpPr>
        <p:spPr>
          <a:xfrm xmlns:a="http://schemas.openxmlformats.org/drawingml/2006/main">
            <a:off x="762000" y="2238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0">
                <a:solidFill>
                  <a:srgbClr val="173047"/>
                </a:solidFill>
                <a:latin typeface="Arial"/>
                <a:ea typeface="Arial"/>
                <a:cs typeface="Arial"/>
              </a:defRPr>
            </a:defPPr>
          </a:lstStyle>
          <a:p xmlns:a="http://schemas.openxmlformats.org/drawingml/2006/main">
            <a:pPr algn="l">
              <a:defRPr sz="2850" b="0">
                <a:solidFill>
                  <a:srgbClr val="173047"/>
                </a:solidFill>
                <a:latin typeface="Arial"/>
                <a:ea typeface="Arial"/>
                <a:cs typeface="Arial"/>
              </a:defRPr>
            </a:pPr>
            <a:r>
              <a:rPr sz="2850" b="0">
                <a:solidFill>
                  <a:srgbClr val="173047"/>
                </a:solidFill>
                <a:latin typeface="Arial"/>
                <a:ea typeface="Arial"/>
                <a:cs typeface="Arial"/>
              </a:rPr>
              <a:t>max F = 3x₁ + 2x₂</a:t>
            </a:r>
          </a:p>
          <a:p xmlns:a="http://schemas.openxmlformats.org/drawingml/2006/main">
            <a:pPr algn="l">
              <a:defRPr sz="2850" b="0">
                <a:solidFill>
                  <a:srgbClr val="173047"/>
                </a:solidFill>
                <a:latin typeface="Arial"/>
                <a:ea typeface="Arial"/>
                <a:cs typeface="Arial"/>
              </a:defRPr>
            </a:pPr>
            <a:r>
              <a:rPr sz="2850" b="0">
                <a:solidFill>
                  <a:srgbClr val="173047"/>
                </a:solidFill>
                <a:latin typeface="Arial"/>
                <a:ea typeface="Arial"/>
                <a:cs typeface="Arial"/>
              </a:rPr>
              <a:t>2x₁ + 2x₂ ≤ 3,  x₁,x₂ ≥ 0, цілі</a:t>
            </a:r>
          </a:p>
        </p:txBody>
      </p:sp>
      <p:sp>
        <p:nvSpPr>
          <p:cNvPr id="5" name="">
            <a:extLst xmlns:a="http://schemas.openxmlformats.org/drawingml/2006/main">
              <a:ext uri="{FF2B5EF4-FFF2-40B4-BE49-F238E27FC236}">
                <a16:creationId xmlns:a16="http://schemas.microsoft.com/office/drawing/2014/main" id="{DBFA2D1A-4EA1-4669-A1F4-1A6E4538546B}"/>
              </a:ext>
            </a:extLst>
          </p:cNvPr>
          <p:cNvSpPr>
            <a:spLocks xmlns:a="http://schemas.openxmlformats.org/drawingml/2006/main" noGrp="1"/>
          </p:cNvSpPr>
          <p:nvPr/>
        </p:nvSpPr>
        <p:spPr>
          <a:xfrm xmlns:a="http://schemas.openxmlformats.org/drawingml/2006/main">
            <a:off x="762000" y="34766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173047"/>
                </a:solidFill>
                <a:latin typeface="Arial"/>
                <a:ea typeface="Arial"/>
                <a:cs typeface="Arial"/>
              </a:defRPr>
            </a:defPPr>
          </a:lstStyle>
          <a:p xmlns:a="http://schemas.openxmlformats.org/drawingml/2006/main">
            <a:pPr algn="l">
              <a:defRPr sz="2400" b="0">
                <a:solidFill>
                  <a:srgbClr val="173047"/>
                </a:solidFill>
                <a:latin typeface="Arial"/>
                <a:ea typeface="Arial"/>
                <a:cs typeface="Arial"/>
              </a:defRPr>
            </a:pPr>
            <a:r>
              <a:rPr sz="2400" b="0">
                <a:solidFill>
                  <a:srgbClr val="173047"/>
                </a:solidFill>
                <a:latin typeface="Arial"/>
                <a:ea typeface="Arial"/>
                <a:cs typeface="Arial"/>
              </a:rPr>
              <a:t>Поділ на 2:  x₁ + x₂ ≤ 1.5</a:t>
            </a:r>
          </a:p>
        </p:txBody>
      </p:sp>
      <p:sp>
        <p:nvSpPr>
          <p:cNvPr id="6" name="">
            <a:extLst xmlns:a="http://schemas.openxmlformats.org/drawingml/2006/main">
              <a:ext uri="{FF2B5EF4-FFF2-40B4-BE49-F238E27FC236}">
                <a16:creationId xmlns:a16="http://schemas.microsoft.com/office/drawing/2014/main" id="{12174775-B2DE-40DB-9553-BA580433B8AB}"/>
              </a:ext>
            </a:extLst>
          </p:cNvPr>
          <p:cNvSpPr>
            <a:spLocks xmlns:a="http://schemas.openxmlformats.org/drawingml/2006/main" noGrp="1"/>
          </p:cNvSpPr>
          <p:nvPr/>
        </p:nvSpPr>
        <p:spPr>
          <a:xfrm xmlns:a="http://schemas.openxmlformats.org/drawingml/2006/main">
            <a:off x="762000" y="42005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173047"/>
                </a:solidFill>
                <a:latin typeface="Arial"/>
                <a:ea typeface="Arial"/>
                <a:cs typeface="Arial"/>
              </a:defRPr>
            </a:defPPr>
          </a:lstStyle>
          <a:p xmlns:a="http://schemas.openxmlformats.org/drawingml/2006/main">
            <a:pPr algn="l">
              <a:defRPr sz="2400" b="0">
                <a:solidFill>
                  <a:srgbClr val="173047"/>
                </a:solidFill>
                <a:latin typeface="Arial"/>
                <a:ea typeface="Arial"/>
                <a:cs typeface="Arial"/>
              </a:defRPr>
            </a:pPr>
            <a:r>
              <a:rPr sz="2400" b="0">
                <a:solidFill>
                  <a:srgbClr val="173047"/>
                </a:solidFill>
                <a:latin typeface="Arial"/>
                <a:ea typeface="Arial"/>
                <a:cs typeface="Arial"/>
              </a:rPr>
              <a:t>Сума двох цілих є цілою:  x₁ + x₂ ≤ 1</a:t>
            </a:r>
          </a:p>
        </p:txBody>
      </p:sp>
      <p:sp>
        <p:nvSpPr>
          <p:cNvPr id="7" name="">
            <a:extLst xmlns:a="http://schemas.openxmlformats.org/drawingml/2006/main">
              <a:ext uri="{FF2B5EF4-FFF2-40B4-BE49-F238E27FC236}">
                <a16:creationId xmlns:a16="http://schemas.microsoft.com/office/drawing/2014/main" id="{1E71A1A1-BB8A-451C-8F8E-45B5844820DE}"/>
              </a:ext>
            </a:extLst>
          </p:cNvPr>
          <p:cNvSpPr>
            <a:spLocks xmlns:a="http://schemas.openxmlformats.org/drawingml/2006/main" noGrp="1"/>
          </p:cNvSpPr>
          <p:nvPr/>
        </p:nvSpPr>
        <p:spPr>
          <a:xfrm xmlns:a="http://schemas.openxmlformats.org/drawingml/2006/main">
            <a:off x="762000" y="49244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173047"/>
                </a:solidFill>
                <a:latin typeface="Arial"/>
                <a:ea typeface="Arial"/>
                <a:cs typeface="Arial"/>
              </a:defRPr>
            </a:defPPr>
          </a:lstStyle>
          <a:p xmlns:a="http://schemas.openxmlformats.org/drawingml/2006/main">
            <a:pPr algn="l">
              <a:defRPr sz="2400" b="0">
                <a:solidFill>
                  <a:srgbClr val="173047"/>
                </a:solidFill>
                <a:latin typeface="Arial"/>
                <a:ea typeface="Arial"/>
                <a:cs typeface="Arial"/>
              </a:defRPr>
            </a:pPr>
            <a:r>
              <a:rPr sz="2400" b="0">
                <a:solidFill>
                  <a:srgbClr val="173047"/>
                </a:solidFill>
                <a:latin typeface="Arial"/>
                <a:ea typeface="Arial"/>
                <a:cs typeface="Arial"/>
              </a:rPr>
              <a:t>Дробовий LP-план (1.5,0) більше недопустимий</a:t>
            </a:r>
          </a:p>
        </p:txBody>
      </p:sp>
      <p:sp>
        <p:nvSpPr>
          <p:cNvPr id="8" name="">
            <a:extLst xmlns:a="http://schemas.openxmlformats.org/drawingml/2006/main">
              <a:ext uri="{FF2B5EF4-FFF2-40B4-BE49-F238E27FC236}">
                <a16:creationId xmlns:a16="http://schemas.microsoft.com/office/drawing/2014/main" id="{602CD01A-A3D3-47D4-AF11-C820114269F4}"/>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131</a:t>
            </a:r>
          </a:p>
        </p:txBody>
      </p:sp>
    </p:spTree>
    <p:extLst>
      <p:ext uri="{BB962C8B-B14F-4D97-AF65-F5344CB8AC3E}">
        <p14:creationId xmlns:p14="http://schemas.microsoft.com/office/powerpoint/2010/main" val="1313361913"/>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3E26CB-EC3A-4BAC-9026-7A3AEE28E654}"/>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Відсічення: Python до і після</a:t>
            </a:r>
          </a:p>
        </p:txBody>
      </p:sp>
      <p:sp>
        <p:nvSpPr>
          <p:cNvPr id="2" name="">
            <a:extLst xmlns:a="http://schemas.openxmlformats.org/drawingml/2006/main">
              <a:ext uri="{FF2B5EF4-FFF2-40B4-BE49-F238E27FC236}">
                <a16:creationId xmlns:a16="http://schemas.microsoft.com/office/drawing/2014/main" id="{96DD68D4-9B97-4878-ADDE-7E40335B560A}"/>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LP-межа зменшується з 4.5 до 3. У цій задачі вона точна.</a:t>
            </a:r>
          </a:p>
        </p:txBody>
      </p:sp>
      <p:sp>
        <p:nvSpPr>
          <p:cNvPr id="3" name="">
            <a:extLst xmlns:a="http://schemas.openxmlformats.org/drawingml/2006/main">
              <a:ext uri="{FF2B5EF4-FFF2-40B4-BE49-F238E27FC236}">
                <a16:creationId xmlns:a16="http://schemas.microsoft.com/office/drawing/2014/main" id="{91986BB9-AD36-4221-8755-B003153AECB8}"/>
              </a:ext>
            </a:extLst>
          </p:cNvPr>
          <p:cNvSpPr>
            <a:spLocks xmlns:a="http://schemas.openxmlformats.org/drawingml/2006/main" noGrp="1"/>
          </p:cNvSpPr>
          <p:nvPr/>
        </p:nvSpPr>
        <p:spPr>
          <a:xfrm xmlns:a="http://schemas.openxmlformats.org/drawingml/2006/main">
            <a:off x="762000" y="1504950"/>
            <a:ext cx="10668000" cy="1892808"/>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D1271D-4533-4226-8831-B4FDCEFE0FBB}"/>
              </a:ext>
            </a:extLst>
          </p:cNvPr>
          <p:cNvSpPr>
            <a:spLocks xmlns:a="http://schemas.openxmlformats.org/drawingml/2006/main" noGrp="1"/>
          </p:cNvSpPr>
          <p:nvPr/>
        </p:nvSpPr>
        <p:spPr>
          <a:xfrm xmlns:a="http://schemas.openxmlformats.org/drawingml/2006/main">
            <a:off x="933450" y="1581150"/>
            <a:ext cx="10325100" cy="1740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from scipy.optimize import linprog</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for A, b in [([[2, 2]], [3]),</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([[2, 2], [1, 1]], [3, 1])]:</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r = linprog([-3, -2], A_ub=A, b_ub=b, method="highs")</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assert r.success, r.message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print(r.x, "F =", -r.fun)</a:t>
            </a:r>
          </a:p>
        </p:txBody>
      </p:sp>
      <p:sp>
        <p:nvSpPr>
          <p:cNvPr id="5" name="">
            <a:extLst xmlns:a="http://schemas.openxmlformats.org/drawingml/2006/main">
              <a:ext uri="{FF2B5EF4-FFF2-40B4-BE49-F238E27FC236}">
                <a16:creationId xmlns:a16="http://schemas.microsoft.com/office/drawing/2014/main" id="{641B5A2E-D483-4A25-A2E2-A4C7ABE2424B}"/>
              </a:ext>
            </a:extLst>
          </p:cNvPr>
          <p:cNvSpPr>
            <a:spLocks xmlns:a="http://schemas.openxmlformats.org/drawingml/2006/main" noGrp="1"/>
          </p:cNvSpPr>
          <p:nvPr/>
        </p:nvSpPr>
        <p:spPr>
          <a:xfrm xmlns:a="http://schemas.openxmlformats.org/drawingml/2006/main">
            <a:off x="762000" y="3664458"/>
            <a:ext cx="10668000" cy="1123950"/>
          </a:xfrm>
          <a:prstGeom xmlns:a="http://schemas.openxmlformats.org/drawingml/2006/main" prst="rect">
            <a:avLst/>
          </a:prstGeom>
          <a:solidFill xmlns:a="http://schemas.openxmlformats.org/drawingml/2006/main">
            <a:srgbClr val="DDF3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0521AC-CFD9-4C78-97B3-127191624A3F}"/>
              </a:ext>
            </a:extLst>
          </p:cNvPr>
          <p:cNvSpPr>
            <a:spLocks xmlns:a="http://schemas.openxmlformats.org/drawingml/2006/main" noGrp="1"/>
          </p:cNvSpPr>
          <p:nvPr/>
        </p:nvSpPr>
        <p:spPr>
          <a:xfrm xmlns:a="http://schemas.openxmlformats.org/drawingml/2006/main">
            <a:off x="933450" y="3721608"/>
            <a:ext cx="103251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00857D"/>
                </a:solidFill>
                <a:latin typeface="Courier New"/>
                <a:ea typeface="Courier New"/>
                <a:cs typeface="Courier New"/>
              </a:defRPr>
            </a:defPPr>
          </a:lstStyle>
          <a:p xmlns:a="http://schemas.openxmlformats.org/drawingml/2006/main">
            <a:pPr algn="l">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[1.5 0. ] F = 4.5</a:t>
            </a:r>
          </a:p>
          <a:p xmlns:a="http://schemas.openxmlformats.org/drawingml/2006/main">
            <a:pPr algn="l">
              <a:defRPr sz="2250" b="1">
                <a:solidFill>
                  <a:srgbClr val="00857D"/>
                </a:solidFill>
                <a:latin typeface="Courier New"/>
                <a:ea typeface="Courier New"/>
                <a:cs typeface="Courier New"/>
              </a:defRPr>
            </a:pPr>
            <a:r>
              <a:rPr sz="2250" b="1">
                <a:solidFill>
                  <a:srgbClr val="00857D"/>
                </a:solidFill>
                <a:latin typeface="Courier New"/>
                <a:ea typeface="Courier New"/>
                <a:cs typeface="Courier New"/>
              </a:rPr>
              <a:t>[1. 0.] F = 3.0</a:t>
            </a:r>
          </a:p>
        </p:txBody>
      </p:sp>
      <p:sp>
        <p:nvSpPr>
          <p:cNvPr id="7" name="">
            <a:extLst xmlns:a="http://schemas.openxmlformats.org/drawingml/2006/main">
              <a:ext uri="{FF2B5EF4-FFF2-40B4-BE49-F238E27FC236}">
                <a16:creationId xmlns:a16="http://schemas.microsoft.com/office/drawing/2014/main" id="{2A14E40A-CAAA-4E45-BA9D-27BD1A60E593}"/>
              </a:ext>
            </a:extLst>
          </p:cNvPr>
          <p:cNvSpPr>
            <a:spLocks xmlns:a="http://schemas.openxmlformats.org/drawingml/2006/main" noGrp="1"/>
          </p:cNvSpPr>
          <p:nvPr/>
        </p:nvSpPr>
        <p:spPr>
          <a:xfrm xmlns:a="http://schemas.openxmlformats.org/drawingml/2006/main">
            <a:off x="762000" y="52768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566779"/>
                </a:solidFill>
                <a:latin typeface="Arial"/>
                <a:ea typeface="Arial"/>
                <a:cs typeface="Arial"/>
              </a:defRPr>
            </a:defPPr>
          </a:lstStyle>
          <a:p xmlns:a="http://schemas.openxmlformats.org/drawingml/2006/main">
            <a:pPr algn="l">
              <a:defRPr sz="2400" b="0">
                <a:solidFill>
                  <a:srgbClr val="566779"/>
                </a:solidFill>
                <a:latin typeface="Arial"/>
                <a:ea typeface="Arial"/>
                <a:cs typeface="Arial"/>
              </a:defRPr>
            </a:pPr>
            <a:r>
              <a:rPr sz="2400" b="0">
                <a:solidFill>
                  <a:srgbClr val="566779"/>
                </a:solidFill>
                <a:latin typeface="Arial"/>
                <a:ea typeface="Arial"/>
                <a:cs typeface="Arial"/>
              </a:rPr>
              <a:t>Гілки та відсічення можна поєднувати в одному розв’язувачі.</a:t>
            </a:r>
          </a:p>
        </p:txBody>
      </p:sp>
      <p:sp>
        <p:nvSpPr>
          <p:cNvPr id="8" name="">
            <a:extLst xmlns:a="http://schemas.openxmlformats.org/drawingml/2006/main">
              <a:ext uri="{FF2B5EF4-FFF2-40B4-BE49-F238E27FC236}">
                <a16:creationId xmlns:a16="http://schemas.microsoft.com/office/drawing/2014/main" id="{5E64A7F4-AC07-411B-9E37-83C9D898EBFA}"/>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132</a:t>
            </a:r>
          </a:p>
        </p:txBody>
      </p:sp>
    </p:spTree>
    <p:extLst>
      <p:ext uri="{BB962C8B-B14F-4D97-AF65-F5344CB8AC3E}">
        <p14:creationId xmlns:p14="http://schemas.microsoft.com/office/powerpoint/2010/main" val="841189759"/>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096603-F601-4275-BC22-F31E28683F46}"/>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milp: поля результату r</a:t>
            </a:r>
          </a:p>
        </p:txBody>
      </p:sp>
      <p:sp>
        <p:nvSpPr>
          <p:cNvPr id="2" name="">
            <a:extLst xmlns:a="http://schemas.openxmlformats.org/drawingml/2006/main">
              <a:ext uri="{FF2B5EF4-FFF2-40B4-BE49-F238E27FC236}">
                <a16:creationId xmlns:a16="http://schemas.microsoft.com/office/drawing/2014/main" id="{ECB1A391-2C0E-4C79-84A8-83085C3ADD24}"/>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x і fun можуть бути None, якщо допустимого плану немає.</a:t>
            </a:r>
          </a:p>
        </p:txBody>
      </p:sp>
      <p:graphicFrame>
        <p:nvGraphicFramePr>
          <p:cNvPr id="3" name="">
            <a:extLst xmlns:a="http://schemas.openxmlformats.org/drawingml/2006/main">
              <a:ext uri="{FF2B5EF4-FFF2-40B4-BE49-F238E27FC236}">
                <a16:creationId xmlns:a16="http://schemas.microsoft.com/office/drawing/2014/main" id="{9C6A4DD6-BC63-4B6E-BF81-3D764E4FE686}"/>
              </a:ext>
            </a:extLst>
          </p:cNvPr>
          <p:cNvGraphicFramePr/>
          <p:nvPr/>
        </p:nvGraphicFramePr>
        <p:xfrm>
          <a:off xmlns:a="http://schemas.openxmlformats.org/drawingml/2006/main" x="762000" y="1562100"/>
          <a:ext xmlns:a="http://schemas.openxmlformats.org/drawingml/2006/main" cx="10668000" cy="4143375"/>
        </p:xfrm>
        <a:graphic xmlns:a="http://schemas.openxmlformats.org/drawingml/2006/main">
          <a:graphicData uri="http://schemas.openxmlformats.org/drawingml/2006/table">
            <a:tbl>
              <a:tblPr/>
              <a:tblGrid>
                <a:gridCol w="4191000"/>
                <a:gridCol w="6477000"/>
              </a:tblGrid>
              <a:tr h="690563">
                <a:tc>
                  <a:txBody>
                    <a:bodyPr/>
                    <a:lstStyle/>
                    <a:p>
                      <a:r>
                        <a:rPr sz="2325" b="1">
                          <a:solidFill>
                            <a:srgbClr val="FFFFFF"/>
                          </a:solidFill>
                          <a:latin typeface="Arial"/>
                          <a:ea typeface="Arial"/>
                          <a:cs typeface="Arial"/>
                        </a:rPr>
                        <a:t>Поле</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Що означає</a:t>
                      </a:r>
                    </a:p>
                  </a:txBody>
                  <a:tcPr marL="114300" marR="114300" marT="66675" marB="66675" anchor="ctr">
                    <a:solidFill>
                      <a:srgbClr val="173047"/>
                    </a:solidFill>
                  </a:tcPr>
                </a:tc>
              </a:tr>
              <a:tr h="690563">
                <a:tc>
                  <a:txBody>
                    <a:bodyPr/>
                    <a:lstStyle/>
                    <a:p>
                      <a:r>
                        <a:rPr sz="2325">
                          <a:solidFill>
                            <a:srgbClr val="173047"/>
                          </a:solidFill>
                          <a:latin typeface="Arial"/>
                          <a:ea typeface="Arial"/>
                          <a:cs typeface="Arial"/>
                        </a:rPr>
                        <a:t>status, success, message</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Причина зупинки</a:t>
                      </a:r>
                    </a:p>
                  </a:txBody>
                  <a:tcPr marL="114300" marR="114300" marT="66675" marB="66675" anchor="ctr">
                    <a:solidFill>
                      <a:srgbClr val="FFFFFF"/>
                    </a:solidFill>
                  </a:tcPr>
                </a:tc>
              </a:tr>
              <a:tr h="690563">
                <a:tc>
                  <a:txBody>
                    <a:bodyPr/>
                    <a:lstStyle/>
                    <a:p>
                      <a:r>
                        <a:rPr sz="2325">
                          <a:solidFill>
                            <a:srgbClr val="173047"/>
                          </a:solidFill>
                          <a:latin typeface="Arial"/>
                          <a:ea typeface="Arial"/>
                          <a:cs typeface="Arial"/>
                        </a:rPr>
                        <a:t>x, fun</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План і значення min-цілі</a:t>
                      </a:r>
                    </a:p>
                  </a:txBody>
                  <a:tcPr marL="114300" marR="114300" marT="66675" marB="66675" anchor="ctr">
                    <a:solidFill>
                      <a:srgbClr val="FFFFFF"/>
                    </a:solidFill>
                  </a:tcPr>
                </a:tc>
              </a:tr>
              <a:tr h="690563">
                <a:tc>
                  <a:txBody>
                    <a:bodyPr/>
                    <a:lstStyle/>
                    <a:p>
                      <a:r>
                        <a:rPr sz="2325">
                          <a:solidFill>
                            <a:srgbClr val="173047"/>
                          </a:solidFill>
                          <a:latin typeface="Arial"/>
                          <a:ea typeface="Arial"/>
                          <a:cs typeface="Arial"/>
                        </a:rPr>
                        <a:t>mip_dual_bound</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Нижня межа min-цілі</a:t>
                      </a:r>
                    </a:p>
                  </a:txBody>
                  <a:tcPr marL="114300" marR="114300" marT="66675" marB="66675" anchor="ctr">
                    <a:solidFill>
                      <a:srgbClr val="FFFFFF"/>
                    </a:solidFill>
                  </a:tcPr>
                </a:tc>
              </a:tr>
              <a:tr h="690563">
                <a:tc>
                  <a:txBody>
                    <a:bodyPr/>
                    <a:lstStyle/>
                    <a:p>
                      <a:r>
                        <a:rPr sz="2325">
                          <a:solidFill>
                            <a:srgbClr val="173047"/>
                          </a:solidFill>
                          <a:latin typeface="Arial"/>
                          <a:ea typeface="Arial"/>
                          <a:cs typeface="Arial"/>
                        </a:rPr>
                        <a:t>mip_gap</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Відносний розрив плану та межі</a:t>
                      </a:r>
                    </a:p>
                  </a:txBody>
                  <a:tcPr marL="114300" marR="114300" marT="66675" marB="66675" anchor="ctr">
                    <a:solidFill>
                      <a:srgbClr val="FFFFFF"/>
                    </a:solidFill>
                  </a:tcPr>
                </a:tc>
              </a:tr>
              <a:tr h="690563">
                <a:tc>
                  <a:txBody>
                    <a:bodyPr/>
                    <a:lstStyle/>
                    <a:p>
                      <a:r>
                        <a:rPr sz="2325">
                          <a:solidFill>
                            <a:srgbClr val="173047"/>
                          </a:solidFill>
                          <a:latin typeface="Arial"/>
                          <a:ea typeface="Arial"/>
                          <a:cs typeface="Arial"/>
                        </a:rPr>
                        <a:t>mip_node_count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Кількість оброблених MIP-вузлів</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DCECF4E-03A6-4EEB-A5AE-3464CB511C9C}"/>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133</a:t>
            </a:r>
          </a:p>
        </p:txBody>
      </p:sp>
    </p:spTree>
    <p:extLst>
      <p:ext uri="{BB962C8B-B14F-4D97-AF65-F5344CB8AC3E}">
        <p14:creationId xmlns:p14="http://schemas.microsoft.com/office/powerpoint/2010/main" val="1032931203"/>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6089BC-33A6-469A-B1A7-6D18BE12C9A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milp: статус і критерій зупинки</a:t>
            </a:r>
          </a:p>
        </p:txBody>
      </p:sp>
      <p:sp>
        <p:nvSpPr>
          <p:cNvPr id="2" name="">
            <a:extLst xmlns:a="http://schemas.openxmlformats.org/drawingml/2006/main">
              <a:ext uri="{FF2B5EF4-FFF2-40B4-BE49-F238E27FC236}">
                <a16:creationId xmlns:a16="http://schemas.microsoft.com/office/drawing/2014/main" id="{9BAEA88D-78F1-4198-A9DB-F55ABF2412D7}"/>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Ліміт часу сам собою не доводить оптимальності.</a:t>
            </a:r>
          </a:p>
        </p:txBody>
      </p:sp>
      <p:graphicFrame>
        <p:nvGraphicFramePr>
          <p:cNvPr id="3" name="">
            <a:extLst xmlns:a="http://schemas.openxmlformats.org/drawingml/2006/main">
              <a:ext uri="{FF2B5EF4-FFF2-40B4-BE49-F238E27FC236}">
                <a16:creationId xmlns:a16="http://schemas.microsoft.com/office/drawing/2014/main" id="{958B8578-7D4F-4471-9F02-83A6181E15AA}"/>
              </a:ext>
            </a:extLst>
          </p:cNvPr>
          <p:cNvGraphicFramePr/>
          <p:nvPr/>
        </p:nvGraphicFramePr>
        <p:xfrm>
          <a:off xmlns:a="http://schemas.openxmlformats.org/drawingml/2006/main" x="762000" y="1562100"/>
          <a:ext xmlns:a="http://schemas.openxmlformats.org/drawingml/2006/main" cx="10668000" cy="3810000"/>
        </p:xfrm>
        <a:graphic xmlns:a="http://schemas.openxmlformats.org/drawingml/2006/main">
          <a:graphicData uri="http://schemas.openxmlformats.org/drawingml/2006/table">
            <a:tbl>
              <a:tblPr/>
              <a:tblGrid>
                <a:gridCol w="1333500"/>
                <a:gridCol w="4381500"/>
                <a:gridCol w="4953000"/>
              </a:tblGrid>
              <a:tr h="762000">
                <a:tc>
                  <a:txBody>
                    <a:bodyPr/>
                    <a:lstStyle/>
                    <a:p>
                      <a:r>
                        <a:rPr sz="2175" b="1">
                          <a:solidFill>
                            <a:srgbClr val="FFFFFF"/>
                          </a:solidFill>
                          <a:latin typeface="Arial"/>
                          <a:ea typeface="Arial"/>
                          <a:cs typeface="Arial"/>
                        </a:rPr>
                        <a:t>status</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Зміст</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Дія</a:t>
                      </a:r>
                    </a:p>
                  </a:txBody>
                  <a:tcPr marL="114300" marR="114300" marT="66675" marB="66675" anchor="ctr">
                    <a:solidFill>
                      <a:srgbClr val="173047"/>
                    </a:solidFill>
                  </a:tcPr>
                </a:tc>
              </a:tr>
              <a:tr h="762000">
                <a:tc>
                  <a:txBody>
                    <a:bodyPr/>
                    <a:lstStyle/>
                    <a:p>
                      <a:r>
                        <a:rPr sz="2175">
                          <a:solidFill>
                            <a:srgbClr val="173047"/>
                          </a:solidFill>
                          <a:latin typeface="Arial"/>
                          <a:ea typeface="Arial"/>
                          <a:cs typeface="Arial"/>
                        </a:rPr>
                        <a:t>0</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Оптимальність за допусками</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Прочитати план і gap</a:t>
                      </a:r>
                    </a:p>
                  </a:txBody>
                  <a:tcPr marL="114300" marR="114300" marT="66675" marB="66675" anchor="ctr">
                    <a:solidFill>
                      <a:srgbClr val="FFFFFF"/>
                    </a:solidFill>
                  </a:tcPr>
                </a:tc>
              </a:tr>
              <a:tr h="762000">
                <a:tc>
                  <a:txBody>
                    <a:bodyPr/>
                    <a:lstStyle/>
                    <a:p>
                      <a:r>
                        <a:rPr sz="2175">
                          <a:solidFill>
                            <a:srgbClr val="173047"/>
                          </a:solidFill>
                          <a:latin typeface="Arial"/>
                          <a:ea typeface="Arial"/>
                          <a:cs typeface="Arial"/>
                        </a:rPr>
                        <a:t>1</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Ліміт часу або вузлів</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Перевірити, чи є x і межа</a:t>
                      </a:r>
                    </a:p>
                  </a:txBody>
                  <a:tcPr marL="114300" marR="114300" marT="66675" marB="66675" anchor="ctr">
                    <a:solidFill>
                      <a:srgbClr val="FFFFFF"/>
                    </a:solidFill>
                  </a:tcPr>
                </a:tc>
              </a:tr>
              <a:tr h="762000">
                <a:tc>
                  <a:txBody>
                    <a:bodyPr/>
                    <a:lstStyle/>
                    <a:p>
                      <a:r>
                        <a:rPr sz="2175">
                          <a:solidFill>
                            <a:srgbClr val="173047"/>
                          </a:solidFill>
                          <a:latin typeface="Arial"/>
                          <a:ea typeface="Arial"/>
                          <a:cs typeface="Arial"/>
                        </a:rPr>
                        <a:t>2</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Модель недопустима</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Перевірити суперечності</a:t>
                      </a:r>
                    </a:p>
                  </a:txBody>
                  <a:tcPr marL="114300" marR="114300" marT="66675" marB="66675" anchor="ctr">
                    <a:solidFill>
                      <a:srgbClr val="FFFFFF"/>
                    </a:solidFill>
                  </a:tcPr>
                </a:tc>
              </a:tr>
              <a:tr h="762000">
                <a:tc>
                  <a:txBody>
                    <a:bodyPr/>
                    <a:lstStyle/>
                    <a:p>
                      <a:r>
                        <a:rPr sz="2175">
                          <a:solidFill>
                            <a:srgbClr val="173047"/>
                          </a:solidFill>
                          <a:latin typeface="Arial"/>
                          <a:ea typeface="Arial"/>
                          <a:cs typeface="Arial"/>
                        </a:rPr>
                        <a:t>3 / 4</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Необмеженість / інша причина</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Прочитати message</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C401868-2384-4CBE-993D-7EE7EBE6EA7C}"/>
              </a:ext>
            </a:extLst>
          </p:cNvPr>
          <p:cNvSpPr>
            <a:spLocks xmlns:a="http://schemas.openxmlformats.org/drawingml/2006/main" noGrp="1"/>
          </p:cNvSpPr>
          <p:nvPr/>
        </p:nvSpPr>
        <p:spPr>
          <a:xfrm xmlns:a="http://schemas.openxmlformats.org/drawingml/2006/main">
            <a:off x="762000" y="56007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66779"/>
                </a:solidFill>
                <a:latin typeface="Courier New"/>
                <a:ea typeface="Courier New"/>
                <a:cs typeface="Courier New"/>
              </a:defRPr>
            </a:defPPr>
          </a:lstStyle>
          <a:p xmlns:a="http://schemas.openxmlformats.org/drawingml/2006/main">
            <a:pPr algn="l">
              <a:defRPr sz="1950" b="0">
                <a:solidFill>
                  <a:srgbClr val="566779"/>
                </a:solidFill>
                <a:latin typeface="Courier New"/>
                <a:ea typeface="Courier New"/>
                <a:cs typeface="Courier New"/>
              </a:defRPr>
            </a:pPr>
            <a:r>
              <a:rPr sz="1950" b="0">
                <a:solidFill>
                  <a:srgbClr val="566779"/>
                </a:solidFill>
                <a:latin typeface="Courier New"/>
                <a:ea typeface="Courier New"/>
                <a:cs typeface="Courier New"/>
              </a:rPr>
              <a:t>options={"time_limit": 10, "mip_rel_gap": 0.01}</a:t>
            </a:r>
          </a:p>
          <a:p xmlns:a="http://schemas.openxmlformats.org/drawingml/2006/main">
            <a:pPr algn="l">
              <a:defRPr sz="1950" b="0">
                <a:solidFill>
                  <a:srgbClr val="566779"/>
                </a:solidFill>
                <a:latin typeface="Courier New"/>
                <a:ea typeface="Courier New"/>
                <a:cs typeface="Courier New"/>
              </a:defRPr>
            </a:pPr>
            <a:r>
              <a:rPr sz="1950" b="0">
                <a:solidFill>
                  <a:srgbClr val="566779"/>
                </a:solidFill>
                <a:latin typeface="Courier New"/>
                <a:ea typeface="Courier New"/>
                <a:cs typeface="Courier New"/>
              </a:rPr>
              <a:t>Допускаємо відносний розрив до 1%, а не точний доказ.</a:t>
            </a:r>
          </a:p>
        </p:txBody>
      </p:sp>
      <p:sp>
        <p:nvSpPr>
          <p:cNvPr id="5" name="">
            <a:extLst xmlns:a="http://schemas.openxmlformats.org/drawingml/2006/main">
              <a:ext uri="{FF2B5EF4-FFF2-40B4-BE49-F238E27FC236}">
                <a16:creationId xmlns:a16="http://schemas.microsoft.com/office/drawing/2014/main" id="{031DBA53-4804-438C-8E7D-2F7A0EFC5DBB}"/>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134</a:t>
            </a:r>
          </a:p>
        </p:txBody>
      </p:sp>
    </p:spTree>
    <p:extLst>
      <p:ext uri="{BB962C8B-B14F-4D97-AF65-F5344CB8AC3E}">
        <p14:creationId xmlns:p14="http://schemas.microsoft.com/office/powerpoint/2010/main" val="462562344"/>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337FA3-2ED4-4CE3-8696-88CDAE7E438D}"/>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Незалежна перевірка MILP-плану</a:t>
            </a:r>
          </a:p>
        </p:txBody>
      </p:sp>
      <p:sp>
        <p:nvSpPr>
          <p:cNvPr id="2" name="">
            <a:extLst xmlns:a="http://schemas.openxmlformats.org/drawingml/2006/main">
              <a:ext uri="{FF2B5EF4-FFF2-40B4-BE49-F238E27FC236}">
                <a16:creationId xmlns:a16="http://schemas.microsoft.com/office/drawing/2014/main" id="{9785EC1A-FF00-4211-9982-E9FD54FFF85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Потоки можуть бути дробовими, запуск yA має бути цілим.</a:t>
            </a:r>
          </a:p>
        </p:txBody>
      </p:sp>
      <p:sp>
        <p:nvSpPr>
          <p:cNvPr id="3" name="">
            <a:extLst xmlns:a="http://schemas.openxmlformats.org/drawingml/2006/main">
              <a:ext uri="{FF2B5EF4-FFF2-40B4-BE49-F238E27FC236}">
                <a16:creationId xmlns:a16="http://schemas.microsoft.com/office/drawing/2014/main" id="{119CA2E5-3CE9-4DBF-A4EE-10D0E5DC2E5E}"/>
              </a:ext>
            </a:extLst>
          </p:cNvPr>
          <p:cNvSpPr>
            <a:spLocks xmlns:a="http://schemas.openxmlformats.org/drawingml/2006/main" noGrp="1"/>
          </p:cNvSpPr>
          <p:nvPr/>
        </p:nvSpPr>
        <p:spPr>
          <a:xfrm xmlns:a="http://schemas.openxmlformats.org/drawingml/2006/main">
            <a:off x="762000" y="1504950"/>
            <a:ext cx="10668000" cy="2724912"/>
          </a:xfrm>
          <a:prstGeom xmlns:a="http://schemas.openxmlformats.org/drawingml/2006/main" prst="rect">
            <a:avLst/>
          </a:prstGeom>
          <a:solidFill xmlns:a="http://schemas.openxmlformats.org/drawingml/2006/main">
            <a:srgbClr val="F1F5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4F4EE2-2AD5-4807-9C29-EE8CF27B50FC}"/>
              </a:ext>
            </a:extLst>
          </p:cNvPr>
          <p:cNvSpPr>
            <a:spLocks xmlns:a="http://schemas.openxmlformats.org/drawingml/2006/main" noGrp="1"/>
          </p:cNvSpPr>
          <p:nvPr/>
        </p:nvSpPr>
        <p:spPr>
          <a:xfrm xmlns:a="http://schemas.openxmlformats.org/drawingml/2006/main">
            <a:off x="933450" y="1581150"/>
            <a:ext cx="10325100" cy="2572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73047"/>
                </a:solidFill>
                <a:latin typeface="Courier New"/>
                <a:ea typeface="Courier New"/>
                <a:cs typeface="Courier New"/>
              </a:defRPr>
            </a:defPPr>
          </a:lstStyle>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 Маршрут: x=[xA,xB,xC,yA], r вже обчислено</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r.x is not None, r.message</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x = r.x; tol = 1e-7</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np.all(x &gt;= np.array([0,0,0,0]) - tol)</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np.all(x &lt;= np.array([40,50,30,1]) + tol)</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np.all(A @ x &gt;= lo - tol)</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np.all(A @ x &lt;= hi + tol)</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abs(x[3] - round(x[3])) &lt;= tol</a:t>
            </a:r>
          </a:p>
          <a:p xmlns:a="http://schemas.openxmlformats.org/drawingml/2006/main">
            <a:pPr algn="l">
              <a:defRPr sz="1950" b="0">
                <a:solidFill>
                  <a:srgbClr val="173047"/>
                </a:solidFill>
                <a:latin typeface="Courier New"/>
                <a:ea typeface="Courier New"/>
                <a:cs typeface="Courier New"/>
              </a:defRPr>
            </a:pPr>
            <a:r>
              <a:rPr sz="1950" b="0">
                <a:solidFill>
                  <a:srgbClr val="173047"/>
                </a:solidFill>
                <a:latin typeface="Courier New"/>
                <a:ea typeface="Courier New"/>
                <a:cs typeface="Courier New"/>
              </a:rPr>
              <a:t>assert np.isclose(np.dot(c, x), r.fun)</a:t>
            </a:r>
          </a:p>
        </p:txBody>
      </p:sp>
      <p:sp>
        <p:nvSpPr>
          <p:cNvPr id="5" name="">
            <a:extLst xmlns:a="http://schemas.openxmlformats.org/drawingml/2006/main">
              <a:ext uri="{FF2B5EF4-FFF2-40B4-BE49-F238E27FC236}">
                <a16:creationId xmlns:a16="http://schemas.microsoft.com/office/drawing/2014/main" id="{F6EC1BCF-016C-420B-8778-4F6FAE4CF33C}"/>
              </a:ext>
            </a:extLst>
          </p:cNvPr>
          <p:cNvSpPr>
            <a:spLocks xmlns:a="http://schemas.openxmlformats.org/drawingml/2006/main" noGrp="1"/>
          </p:cNvSpPr>
          <p:nvPr/>
        </p:nvSpPr>
        <p:spPr>
          <a:xfrm xmlns:a="http://schemas.openxmlformats.org/drawingml/2006/main">
            <a:off x="762000" y="45529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00857D"/>
                </a:solidFill>
                <a:latin typeface="Arial"/>
                <a:ea typeface="Arial"/>
                <a:cs typeface="Arial"/>
              </a:defRPr>
            </a:defPPr>
          </a:lstStyle>
          <a:p xmlns:a="http://schemas.openxmlformats.org/drawingml/2006/main">
            <a:pPr algn="l">
              <a:defRPr sz="2400" b="1">
                <a:solidFill>
                  <a:srgbClr val="00857D"/>
                </a:solidFill>
                <a:latin typeface="Arial"/>
                <a:ea typeface="Arial"/>
                <a:cs typeface="Arial"/>
              </a:defRPr>
            </a:pPr>
            <a:r>
              <a:rPr sz="2400" b="1">
                <a:solidFill>
                  <a:srgbClr val="00857D"/>
                </a:solidFill>
                <a:latin typeface="Arial"/>
                <a:ea typeface="Arial"/>
                <a:cs typeface="Arial"/>
              </a:rPr>
              <a:t>Перевірено межі, лінійні умови, тип yA та ціль.</a:t>
            </a:r>
          </a:p>
        </p:txBody>
      </p:sp>
      <p:sp>
        <p:nvSpPr>
          <p:cNvPr id="6" name="">
            <a:extLst xmlns:a="http://schemas.openxmlformats.org/drawingml/2006/main">
              <a:ext uri="{FF2B5EF4-FFF2-40B4-BE49-F238E27FC236}">
                <a16:creationId xmlns:a16="http://schemas.microsoft.com/office/drawing/2014/main" id="{6FF4A4C6-52AD-4BAD-A30E-6397C76F4F25}"/>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135</a:t>
            </a:r>
          </a:p>
        </p:txBody>
      </p:sp>
    </p:spTree>
    <p:extLst>
      <p:ext uri="{BB962C8B-B14F-4D97-AF65-F5344CB8AC3E}">
        <p14:creationId xmlns:p14="http://schemas.microsoft.com/office/powerpoint/2010/main" val="817433901"/>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B27C87-B771-4896-8464-708A416A8D98}"/>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Методи дискретного програмування</a:t>
            </a:r>
          </a:p>
        </p:txBody>
      </p:sp>
      <p:sp>
        <p:nvSpPr>
          <p:cNvPr id="2" name="">
            <a:extLst xmlns:a="http://schemas.openxmlformats.org/drawingml/2006/main">
              <a:ext uri="{FF2B5EF4-FFF2-40B4-BE49-F238E27FC236}">
                <a16:creationId xmlns:a16="http://schemas.microsoft.com/office/drawing/2014/main" id="{B30AB89C-1034-4DA6-85D5-C2FDAE4D5EB1}"/>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Метод обираємо за структурою задачі та потрібною гарантією.</a:t>
            </a:r>
          </a:p>
        </p:txBody>
      </p:sp>
      <p:graphicFrame>
        <p:nvGraphicFramePr>
          <p:cNvPr id="3" name="">
            <a:extLst xmlns:a="http://schemas.openxmlformats.org/drawingml/2006/main">
              <a:ext uri="{FF2B5EF4-FFF2-40B4-BE49-F238E27FC236}">
                <a16:creationId xmlns:a16="http://schemas.microsoft.com/office/drawing/2014/main" id="{0845A734-2DC7-46EF-A86A-EEFF6EE5514A}"/>
              </a:ext>
            </a:extLst>
          </p:cNvPr>
          <p:cNvGraphicFramePr/>
          <p:nvPr/>
        </p:nvGraphicFramePr>
        <p:xfrm>
          <a:off xmlns:a="http://schemas.openxmlformats.org/drawingml/2006/main" x="762000" y="1562100"/>
          <a:ext xmlns:a="http://schemas.openxmlformats.org/drawingml/2006/main" cx="10668000" cy="4152900"/>
        </p:xfrm>
        <a:graphic xmlns:a="http://schemas.openxmlformats.org/drawingml/2006/main">
          <a:graphicData uri="http://schemas.openxmlformats.org/drawingml/2006/table">
            <a:tbl>
              <a:tblPr/>
              <a:tblGrid>
                <a:gridCol w="4143375"/>
                <a:gridCol w="6524625"/>
              </a:tblGrid>
              <a:tr h="692150">
                <a:tc>
                  <a:txBody>
                    <a:bodyPr/>
                    <a:lstStyle/>
                    <a:p>
                      <a:r>
                        <a:rPr sz="2175" b="1">
                          <a:solidFill>
                            <a:srgbClr val="FFFFFF"/>
                          </a:solidFill>
                          <a:latin typeface="Arial"/>
                          <a:ea typeface="Arial"/>
                          <a:cs typeface="Arial"/>
                        </a:rPr>
                        <a:t>Метод</a:t>
                      </a:r>
                    </a:p>
                  </a:txBody>
                  <a:tcPr marL="114300" marR="114300" marT="66675" marB="66675" anchor="ctr">
                    <a:solidFill>
                      <a:srgbClr val="173047"/>
                    </a:solidFill>
                  </a:tcPr>
                </a:tc>
                <a:tc>
                  <a:txBody>
                    <a:bodyPr/>
                    <a:lstStyle/>
                    <a:p>
                      <a:r>
                        <a:rPr sz="2175" b="1">
                          <a:solidFill>
                            <a:srgbClr val="FFFFFF"/>
                          </a:solidFill>
                          <a:latin typeface="Arial"/>
                          <a:ea typeface="Arial"/>
                          <a:cs typeface="Arial"/>
                        </a:rPr>
                        <a:t>Роль у розв’язанні</a:t>
                      </a:r>
                    </a:p>
                  </a:txBody>
                  <a:tcPr marL="114300" marR="114300" marT="66675" marB="66675" anchor="ctr">
                    <a:solidFill>
                      <a:srgbClr val="173047"/>
                    </a:solidFill>
                  </a:tcPr>
                </a:tc>
              </a:tr>
              <a:tr h="692150">
                <a:tc>
                  <a:txBody>
                    <a:bodyPr/>
                    <a:lstStyle/>
                    <a:p>
                      <a:r>
                        <a:rPr sz="2175">
                          <a:solidFill>
                            <a:srgbClr val="173047"/>
                          </a:solidFill>
                          <a:latin typeface="Arial"/>
                          <a:ea typeface="Arial"/>
                          <a:cs typeface="Arial"/>
                        </a:rPr>
                        <a:t>Повний перебір</a:t>
                      </a:r>
                    </a:p>
                  </a:txBody>
                  <a:tcPr marL="114300" marR="114300" marT="66675" marB="66675" anchor="ctr">
                    <a:solidFill>
                      <a:srgbClr val="FFFFFF"/>
                    </a:solidFill>
                  </a:tcPr>
                </a:tc>
                <a:tc>
                  <a:txBody>
                    <a:bodyPr/>
                    <a:lstStyle/>
                    <a:p>
                      <a:r>
                        <a:rPr sz="2175">
                          <a:solidFill>
                            <a:srgbClr val="173047"/>
                          </a:solidFill>
                          <a:latin typeface="Arial"/>
                          <a:ea typeface="Arial"/>
                          <a:cs typeface="Arial"/>
                        </a:rPr>
                        <a:t>Точна перевірка малих прикладів</a:t>
                      </a:r>
                    </a:p>
                  </a:txBody>
                  <a:tcPr marL="114300" marR="114300" marT="66675" marB="66675" anchor="ctr">
                    <a:solidFill>
                      <a:srgbClr val="FFFFFF"/>
                    </a:solidFill>
                  </a:tcPr>
                </a:tc>
              </a:tr>
              <a:tr h="692150">
                <a:tc>
                  <a:txBody>
                    <a:bodyPr/>
                    <a:lstStyle/>
                    <a:p>
                      <a:r>
                        <a:rPr sz="2175">
                          <a:solidFill>
                            <a:srgbClr val="173047"/>
                          </a:solidFill>
                          <a:latin typeface="Arial"/>
                          <a:ea typeface="Arial"/>
                          <a:cs typeface="Arial"/>
                        </a:rPr>
                        <a:t>Гілки і межі</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Відсів підзадач за LP-оцінками</a:t>
                      </a:r>
                    </a:p>
                  </a:txBody>
                  <a:tcPr marL="114300" marR="114300" marT="66675" marB="66675" anchor="ctr">
                    <a:solidFill>
                      <a:srgbClr val="FFFFFF"/>
                    </a:solidFill>
                  </a:tcPr>
                </a:tc>
              </a:tr>
              <a:tr h="692150">
                <a:tc>
                  <a:txBody>
                    <a:bodyPr/>
                    <a:lstStyle/>
                    <a:p>
                      <a:r>
                        <a:rPr sz="2175">
                          <a:solidFill>
                            <a:srgbClr val="173047"/>
                          </a:solidFill>
                          <a:latin typeface="Arial"/>
                          <a:ea typeface="Arial"/>
                          <a:cs typeface="Arial"/>
                        </a:rPr>
                        <a:t>Відсічення + гілки</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Посилення LP-меж і розгалуження</a:t>
                      </a:r>
                    </a:p>
                  </a:txBody>
                  <a:tcPr marL="114300" marR="114300" marT="66675" marB="66675" anchor="ctr">
                    <a:solidFill>
                      <a:srgbClr val="FFFFFF"/>
                    </a:solidFill>
                  </a:tcPr>
                </a:tc>
              </a:tr>
              <a:tr h="692150">
                <a:tc>
                  <a:txBody>
                    <a:bodyPr/>
                    <a:lstStyle/>
                    <a:p>
                      <a:r>
                        <a:rPr sz="2175">
                          <a:solidFill>
                            <a:srgbClr val="173047"/>
                          </a:solidFill>
                          <a:latin typeface="Arial"/>
                          <a:ea typeface="Arial"/>
                          <a:cs typeface="Arial"/>
                        </a:rPr>
                        <a:t>Динамічне програмування</a:t>
                      </a:r>
                    </a:p>
                  </a:txBody>
                  <a:tcPr marL="114300" marR="114300" marT="66675" marB="66675" anchor="ctr">
                    <a:solidFill>
                      <a:srgbClr val="FFFFFF"/>
                    </a:solidFill>
                  </a:tcPr>
                </a:tc>
                <a:tc>
                  <a:txBody>
                    <a:bodyPr/>
                    <a:lstStyle/>
                    <a:p>
                      <a:r>
                        <a:rPr sz="2175">
                          <a:solidFill>
                            <a:srgbClr val="173047"/>
                          </a:solidFill>
                          <a:latin typeface="Arial"/>
                          <a:ea typeface="Arial"/>
                          <a:cs typeface="Arial"/>
                        </a:rPr>
                        <a:t>Структуровані стани, наприклад рюкзак</a:t>
                      </a:r>
                    </a:p>
                  </a:txBody>
                  <a:tcPr marL="114300" marR="114300" marT="66675" marB="66675" anchor="ctr">
                    <a:solidFill>
                      <a:srgbClr val="FFFFFF"/>
                    </a:solidFill>
                  </a:tcPr>
                </a:tc>
              </a:tr>
              <a:tr h="692150">
                <a:tc>
                  <a:txBody>
                    <a:bodyPr/>
                    <a:lstStyle/>
                    <a:p>
                      <a:r>
                        <a:rPr sz="2175">
                          <a:solidFill>
                            <a:srgbClr val="173047"/>
                          </a:solidFill>
                          <a:latin typeface="Arial"/>
                          <a:ea typeface="Arial"/>
                          <a:cs typeface="Arial"/>
                        </a:rPr>
                        <a:t>Евристики й метаевристики</a:t>
                      </a:r>
                    </a:p>
                  </a:txBody>
                  <a:tcPr marL="114300" marR="114300" marT="66675" marB="66675" anchor="ctr">
                    <a:solidFill>
                      <a:srgbClr val="FFFFFF"/>
                    </a:solidFill>
                  </a:tcPr>
                </a:tc>
                <a:tc>
                  <a:txBody>
                    <a:bodyPr/>
                    <a:lstStyle/>
                    <a:p>
                      <a:r>
                        <a:rPr sz="2175">
                          <a:solidFill>
                            <a:srgbClr val="173047"/>
                          </a:solidFill>
                          <a:latin typeface="Arial"/>
                          <a:ea typeface="Arial"/>
                          <a:cs typeface="Arial"/>
                        </a:rPr>
                        <a:t>Пошук доброго плану без загального доказу</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4E34941-5B27-4299-813A-59A62B819DA7}"/>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136</a:t>
            </a:r>
          </a:p>
        </p:txBody>
      </p:sp>
    </p:spTree>
    <p:extLst>
      <p:ext uri="{BB962C8B-B14F-4D97-AF65-F5344CB8AC3E}">
        <p14:creationId xmlns:p14="http://schemas.microsoft.com/office/powerpoint/2010/main" val="419973732"/>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A413C2-4DD9-4C12-856B-2F22EBF214F8}"/>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Дискретне програмування: самоперевірка</a:t>
            </a:r>
          </a:p>
        </p:txBody>
      </p:sp>
      <p:sp>
        <p:nvSpPr>
          <p:cNvPr id="2" name="">
            <a:extLst xmlns:a="http://schemas.openxmlformats.org/drawingml/2006/main">
              <a:ext uri="{FF2B5EF4-FFF2-40B4-BE49-F238E27FC236}">
                <a16:creationId xmlns:a16="http://schemas.microsoft.com/office/drawing/2014/main" id="{3ECD1C41-CBFC-44DC-A50F-6588052202D5}"/>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Спочатку пояснення моделі, потім запуск бібліотеки.</a:t>
            </a:r>
          </a:p>
        </p:txBody>
      </p:sp>
      <p:sp>
        <p:nvSpPr>
          <p:cNvPr id="3" name="">
            <a:extLst xmlns:a="http://schemas.openxmlformats.org/drawingml/2006/main">
              <a:ext uri="{FF2B5EF4-FFF2-40B4-BE49-F238E27FC236}">
                <a16:creationId xmlns:a16="http://schemas.microsoft.com/office/drawing/2014/main" id="{9AD09786-C824-42D5-B029-5B04FA6792C6}"/>
              </a:ext>
            </a:extLst>
          </p:cNvPr>
          <p:cNvSpPr>
            <a:spLocks xmlns:a="http://schemas.openxmlformats.org/drawingml/2006/main" noGrp="1"/>
          </p:cNvSpPr>
          <p:nvPr/>
        </p:nvSpPr>
        <p:spPr>
          <a:xfrm xmlns:a="http://schemas.openxmlformats.org/drawingml/2006/main">
            <a:off x="762000" y="14954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defRPr sz="2475" b="0">
                <a:solidFill>
                  <a:srgbClr val="173047"/>
                </a:solidFill>
                <a:latin typeface="Arial"/>
                <a:ea typeface="Arial"/>
                <a:cs typeface="Arial"/>
              </a:defRPr>
            </a:pPr>
            <a:r>
              <a:rPr sz="2475" b="0">
                <a:solidFill>
                  <a:srgbClr val="173047"/>
                </a:solidFill>
                <a:latin typeface="Arial"/>
                <a:ea typeface="Arial"/>
                <a:cs typeface="Arial"/>
              </a:rPr>
              <a:t>Чому VM-план (0,2) недопустимий?</a:t>
            </a:r>
          </a:p>
        </p:txBody>
      </p:sp>
      <p:sp>
        <p:nvSpPr>
          <p:cNvPr id="4" name="">
            <a:extLst xmlns:a="http://schemas.openxmlformats.org/drawingml/2006/main">
              <a:ext uri="{FF2B5EF4-FFF2-40B4-BE49-F238E27FC236}">
                <a16:creationId xmlns:a16="http://schemas.microsoft.com/office/drawing/2014/main" id="{761DB48F-4ECD-4BAC-A3B3-313DE94F544E}"/>
              </a:ext>
            </a:extLst>
          </p:cNvPr>
          <p:cNvSpPr>
            <a:spLocks xmlns:a="http://schemas.openxmlformats.org/drawingml/2006/main" noGrp="1"/>
          </p:cNvSpPr>
          <p:nvPr/>
        </p:nvSpPr>
        <p:spPr>
          <a:xfrm xmlns:a="http://schemas.openxmlformats.org/drawingml/2006/main">
            <a:off x="762000" y="24860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defRPr sz="2475" b="0">
                <a:solidFill>
                  <a:srgbClr val="173047"/>
                </a:solidFill>
                <a:latin typeface="Arial"/>
                <a:ea typeface="Arial"/>
                <a:cs typeface="Arial"/>
              </a:defRPr>
            </a:pPr>
            <a:r>
              <a:rPr sz="2475" b="0">
                <a:solidFill>
                  <a:srgbClr val="173047"/>
                </a:solidFill>
                <a:latin typeface="Arial"/>
                <a:ea typeface="Arial"/>
                <a:cs typeface="Arial"/>
              </a:rPr>
              <a:t>Яка умова означає «C потребує B»?</a:t>
            </a:r>
          </a:p>
        </p:txBody>
      </p:sp>
      <p:sp>
        <p:nvSpPr>
          <p:cNvPr id="5" name="">
            <a:extLst xmlns:a="http://schemas.openxmlformats.org/drawingml/2006/main">
              <a:ext uri="{FF2B5EF4-FFF2-40B4-BE49-F238E27FC236}">
                <a16:creationId xmlns:a16="http://schemas.microsoft.com/office/drawing/2014/main" id="{15E69AA9-8BC4-4061-AD7D-963624A51C2D}"/>
              </a:ext>
            </a:extLst>
          </p:cNvPr>
          <p:cNvSpPr>
            <a:spLocks xmlns:a="http://schemas.openxmlformats.org/drawingml/2006/main" noGrp="1"/>
          </p:cNvSpPr>
          <p:nvPr/>
        </p:nvSpPr>
        <p:spPr>
          <a:xfrm xmlns:a="http://schemas.openxmlformats.org/drawingml/2006/main">
            <a:off x="762000" y="3476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defRPr sz="2475" b="0">
                <a:solidFill>
                  <a:srgbClr val="173047"/>
                </a:solidFill>
                <a:latin typeface="Arial"/>
                <a:ea typeface="Arial"/>
                <a:cs typeface="Arial"/>
              </a:defRPr>
            </a:pPr>
            <a:r>
              <a:rPr sz="2475" b="0">
                <a:solidFill>
                  <a:srgbClr val="173047"/>
                </a:solidFill>
                <a:latin typeface="Arial"/>
                <a:ea typeface="Arial"/>
                <a:cs typeface="Arial"/>
              </a:rPr>
              <a:t>Чому GPU-гілку x₂=1 відсіяли без нового поділу?</a:t>
            </a:r>
          </a:p>
        </p:txBody>
      </p:sp>
      <p:sp>
        <p:nvSpPr>
          <p:cNvPr id="6" name="">
            <a:extLst xmlns:a="http://schemas.openxmlformats.org/drawingml/2006/main">
              <a:ext uri="{FF2B5EF4-FFF2-40B4-BE49-F238E27FC236}">
                <a16:creationId xmlns:a16="http://schemas.microsoft.com/office/drawing/2014/main" id="{3F72A5E3-5A76-48E7-9FAF-06851516C18F}"/>
              </a:ext>
            </a:extLst>
          </p:cNvPr>
          <p:cNvSpPr>
            <a:spLocks xmlns:a="http://schemas.openxmlformats.org/drawingml/2006/main" noGrp="1"/>
          </p:cNvSpPr>
          <p:nvPr/>
        </p:nvSpPr>
        <p:spPr>
          <a:xfrm xmlns:a="http://schemas.openxmlformats.org/drawingml/2006/main">
            <a:off x="762000" y="44672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173047"/>
                </a:solidFill>
                <a:latin typeface="Arial"/>
                <a:ea typeface="Arial"/>
                <a:cs typeface="Arial"/>
              </a:defRPr>
            </a:defPPr>
          </a:lstStyle>
          <a:p xmlns:a="http://schemas.openxmlformats.org/drawingml/2006/main">
            <a:pPr algn="l">
              <a:defRPr sz="2475" b="0">
                <a:solidFill>
                  <a:srgbClr val="173047"/>
                </a:solidFill>
                <a:latin typeface="Arial"/>
                <a:ea typeface="Arial"/>
                <a:cs typeface="Arial"/>
              </a:defRPr>
            </a:pPr>
            <a:r>
              <a:rPr sz="2475" b="0">
                <a:solidFill>
                  <a:srgbClr val="173047"/>
                </a:solidFill>
                <a:latin typeface="Arial"/>
                <a:ea typeface="Arial"/>
                <a:cs typeface="Arial"/>
              </a:rPr>
              <a:t>Що можна повідомити після ліміту часу?</a:t>
            </a:r>
          </a:p>
        </p:txBody>
      </p:sp>
      <p:sp>
        <p:nvSpPr>
          <p:cNvPr id="7" name="">
            <a:extLst xmlns:a="http://schemas.openxmlformats.org/drawingml/2006/main">
              <a:ext uri="{FF2B5EF4-FFF2-40B4-BE49-F238E27FC236}">
                <a16:creationId xmlns:a16="http://schemas.microsoft.com/office/drawing/2014/main" id="{CF71E23E-9CED-4E5A-A5A0-F24DBE814596}"/>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137</a:t>
            </a:r>
          </a:p>
        </p:txBody>
      </p:sp>
    </p:spTree>
    <p:extLst>
      <p:ext uri="{BB962C8B-B14F-4D97-AF65-F5344CB8AC3E}">
        <p14:creationId xmlns:p14="http://schemas.microsoft.com/office/powerpoint/2010/main" val="59741268"/>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EA2667-D664-4479-AE85-01D65126D3F7}"/>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Дискретне програмування: що треба вміти</a:t>
            </a:r>
          </a:p>
        </p:txBody>
      </p:sp>
      <p:sp>
        <p:nvSpPr>
          <p:cNvPr id="2" name="">
            <a:extLst xmlns:a="http://schemas.openxmlformats.org/drawingml/2006/main">
              <a:ext uri="{FF2B5EF4-FFF2-40B4-BE49-F238E27FC236}">
                <a16:creationId xmlns:a16="http://schemas.microsoft.com/office/drawing/2014/main" id="{6E4B4FCE-BA07-45E9-A5D3-771313E2B75E}"/>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План і пояснення його якості потрібні разом.</a:t>
            </a:r>
          </a:p>
        </p:txBody>
      </p:sp>
      <p:graphicFrame>
        <p:nvGraphicFramePr>
          <p:cNvPr id="3" name="">
            <a:extLst xmlns:a="http://schemas.openxmlformats.org/drawingml/2006/main">
              <a:ext uri="{FF2B5EF4-FFF2-40B4-BE49-F238E27FC236}">
                <a16:creationId xmlns:a16="http://schemas.microsoft.com/office/drawing/2014/main" id="{341C17CB-12C1-404D-86D1-59B756C818EB}"/>
              </a:ext>
            </a:extLst>
          </p:cNvPr>
          <p:cNvGraphicFramePr/>
          <p:nvPr/>
        </p:nvGraphicFramePr>
        <p:xfrm>
          <a:off xmlns:a="http://schemas.openxmlformats.org/drawingml/2006/main" x="762000" y="1562100"/>
          <a:ext xmlns:a="http://schemas.openxmlformats.org/drawingml/2006/main" cx="10668000" cy="3714750"/>
        </p:xfrm>
        <a:graphic xmlns:a="http://schemas.openxmlformats.org/drawingml/2006/main">
          <a:graphicData uri="http://schemas.openxmlformats.org/drawingml/2006/table">
            <a:tbl>
              <a:tblPr/>
              <a:tblGrid>
                <a:gridCol w="3857625"/>
                <a:gridCol w="6810375"/>
              </a:tblGrid>
              <a:tr h="742950">
                <a:tc>
                  <a:txBody>
                    <a:bodyPr/>
                    <a:lstStyle/>
                    <a:p>
                      <a:r>
                        <a:rPr sz="2325" b="1">
                          <a:solidFill>
                            <a:srgbClr val="FFFFFF"/>
                          </a:solidFill>
                          <a:latin typeface="Arial"/>
                          <a:ea typeface="Arial"/>
                          <a:cs typeface="Arial"/>
                        </a:rPr>
                        <a:t>Уміння</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Перевірюваний результат</a:t>
                      </a:r>
                    </a:p>
                  </a:txBody>
                  <a:tcPr marL="114300" marR="114300" marT="66675" marB="66675" anchor="ctr">
                    <a:solidFill>
                      <a:srgbClr val="173047"/>
                    </a:solidFill>
                  </a:tcPr>
                </a:tc>
              </a:tr>
              <a:tr h="742950">
                <a:tc>
                  <a:txBody>
                    <a:bodyPr/>
                    <a:lstStyle/>
                    <a:p>
                      <a:r>
                        <a:rPr sz="2325">
                          <a:solidFill>
                            <a:srgbClr val="173047"/>
                          </a:solidFill>
                          <a:latin typeface="Arial"/>
                          <a:ea typeface="Arial"/>
                          <a:cs typeface="Arial"/>
                        </a:rPr>
                        <a:t>Побудувати модель</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Типи x, ціль, межі та логіка</a:t>
                      </a:r>
                    </a:p>
                  </a:txBody>
                  <a:tcPr marL="114300" marR="114300" marT="66675" marB="66675" anchor="ctr">
                    <a:solidFill>
                      <a:srgbClr val="FFFFFF"/>
                    </a:solidFill>
                  </a:tcPr>
                </a:tc>
              </a:tr>
              <a:tr h="742950">
                <a:tc>
                  <a:txBody>
                    <a:bodyPr/>
                    <a:lstStyle/>
                    <a:p>
                      <a:r>
                        <a:rPr sz="2325">
                          <a:solidFill>
                            <a:srgbClr val="173047"/>
                          </a:solidFill>
                          <a:latin typeface="Arial"/>
                          <a:ea typeface="Arial"/>
                          <a:cs typeface="Arial"/>
                        </a:rPr>
                        <a:t>Порівняти з LP</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Правильний напрям оцінки</a:t>
                      </a:r>
                    </a:p>
                  </a:txBody>
                  <a:tcPr marL="114300" marR="114300" marT="66675" marB="66675" anchor="ctr">
                    <a:solidFill>
                      <a:srgbClr val="FFFFFF"/>
                    </a:solidFill>
                  </a:tcPr>
                </a:tc>
              </a:tr>
              <a:tr h="742950">
                <a:tc>
                  <a:txBody>
                    <a:bodyPr/>
                    <a:lstStyle/>
                    <a:p>
                      <a:r>
                        <a:rPr sz="2325">
                          <a:solidFill>
                            <a:srgbClr val="173047"/>
                          </a:solidFill>
                          <a:latin typeface="Arial"/>
                          <a:ea typeface="Arial"/>
                          <a:cs typeface="Arial"/>
                        </a:rPr>
                        <a:t>Пояснити алгоритм</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Розгалуження й причина відсіву</a:t>
                      </a:r>
                    </a:p>
                  </a:txBody>
                  <a:tcPr marL="114300" marR="114300" marT="66675" marB="66675" anchor="ctr">
                    <a:solidFill>
                      <a:srgbClr val="FFFFFF"/>
                    </a:solidFill>
                  </a:tcPr>
                </a:tc>
              </a:tr>
              <a:tr h="742950">
                <a:tc>
                  <a:txBody>
                    <a:bodyPr/>
                    <a:lstStyle/>
                    <a:p>
                      <a:r>
                        <a:rPr sz="2325">
                          <a:solidFill>
                            <a:srgbClr val="173047"/>
                          </a:solidFill>
                          <a:latin typeface="Arial"/>
                          <a:ea typeface="Arial"/>
                          <a:cs typeface="Arial"/>
                        </a:rPr>
                        <a:t>Виконати код</a:t>
                      </a:r>
                    </a:p>
                  </a:txBody>
                  <a:tcPr marL="114300" marR="114300" marT="66675" marB="66675" anchor="ctr">
                    <a:solidFill>
                      <a:srgbClr val="FFFFFF"/>
                    </a:solidFill>
                  </a:tcPr>
                </a:tc>
                <a:tc>
                  <a:txBody>
                    <a:bodyPr/>
                    <a:lstStyle/>
                    <a:p>
                      <a:r>
                        <a:rPr sz="2325">
                          <a:solidFill>
                            <a:srgbClr val="173047"/>
                          </a:solidFill>
                          <a:latin typeface="Arial"/>
                          <a:ea typeface="Arial"/>
                          <a:cs typeface="Arial"/>
                        </a:rPr>
                        <a:t>План, перевірки, статус, gap</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B1BFBD7-A7FF-4ED0-A64A-EB9DBEA69339}"/>
              </a:ext>
            </a:extLst>
          </p:cNvPr>
          <p:cNvSpPr>
            <a:spLocks xmlns:a="http://schemas.openxmlformats.org/drawingml/2006/main" noGrp="1"/>
          </p:cNvSpPr>
          <p:nvPr/>
        </p:nvSpPr>
        <p:spPr>
          <a:xfrm xmlns:a="http://schemas.openxmlformats.org/drawingml/2006/main">
            <a:off x="762000" y="54197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00857D"/>
                </a:solidFill>
                <a:latin typeface="Arial"/>
                <a:ea typeface="Arial"/>
                <a:cs typeface="Arial"/>
              </a:defRPr>
            </a:defPPr>
          </a:lstStyle>
          <a:p xmlns:a="http://schemas.openxmlformats.org/drawingml/2006/main">
            <a:pPr algn="l">
              <a:defRPr sz="2250" b="1">
                <a:solidFill>
                  <a:srgbClr val="00857D"/>
                </a:solidFill>
                <a:latin typeface="Arial"/>
                <a:ea typeface="Arial"/>
                <a:cs typeface="Arial"/>
              </a:defRPr>
            </a:pPr>
            <a:r>
              <a:rPr sz="2250" b="1">
                <a:solidFill>
                  <a:srgbClr val="00857D"/>
                </a:solidFill>
                <a:latin typeface="Arial"/>
                <a:ea typeface="Arial"/>
                <a:cs typeface="Arial"/>
              </a:rPr>
              <a:t>Практика: VM-попит 12 або GPU-бюджет 9.</a:t>
            </a:r>
          </a:p>
          <a:p xmlns:a="http://schemas.openxmlformats.org/drawingml/2006/main">
            <a:pPr algn="l">
              <a:defRPr sz="2250" b="1">
                <a:solidFill>
                  <a:srgbClr val="00857D"/>
                </a:solidFill>
                <a:latin typeface="Arial"/>
                <a:ea typeface="Arial"/>
                <a:cs typeface="Arial"/>
              </a:defRPr>
            </a:pPr>
            <a:r>
              <a:rPr sz="2250" b="1">
                <a:solidFill>
                  <a:srgbClr val="00857D"/>
                </a:solidFill>
                <a:latin typeface="Arial"/>
                <a:ea typeface="Arial"/>
                <a:cs typeface="Arial"/>
              </a:rPr>
              <a:t>Як зміниться оптимальний план?</a:t>
            </a:r>
          </a:p>
        </p:txBody>
      </p:sp>
      <p:sp>
        <p:nvSpPr>
          <p:cNvPr id="5" name="">
            <a:extLst xmlns:a="http://schemas.openxmlformats.org/drawingml/2006/main">
              <a:ext uri="{FF2B5EF4-FFF2-40B4-BE49-F238E27FC236}">
                <a16:creationId xmlns:a16="http://schemas.microsoft.com/office/drawing/2014/main" id="{5C0A1F4D-726A-4F51-8F8D-A4AE9752F7B3}"/>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138</a:t>
            </a:r>
          </a:p>
        </p:txBody>
      </p:sp>
    </p:spTree>
    <p:extLst>
      <p:ext uri="{BB962C8B-B14F-4D97-AF65-F5344CB8AC3E}">
        <p14:creationId xmlns:p14="http://schemas.microsoft.com/office/powerpoint/2010/main" val="499944462"/>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F5EE46-5646-4D00-93FF-80B96CEF4474}"/>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Порівняння чотирьох моделей</a:t>
            </a:r>
          </a:p>
        </p:txBody>
      </p:sp>
      <p:sp>
        <p:nvSpPr>
          <p:cNvPr id="2" name="">
            <a:extLst xmlns:a="http://schemas.openxmlformats.org/drawingml/2006/main">
              <a:ext uri="{FF2B5EF4-FFF2-40B4-BE49-F238E27FC236}">
                <a16:creationId xmlns:a16="http://schemas.microsoft.com/office/drawing/2014/main" id="{09AAAFB0-6317-4275-89F3-FED77DFCF19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x — рішення про роботу чи потік; ресурсні запаси задані правими частинами.</a:t>
            </a:r>
          </a:p>
        </p:txBody>
      </p:sp>
      <p:graphicFrame>
        <p:nvGraphicFramePr>
          <p:cNvPr id="10" name="">
            <a:extLst xmlns:a="http://schemas.openxmlformats.org/drawingml/2006/main">
              <a:ext uri="{FF2B5EF4-FFF2-40B4-BE49-F238E27FC236}">
                <a16:creationId xmlns:a16="http://schemas.microsoft.com/office/drawing/2014/main" id="{B0B708F2-4646-4DB3-B7B9-4C41F0B9C383}"/>
              </a:ext>
            </a:extLst>
          </p:cNvPr>
          <p:cNvGraphicFramePr/>
          <p:nvPr/>
        </p:nvGraphicFramePr>
        <p:xfrm>
          <a:off xmlns:a="http://schemas.openxmlformats.org/drawingml/2006/main" x="762000" y="1628775"/>
          <a:ext xmlns:a="http://schemas.openxmlformats.org/drawingml/2006/main" cx="10668000" cy="3714750"/>
        </p:xfrm>
        <a:graphic xmlns:a="http://schemas.openxmlformats.org/drawingml/2006/main">
          <a:graphicData uri="http://schemas.openxmlformats.org/drawingml/2006/table">
            <a:tbl>
              <a:tblPr/>
              <a:tblGrid>
                <a:gridCol w="2286000"/>
                <a:gridCol w="4286250"/>
                <a:gridCol w="4095750"/>
              </a:tblGrid>
              <a:tr h="742950">
                <a:tc>
                  <a:txBody>
                    <a:bodyPr/>
                    <a:lstStyle/>
                    <a:p>
                      <a:r>
                        <a:rPr sz="2100" b="1">
                          <a:solidFill>
                            <a:srgbClr val="FFFFFF"/>
                          </a:solidFill>
                          <a:latin typeface="Arial"/>
                          <a:ea typeface="Arial"/>
                          <a:cs typeface="Arial"/>
                        </a:rPr>
                        <a:t>Клас</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Рішення</a:t>
                      </a:r>
                    </a:p>
                  </a:txBody>
                  <a:tcPr marL="114300" marR="114300" marT="66675" marB="66675" anchor="ctr">
                    <a:solidFill>
                      <a:srgbClr val="173047"/>
                    </a:solidFill>
                  </a:tcPr>
                </a:tc>
                <a:tc>
                  <a:txBody>
                    <a:bodyPr/>
                    <a:lstStyle/>
                    <a:p>
                      <a:r>
                        <a:rPr sz="2100" b="1">
                          <a:solidFill>
                            <a:srgbClr val="FFFFFF"/>
                          </a:solidFill>
                          <a:latin typeface="Arial"/>
                          <a:ea typeface="Arial"/>
                          <a:cs typeface="Arial"/>
                        </a:rPr>
                        <a:t>Мета та ключова умова</a:t>
                      </a:r>
                    </a:p>
                  </a:txBody>
                  <a:tcPr marL="114300" marR="114300" marT="66675" marB="66675" anchor="ctr">
                    <a:solidFill>
                      <a:srgbClr val="173047"/>
                    </a:solidFill>
                  </a:tcPr>
                </a:tc>
              </a:tr>
              <a:tr h="742950">
                <a:tc>
                  <a:txBody>
                    <a:bodyPr/>
                    <a:lstStyle/>
                    <a:p>
                      <a:r>
                        <a:rPr sz="2100">
                          <a:solidFill>
                            <a:srgbClr val="173047"/>
                          </a:solidFill>
                          <a:latin typeface="Arial"/>
                          <a:ea typeface="Arial"/>
                          <a:cs typeface="Arial"/>
                        </a:rPr>
                        <a:t>ЛП</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Навантаження x≥0</a:t>
                      </a:r>
                    </a:p>
                  </a:txBody>
                  <a:tcPr marL="114300" marR="114300" marT="66675" marB="66675" anchor="ctr">
                    <a:solidFill>
                      <a:srgbClr val="FFFFFF"/>
                    </a:solidFill>
                  </a:tcPr>
                </a:tc>
                <a:tc>
                  <a:txBody>
                    <a:bodyPr/>
                    <a:lstStyle/>
                    <a:p>
                      <a:r>
                        <a:rPr sz="2100">
                          <a:solidFill>
                            <a:srgbClr val="173047"/>
                          </a:solidFill>
                          <a:latin typeface="Arial"/>
                          <a:ea typeface="Arial"/>
                          <a:cs typeface="Arial"/>
                        </a:rPr>
                        <a:t>max користь; Ax≤b</a:t>
                      </a:r>
                    </a:p>
                  </a:txBody>
                  <a:tcPr marL="114300" marR="114300" marT="66675" marB="66675" anchor="ctr">
                    <a:solidFill>
                      <a:srgbClr val="FFFFFF"/>
                    </a:solidFill>
                  </a:tcPr>
                </a:tc>
              </a:tr>
              <a:tr h="742950">
                <a:tc>
                  <a:txBody>
                    <a:bodyPr/>
                    <a:lstStyle/>
                    <a:p>
                      <a:r>
                        <a:rPr sz="2100">
                          <a:solidFill>
                            <a:srgbClr val="173047"/>
                          </a:solidFill>
                          <a:latin typeface="Arial"/>
                          <a:ea typeface="Arial"/>
                          <a:cs typeface="Arial"/>
                        </a:rPr>
                        <a:t>ТЗЛП</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Потоки xᵢⱼ≥0</a:t>
                      </a:r>
                    </a:p>
                  </a:txBody>
                  <a:tcPr marL="114300" marR="114300" marT="66675" marB="66675" anchor="ctr">
                    <a:solidFill>
                      <a:srgbClr val="FFFFFF"/>
                    </a:solidFill>
                  </a:tcPr>
                </a:tc>
                <a:tc>
                  <a:txBody>
                    <a:bodyPr/>
                    <a:lstStyle/>
                    <a:p>
                      <a:r>
                        <a:rPr sz="2100">
                          <a:solidFill>
                            <a:srgbClr val="173047"/>
                          </a:solidFill>
                          <a:latin typeface="Arial"/>
                          <a:ea typeface="Arial"/>
                          <a:cs typeface="Arial"/>
                        </a:rPr>
                        <a:t>min вартість; баланси</a:t>
                      </a:r>
                    </a:p>
                  </a:txBody>
                  <a:tcPr marL="114300" marR="114300" marT="66675" marB="66675" anchor="ctr">
                    <a:solidFill>
                      <a:srgbClr val="FFFFFF"/>
                    </a:solidFill>
                  </a:tcPr>
                </a:tc>
              </a:tr>
              <a:tr h="742950">
                <a:tc>
                  <a:txBody>
                    <a:bodyPr/>
                    <a:lstStyle/>
                    <a:p>
                      <a:r>
                        <a:rPr sz="2100">
                          <a:solidFill>
                            <a:srgbClr val="173047"/>
                          </a:solidFill>
                          <a:latin typeface="Arial"/>
                          <a:ea typeface="Arial"/>
                          <a:cs typeface="Arial"/>
                        </a:rPr>
                        <a:t>Призначення</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Пари zᵢⱼ∈{0,1}</a:t>
                      </a:r>
                    </a:p>
                  </a:txBody>
                  <a:tcPr marL="114300" marR="114300" marT="66675" marB="66675" anchor="ctr">
                    <a:solidFill>
                      <a:srgbClr val="FFFFFF"/>
                    </a:solidFill>
                  </a:tcPr>
                </a:tc>
                <a:tc>
                  <a:txBody>
                    <a:bodyPr/>
                    <a:lstStyle/>
                    <a:p>
                      <a:r>
                        <a:rPr sz="2100">
                          <a:solidFill>
                            <a:srgbClr val="173047"/>
                          </a:solidFill>
                          <a:latin typeface="Arial"/>
                          <a:ea typeface="Arial"/>
                          <a:cs typeface="Arial"/>
                        </a:rPr>
                        <a:t>min вартість; по1 у рядку/стовпці</a:t>
                      </a:r>
                    </a:p>
                  </a:txBody>
                  <a:tcPr marL="114300" marR="114300" marT="66675" marB="66675" anchor="ctr">
                    <a:solidFill>
                      <a:srgbClr val="FFFFFF"/>
                    </a:solidFill>
                  </a:tcPr>
                </a:tc>
              </a:tr>
              <a:tr h="742950">
                <a:tc>
                  <a:txBody>
                    <a:bodyPr/>
                    <a:lstStyle/>
                    <a:p>
                      <a:r>
                        <a:rPr sz="2100">
                          <a:solidFill>
                            <a:srgbClr val="173047"/>
                          </a:solidFill>
                          <a:latin typeface="Arial"/>
                          <a:ea typeface="Arial"/>
                          <a:cs typeface="Arial"/>
                        </a:rPr>
                        <a:t>MILP</a:t>
                      </a:r>
                    </a:p>
                  </a:txBody>
                  <a:tcPr marL="114300" marR="114300" marT="66675" marB="66675" anchor="ctr">
                    <a:solidFill>
                      <a:srgbClr val="FFFFFF"/>
                    </a:solidFill>
                  </a:tcPr>
                </a:tc>
                <a:tc>
                  <a:txBody>
                    <a:bodyPr/>
                    <a:lstStyle/>
                    <a:p>
                      <a:r>
                        <a:rPr sz="2100">
                          <a:solidFill>
                            <a:srgbClr val="173047"/>
                          </a:solidFill>
                          <a:latin typeface="Arial"/>
                          <a:ea typeface="Arial"/>
                          <a:cs typeface="Arial"/>
                        </a:rPr>
                        <a:t>Потік x≥0; запуск y∈{0,1}</a:t>
                      </a:r>
                    </a:p>
                  </a:txBody>
                  <a:tcPr marL="114300" marR="114300" marT="66675" marB="66675" anchor="ctr">
                    <a:solidFill>
                      <a:srgbClr val="FFFFFF"/>
                    </a:solidFill>
                  </a:tcPr>
                </a:tc>
                <a:tc>
                  <a:txBody>
                    <a:bodyPr/>
                    <a:lstStyle/>
                    <a:p>
                      <a:r>
                        <a:rPr sz="2100">
                          <a:solidFill>
                            <a:srgbClr val="173047"/>
                          </a:solidFill>
                          <a:latin typeface="Arial"/>
                          <a:ea typeface="Arial"/>
                          <a:cs typeface="Arial"/>
                        </a:rPr>
                        <a:t>min вартість потоку + вартість запуску</a:t>
                      </a:r>
                      <a:r>
                        <a:rPr sz="2100">
                          <a:solidFill>
                            <a:srgbClr val="173047"/>
                          </a:solidFill>
                          <a:latin typeface="Arial"/>
                          <a:ea typeface="Arial"/>
                          <a:cs typeface="Arial"/>
                        </a:rPr>
                        <a:t>; xⱼ≤uⱼyⱼ</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CE2ABBB-0C2B-438F-BE56-9DE9EE2F3EBA}"/>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139</a:t>
            </a:r>
          </a:p>
        </p:txBody>
      </p:sp>
    </p:spTree>
    <p:extLst>
      <p:ext uri="{BB962C8B-B14F-4D97-AF65-F5344CB8AC3E}">
        <p14:creationId xmlns:p14="http://schemas.microsoft.com/office/powerpoint/2010/main" val="1184399622"/>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AA4907-D804-4169-87DB-227506C7A223}"/>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Навчальний алгоритм і бібліотечний виклик</a:t>
            </a:r>
          </a:p>
        </p:txBody>
      </p:sp>
      <p:sp>
        <p:nvSpPr>
          <p:cNvPr id="2" name="">
            <a:extLst xmlns:a="http://schemas.openxmlformats.org/drawingml/2006/main">
              <a:ext uri="{FF2B5EF4-FFF2-40B4-BE49-F238E27FC236}">
                <a16:creationId xmlns:a16="http://schemas.microsoft.com/office/drawing/2014/main" id="{6116566A-DF22-4F31-9BE8-BEBE9C94576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ЛП linprog: nit. milp: mip_node_count,mip_dual_bound,mip_gap.</a:t>
            </a:r>
          </a:p>
        </p:txBody>
      </p:sp>
      <p:graphicFrame>
        <p:nvGraphicFramePr>
          <p:cNvPr id="10" name="">
            <a:extLst xmlns:a="http://schemas.openxmlformats.org/drawingml/2006/main">
              <a:ext uri="{FF2B5EF4-FFF2-40B4-BE49-F238E27FC236}">
                <a16:creationId xmlns:a16="http://schemas.microsoft.com/office/drawing/2014/main" id="{51A77A4B-DB0F-486B-8DF6-0BE0ADEAC810}"/>
              </a:ext>
            </a:extLst>
          </p:cNvPr>
          <p:cNvGraphicFramePr/>
          <p:nvPr/>
        </p:nvGraphicFramePr>
        <p:xfrm>
          <a:off xmlns:a="http://schemas.openxmlformats.org/drawingml/2006/main" x="762000" y="1628775"/>
          <a:ext xmlns:a="http://schemas.openxmlformats.org/drawingml/2006/main" cx="10668000" cy="3857625"/>
        </p:xfrm>
        <a:graphic xmlns:a="http://schemas.openxmlformats.org/drawingml/2006/main">
          <a:graphicData uri="http://schemas.openxmlformats.org/drawingml/2006/table">
            <a:tbl>
              <a:tblPr/>
              <a:tblGrid>
                <a:gridCol w="2000250"/>
                <a:gridCol w="4476750"/>
                <a:gridCol w="4191000"/>
              </a:tblGrid>
              <a:tr h="771525">
                <a:tc>
                  <a:txBody>
                    <a:bodyPr/>
                    <a:lstStyle/>
                    <a:p>
                      <a:r>
                        <a:rPr sz="2025" b="1">
                          <a:solidFill>
                            <a:srgbClr val="FFFFFF"/>
                          </a:solidFill>
                          <a:latin typeface="Arial"/>
                          <a:ea typeface="Arial"/>
                          <a:cs typeface="Arial"/>
                        </a:rPr>
                        <a:t>Клас</a:t>
                      </a:r>
                    </a:p>
                  </a:txBody>
                  <a:tcPr marL="114300" marR="114300" marT="66675" marB="66675" anchor="ctr">
                    <a:solidFill>
                      <a:srgbClr val="173047"/>
                    </a:solidFill>
                  </a:tcPr>
                </a:tc>
                <a:tc>
                  <a:txBody>
                    <a:bodyPr/>
                    <a:lstStyle/>
                    <a:p>
                      <a:r>
                        <a:rPr sz="2025" b="1">
                          <a:solidFill>
                            <a:srgbClr val="FFFFFF"/>
                          </a:solidFill>
                          <a:latin typeface="Arial"/>
                          <a:ea typeface="Arial"/>
                          <a:cs typeface="Arial"/>
                        </a:rPr>
                        <a:t>Вручну на лекції</a:t>
                      </a:r>
                    </a:p>
                  </a:txBody>
                  <a:tcPr marL="114300" marR="114300" marT="66675" marB="66675" anchor="ctr">
                    <a:solidFill>
                      <a:srgbClr val="173047"/>
                    </a:solidFill>
                  </a:tcPr>
                </a:tc>
                <a:tc>
                  <a:txBody>
                    <a:bodyPr/>
                    <a:lstStyle/>
                    <a:p>
                      <a:r>
                        <a:rPr sz="2025" b="1">
                          <a:solidFill>
                            <a:srgbClr val="FFFFFF"/>
                          </a:solidFill>
                          <a:latin typeface="Arial"/>
                          <a:ea typeface="Arial"/>
                          <a:cs typeface="Arial"/>
                        </a:rPr>
                        <a:t>Бібліотека</a:t>
                      </a:r>
                    </a:p>
                  </a:txBody>
                  <a:tcPr marL="114300" marR="114300" marT="66675" marB="66675" anchor="ctr">
                    <a:solidFill>
                      <a:srgbClr val="173047"/>
                    </a:solidFill>
                  </a:tcPr>
                </a:tc>
              </a:tr>
              <a:tr h="771525">
                <a:tc>
                  <a:txBody>
                    <a:bodyPr/>
                    <a:lstStyle/>
                    <a:p>
                      <a:r>
                        <a:rPr sz="2025">
                          <a:solidFill>
                            <a:srgbClr val="173047"/>
                          </a:solidFill>
                          <a:latin typeface="Arial"/>
                          <a:ea typeface="Arial"/>
                          <a:cs typeface="Arial"/>
                        </a:rPr>
                        <a:t>ЛП</a:t>
                      </a:r>
                    </a:p>
                  </a:txBody>
                  <a:tcPr marL="114300" marR="114300" marT="66675" marB="66675" anchor="ctr">
                    <a:solidFill>
                      <a:srgbClr val="FFFFFF"/>
                    </a:solidFill>
                  </a:tcPr>
                </a:tc>
                <a:tc>
                  <a:txBody>
                    <a:bodyPr/>
                    <a:lstStyle/>
                    <a:p>
                      <a:r>
                        <a:rPr sz="2025">
                          <a:solidFill>
                            <a:srgbClr val="173047"/>
                          </a:solidFill>
                          <a:latin typeface="Arial"/>
                          <a:ea typeface="Arial"/>
                          <a:cs typeface="Arial"/>
                        </a:rPr>
                        <a:t>Симплекс: зміна базису</a:t>
                      </a:r>
                    </a:p>
                  </a:txBody>
                  <a:tcPr marL="114300" marR="114300" marT="66675" marB="66675" anchor="ctr">
                    <a:solidFill>
                      <a:srgbClr val="FFFFFF"/>
                    </a:solidFill>
                  </a:tcPr>
                </a:tc>
                <a:tc>
                  <a:txBody>
                    <a:bodyPr/>
                    <a:lstStyle/>
                    <a:p>
                      <a:r>
                        <a:rPr sz="2025">
                          <a:solidFill>
                            <a:srgbClr val="173047"/>
                          </a:solidFill>
                          <a:latin typeface="Arial"/>
                          <a:ea typeface="Arial"/>
                          <a:cs typeface="Arial"/>
                        </a:rPr>
                        <a:t>linprog /HiGHS</a:t>
                      </a:r>
                    </a:p>
                  </a:txBody>
                  <a:tcPr marL="114300" marR="114300" marT="66675" marB="66675" anchor="ctr">
                    <a:solidFill>
                      <a:srgbClr val="FFFFFF"/>
                    </a:solidFill>
                  </a:tcPr>
                </a:tc>
              </a:tr>
              <a:tr h="771525">
                <a:tc>
                  <a:txBody>
                    <a:bodyPr/>
                    <a:lstStyle/>
                    <a:p>
                      <a:r>
                        <a:rPr sz="2025">
                          <a:solidFill>
                            <a:srgbClr val="173047"/>
                          </a:solidFill>
                          <a:latin typeface="Arial"/>
                          <a:ea typeface="Arial"/>
                          <a:cs typeface="Arial"/>
                        </a:rPr>
                        <a:t>ТЗЛП</a:t>
                      </a:r>
                    </a:p>
                  </a:txBody>
                  <a:tcPr marL="114300" marR="114300" marT="66675" marB="66675" anchor="ctr">
                    <a:solidFill>
                      <a:srgbClr val="FFFFFF"/>
                    </a:solidFill>
                  </a:tcPr>
                </a:tc>
                <a:tc>
                  <a:txBody>
                    <a:bodyPr/>
                    <a:lstStyle/>
                    <a:p>
                      <a:r>
                        <a:rPr sz="2025">
                          <a:solidFill>
                            <a:srgbClr val="173047"/>
                          </a:solidFill>
                          <a:latin typeface="Arial"/>
                          <a:ea typeface="Arial"/>
                          <a:cs typeface="Arial"/>
                        </a:rPr>
                        <a:t>Північно-західний кут + потенціали</a:t>
                      </a:r>
                    </a:p>
                  </a:txBody>
                  <a:tcPr marL="114300" marR="114300" marT="66675" marB="66675" anchor="ctr">
                    <a:solidFill>
                      <a:srgbClr val="FFFFFF"/>
                    </a:solidFill>
                  </a:tcPr>
                </a:tc>
                <a:tc>
                  <a:txBody>
                    <a:bodyPr/>
                    <a:lstStyle/>
                    <a:p>
                      <a:r>
                        <a:rPr sz="2025">
                          <a:solidFill>
                            <a:srgbClr val="173047"/>
                          </a:solidFill>
                          <a:latin typeface="Arial"/>
                          <a:ea typeface="Arial"/>
                          <a:cs typeface="Arial"/>
                        </a:rPr>
                        <a:t>linprog або network_simplex</a:t>
                      </a:r>
                    </a:p>
                  </a:txBody>
                  <a:tcPr marL="114300" marR="114300" marT="66675" marB="66675" anchor="ctr">
                    <a:solidFill>
                      <a:srgbClr val="FFFFFF"/>
                    </a:solidFill>
                  </a:tcPr>
                </a:tc>
              </a:tr>
              <a:tr h="771525">
                <a:tc>
                  <a:txBody>
                    <a:bodyPr/>
                    <a:lstStyle/>
                    <a:p>
                      <a:r>
                        <a:rPr sz="2025">
                          <a:solidFill>
                            <a:srgbClr val="173047"/>
                          </a:solidFill>
                          <a:latin typeface="Arial"/>
                          <a:ea typeface="Arial"/>
                          <a:cs typeface="Arial"/>
                        </a:rPr>
                        <a:t>Призначення</a:t>
                      </a:r>
                    </a:p>
                  </a:txBody>
                  <a:tcPr marL="114300" marR="114300" marT="66675" marB="66675" anchor="ctr">
                    <a:solidFill>
                      <a:srgbClr val="FFFFFF"/>
                    </a:solidFill>
                  </a:tcPr>
                </a:tc>
                <a:tc>
                  <a:txBody>
                    <a:bodyPr/>
                    <a:lstStyle/>
                    <a:p>
                      <a:r>
                        <a:rPr sz="2025">
                          <a:solidFill>
                            <a:srgbClr val="173047"/>
                          </a:solidFill>
                          <a:latin typeface="Arial"/>
                          <a:ea typeface="Arial"/>
                          <a:cs typeface="Arial"/>
                        </a:rPr>
                        <a:t>Угорський метод: нулі та корекція</a:t>
                      </a:r>
                    </a:p>
                  </a:txBody>
                  <a:tcPr marL="114300" marR="114300" marT="66675" marB="66675" anchor="ctr">
                    <a:solidFill>
                      <a:srgbClr val="FFFFFF"/>
                    </a:solidFill>
                  </a:tcPr>
                </a:tc>
                <a:tc>
                  <a:txBody>
                    <a:bodyPr/>
                    <a:lstStyle/>
                    <a:p>
                      <a:r>
                        <a:rPr sz="2025">
                          <a:solidFill>
                            <a:srgbClr val="173047"/>
                          </a:solidFill>
                          <a:latin typeface="Arial"/>
                          <a:ea typeface="Arial"/>
                          <a:cs typeface="Arial"/>
                        </a:rPr>
                        <a:t>linear_sum_assignment / Джонкер–Фольгенант</a:t>
                      </a:r>
                    </a:p>
                  </a:txBody>
                  <a:tcPr marL="114300" marR="114300" marT="66675" marB="66675" anchor="ctr">
                    <a:solidFill>
                      <a:srgbClr val="FFFFFF"/>
                    </a:solidFill>
                  </a:tcPr>
                </a:tc>
              </a:tr>
              <a:tr h="771525">
                <a:tc>
                  <a:txBody>
                    <a:bodyPr/>
                    <a:lstStyle/>
                    <a:p>
                      <a:r>
                        <a:rPr sz="2025">
                          <a:solidFill>
                            <a:srgbClr val="173047"/>
                          </a:solidFill>
                          <a:latin typeface="Arial"/>
                          <a:ea typeface="Arial"/>
                          <a:cs typeface="Arial"/>
                        </a:rPr>
                        <a:t>MILP</a:t>
                      </a:r>
                    </a:p>
                  </a:txBody>
                  <a:tcPr marL="114300" marR="114300" marT="66675" marB="66675" anchor="ctr">
                    <a:solidFill>
                      <a:srgbClr val="FFFFFF"/>
                    </a:solidFill>
                  </a:tcPr>
                </a:tc>
                <a:tc>
                  <a:txBody>
                    <a:bodyPr/>
                    <a:lstStyle/>
                    <a:p>
                      <a:r>
                        <a:rPr sz="2025">
                          <a:solidFill>
                            <a:srgbClr val="173047"/>
                          </a:solidFill>
                          <a:latin typeface="Arial"/>
                          <a:ea typeface="Arial"/>
                          <a:cs typeface="Arial"/>
                        </a:rPr>
                        <a:t>LP-послаблення; гілки й межі</a:t>
                      </a:r>
                    </a:p>
                  </a:txBody>
                  <a:tcPr marL="114300" marR="114300" marT="66675" marB="66675" anchor="ctr">
                    <a:solidFill>
                      <a:srgbClr val="FFFFFF"/>
                    </a:solidFill>
                  </a:tcPr>
                </a:tc>
                <a:tc>
                  <a:txBody>
                    <a:bodyPr/>
                    <a:lstStyle/>
                    <a:p>
                      <a:r>
                        <a:rPr sz="2025">
                          <a:solidFill>
                            <a:srgbClr val="173047"/>
                          </a:solidFill>
                          <a:latin typeface="Arial"/>
                          <a:ea typeface="Arial"/>
                          <a:cs typeface="Arial"/>
                        </a:rPr>
                        <a:t>milp /HiGHS</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911FCED-2A7E-47ED-AD47-B52AD0BF720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140</a:t>
            </a:r>
          </a:p>
        </p:txBody>
      </p:sp>
    </p:spTree>
    <p:extLst>
      <p:ext uri="{BB962C8B-B14F-4D97-AF65-F5344CB8AC3E}">
        <p14:creationId xmlns:p14="http://schemas.microsoft.com/office/powerpoint/2010/main" val="801040904"/>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877B17-0D6F-4EBE-B399-12B4A9FC1AE8}"/>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Чотири задачі: основні виклики</a:t>
            </a:r>
          </a:p>
        </p:txBody>
      </p:sp>
      <p:sp>
        <p:nvSpPr>
          <p:cNvPr id="2" name="">
            <a:extLst xmlns:a="http://schemas.openxmlformats.org/drawingml/2006/main">
              <a:ext uri="{FF2B5EF4-FFF2-40B4-BE49-F238E27FC236}">
                <a16:creationId xmlns:a16="http://schemas.microsoft.com/office/drawing/2014/main" id="{CA4B2E5E-E8B7-4B90-848A-D6817181BAF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Коефіцієнти, типи, межі та обмеження формуємо з математичної моделі.</a:t>
            </a:r>
          </a:p>
        </p:txBody>
      </p:sp>
      <p:graphicFrame>
        <p:nvGraphicFramePr>
          <p:cNvPr id="7" name="">
            <a:extLst xmlns:a="http://schemas.openxmlformats.org/drawingml/2006/main">
              <a:ext uri="{FF2B5EF4-FFF2-40B4-BE49-F238E27FC236}">
                <a16:creationId xmlns:a16="http://schemas.microsoft.com/office/drawing/2014/main" id="{F06FCBDC-BDAC-44F1-B566-719238BDF076}"/>
              </a:ext>
            </a:extLst>
          </p:cNvPr>
          <p:cNvGraphicFramePr/>
          <p:nvPr/>
        </p:nvGraphicFramePr>
        <p:xfrm>
          <a:off xmlns:a="http://schemas.openxmlformats.org/drawingml/2006/main" x="762000" y="1524000"/>
          <a:ext xmlns:a="http://schemas.openxmlformats.org/drawingml/2006/main" cx="10668000" cy="4000500"/>
        </p:xfrm>
        <a:graphic xmlns:a="http://schemas.openxmlformats.org/drawingml/2006/main">
          <a:graphicData uri="http://schemas.openxmlformats.org/drawingml/2006/table">
            <a:tbl>
              <a:tblPr/>
              <a:tblGrid>
                <a:gridCol w="2571750"/>
                <a:gridCol w="8096250"/>
              </a:tblGrid>
              <a:tr h="800100">
                <a:tc>
                  <a:txBody>
                    <a:bodyPr/>
                    <a:lstStyle/>
                    <a:p>
                      <a:r>
                        <a:rPr sz="2325" b="1">
                          <a:solidFill>
                            <a:srgbClr val="FFFFFF"/>
                          </a:solidFill>
                          <a:latin typeface="Arial"/>
                          <a:ea typeface="Arial"/>
                          <a:cs typeface="Arial"/>
                        </a:rPr>
                        <a:t>Клас</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Виклик із підготовленими даними</a:t>
                      </a:r>
                    </a:p>
                  </a:txBody>
                  <a:tcPr marL="114300" marR="114300" marT="66675" marB="66675" anchor="ctr">
                    <a:solidFill>
                      <a:srgbClr val="173047"/>
                    </a:solidFill>
                  </a:tcPr>
                </a:tc>
              </a:tr>
              <a:tr h="800100">
                <a:tc>
                  <a:txBody>
                    <a:bodyPr/>
                    <a:lstStyle/>
                    <a:p>
                      <a:r>
                        <a:rPr sz="2325">
                          <a:solidFill>
                            <a:srgbClr val="173047"/>
                          </a:solidFill>
                          <a:latin typeface="Arial"/>
                          <a:ea typeface="Arial"/>
                          <a:cs typeface="Arial"/>
                        </a:rPr>
                        <a:t>ЛП</a:t>
                      </a:r>
                    </a:p>
                  </a:txBody>
                  <a:tcPr marL="114300" marR="114300" marT="66675" marB="66675" anchor="ctr">
                    <a:solidFill>
                      <a:srgbClr val="FFFFFF"/>
                    </a:solidFill>
                  </a:tcPr>
                </a:tc>
                <a:tc>
                  <a:txBody>
                    <a:bodyPr/>
                    <a:lstStyle/>
                    <a:p>
                      <a:r>
                        <a:rPr sz="2325">
                          <a:solidFill>
                            <a:srgbClr val="173047"/>
                          </a:solidFill>
                          <a:latin typeface="Arial"/>
                          <a:ea typeface="Arial"/>
                          <a:cs typeface="Arial"/>
                        </a:rPr>
                        <a:t>linprog(c, A_ub=A, b_ub=b)</a:t>
                      </a:r>
                    </a:p>
                  </a:txBody>
                  <a:tcPr marL="114300" marR="114300" marT="66675" marB="66675" anchor="ctr">
                    <a:solidFill>
                      <a:srgbClr val="FFFFFF"/>
                    </a:solidFill>
                  </a:tcPr>
                </a:tc>
              </a:tr>
              <a:tr h="800100">
                <a:tc>
                  <a:txBody>
                    <a:bodyPr/>
                    <a:lstStyle/>
                    <a:p>
                      <a:r>
                        <a:rPr sz="2325">
                          <a:solidFill>
                            <a:srgbClr val="173047"/>
                          </a:solidFill>
                          <a:latin typeface="Arial"/>
                          <a:ea typeface="Arial"/>
                          <a:cs typeface="Arial"/>
                        </a:rPr>
                        <a:t>ТЗЛП</a:t>
                      </a:r>
                    </a:p>
                  </a:txBody>
                  <a:tcPr marL="114300" marR="114300" marT="66675" marB="66675" anchor="ctr">
                    <a:solidFill>
                      <a:srgbClr val="FFFFFF"/>
                    </a:solidFill>
                  </a:tcPr>
                </a:tc>
                <a:tc>
                  <a:txBody>
                    <a:bodyPr/>
                    <a:lstStyle/>
                    <a:p>
                      <a:r>
                        <a:rPr sz="2325">
                          <a:solidFill>
                            <a:srgbClr val="173047"/>
                          </a:solidFill>
                          <a:latin typeface="Arial"/>
                          <a:ea typeface="Arial"/>
                          <a:cs typeface="Arial"/>
                        </a:rPr>
                        <a:t>linprog(c, A_eq=A, b_eq=b)</a:t>
                      </a:r>
                    </a:p>
                  </a:txBody>
                  <a:tcPr marL="114300" marR="114300" marT="66675" marB="66675" anchor="ctr">
                    <a:solidFill>
                      <a:srgbClr val="FFFFFF"/>
                    </a:solidFill>
                  </a:tcPr>
                </a:tc>
              </a:tr>
              <a:tr h="800100">
                <a:tc>
                  <a:txBody>
                    <a:bodyPr/>
                    <a:lstStyle/>
                    <a:p>
                      <a:r>
                        <a:rPr sz="2325">
                          <a:solidFill>
                            <a:srgbClr val="173047"/>
                          </a:solidFill>
                          <a:latin typeface="Arial"/>
                          <a:ea typeface="Arial"/>
                          <a:cs typeface="Arial"/>
                        </a:rPr>
                        <a:t>Призначення</a:t>
                      </a:r>
                    </a:p>
                  </a:txBody>
                  <a:tcPr marL="114300" marR="114300" marT="66675" marB="66675" anchor="ctr">
                    <a:solidFill>
                      <a:srgbClr val="FFFFFF"/>
                    </a:solidFill>
                  </a:tcPr>
                </a:tc>
                <a:tc>
                  <a:txBody>
                    <a:bodyPr/>
                    <a:lstStyle/>
                    <a:p>
                      <a:r>
                        <a:rPr sz="2325">
                          <a:solidFill>
                            <a:srgbClr val="173047"/>
                          </a:solidFill>
                          <a:latin typeface="Arial"/>
                          <a:ea typeface="Arial"/>
                          <a:cs typeface="Arial"/>
                        </a:rPr>
                        <a:t>linear_sum_assignment(C)</a:t>
                      </a:r>
                    </a:p>
                  </a:txBody>
                  <a:tcPr marL="114300" marR="114300" marT="66675" marB="66675" anchor="ctr">
                    <a:solidFill>
                      <a:srgbClr val="FFFFFF"/>
                    </a:solidFill>
                  </a:tcPr>
                </a:tc>
              </a:tr>
              <a:tr h="800100">
                <a:tc>
                  <a:txBody>
                    <a:bodyPr/>
                    <a:lstStyle/>
                    <a:p>
                      <a:r>
                        <a:rPr sz="2325">
                          <a:solidFill>
                            <a:srgbClr val="173047"/>
                          </a:solidFill>
                          <a:latin typeface="Arial"/>
                          <a:ea typeface="Arial"/>
                          <a:cs typeface="Arial"/>
                        </a:rPr>
                        <a:t>MILP</a:t>
                      </a:r>
                    </a:p>
                  </a:txBody>
                  <a:tcPr marL="114300" marR="114300" marT="66675" marB="66675" anchor="ctr">
                    <a:solidFill>
                      <a:srgbClr val="FFFFFF"/>
                    </a:solidFill>
                  </a:tcPr>
                </a:tc>
                <a:tc>
                  <a:txBody>
                    <a:bodyPr/>
                    <a:lstStyle/>
                    <a:p>
                      <a:r>
                        <a:rPr sz="2325">
                          <a:solidFill>
                            <a:srgbClr val="173047"/>
                          </a:solidFill>
                          <a:latin typeface="Arial"/>
                          <a:ea typeface="Arial"/>
                          <a:cs typeface="Arial"/>
                        </a:rPr>
                        <a:t>milp(c, integrality=types, bounds=bounds,</a:t>
                      </a:r>
                    </a:p>
                    <a:p>
                      <a:r>
                        <a:rPr sz="2325">
                          <a:solidFill>
                            <a:srgbClr val="173047"/>
                          </a:solidFill>
                          <a:latin typeface="Arial"/>
                          <a:ea typeface="Arial"/>
                          <a:cs typeface="Arial"/>
                        </a:rPr>
                        <a:t>     constraints=con)</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E0E37F9-8B97-4702-8BDB-8FC603C798A9}"/>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141</a:t>
            </a:r>
          </a:p>
        </p:txBody>
      </p:sp>
    </p:spTree>
    <p:extLst>
      <p:ext uri="{BB962C8B-B14F-4D97-AF65-F5344CB8AC3E}">
        <p14:creationId xmlns:p14="http://schemas.microsoft.com/office/powerpoint/2010/main" val="1499036833"/>
      </p:ext>
    </p:extLst>
  </p:cSld>
</p:sld>
</file>

<file path=ppt/slides/slide142.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5138E0-0420-4E4F-B69E-DE4E8398B55B}"/>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Лекція 5: що треба вміти</a:t>
            </a:r>
          </a:p>
        </p:txBody>
      </p:sp>
      <p:sp>
        <p:nvSpPr>
          <p:cNvPr id="2" name="">
            <a:extLst xmlns:a="http://schemas.openxmlformats.org/drawingml/2006/main">
              <a:ext uri="{FF2B5EF4-FFF2-40B4-BE49-F238E27FC236}">
                <a16:creationId xmlns:a16="http://schemas.microsoft.com/office/drawing/2014/main" id="{72185D2A-540D-4D56-897E-C3A55457F2F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Коли ЛП достатньо, а коли потрібна вимога цілочисельності?</a:t>
            </a:r>
          </a:p>
        </p:txBody>
      </p:sp>
      <p:graphicFrame>
        <p:nvGraphicFramePr>
          <p:cNvPr id="10" name="">
            <a:extLst xmlns:a="http://schemas.openxmlformats.org/drawingml/2006/main">
              <a:ext uri="{FF2B5EF4-FFF2-40B4-BE49-F238E27FC236}">
                <a16:creationId xmlns:a16="http://schemas.microsoft.com/office/drawing/2014/main" id="{A87B6073-7E1E-4C29-B761-07D32150B4F3}"/>
              </a:ext>
            </a:extLst>
          </p:cNvPr>
          <p:cNvGraphicFramePr/>
          <p:nvPr/>
        </p:nvGraphicFramePr>
        <p:xfrm>
          <a:off xmlns:a="http://schemas.openxmlformats.org/drawingml/2006/main" x="762000" y="1657350"/>
          <a:ext xmlns:a="http://schemas.openxmlformats.org/drawingml/2006/main" cx="10668000" cy="3514725"/>
        </p:xfrm>
        <a:graphic xmlns:a="http://schemas.openxmlformats.org/drawingml/2006/main">
          <a:graphicData uri="http://schemas.openxmlformats.org/drawingml/2006/table">
            <a:tbl>
              <a:tblPr/>
              <a:tblGrid>
                <a:gridCol w="3714750"/>
                <a:gridCol w="6953250"/>
              </a:tblGrid>
              <a:tr h="702945">
                <a:tc>
                  <a:txBody>
                    <a:bodyPr/>
                    <a:lstStyle/>
                    <a:p>
                      <a:r>
                        <a:rPr sz="2325" b="1">
                          <a:solidFill>
                            <a:srgbClr val="FFFFFF"/>
                          </a:solidFill>
                          <a:latin typeface="Arial"/>
                          <a:ea typeface="Arial"/>
                          <a:cs typeface="Arial"/>
                        </a:rPr>
                        <a:t>Уміння</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Самоперевірка</a:t>
                      </a:r>
                    </a:p>
                  </a:txBody>
                  <a:tcPr marL="114300" marR="114300" marT="66675" marB="66675" anchor="ctr">
                    <a:solidFill>
                      <a:srgbClr val="173047"/>
                    </a:solidFill>
                  </a:tcPr>
                </a:tc>
              </a:tr>
              <a:tr h="702945">
                <a:tc>
                  <a:txBody>
                    <a:bodyPr/>
                    <a:lstStyle/>
                    <a:p>
                      <a:r>
                        <a:rPr sz="2325">
                          <a:solidFill>
                            <a:srgbClr val="173047"/>
                          </a:solidFill>
                          <a:latin typeface="Arial"/>
                          <a:ea typeface="Arial"/>
                          <a:cs typeface="Arial"/>
                        </a:rPr>
                        <a:t>ТЗЛП</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Як зберегти баланси при русі по циклу?</a:t>
                      </a:r>
                    </a:p>
                  </a:txBody>
                  <a:tcPr marL="114300" marR="114300" marT="66675" marB="66675" anchor="ctr">
                    <a:solidFill>
                      <a:srgbClr val="FFFFFF"/>
                    </a:solidFill>
                  </a:tcPr>
                </a:tc>
              </a:tr>
              <a:tr h="702945">
                <a:tc>
                  <a:txBody>
                    <a:bodyPr/>
                    <a:lstStyle/>
                    <a:p>
                      <a:r>
                        <a:rPr sz="2325">
                          <a:solidFill>
                            <a:srgbClr val="173047"/>
                          </a:solidFill>
                          <a:latin typeface="Arial"/>
                          <a:ea typeface="Arial"/>
                          <a:cs typeface="Arial"/>
                        </a:rPr>
                        <a:t>Призначення</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Що таке незалежні нулі? Навіщо корекція?</a:t>
                      </a:r>
                    </a:p>
                  </a:txBody>
                  <a:tcPr marL="114300" marR="114300" marT="66675" marB="66675" anchor="ctr">
                    <a:solidFill>
                      <a:srgbClr val="FFFFFF"/>
                    </a:solidFill>
                  </a:tcPr>
                </a:tc>
              </a:tr>
              <a:tr h="702945">
                <a:tc>
                  <a:txBody>
                    <a:bodyPr/>
                    <a:lstStyle/>
                    <a:p>
                      <a:r>
                        <a:rPr sz="2325">
                          <a:solidFill>
                            <a:srgbClr val="173047"/>
                          </a:solidFill>
                          <a:latin typeface="Arial"/>
                          <a:ea typeface="Arial"/>
                          <a:cs typeface="Arial"/>
                        </a:rPr>
                        <a:t>MILP</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Чому LP=255 — лише нижня межа?</a:t>
                      </a:r>
                    </a:p>
                  </a:txBody>
                  <a:tcPr marL="114300" marR="114300" marT="66675" marB="66675" anchor="ctr">
                    <a:solidFill>
                      <a:srgbClr val="FFFFFF"/>
                    </a:solidFill>
                  </a:tcPr>
                </a:tc>
              </a:tr>
              <a:tr h="702945">
                <a:tc>
                  <a:txBody>
                    <a:bodyPr/>
                    <a:lstStyle/>
                    <a:p>
                      <a:r>
                        <a:rPr sz="2325">
                          <a:solidFill>
                            <a:srgbClr val="173047"/>
                          </a:solidFill>
                          <a:latin typeface="Arial"/>
                          <a:ea typeface="Arial"/>
                          <a:cs typeface="Arial"/>
                        </a:rPr>
                        <a:t>Python</a:t>
                      </a:r>
                    </a:p>
                  </a:txBody>
                  <a:tcPr marL="114300" marR="114300" marT="66675" marB="66675" anchor="ctr">
                    <a:solidFill>
                      <a:srgbClr val="FFFFFF"/>
                    </a:solidFill>
                  </a:tcPr>
                </a:tc>
                <a:tc>
                  <a:txBody>
                    <a:bodyPr/>
                    <a:lstStyle/>
                    <a:p>
                      <a:r>
                        <a:rPr sz="2325">
                          <a:solidFill>
                            <a:srgbClr val="173047"/>
                          </a:solidFill>
                          <a:latin typeface="Arial"/>
                          <a:ea typeface="Arial"/>
                          <a:cs typeface="Arial"/>
                        </a:rPr>
                        <a:t>Які поля результату перевіряти?</a:t>
                      </a:r>
                    </a:p>
                  </a:txBody>
                  <a:tcPr marL="114300" marR="114300" marT="66675" marB="66675"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312187E-FE85-4859-B71B-64C894A7E70B}"/>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142</a:t>
            </a:r>
          </a:p>
        </p:txBody>
      </p:sp>
    </p:spTree>
    <p:extLst>
      <p:ext uri="{BB962C8B-B14F-4D97-AF65-F5344CB8AC3E}">
        <p14:creationId xmlns:p14="http://schemas.microsoft.com/office/powerpoint/2010/main" val="699178806"/>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606181-2832-4BFB-80C9-5E3979694221}"/>
              </a:ext>
            </a:extLst>
          </p:cNvPr>
          <p:cNvSpPr>
            <a:spLocks xmlns:a="http://schemas.openxmlformats.org/drawingml/2006/main" noGrp="1"/>
          </p:cNvSpPr>
          <p:nvPr/>
        </p:nvSpPr>
        <p:spPr>
          <a:xfrm xmlns:a="http://schemas.openxmlformats.org/drawingml/2006/main">
            <a:off x="685800" y="457200"/>
            <a:ext cx="108204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C42"/>
                </a:solidFill>
                <a:latin typeface="DejaVu Sans"/>
                <a:ea typeface="DejaVu Sans"/>
                <a:cs typeface="DejaVu Sans"/>
              </a:defRPr>
            </a:pPr>
            <a:r>
              <a:rPr sz="3225" b="1">
                <a:solidFill>
                  <a:srgbClr val="152C42"/>
                </a:solidFill>
                <a:latin typeface="Arial"/>
                <a:ea typeface="Arial"/>
                <a:cs typeface="Arial"/>
              </a:rPr>
              <a:t>Додаток: рисунки з джерел</a:t>
            </a:r>
          </a:p>
        </p:txBody>
      </p:sp>
      <p:sp>
        <p:nvSpPr>
          <p:cNvPr id="2" name="">
            <a:extLst xmlns:a="http://schemas.openxmlformats.org/drawingml/2006/main">
              <a:ext uri="{FF2B5EF4-FFF2-40B4-BE49-F238E27FC236}">
                <a16:creationId xmlns:a16="http://schemas.microsoft.com/office/drawing/2014/main" id="{231FD431-8AD9-4C76-9E61-7A258BEC83B9}"/>
              </a:ext>
            </a:extLst>
          </p:cNvPr>
          <p:cNvSpPr>
            <a:spLocks xmlns:a="http://schemas.openxmlformats.org/drawingml/2006/main" noGrp="1"/>
          </p:cNvSpPr>
          <p:nvPr/>
        </p:nvSpPr>
        <p:spPr>
          <a:xfrm xmlns:a="http://schemas.openxmlformats.org/drawingml/2006/main">
            <a:off x="866775" y="181927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C42"/>
                </a:solidFill>
                <a:latin typeface="DejaVu Sans"/>
                <a:ea typeface="DejaVu Sans"/>
                <a:cs typeface="DejaVu Sans"/>
              </a:defRPr>
            </a:pPr>
            <a:r>
              <a:rPr sz="2250" b="0">
                <a:solidFill>
                  <a:srgbClr val="152C42"/>
                </a:solidFill>
                <a:latin typeface="Arial"/>
                <a:ea typeface="Arial"/>
                <a:cs typeface="Arial"/>
              </a:rPr>
              <a:t>Далі подані оригінальні ілюстрації BYU, MIT і Harvard.</a:t>
            </a:r>
          </a:p>
        </p:txBody>
      </p:sp>
      <p:sp>
        <p:nvSpPr>
          <p:cNvPr id="3" name="">
            <a:extLst xmlns:a="http://schemas.openxmlformats.org/drawingml/2006/main">
              <a:ext uri="{FF2B5EF4-FFF2-40B4-BE49-F238E27FC236}">
                <a16:creationId xmlns:a16="http://schemas.microsoft.com/office/drawing/2014/main" id="{6900BBD8-1729-4430-8C3B-865DC0EDFF13}"/>
              </a:ext>
            </a:extLst>
          </p:cNvPr>
          <p:cNvSpPr>
            <a:spLocks xmlns:a="http://schemas.openxmlformats.org/drawingml/2006/main" noGrp="1"/>
          </p:cNvSpPr>
          <p:nvPr/>
        </p:nvSpPr>
        <p:spPr>
          <a:xfrm xmlns:a="http://schemas.openxmlformats.org/drawingml/2006/main">
            <a:off x="866775" y="2800350"/>
            <a:ext cx="103536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C42"/>
                </a:solidFill>
                <a:latin typeface="DejaVu Sans"/>
                <a:ea typeface="DejaVu Sans"/>
                <a:cs typeface="DejaVu Sans"/>
              </a:defRPr>
            </a:pPr>
            <a:r>
              <a:rPr sz="2250" b="0">
                <a:solidFill>
                  <a:srgbClr val="152C42"/>
                </a:solidFill>
                <a:latin typeface="Arial"/>
                <a:ea typeface="Arial"/>
                <a:cs typeface="Arial"/>
              </a:rPr>
              <a:t>У них інші числові дані. Для наших задач використовуйте моделі та обчислення з основної частини.</a:t>
            </a:r>
          </a:p>
        </p:txBody>
      </p:sp>
      <p:sp>
        <p:nvSpPr>
          <p:cNvPr id="4" name="">
            <a:extLst xmlns:a="http://schemas.openxmlformats.org/drawingml/2006/main">
              <a:ext uri="{FF2B5EF4-FFF2-40B4-BE49-F238E27FC236}">
                <a16:creationId xmlns:a16="http://schemas.microsoft.com/office/drawing/2014/main" id="{9B69E748-DD7D-407D-A042-6C38180CAA12}"/>
              </a:ext>
            </a:extLst>
          </p:cNvPr>
          <p:cNvSpPr>
            <a:spLocks xmlns:a="http://schemas.openxmlformats.org/drawingml/2006/main" noGrp="1"/>
          </p:cNvSpPr>
          <p:nvPr/>
        </p:nvSpPr>
        <p:spPr>
          <a:xfrm xmlns:a="http://schemas.openxmlformats.org/drawingml/2006/main">
            <a:off x="866775" y="4543425"/>
            <a:ext cx="1028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8786F"/>
                </a:solidFill>
                <a:latin typeface="DejaVu Sans"/>
                <a:ea typeface="DejaVu Sans"/>
                <a:cs typeface="DejaVu Sans"/>
              </a:defRPr>
            </a:pPr>
            <a:r>
              <a:rPr sz="2250" b="1">
                <a:solidFill>
                  <a:srgbClr val="08786F"/>
                </a:solidFill>
                <a:latin typeface="Arial"/>
                <a:ea typeface="Arial"/>
                <a:cs typeface="Arial"/>
              </a:rPr>
              <a:t>Код для відтворення всіх кроків: lecture4_5_traces.py.</a:t>
            </a:r>
          </a:p>
        </p:txBody>
      </p:sp>
      <p:sp>
        <p:nvSpPr>
          <p:cNvPr id="6" name="">
            <a:extLst xmlns:a="http://schemas.openxmlformats.org/drawingml/2006/main">
              <a:ext uri="{FF2B5EF4-FFF2-40B4-BE49-F238E27FC236}">
                <a16:creationId xmlns:a16="http://schemas.microsoft.com/office/drawing/2014/main" id="{708D721C-8F49-4A01-9D56-406726AE852A}"/>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143</a:t>
            </a:r>
          </a:p>
        </p:txBody>
      </p:sp>
    </p:spTree>
    <p:extLst>
      <p:ext uri="{BB962C8B-B14F-4D97-AF65-F5344CB8AC3E}">
        <p14:creationId xmlns:p14="http://schemas.microsoft.com/office/powerpoint/2010/main" val="1629319695"/>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E2EB7B-4D96-4975-91AA-45FD38024E90}"/>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Оригінал BYU: геометрія симплекс-методу</a:t>
            </a:r>
          </a:p>
        </p:txBody>
      </p:sp>
      <p:pic>
        <p:nvPicPr>
          <p:cNvPr id="12" name="">
            <a:extLst xmlns:a="http://schemas.openxmlformats.org/drawingml/2006/main">
              <a:ext uri="{FF2B5EF4-FFF2-40B4-BE49-F238E27FC236}">
                <a16:creationId xmlns:a16="http://schemas.microsoft.com/office/drawing/2014/main" id="{AB5A99D0-5699-4539-9FE3-468F2DDAC21E}"/>
              </a:ext>
            </a:extLst>
          </p:cNvPr>
          <p:cNvPicPr>
            <a:picLocks xmlns:a="http://schemas.openxmlformats.org/drawingml/2006/main" noChangeAspect="1"/>
          </p:cNvPicPr>
          <p:nvPr/>
        </p:nvPicPr>
        <p:blipFill>
          <a:blip xmlns:r="http://schemas.openxmlformats.org/officeDocument/2006/relationships" xmlns:a="http://schemas.openxmlformats.org/drawingml/2006/main" r:embed="R9fa0a3dede0a4566"/>
          <a:stretch xmlns:a="http://schemas.openxmlformats.org/drawingml/2006/main"/>
        </p:blipFill>
        <p:spPr>
          <a:xfrm xmlns:a="http://schemas.openxmlformats.org/drawingml/2006/main">
            <a:off x="3393597" y="1419225"/>
            <a:ext cx="5385755" cy="4410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8C985F-43A8-4B45-BD9D-D1D6BF10AF6F}"/>
              </a:ext>
            </a:extLst>
          </p:cNvPr>
          <p:cNvSpPr>
            <a:spLocks xmlns:a="http://schemas.openxmlformats.org/drawingml/2006/main" noGrp="1"/>
          </p:cNvSpPr>
          <p:nvPr/>
        </p:nvSpPr>
        <p:spPr>
          <a:xfrm xmlns:a="http://schemas.openxmlformats.org/drawingml/2006/main">
            <a:off x="819150" y="586740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Зелена область містить допустимі плани; симплекс рухається між вершинами.</a:t>
            </a:r>
          </a:p>
        </p:txBody>
      </p:sp>
      <p:sp>
        <p:nvSpPr>
          <p:cNvPr id="7" name="">
            <a:extLst xmlns:a="http://schemas.openxmlformats.org/drawingml/2006/main">
              <a:ext uri="{FF2B5EF4-FFF2-40B4-BE49-F238E27FC236}">
                <a16:creationId xmlns:a16="http://schemas.microsoft.com/office/drawing/2014/main" id="{E6AA2EAF-5923-4767-A54A-155D96F0D389}"/>
              </a:ext>
            </a:extLst>
          </p:cNvPr>
          <p:cNvSpPr>
            <a:spLocks xmlns:a="http://schemas.openxmlformats.org/drawingml/2006/main" noGrp="1"/>
          </p:cNvSpPr>
          <p:nvPr/>
        </p:nvSpPr>
        <p:spPr>
          <a:xfrm xmlns:a="http://schemas.openxmlformats.org/drawingml/2006/main">
            <a:off x="762000" y="55340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66779"/>
                </a:solidFill>
                <a:latin typeface="Arial"/>
                <a:ea typeface="Arial"/>
                <a:cs typeface="Arial"/>
              </a:defRPr>
            </a:pPr>
            <a:r>
              <a:rPr sz="1650" b="0">
                <a:solidFill>
                  <a:srgbClr val="566779"/>
                </a:solidFill>
                <a:latin typeface="Arial"/>
                <a:ea typeface="Arial"/>
                <a:cs typeface="Arial"/>
              </a:rPr>
              <a:t>Джерело: BYU ACME · The Simplex Method, Figure1.1</a:t>
            </a:r>
          </a:p>
        </p:txBody>
      </p:sp>
      <p:sp>
        <p:nvSpPr>
          <p:cNvPr id="10" name="">
            <a:extLst xmlns:a="http://schemas.openxmlformats.org/drawingml/2006/main">
              <a:ext uri="{FF2B5EF4-FFF2-40B4-BE49-F238E27FC236}">
                <a16:creationId xmlns:a16="http://schemas.microsoft.com/office/drawing/2014/main" id="{09D1178C-AC9D-4469-8DF8-2DB7762B089D}"/>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144</a:t>
            </a:r>
          </a:p>
        </p:txBody>
      </p:sp>
    </p:spTree>
    <p:extLst>
      <p:ext uri="{BB962C8B-B14F-4D97-AF65-F5344CB8AC3E}">
        <p14:creationId xmlns:p14="http://schemas.microsoft.com/office/powerpoint/2010/main" val="829063987"/>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6F82F3-E004-44EE-BDEF-ADC31BF82BE0}"/>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Оригінал MIT: метод північно-західного кута</a:t>
            </a:r>
          </a:p>
        </p:txBody>
      </p:sp>
      <p:pic>
        <p:nvPicPr>
          <p:cNvPr id="12" name="">
            <a:extLst xmlns:a="http://schemas.openxmlformats.org/drawingml/2006/main">
              <a:ext uri="{FF2B5EF4-FFF2-40B4-BE49-F238E27FC236}">
                <a16:creationId xmlns:a16="http://schemas.microsoft.com/office/drawing/2014/main" id="{99958466-0671-44CF-823F-3284F0060AD7}"/>
              </a:ext>
            </a:extLst>
          </p:cNvPr>
          <p:cNvPicPr>
            <a:picLocks xmlns:a="http://schemas.openxmlformats.org/drawingml/2006/main" noChangeAspect="1"/>
          </p:cNvPicPr>
          <p:nvPr/>
        </p:nvPicPr>
        <p:blipFill>
          <a:blip xmlns:r="http://schemas.openxmlformats.org/officeDocument/2006/relationships" xmlns:a="http://schemas.openxmlformats.org/drawingml/2006/main" r:embed="R37badccdfd7f436e"/>
          <a:stretch xmlns:a="http://schemas.openxmlformats.org/drawingml/2006/main"/>
        </p:blipFill>
        <p:spPr>
          <a:xfrm xmlns:a="http://schemas.openxmlformats.org/drawingml/2006/main">
            <a:off x="2309132" y="1466850"/>
            <a:ext cx="7592786" cy="428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BF600B-2A45-4559-88D7-C1F76FE715D7}"/>
              </a:ext>
            </a:extLst>
          </p:cNvPr>
          <p:cNvSpPr>
            <a:spLocks xmlns:a="http://schemas.openxmlformats.org/drawingml/2006/main" noGrp="1"/>
          </p:cNvSpPr>
          <p:nvPr/>
        </p:nvSpPr>
        <p:spPr>
          <a:xfrm xmlns:a="http://schemas.openxmlformats.org/drawingml/2006/main">
            <a:off x="819150" y="582930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Числа на дугах показують виділені потоки; закреслення — вичерпаний запас або попит.</a:t>
            </a:r>
          </a:p>
        </p:txBody>
      </p:sp>
      <p:sp>
        <p:nvSpPr>
          <p:cNvPr id="7" name="">
            <a:extLst xmlns:a="http://schemas.openxmlformats.org/drawingml/2006/main">
              <a:ext uri="{FF2B5EF4-FFF2-40B4-BE49-F238E27FC236}">
                <a16:creationId xmlns:a16="http://schemas.microsoft.com/office/drawing/2014/main" id="{897772A4-7561-41E8-90E2-34277F2CB8DB}"/>
              </a:ext>
            </a:extLst>
          </p:cNvPr>
          <p:cNvSpPr>
            <a:spLocks xmlns:a="http://schemas.openxmlformats.org/drawingml/2006/main" noGrp="1"/>
          </p:cNvSpPr>
          <p:nvPr/>
        </p:nvSpPr>
        <p:spPr>
          <a:xfrm xmlns:a="http://schemas.openxmlformats.org/drawingml/2006/main">
            <a:off x="762000" y="55340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66779"/>
                </a:solidFill>
                <a:latin typeface="Arial"/>
                <a:ea typeface="Arial"/>
                <a:cs typeface="Arial"/>
              </a:defRPr>
            </a:pPr>
            <a:r>
              <a:rPr sz="1650" b="0">
                <a:solidFill>
                  <a:srgbClr val="566779"/>
                </a:solidFill>
                <a:latin typeface="Arial"/>
                <a:ea typeface="Arial"/>
                <a:cs typeface="Arial"/>
              </a:rPr>
              <a:t>Джерело: MIT · Applied Mathematical Programming, </a:t>
            </a:r>
            <a:r>
              <a:rPr sz="1650" b="0">
                <a:solidFill>
                  <a:srgbClr val="566779"/>
                </a:solidFill>
                <a:latin typeface="Arial"/>
                <a:ea typeface="Arial"/>
                <a:cs typeface="Arial"/>
              </a:rPr>
              <a:t>розділ 8</a:t>
            </a:r>
          </a:p>
        </p:txBody>
      </p:sp>
      <p:sp>
        <p:nvSpPr>
          <p:cNvPr id="10" name="">
            <a:extLst xmlns:a="http://schemas.openxmlformats.org/drawingml/2006/main">
              <a:ext uri="{FF2B5EF4-FFF2-40B4-BE49-F238E27FC236}">
                <a16:creationId xmlns:a16="http://schemas.microsoft.com/office/drawing/2014/main" id="{B71E2D8A-373A-4070-8E61-6972DC23DA6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145</a:t>
            </a:r>
          </a:p>
        </p:txBody>
      </p:sp>
    </p:spTree>
    <p:extLst>
      <p:ext uri="{BB962C8B-B14F-4D97-AF65-F5344CB8AC3E}">
        <p14:creationId xmlns:p14="http://schemas.microsoft.com/office/powerpoint/2010/main" val="2127456991"/>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1CEA48-2039-4244-B381-2A14675DD412}"/>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Оригінал MIT: потенціали транспортної задачі</a:t>
            </a:r>
          </a:p>
        </p:txBody>
      </p:sp>
      <p:pic>
        <p:nvPicPr>
          <p:cNvPr id="12" name="">
            <a:extLst xmlns:a="http://schemas.openxmlformats.org/drawingml/2006/main">
              <a:ext uri="{FF2B5EF4-FFF2-40B4-BE49-F238E27FC236}">
                <a16:creationId xmlns:a16="http://schemas.microsoft.com/office/drawing/2014/main" id="{ECB08829-CBFF-48F7-A63B-70F6CE2286A8}"/>
              </a:ext>
            </a:extLst>
          </p:cNvPr>
          <p:cNvPicPr>
            <a:picLocks xmlns:a="http://schemas.openxmlformats.org/drawingml/2006/main" noChangeAspect="1"/>
          </p:cNvPicPr>
          <p:nvPr/>
        </p:nvPicPr>
        <p:blipFill>
          <a:blip xmlns:r="http://schemas.openxmlformats.org/officeDocument/2006/relationships" xmlns:a="http://schemas.openxmlformats.org/drawingml/2006/main" r:embed="Rcda4bb5332fb4dbf"/>
          <a:stretch xmlns:a="http://schemas.openxmlformats.org/drawingml/2006/main"/>
        </p:blipFill>
        <p:spPr>
          <a:xfrm xmlns:a="http://schemas.openxmlformats.org/drawingml/2006/main">
            <a:off x="2469807" y="1428750"/>
            <a:ext cx="7233336" cy="4248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588D4A-C0D8-456A-9BA1-8EEEFBF9360A}"/>
              </a:ext>
            </a:extLst>
          </p:cNvPr>
          <p:cNvSpPr>
            <a:spLocks xmlns:a="http://schemas.openxmlformats.org/drawingml/2006/main" noGrp="1"/>
          </p:cNvSpPr>
          <p:nvPr/>
        </p:nvSpPr>
        <p:spPr>
          <a:xfrm xmlns:a="http://schemas.openxmlformats.org/drawingml/2006/main">
            <a:off x="819150" y="581025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Для базисних дуг: uᵢ + vⱼ = cᵢⱼ. Вільну дугу оцінюємо як cᵢⱼ − uᵢ − vⱼ.</a:t>
            </a:r>
          </a:p>
        </p:txBody>
      </p:sp>
      <p:sp>
        <p:nvSpPr>
          <p:cNvPr id="7" name="">
            <a:extLst xmlns:a="http://schemas.openxmlformats.org/drawingml/2006/main">
              <a:ext uri="{FF2B5EF4-FFF2-40B4-BE49-F238E27FC236}">
                <a16:creationId xmlns:a16="http://schemas.microsoft.com/office/drawing/2014/main" id="{712690C6-3B91-4030-9E0C-CCF899324FC3}"/>
              </a:ext>
            </a:extLst>
          </p:cNvPr>
          <p:cNvSpPr>
            <a:spLocks xmlns:a="http://schemas.openxmlformats.org/drawingml/2006/main" noGrp="1"/>
          </p:cNvSpPr>
          <p:nvPr/>
        </p:nvSpPr>
        <p:spPr>
          <a:xfrm xmlns:a="http://schemas.openxmlformats.org/drawingml/2006/main">
            <a:off x="762000" y="55340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66779"/>
                </a:solidFill>
                <a:latin typeface="Arial"/>
                <a:ea typeface="Arial"/>
                <a:cs typeface="Arial"/>
              </a:defRPr>
            </a:pPr>
            <a:r>
              <a:rPr sz="1650" b="0">
                <a:solidFill>
                  <a:srgbClr val="566779"/>
                </a:solidFill>
                <a:latin typeface="Arial"/>
                <a:ea typeface="Arial"/>
                <a:cs typeface="Arial"/>
              </a:rPr>
              <a:t>Джерело: MIT · Applied Mathematical Programming, </a:t>
            </a:r>
            <a:r>
              <a:rPr sz="1650" b="0">
                <a:solidFill>
                  <a:srgbClr val="566779"/>
                </a:solidFill>
                <a:latin typeface="Arial"/>
                <a:ea typeface="Arial"/>
                <a:cs typeface="Arial"/>
              </a:rPr>
              <a:t>розділ 8</a:t>
            </a:r>
          </a:p>
        </p:txBody>
      </p:sp>
      <p:sp>
        <p:nvSpPr>
          <p:cNvPr id="10" name="">
            <a:extLst xmlns:a="http://schemas.openxmlformats.org/drawingml/2006/main">
              <a:ext uri="{FF2B5EF4-FFF2-40B4-BE49-F238E27FC236}">
                <a16:creationId xmlns:a16="http://schemas.microsoft.com/office/drawing/2014/main" id="{8771410D-41E2-4E13-A70C-C4F66DBCEA2C}"/>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146</a:t>
            </a:r>
          </a:p>
        </p:txBody>
      </p:sp>
    </p:spTree>
    <p:extLst>
      <p:ext uri="{BB962C8B-B14F-4D97-AF65-F5344CB8AC3E}">
        <p14:creationId xmlns:p14="http://schemas.microsoft.com/office/powerpoint/2010/main" val="1432805172"/>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4A3A76-5492-4C0B-9BF1-38A8F613C65D}"/>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Оригінал Harvard: редукція та вибір нулів</a:t>
            </a:r>
          </a:p>
        </p:txBody>
      </p:sp>
      <p:sp>
        <p:nvSpPr>
          <p:cNvPr id="2" name="">
            <a:extLst xmlns:a="http://schemas.openxmlformats.org/drawingml/2006/main">
              <a:ext uri="{FF2B5EF4-FFF2-40B4-BE49-F238E27FC236}">
                <a16:creationId xmlns:a16="http://schemas.microsoft.com/office/drawing/2014/main" id="{8CAE013A-DA10-42BD-AADD-CF69BC5E3AEF}"/>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M — велика заборонна вартість; ⊗ — вибране призначення.</a:t>
            </a:r>
          </a:p>
        </p:txBody>
      </p:sp>
      <p:pic>
        <p:nvPicPr>
          <p:cNvPr id="11" name="">
            <a:extLst xmlns:a="http://schemas.openxmlformats.org/drawingml/2006/main">
              <a:ext uri="{FF2B5EF4-FFF2-40B4-BE49-F238E27FC236}">
                <a16:creationId xmlns:a16="http://schemas.microsoft.com/office/drawing/2014/main" id="{BF1905E8-20D2-45B5-B6F5-7DCE18A99E10}"/>
              </a:ext>
            </a:extLst>
          </p:cNvPr>
          <p:cNvPicPr>
            <a:picLocks xmlns:a="http://schemas.openxmlformats.org/drawingml/2006/main" noChangeAspect="1"/>
          </p:cNvPicPr>
          <p:nvPr/>
        </p:nvPicPr>
        <p:blipFill>
          <a:blip xmlns:r="http://schemas.openxmlformats.org/officeDocument/2006/relationships" xmlns:a="http://schemas.openxmlformats.org/drawingml/2006/main" r:embed="R047f26af2d0b4af3"/>
          <a:stretch xmlns:a="http://schemas.openxmlformats.org/drawingml/2006/main"/>
        </p:blipFill>
        <p:spPr>
          <a:xfrm xmlns:a="http://schemas.openxmlformats.org/drawingml/2006/main">
            <a:off x="1637016" y="1476375"/>
            <a:ext cx="8917969" cy="41338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CD125E-B5D6-47C6-B3C5-BE50681EBA15}"/>
              </a:ext>
            </a:extLst>
          </p:cNvPr>
          <p:cNvSpPr>
            <a:spLocks xmlns:a="http://schemas.openxmlformats.org/drawingml/2006/main" noGrp="1"/>
          </p:cNvSpPr>
          <p:nvPr/>
        </p:nvSpPr>
        <p:spPr>
          <a:xfrm xmlns:a="http://schemas.openxmlformats.org/drawingml/2006/main">
            <a:off x="762000" y="5581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66779"/>
                </a:solidFill>
                <a:latin typeface="Arial"/>
                <a:ea typeface="Arial"/>
                <a:cs typeface="Arial"/>
              </a:defRPr>
            </a:pPr>
            <a:r>
              <a:rPr sz="1650" b="0">
                <a:solidFill>
                  <a:srgbClr val="566779"/>
                </a:solidFill>
                <a:latin typeface="Arial"/>
                <a:ea typeface="Arial"/>
                <a:cs typeface="Arial"/>
              </a:rPr>
              <a:t>Джерело: Harvard · Hungarian Method</a:t>
            </a:r>
          </a:p>
        </p:txBody>
      </p:sp>
      <p:sp>
        <p:nvSpPr>
          <p:cNvPr id="8" name="">
            <a:extLst xmlns:a="http://schemas.openxmlformats.org/drawingml/2006/main">
              <a:ext uri="{FF2B5EF4-FFF2-40B4-BE49-F238E27FC236}">
                <a16:creationId xmlns:a16="http://schemas.microsoft.com/office/drawing/2014/main" id="{20616930-7B15-4FCD-B9EA-6C85D7FCC3AF}"/>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147</a:t>
            </a:r>
          </a:p>
        </p:txBody>
      </p:sp>
    </p:spTree>
    <p:extLst>
      <p:ext uri="{BB962C8B-B14F-4D97-AF65-F5344CB8AC3E}">
        <p14:creationId xmlns:p14="http://schemas.microsoft.com/office/powerpoint/2010/main" val="543238679"/>
      </p:ext>
    </p:extLst>
  </p:cSld>
</p:sld>
</file>

<file path=ppt/slides/slide148.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17DEAC-F916-4DD0-8435-2B409AFECA69}"/>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Harvard: позначки для мінімального покриття</a:t>
            </a:r>
          </a:p>
        </p:txBody>
      </p:sp>
      <p:sp>
        <p:nvSpPr>
          <p:cNvPr id="2" name="">
            <a:extLst xmlns:a="http://schemas.openxmlformats.org/drawingml/2006/main">
              <a:ext uri="{FF2B5EF4-FFF2-40B4-BE49-F238E27FC236}">
                <a16:creationId xmlns:a16="http://schemas.microsoft.com/office/drawing/2014/main" id="{02F2FB78-ACC5-4357-A35B-9038236F4802}"/>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Позначки повторюємо до зупинки; корекція створює нові нулі.</a:t>
            </a:r>
          </a:p>
        </p:txBody>
      </p:sp>
      <p:pic>
        <p:nvPicPr>
          <p:cNvPr id="11" name="">
            <a:extLst xmlns:a="http://schemas.openxmlformats.org/drawingml/2006/main">
              <a:ext uri="{FF2B5EF4-FFF2-40B4-BE49-F238E27FC236}">
                <a16:creationId xmlns:a16="http://schemas.microsoft.com/office/drawing/2014/main" id="{ABD56F67-C527-41CD-986F-57C58AFB8A32}"/>
              </a:ext>
            </a:extLst>
          </p:cNvPr>
          <p:cNvPicPr>
            <a:picLocks xmlns:a="http://schemas.openxmlformats.org/drawingml/2006/main" noChangeAspect="1"/>
          </p:cNvPicPr>
          <p:nvPr/>
        </p:nvPicPr>
        <p:blipFill>
          <a:blip xmlns:r="http://schemas.openxmlformats.org/officeDocument/2006/relationships" xmlns:a="http://schemas.openxmlformats.org/drawingml/2006/main" r:embed="R39262951b259468f"/>
          <a:stretch xmlns:a="http://schemas.openxmlformats.org/drawingml/2006/main"/>
        </p:blipFill>
        <p:spPr>
          <a:xfrm xmlns:a="http://schemas.openxmlformats.org/drawingml/2006/main">
            <a:off x="2312831" y="1495425"/>
            <a:ext cx="7566338" cy="190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175498-C6B6-437A-86C4-8D344F4579EC}"/>
              </a:ext>
            </a:extLst>
          </p:cNvPr>
          <p:cNvSpPr>
            <a:spLocks xmlns:a="http://schemas.openxmlformats.org/drawingml/2006/main" noGrp="1"/>
          </p:cNvSpPr>
          <p:nvPr/>
        </p:nvSpPr>
        <p:spPr>
          <a:xfrm xmlns:a="http://schemas.openxmlformats.org/drawingml/2006/main">
            <a:off x="762000" y="3857625"/>
            <a:ext cx="1066800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Далі позначаємо рядки з парою в позначених стовпцях.</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Покриваємо непозначені рядки та позначені стовпці.</a:t>
            </a:r>
          </a:p>
          <a:p xmlns:a="http://schemas.openxmlformats.org/drawingml/2006/main">
            <a:pPr algn="l">
              <a:buNone/>
              <a:defRPr sz="2250" b="0">
                <a:solidFill>
                  <a:srgbClr val="173047"/>
                </a:solidFill>
                <a:latin typeface="Arial"/>
                <a:ea typeface="Arial"/>
                <a:cs typeface="Arial"/>
              </a:defRPr>
            </a:pPr>
            <a:r>
              <a:rPr sz="2250" b="0">
                <a:solidFill>
                  <a:srgbClr val="173047"/>
                </a:solidFill>
                <a:latin typeface="Arial"/>
                <a:ea typeface="Arial"/>
                <a:cs typeface="Arial"/>
              </a:rPr>
              <a:t>Непокриті елементи −δ; подвійно покриті +δ.</a:t>
            </a:r>
          </a:p>
        </p:txBody>
      </p:sp>
      <p:sp>
        <p:nvSpPr>
          <p:cNvPr id="8" name="">
            <a:extLst xmlns:a="http://schemas.openxmlformats.org/drawingml/2006/main">
              <a:ext uri="{FF2B5EF4-FFF2-40B4-BE49-F238E27FC236}">
                <a16:creationId xmlns:a16="http://schemas.microsoft.com/office/drawing/2014/main" id="{F164DAC9-574E-43FD-B90B-1E79BEA63501}"/>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148</a:t>
            </a:r>
          </a:p>
        </p:txBody>
      </p:sp>
    </p:spTree>
    <p:extLst>
      <p:ext uri="{BB962C8B-B14F-4D97-AF65-F5344CB8AC3E}">
        <p14:creationId xmlns:p14="http://schemas.microsoft.com/office/powerpoint/2010/main" val="1796846810"/>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64D982-D816-4366-B6F7-F476FBB37BC5}"/>
              </a:ext>
            </a:extLst>
          </p:cNvPr>
          <p:cNvSpPr>
            <a:spLocks xmlns:a="http://schemas.openxmlformats.org/drawingml/2006/main" noGrp="1"/>
          </p:cNvSpPr>
          <p:nvPr/>
        </p:nvSpPr>
        <p:spPr>
          <a:xfrm xmlns:a="http://schemas.openxmlformats.org/drawingml/2006/main">
            <a:off x="685800" y="36195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1">
                <a:solidFill>
                  <a:srgbClr val="173047"/>
                </a:solidFill>
                <a:latin typeface="Arial"/>
                <a:ea typeface="Arial"/>
                <a:cs typeface="Arial"/>
              </a:defRPr>
            </a:pPr>
            <a:r>
              <a:rPr sz="3000" b="1">
                <a:solidFill>
                  <a:srgbClr val="173047"/>
                </a:solidFill>
                <a:latin typeface="Arial"/>
                <a:ea typeface="Arial"/>
                <a:cs typeface="Arial"/>
              </a:rPr>
              <a:t>Оригінал MIT: повне дерево для max</a:t>
            </a:r>
          </a:p>
        </p:txBody>
      </p:sp>
      <p:sp>
        <p:nvSpPr>
          <p:cNvPr id="2" name="">
            <a:extLst xmlns:a="http://schemas.openxmlformats.org/drawingml/2006/main">
              <a:ext uri="{FF2B5EF4-FFF2-40B4-BE49-F238E27FC236}">
                <a16:creationId xmlns:a16="http://schemas.microsoft.com/office/drawing/2014/main" id="{0122437B-D601-4604-9A87-A80A4CC25830}"/>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00" b="1">
                <a:solidFill>
                  <a:srgbClr val="00857D"/>
                </a:solidFill>
                <a:latin typeface="Arial"/>
                <a:ea typeface="Arial"/>
                <a:cs typeface="Arial"/>
              </a:defRPr>
            </a:pPr>
            <a:r>
              <a:rPr sz="2100" b="1">
                <a:solidFill>
                  <a:srgbClr val="00857D"/>
                </a:solidFill>
                <a:latin typeface="Arial"/>
                <a:ea typeface="Arial"/>
                <a:cs typeface="Arial"/>
              </a:rPr>
              <a:t>Цілий план(0,5) </a:t>
            </a:r>
            <a:r>
              <a:rPr sz="2100" b="1">
                <a:solidFill>
                  <a:srgbClr val="00857D"/>
                </a:solidFill>
                <a:latin typeface="Arial"/>
                <a:ea typeface="Arial"/>
                <a:cs typeface="Arial"/>
              </a:rPr>
              <a:t>дає z</a:t>
            </a:r>
            <a:r>
              <a:rPr sz="2100" b="1">
                <a:solidFill>
                  <a:srgbClr val="00857D"/>
                </a:solidFill>
                <a:latin typeface="Arial"/>
                <a:ea typeface="Arial"/>
                <a:cs typeface="Arial"/>
              </a:rPr>
              <a:t>=40; усі вузли й батьківські зв’язки показано повністю.</a:t>
            </a:r>
          </a:p>
        </p:txBody>
      </p:sp>
      <p:pic>
        <p:nvPicPr>
          <p:cNvPr id="11" name="">
            <a:extLst xmlns:a="http://schemas.openxmlformats.org/drawingml/2006/main">
              <a:ext uri="{FF2B5EF4-FFF2-40B4-BE49-F238E27FC236}">
                <a16:creationId xmlns:a16="http://schemas.microsoft.com/office/drawing/2014/main" id="{EFF8E8D6-5E3E-400B-A00F-00DBA0203C09}"/>
              </a:ext>
            </a:extLst>
          </p:cNvPr>
          <p:cNvPicPr>
            <a:picLocks xmlns:a="http://schemas.openxmlformats.org/drawingml/2006/main" noChangeAspect="1"/>
          </p:cNvPicPr>
          <p:nvPr/>
        </p:nvPicPr>
        <p:blipFill>
          <a:blip xmlns:r="http://schemas.openxmlformats.org/officeDocument/2006/relationships" xmlns:a="http://schemas.openxmlformats.org/drawingml/2006/main" r:embed="Rd8f7f3ea16d64b2e"/>
          <a:stretch xmlns:a="http://schemas.openxmlformats.org/drawingml/2006/main"/>
        </p:blipFill>
        <p:spPr>
          <a:xfrm xmlns:a="http://schemas.openxmlformats.org/drawingml/2006/main">
            <a:off x="4231532" y="1352550"/>
            <a:ext cx="3728936"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BE23B8D-DEB2-4319-8440-EE3AB9C16819}"/>
              </a:ext>
            </a:extLst>
          </p:cNvPr>
          <p:cNvSpPr>
            <a:spLocks xmlns:a="http://schemas.openxmlformats.org/drawingml/2006/main" noGrp="1"/>
          </p:cNvSpPr>
          <p:nvPr/>
        </p:nvSpPr>
        <p:spPr>
          <a:xfrm xmlns:a="http://schemas.openxmlformats.org/drawingml/2006/main">
            <a:off x="762000" y="5581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66779"/>
                </a:solidFill>
                <a:latin typeface="Arial"/>
                <a:ea typeface="Arial"/>
                <a:cs typeface="Arial"/>
              </a:defRPr>
            </a:pPr>
            <a:r>
              <a:rPr sz="1650" b="0">
                <a:solidFill>
                  <a:srgbClr val="566779"/>
                </a:solidFill>
                <a:latin typeface="Arial"/>
                <a:ea typeface="Arial"/>
                <a:cs typeface="Arial"/>
              </a:rPr>
              <a:t>Джерело: MIT · Applied Mathematical Programming, </a:t>
            </a:r>
            <a:r>
              <a:rPr sz="1650" b="0">
                <a:solidFill>
                  <a:srgbClr val="566779"/>
                </a:solidFill>
                <a:latin typeface="Arial"/>
                <a:ea typeface="Arial"/>
                <a:cs typeface="Arial"/>
              </a:rPr>
              <a:t>Figure 9.15</a:t>
            </a:r>
          </a:p>
        </p:txBody>
      </p:sp>
      <p:sp>
        <p:nvSpPr>
          <p:cNvPr id="8" name="">
            <a:extLst xmlns:a="http://schemas.openxmlformats.org/drawingml/2006/main">
              <a:ext uri="{FF2B5EF4-FFF2-40B4-BE49-F238E27FC236}">
                <a16:creationId xmlns:a16="http://schemas.microsoft.com/office/drawing/2014/main" id="{0E398E5C-1C00-45CE-8182-180D548F3CD7}"/>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149</a:t>
            </a:r>
          </a:p>
        </p:txBody>
      </p:sp>
    </p:spTree>
    <p:extLst>
      <p:ext uri="{BB962C8B-B14F-4D97-AF65-F5344CB8AC3E}">
        <p14:creationId xmlns:p14="http://schemas.microsoft.com/office/powerpoint/2010/main" val="704297913"/>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834280B-C464-4F0B-8AA0-CEAD24842A56}"/>
              </a:ext>
            </a:extLst>
          </p:cNvPr>
          <p:cNvSpPr>
            <a:spLocks xmlns:a="http://schemas.openxmlformats.org/drawingml/2006/main" noGrp="1"/>
          </p:cNvSpPr>
          <p:nvPr/>
        </p:nvSpPr>
        <p:spPr>
          <a:xfrm xmlns:a="http://schemas.openxmlformats.org/drawingml/2006/main">
            <a:off x="685800" y="400050"/>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152C42"/>
                </a:solidFill>
                <a:latin typeface="DejaVu Sans"/>
                <a:ea typeface="DejaVu Sans"/>
                <a:cs typeface="DejaVu Sans"/>
              </a:defRPr>
            </a:pPr>
            <a:r>
              <a:rPr sz="2925" b="1">
                <a:solidFill>
                  <a:srgbClr val="152C42"/>
                </a:solidFill>
                <a:latin typeface="Arial"/>
                <a:ea typeface="Arial"/>
                <a:cs typeface="Arial"/>
              </a:rPr>
              <a:t>Джерела алгоритмів і оригінальних ілюстрацій</a:t>
            </a:r>
          </a:p>
        </p:txBody>
      </p:sp>
      <p:sp>
        <p:nvSpPr>
          <p:cNvPr id="3" name="">
            <a:extLst xmlns:a="http://schemas.openxmlformats.org/drawingml/2006/main">
              <a:ext uri="{FF2B5EF4-FFF2-40B4-BE49-F238E27FC236}">
                <a16:creationId xmlns:a16="http://schemas.microsoft.com/office/drawing/2014/main" id="{883475A2-5B15-4C98-9B07-FA68D34A3B1B}"/>
              </a:ext>
            </a:extLst>
          </p:cNvPr>
          <p:cNvSpPr>
            <a:spLocks xmlns:a="http://schemas.openxmlformats.org/drawingml/2006/main" noGrp="1"/>
          </p:cNvSpPr>
          <p:nvPr/>
        </p:nvSpPr>
        <p:spPr>
          <a:xfrm xmlns:a="http://schemas.openxmlformats.org/drawingml/2006/main">
            <a:off x="742950" y="1381125"/>
            <a:ext cx="3162300" cy="7524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4" name="">
            <a:extLst xmlns:a="http://schemas.openxmlformats.org/drawingml/2006/main">
              <a:ext uri="{FF2B5EF4-FFF2-40B4-BE49-F238E27FC236}">
                <a16:creationId xmlns:a16="http://schemas.microsoft.com/office/drawing/2014/main" id="{9544B4D4-D2EE-48EF-B809-2558C1E8F870}"/>
              </a:ext>
            </a:extLst>
          </p:cNvPr>
          <p:cNvSpPr>
            <a:spLocks xmlns:a="http://schemas.openxmlformats.org/drawingml/2006/main" noGrp="1"/>
          </p:cNvSpPr>
          <p:nvPr/>
        </p:nvSpPr>
        <p:spPr>
          <a:xfrm xmlns:a="http://schemas.openxmlformats.org/drawingml/2006/main">
            <a:off x="838200" y="1457325"/>
            <a:ext cx="2971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FFFFF"/>
                </a:solidFill>
                <a:latin typeface="DejaVu Sans"/>
                <a:ea typeface="DejaVu Sans"/>
                <a:cs typeface="DejaVu Sans"/>
              </a:defRPr>
            </a:pPr>
            <a:r>
              <a:rPr sz="1800" b="1">
                <a:solidFill>
                  <a:srgbClr val="FFFFFF"/>
                </a:solidFill>
                <a:latin typeface="Arial"/>
                <a:ea typeface="Arial"/>
                <a:cs typeface="Arial"/>
              </a:rPr>
              <a:t>Алгоритм</a:t>
            </a:r>
          </a:p>
        </p:txBody>
      </p:sp>
      <p:sp>
        <p:nvSpPr>
          <p:cNvPr id="5" name="">
            <a:extLst xmlns:a="http://schemas.openxmlformats.org/drawingml/2006/main">
              <a:ext uri="{FF2B5EF4-FFF2-40B4-BE49-F238E27FC236}">
                <a16:creationId xmlns:a16="http://schemas.microsoft.com/office/drawing/2014/main" id="{2FCFC8B6-0778-4B93-9115-05CBAE56A3B5}"/>
              </a:ext>
            </a:extLst>
          </p:cNvPr>
          <p:cNvSpPr>
            <a:spLocks xmlns:a="http://schemas.openxmlformats.org/drawingml/2006/main" noGrp="1"/>
          </p:cNvSpPr>
          <p:nvPr/>
        </p:nvSpPr>
        <p:spPr>
          <a:xfrm xmlns:a="http://schemas.openxmlformats.org/drawingml/2006/main">
            <a:off x="3905250" y="1381125"/>
            <a:ext cx="7543800" cy="752475"/>
          </a:xfrm>
          <a:prstGeom xmlns:a="http://schemas.openxmlformats.org/drawingml/2006/main" prst="rect">
            <a:avLst/>
          </a:prstGeom>
          <a:solidFill xmlns:a="http://schemas.openxmlformats.org/drawingml/2006/main">
            <a:srgbClr val="152C42"/>
          </a:solidFill>
          <a:ln xmlns:a="http://schemas.openxmlformats.org/drawingml/2006/main" w="5715">
            <a:solidFill>
              <a:srgbClr val="152C42"/>
            </a:solidFill>
          </a:ln>
        </p:spPr>
      </p:sp>
      <p:sp>
        <p:nvSpPr>
          <p:cNvPr id="6" name="">
            <a:extLst xmlns:a="http://schemas.openxmlformats.org/drawingml/2006/main">
              <a:ext uri="{FF2B5EF4-FFF2-40B4-BE49-F238E27FC236}">
                <a16:creationId xmlns:a16="http://schemas.microsoft.com/office/drawing/2014/main" id="{F3D1D7B9-7FD6-49C3-9FB9-1DECA37C849F}"/>
              </a:ext>
            </a:extLst>
          </p:cNvPr>
          <p:cNvSpPr>
            <a:spLocks xmlns:a="http://schemas.openxmlformats.org/drawingml/2006/main" noGrp="1"/>
          </p:cNvSpPr>
          <p:nvPr/>
        </p:nvSpPr>
        <p:spPr>
          <a:xfrm xmlns:a="http://schemas.openxmlformats.org/drawingml/2006/main">
            <a:off x="4000500" y="1457325"/>
            <a:ext cx="7353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FFFFFF"/>
                </a:solidFill>
                <a:latin typeface="DejaVu Sans"/>
                <a:ea typeface="DejaVu Sans"/>
                <a:cs typeface="DejaVu Sans"/>
              </a:defRPr>
            </a:pPr>
            <a:r>
              <a:rPr sz="1800" b="1">
                <a:solidFill>
                  <a:srgbClr val="FFFFFF"/>
                </a:solidFill>
                <a:latin typeface="Arial"/>
                <a:ea typeface="Arial"/>
                <a:cs typeface="Arial"/>
              </a:rPr>
              <a:t>Навчальний матеріал</a:t>
            </a:r>
          </a:p>
        </p:txBody>
      </p:sp>
      <p:sp>
        <p:nvSpPr>
          <p:cNvPr id="7" name="">
            <a:extLst xmlns:a="http://schemas.openxmlformats.org/drawingml/2006/main">
              <a:ext uri="{FF2B5EF4-FFF2-40B4-BE49-F238E27FC236}">
                <a16:creationId xmlns:a16="http://schemas.microsoft.com/office/drawing/2014/main" id="{F9F27A1A-89F7-497E-A0D2-714BCCD55B6F}"/>
              </a:ext>
            </a:extLst>
          </p:cNvPr>
          <p:cNvSpPr>
            <a:spLocks xmlns:a="http://schemas.openxmlformats.org/drawingml/2006/main" noGrp="1"/>
          </p:cNvSpPr>
          <p:nvPr/>
        </p:nvSpPr>
        <p:spPr>
          <a:xfrm xmlns:a="http://schemas.openxmlformats.org/drawingml/2006/main">
            <a:off x="742950" y="2133600"/>
            <a:ext cx="3162300" cy="7524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8" name="">
            <a:extLst xmlns:a="http://schemas.openxmlformats.org/drawingml/2006/main">
              <a:ext uri="{FF2B5EF4-FFF2-40B4-BE49-F238E27FC236}">
                <a16:creationId xmlns:a16="http://schemas.microsoft.com/office/drawing/2014/main" id="{61386A36-E50B-413C-B682-344C29FDD8BD}"/>
              </a:ext>
            </a:extLst>
          </p:cNvPr>
          <p:cNvSpPr>
            <a:spLocks xmlns:a="http://schemas.openxmlformats.org/drawingml/2006/main" noGrp="1"/>
          </p:cNvSpPr>
          <p:nvPr/>
        </p:nvSpPr>
        <p:spPr>
          <a:xfrm xmlns:a="http://schemas.openxmlformats.org/drawingml/2006/main">
            <a:off x="838200" y="2209800"/>
            <a:ext cx="2971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Симплекс-метод</a:t>
            </a:r>
          </a:p>
        </p:txBody>
      </p:sp>
      <p:sp>
        <p:nvSpPr>
          <p:cNvPr id="9" name="">
            <a:extLst xmlns:a="http://schemas.openxmlformats.org/drawingml/2006/main">
              <a:ext uri="{FF2B5EF4-FFF2-40B4-BE49-F238E27FC236}">
                <a16:creationId xmlns:a16="http://schemas.microsoft.com/office/drawing/2014/main" id="{2E31F06B-4BEB-44C2-B902-42A007936AB1}"/>
              </a:ext>
            </a:extLst>
          </p:cNvPr>
          <p:cNvSpPr>
            <a:spLocks xmlns:a="http://schemas.openxmlformats.org/drawingml/2006/main" noGrp="1"/>
          </p:cNvSpPr>
          <p:nvPr/>
        </p:nvSpPr>
        <p:spPr>
          <a:xfrm xmlns:a="http://schemas.openxmlformats.org/drawingml/2006/main">
            <a:off x="3905250" y="2133600"/>
            <a:ext cx="7543800" cy="7524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0" name="">
            <a:extLst xmlns:a="http://schemas.openxmlformats.org/drawingml/2006/main">
              <a:ext uri="{FF2B5EF4-FFF2-40B4-BE49-F238E27FC236}">
                <a16:creationId xmlns:a16="http://schemas.microsoft.com/office/drawing/2014/main" id="{334C87E6-EC09-43E4-8838-15471EEDF787}"/>
              </a:ext>
            </a:extLst>
          </p:cNvPr>
          <p:cNvSpPr>
            <a:spLocks xmlns:a="http://schemas.openxmlformats.org/drawingml/2006/main" noGrp="1"/>
          </p:cNvSpPr>
          <p:nvPr/>
        </p:nvSpPr>
        <p:spPr>
          <a:xfrm xmlns:a="http://schemas.openxmlformats.org/drawingml/2006/main">
            <a:off x="4000500" y="2209800"/>
            <a:ext cx="7353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BYU ACME: The Simplex Method</a:t>
            </a:r>
          </a:p>
        </p:txBody>
      </p:sp>
      <p:sp>
        <p:nvSpPr>
          <p:cNvPr id="11" name="">
            <a:extLst xmlns:a="http://schemas.openxmlformats.org/drawingml/2006/main">
              <a:ext uri="{FF2B5EF4-FFF2-40B4-BE49-F238E27FC236}">
                <a16:creationId xmlns:a16="http://schemas.microsoft.com/office/drawing/2014/main" id="{DE13EFFC-013E-4D8C-BF94-7F4CC798C6FE}"/>
              </a:ext>
            </a:extLst>
          </p:cNvPr>
          <p:cNvSpPr>
            <a:spLocks xmlns:a="http://schemas.openxmlformats.org/drawingml/2006/main" noGrp="1"/>
          </p:cNvSpPr>
          <p:nvPr/>
        </p:nvSpPr>
        <p:spPr>
          <a:xfrm xmlns:a="http://schemas.openxmlformats.org/drawingml/2006/main">
            <a:off x="742950" y="2886075"/>
            <a:ext cx="3162300" cy="7524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2" name="">
            <a:extLst xmlns:a="http://schemas.openxmlformats.org/drawingml/2006/main">
              <a:ext uri="{FF2B5EF4-FFF2-40B4-BE49-F238E27FC236}">
                <a16:creationId xmlns:a16="http://schemas.microsoft.com/office/drawing/2014/main" id="{CCC1CF73-A7CB-4981-90C7-3AC03F64E9ED}"/>
              </a:ext>
            </a:extLst>
          </p:cNvPr>
          <p:cNvSpPr>
            <a:spLocks xmlns:a="http://schemas.openxmlformats.org/drawingml/2006/main" noGrp="1"/>
          </p:cNvSpPr>
          <p:nvPr/>
        </p:nvSpPr>
        <p:spPr>
          <a:xfrm xmlns:a="http://schemas.openxmlformats.org/drawingml/2006/main">
            <a:off x="838200" y="2962275"/>
            <a:ext cx="2971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Північно-західний кут</a:t>
            </a:r>
          </a:p>
        </p:txBody>
      </p:sp>
      <p:sp>
        <p:nvSpPr>
          <p:cNvPr id="13" name="">
            <a:extLst xmlns:a="http://schemas.openxmlformats.org/drawingml/2006/main">
              <a:ext uri="{FF2B5EF4-FFF2-40B4-BE49-F238E27FC236}">
                <a16:creationId xmlns:a16="http://schemas.microsoft.com/office/drawing/2014/main" id="{D8D73730-D0C6-4F20-81F7-9B6015055F61}"/>
              </a:ext>
            </a:extLst>
          </p:cNvPr>
          <p:cNvSpPr>
            <a:spLocks xmlns:a="http://schemas.openxmlformats.org/drawingml/2006/main" noGrp="1"/>
          </p:cNvSpPr>
          <p:nvPr/>
        </p:nvSpPr>
        <p:spPr>
          <a:xfrm xmlns:a="http://schemas.openxmlformats.org/drawingml/2006/main">
            <a:off x="3905250" y="2886075"/>
            <a:ext cx="7543800" cy="7524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14" name="">
            <a:extLst xmlns:a="http://schemas.openxmlformats.org/drawingml/2006/main">
              <a:ext uri="{FF2B5EF4-FFF2-40B4-BE49-F238E27FC236}">
                <a16:creationId xmlns:a16="http://schemas.microsoft.com/office/drawing/2014/main" id="{5CBCD8FF-C926-4706-8AFD-4D1ADF8E80E0}"/>
              </a:ext>
            </a:extLst>
          </p:cNvPr>
          <p:cNvSpPr>
            <a:spLocks xmlns:a="http://schemas.openxmlformats.org/drawingml/2006/main" noGrp="1"/>
          </p:cNvSpPr>
          <p:nvPr/>
        </p:nvSpPr>
        <p:spPr>
          <a:xfrm xmlns:a="http://schemas.openxmlformats.org/drawingml/2006/main">
            <a:off x="4000500" y="2962275"/>
            <a:ext cx="7353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MIT: Applied Mathematical Programming, розділ 8</a:t>
            </a:r>
          </a:p>
        </p:txBody>
      </p:sp>
      <p:sp>
        <p:nvSpPr>
          <p:cNvPr id="15" name="">
            <a:extLst xmlns:a="http://schemas.openxmlformats.org/drawingml/2006/main">
              <a:ext uri="{FF2B5EF4-FFF2-40B4-BE49-F238E27FC236}">
                <a16:creationId xmlns:a16="http://schemas.microsoft.com/office/drawing/2014/main" id="{D1558A41-BB8C-4408-95DB-9C6B6351D504}"/>
              </a:ext>
            </a:extLst>
          </p:cNvPr>
          <p:cNvSpPr>
            <a:spLocks xmlns:a="http://schemas.openxmlformats.org/drawingml/2006/main" noGrp="1"/>
          </p:cNvSpPr>
          <p:nvPr/>
        </p:nvSpPr>
        <p:spPr>
          <a:xfrm xmlns:a="http://schemas.openxmlformats.org/drawingml/2006/main">
            <a:off x="742950" y="3638550"/>
            <a:ext cx="3162300" cy="7524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6" name="">
            <a:extLst xmlns:a="http://schemas.openxmlformats.org/drawingml/2006/main">
              <a:ext uri="{FF2B5EF4-FFF2-40B4-BE49-F238E27FC236}">
                <a16:creationId xmlns:a16="http://schemas.microsoft.com/office/drawing/2014/main" id="{2F54BD38-DE93-4087-80DF-D7550F55C5FF}"/>
              </a:ext>
            </a:extLst>
          </p:cNvPr>
          <p:cNvSpPr>
            <a:spLocks xmlns:a="http://schemas.openxmlformats.org/drawingml/2006/main" noGrp="1"/>
          </p:cNvSpPr>
          <p:nvPr/>
        </p:nvSpPr>
        <p:spPr>
          <a:xfrm xmlns:a="http://schemas.openxmlformats.org/drawingml/2006/main">
            <a:off x="838200" y="3714750"/>
            <a:ext cx="2971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Метод потенціалів</a:t>
            </a:r>
          </a:p>
        </p:txBody>
      </p:sp>
      <p:sp>
        <p:nvSpPr>
          <p:cNvPr id="17" name="">
            <a:extLst xmlns:a="http://schemas.openxmlformats.org/drawingml/2006/main">
              <a:ext uri="{FF2B5EF4-FFF2-40B4-BE49-F238E27FC236}">
                <a16:creationId xmlns:a16="http://schemas.microsoft.com/office/drawing/2014/main" id="{8CFE57FA-C963-41F8-9BC0-08000FB1ADD6}"/>
              </a:ext>
            </a:extLst>
          </p:cNvPr>
          <p:cNvSpPr>
            <a:spLocks xmlns:a="http://schemas.openxmlformats.org/drawingml/2006/main" noGrp="1"/>
          </p:cNvSpPr>
          <p:nvPr/>
        </p:nvSpPr>
        <p:spPr>
          <a:xfrm xmlns:a="http://schemas.openxmlformats.org/drawingml/2006/main">
            <a:off x="3905250" y="3638550"/>
            <a:ext cx="7543800" cy="7524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18" name="">
            <a:extLst xmlns:a="http://schemas.openxmlformats.org/drawingml/2006/main">
              <a:ext uri="{FF2B5EF4-FFF2-40B4-BE49-F238E27FC236}">
                <a16:creationId xmlns:a16="http://schemas.microsoft.com/office/drawing/2014/main" id="{572FA094-2803-4CA3-B083-314D589CA225}"/>
              </a:ext>
            </a:extLst>
          </p:cNvPr>
          <p:cNvSpPr>
            <a:spLocks xmlns:a="http://schemas.openxmlformats.org/drawingml/2006/main" noGrp="1"/>
          </p:cNvSpPr>
          <p:nvPr/>
        </p:nvSpPr>
        <p:spPr>
          <a:xfrm xmlns:a="http://schemas.openxmlformats.org/drawingml/2006/main">
            <a:off x="4000500" y="3714750"/>
            <a:ext cx="7353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MIT: Applied Mathematical Programming, розділ 8</a:t>
            </a:r>
          </a:p>
        </p:txBody>
      </p:sp>
      <p:sp>
        <p:nvSpPr>
          <p:cNvPr id="19" name="">
            <a:extLst xmlns:a="http://schemas.openxmlformats.org/drawingml/2006/main">
              <a:ext uri="{FF2B5EF4-FFF2-40B4-BE49-F238E27FC236}">
                <a16:creationId xmlns:a16="http://schemas.microsoft.com/office/drawing/2014/main" id="{63256585-1232-451F-AA5C-04FBFBC85679}"/>
              </a:ext>
            </a:extLst>
          </p:cNvPr>
          <p:cNvSpPr>
            <a:spLocks xmlns:a="http://schemas.openxmlformats.org/drawingml/2006/main" noGrp="1"/>
          </p:cNvSpPr>
          <p:nvPr/>
        </p:nvSpPr>
        <p:spPr>
          <a:xfrm xmlns:a="http://schemas.openxmlformats.org/drawingml/2006/main">
            <a:off x="742950" y="4391025"/>
            <a:ext cx="3162300" cy="7524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0" name="">
            <a:extLst xmlns:a="http://schemas.openxmlformats.org/drawingml/2006/main">
              <a:ext uri="{FF2B5EF4-FFF2-40B4-BE49-F238E27FC236}">
                <a16:creationId xmlns:a16="http://schemas.microsoft.com/office/drawing/2014/main" id="{C8A25181-C917-4DD3-83F6-98737469E25E}"/>
              </a:ext>
            </a:extLst>
          </p:cNvPr>
          <p:cNvSpPr>
            <a:spLocks xmlns:a="http://schemas.openxmlformats.org/drawingml/2006/main" noGrp="1"/>
          </p:cNvSpPr>
          <p:nvPr/>
        </p:nvSpPr>
        <p:spPr>
          <a:xfrm xmlns:a="http://schemas.openxmlformats.org/drawingml/2006/main">
            <a:off x="838200" y="4467225"/>
            <a:ext cx="2971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Угорський метод</a:t>
            </a:r>
          </a:p>
        </p:txBody>
      </p:sp>
      <p:sp>
        <p:nvSpPr>
          <p:cNvPr id="21" name="">
            <a:extLst xmlns:a="http://schemas.openxmlformats.org/drawingml/2006/main">
              <a:ext uri="{FF2B5EF4-FFF2-40B4-BE49-F238E27FC236}">
                <a16:creationId xmlns:a16="http://schemas.microsoft.com/office/drawing/2014/main" id="{08129A02-1394-4F14-8730-04563F2A89FD}"/>
              </a:ext>
            </a:extLst>
          </p:cNvPr>
          <p:cNvSpPr>
            <a:spLocks xmlns:a="http://schemas.openxmlformats.org/drawingml/2006/main" noGrp="1"/>
          </p:cNvSpPr>
          <p:nvPr/>
        </p:nvSpPr>
        <p:spPr>
          <a:xfrm xmlns:a="http://schemas.openxmlformats.org/drawingml/2006/main">
            <a:off x="3905250" y="4391025"/>
            <a:ext cx="7543800" cy="752475"/>
          </a:xfrm>
          <a:prstGeom xmlns:a="http://schemas.openxmlformats.org/drawingml/2006/main" prst="rect">
            <a:avLst/>
          </a:prstGeom>
          <a:solidFill xmlns:a="http://schemas.openxmlformats.org/drawingml/2006/main">
            <a:srgbClr val="FFFFFF"/>
          </a:solidFill>
          <a:ln xmlns:a="http://schemas.openxmlformats.org/drawingml/2006/main" w="5715">
            <a:solidFill>
              <a:srgbClr val="152C42"/>
            </a:solidFill>
          </a:ln>
        </p:spPr>
      </p:sp>
      <p:sp>
        <p:nvSpPr>
          <p:cNvPr id="22" name="">
            <a:extLst xmlns:a="http://schemas.openxmlformats.org/drawingml/2006/main">
              <a:ext uri="{FF2B5EF4-FFF2-40B4-BE49-F238E27FC236}">
                <a16:creationId xmlns:a16="http://schemas.microsoft.com/office/drawing/2014/main" id="{79BED693-65F3-4009-AB12-D1396FEE7FA2}"/>
              </a:ext>
            </a:extLst>
          </p:cNvPr>
          <p:cNvSpPr>
            <a:spLocks xmlns:a="http://schemas.openxmlformats.org/drawingml/2006/main" noGrp="1"/>
          </p:cNvSpPr>
          <p:nvPr/>
        </p:nvSpPr>
        <p:spPr>
          <a:xfrm xmlns:a="http://schemas.openxmlformats.org/drawingml/2006/main">
            <a:off x="4000500" y="4467225"/>
            <a:ext cx="7353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Harvard: Hungarian Method for Assignment Problem</a:t>
            </a:r>
          </a:p>
        </p:txBody>
      </p:sp>
      <p:sp>
        <p:nvSpPr>
          <p:cNvPr id="23" name="">
            <a:extLst xmlns:a="http://schemas.openxmlformats.org/drawingml/2006/main">
              <a:ext uri="{FF2B5EF4-FFF2-40B4-BE49-F238E27FC236}">
                <a16:creationId xmlns:a16="http://schemas.microsoft.com/office/drawing/2014/main" id="{D49909B9-5CCD-40D0-8854-9E166EDDE48B}"/>
              </a:ext>
            </a:extLst>
          </p:cNvPr>
          <p:cNvSpPr>
            <a:spLocks xmlns:a="http://schemas.openxmlformats.org/drawingml/2006/main" noGrp="1"/>
          </p:cNvSpPr>
          <p:nvPr/>
        </p:nvSpPr>
        <p:spPr>
          <a:xfrm xmlns:a="http://schemas.openxmlformats.org/drawingml/2006/main">
            <a:off x="742950" y="5143500"/>
            <a:ext cx="3162300" cy="7524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4" name="">
            <a:extLst xmlns:a="http://schemas.openxmlformats.org/drawingml/2006/main">
              <a:ext uri="{FF2B5EF4-FFF2-40B4-BE49-F238E27FC236}">
                <a16:creationId xmlns:a16="http://schemas.microsoft.com/office/drawing/2014/main" id="{2CFF0537-A2E3-499A-90B7-60D2FE774FAE}"/>
              </a:ext>
            </a:extLst>
          </p:cNvPr>
          <p:cNvSpPr>
            <a:spLocks xmlns:a="http://schemas.openxmlformats.org/drawingml/2006/main" noGrp="1"/>
          </p:cNvSpPr>
          <p:nvPr/>
        </p:nvSpPr>
        <p:spPr>
          <a:xfrm xmlns:a="http://schemas.openxmlformats.org/drawingml/2006/main">
            <a:off x="838200" y="5219700"/>
            <a:ext cx="2971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Гілки і межі</a:t>
            </a:r>
          </a:p>
        </p:txBody>
      </p:sp>
      <p:sp>
        <p:nvSpPr>
          <p:cNvPr id="25" name="">
            <a:extLst xmlns:a="http://schemas.openxmlformats.org/drawingml/2006/main">
              <a:ext uri="{FF2B5EF4-FFF2-40B4-BE49-F238E27FC236}">
                <a16:creationId xmlns:a16="http://schemas.microsoft.com/office/drawing/2014/main" id="{29A0A6F5-8E66-489B-A1BD-4756E0239B1E}"/>
              </a:ext>
            </a:extLst>
          </p:cNvPr>
          <p:cNvSpPr>
            <a:spLocks xmlns:a="http://schemas.openxmlformats.org/drawingml/2006/main" noGrp="1"/>
          </p:cNvSpPr>
          <p:nvPr/>
        </p:nvSpPr>
        <p:spPr>
          <a:xfrm xmlns:a="http://schemas.openxmlformats.org/drawingml/2006/main">
            <a:off x="3905250" y="5143500"/>
            <a:ext cx="7543800" cy="752475"/>
          </a:xfrm>
          <a:prstGeom xmlns:a="http://schemas.openxmlformats.org/drawingml/2006/main" prst="rect">
            <a:avLst/>
          </a:prstGeom>
          <a:solidFill xmlns:a="http://schemas.openxmlformats.org/drawingml/2006/main">
            <a:srgbClr val="F3F7F9"/>
          </a:solidFill>
          <a:ln xmlns:a="http://schemas.openxmlformats.org/drawingml/2006/main" w="5715">
            <a:solidFill>
              <a:srgbClr val="152C42"/>
            </a:solidFill>
          </a:ln>
        </p:spPr>
      </p:sp>
      <p:sp>
        <p:nvSpPr>
          <p:cNvPr id="26" name="">
            <a:extLst xmlns:a="http://schemas.openxmlformats.org/drawingml/2006/main">
              <a:ext uri="{FF2B5EF4-FFF2-40B4-BE49-F238E27FC236}">
                <a16:creationId xmlns:a16="http://schemas.microsoft.com/office/drawing/2014/main" id="{3D52AE74-590C-40D8-AB0E-42C1BA551EA0}"/>
              </a:ext>
            </a:extLst>
          </p:cNvPr>
          <p:cNvSpPr>
            <a:spLocks xmlns:a="http://schemas.openxmlformats.org/drawingml/2006/main" noGrp="1"/>
          </p:cNvSpPr>
          <p:nvPr/>
        </p:nvSpPr>
        <p:spPr>
          <a:xfrm xmlns:a="http://schemas.openxmlformats.org/drawingml/2006/main">
            <a:off x="4000500" y="5219700"/>
            <a:ext cx="7353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52C42"/>
                </a:solidFill>
                <a:latin typeface="DejaVu Sans"/>
                <a:ea typeface="DejaVu Sans"/>
                <a:cs typeface="DejaVu Sans"/>
              </a:defRPr>
            </a:pPr>
            <a:r>
              <a:rPr sz="1725" b="0">
                <a:solidFill>
                  <a:srgbClr val="152C42"/>
                </a:solidFill>
                <a:latin typeface="Arial"/>
                <a:ea typeface="Arial"/>
                <a:cs typeface="Arial"/>
              </a:rPr>
              <a:t>MIT: Applied Mathematical Programming, розділ 9</a:t>
            </a:r>
          </a:p>
        </p:txBody>
      </p:sp>
      <p:sp>
        <p:nvSpPr>
          <p:cNvPr id="27" name="">
            <a:extLst xmlns:a="http://schemas.openxmlformats.org/drawingml/2006/main">
              <a:ext uri="{FF2B5EF4-FFF2-40B4-BE49-F238E27FC236}">
                <a16:creationId xmlns:a16="http://schemas.microsoft.com/office/drawing/2014/main" id="{1C71B275-98E9-4606-B443-3EEBFE11B241}"/>
              </a:ext>
            </a:extLst>
          </p:cNvPr>
          <p:cNvSpPr>
            <a:spLocks xmlns:a="http://schemas.openxmlformats.org/drawingml/2006/main" noGrp="1"/>
          </p:cNvSpPr>
          <p:nvPr/>
        </p:nvSpPr>
        <p:spPr>
          <a:xfrm xmlns:a="http://schemas.openxmlformats.org/drawingml/2006/main">
            <a:off x="819150" y="6057900"/>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8786F"/>
                </a:solidFill>
                <a:latin typeface="DejaVu Sans"/>
                <a:ea typeface="DejaVu Sans"/>
                <a:cs typeface="DejaVu Sans"/>
              </a:defRPr>
            </a:pPr>
            <a:r>
              <a:rPr sz="1875" b="1">
                <a:solidFill>
                  <a:srgbClr val="08786F"/>
                </a:solidFill>
                <a:latin typeface="Arial"/>
                <a:ea typeface="Arial"/>
                <a:cs typeface="Arial"/>
              </a:rPr>
              <a:t>Повні адреси джерел містяться в нотатках до слайда.</a:t>
            </a:r>
          </a:p>
        </p:txBody>
      </p:sp>
      <p:sp>
        <p:nvSpPr>
          <p:cNvPr id="29" name="">
            <a:extLst xmlns:a="http://schemas.openxmlformats.org/drawingml/2006/main">
              <a:ext uri="{FF2B5EF4-FFF2-40B4-BE49-F238E27FC236}">
                <a16:creationId xmlns:a16="http://schemas.microsoft.com/office/drawing/2014/main" id="{8F682A7D-7B80-4610-BDFD-780FFDBB2E70}"/>
              </a:ext>
            </a:extLst>
          </p:cNvPr>
          <p:cNvSpPr>
            <a:spLocks xmlns:a="http://schemas.openxmlformats.org/drawingml/2006/main" noGrp="1"/>
          </p:cNvSpPr>
          <p:nvPr/>
        </p:nvSpPr>
        <p:spPr>
          <a:xfrm xmlns:a="http://schemas.openxmlformats.org/drawingml/2006/main">
            <a:off x="11144250" y="642937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350" b="0">
                <a:solidFill>
                  <a:srgbClr val="566779"/>
                </a:solidFill>
                <a:latin typeface="Arial"/>
                <a:ea typeface="Arial"/>
                <a:cs typeface="Arial"/>
              </a:defRPr>
            </a:pPr>
            <a:r>
              <a:rPr sz="1350" b="0">
                <a:solidFill>
                  <a:srgbClr val="566779"/>
                </a:solidFill>
                <a:latin typeface="Arial"/>
                <a:ea typeface="Arial"/>
                <a:cs typeface="Arial"/>
              </a:rPr>
              <a:t>150</a:t>
            </a:r>
          </a:p>
        </p:txBody>
      </p:sp>
    </p:spTree>
    <p:extLst>
      <p:ext uri="{BB962C8B-B14F-4D97-AF65-F5344CB8AC3E}">
        <p14:creationId xmlns:p14="http://schemas.microsoft.com/office/powerpoint/2010/main" val="578487421"/>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3580FD-B7B1-4BB5-901B-FDF94B96112E}"/>
              </a:ext>
            </a:extLst>
          </p:cNvPr>
          <p:cNvSpPr>
            <a:spLocks xmlns:a="http://schemas.openxmlformats.org/drawingml/2006/main" noGrp="1"/>
          </p:cNvSpPr>
          <p:nvPr/>
        </p:nvSpPr>
        <p:spPr>
          <a:xfrm xmlns:a="http://schemas.openxmlformats.org/drawingml/2006/main">
            <a:off x="685800" y="3619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173047"/>
                </a:solidFill>
                <a:latin typeface="Arial"/>
                <a:ea typeface="Arial"/>
                <a:cs typeface="Arial"/>
              </a:defRPr>
            </a:defPPr>
          </a:lstStyle>
          <a:p xmlns:a="http://schemas.openxmlformats.org/drawingml/2006/main">
            <a:pPr algn="l">
              <a:defRPr sz="3000" b="1">
                <a:solidFill>
                  <a:srgbClr val="173047"/>
                </a:solidFill>
                <a:latin typeface="Arial"/>
                <a:ea typeface="Arial"/>
                <a:cs typeface="Arial"/>
              </a:defRPr>
            </a:pPr>
            <a:r>
              <a:rPr sz="3000" b="1">
                <a:solidFill>
                  <a:srgbClr val="173047"/>
                </a:solidFill>
                <a:latin typeface="Arial"/>
                <a:ea typeface="Arial"/>
                <a:cs typeface="Arial"/>
              </a:rPr>
              <a:t>Джерела дискретного програмування</a:t>
            </a:r>
          </a:p>
        </p:txBody>
      </p:sp>
      <p:sp>
        <p:nvSpPr>
          <p:cNvPr id="2" name="">
            <a:extLst xmlns:a="http://schemas.openxmlformats.org/drawingml/2006/main">
              <a:ext uri="{FF2B5EF4-FFF2-40B4-BE49-F238E27FC236}">
                <a16:creationId xmlns:a16="http://schemas.microsoft.com/office/drawing/2014/main" id="{6D034FE7-4CBC-4A29-8258-D3F1983B6838}"/>
              </a:ext>
            </a:extLst>
          </p:cNvPr>
          <p:cNvSpPr>
            <a:spLocks xmlns:a="http://schemas.openxmlformats.org/drawingml/2006/main" noGrp="1"/>
          </p:cNvSpPr>
          <p:nvPr/>
        </p:nvSpPr>
        <p:spPr>
          <a:xfrm xmlns:a="http://schemas.openxmlformats.org/drawingml/2006/main">
            <a:off x="762000" y="5905500"/>
            <a:ext cx="10744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0857D"/>
                </a:solidFill>
                <a:latin typeface="Arial"/>
                <a:ea typeface="Arial"/>
                <a:cs typeface="Arial"/>
              </a:defRPr>
            </a:defPPr>
          </a:lstStyle>
          <a:p xmlns:a="http://schemas.openxmlformats.org/drawingml/2006/main">
            <a:pPr algn="l">
              <a:defRPr sz="2100" b="1">
                <a:solidFill>
                  <a:srgbClr val="00857D"/>
                </a:solidFill>
                <a:latin typeface="Arial"/>
                <a:ea typeface="Arial"/>
                <a:cs typeface="Arial"/>
              </a:defRPr>
            </a:pPr>
            <a:r>
              <a:rPr sz="2100" b="1">
                <a:solidFill>
                  <a:srgbClr val="00857D"/>
                </a:solidFill>
                <a:latin typeface="Arial"/>
                <a:ea typeface="Arial"/>
                <a:cs typeface="Arial"/>
              </a:rPr>
              <a:t>Повні адреси джерел містяться в нотатках.</a:t>
            </a:r>
          </a:p>
        </p:txBody>
      </p:sp>
      <p:graphicFrame>
        <p:nvGraphicFramePr>
          <p:cNvPr id="3" name="">
            <a:extLst xmlns:a="http://schemas.openxmlformats.org/drawingml/2006/main">
              <a:ext uri="{FF2B5EF4-FFF2-40B4-BE49-F238E27FC236}">
                <a16:creationId xmlns:a16="http://schemas.microsoft.com/office/drawing/2014/main" id="{469F9C27-8C4E-4085-8C66-98280C67A7E2}"/>
              </a:ext>
            </a:extLst>
          </p:cNvPr>
          <p:cNvGraphicFramePr/>
          <p:nvPr/>
        </p:nvGraphicFramePr>
        <p:xfrm>
          <a:off xmlns:a="http://schemas.openxmlformats.org/drawingml/2006/main" x="762000" y="1571625"/>
          <a:ext xmlns:a="http://schemas.openxmlformats.org/drawingml/2006/main" cx="10668000" cy="3638550"/>
        </p:xfrm>
        <a:graphic xmlns:a="http://schemas.openxmlformats.org/drawingml/2006/main">
          <a:graphicData uri="http://schemas.openxmlformats.org/drawingml/2006/table">
            <a:tbl>
              <a:tblPr/>
              <a:tblGrid>
                <a:gridCol w="5572125"/>
                <a:gridCol w="5095875"/>
              </a:tblGrid>
              <a:tr h="727710">
                <a:tc>
                  <a:txBody>
                    <a:bodyPr/>
                    <a:lstStyle/>
                    <a:p>
                      <a:r>
                        <a:rPr sz="2325" b="1">
                          <a:solidFill>
                            <a:srgbClr val="FFFFFF"/>
                          </a:solidFill>
                          <a:latin typeface="Arial"/>
                          <a:ea typeface="Arial"/>
                          <a:cs typeface="Arial"/>
                        </a:rPr>
                        <a:t>Матеріал</a:t>
                      </a:r>
                    </a:p>
                  </a:txBody>
                  <a:tcPr marL="114300" marR="114300" marT="66675" marB="66675" anchor="ctr">
                    <a:solidFill>
                      <a:srgbClr val="173047"/>
                    </a:solidFill>
                  </a:tcPr>
                </a:tc>
                <a:tc>
                  <a:txBody>
                    <a:bodyPr/>
                    <a:lstStyle/>
                    <a:p>
                      <a:r>
                        <a:rPr sz="2325" b="1">
                          <a:solidFill>
                            <a:srgbClr val="FFFFFF"/>
                          </a:solidFill>
                          <a:latin typeface="Arial"/>
                          <a:ea typeface="Arial"/>
                          <a:cs typeface="Arial"/>
                        </a:rPr>
                        <a:t>Джерело</a:t>
                      </a:r>
                    </a:p>
                  </a:txBody>
                  <a:tcPr marL="114300" marR="114300" marT="66675" marB="66675" anchor="ctr">
                    <a:solidFill>
                      <a:srgbClr val="173047"/>
                    </a:solidFill>
                  </a:tcPr>
                </a:tc>
              </a:tr>
              <a:tr h="727710">
                <a:tc>
                  <a:txBody>
                    <a:bodyPr/>
                    <a:lstStyle/>
                    <a:p>
                      <a:r>
                        <a:rPr sz="2325">
                          <a:solidFill>
                            <a:srgbClr val="173047"/>
                          </a:solidFill>
                          <a:latin typeface="Arial"/>
                          <a:ea typeface="Arial"/>
                          <a:cs typeface="Arial"/>
                        </a:rPr>
                        <a:t>Гілки та межі</a:t>
                      </a:r>
                    </a:p>
                  </a:txBody>
                  <a:tcPr marL="114300" marR="114300" marT="66675" marB="66675" anchor="ctr">
                    <a:solidFill>
                      <a:srgbClr val="FFFFFF"/>
                    </a:solidFill>
                  </a:tcPr>
                </a:tc>
                <a:tc>
                  <a:txBody>
                    <a:bodyPr/>
                    <a:lstStyle/>
                    <a:p>
                      <a:r>
                        <a:rPr sz="2325">
                          <a:solidFill>
                            <a:srgbClr val="173047"/>
                          </a:solidFill>
                          <a:latin typeface="Arial"/>
                          <a:ea typeface="Arial"/>
                          <a:cs typeface="Arial"/>
                        </a:rPr>
                        <a:t>MIT 15.053, Lecture 12</a:t>
                      </a:r>
                    </a:p>
                  </a:txBody>
                  <a:tcPr marL="114300" marR="114300" marT="66675" marB="66675" anchor="ctr">
                    <a:solidFill>
                      <a:srgbClr val="FFFFFF"/>
                    </a:solidFill>
                  </a:tcPr>
                </a:tc>
              </a:tr>
              <a:tr h="727710">
                <a:tc>
                  <a:txBody>
                    <a:bodyPr/>
                    <a:lstStyle/>
                    <a:p>
                      <a:r>
                        <a:rPr sz="2325">
                          <a:solidFill>
                            <a:srgbClr val="173047"/>
                          </a:solidFill>
                          <a:latin typeface="Arial"/>
                          <a:ea typeface="Arial"/>
                          <a:cs typeface="Arial"/>
                        </a:rPr>
                        <a:t>Коректні нерівності, відсічення</a:t>
                      </a:r>
                    </a:p>
                  </a:txBody>
                  <a:tcPr marL="114300" marR="114300" marT="66675" marB="66675" anchor="ctr">
                    <a:solidFill>
                      <a:srgbClr val="FFFFFF"/>
                    </a:solidFill>
                  </a:tcPr>
                </a:tc>
                <a:tc>
                  <a:txBody>
                    <a:bodyPr/>
                    <a:lstStyle/>
                    <a:p>
                      <a:r>
                        <a:rPr sz="2325">
                          <a:solidFill>
                            <a:srgbClr val="173047"/>
                          </a:solidFill>
                          <a:latin typeface="Arial"/>
                          <a:ea typeface="Arial"/>
                          <a:cs typeface="Arial"/>
                        </a:rPr>
                        <a:t>MIT 15.053, Lecture 13</a:t>
                      </a:r>
                    </a:p>
                  </a:txBody>
                  <a:tcPr marL="114300" marR="114300" marT="66675" marB="66675" anchor="ctr">
                    <a:solidFill>
                      <a:srgbClr val="FFFFFF"/>
                    </a:solidFill>
                  </a:tcPr>
                </a:tc>
              </a:tr>
              <a:tr h="727710">
                <a:tc>
                  <a:txBody>
                    <a:bodyPr/>
                    <a:lstStyle/>
                    <a:p>
                      <a:r>
                        <a:rPr sz="2325">
                          <a:solidFill>
                            <a:srgbClr val="173047"/>
                          </a:solidFill>
                          <a:latin typeface="Arial"/>
                          <a:ea typeface="Arial"/>
                          <a:cs typeface="Arial"/>
                        </a:rPr>
                        <a:t>milp та поля результату</a:t>
                      </a:r>
                    </a:p>
                  </a:txBody>
                  <a:tcPr marL="114300" marR="114300" marT="66675" marB="66675" anchor="ctr">
                    <a:solidFill>
                      <a:srgbClr val="FFFFFF"/>
                    </a:solidFill>
                  </a:tcPr>
                </a:tc>
                <a:tc>
                  <a:txBody>
                    <a:bodyPr/>
                    <a:lstStyle/>
                    <a:p>
                      <a:r>
                        <a:rPr sz="2325">
                          <a:solidFill>
                            <a:srgbClr val="173047"/>
                          </a:solidFill>
                          <a:latin typeface="Arial"/>
                          <a:ea typeface="Arial"/>
                          <a:cs typeface="Arial"/>
                        </a:rPr>
                        <a:t>SciPy 1.17.0, документація</a:t>
                      </a:r>
                    </a:p>
                  </a:txBody>
                  <a:tcPr marL="114300" marR="114300" marT="66675" marB="66675" anchor="ctr">
                    <a:solidFill>
                      <a:srgbClr val="FFFFFF"/>
                    </a:solidFill>
                  </a:tcPr>
                </a:tc>
              </a:tr>
              <a:tr h="727710">
                <a:tc>
                  <a:txBody>
                    <a:bodyPr/>
                    <a:lstStyle/>
                    <a:p>
                      <a:r>
                        <a:rPr sz="2325">
                          <a:solidFill>
                            <a:srgbClr val="173047"/>
                          </a:solidFill>
                          <a:latin typeface="Arial"/>
                          <a:ea typeface="Arial"/>
                          <a:cs typeface="Arial"/>
                        </a:rPr>
                        <a:t>Bounds / LinearConstraint</a:t>
                      </a:r>
                    </a:p>
                  </a:txBody>
                  <a:tcPr marL="114300" marR="114300" marT="66675" marB="66675" anchor="ctr">
                    <a:solidFill>
                      <a:srgbClr val="FFFFFF"/>
                    </a:solidFill>
                  </a:tcPr>
                </a:tc>
                <a:tc>
                  <a:txBody>
                    <a:bodyPr/>
                    <a:lstStyle/>
                    <a:p>
                      <a:r>
                        <a:rPr sz="2325">
                          <a:solidFill>
                            <a:srgbClr val="173047"/>
                          </a:solidFill>
                          <a:latin typeface="Arial"/>
                          <a:ea typeface="Arial"/>
                          <a:cs typeface="Arial"/>
                        </a:rPr>
                        <a:t>SciPy 1.17.0, документація</a:t>
                      </a:r>
                    </a:p>
                  </a:txBody>
                  <a:tcPr marL="114300" marR="11430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8934C29-89D3-489D-9C0B-199DD9B5BF3E}"/>
              </a:ext>
            </a:extLst>
          </p:cNvPr>
          <p:cNvSpPr>
            <a:spLocks xmlns:a="http://schemas.openxmlformats.org/drawingml/2006/main" noGrp="1"/>
          </p:cNvSpPr>
          <p:nvPr/>
        </p:nvSpPr>
        <p:spPr>
          <a:xfrm xmlns:a="http://schemas.openxmlformats.org/drawingml/2006/main">
            <a:off x="762000" y="54006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66779"/>
                </a:solidFill>
                <a:latin typeface="Courier New"/>
                <a:ea typeface="Courier New"/>
                <a:cs typeface="Courier New"/>
              </a:defRPr>
            </a:defPPr>
          </a:lstStyle>
          <a:p xmlns:a="http://schemas.openxmlformats.org/drawingml/2006/main">
            <a:pPr algn="l">
              <a:defRPr sz="2025" b="0">
                <a:solidFill>
                  <a:srgbClr val="566779"/>
                </a:solidFill>
                <a:latin typeface="Courier New"/>
                <a:ea typeface="Courier New"/>
                <a:cs typeface="Courier New"/>
              </a:defRPr>
            </a:pPr>
            <a:r>
              <a:rPr sz="2025" b="0">
                <a:solidFill>
                  <a:srgbClr val="566779"/>
                </a:solidFill>
                <a:latin typeface="Courier New"/>
                <a:ea typeface="Courier New"/>
                <a:cs typeface="Courier New"/>
              </a:rPr>
              <a:t>Практикум: discrete_examples.py</a:t>
            </a:r>
          </a:p>
          <a:p xmlns:a="http://schemas.openxmlformats.org/drawingml/2006/main">
            <a:pPr algn="l">
              <a:defRPr sz="2025" b="0">
                <a:solidFill>
                  <a:srgbClr val="566779"/>
                </a:solidFill>
                <a:latin typeface="Courier New"/>
                <a:ea typeface="Courier New"/>
                <a:cs typeface="Courier New"/>
              </a:defRPr>
            </a:pPr>
            <a:r>
              <a:rPr sz="2025" b="0">
                <a:solidFill>
                  <a:srgbClr val="566779"/>
                </a:solidFill>
                <a:latin typeface="Courier New"/>
                <a:ea typeface="Courier New"/>
                <a:cs typeface="Courier New"/>
              </a:rPr>
              <a:t>Навчальні кроки: branch_bound_steps.py</a:t>
            </a:r>
          </a:p>
        </p:txBody>
      </p:sp>
      <p:sp>
        <p:nvSpPr>
          <p:cNvPr id="5" name="">
            <a:extLst xmlns:a="http://schemas.openxmlformats.org/drawingml/2006/main">
              <a:ext uri="{FF2B5EF4-FFF2-40B4-BE49-F238E27FC236}">
                <a16:creationId xmlns:a16="http://schemas.microsoft.com/office/drawing/2014/main" id="{B3FD9B2A-B95F-4420-9DA6-E4CEEC63FFE6}"/>
              </a:ext>
            </a:extLst>
          </p:cNvPr>
          <p:cNvSpPr>
            <a:spLocks xmlns:a="http://schemas.openxmlformats.org/drawingml/2006/main" noGrp="1"/>
          </p:cNvSpPr>
          <p:nvPr/>
        </p:nvSpPr>
        <p:spPr>
          <a:xfrm xmlns:a="http://schemas.openxmlformats.org/drawingml/2006/main">
            <a:off x="11144250" y="6429375"/>
            <a:ext cx="495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66779"/>
                </a:solidFill>
                <a:latin typeface="Arial"/>
                <a:ea typeface="Arial"/>
                <a:cs typeface="Arial"/>
              </a:defRPr>
            </a:defPPr>
          </a:lstStyle>
          <a:p xmlns:a="http://schemas.openxmlformats.org/drawingml/2006/main">
            <a:pPr algn="l">
              <a:defRPr sz="1350" b="0">
                <a:solidFill>
                  <a:srgbClr val="566779"/>
                </a:solidFill>
                <a:latin typeface="Arial"/>
                <a:ea typeface="Arial"/>
                <a:cs typeface="Arial"/>
              </a:defRPr>
            </a:pPr>
            <a:r>
              <a:rPr sz="1350" b="0">
                <a:solidFill>
                  <a:srgbClr val="566779"/>
                </a:solidFill>
                <a:latin typeface="Arial"/>
                <a:ea typeface="Arial"/>
                <a:cs typeface="Arial"/>
              </a:rPr>
              <a:t>151</a:t>
            </a:r>
          </a:p>
        </p:txBody>
      </p:sp>
    </p:spTree>
    <p:extLst>
      <p:ext uri="{BB962C8B-B14F-4D97-AF65-F5344CB8AC3E}">
        <p14:creationId xmlns:p14="http://schemas.microsoft.com/office/powerpoint/2010/main" val="1037549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2026-10-09T06:23:37.0830000Z</dcterms:created>
  <dcterms:modified xsi:type="dcterms:W3CDTF">2026-10-09T06:23:37.0830000Z</dcterms:modified>
</coreProperties>
</file>