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0a5603b6f6432a" /><Relationship Type="http://schemas.openxmlformats.org/officeDocument/2006/relationships/extended-properties" Target="/docProps/app.xml" Id="Reea841e4f2664d0a" /><Relationship Type="http://schemas.openxmlformats.org/officeDocument/2006/relationships/officeDocument" Target="/ppt/presentation.xml" Id="R0fee789abee4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02604cc52f4f10"/>
  </p:sldMasterIdLst>
  <p:notesMasterIdLst>
    <p:notesMasterId xmlns:r="http://schemas.openxmlformats.org/officeDocument/2006/relationships" r:id="R909c3d47a7ef440f"/>
  </p:notesMasterIdLst>
  <p:sldIdLst>
    <p:sldId xmlns:r="http://schemas.openxmlformats.org/officeDocument/2006/relationships" id="256" r:id="Rc14a789e21fd474b"/>
    <p:sldId xmlns:r="http://schemas.openxmlformats.org/officeDocument/2006/relationships" id="257" r:id="Rc8ee414edf8e44f4"/>
    <p:sldId xmlns:r="http://schemas.openxmlformats.org/officeDocument/2006/relationships" id="258" r:id="R4e4aac7b4d6e45f8"/>
    <p:sldId xmlns:r="http://schemas.openxmlformats.org/officeDocument/2006/relationships" id="259" r:id="R12b2065a5b714afc"/>
    <p:sldId xmlns:r="http://schemas.openxmlformats.org/officeDocument/2006/relationships" id="260" r:id="R55e904a12731442e"/>
    <p:sldId xmlns:r="http://schemas.openxmlformats.org/officeDocument/2006/relationships" id="261" r:id="R8a49e67053ae4083"/>
    <p:sldId xmlns:r="http://schemas.openxmlformats.org/officeDocument/2006/relationships" id="262" r:id="R0bd25486fd3a42be"/>
    <p:sldId xmlns:r="http://schemas.openxmlformats.org/officeDocument/2006/relationships" id="263" r:id="R1d40272f93884c00"/>
    <p:sldId xmlns:r="http://schemas.openxmlformats.org/officeDocument/2006/relationships" id="264" r:id="Rd75ad95bb719448e"/>
    <p:sldId xmlns:r="http://schemas.openxmlformats.org/officeDocument/2006/relationships" id="265" r:id="R9a5224820619429d"/>
    <p:sldId xmlns:r="http://schemas.openxmlformats.org/officeDocument/2006/relationships" id="266" r:id="Rfe2f8895f1ae4d6b"/>
    <p:sldId xmlns:r="http://schemas.openxmlformats.org/officeDocument/2006/relationships" id="267" r:id="Rd0e201ac72ad471c"/>
    <p:sldId xmlns:r="http://schemas.openxmlformats.org/officeDocument/2006/relationships" id="268" r:id="Raae45b0a76a2438a"/>
    <p:sldId xmlns:r="http://schemas.openxmlformats.org/officeDocument/2006/relationships" id="269" r:id="Ra6f45b71e08747eb"/>
    <p:sldId xmlns:r="http://schemas.openxmlformats.org/officeDocument/2006/relationships" id="270" r:id="R34fb976c82ba4116"/>
    <p:sldId xmlns:r="http://schemas.openxmlformats.org/officeDocument/2006/relationships" id="271" r:id="R2dfd85ed71574ec7"/>
    <p:sldId xmlns:r="http://schemas.openxmlformats.org/officeDocument/2006/relationships" id="272" r:id="R88e048d5062a46e4"/>
    <p:sldId xmlns:r="http://schemas.openxmlformats.org/officeDocument/2006/relationships" id="273" r:id="Re6fde5f85f954c21"/>
    <p:sldId xmlns:r="http://schemas.openxmlformats.org/officeDocument/2006/relationships" id="274" r:id="R6f41176a609f44c3"/>
    <p:sldId xmlns:r="http://schemas.openxmlformats.org/officeDocument/2006/relationships" id="275" r:id="R23a0f184bed645bb"/>
    <p:sldId xmlns:r="http://schemas.openxmlformats.org/officeDocument/2006/relationships" id="276" r:id="R004a053262a9469a"/>
    <p:sldId xmlns:r="http://schemas.openxmlformats.org/officeDocument/2006/relationships" id="277" r:id="Raf8f2ab7b767435b"/>
    <p:sldId xmlns:r="http://schemas.openxmlformats.org/officeDocument/2006/relationships" id="278" r:id="R5cece1078d274c04"/>
    <p:sldId xmlns:r="http://schemas.openxmlformats.org/officeDocument/2006/relationships" id="279" r:id="R814f73e273e0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9dd05c5d144e1f" /><Relationship Type="http://schemas.openxmlformats.org/officeDocument/2006/relationships/slideMaster" Target="/ppt/slideMasters/slideMaster1.xml" Id="Re802604cc52f4f10" /><Relationship Type="http://schemas.openxmlformats.org/officeDocument/2006/relationships/notesMaster" Target="/ppt/notesMasters/notesMaster1.xml" Id="R909c3d47a7ef440f" /><Relationship Type="http://schemas.openxmlformats.org/officeDocument/2006/relationships/presProps" Target="/ppt/presProps.xml" Id="Rd2a4e477198947d2" /><Relationship Type="http://schemas.openxmlformats.org/officeDocument/2006/relationships/tableStyles" Target="/ppt/tableStyles.xml" Id="R367f3b4d5fc0465d" /><Relationship Type="http://schemas.openxmlformats.org/officeDocument/2006/relationships/slide" Target="/ppt/slides/slide1.xml" Id="Rc14a789e21fd474b" /><Relationship Type="http://schemas.openxmlformats.org/officeDocument/2006/relationships/slide" Target="/ppt/slides/slide2.xml" Id="Rc8ee414edf8e44f4" /><Relationship Type="http://schemas.openxmlformats.org/officeDocument/2006/relationships/slide" Target="/ppt/slides/slide3.xml" Id="R4e4aac7b4d6e45f8" /><Relationship Type="http://schemas.openxmlformats.org/officeDocument/2006/relationships/slide" Target="/ppt/slides/slide4.xml" Id="R12b2065a5b714afc" /><Relationship Type="http://schemas.openxmlformats.org/officeDocument/2006/relationships/slide" Target="/ppt/slides/slide5.xml" Id="R55e904a12731442e" /><Relationship Type="http://schemas.openxmlformats.org/officeDocument/2006/relationships/slide" Target="/ppt/slides/slide6.xml" Id="R8a49e67053ae4083" /><Relationship Type="http://schemas.openxmlformats.org/officeDocument/2006/relationships/slide" Target="/ppt/slides/slide7.xml" Id="R0bd25486fd3a42be" /><Relationship Type="http://schemas.openxmlformats.org/officeDocument/2006/relationships/slide" Target="/ppt/slides/slide8.xml" Id="R1d40272f93884c00" /><Relationship Type="http://schemas.openxmlformats.org/officeDocument/2006/relationships/slide" Target="/ppt/slides/slide9.xml" Id="Rd75ad95bb719448e" /><Relationship Type="http://schemas.openxmlformats.org/officeDocument/2006/relationships/slide" Target="/ppt/slides/slide10.xml" Id="R9a5224820619429d" /><Relationship Type="http://schemas.openxmlformats.org/officeDocument/2006/relationships/slide" Target="/ppt/slides/slide11.xml" Id="Rfe2f8895f1ae4d6b" /><Relationship Type="http://schemas.openxmlformats.org/officeDocument/2006/relationships/slide" Target="/ppt/slides/slide12.xml" Id="Rd0e201ac72ad471c" /><Relationship Type="http://schemas.openxmlformats.org/officeDocument/2006/relationships/slide" Target="/ppt/slides/slide13.xml" Id="Raae45b0a76a2438a" /><Relationship Type="http://schemas.openxmlformats.org/officeDocument/2006/relationships/slide" Target="/ppt/slides/slide14.xml" Id="Ra6f45b71e08747eb" /><Relationship Type="http://schemas.openxmlformats.org/officeDocument/2006/relationships/slide" Target="/ppt/slides/slide15.xml" Id="R34fb976c82ba4116" /><Relationship Type="http://schemas.openxmlformats.org/officeDocument/2006/relationships/slide" Target="/ppt/slides/slide16.xml" Id="R2dfd85ed71574ec7" /><Relationship Type="http://schemas.openxmlformats.org/officeDocument/2006/relationships/slide" Target="/ppt/slides/slide17.xml" Id="R88e048d5062a46e4" /><Relationship Type="http://schemas.openxmlformats.org/officeDocument/2006/relationships/slide" Target="/ppt/slides/slide18.xml" Id="Re6fde5f85f954c21" /><Relationship Type="http://schemas.openxmlformats.org/officeDocument/2006/relationships/slide" Target="/ppt/slides/slide19.xml" Id="R6f41176a609f44c3" /><Relationship Type="http://schemas.openxmlformats.org/officeDocument/2006/relationships/slide" Target="/ppt/slides/slide20.xml" Id="R23a0f184bed645bb" /><Relationship Type="http://schemas.openxmlformats.org/officeDocument/2006/relationships/slide" Target="/ppt/slides/slide21.xml" Id="R004a053262a9469a" /><Relationship Type="http://schemas.openxmlformats.org/officeDocument/2006/relationships/slide" Target="/ppt/slides/slide22.xml" Id="Raf8f2ab7b767435b" /><Relationship Type="http://schemas.openxmlformats.org/officeDocument/2006/relationships/slide" Target="/ppt/slides/slide23.xml" Id="R5cece1078d274c04" /><Relationship Type="http://schemas.openxmlformats.org/officeDocument/2006/relationships/slide" Target="/ppt/slides/slide24.xml" Id="R814f73e273e0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f2f1b5c54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08fcdb3ec4599" /><Relationship Type="http://schemas.openxmlformats.org/officeDocument/2006/relationships/notesMaster" Target="/ppt/notesMasters/notesMaster1.xml" Id="R919e8dbbe68a42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e32cf7a3c44c9a" /><Relationship Type="http://schemas.openxmlformats.org/officeDocument/2006/relationships/notesMaster" Target="/ppt/notesMasters/notesMaster1.xml" Id="R588fd33fcf31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785a8a2c34c14" /><Relationship Type="http://schemas.openxmlformats.org/officeDocument/2006/relationships/notesMaster" Target="/ppt/notesMasters/notesMaster1.xml" Id="R4d39a7bdea9e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c5f4356fa4874" /><Relationship Type="http://schemas.openxmlformats.org/officeDocument/2006/relationships/notesMaster" Target="/ppt/notesMasters/notesMaster1.xml" Id="Rbec236368d8c41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a5c3aa4fe40df" /><Relationship Type="http://schemas.openxmlformats.org/officeDocument/2006/relationships/notesMaster" Target="/ppt/notesMasters/notesMaster1.xml" Id="Re3b20e827e284d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8b3192ef24de6" /><Relationship Type="http://schemas.openxmlformats.org/officeDocument/2006/relationships/notesMaster" Target="/ppt/notesMasters/notesMaster1.xml" Id="R1e9ee8f15426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319691d514bfe" /><Relationship Type="http://schemas.openxmlformats.org/officeDocument/2006/relationships/notesMaster" Target="/ppt/notesMasters/notesMaster1.xml" Id="R935f44ce6f8549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b0f2411cda4a1f" /><Relationship Type="http://schemas.openxmlformats.org/officeDocument/2006/relationships/notesMaster" Target="/ppt/notesMasters/notesMaster1.xml" Id="R5f4c423a9df34e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db78b9c3ca4b45" /><Relationship Type="http://schemas.openxmlformats.org/officeDocument/2006/relationships/notesMaster" Target="/ppt/notesMasters/notesMaster1.xml" Id="R7187afd6c460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23d016770145e4" /><Relationship Type="http://schemas.openxmlformats.org/officeDocument/2006/relationships/notesMaster" Target="/ppt/notesMasters/notesMaster1.xml" Id="R9b757d63c88d49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b99e85cd5e4b12" /><Relationship Type="http://schemas.openxmlformats.org/officeDocument/2006/relationships/notesMaster" Target="/ppt/notesMasters/notesMaster1.xml" Id="R8f11e3448049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c9372a2c8949cf" /><Relationship Type="http://schemas.openxmlformats.org/officeDocument/2006/relationships/notesMaster" Target="/ppt/notesMasters/notesMaster1.xml" Id="Re219217b77584b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4915a944234601" /><Relationship Type="http://schemas.openxmlformats.org/officeDocument/2006/relationships/notesMaster" Target="/ppt/notesMasters/notesMaster1.xml" Id="Rfba6ea3cf2764b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1a4d35f2c2445e" /><Relationship Type="http://schemas.openxmlformats.org/officeDocument/2006/relationships/notesMaster" Target="/ppt/notesMasters/notesMaster1.xml" Id="Rb06bd774246b4a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8bcd9d8ecb4c11" /><Relationship Type="http://schemas.openxmlformats.org/officeDocument/2006/relationships/notesMaster" Target="/ppt/notesMasters/notesMaster1.xml" Id="R7a1622e0b7084a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464b8bb6104911" /><Relationship Type="http://schemas.openxmlformats.org/officeDocument/2006/relationships/notesMaster" Target="/ppt/notesMasters/notesMaster1.xml" Id="R54985d08a86e40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7d094f115241ac" /><Relationship Type="http://schemas.openxmlformats.org/officeDocument/2006/relationships/notesMaster" Target="/ppt/notesMasters/notesMaster1.xml" Id="Re96f5c464fc141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a711ea9b1b4d16" /><Relationship Type="http://schemas.openxmlformats.org/officeDocument/2006/relationships/notesMaster" Target="/ppt/notesMasters/notesMaster1.xml" Id="R70496c29b59d47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4abcede7e24474" /><Relationship Type="http://schemas.openxmlformats.org/officeDocument/2006/relationships/notesMaster" Target="/ppt/notesMasters/notesMaster1.xml" Id="R9ccf828dae3747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1da648d0014ef5" /><Relationship Type="http://schemas.openxmlformats.org/officeDocument/2006/relationships/notesMaster" Target="/ppt/notesMasters/notesMaster1.xml" Id="R702bde76a41144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bbe6c9984c4e7e" /><Relationship Type="http://schemas.openxmlformats.org/officeDocument/2006/relationships/notesMaster" Target="/ppt/notesMasters/notesMaster1.xml" Id="Rde99df237c8443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a639df575342a7" /><Relationship Type="http://schemas.openxmlformats.org/officeDocument/2006/relationships/notesMaster" Target="/ppt/notesMasters/notesMaster1.xml" Id="Rdfa1d3ef6fad43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35204eb03a40ed" /><Relationship Type="http://schemas.openxmlformats.org/officeDocument/2006/relationships/notesMaster" Target="/ppt/notesMasters/notesMaster1.xml" Id="Rf4a7d8b2214a40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84b842efea44b1" /><Relationship Type="http://schemas.openxmlformats.org/officeDocument/2006/relationships/notesMaster" Target="/ppt/notesMasters/notesMaster1.xml" Id="R9f78f284cafd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завершальна лекція, а не новий метод оптимізації. Її завдання з’єднати результати курсу з якістю студентського мініпроєкту.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Можна мати відтворювано неправильний код або точний солвер для непридатної моделі. Попросіть навести приклад кожної ситуації.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Розгорніть умовне речення повністю усно. Нехай студент покаже, де перевірені допустимість і мінімальність, а де лише прийняті припущення.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Повторне виконання тієї самої функції з тим самим seed лише перевіряє повторюваність. Це не незалежний контроль математичного результату.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Розгляньте λ за секунду та μ за хвилину: код може виконатися, але порівнює несумісні числа. Перевіряйте одиниці до обчислення 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Остання властивість масштабування зберігає a і ρ, але змінює одиниці інтенсивності, тому час зменшується. Це змістовна метаморфна перевірка.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Функція така сама, як у попередніх лекціях. На наступному слайді використовуємо зовнішні властивості й окрему формулу M/M/1.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λ=8 і μ=10 M/M/1 має Wq=0,4 секунди. Ця перевірка зіставляє дві математичні моделі, а не просто два виклики однакової функції.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Вони не охоплюють усі можливі дефекти й не підтверджують емпіричні припущення. Назвіть, які саме класи помилок вони можуть виявити.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студентського проєкту без стенду допустима перевірка внутрішньої узгодженості й відкритих або синтетичних даних. Межу емпіричної валідації слід чесно вказати.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методологічний принцип. У комплекті немає журналів реального сервісу, тому не називаємо навчальні приклади емпірично валідованими.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синтетичний сценарний графік. Він не містить вимірювань або прогнозних довірчих інтервалів. Сценарії потрібно задавати предметно.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Інтервал за seed при фіксованих λ та μ не враховує невідомі параметри або неправильний клас моделі.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незалежних середніх довгих прогонів використовуємо наближений t-інтервал. Не називайте вузький інтервал доказом адекватності моделі.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виправити власний висновок у проєкті. Заміна одного слова може суттєво змінити зміст інженерної рекомендації.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Клітинка, що працює лише після довільного порядку запуску, приховує залежність. Перевірка іншою людиною в чистому середовищі є корисним фінальним контролем.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орієнтовна структура індивідуальної доповіді на іспиті. Точний регламент задає викладач. Не вводимо нові бали чи тривалість захисту.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студента показати шлях від конкретного числа на графіку до клітинки Notebook. Не оцінюйте тільки візуальну красу презентації.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Приклад: на графіку Wq(λ) c=3 переходить поріг, c=4 його не переходить у заданих сценаріях. Точні значення підтверджує таблиця.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Зауваження «все добре» мало допомагає. Краще: «за λ=26 конфігурація c=3 порушує заявлену межу» з розрахунком.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Підсумуйте логіку курсу: реальна проблема, модель, метод, експеримент, перевірка і аргументована рекомендація. Не додавайте вимогу нового письмового звіту.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Верифікація перевіряє правильність реалізації моделі, валідація її придатність. ДІ за seed не враховує невідомі параметри та структуру. Потрібні постановка, допустимість, порівняння альтернатив і незалежна перевірка.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c55284ed042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e946cf5da42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2cb7d1d8547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2580e69574b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b95b2983948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abf08555c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7A0778-6DC6-46B2-AB79-D963018F3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7DBC9F-8863-41BB-944C-0DD7F1CA7A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8665A1-53A8-4806-A773-D0E95BD052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C9648E-E7E6-45B5-8325-F93C50E51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F2D814-F5FF-488A-9D86-BB2CB0BAC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7F7398-87AE-48BA-B798-AC0669A42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9B6FB3-72DD-4116-83EF-D0B7C1988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A05E0-4F7F-4585-8B40-DC2B2E0078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676785-67B3-4232-A396-A76257C62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D69A4E-DC4C-41DD-8258-C00D754C1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a66563dc24622" /><Relationship Type="http://schemas.openxmlformats.org/officeDocument/2006/relationships/slideLayout" Target="/ppt/slideLayouts/slideLayout1.xml" Id="Rb4c1b97e76f4410f" /><Relationship Type="http://schemas.openxmlformats.org/officeDocument/2006/relationships/slideLayout" Target="/ppt/slideLayouts/slideLayout2.xml" Id="R16514688859741c6" /><Relationship Type="http://schemas.openxmlformats.org/officeDocument/2006/relationships/slideLayout" Target="/ppt/slideLayouts/slideLayout3.xml" Id="R2772222b5d0a4159" /><Relationship Type="http://schemas.openxmlformats.org/officeDocument/2006/relationships/slideLayout" Target="/ppt/slideLayouts/slideLayout4.xml" Id="Rbf00ece112984f4b" /><Relationship Type="http://schemas.openxmlformats.org/officeDocument/2006/relationships/slideLayout" Target="/ppt/slideLayouts/slideLayout5.xml" Id="R241290a5a2a845df" /><Relationship Type="http://schemas.openxmlformats.org/officeDocument/2006/relationships/slideLayout" Target="/ppt/slideLayouts/slideLayout6.xml" Id="R7f635f57a39c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c1b97e76f4410f"/>
    <p:sldLayoutId xmlns:r="http://schemas.openxmlformats.org/officeDocument/2006/relationships" id="2147483650" r:id="R16514688859741c6"/>
    <p:sldLayoutId xmlns:r="http://schemas.openxmlformats.org/officeDocument/2006/relationships" id="2147483651" r:id="R2772222b5d0a4159"/>
    <p:sldLayoutId xmlns:r="http://schemas.openxmlformats.org/officeDocument/2006/relationships" id="2147483652" r:id="Rbf00ece112984f4b"/>
    <p:sldLayoutId xmlns:r="http://schemas.openxmlformats.org/officeDocument/2006/relationships" id="2147483653" r:id="R241290a5a2a845df"/>
    <p:sldLayoutId xmlns:r="http://schemas.openxmlformats.org/officeDocument/2006/relationships" id="2147483654" r:id="R7f635f57a39c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69e48998b488f" /><Relationship Type="http://schemas.openxmlformats.org/officeDocument/2006/relationships/notesSlide" Target="/ppt/notesSlides/notesSlide1.xml" Id="Re1064f1766d3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2b40ca8d745a0" /><Relationship Type="http://schemas.openxmlformats.org/officeDocument/2006/relationships/notesSlide" Target="/ppt/notesSlides/notesSlide2.xml" Id="R8025b8b22bd240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e3cdf0d4247a2" /><Relationship Type="http://schemas.openxmlformats.org/officeDocument/2006/relationships/notesSlide" Target="/ppt/notesSlides/notesSlide3.xml" Id="Rc2bb6f99097247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5312c9a2c49be" /><Relationship Type="http://schemas.openxmlformats.org/officeDocument/2006/relationships/notesSlide" Target="/ppt/notesSlides/notesSlide4.xml" Id="R60c3dae97f16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26589008e4568" /><Relationship Type="http://schemas.openxmlformats.org/officeDocument/2006/relationships/notesSlide" Target="/ppt/notesSlides/notesSlide5.xml" Id="Rdd1ac4264e7341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81faec60a480d" /><Relationship Type="http://schemas.openxmlformats.org/officeDocument/2006/relationships/notesSlide" Target="/ppt/notesSlides/notesSlide6.xml" Id="R5d9301d4b7cb4b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8e8ae0e544492" /><Relationship Type="http://schemas.openxmlformats.org/officeDocument/2006/relationships/notesSlide" Target="/ppt/notesSlides/notesSlide7.xml" Id="Rd223be343eb041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715fb964b4f93" /><Relationship Type="http://schemas.openxmlformats.org/officeDocument/2006/relationships/notesSlide" Target="/ppt/notesSlides/notesSlide8.xml" Id="R1df2696551364a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a792f2f5644cf" /><Relationship Type="http://schemas.openxmlformats.org/officeDocument/2006/relationships/notesSlide" Target="/ppt/notesSlides/notesSlide9.xml" Id="Rd5103a14493e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ed4525c69456e" /><Relationship Type="http://schemas.openxmlformats.org/officeDocument/2006/relationships/notesSlide" Target="/ppt/notesSlides/notesSlide10.xml" Id="Rbf474651494a48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20e2048ee49fd" /><Relationship Type="http://schemas.openxmlformats.org/officeDocument/2006/relationships/notesSlide" Target="/ppt/notesSlides/notesSlide11.xml" Id="R56be40ddc65d47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f4d3b20214ee1" /><Relationship Type="http://schemas.openxmlformats.org/officeDocument/2006/relationships/notesSlide" Target="/ppt/notesSlides/notesSlide12.xml" Id="Rf6298bfa17dc4a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98aaeef1b49b1" /><Relationship Type="http://schemas.openxmlformats.org/officeDocument/2006/relationships/chart" Target="/ppt/slides/charts/chart1.xml" Id="Rdc0de6a352364153" /><Relationship Type="http://schemas.openxmlformats.org/officeDocument/2006/relationships/notesSlide" Target="/ppt/notesSlides/notesSlide13.xml" Id="Rc0a00876a2dd45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79c00e1224d03" /><Relationship Type="http://schemas.openxmlformats.org/officeDocument/2006/relationships/notesSlide" Target="/ppt/notesSlides/notesSlide14.xml" Id="R0b7ec142887d43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4bb7d760348c1" /><Relationship Type="http://schemas.openxmlformats.org/officeDocument/2006/relationships/notesSlide" Target="/ppt/notesSlides/notesSlide15.xml" Id="R9e273060a9934d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2b0f488924194" /><Relationship Type="http://schemas.openxmlformats.org/officeDocument/2006/relationships/notesSlide" Target="/ppt/notesSlides/notesSlide16.xml" Id="R8df97e578e1e48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52b4931bb43e1" /><Relationship Type="http://schemas.openxmlformats.org/officeDocument/2006/relationships/notesSlide" Target="/ppt/notesSlides/notesSlide17.xml" Id="R0c8e6fe6002142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2835f870c4960" /><Relationship Type="http://schemas.openxmlformats.org/officeDocument/2006/relationships/notesSlide" Target="/ppt/notesSlides/notesSlide18.xml" Id="R1a60b3ea1f8c4c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44061e9b64865" /><Relationship Type="http://schemas.openxmlformats.org/officeDocument/2006/relationships/notesSlide" Target="/ppt/notesSlides/notesSlide19.xml" Id="Reb5d7255144446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d81aa6a3f4eac" /><Relationship Type="http://schemas.openxmlformats.org/officeDocument/2006/relationships/notesSlide" Target="/ppt/notesSlides/notesSlide20.xml" Id="R1ad00b323b8742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320172f694198" /><Relationship Type="http://schemas.openxmlformats.org/officeDocument/2006/relationships/notesSlide" Target="/ppt/notesSlides/notesSlide21.xml" Id="R66e65f7ee1dd47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38d0bf1ef4219" /><Relationship Type="http://schemas.openxmlformats.org/officeDocument/2006/relationships/notesSlide" Target="/ppt/notesSlides/notesSlide22.xml" Id="R06c85c1185a047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d1aa99e9442de" /><Relationship Type="http://schemas.openxmlformats.org/officeDocument/2006/relationships/notesSlide" Target="/ppt/notesSlides/notesSlide23.xml" Id="R9c4b5f2366234e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6bbcc970f4591" /><Relationship Type="http://schemas.openxmlformats.org/officeDocument/2006/relationships/hyperlink" Target="https://ocw.mit.edu/courses/1-203j-logistical-and-transportation-planning-methods-fall-2006/pages/lecture-notes/" TargetMode="External" Id="R9bf277ac1a72492b" /><Relationship Type="http://schemas.openxmlformats.org/officeDocument/2006/relationships/hyperlink" Target="https://numpy.org/doc/stable/reference/random/index.html" TargetMode="External" Id="R57ad82f6719b4faf" /><Relationship Type="http://schemas.openxmlformats.org/officeDocument/2006/relationships/hyperlink" Target="https://www.itl.nist.gov/div898/software/dataplot/refman1/auxillar/conflimi.htm" TargetMode="External" Id="R57d270a43b3a4d37" /><Relationship Type="http://schemas.openxmlformats.org/officeDocument/2006/relationships/notesSlide" Target="/ppt/notesSlides/notesSlide24.xml" Id="R9bf1fc349a66428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c=3, мс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12.6474926254</c:v>
                </c:pt>
                <c:pt idx="1">
                  <c:v>29.5620437956</c:v>
                </c:pt>
                <c:pt idx="2">
                  <c:v>67.7698574338</c:v>
                </c:pt>
                <c:pt idx="3">
                  <c:v>189.723661485</c:v>
                </c:pt>
              </c:numCache>
            </c:numRef>
          </c:yVal>
        </c:ser>
        <c:ser>
          <c:idx val="1"/>
          <c:order val="1"/>
          <c:tx>
            <c:v>c=4, мс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</c:numCache>
            </c:numRef>
          </c:xVal>
          <c:yVal>
            <c:numRef>
              <c:f>'Chart Data'!$D$2:$D$5</c:f>
              <c:numCache>
                <c:formatCode>0.0</c:formatCode>
                <c:ptCount val="4"/>
                <c:pt idx="0">
                  <c:v>2.3193809832</c:v>
                </c:pt>
                <c:pt idx="1">
                  <c:v>5.8424384901</c:v>
                </c:pt>
                <c:pt idx="2">
                  <c:v>12.5999363161</c:v>
                </c:pt>
                <c:pt idx="3">
                  <c:v>25.3157712797</c:v>
                </c:pt>
              </c:numCache>
            </c:numRef>
          </c:yVal>
        </c:ser>
        <c:ser>
          <c:idx val="2"/>
          <c:order val="2"/>
          <c:tx>
            <c:v>Поріг, мс</c:v>
          </c:tx>
          <c:spPr>
            <a:solidFill xmlns:a="http://schemas.openxmlformats.org/drawingml/2006/main">
              <a:srgbClr val="3E67BA"/>
            </a:solidFill>
            <a:ln xmlns:a="http://schemas.openxmlformats.org/drawingml/2006/main" w="28575">
              <a:solidFill>
                <a:srgbClr val="3E67B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E67BA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</c:numCache>
            </c:numRef>
          </c:xVal>
          <c:yVal>
            <c:numRef>
              <c:f>'Chart Data'!$F$2:$F$5</c:f>
              <c:numCache>
                <c:formatCode>0.0</c:formatCode>
                <c:ptCount val="4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Середній Wq,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6"/>
          <c:min val="1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λ, запитів/с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99D338EC-1756-416C-84CB-AE87C99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15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6E1125-D8F6-480A-B392-ACB7A0D6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Перевірка моделей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 представлення результатів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6588199-696E-4439-905C-1556AA3F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Верифікація, валідація, відтворюваність та доповідь про індивідуальний проєкт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F14350C9-198B-4FCD-B144-0806EA8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2126211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9AF9E99-C929-4549-A8D0-79A21ED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F14631A8-A681-4065-A951-9C6C8E9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46BEA90-3C26-4B72-8DA1-A657E4BA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Відрізнити правильність коду від адекватності моделі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CD05C57-7D5A-4C02-BA06-25459CB2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B9974FB-5449-4CDE-8360-13F926B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Виконати граничні й незалежні перевірки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B39D5997-0CD1-4670-8C00-EBB1A39D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96C7418-CB5A-4B46-9CA3-AF8C699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Дослідити чутливість та невизначеність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4CBB636-1B6B-4CA3-BAF2-1C02EC4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9A3F0DE-FC01-482E-B2BA-CE415EB1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доповідь навколо обґрунтованого рішення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C1D8B89-9D4E-4164-BF24-AF202906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перевірювана рекомендація з чіткими обмеженнями.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F09D71-68CE-4945-8B8C-5270A23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7840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68928E-18EB-4491-B11E-47C37A2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Три різні запитання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3FF5E-A5FA-4136-81F7-D7E675E34B7A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57333"/>
                <a:gridCol w="4910667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Питання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Що перевіряємо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Чи правильно розв’язали модель?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Верифікація коду та обчислень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Чи модель придатна для задачі?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Валідація щодо мети та даних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Чи інший може повторити результат?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Відтворюваність артефактів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FB3D418-2986-4A04-94F1-FB9FC90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Ці перевірки доповнюють одна одну.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1E78F9-0B2A-4AA3-B358-2B02B149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2694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26643FC-DF1A-4A6D-9F62-1CFF2420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Твердження, яке можна перевірити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668D9866-718B-4504-B207-1E1A8472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17460AC-A7BD-48B9-8B1D-23C81D7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Слабко: «чотири сервери працюють добре»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E731F05-A293-4A46-BD9C-EC68033C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91F23A1-1B2C-43B7-B08F-96E6C673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Точно: «за λ∈{18,22,26}, μ=10 і M/M/c…»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E194D9B-6253-438C-95BD-4C8C1C88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4FDB69B-90F8-471A-8464-67D2E891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«…чотири канали мінімізують c серед 2…6…»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156BEA4A-24E9-4C36-8ED4-029BD122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05A4F48-1EB9-43E4-9F95-BFDAC47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«…за умови середнього Wq≤50 мс»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C4811198-57FB-438B-88EE-22B651E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Рішення, умови й метрика мають бути в одному твердженні.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7C3CA9-B1CC-41F5-95D0-9A5A325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6324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72DD37-2884-4ED1-8FF3-5EA4323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перевірок для різних моделей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BEEB5-99E7-463E-894B-7970BA7850F7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9455"/>
                <a:gridCol w="775854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Незалежний контроль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ЛП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Підстановка у всі обмеження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ДП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Повний перебір малої задачі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Марковська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Нормування і стаціонарний баланс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Черга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Граничний випадок та імітація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Матрична гра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Нижня й верхня гарантії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2391412C-61C6-4A48-88FB-99CA194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Контроль має використовувати інший шлях до відповіді.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3FDF9B-B322-44B8-890A-FD50CE3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5814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B626F76-30D5-4A9C-AC0E-8BCA2F12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Одиниці вимірювання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E9959F3-7B83-4D8C-9836-4B1D1C5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2D4CA18-1175-4BEC-B4F6-54A9653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λ та μ мають бути в однакових одиницях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E5F18464-CA52-42BB-A2F0-AECF890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B0AF2E6-DDD5-4FE1-B1CA-F151C85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 і Wq отримуємо в обернених одиницях часу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034FC14-9A88-42ED-A08B-7CBA2A1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8DA6B29-F001-437B-9E32-F2429D5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1 секунда = 1000 мс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90F5B07-892B-431A-AF31-EDC30E3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4234D09B-64A4-4A23-A01C-05B670E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Підпис осі й таблиці має відповідати перетворенню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285B6EA-6B8C-4791-9A8B-4DA029CB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Помилка одиниць може змінити рішення без помилки виконання коду.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969241-1B8D-4E09-A096-C2992B9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5598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C317889-7E73-4C52-AEAB-FCA19B3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Граничні випадки M/M/c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4106ACB1-3202-42C8-BBDE-32B798C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BC447F7-E442-4ECD-9AB7-E89C5F8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λ→0 очікування Wq→0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F957A1FD-92B4-4C9B-911C-D8E82E9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00C6094-5CAE-4F7C-8B42-488AD05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c=1 формула переходить у M/M/1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05076F3-9553-4194-A534-45B44DE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EE1CB72-EAD3-4DE0-AF2F-DD6EA448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Масштабування λ і μ удвічі зменшує час удвічі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5298324-AC71-470B-A5B1-57372F67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2C2C7B9-59A0-435D-B279-8ED68D3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При cμ≤λ стаціонарні формули відхиляємо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12DCD03-571B-4697-BA00-96E8B44D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Властивості моделі дають перевірки без еталонної таблиці.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0B8EB5-2FA8-47A7-A50B-57A7F8D2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2157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492BA2-DFDB-4580-9CF4-99D860C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функція для незалежних перевірок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01081D30-AADE-4C86-8749-C1DE184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math import factorial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def mmc(lam, mu, c):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a, rho = lam/mu, lam/(c*mu)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if rho &gt;= 1: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raise ValueError("Нестійка конфігурація")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tail = a**c / (factorial(c)*(1-rho))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p0 = 1/(sum(a**k/factorial(k) for k in range(c))+tail)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C = tail*p0  # імовірність очікування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Wq = C/(c*mu-lam)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return rho, C, Wq, Wq+1/mu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7107374-1724-4300-B67E-3ADE17A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Перевіряємо властивості, а не переписуємо формулу у тест.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E96B85-F701-4686-83A4-E0DB7BF4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27564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69205F-27C7-4C47-8A66-7D06B418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граничні та масштабні перевірки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1FE8ED45-83B2-4761-9241-4A04141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np.isclose(mmc(8,10,1)[2], .4)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mmc(.000001,10,3)[2] &lt; 1e-12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np.isclose(mmc(36,20,3)[2], mmc(18,10,3)[2]/2)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try: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mmc(20,10,2)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except ValueError: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print("Нестійкий режим відхилено")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raise AssertionError("Пропущено нестійкість")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print("3 числові перевірки: OK")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FD4B4E9-8153-4E96-AC7B-67A28F5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Перевірки охоплюють відомий випадок, межу та зміну масштабу.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59D387-0CA2-4A92-AD3F-22E025D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5591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7A3A2B-2C17-4C90-A7B9-4E112C35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перевірок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11BB0241-E478-4488-A8C7-35C2D78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Нестійкий режим відхилено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3 числові перевірки: OK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AE8CDF6-7A89-4E52-8D65-04FB5B7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Успішні перевірки зміцнюють довіру до реалізації.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25E74A-A8B6-48CF-AD7F-0DC33D6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5162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C9662E-5EFF-40E4-B879-AE1FC9A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Валідація потребує зовнішніх даних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5E6C2-5B63-40BE-AC80-34F07EE6CEC2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51938"/>
                <a:gridCol w="5416062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Джерело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Що можна перевірити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Синтетичний генератор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Реалізацію заданих розподілів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Незалежний аналітичний результат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Узгодженість методів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Журнал реального сервісу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Відповідність моделі об’єкту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Інший період навантаження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Перенесення висновку в нові умови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23A55CB-76ED-42E8-86C4-18055E2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Збіг двох реалізацій однієї моделі не замінює вимірювань.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A8CAF8-DE19-4108-93F6-A49F6F6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6962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2E8FDE7-A1D4-4892-AD78-B333CB2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Калібрування і незалежна 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701815B-05D5-44D9-BC5E-E424365D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7C82639-F2E6-4A0C-B0C2-0F480F6A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Одну частину даних використовуємо для оцінки параметрів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92E603A5-A51D-48C0-A594-9EA82ACC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60A9F012-C9D1-443F-8A66-D450C0FF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Іншу частину залишаємо для перевірки прогнозу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C78EC3D-7F11-422A-A1DB-D12ED3A1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3FC7996-8B57-4867-ABB1-1C1D013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Періоди порівнюємо за однаковими визначеннями метрик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79A887AA-2F61-4DBC-A8BE-875349A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5D6A6EE-BD42-4A43-94BE-9C9D822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Враховуємо зміну навантаження й конфігурації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9E1AEDD-9EBD-4F73-A754-1ADF186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Перевірка на даних калібрування може приховати помилку моделі.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D02F50-F8E0-4CB4-B22E-09C947E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29827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5D5193-4029-4960-9D51-816BCFE1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Сценарний аналіз перед рекомендацією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DDD88A43-90E3-45E5-A270-3A6B604651B4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0de6a352364153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63BD3E4E-A772-495E-B03C-F84D20DF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Висновок слід перевіряти в області параметрів, важливій замовнику.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E543F9-4B3A-4831-957F-847C8049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06063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27D965-CC3C-4FFB-80FE-124FB79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Різні джерела невизначеності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A3A2-8D8D-4883-B092-BD245A0FDE49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5895"/>
                <a:gridCol w="5053263"/>
                <a:gridCol w="3368842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Приклад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Що робити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Невідоме майбутнє 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Сценарії та оцінки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Випадковість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Різні черги за однакового 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Повторні прогони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Пакетування замість M/M/c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Порівняння моделей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Обчислення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Помилка коду або точності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Верифікація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EFE4693-BBC9-4B25-801B-A6DE0D1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Довірчий інтервал симуляції охоплює лише частину невизначеності.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4F1742-7982-4169-85F4-8DBDC7B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1050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0065ADE-F63D-482A-B31A-4DBEEFB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означає 95% довірчий інтервал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761AF13-8BA0-4FD4-8DDB-D25F6277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433B98C-E6A3-4F41-B07B-A53CAC5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Метод побудови охоплює істинне середнє у 95% повторених експериментів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6184B8C-AA88-435A-B2C0-235101A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E62359E-3C0A-4041-A2C3-6269B39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Конкретний інтервал або охопив його, або ні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AC33C84-69D1-4D15-B6BD-ACEA411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8DAC6C9-31B6-49CB-ABCE-FB7ADDF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Це не діапазон 95% індивідуальних запитів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09E7701-98B1-4522-B063-41958070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CCCAC86-6388-4291-BEE3-4C9E489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Валідність залежить від припущень статистичного методу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37E49651-EC64-4AAF-A100-71D8B3C3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Процентиль, розкид і точність середнього є різними поняттями.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E52ECB-11AA-4009-B7B3-7AE079C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6808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E95438-3029-4B90-8421-DF0A18D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Поширені помилки у висновках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51A0E-1B9B-4EF0-849C-E3B8B79F63EF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59569"/>
                <a:gridCol w="5908431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Помилка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Коректне формулювання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«Усі запити швидші за 50 мс»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Середній Wq≤50 мс за моделлю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«Симуляція довела реальність»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Симуляція узгодила два розрахунки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«Рішення завжди оптимальне»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Оптимальне в заданій моделі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«Відмов не було, ризик 0»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Потрібна оцінка невизначеності ризику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668333EC-2DC9-410A-9ACE-48A85383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Висновок не повинен бути сильнішим за отримані докази.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850CD5-865A-4A16-B840-87C59377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10123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D1FEDDE-9E6E-4CCA-82B1-7D1D905D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Відтворюваний Notebook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B5FE0C4-F404-4D51-9707-5F432AF7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223A5CE-A0C1-4638-AA44-821FE5D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Перезапуск ядра та виконання всіх клітинок згори вниз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EE5AAAD-1C9E-4B3D-82A6-73F402B1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75B47DE-7589-43B0-929E-14DB13B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Усі дані й конфігурація доступні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BD0993F6-3061-45B7-8755-00D21BBC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C50AEC7-80BD-48DD-A058-709B215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Результати не залежать від прихованих ручних змін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DC93566-6DFF-4937-A0A6-6DDC47A9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92927F7F-1C66-4B45-B4D0-D087EB97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Версії пакетів, seed та джерела зазначені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66B420E-6117-4299-96E3-DB9CEF4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Відтворюваність перевіряється чистим запуском.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D4753B-BFF9-434C-A5E2-E005C405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62215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F5F18DB-18A5-47BD-9D03-5F570F52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Структура доповіді про проєкт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12D5B7A-B896-4B8B-BACD-4E54637D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D4940C7-8AB6-45DF-8060-9AA961E3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Інженерне питання та метрика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288E5B2-4507-4786-95BA-05196EF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159951F-0B9E-4B67-846F-D40AEC6E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Модель і головні припущення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3D61D48E-CF52-444F-AC0A-EDF15625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AABD1AE-034C-4D3E-A8C7-BB8966BB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Метод, результат і один ключовий графік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477E3AB-53FD-4A2F-A783-F77AE84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6CD91DB1-72E1-42F3-8C78-8723C62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Перевірка, рекомендація та межі застосування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ABACCB0-E1ED-472E-9AD5-A8BC27AF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Доповідь пояснює рішення й докази, а не весь текст коду.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385AD3-5D46-403B-85C9-34A1309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343340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35F7DE-2103-4268-9DA5-F917F1E1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Докази для кожної частини доповіді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878E7-6466-4EDE-B3D4-C023F7520E65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7368"/>
                <a:gridCol w="7860632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Частина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Що показати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Постановка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Рішення, критерій, обмеження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Змінні, дані, припущення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Одна таблиця кандидатів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Перевірка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Незалежний контроль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Висновок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Рекомендація й умови її дії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8E8101B0-A159-4C26-9416-2FA81AB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Кожне твердження має посилатися на видимий доказ.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7F8831-D717-4B16-B6E9-5B6B6F63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1231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EAFD5CB-2FA7-4BD8-B1B7-333EDE7B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 читати графік під час доповіді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BF024B0-114E-46AF-964E-03A79F69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80309B2-7DA5-4C1F-9CB6-63F9650F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Назвати осі, одиниці та порівнювані конфігурації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B7452AB1-A766-47D0-A06B-3C5C5F1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C2CF4F5-A4E7-4F95-B776-C34467D1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Показати поріг або критерій рішення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99F23A9E-63B1-4FDA-80F8-4F770D4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F28627F-BCF1-44DA-B525-A529B9A8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Пояснити, де і чому змінюється вибір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91785E0-70FA-49DD-B701-0564C4EB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ACD9D56-85F7-4719-BDBA-BDA2B8F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Вказати походження даних і невизначеність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A2272FC-805D-4DD6-A734-36EEF56F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Графік має допомагати прийняти рішення.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D9591F-C2EF-47DA-BA0B-6997FAA6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157015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F52E5DB-2686-44A7-AFAE-5D4EDE9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Взаємне рецензування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EEACB4B6-540E-4090-81F7-2B5FD42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DCB92BF-6D83-4049-B330-081F89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Рецензент пробує відтворити один головний результат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A753455-664E-48C1-9DFD-9AD620B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96C6CBB-334C-48F4-98E3-CD4FBA1E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Перевіряє одиниці та одне обмеження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CBF89F1-EE0C-404F-AF4F-23842C9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89650DE-B570-43DF-80F1-B301C7B7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Пропонує контрприклад або граничний сценарій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3E7A5CC-2E83-4B5C-95F2-AFFAE70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145CF91-ED7E-4F9A-8737-51A024D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Автор виправляє або обґрунтовує модель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6A85833-8818-43AF-927B-59A856C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Рецензія має містити перевірюване зауваження.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85C505-3352-42D1-BB1A-61905C3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689528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CB5B962-B4B8-4A74-A4EF-DF1BC2CA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Контроль готовності індивідуального проєкту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C632BF44-3F9A-486A-8BDB-699A68C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EF2930E-A7B5-4457-8F1F-180135C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Питання й рішення сформульовано однозначно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1451968-EFD5-4DC7-B606-9C2E7625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4461436-06C7-41ED-9073-20979D4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Код відтворює числа та підписи на графіках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A82B498-E158-459F-8931-90701D2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1668941-48EA-4667-BBFB-01A82A0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Перевірено хоча б один незалежний контроль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2754B4F6-A471-455A-A2B3-8B0D900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9D61C92-9641-4BD4-9473-E4396F2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Висновок містить припущення й межі застосування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5B2B0C5-5949-48F7-A543-836DBED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Готовність визначає узгодженість усіх частин роботи.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C8C50C-62F0-4BA2-BA03-A93CD065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511547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CFB3DAFB-B782-4B65-8216-0BBC01D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6FFBEA8D-3835-47C8-B788-25E3D702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A518419-B03D-4A53-9869-52FB0FF1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Чим верифікація відрізняється від валідації?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F0DE0243-4A92-4940-859C-BA5DE28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4C2912A-9557-4F6E-A969-A4A5D89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Що не враховує ДІ за seed?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CE1A6E6-287D-4133-A285-61C52CDC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470DB8C-6AF4-41B9-8AC8-5AB962C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Яке найкоротше переконливе обґрунтування рішення?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4A912ECD-B699-4652-9007-70F72A4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F5F24A-BCC5-4F1C-811C-F6ABB4D5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72381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E8CDD1D-8AEB-4CB1-A5D3-A42C47AD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multi">
            <a:extLst xmlns:a="http://schemas.openxmlformats.org/drawingml/2006/main">
              <a:ext uri="{FF2B5EF4-FFF2-40B4-BE49-F238E27FC236}">
                <a16:creationId xmlns:a16="http://schemas.microsoft.com/office/drawing/2014/main" id="{25DC0F18-288A-4F16-9C9B-1853068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9bf277ac1a72492b"/>
              </a:rPr>
              <a:t>MIT · системи черг і багатоканальні моделі</a:t>
            </a:r>
          </a:p>
        </p:txBody>
      </p:sp>
      <p:sp>
        <p:nvSpPr>
          <p:cNvPr id="3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B3FA193D-E439-4399-96F8-5B1CE1B1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9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57ad82f6719b4faf"/>
              </a:rPr>
              <a:t>NumPy · генерація випадкових чисел</a:t>
            </a:r>
          </a:p>
        </p:txBody>
      </p:sp>
      <p:sp>
        <p:nvSpPr>
          <p:cNvPr id="4" name="source-ci">
            <a:extLst xmlns:a="http://schemas.openxmlformats.org/drawingml/2006/main">
              <a:ext uri="{FF2B5EF4-FFF2-40B4-BE49-F238E27FC236}">
                <a16:creationId xmlns:a16="http://schemas.microsoft.com/office/drawing/2014/main" id="{D02D371B-AC84-4E6F-B7E5-496F858E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6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57d270a43b3a4d37"/>
              </a:rPr>
              <a:t>NIST · довірчі інтервали середнього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5F86D85-6A6E-4E05-82AF-98D3F1A2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28A6743E-965C-45DC-9049-58AF0976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523361-EABE-4E63-BCB7-DEB583C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95935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2026-10-19T09:25:08.9410000Z</dcterms:created>
  <dcterms:modified xsi:type="dcterms:W3CDTF">2026-10-19T09:25:08.9410000Z</dcterms:modified>
</coreProperties>
</file>