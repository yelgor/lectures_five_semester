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6f2c8ebc148b7" /><Relationship Type="http://schemas.openxmlformats.org/officeDocument/2006/relationships/extended-properties" Target="/docProps/app.xml" Id="R717e6866add84614" /><Relationship Type="http://schemas.openxmlformats.org/officeDocument/2006/relationships/officeDocument" Target="/ppt/presentation.xml" Id="Rb42ac84c16f2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6db9c1d70746eb"/>
  </p:sldMasterIdLst>
  <p:notesMasterIdLst>
    <p:notesMasterId xmlns:r="http://schemas.openxmlformats.org/officeDocument/2006/relationships" r:id="Rea1edca88f4e4bef"/>
  </p:notesMasterIdLst>
  <p:sldIdLst>
    <p:sldId xmlns:r="http://schemas.openxmlformats.org/officeDocument/2006/relationships" id="256" r:id="R67d8e2acec0946bb"/>
    <p:sldId xmlns:r="http://schemas.openxmlformats.org/officeDocument/2006/relationships" id="257" r:id="Rcede62fcd7924ef0"/>
    <p:sldId xmlns:r="http://schemas.openxmlformats.org/officeDocument/2006/relationships" id="258" r:id="Rb7d38da018de4a60"/>
    <p:sldId xmlns:r="http://schemas.openxmlformats.org/officeDocument/2006/relationships" id="259" r:id="R5046b323385c439f"/>
    <p:sldId xmlns:r="http://schemas.openxmlformats.org/officeDocument/2006/relationships" id="260" r:id="Raf67f4968c734067"/>
    <p:sldId xmlns:r="http://schemas.openxmlformats.org/officeDocument/2006/relationships" id="261" r:id="R804d10eebde24f0e"/>
    <p:sldId xmlns:r="http://schemas.openxmlformats.org/officeDocument/2006/relationships" id="262" r:id="R74d3c5918ef2492a"/>
    <p:sldId xmlns:r="http://schemas.openxmlformats.org/officeDocument/2006/relationships" id="263" r:id="R9cbb29b6867e42df"/>
    <p:sldId xmlns:r="http://schemas.openxmlformats.org/officeDocument/2006/relationships" id="264" r:id="R8194ae3bdc014a8c"/>
    <p:sldId xmlns:r="http://schemas.openxmlformats.org/officeDocument/2006/relationships" id="265" r:id="Redede0ad064248ad"/>
    <p:sldId xmlns:r="http://schemas.openxmlformats.org/officeDocument/2006/relationships" id="266" r:id="R838e90d76b81493d"/>
    <p:sldId xmlns:r="http://schemas.openxmlformats.org/officeDocument/2006/relationships" id="267" r:id="Re0481136d3124c4e"/>
    <p:sldId xmlns:r="http://schemas.openxmlformats.org/officeDocument/2006/relationships" id="268" r:id="R4bcff7b62ed2410b"/>
    <p:sldId xmlns:r="http://schemas.openxmlformats.org/officeDocument/2006/relationships" id="269" r:id="R53cff7600b9d4248"/>
    <p:sldId xmlns:r="http://schemas.openxmlformats.org/officeDocument/2006/relationships" id="270" r:id="R443fb0a29be44480"/>
    <p:sldId xmlns:r="http://schemas.openxmlformats.org/officeDocument/2006/relationships" id="271" r:id="Rf6366d341c0f486b"/>
    <p:sldId xmlns:r="http://schemas.openxmlformats.org/officeDocument/2006/relationships" id="272" r:id="R7f77d3dde37d4aa6"/>
    <p:sldId xmlns:r="http://schemas.openxmlformats.org/officeDocument/2006/relationships" id="273" r:id="R2fa3d488b3cb4f07"/>
    <p:sldId xmlns:r="http://schemas.openxmlformats.org/officeDocument/2006/relationships" id="274" r:id="R56eb0077c0f84eab"/>
    <p:sldId xmlns:r="http://schemas.openxmlformats.org/officeDocument/2006/relationships" id="275" r:id="R718c3dfe9b564c14"/>
    <p:sldId xmlns:r="http://schemas.openxmlformats.org/officeDocument/2006/relationships" id="276" r:id="Rca6d87688477496d"/>
    <p:sldId xmlns:r="http://schemas.openxmlformats.org/officeDocument/2006/relationships" id="277" r:id="R6e7155714bd3410c"/>
    <p:sldId xmlns:r="http://schemas.openxmlformats.org/officeDocument/2006/relationships" id="278" r:id="Rc6f4214767de4081"/>
    <p:sldId xmlns:r="http://schemas.openxmlformats.org/officeDocument/2006/relationships" id="279" r:id="R3c874bb402084f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e2dfa984484e53" /><Relationship Type="http://schemas.openxmlformats.org/officeDocument/2006/relationships/slideMaster" Target="/ppt/slideMasters/slideMaster1.xml" Id="R296db9c1d70746eb" /><Relationship Type="http://schemas.openxmlformats.org/officeDocument/2006/relationships/notesMaster" Target="/ppt/notesMasters/notesMaster1.xml" Id="Rea1edca88f4e4bef" /><Relationship Type="http://schemas.openxmlformats.org/officeDocument/2006/relationships/presProps" Target="/ppt/presProps.xml" Id="R14d47fdd568440e4" /><Relationship Type="http://schemas.openxmlformats.org/officeDocument/2006/relationships/tableStyles" Target="/ppt/tableStyles.xml" Id="Rbd3ada8d54544fff" /><Relationship Type="http://schemas.openxmlformats.org/officeDocument/2006/relationships/slide" Target="/ppt/slides/slide1.xml" Id="R67d8e2acec0946bb" /><Relationship Type="http://schemas.openxmlformats.org/officeDocument/2006/relationships/slide" Target="/ppt/slides/slide2.xml" Id="Rcede62fcd7924ef0" /><Relationship Type="http://schemas.openxmlformats.org/officeDocument/2006/relationships/slide" Target="/ppt/slides/slide3.xml" Id="Rb7d38da018de4a60" /><Relationship Type="http://schemas.openxmlformats.org/officeDocument/2006/relationships/slide" Target="/ppt/slides/slide4.xml" Id="R5046b323385c439f" /><Relationship Type="http://schemas.openxmlformats.org/officeDocument/2006/relationships/slide" Target="/ppt/slides/slide5.xml" Id="Raf67f4968c734067" /><Relationship Type="http://schemas.openxmlformats.org/officeDocument/2006/relationships/slide" Target="/ppt/slides/slide6.xml" Id="R804d10eebde24f0e" /><Relationship Type="http://schemas.openxmlformats.org/officeDocument/2006/relationships/slide" Target="/ppt/slides/slide7.xml" Id="R74d3c5918ef2492a" /><Relationship Type="http://schemas.openxmlformats.org/officeDocument/2006/relationships/slide" Target="/ppt/slides/slide8.xml" Id="R9cbb29b6867e42df" /><Relationship Type="http://schemas.openxmlformats.org/officeDocument/2006/relationships/slide" Target="/ppt/slides/slide9.xml" Id="R8194ae3bdc014a8c" /><Relationship Type="http://schemas.openxmlformats.org/officeDocument/2006/relationships/slide" Target="/ppt/slides/slide10.xml" Id="Redede0ad064248ad" /><Relationship Type="http://schemas.openxmlformats.org/officeDocument/2006/relationships/slide" Target="/ppt/slides/slide11.xml" Id="R838e90d76b81493d" /><Relationship Type="http://schemas.openxmlformats.org/officeDocument/2006/relationships/slide" Target="/ppt/slides/slide12.xml" Id="Re0481136d3124c4e" /><Relationship Type="http://schemas.openxmlformats.org/officeDocument/2006/relationships/slide" Target="/ppt/slides/slide13.xml" Id="R4bcff7b62ed2410b" /><Relationship Type="http://schemas.openxmlformats.org/officeDocument/2006/relationships/slide" Target="/ppt/slides/slide14.xml" Id="R53cff7600b9d4248" /><Relationship Type="http://schemas.openxmlformats.org/officeDocument/2006/relationships/slide" Target="/ppt/slides/slide15.xml" Id="R443fb0a29be44480" /><Relationship Type="http://schemas.openxmlformats.org/officeDocument/2006/relationships/slide" Target="/ppt/slides/slide16.xml" Id="Rf6366d341c0f486b" /><Relationship Type="http://schemas.openxmlformats.org/officeDocument/2006/relationships/slide" Target="/ppt/slides/slide17.xml" Id="R7f77d3dde37d4aa6" /><Relationship Type="http://schemas.openxmlformats.org/officeDocument/2006/relationships/slide" Target="/ppt/slides/slide18.xml" Id="R2fa3d488b3cb4f07" /><Relationship Type="http://schemas.openxmlformats.org/officeDocument/2006/relationships/slide" Target="/ppt/slides/slide19.xml" Id="R56eb0077c0f84eab" /><Relationship Type="http://schemas.openxmlformats.org/officeDocument/2006/relationships/slide" Target="/ppt/slides/slide20.xml" Id="R718c3dfe9b564c14" /><Relationship Type="http://schemas.openxmlformats.org/officeDocument/2006/relationships/slide" Target="/ppt/slides/slide21.xml" Id="Rca6d87688477496d" /><Relationship Type="http://schemas.openxmlformats.org/officeDocument/2006/relationships/slide" Target="/ppt/slides/slide22.xml" Id="R6e7155714bd3410c" /><Relationship Type="http://schemas.openxmlformats.org/officeDocument/2006/relationships/slide" Target="/ppt/slides/slide23.xml" Id="Rc6f4214767de4081" /><Relationship Type="http://schemas.openxmlformats.org/officeDocument/2006/relationships/slide" Target="/ppt/slides/slide24.xml" Id="R3c874bb402084f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e3557b5c6645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4caf1eab844704" /><Relationship Type="http://schemas.openxmlformats.org/officeDocument/2006/relationships/notesMaster" Target="/ppt/notesMasters/notesMaster1.xml" Id="R49e721034f4d4a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381ee217a4401" /><Relationship Type="http://schemas.openxmlformats.org/officeDocument/2006/relationships/notesMaster" Target="/ppt/notesMasters/notesMaster1.xml" Id="R27090383d8c141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a418cb4a3d4977" /><Relationship Type="http://schemas.openxmlformats.org/officeDocument/2006/relationships/notesMaster" Target="/ppt/notesMasters/notesMaster1.xml" Id="Rbe00aae3010d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75da4fdb874eab" /><Relationship Type="http://schemas.openxmlformats.org/officeDocument/2006/relationships/notesMaster" Target="/ppt/notesMasters/notesMaster1.xml" Id="Re913ebfe152a40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e238753a124d30" /><Relationship Type="http://schemas.openxmlformats.org/officeDocument/2006/relationships/notesMaster" Target="/ppt/notesMasters/notesMaster1.xml" Id="R85498f9df00e4b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e54ec4863b4d9c" /><Relationship Type="http://schemas.openxmlformats.org/officeDocument/2006/relationships/notesMaster" Target="/ppt/notesMasters/notesMaster1.xml" Id="Rcbbeace7532e4d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9fd9d0f2fd48e4" /><Relationship Type="http://schemas.openxmlformats.org/officeDocument/2006/relationships/notesMaster" Target="/ppt/notesMasters/notesMaster1.xml" Id="Ra296fc9967f94c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1c6795ceed4156" /><Relationship Type="http://schemas.openxmlformats.org/officeDocument/2006/relationships/notesMaster" Target="/ppt/notesMasters/notesMaster1.xml" Id="Rac8b40b092df44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1ff811de974d3c" /><Relationship Type="http://schemas.openxmlformats.org/officeDocument/2006/relationships/notesMaster" Target="/ppt/notesMasters/notesMaster1.xml" Id="R25ee802f53eb49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7b6e0582f24800" /><Relationship Type="http://schemas.openxmlformats.org/officeDocument/2006/relationships/notesMaster" Target="/ppt/notesMasters/notesMaster1.xml" Id="R2aec9dc33d5b40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aa28f7859741ca" /><Relationship Type="http://schemas.openxmlformats.org/officeDocument/2006/relationships/notesMaster" Target="/ppt/notesMasters/notesMaster1.xml" Id="Rc8815544cac54f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ebb88972ac46fa" /><Relationship Type="http://schemas.openxmlformats.org/officeDocument/2006/relationships/notesMaster" Target="/ppt/notesMasters/notesMaster1.xml" Id="Re933dff14ed84f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ca19a4bfd24792" /><Relationship Type="http://schemas.openxmlformats.org/officeDocument/2006/relationships/notesMaster" Target="/ppt/notesMasters/notesMaster1.xml" Id="R209a948349404e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129dff5aab41b2" /><Relationship Type="http://schemas.openxmlformats.org/officeDocument/2006/relationships/notesMaster" Target="/ppt/notesMasters/notesMaster1.xml" Id="R88d21ddd09ee42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d4e4e0b4a743d3" /><Relationship Type="http://schemas.openxmlformats.org/officeDocument/2006/relationships/notesMaster" Target="/ppt/notesMasters/notesMaster1.xml" Id="Red4232a5de1d4e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9bbb38ab9e4b17" /><Relationship Type="http://schemas.openxmlformats.org/officeDocument/2006/relationships/notesMaster" Target="/ppt/notesMasters/notesMaster1.xml" Id="R5460a8297f5146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44605ae8024391" /><Relationship Type="http://schemas.openxmlformats.org/officeDocument/2006/relationships/notesMaster" Target="/ppt/notesMasters/notesMaster1.xml" Id="R24e4f4ed19a74f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596305d02547b3" /><Relationship Type="http://schemas.openxmlformats.org/officeDocument/2006/relationships/notesMaster" Target="/ppt/notesMasters/notesMaster1.xml" Id="Rfb069fadf0c947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6187fb4f4b4ed9" /><Relationship Type="http://schemas.openxmlformats.org/officeDocument/2006/relationships/notesMaster" Target="/ppt/notesMasters/notesMaster1.xml" Id="R73fa3a45f2ab4c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a61152298364a1d" /><Relationship Type="http://schemas.openxmlformats.org/officeDocument/2006/relationships/notesMaster" Target="/ppt/notesMasters/notesMaster1.xml" Id="R65d12549380541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8b40545d3f4bcc" /><Relationship Type="http://schemas.openxmlformats.org/officeDocument/2006/relationships/notesMaster" Target="/ppt/notesMasters/notesMaster1.xml" Id="R8422acca7d0844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7e144a67374599" /><Relationship Type="http://schemas.openxmlformats.org/officeDocument/2006/relationships/notesMaster" Target="/ppt/notesMasters/notesMaster1.xml" Id="Rd44a690cc4e44c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a981ca1fcf4110" /><Relationship Type="http://schemas.openxmlformats.org/officeDocument/2006/relationships/notesMaster" Target="/ppt/notesMasters/notesMaster1.xml" Id="R756e077c813244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1fa672e4dc4805" /><Relationship Type="http://schemas.openxmlformats.org/officeDocument/2006/relationships/notesMaster" Target="/ppt/notesMasters/notesMaster1.xml" Id="Rcd513194e32147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Підкресліть відмінність від попередньої лекції: перехід може відбутися між будь-якими двома моментами спостереження.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окремий приклад із новими параметрами, а не перетворення матриці P з попередньої лекції. Часи перебування в станах мають експоненційні розподіли.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U маємо єдиний вихід, як і для D. У стані з кількома можливими виходами середній час задається оберненою сумою інтенсивностей.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t=100 год добуток αt=2 не є ймовірністю. Крім того, ймовірність бути в D наприкінці включає ремонти й відрізняється від ймовірності першої відмови.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Діагональ є мінус сумою інтенсивностей виходу. Негативний елемент Q не є від’ємною ймовірністю: Q є генератором, а не матрицею переходів.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Виведіть рівняння з малого інтервалу: маса βpDΔt надходить в U, αpUΔt виходить. Поділивши приріст на Δt, отримуємо похідну.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np.exp(Q*t) обчислює експоненту кожного елемента й не розв’язує матричне рівняння. Використовуйте scipy.linalg.expm. Джерело: https://docs.scipy.org/doc/scipy-1.17.0/reference/generated/scipy.linalg.expm.html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Поясніть, що ймовірність D не може тут перевищити стаціонарну межу зі старту U. За старту D картина буде іншою.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змішуйте інтенсивність за годину й інтенсивність за секунду. Перевірка діагоналі та позадіагональних елементів потрібна для більшого генератора.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межах інтервалу могли відбутися кілька відмов і відновлень. Саме тому одноразове додавання Q*t є лише наближенням для малого часу.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Порівняйте рядок t=0 з початковим вектором. Рядки t=5 і t=10 демонструють наближення до стаціонарного режиму.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Стаціонарна межа дорівнює β/(α+β). Для скінченної незвідної CTMC збіжність не має дискретної проблеми періодичності.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частка часу за сталих параметрів у довгому періоді. Для заданого календарного періоду перехідний режим може мати 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Заміна одного залежного рівняння нормуванням працює для цього незвідного генератора. Поясніть різницю між нульовою похідною ймовірностей і відсутністю переходів.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стаціонарі середні потоки відмов і ремонтів рівні: 0,02×0,961538 = 0,5×0,038462. Попросіть студентів перевірити чисельно.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R(t)=exp(−αt) за старту U та експоненційного часу першої відмови. A(t) включає траєкторії з поверненням у U після ремонту.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Параметр відмов α зберігаємо рівним 0,02. Для вибору заходу потрібно додатково врахувати вартість прискорення ремонту та можливість спільних причин відмов.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Стан деградації може бути необхідним, якщо він впливає на майбутні переходи. Не додавайте без даних усі можливі зв’язки між станами.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Майбутня інтенсивність залежить від поточного n. У M/M/c швидкість завершень дорівнює min(n,c)μ, що розглянемо в наступних лекціях.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Поверніться до числа α=0,02 1/год та до добутку αt. Попросіть пояснити, чому лише другий має безрозмірну одиницю, але не завжди є ймовірністю.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подвійної α стаціонарна доступність становить 0,5/0,54. Для подвійної β вона дорівнює 1/1,02. Перевірте перед інтерпретацією, що саме змінив студент.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Діагональ компенсує вихідні інтенсивності. expm є матричною експонентою. Так, доступність включає відновлення після відмов, безвідмовність їх виключає.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https://docs.scipy.org/doc/scipy-1.17.0/reference/generated/scipy.linalg.expm.html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246d3f0c348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3633a9ba340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4b452ceb54b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1e66a90cf43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0fe6c8eec4f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7ddb33e074f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31EEA4-2F6A-482A-AB03-62FFEF63D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41F739-12BC-4760-BE1D-92A02A27CC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F8E195-3FC6-4C4C-9938-FAACC5235A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74797F-A03F-4B16-A5A8-D7A220F5D4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FAF708-2FE1-409A-AFDB-6D93636E53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3226D5-2980-475E-83FB-ECD3D5BFF9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382C97-86C7-4D78-8078-11E5F62691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77522B-232C-401C-9E54-5CFBAC505B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F9DA5-C455-4184-9DF9-043057F6F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42C342-52BD-4045-A230-B552BB0A8E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e081a3cef541e1" /><Relationship Type="http://schemas.openxmlformats.org/officeDocument/2006/relationships/slideLayout" Target="/ppt/slideLayouts/slideLayout1.xml" Id="Rd242392f92044029" /><Relationship Type="http://schemas.openxmlformats.org/officeDocument/2006/relationships/slideLayout" Target="/ppt/slideLayouts/slideLayout2.xml" Id="R220a8c856dc148a7" /><Relationship Type="http://schemas.openxmlformats.org/officeDocument/2006/relationships/slideLayout" Target="/ppt/slideLayouts/slideLayout3.xml" Id="Rf268b4eb522e4e90" /><Relationship Type="http://schemas.openxmlformats.org/officeDocument/2006/relationships/slideLayout" Target="/ppt/slideLayouts/slideLayout4.xml" Id="Rab8b5e1bc4ac4ef2" /><Relationship Type="http://schemas.openxmlformats.org/officeDocument/2006/relationships/slideLayout" Target="/ppt/slideLayouts/slideLayout5.xml" Id="R09a4140bb1e44b31" /><Relationship Type="http://schemas.openxmlformats.org/officeDocument/2006/relationships/slideLayout" Target="/ppt/slideLayouts/slideLayout6.xml" Id="Rc189d042b84d40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42392f92044029"/>
    <p:sldLayoutId xmlns:r="http://schemas.openxmlformats.org/officeDocument/2006/relationships" id="2147483650" r:id="R220a8c856dc148a7"/>
    <p:sldLayoutId xmlns:r="http://schemas.openxmlformats.org/officeDocument/2006/relationships" id="2147483651" r:id="Rf268b4eb522e4e90"/>
    <p:sldLayoutId xmlns:r="http://schemas.openxmlformats.org/officeDocument/2006/relationships" id="2147483652" r:id="Rab8b5e1bc4ac4ef2"/>
    <p:sldLayoutId xmlns:r="http://schemas.openxmlformats.org/officeDocument/2006/relationships" id="2147483653" r:id="R09a4140bb1e44b31"/>
    <p:sldLayoutId xmlns:r="http://schemas.openxmlformats.org/officeDocument/2006/relationships" id="2147483654" r:id="Rc189d042b84d40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bdf21aa4b4c4b" /><Relationship Type="http://schemas.openxmlformats.org/officeDocument/2006/relationships/notesSlide" Target="/ppt/notesSlides/notesSlide1.xml" Id="R51a1411f631541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e222029f04a9d" /><Relationship Type="http://schemas.openxmlformats.org/officeDocument/2006/relationships/notesSlide" Target="/ppt/notesSlides/notesSlide2.xml" Id="Rc158fa276ed343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a7f8316cc4bda" /><Relationship Type="http://schemas.openxmlformats.org/officeDocument/2006/relationships/notesSlide" Target="/ppt/notesSlides/notesSlide3.xml" Id="Ra3182a494f0242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3299dcbb84fc8" /><Relationship Type="http://schemas.openxmlformats.org/officeDocument/2006/relationships/notesSlide" Target="/ppt/notesSlides/notesSlide4.xml" Id="Rf3ba6339976f4c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ce37143ba449e" /><Relationship Type="http://schemas.openxmlformats.org/officeDocument/2006/relationships/notesSlide" Target="/ppt/notesSlides/notesSlide5.xml" Id="Rb55e5eabc79544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d6fd90b094b69" /><Relationship Type="http://schemas.openxmlformats.org/officeDocument/2006/relationships/notesSlide" Target="/ppt/notesSlides/notesSlide6.xml" Id="R7666789524cf44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ce9671a5541d8" /><Relationship Type="http://schemas.openxmlformats.org/officeDocument/2006/relationships/notesSlide" Target="/ppt/notesSlides/notesSlide7.xml" Id="R5d394b766c2547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54596c49d42d0" /><Relationship Type="http://schemas.openxmlformats.org/officeDocument/2006/relationships/notesSlide" Target="/ppt/notesSlides/notesSlide8.xml" Id="Re18a42dd54d54c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d8d3aa3c54f4b" /><Relationship Type="http://schemas.openxmlformats.org/officeDocument/2006/relationships/notesSlide" Target="/ppt/notesSlides/notesSlide9.xml" Id="Re93449a8e91d45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f23258d6b439b" /><Relationship Type="http://schemas.openxmlformats.org/officeDocument/2006/relationships/notesSlide" Target="/ppt/notesSlides/notesSlide10.xml" Id="Ra622f25b44414d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e81b6dd5d424d" /><Relationship Type="http://schemas.openxmlformats.org/officeDocument/2006/relationships/notesSlide" Target="/ppt/notesSlides/notesSlide11.xml" Id="Rc5b38973e8b644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9eacc3dea4c11" /><Relationship Type="http://schemas.openxmlformats.org/officeDocument/2006/relationships/notesSlide" Target="/ppt/notesSlides/notesSlide12.xml" Id="Rafed316a84e144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3d59be3f845f7" /><Relationship Type="http://schemas.openxmlformats.org/officeDocument/2006/relationships/chart" Target="/ppt/slides/charts/chart1.xml" Id="R764c05ed46124c9f" /><Relationship Type="http://schemas.openxmlformats.org/officeDocument/2006/relationships/notesSlide" Target="/ppt/notesSlides/notesSlide13.xml" Id="R3f47ef4063b646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fcffa50384fef" /><Relationship Type="http://schemas.openxmlformats.org/officeDocument/2006/relationships/notesSlide" Target="/ppt/notesSlides/notesSlide14.xml" Id="Ra28c43acf91641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dfc45b2994346" /><Relationship Type="http://schemas.openxmlformats.org/officeDocument/2006/relationships/notesSlide" Target="/ppt/notesSlides/notesSlide15.xml" Id="Rfddbb2646cea45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f948437e44028" /><Relationship Type="http://schemas.openxmlformats.org/officeDocument/2006/relationships/notesSlide" Target="/ppt/notesSlides/notesSlide16.xml" Id="R85456f04acaf4d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3841e0f2342e0" /><Relationship Type="http://schemas.openxmlformats.org/officeDocument/2006/relationships/notesSlide" Target="/ppt/notesSlides/notesSlide17.xml" Id="Re01d01d9e6b145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02f38780a4bea" /><Relationship Type="http://schemas.openxmlformats.org/officeDocument/2006/relationships/notesSlide" Target="/ppt/notesSlides/notesSlide18.xml" Id="Rbb94d2a8a98c44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d7afe4b634c51" /><Relationship Type="http://schemas.openxmlformats.org/officeDocument/2006/relationships/notesSlide" Target="/ppt/notesSlides/notesSlide19.xml" Id="R70eb0b903e3f41e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1774ba3eb460b" /><Relationship Type="http://schemas.openxmlformats.org/officeDocument/2006/relationships/notesSlide" Target="/ppt/notesSlides/notesSlide20.xml" Id="R04f7df3f458c43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a40cf10484837" /><Relationship Type="http://schemas.openxmlformats.org/officeDocument/2006/relationships/notesSlide" Target="/ppt/notesSlides/notesSlide21.xml" Id="Re7a1be7723bf4d5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673df994a41ef" /><Relationship Type="http://schemas.openxmlformats.org/officeDocument/2006/relationships/notesSlide" Target="/ppt/notesSlides/notesSlide22.xml" Id="Rdad4541b5460473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574b9d575477e" /><Relationship Type="http://schemas.openxmlformats.org/officeDocument/2006/relationships/notesSlide" Target="/ppt/notesSlides/notesSlide23.xml" Id="Rda0ca41bea4b473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eeae37750431b" /><Relationship Type="http://schemas.openxmlformats.org/officeDocument/2006/relationships/hyperlink" Target="https://ocw.mit.edu/courses/6-436j-fundamentals-of-probability-fall-2018/resources/mit6_436jf18_lec24/" TargetMode="External" Id="R8ed234152a5e4310" /><Relationship Type="http://schemas.openxmlformats.org/officeDocument/2006/relationships/hyperlink" Target="https://docs.scipy.org/doc/scipy-1.17.0/reference/generated/scipy.linalg.expm.html" TargetMode="External" Id="R1b8b102e38b049af" /><Relationship Type="http://schemas.openxmlformats.org/officeDocument/2006/relationships/notesSlide" Target="/ppt/notesSlides/notesSlide24.xml" Id="R61be936da12d46e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Зі старту U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xVal>
          <c:yVal>
            <c:numRef>
              <c:f>'Chart Data'!$B$2:$B$14</c:f>
              <c:numCache>
                <c:formatCode>0.00</c:formatCode>
                <c:ptCount val="13"/>
                <c:pt idx="0">
                  <c:v>1</c:v>
                </c:pt>
                <c:pt idx="1">
                  <c:v>0.98440463646</c:v>
                </c:pt>
                <c:pt idx="2">
                  <c:v>0.975132872383</c:v>
                </c:pt>
                <c:pt idx="3">
                  <c:v>0.969620618123</c:v>
                </c:pt>
                <c:pt idx="4">
                  <c:v>0.9663434697</c:v>
                </c:pt>
                <c:pt idx="5">
                  <c:v>0.964395137624</c:v>
                </c:pt>
                <c:pt idx="6">
                  <c:v>0.96323681417</c:v>
                </c:pt>
                <c:pt idx="7">
                  <c:v>0.962548167076</c:v>
                </c:pt>
                <c:pt idx="8">
                  <c:v>0.962138752228</c:v>
                </c:pt>
                <c:pt idx="9">
                  <c:v>0.961895346688</c:v>
                </c:pt>
                <c:pt idx="10">
                  <c:v>0.961750637093</c:v>
                </c:pt>
                <c:pt idx="11">
                  <c:v>0.961664604265</c:v>
                </c:pt>
                <c:pt idx="12">
                  <c:v>0.961613455982</c:v>
                </c:pt>
              </c:numCache>
            </c:numRef>
          </c:yVal>
        </c:ser>
        <c:ser>
          <c:idx val="1"/>
          <c:order val="1"/>
          <c:tx>
            <c:v>Зі старту D</c:v>
          </c:tx>
          <c:spPr>
            <a:solidFill xmlns:a="http://schemas.openxmlformats.org/drawingml/2006/main">
              <a:srgbClr val="D06B25"/>
            </a:solidFill>
            <a:ln xmlns:a="http://schemas.openxmlformats.org/drawingml/2006/main" w="28575">
              <a:solidFill>
                <a:srgbClr val="D06B2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06B25"/>
              </a:solidFill>
            </c:spPr>
          </c:marker>
          <c:xVal>
            <c:numRef>
              <c:f>'Chart Data'!$C$2:$C$14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xVal>
          <c:yVal>
            <c:numRef>
              <c:f>'Chart Data'!$D$2:$D$14</c:f>
              <c:numCache>
                <c:formatCode>0.00</c:formatCode>
                <c:ptCount val="13"/>
                <c:pt idx="0">
                  <c:v>0</c:v>
                </c:pt>
                <c:pt idx="1">
                  <c:v>0.38988408849</c:v>
                </c:pt>
                <c:pt idx="2">
                  <c:v>0.621678190424</c:v>
                </c:pt>
                <c:pt idx="3">
                  <c:v>0.759484546922</c:v>
                </c:pt>
                <c:pt idx="4">
                  <c:v>0.841413257501</c:v>
                </c:pt>
                <c:pt idx="5">
                  <c:v>0.890121559409</c:v>
                </c:pt>
                <c:pt idx="6">
                  <c:v>0.91907964575</c:v>
                </c:pt>
                <c:pt idx="7">
                  <c:v>0.93629582311</c:v>
                </c:pt>
                <c:pt idx="8">
                  <c:v>0.946531194308</c:v>
                </c:pt>
                <c:pt idx="9">
                  <c:v>0.952616332801</c:v>
                </c:pt>
                <c:pt idx="10">
                  <c:v>0.956234072672</c:v>
                </c:pt>
                <c:pt idx="11">
                  <c:v>0.958384893363</c:v>
                </c:pt>
                <c:pt idx="12">
                  <c:v>0.959663600459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P(U)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Час, год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D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C6921BBC-2AF9-42C2-A50C-9B191F66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9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22B68BD-B155-45B7-A77A-8249A82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Марковські процеси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 неперервним часом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00E5601-AC5A-42F6-B595-757E07D2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Відмови й відновлення сервера, генератор Q та доступність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278C819A-B764-4FE1-B504-85C3B213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1926417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4A4EB94-E090-4A18-84ED-5548E6A7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і результат навчання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B4A2679-4310-4F93-A891-55CCAD5A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5B4C79B2-F053-41C9-BBF2-F4CFE7FD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Відрізнити інтенсивність від ймовірності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E48CE724-35FE-4A28-86B3-E07CDB62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931EFC7-E819-4A7B-8A41-68CB697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Побудувати генератор Q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F4433E51-EA02-4F16-A7D9-DEFC3217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96F8D57-1AE1-47AA-8FD2-1D405E00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Обчислити перехідний і стаціонарний режими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87A10DF8-6C5D-4A08-962C-4A8229E8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B95166E6-4848-446A-8E3A-D8D2FBCB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Пов’язати модель сервера з моделями черг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59B422A-68E8-44C7-BD60-56A8A143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Результат: оцінка доступності в будь-який момент часу.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69B8F0-5A55-4C89-933B-7F689828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7186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AD39568-EE65-45D5-9D5D-4758D2A7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Задача: сервер відмовляє і відновлюється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96328954-6C30-4166-A89B-78874198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286EE7F-BECA-40A5-B120-E17E4645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U: працездатний, D: у ремонті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26D0B9C4-B399-445C-9B39-B2772F2A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DE00166-5148-456E-A985-DB54CDD6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Інтенсивність відмов α = 0,02 за годину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CF1C6DD-77E2-4878-B80D-8D645F2F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9D56858-DE01-495F-A543-8D500B5C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Інтенсивність відновлення β = 0,5 за годину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BDACE9D-5E2D-48C5-8C9A-F7AC46AB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B13478F8-48A3-4AB6-BCB4-14604A35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Початковий стан U. Потрібно знайти P(U у момент t)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0ADCE461-156B-46F8-895A-E064D5D9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Параметри мають одиницю 1/год, а не відсотки.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22E805-F948-420E-A69A-EF85F38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7345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01D786C-774D-4EFE-97A3-6BD69FB0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Інтенсивність і середній час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0A10A-0135-4B52-8E0C-C0C3517904BF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80930"/>
                <a:gridCol w="2480930"/>
                <a:gridCol w="570614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Величина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Зміст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0,02 1/год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Відмови зі стану 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1/α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50 год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Середній час до відмови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 1/год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Відновлення зі стану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1/β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 год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Середній час ремонту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5A5554D5-1522-44A3-8C03-2A3A9C9F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Обернена інтенсивність дає середній час перебування.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611F41-1048-4E4E-A2DB-87D4CFB5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7660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E821C21-B4F0-4813-AB21-5D1858DD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Ймовірність на малому інтервалі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EC88EDE-4D32-4ECD-96DF-2C8D13B6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08139BC5-BB88-4ED7-BAB5-84489B21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P(U до D за Δt) ≈ αΔt для малого Δt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029D686B-7F3A-4F4F-958D-82366EF3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21466857-8AB0-45AD-9CCD-4E89D3E8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Δt = 0,1 год: приблизно 0,002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C610FF34-0F2F-4172-A295-9415C72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92DF51B-79F0-433B-A607-5B582CD8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Точна ймовірність хоча б однієї відмови: 1−exp(−αΔt)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21EC460E-F596-4EB5-9A40-15784584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707D1B10-5764-414D-A595-2E53D8F0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Не можна множити α на довільно великий час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01D8E657-CBC6-4881-A22F-68ADDE06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Наближення αΔt працює лише на малому інтервалі.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476255-37F2-424A-BD5A-351752F6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47924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3ECF979-8D6F-4964-8CA3-38B05B90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Генератор Q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E0033-B108-4BF6-BEDF-86DA8398A56E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667000"/>
                <a:gridCol w="2667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Поточний / наступний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−0,02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−0,50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DBBE127-5220-4325-82AA-DEDFC47D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Позадіагональні елементи невід’ємні, сума рядка Q дорівнює 0.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D5E2527-7719-4467-8E79-B1BB2276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3196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FDCE796D-EB13-41EA-A81B-E52EA1AE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Рівняння зміни ймовірності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07C19F4C-E5EC-4A1C-A045-06DAF10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92CDC1F-9BE4-49D0-84EC-C8CB3B67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Приріст P(U): ремонти додають, відмови віднімають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C9197314-E617-4999-874A-0B02F41C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7CA3E130-7375-4303-AA90-27E81C46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dpU/dt = βpD − αpU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1C474A5E-D625-4640-BFC7-FBDA9862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D71231A-5E27-4C6F-9910-F6E0C79A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pD = 1 − pU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AFB48698-BC7B-4E06-8F23-2C2E72B0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15BA4586-D6BD-4A22-B66B-156EA10C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pU(0) = 1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FDEB723-4819-4A5E-8A05-63FB0F6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Кожен доданок має зміст потоку ймовірності.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3974F6-16F0-477C-A8EA-8CD714D8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86917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80D1256-D98E-495D-B994-123B85D1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Загальна матрична модель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B151A61-4EEC-456E-A636-472EED57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63038ABC-F243-4891-8D08-F0537779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p(t): рядок імовірностей станів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F997F45E-284C-4F0B-BAF7-EE52985A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7B75C9D9-5C2A-4BA5-802A-60A16362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p′(t) = p(t)Q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4F2DDA01-6145-4D8E-8A81-532B9317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928DB37-2D4C-4044-A189-3F03DD02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p(t) = p(0) exp(Qt)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B912A96C-2330-460D-9348-706956E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DE277A28-AA93-4688-BCFE-5031D534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exp(Qt) є матрицею переходів за час t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F7EAF7C9-EBE3-4803-9BFC-E3D16B83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У коді потрібна матрична експонента expm.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4F0464-B9CF-4C6E-8BA1-89C563E1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58059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C7DDB63-CAD9-403C-9F6D-40FEFE5E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Перехідний режим за часом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6A447-5579-40A4-AC34-60B026B8E27E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t, год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P(U)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P(D)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1.000000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0.000000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0.984405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0.015595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0.975133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0.024867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0.964395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0.035605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0.961751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0.038249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5915A006-4774-417C-AA12-541ABD3C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сервер точно працює, потім доступність зменшується до межі.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20BB7C-D56E-48C4-82B6-9763212E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57953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117C84-1DC6-4E44-B8BD-BAF22F78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генератор і початковий стан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9D86E94-77B0-46AD-A131-BD19A6DB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from scipy.linalg import expm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Q = np.array([[-.02,.02],[.5,-.5]])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p0 = np.array([1.,0.])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np.allclose(Q.sum(axis=1),0)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Q[0,1] &gt;= 0 and Q[1,0] &gt;= 0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DC6D1656-F54B-43A9-9906-00AE59A3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Q описує швидкості переходів у спільних одиницях часу.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BDFA2A-62D2-4ECC-9A8C-BDE44ACF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9949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771EF50-098F-4307-ADE5-C4D7228E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ймовірності у вибрані моменти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F5F7A6DD-65B2-43EC-89A7-486AB5C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for t in [0,1,2,5,10]: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P_t = expm(Q*t)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p_t = p0 @ P_t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print(t, np.round(p_t,6))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assert np.allclose(P_t.sum(axis=1),1)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328C32E0-EA46-4C5F-8764-D20CDE3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expm(Q*t) враховує всі можливі переходи до часу t.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2A4C84-6084-4324-92CE-097C0951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9513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EFD3BDD-0AFF-4093-80AA-4A371B9B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вивід expm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8C4C4B12-E5A5-4D14-9BED-3FDD8325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0 [1. 0.]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1 [0.984405 0.015595]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2 [0.975133 0.024867]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5 [0.964395 0.035605]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10 [0.961751 0.038249]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F666B23C-B170-4F0E-93C8-258295A7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Через 2 години ймовірність U приблизно 0,97513.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AA34A6-79DE-47CA-8123-67D366F7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53185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E1D5F7-F352-4196-BA32-444B9112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Доступність у часі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864E00D3-19FC-4605-8127-AC4F86B7DE2F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4c05ed46124c9f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29D41FE3-4D6C-43C4-A36A-194512CE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Різні старти мають однакову стаціонарну межу.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07E613-1634-42E0-AE47-B5DB12F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850150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E10C2F4-E04D-427E-8320-24D49F7A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Стаціонарний баланс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FC424A2-18AF-435A-98D7-17F62822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89226C0C-D6BC-4618-825A-E4E5FAF3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απU = βπD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800D5824-7F45-4598-9551-F82B8FA1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96C29C9-8FF7-42B3-8583-377B8B78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πU + πD = 1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2BD3C0C-5EB3-458B-AD2A-ABD81727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864100E-2C14-42C5-A96D-317FFFA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πU = β/(α+β) = 0,961538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56BA41C0-AE24-4D75-9248-6A8B8A5E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CB7EB3A3-F1DC-4B51-91E5-4CF71ABD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πD = α/(α+β) = 0,038462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086F671-864D-46C4-93C6-23F73728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Модель прогнозує близько 96,15% часу в працездатному стані.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BDC1B0E-46F4-4BCB-83F5-3B84A8B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186051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DF54FB8-4159-4E89-9CE6-47D666AC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стаціонарний режим CTMC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B239F1A3-C163-4E1C-B347-D9C2E0F4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 = Q.T.copy()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A[-1] = 1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pi = np.linalg.solve(A,np.array([0.,1.]))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print("pi:", np.round(pi,6))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print("Баланс:", np.allclose(pi @ Q,0))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2610C82A-3781-49E8-A1AC-65AE8F8F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Для CTMC перевіряємо πQ=0, для DTMC перевіряли πP=π.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782010-C65A-4B1F-BF38-5E16444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91004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CACB56E-9E95-4E32-B219-FC4A9AA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Фактична перевірка балансу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7FAA55B2-419B-404A-95E0-F0C2466D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pi: [0.961538 0.038462]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Баланс: True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378D2F58-CD13-4863-934B-3C8CC95F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Нульовий баланс не означає нульових відмов.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4F2366A-6D14-4B16-8866-7FFDA899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286624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878F44D-A671-4DBD-9A46-66A38FB5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Доступність і безвідмовність через 10 год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BAD08-13F2-45F5-913C-81B2DB1A9B58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07429"/>
                <a:gridCol w="2177143"/>
                <a:gridCol w="3483429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Показник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Значення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Враховує ремонти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P(U у t=10)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0,961751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Так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P(жодної відмови до 10)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0,818731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C1A302C-9E38-4120-A90F-1190DE53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A(t) і R(t) відповідають на різні інженерні запитання.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7D8CC68-7647-4F59-924E-CD14954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283100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95D189-C2C0-4A22-B8A6-062EF1F5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Вплив ремонту на доступність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312E0-35EB-41CD-8C7E-3D8573270435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667000"/>
                <a:gridCol w="2667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Середній ремонт, год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β, 1/год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πU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0,925926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0,961538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0,980392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0,990099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6CBA6D55-D2A1-41CB-863D-1570A7B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Скорочення ремонту з 2 до 1 год підвищує доступність до 98,04%.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9A5897-A4E4-41E2-BA65-9AE2CECA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131320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A9680E01-BC4E-4BF6-814B-C2FE1FC6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Модель із трьома станами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9C699E09-7EB4-466D-86B9-59004771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3FCD9ED-B7C4-449A-B218-2FEAD842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U: працює, G: деградація, D: відмова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E0A66398-9BBC-443D-92F0-7C0F17C4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7510F45-E8D6-40CF-B109-E6E994E6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Кожна дозволена подія має інтенсивність qij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43AEF523-C95A-466D-95DE-1DF80605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1879EB7-1E45-4587-A34B-B1782293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Діагональ qiі = − сума інших елементів рядка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8DA0B19D-C3E3-473F-8DAE-AC5356CD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0075331-C2B6-4521-AFC7-23832A1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Далі застосовуємо p′=pQ та нормування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3516CDC8-E73B-4FC4-9891-F762AD7E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Збільшення числа станів не змінює загальний метод.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7193FB-F79B-4849-BC3F-3A6D07EF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004165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AEB2DF8-938F-4A43-BEE8-60E0CB64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Зв’язок із процесами народження–смерті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41A8568-9E03-44A9-B45C-C51EAF1E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3F5744FA-1AA2-4BF4-B0CF-B820276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Стан n може означати число запитів у системі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807BEE6A-9B6C-4F3E-9E29-C4E29157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D90F2F21-1BAC-4936-9102-992D97A2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Надходження змінює n на n+1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A1C9B62-F731-4622-83C8-3EF23893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EFC1867-92D8-40C2-929C-1E5BADB5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Завершення обслуговування змінює n на n−1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D24BE20C-4077-4FC2-A12E-A790FDC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1A908FA-3BA6-4B14-9CA9-17F69562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Це основа наступних моделей M/M/1 та M/M/c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A674B07-DD50-45E0-80DC-809953A6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Марковський стан може описувати кількість, а не стан обладнання.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A5D774-4B1C-4936-87E0-3B30E61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98314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17F51473-B6B9-4966-A0CB-85D09290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Типові помилки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C9BCB0BF-111E-4952-AD14-06E1B83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74C5CB90-7AD8-4641-BAE1-55CFACDD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Елемент Q трактують як ймовірність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4062D741-33F6-4C9A-8C63-D1F29D70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BE0BC6F-894F-401B-8A6E-4199D58C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Застосовують np.exp замість expm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676CCA03-BB40-4C78-B48D-90141A09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9BF83C5-9949-40DD-A592-52BB7E85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Забувають нормування стаціонарного розподілу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D05B3EBC-5DC3-4AA2-8EF6-E03AF925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B225020E-5C17-4898-A63D-D7A7C9D6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Безвідмовність підміняють доступністю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4E076F6C-EA4E-4D43-8C07-B832A5A7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Перевірка одиниць вимірювання виявляє багато помилок.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4ED5BA1-0443-4985-91E7-4950420E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264771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A4B027B-4C6B-4947-B795-806477D4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Експеримент у Notebook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A852693C-EDE2-4FB1-AC59-91A3F86D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586551B6-5AE6-4D01-BB52-1B14142E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Почати зі стану D та порівняти p(2)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59AE5C33-2112-4C58-88CE-F33F4B0A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19BAEC6-E13D-44B6-8129-0231E77A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Збільшити α удвічі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687FD4F6-D4D5-44A1-A361-ECDFD638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CB171AA-BC5B-4F45-A4D8-E2401064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Скоротити середній ремонт удвічі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D89A9A92-608B-47F4-8734-75DF4C9D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3B450D84-749C-48A1-8898-5973E69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зміни πU та пояснити їх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B237835-FDD7-425A-9583-416BE7F7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Зміна параметра має відповідати реальній зміні системи.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FACF32C-B732-4837-BB7E-81845B1B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881144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3C33663-8806-484F-9C26-6BA4E42B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A3D2E7D5-F4AC-4EFF-9E8A-17B8481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4AFEAA55-9BA9-46B6-8750-A92AAD78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діагональ Q від’ємна?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FEE2AE0-75DB-4BBC-908E-F3598ABC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2A3116F-0775-4EB2-A9CA-8A3BA0D4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Яка різниця між expm(Qt) і np.exp(Qt)?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EC196549-BB94-4489-AA62-E2A9EA45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D39E38F-BCF8-40A2-8F10-4746250D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Чи може A(t) бути більшою за R(t)?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C9BD7CC8-3D68-4420-BD38-E031149E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DD22E3E-5313-486F-B6C4-A593273C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301730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8B7ACEF-0303-4386-A667-B9421696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markov">
            <a:extLst xmlns:a="http://schemas.openxmlformats.org/drawingml/2006/main">
              <a:ext uri="{FF2B5EF4-FFF2-40B4-BE49-F238E27FC236}">
                <a16:creationId xmlns:a16="http://schemas.microsoft.com/office/drawing/2014/main" id="{47837A91-C14C-4C97-9261-C0614D25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8ed234152a5e4310"/>
              </a:rPr>
              <a:t>MIT · марковські ланцюги та генератори</a:t>
            </a:r>
          </a:p>
        </p:txBody>
      </p:sp>
      <p:sp>
        <p:nvSpPr>
          <p:cNvPr id="3" name="source-expm">
            <a:extLst xmlns:a="http://schemas.openxmlformats.org/drawingml/2006/main">
              <a:ext uri="{FF2B5EF4-FFF2-40B4-BE49-F238E27FC236}">
                <a16:creationId xmlns:a16="http://schemas.microsoft.com/office/drawing/2014/main" id="{CA63272C-A0D7-4E07-86FE-4BD56C23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1b8b102e38b049af"/>
              </a:rPr>
              <a:t>SciPy · матрична експонента expm</a:t>
            </a:r>
          </a:p>
        </p:txBody>
      </p:sp>
      <p:sp>
        <p:nvSpPr>
          <p:cNvPr id="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AA6AF46-BE9A-4014-A4E7-08304E79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B0C8794D-FAD9-43FA-B429-2A3BCD78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68B041-CF5E-40D0-9AC8-FFB14FDA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96594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2026-10-19T09:24:37.3600000Z</dcterms:created>
  <dcterms:modified xsi:type="dcterms:W3CDTF">2026-10-19T09:24:37.3600000Z</dcterms:modified>
</coreProperties>
</file>