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1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slides/charts/chart2.xml" ContentType="application/vnd.openxmlformats-officedocument.drawingml.chart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8b54bbc3431431e" /><Relationship Type="http://schemas.openxmlformats.org/officeDocument/2006/relationships/extended-properties" Target="/docProps/app.xml" Id="R125344f5c8094693" /><Relationship Type="http://schemas.openxmlformats.org/officeDocument/2006/relationships/officeDocument" Target="/ppt/presentation.xml" Id="Ra258dda7ad12484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3d685fa954b43c8"/>
  </p:sldMasterIdLst>
  <p:notesMasterIdLst>
    <p:notesMasterId xmlns:r="http://schemas.openxmlformats.org/officeDocument/2006/relationships" r:id="R6a4075c742f64e40"/>
  </p:notesMasterIdLst>
  <p:sldIdLst>
    <p:sldId xmlns:r="http://schemas.openxmlformats.org/officeDocument/2006/relationships" id="256" r:id="R066365e10d804505"/>
    <p:sldId xmlns:r="http://schemas.openxmlformats.org/officeDocument/2006/relationships" id="257" r:id="R9b36cbdec02e4e4a"/>
    <p:sldId xmlns:r="http://schemas.openxmlformats.org/officeDocument/2006/relationships" id="258" r:id="R82022bdb0f724424"/>
    <p:sldId xmlns:r="http://schemas.openxmlformats.org/officeDocument/2006/relationships" id="259" r:id="R0bd02a38c5274758"/>
    <p:sldId xmlns:r="http://schemas.openxmlformats.org/officeDocument/2006/relationships" id="260" r:id="R3c4dc05d74b645e3"/>
    <p:sldId xmlns:r="http://schemas.openxmlformats.org/officeDocument/2006/relationships" id="261" r:id="R79b775992b054855"/>
    <p:sldId xmlns:r="http://schemas.openxmlformats.org/officeDocument/2006/relationships" id="262" r:id="R1cfd98bcbee34e00"/>
    <p:sldId xmlns:r="http://schemas.openxmlformats.org/officeDocument/2006/relationships" id="263" r:id="R6061d6bcd6344346"/>
    <p:sldId xmlns:r="http://schemas.openxmlformats.org/officeDocument/2006/relationships" id="264" r:id="R0b09e96334e8464a"/>
    <p:sldId xmlns:r="http://schemas.openxmlformats.org/officeDocument/2006/relationships" id="265" r:id="Rf89193c4e8f64460"/>
    <p:sldId xmlns:r="http://schemas.openxmlformats.org/officeDocument/2006/relationships" id="266" r:id="R27d7ff4ed15748a9"/>
    <p:sldId xmlns:r="http://schemas.openxmlformats.org/officeDocument/2006/relationships" id="267" r:id="R22f83cd412384b29"/>
    <p:sldId xmlns:r="http://schemas.openxmlformats.org/officeDocument/2006/relationships" id="268" r:id="R98d75b16ac064172"/>
    <p:sldId xmlns:r="http://schemas.openxmlformats.org/officeDocument/2006/relationships" id="269" r:id="R9e027603ad6342b8"/>
    <p:sldId xmlns:r="http://schemas.openxmlformats.org/officeDocument/2006/relationships" id="270" r:id="Rd063cbba1f2d44b4"/>
    <p:sldId xmlns:r="http://schemas.openxmlformats.org/officeDocument/2006/relationships" id="271" r:id="R3793ab5bad8a4039"/>
    <p:sldId xmlns:r="http://schemas.openxmlformats.org/officeDocument/2006/relationships" id="272" r:id="Rb153046c82084859"/>
    <p:sldId xmlns:r="http://schemas.openxmlformats.org/officeDocument/2006/relationships" id="273" r:id="R2e64a42acf85481f"/>
    <p:sldId xmlns:r="http://schemas.openxmlformats.org/officeDocument/2006/relationships" id="274" r:id="R8ee298e354494fe1"/>
    <p:sldId xmlns:r="http://schemas.openxmlformats.org/officeDocument/2006/relationships" id="275" r:id="R3d83270825974ce3"/>
    <p:sldId xmlns:r="http://schemas.openxmlformats.org/officeDocument/2006/relationships" id="276" r:id="R87101d1ff0c2408e"/>
    <p:sldId xmlns:r="http://schemas.openxmlformats.org/officeDocument/2006/relationships" id="277" r:id="R884c3d55c71e41ed"/>
    <p:sldId xmlns:r="http://schemas.openxmlformats.org/officeDocument/2006/relationships" id="278" r:id="Rbdaa07fbc60149d6"/>
    <p:sldId xmlns:r="http://schemas.openxmlformats.org/officeDocument/2006/relationships" id="279" r:id="R0f616c71d14e489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9bbd9df6af54238" /><Relationship Type="http://schemas.openxmlformats.org/officeDocument/2006/relationships/slideMaster" Target="/ppt/slideMasters/slideMaster1.xml" Id="Rb3d685fa954b43c8" /><Relationship Type="http://schemas.openxmlformats.org/officeDocument/2006/relationships/notesMaster" Target="/ppt/notesMasters/notesMaster1.xml" Id="R6a4075c742f64e40" /><Relationship Type="http://schemas.openxmlformats.org/officeDocument/2006/relationships/presProps" Target="/ppt/presProps.xml" Id="Rfc9baa22481447ea" /><Relationship Type="http://schemas.openxmlformats.org/officeDocument/2006/relationships/tableStyles" Target="/ppt/tableStyles.xml" Id="Re52c0c15514046e2" /><Relationship Type="http://schemas.openxmlformats.org/officeDocument/2006/relationships/slide" Target="/ppt/slides/slide1.xml" Id="R066365e10d804505" /><Relationship Type="http://schemas.openxmlformats.org/officeDocument/2006/relationships/slide" Target="/ppt/slides/slide2.xml" Id="R9b36cbdec02e4e4a" /><Relationship Type="http://schemas.openxmlformats.org/officeDocument/2006/relationships/slide" Target="/ppt/slides/slide3.xml" Id="R82022bdb0f724424" /><Relationship Type="http://schemas.openxmlformats.org/officeDocument/2006/relationships/slide" Target="/ppt/slides/slide4.xml" Id="R0bd02a38c5274758" /><Relationship Type="http://schemas.openxmlformats.org/officeDocument/2006/relationships/slide" Target="/ppt/slides/slide5.xml" Id="R3c4dc05d74b645e3" /><Relationship Type="http://schemas.openxmlformats.org/officeDocument/2006/relationships/slide" Target="/ppt/slides/slide6.xml" Id="R79b775992b054855" /><Relationship Type="http://schemas.openxmlformats.org/officeDocument/2006/relationships/slide" Target="/ppt/slides/slide7.xml" Id="R1cfd98bcbee34e00" /><Relationship Type="http://schemas.openxmlformats.org/officeDocument/2006/relationships/slide" Target="/ppt/slides/slide8.xml" Id="R6061d6bcd6344346" /><Relationship Type="http://schemas.openxmlformats.org/officeDocument/2006/relationships/slide" Target="/ppt/slides/slide9.xml" Id="R0b09e96334e8464a" /><Relationship Type="http://schemas.openxmlformats.org/officeDocument/2006/relationships/slide" Target="/ppt/slides/slide10.xml" Id="Rf89193c4e8f64460" /><Relationship Type="http://schemas.openxmlformats.org/officeDocument/2006/relationships/slide" Target="/ppt/slides/slide11.xml" Id="R27d7ff4ed15748a9" /><Relationship Type="http://schemas.openxmlformats.org/officeDocument/2006/relationships/slide" Target="/ppt/slides/slide12.xml" Id="R22f83cd412384b29" /><Relationship Type="http://schemas.openxmlformats.org/officeDocument/2006/relationships/slide" Target="/ppt/slides/slide13.xml" Id="R98d75b16ac064172" /><Relationship Type="http://schemas.openxmlformats.org/officeDocument/2006/relationships/slide" Target="/ppt/slides/slide14.xml" Id="R9e027603ad6342b8" /><Relationship Type="http://schemas.openxmlformats.org/officeDocument/2006/relationships/slide" Target="/ppt/slides/slide15.xml" Id="Rd063cbba1f2d44b4" /><Relationship Type="http://schemas.openxmlformats.org/officeDocument/2006/relationships/slide" Target="/ppt/slides/slide16.xml" Id="R3793ab5bad8a4039" /><Relationship Type="http://schemas.openxmlformats.org/officeDocument/2006/relationships/slide" Target="/ppt/slides/slide17.xml" Id="Rb153046c82084859" /><Relationship Type="http://schemas.openxmlformats.org/officeDocument/2006/relationships/slide" Target="/ppt/slides/slide18.xml" Id="R2e64a42acf85481f" /><Relationship Type="http://schemas.openxmlformats.org/officeDocument/2006/relationships/slide" Target="/ppt/slides/slide19.xml" Id="R8ee298e354494fe1" /><Relationship Type="http://schemas.openxmlformats.org/officeDocument/2006/relationships/slide" Target="/ppt/slides/slide20.xml" Id="R3d83270825974ce3" /><Relationship Type="http://schemas.openxmlformats.org/officeDocument/2006/relationships/slide" Target="/ppt/slides/slide21.xml" Id="R87101d1ff0c2408e" /><Relationship Type="http://schemas.openxmlformats.org/officeDocument/2006/relationships/slide" Target="/ppt/slides/slide22.xml" Id="R884c3d55c71e41ed" /><Relationship Type="http://schemas.openxmlformats.org/officeDocument/2006/relationships/slide" Target="/ppt/slides/slide23.xml" Id="Rbdaa07fbc60149d6" /><Relationship Type="http://schemas.openxmlformats.org/officeDocument/2006/relationships/slide" Target="/ppt/slides/slide24.xml" Id="R0f616c71d14e489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eea2484e3364a0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f6781f15bd94d91" /><Relationship Type="http://schemas.openxmlformats.org/officeDocument/2006/relationships/notesMaster" Target="/ppt/notesMasters/notesMaster1.xml" Id="Rb881fd8049b34fe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20902d3754b436d" /><Relationship Type="http://schemas.openxmlformats.org/officeDocument/2006/relationships/notesMaster" Target="/ppt/notesMasters/notesMaster1.xml" Id="R4c5a5ea14ad2405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4748644ba6a4d1f" /><Relationship Type="http://schemas.openxmlformats.org/officeDocument/2006/relationships/notesMaster" Target="/ppt/notesMasters/notesMaster1.xml" Id="Rdbeecfe7cbf5484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9df2c0c061a464e" /><Relationship Type="http://schemas.openxmlformats.org/officeDocument/2006/relationships/notesMaster" Target="/ppt/notesMasters/notesMaster1.xml" Id="R5b07be2505e6467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ad15eba4001464c" /><Relationship Type="http://schemas.openxmlformats.org/officeDocument/2006/relationships/notesMaster" Target="/ppt/notesMasters/notesMaster1.xml" Id="Rcbdeb05b41ff4b0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128c6a655684bec" /><Relationship Type="http://schemas.openxmlformats.org/officeDocument/2006/relationships/notesMaster" Target="/ppt/notesMasters/notesMaster1.xml" Id="R43163d02d1374bb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ad572b588ec4547" /><Relationship Type="http://schemas.openxmlformats.org/officeDocument/2006/relationships/notesMaster" Target="/ppt/notesMasters/notesMaster1.xml" Id="R0de2fa512743438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7d4f9dcefb64222" /><Relationship Type="http://schemas.openxmlformats.org/officeDocument/2006/relationships/notesMaster" Target="/ppt/notesMasters/notesMaster1.xml" Id="R12069a9fc05a476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8032f86d5664ae3" /><Relationship Type="http://schemas.openxmlformats.org/officeDocument/2006/relationships/notesMaster" Target="/ppt/notesMasters/notesMaster1.xml" Id="R9954e144addd4f6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c014afc770a4027" /><Relationship Type="http://schemas.openxmlformats.org/officeDocument/2006/relationships/notesMaster" Target="/ppt/notesMasters/notesMaster1.xml" Id="R1280b8e73e09444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97b2b852e7c48a0" /><Relationship Type="http://schemas.openxmlformats.org/officeDocument/2006/relationships/notesMaster" Target="/ppt/notesMasters/notesMaster1.xml" Id="R132d27d1e87a460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d29448ac09046e6" /><Relationship Type="http://schemas.openxmlformats.org/officeDocument/2006/relationships/notesMaster" Target="/ppt/notesMasters/notesMaster1.xml" Id="Rc0a5e706de5b4d4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0cd31191c814942" /><Relationship Type="http://schemas.openxmlformats.org/officeDocument/2006/relationships/notesMaster" Target="/ppt/notesMasters/notesMaster1.xml" Id="Ra2dfc24fe7a842a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2fd6828ef3f4648" /><Relationship Type="http://schemas.openxmlformats.org/officeDocument/2006/relationships/notesMaster" Target="/ppt/notesMasters/notesMaster1.xml" Id="R470552c49d65413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2f311e8bf62470d" /><Relationship Type="http://schemas.openxmlformats.org/officeDocument/2006/relationships/notesMaster" Target="/ppt/notesMasters/notesMaster1.xml" Id="R9875ae98119944f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d7b49d4c9a44744" /><Relationship Type="http://schemas.openxmlformats.org/officeDocument/2006/relationships/notesMaster" Target="/ppt/notesMasters/notesMaster1.xml" Id="R8f17fc084137421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d641ab674f94aa5" /><Relationship Type="http://schemas.openxmlformats.org/officeDocument/2006/relationships/notesMaster" Target="/ppt/notesMasters/notesMaster1.xml" Id="Ra32f36629821484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bb2ad9b9be44f80" /><Relationship Type="http://schemas.openxmlformats.org/officeDocument/2006/relationships/notesMaster" Target="/ppt/notesMasters/notesMaster1.xml" Id="R7761e7e1d3ce485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0612de821aa41a3" /><Relationship Type="http://schemas.openxmlformats.org/officeDocument/2006/relationships/notesMaster" Target="/ppt/notesMasters/notesMaster1.xml" Id="R859b5cedea364267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654257ddfd5d4766" /><Relationship Type="http://schemas.openxmlformats.org/officeDocument/2006/relationships/notesMaster" Target="/ppt/notesMasters/notesMaster1.xml" Id="R96311cd3478c4877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c5fa65f9eae84ec2" /><Relationship Type="http://schemas.openxmlformats.org/officeDocument/2006/relationships/notesMaster" Target="/ppt/notesMasters/notesMaster1.xml" Id="R480681e4266a4d49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7e9f2ac98e124d81" /><Relationship Type="http://schemas.openxmlformats.org/officeDocument/2006/relationships/notesMaster" Target="/ppt/notesMasters/notesMaster1.xml" Id="R6256c044cab041fc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0ecb29d1e3cf4f34" /><Relationship Type="http://schemas.openxmlformats.org/officeDocument/2006/relationships/notesMaster" Target="/ppt/notesMasters/notesMaster1.xml" Id="Rb6f7c65ea038469c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025ee29179534572" /><Relationship Type="http://schemas.openxmlformats.org/officeDocument/2006/relationships/notesMaster" Target="/ppt/notesMasters/notesMaster1.xml" Id="R34e3eceb78ca47c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Поясніть зв’язок теми з попередніми лекціями. Усі числові приклади є навчальними, а не вимірюваннями реальної інфраструктури.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Джерела для теми:</a:t>
            </a:r>
          </a:p>
          <a:p xmlns:a="http://schemas.openxmlformats.org/drawingml/2006/main">
            <a:r>
              <a:t>https://www.ocw.mit.edu/courses/2-854-introduction-to-manufacturing-systems-fall-2016/resources/mit2_854f16_mm1queue/</a:t>
            </a:r>
          </a:p>
          <a:p xmlns:a="http://schemas.openxmlformats.org/drawingml/2006/main">
            <a:r>
              <a:t>https://ocw.mit.edu/courses/6-436j-fundamentals-of-probability-fall-2018/resources/mit6_436jf18_lec24/</a:t>
            </a:r>
          </a:p>
          <a:p xmlns:a="http://schemas.openxmlformats.org/drawingml/2006/main">
            <a:r>
              <a:t>https://numpy.org/doc/stable/reference/random/index.html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Почніть з досвіду студентів: інтерфейс швидкий без навантаження і повільний у години піку. Визначте, яку частину затримки описуємо.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Джерела для теми:</a:t>
            </a:r>
          </a:p>
          <a:p xmlns:a="http://schemas.openxmlformats.org/drawingml/2006/main">
            <a:r>
              <a:t>https://www.ocw.mit.edu/courses/2-854-introduction-to-manufacturing-systems-fall-2016/resources/mit2_854f16_mm1queue/</a:t>
            </a:r>
          </a:p>
          <a:p xmlns:a="http://schemas.openxmlformats.org/drawingml/2006/main">
            <a:r>
              <a:t>https://ocw.mit.edu/courses/6-436j-fundamentals-of-probability-fall-2018/resources/mit6_436jf18_lec24/</a:t>
            </a:r>
          </a:p>
          <a:p xmlns:a="http://schemas.openxmlformats.org/drawingml/2006/main">
            <a:r>
              <a:t>https://numpy.org/doc/stable/reference/random/index.html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Навчальний сервер є абстракцією. Реальний інференс може мати пакетування, залежність часу від довжини запиту та кількох ресурсів.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Джерела для теми:</a:t>
            </a:r>
          </a:p>
          <a:p xmlns:a="http://schemas.openxmlformats.org/drawingml/2006/main">
            <a:r>
              <a:t>https://www.ocw.mit.edu/courses/2-854-introduction-to-manufacturing-systems-fall-2016/resources/mit2_854f16_mm1queue/</a:t>
            </a:r>
          </a:p>
          <a:p xmlns:a="http://schemas.openxmlformats.org/drawingml/2006/main">
            <a:r>
              <a:t>https://ocw.mit.edu/courses/6-436j-fundamentals-of-probability-fall-2018/resources/mit6_436jf18_lec24/</a:t>
            </a:r>
          </a:p>
          <a:p xmlns:a="http://schemas.openxmlformats.org/drawingml/2006/main">
            <a:r>
              <a:t>https://numpy.org/doc/stable/reference/random/index.html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За повної нотації Кендалла дисципліна і місткість задаються окремо. Тут явно домовляємося про FIFO/FCFS, нескінченну чергу і джерело.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Джерела для теми:</a:t>
            </a:r>
          </a:p>
          <a:p xmlns:a="http://schemas.openxmlformats.org/drawingml/2006/main">
            <a:r>
              <a:t>https://www.ocw.mit.edu/courses/2-854-introduction-to-manufacturing-systems-fall-2016/resources/mit2_854f16_mm1queue/</a:t>
            </a:r>
          </a:p>
          <a:p xmlns:a="http://schemas.openxmlformats.org/drawingml/2006/main">
            <a:r>
              <a:t>https://ocw.mit.edu/courses/6-436j-fundamentals-of-probability-fall-2018/resources/mit6_436jf18_lec24/</a:t>
            </a:r>
          </a:p>
          <a:p xmlns:a="http://schemas.openxmlformats.org/drawingml/2006/main">
            <a:r>
              <a:t>https://numpy.org/doc/stable/reference/random/index.html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Попросіть пояснити стан n=4: один обслуговується, три чекають. Це підготує різницю L та Lq.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Джерела для теми:</a:t>
            </a:r>
          </a:p>
          <a:p xmlns:a="http://schemas.openxmlformats.org/drawingml/2006/main">
            <a:r>
              <a:t>https://www.ocw.mit.edu/courses/2-854-introduction-to-manufacturing-systems-fall-2016/resources/mit2_854f16_mm1queue/</a:t>
            </a:r>
          </a:p>
          <a:p xmlns:a="http://schemas.openxmlformats.org/drawingml/2006/main">
            <a:r>
              <a:t>https://ocw.mit.edu/courses/6-436j-fundamentals-of-probability-fall-2018/resources/mit6_436jf18_lec24/</a:t>
            </a:r>
          </a:p>
          <a:p xmlns:a="http://schemas.openxmlformats.org/drawingml/2006/main">
            <a:r>
              <a:t>https://numpy.org/doc/stable/reference/random/index.html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Рядок генератора для n=0 має діагональ −λ, а не −(λ+μ). Для станів n≥1 сума виходу λ+μ.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Джерела для теми:</a:t>
            </a:r>
          </a:p>
          <a:p xmlns:a="http://schemas.openxmlformats.org/drawingml/2006/main">
            <a:r>
              <a:t>https://www.ocw.mit.edu/courses/2-854-introduction-to-manufacturing-systems-fall-2016/resources/mit2_854f16_mm1queue/</a:t>
            </a:r>
          </a:p>
          <a:p xmlns:a="http://schemas.openxmlformats.org/drawingml/2006/main">
            <a:r>
              <a:t>https://ocw.mit.edu/courses/6-436j-fundamentals-of-probability-fall-2018/resources/mit6_436jf18_lec24/</a:t>
            </a:r>
          </a:p>
          <a:p xmlns:a="http://schemas.openxmlformats.org/drawingml/2006/main">
            <a:r>
              <a:t>https://numpy.org/doc/stable/reference/random/index.html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Для ρ=1 у стандартній M/M/1 також немає нормованого стаціонарного розподілу. Коротка симуляція може приховувати проблему нестійкості.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Джерела для теми:</a:t>
            </a:r>
          </a:p>
          <a:p xmlns:a="http://schemas.openxmlformats.org/drawingml/2006/main">
            <a:r>
              <a:t>https://www.ocw.mit.edu/courses/2-854-introduction-to-manufacturing-systems-fall-2016/resources/mit2_854f16_mm1queue/</a:t>
            </a:r>
          </a:p>
          <a:p xmlns:a="http://schemas.openxmlformats.org/drawingml/2006/main">
            <a:r>
              <a:t>https://ocw.mit.edu/courses/6-436j-fundamentals-of-probability-fall-2018/resources/mit6_436jf18_lec24/</a:t>
            </a:r>
          </a:p>
          <a:p xmlns:a="http://schemas.openxmlformats.org/drawingml/2006/main">
            <a:r>
              <a:t>https://numpy.org/doc/stable/reference/random/index.html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Не плутайте геометричний розподіл числа заявок з експоненційним часом обслуговування. Ця формула потребує ρ&lt;1.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Джерела для теми:</a:t>
            </a:r>
          </a:p>
          <a:p xmlns:a="http://schemas.openxmlformats.org/drawingml/2006/main">
            <a:r>
              <a:t>https://www.ocw.mit.edu/courses/2-854-introduction-to-manufacturing-systems-fall-2016/resources/mit2_854f16_mm1queue/</a:t>
            </a:r>
          </a:p>
          <a:p xmlns:a="http://schemas.openxmlformats.org/drawingml/2006/main">
            <a:r>
              <a:t>https://ocw.mit.edu/courses/6-436j-fundamentals-of-probability-fall-2018/resources/mit6_436jf18_lec24/</a:t>
            </a:r>
          </a:p>
          <a:p xmlns:a="http://schemas.openxmlformats.org/drawingml/2006/main">
            <a:r>
              <a:t>https://numpy.org/doc/stable/reference/random/index.html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Сума показаних стовпчиків менша 1, бо стани необмежені. Імовірність N&gt;10 дорівнює 0,8^11 приблизно 0,0859.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Джерела для теми:</a:t>
            </a:r>
          </a:p>
          <a:p xmlns:a="http://schemas.openxmlformats.org/drawingml/2006/main">
            <a:r>
              <a:t>https://www.ocw.mit.edu/courses/2-854-introduction-to-manufacturing-systems-fall-2016/resources/mit2_854f16_mm1queue/</a:t>
            </a:r>
          </a:p>
          <a:p xmlns:a="http://schemas.openxmlformats.org/drawingml/2006/main">
            <a:r>
              <a:t>https://ocw.mit.edu/courses/6-436j-fundamentals-of-probability-fall-2018/resources/mit6_436jf18_lec24/</a:t>
            </a:r>
          </a:p>
          <a:p xmlns:a="http://schemas.openxmlformats.org/drawingml/2006/main">
            <a:r>
              <a:t>https://numpy.org/doc/stable/reference/random/index.html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Поясніть різницю між одиницями 1/(запит/с) та кількістю запитів. Число запитів у розмірності вважаємо лічильною величиною.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Джерела для теми:</a:t>
            </a:r>
          </a:p>
          <a:p xmlns:a="http://schemas.openxmlformats.org/drawingml/2006/main">
            <a:r>
              <a:t>https://www.ocw.mit.edu/courses/2-854-introduction-to-manufacturing-systems-fall-2016/resources/mit2_854f16_mm1queue/</a:t>
            </a:r>
          </a:p>
          <a:p xmlns:a="http://schemas.openxmlformats.org/drawingml/2006/main">
            <a:r>
              <a:t>https://ocw.mit.edu/courses/6-436j-fundamentals-of-probability-fall-2018/resources/mit6_436jf18_lec24/</a:t>
            </a:r>
          </a:p>
          <a:p xmlns:a="http://schemas.openxmlformats.org/drawingml/2006/main">
            <a:r>
              <a:t>https://numpy.org/doc/stable/reference/random/index.html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Закон Літтла має значно ширшу область дії, ніж M/M/1. Для відмов або втрат використовуйте ефективну пропускну інтенсивність відповідної системи.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Джерела для теми:</a:t>
            </a:r>
          </a:p>
          <a:p xmlns:a="http://schemas.openxmlformats.org/drawingml/2006/main">
            <a:r>
              <a:t>https://www.ocw.mit.edu/courses/2-854-introduction-to-manufacturing-systems-fall-2016/resources/mit2_854f16_mm1queue/</a:t>
            </a:r>
          </a:p>
          <a:p xmlns:a="http://schemas.openxmlformats.org/drawingml/2006/main">
            <a:r>
              <a:t>https://ocw.mit.edu/courses/6-436j-fundamentals-of-probability-fall-2018/resources/mit6_436jf18_lec24/</a:t>
            </a:r>
          </a:p>
          <a:p xmlns:a="http://schemas.openxmlformats.org/drawingml/2006/main">
            <a:r>
              <a:t>https://numpy.org/doc/stable/reference/random/index.html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Перевірка умови є частиною алгоритму, а не косметичним повідомленням. За λ≥μ подальші формули не дають осмисленних стаціонарних показників.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Джерела для теми:</a:t>
            </a:r>
          </a:p>
          <a:p xmlns:a="http://schemas.openxmlformats.org/drawingml/2006/main">
            <a:r>
              <a:t>https://www.ocw.mit.edu/courses/2-854-introduction-to-manufacturing-systems-fall-2016/resources/mit2_854f16_mm1queue/</a:t>
            </a:r>
          </a:p>
          <a:p xmlns:a="http://schemas.openxmlformats.org/drawingml/2006/main">
            <a:r>
              <a:t>https://ocw.mit.edu/courses/6-436j-fundamentals-of-probability-fall-2018/resources/mit6_436jf18_lec24/</a:t>
            </a:r>
          </a:p>
          <a:p xmlns:a="http://schemas.openxmlformats.org/drawingml/2006/main">
            <a:r>
              <a:t>https://numpy.org/doc/stable/reference/random/index.html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Це структурні перевірки моделі, а не незалежний доказ правильності усіх формул. Порівняння з імітацією буде у лекції про Монте-Карло.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Джерела для теми:</a:t>
            </a:r>
          </a:p>
          <a:p xmlns:a="http://schemas.openxmlformats.org/drawingml/2006/main">
            <a:r>
              <a:t>https://www.ocw.mit.edu/courses/2-854-introduction-to-manufacturing-systems-fall-2016/resources/mit2_854f16_mm1queue/</a:t>
            </a:r>
          </a:p>
          <a:p xmlns:a="http://schemas.openxmlformats.org/drawingml/2006/main">
            <a:r>
              <a:t>https://ocw.mit.edu/courses/6-436j-fundamentals-of-probability-fall-2018/resources/mit6_436jf18_lec24/</a:t>
            </a:r>
          </a:p>
          <a:p xmlns:a="http://schemas.openxmlformats.org/drawingml/2006/main">
            <a:r>
              <a:t>https://numpy.org/doc/stable/reference/random/index.html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Розрахунок 0,5/0,1=5 порівнює часи, а не заявляє п’ятикратне падіння пропускної здатності.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Джерела для теми:</a:t>
            </a:r>
          </a:p>
          <a:p xmlns:a="http://schemas.openxmlformats.org/drawingml/2006/main">
            <a:r>
              <a:t>https://www.ocw.mit.edu/courses/2-854-introduction-to-manufacturing-systems-fall-2016/resources/mit2_854f16_mm1queue/</a:t>
            </a:r>
          </a:p>
          <a:p xmlns:a="http://schemas.openxmlformats.org/drawingml/2006/main">
            <a:r>
              <a:t>https://ocw.mit.edu/courses/6-436j-fundamentals-of-probability-fall-2018/resources/mit6_436jf18_lec24/</a:t>
            </a:r>
          </a:p>
          <a:p xmlns:a="http://schemas.openxmlformats.org/drawingml/2006/main">
            <a:r>
              <a:t>https://numpy.org/doc/stable/reference/random/index.html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При фіксованій μ=10 збільшення λ з 8 до 9,5 дає зростання W з 0,5 до 2 секунд. Лінійний прогноз затримки тут помилковий.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Джерела для теми:</a:t>
            </a:r>
          </a:p>
          <a:p xmlns:a="http://schemas.openxmlformats.org/drawingml/2006/main">
            <a:r>
              <a:t>https://www.ocw.mit.edu/courses/2-854-introduction-to-manufacturing-systems-fall-2016/resources/mit2_854f16_mm1queue/</a:t>
            </a:r>
          </a:p>
          <a:p xmlns:a="http://schemas.openxmlformats.org/drawingml/2006/main">
            <a:r>
              <a:t>https://ocw.mit.edu/courses/6-436j-fundamentals-of-probability-fall-2018/resources/mit6_436jf18_lec24/</a:t>
            </a:r>
          </a:p>
          <a:p xmlns:a="http://schemas.openxmlformats.org/drawingml/2006/main">
            <a:r>
              <a:t>https://numpy.org/doc/stable/reference/random/index.html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Вісь X показує інтенсивність надходжень, вісь Y — середній час у системі. Біля межі λ=μ затримка зростає нелінійно. Усі інші параметри фіксовані.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Джерела для теми:</a:t>
            </a:r>
          </a:p>
          <a:p xmlns:a="http://schemas.openxmlformats.org/drawingml/2006/main">
            <a:r>
              <a:t>https://www.ocw.mit.edu/courses/2-854-introduction-to-manufacturing-systems-fall-2016/resources/mit2_854f16_mm1queue/</a:t>
            </a:r>
          </a:p>
          <a:p xmlns:a="http://schemas.openxmlformats.org/drawingml/2006/main">
            <a:r>
              <a:t>https://ocw.mit.edu/courses/6-436j-fundamentals-of-probability-fall-2018/resources/mit6_436jf18_lec24/</a:t>
            </a:r>
          </a:p>
          <a:p xmlns:a="http://schemas.openxmlformats.org/drawingml/2006/main">
            <a:r>
              <a:t>https://numpy.org/doc/stable/reference/random/index.html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Формула стосується часу у системі T у стаціонарній FCFS M/M/1. За λ=8, μ=10 t95≈1,498 с. Для часу лише в черзі розподіл має атом у нулі й іншу формулу.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Джерела для теми:</a:t>
            </a:r>
          </a:p>
          <a:p xmlns:a="http://schemas.openxmlformats.org/drawingml/2006/main">
            <a:r>
              <a:t>https://www.ocw.mit.edu/courses/2-854-introduction-to-manufacturing-systems-fall-2016/resources/mit2_854f16_mm1queue/</a:t>
            </a:r>
          </a:p>
          <a:p xmlns:a="http://schemas.openxmlformats.org/drawingml/2006/main">
            <a:r>
              <a:t>https://ocw.mit.edu/courses/6-436j-fundamentals-of-probability-fall-2018/resources/mit6_436jf18_lec24/</a:t>
            </a:r>
          </a:p>
          <a:p xmlns:a="http://schemas.openxmlformats.org/drawingml/2006/main">
            <a:r>
              <a:t>https://numpy.org/doc/stable/reference/random/index.html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Розрізняйте зайнятість обробника й завантаження CPU у реальній ОС. Вони можуть не збігатися через I/O, багатопотоковість і спільні ресурси.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Джерела для теми:</a:t>
            </a:r>
          </a:p>
          <a:p xmlns:a="http://schemas.openxmlformats.org/drawingml/2006/main">
            <a:r>
              <a:t>https://www.ocw.mit.edu/courses/2-854-introduction-to-manufacturing-systems-fall-2016/resources/mit2_854f16_mm1queue/</a:t>
            </a:r>
          </a:p>
          <a:p xmlns:a="http://schemas.openxmlformats.org/drawingml/2006/main">
            <a:r>
              <a:t>https://ocw.mit.edu/courses/6-436j-fundamentals-of-probability-fall-2018/resources/mit6_436jf18_lec24/</a:t>
            </a:r>
          </a:p>
          <a:p xmlns:a="http://schemas.openxmlformats.org/drawingml/2006/main">
            <a:r>
              <a:t>https://numpy.org/doc/stable/reference/random/index.html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Навіть правильна середня інтенсивність не описує сплески. Для стабільних неекспоненційних часів може підійти M/G/1, для складніших правил імітація.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Джерела для теми:</a:t>
            </a:r>
          </a:p>
          <a:p xmlns:a="http://schemas.openxmlformats.org/drawingml/2006/main">
            <a:r>
              <a:t>https://www.ocw.mit.edu/courses/2-854-introduction-to-manufacturing-systems-fall-2016/resources/mit2_854f16_mm1queue/</a:t>
            </a:r>
          </a:p>
          <a:p xmlns:a="http://schemas.openxmlformats.org/drawingml/2006/main">
            <a:r>
              <a:t>https://ocw.mit.edu/courses/6-436j-fundamentals-of-probability-fall-2018/resources/mit6_436jf18_lec24/</a:t>
            </a:r>
          </a:p>
          <a:p xmlns:a="http://schemas.openxmlformats.org/drawingml/2006/main">
            <a:r>
              <a:t>https://numpy.org/doc/stable/reference/random/index.html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Не припускайте автоматично, що c обробників дають один обробник з експоненційною швидкістю cμ. Динаміка завершень залежить від числа зайнятих каналів.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Джерела для теми:</a:t>
            </a:r>
          </a:p>
          <a:p xmlns:a="http://schemas.openxmlformats.org/drawingml/2006/main">
            <a:r>
              <a:t>https://www.ocw.mit.edu/courses/2-854-introduction-to-manufacturing-systems-fall-2016/resources/mit2_854f16_mm1queue/</a:t>
            </a:r>
          </a:p>
          <a:p xmlns:a="http://schemas.openxmlformats.org/drawingml/2006/main">
            <a:r>
              <a:t>https://ocw.mit.edu/courses/6-436j-fundamentals-of-probability-fall-2018/resources/mit6_436jf18_lec24/</a:t>
            </a:r>
          </a:p>
          <a:p xmlns:a="http://schemas.openxmlformats.org/drawingml/2006/main">
            <a:r>
              <a:t>https://numpy.org/doc/stable/reference/random/index.html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Попросіть студентів не лише вставити число у формулу, а показати, який компонент затримки змінився. Однаковий середній вхід потрібний для чесного порівняння.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Джерела для теми:</a:t>
            </a:r>
          </a:p>
          <a:p xmlns:a="http://schemas.openxmlformats.org/drawingml/2006/main">
            <a:r>
              <a:t>https://www.ocw.mit.edu/courses/2-854-introduction-to-manufacturing-systems-fall-2016/resources/mit2_854f16_mm1queue/</a:t>
            </a:r>
          </a:p>
          <a:p xmlns:a="http://schemas.openxmlformats.org/drawingml/2006/main">
            <a:r>
              <a:t>https://ocw.mit.edu/courses/6-436j-fundamentals-of-probability-fall-2018/resources/mit6_436jf18_lec24/</a:t>
            </a:r>
          </a:p>
          <a:p xmlns:a="http://schemas.openxmlformats.org/drawingml/2006/main">
            <a:r>
              <a:t>https://numpy.org/doc/stable/reference/random/index.html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Слайд не змінює критерії оцінювання. Він показує перехід від базової моделі до багатоканальної та імітаційної перевірки.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Джерела для теми:</a:t>
            </a:r>
          </a:p>
          <a:p xmlns:a="http://schemas.openxmlformats.org/drawingml/2006/main">
            <a:r>
              <a:t>https://www.ocw.mit.edu/courses/2-854-introduction-to-manufacturing-systems-fall-2016/resources/mit2_854f16_mm1queue/</a:t>
            </a:r>
          </a:p>
          <a:p xmlns:a="http://schemas.openxmlformats.org/drawingml/2006/main">
            <a:r>
              <a:t>https://ocw.mit.edu/courses/6-436j-fundamentals-of-probability-fall-2018/resources/mit6_436jf18_lec24/</a:t>
            </a:r>
          </a:p>
          <a:p xmlns:a="http://schemas.openxmlformats.org/drawingml/2006/main">
            <a:r>
              <a:t>https://numpy.org/doc/stable/reference/random/index.html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Поблизу ρ=1 випадкові сплески спричиняють довгі черги. L включає обслуговуваний запит. W є середнім, процентиль визначається розподілом.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Джерела для теми:</a:t>
            </a:r>
          </a:p>
          <a:p xmlns:a="http://schemas.openxmlformats.org/drawingml/2006/main">
            <a:r>
              <a:t>https://www.ocw.mit.edu/courses/2-854-introduction-to-manufacturing-systems-fall-2016/resources/mit2_854f16_mm1queue/</a:t>
            </a:r>
          </a:p>
          <a:p xmlns:a="http://schemas.openxmlformats.org/drawingml/2006/main">
            <a:r>
              <a:t>https://ocw.mit.edu/courses/6-436j-fundamentals-of-probability-fall-2018/resources/mit6_436jf18_lec24/</a:t>
            </a:r>
          </a:p>
          <a:p xmlns:a="http://schemas.openxmlformats.org/drawingml/2006/main">
            <a:r>
              <a:t>https://numpy.org/doc/stable/reference/random/index.html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Посилання ведуть до першоджерел та офіційної документації. Формулювання і числові приклади адаптовано для ІТ-контексту. Для повторення запустіть відповідний файл lecture_NN.py. Версії пакетів наведено у README.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Джерела для теми:</a:t>
            </a:r>
          </a:p>
          <a:p xmlns:a="http://schemas.openxmlformats.org/drawingml/2006/main">
            <a:r>
              <a:t>https://www.ocw.mit.edu/courses/2-854-introduction-to-manufacturing-systems-fall-2016/resources/mit2_854f16_mm1queue/</a:t>
            </a:r>
          </a:p>
          <a:p xmlns:a="http://schemas.openxmlformats.org/drawingml/2006/main">
            <a:r>
              <a:t>https://ocw.mit.edu/courses/6-436j-fundamentals-of-probability-fall-2018/resources/mit6_436jf18_lec24/</a:t>
            </a:r>
          </a:p>
          <a:p xmlns:a="http://schemas.openxmlformats.org/drawingml/2006/main">
            <a:r>
              <a:t>https://numpy.org/doc/stable/reference/random/index.html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c85462655645d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dd25fa53f54e5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21b8d18da84ce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ba1584386247c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f4532a5af3483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b100e1e8f84cb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34F4CE1-E04F-42EE-9DEE-1BE2930F1BE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353A7E0-EA58-41E4-BAA4-A6A4DB111F5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7103CBD-3CBE-401F-97BD-97D83B20BE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68C0481-00DA-4425-B589-C1E9C22CFB8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6BE04AF-E409-4B3F-89C6-402F572F3F4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2BC853D-F93D-4280-A14B-78790170F92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54DBB08-814D-49DC-892C-CC438FC175C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0DB5FA1-D5F8-4962-9080-3CAFA9439D5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F3F2BB0-F547-472E-AA2A-D4BEEB32FE4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1ADA69D-C493-46DE-9811-452967EDE2F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fd3c867c4794b0a" /><Relationship Type="http://schemas.openxmlformats.org/officeDocument/2006/relationships/slideLayout" Target="/ppt/slideLayouts/slideLayout1.xml" Id="Ra19f7b59efde4327" /><Relationship Type="http://schemas.openxmlformats.org/officeDocument/2006/relationships/slideLayout" Target="/ppt/slideLayouts/slideLayout2.xml" Id="R4381768f51b845ad" /><Relationship Type="http://schemas.openxmlformats.org/officeDocument/2006/relationships/slideLayout" Target="/ppt/slideLayouts/slideLayout3.xml" Id="R6aa56072027b4500" /><Relationship Type="http://schemas.openxmlformats.org/officeDocument/2006/relationships/slideLayout" Target="/ppt/slideLayouts/slideLayout4.xml" Id="R36bad29b44b745de" /><Relationship Type="http://schemas.openxmlformats.org/officeDocument/2006/relationships/slideLayout" Target="/ppt/slideLayouts/slideLayout5.xml" Id="Rdcfaed6f56d5437f" /><Relationship Type="http://schemas.openxmlformats.org/officeDocument/2006/relationships/slideLayout" Target="/ppt/slideLayouts/slideLayout6.xml" Id="Rb9fa5a0934304d5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19f7b59efde4327"/>
    <p:sldLayoutId xmlns:r="http://schemas.openxmlformats.org/officeDocument/2006/relationships" id="2147483650" r:id="R4381768f51b845ad"/>
    <p:sldLayoutId xmlns:r="http://schemas.openxmlformats.org/officeDocument/2006/relationships" id="2147483651" r:id="R6aa56072027b4500"/>
    <p:sldLayoutId xmlns:r="http://schemas.openxmlformats.org/officeDocument/2006/relationships" id="2147483652" r:id="R36bad29b44b745de"/>
    <p:sldLayoutId xmlns:r="http://schemas.openxmlformats.org/officeDocument/2006/relationships" id="2147483653" r:id="Rdcfaed6f56d5437f"/>
    <p:sldLayoutId xmlns:r="http://schemas.openxmlformats.org/officeDocument/2006/relationships" id="2147483654" r:id="Rb9fa5a0934304d5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c7f867047d44177" /><Relationship Type="http://schemas.openxmlformats.org/officeDocument/2006/relationships/notesSlide" Target="/ppt/notesSlides/notesSlide1.xml" Id="Rc9c3b83fcc7c424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a3c940ae4994296" /><Relationship Type="http://schemas.openxmlformats.org/officeDocument/2006/relationships/notesSlide" Target="/ppt/notesSlides/notesSlide2.xml" Id="R264c73a30297420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0ff2292de994234" /><Relationship Type="http://schemas.openxmlformats.org/officeDocument/2006/relationships/notesSlide" Target="/ppt/notesSlides/notesSlide3.xml" Id="R1bcb122b77304d1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1190a1b612a40bd" /><Relationship Type="http://schemas.openxmlformats.org/officeDocument/2006/relationships/notesSlide" Target="/ppt/notesSlides/notesSlide4.xml" Id="Rb8bb4f6eb3844b9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0316d0eb1a04532" /><Relationship Type="http://schemas.openxmlformats.org/officeDocument/2006/relationships/notesSlide" Target="/ppt/notesSlides/notesSlide5.xml" Id="Radce9b62094949d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97da11b4f994d51" /><Relationship Type="http://schemas.openxmlformats.org/officeDocument/2006/relationships/notesSlide" Target="/ppt/notesSlides/notesSlide6.xml" Id="R6997f38dfd0043e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6a3b6a35a5e485c" /><Relationship Type="http://schemas.openxmlformats.org/officeDocument/2006/relationships/notesSlide" Target="/ppt/notesSlides/notesSlide7.xml" Id="R661d654dab934e0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d661025cccc4041" /><Relationship Type="http://schemas.openxmlformats.org/officeDocument/2006/relationships/notesSlide" Target="/ppt/notesSlides/notesSlide8.xml" Id="R4806117272754b4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304886bfad54bd4" /><Relationship Type="http://schemas.openxmlformats.org/officeDocument/2006/relationships/chart" Target="/ppt/slides/charts/chart1.xml" Id="Rfd2c549969c14e94" /><Relationship Type="http://schemas.openxmlformats.org/officeDocument/2006/relationships/notesSlide" Target="/ppt/notesSlides/notesSlide9.xml" Id="Rf536554a26764e4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5c07aa8896541d7" /><Relationship Type="http://schemas.openxmlformats.org/officeDocument/2006/relationships/notesSlide" Target="/ppt/notesSlides/notesSlide10.xml" Id="Raa0105b281c94db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8bea2cdbb9e43e6" /><Relationship Type="http://schemas.openxmlformats.org/officeDocument/2006/relationships/notesSlide" Target="/ppt/notesSlides/notesSlide11.xml" Id="Rebe6a720be564f5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12ad0758ec541e2" /><Relationship Type="http://schemas.openxmlformats.org/officeDocument/2006/relationships/notesSlide" Target="/ppt/notesSlides/notesSlide12.xml" Id="R9b9dfebb4ff44fc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01ee0441e1e42d8" /><Relationship Type="http://schemas.openxmlformats.org/officeDocument/2006/relationships/notesSlide" Target="/ppt/notesSlides/notesSlide13.xml" Id="R94fc2322aadd41f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fc45b281fc04576" /><Relationship Type="http://schemas.openxmlformats.org/officeDocument/2006/relationships/notesSlide" Target="/ppt/notesSlides/notesSlide14.xml" Id="R0bd879c8eef4428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72bf6d6b0914b06" /><Relationship Type="http://schemas.openxmlformats.org/officeDocument/2006/relationships/notesSlide" Target="/ppt/notesSlides/notesSlide15.xml" Id="Rf17baa659c9e47e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4cce161ab6a4df9" /><Relationship Type="http://schemas.openxmlformats.org/officeDocument/2006/relationships/chart" Target="/ppt/slides/charts/chart2.xml" Id="Rcfe56e5bdd3f44d8" /><Relationship Type="http://schemas.openxmlformats.org/officeDocument/2006/relationships/notesSlide" Target="/ppt/notesSlides/notesSlide16.xml" Id="R3e4c351a67604b2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5df99c324174d1b" /><Relationship Type="http://schemas.openxmlformats.org/officeDocument/2006/relationships/notesSlide" Target="/ppt/notesSlides/notesSlide17.xml" Id="R293083f20ac1486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4df810f6d1b4e4a" /><Relationship Type="http://schemas.openxmlformats.org/officeDocument/2006/relationships/notesSlide" Target="/ppt/notesSlides/notesSlide18.xml" Id="Ra076a841f00c443b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02ab15d2b12435d" /><Relationship Type="http://schemas.openxmlformats.org/officeDocument/2006/relationships/notesSlide" Target="/ppt/notesSlides/notesSlide19.xml" Id="Rfef34d900f014bda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128649bfef74b9a" /><Relationship Type="http://schemas.openxmlformats.org/officeDocument/2006/relationships/notesSlide" Target="/ppt/notesSlides/notesSlide20.xml" Id="R8b8e425bda214013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c1dbbfb44fa458f" /><Relationship Type="http://schemas.openxmlformats.org/officeDocument/2006/relationships/notesSlide" Target="/ppt/notesSlides/notesSlide21.xml" Id="R1295ce698e4b417c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257e39a3191436c" /><Relationship Type="http://schemas.openxmlformats.org/officeDocument/2006/relationships/notesSlide" Target="/ppt/notesSlides/notesSlide22.xml" Id="Rce9663a9fca5487a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c0daa55ad224974" /><Relationship Type="http://schemas.openxmlformats.org/officeDocument/2006/relationships/notesSlide" Target="/ppt/notesSlides/notesSlide23.xml" Id="R155e4bd989f94d6f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8ee310f94ec450b" /><Relationship Type="http://schemas.openxmlformats.org/officeDocument/2006/relationships/hyperlink" Target="https://www.ocw.mit.edu/courses/2-854-introduction-to-manufacturing-systems-fall-2016/resources/mit2_854f16_mm1queue/" TargetMode="External" Id="R6901b737260749b7" /><Relationship Type="http://schemas.openxmlformats.org/officeDocument/2006/relationships/hyperlink" Target="https://ocw.mit.edu/courses/6-436j-fundamentals-of-probability-fall-2018/resources/mit6_436jf18_lec24/" TargetMode="External" Id="Rc98ead9b39f74c09" /><Relationship Type="http://schemas.openxmlformats.org/officeDocument/2006/relationships/hyperlink" Target="https://numpy.org/doc/stable/reference/random/index.html" TargetMode="External" Id="R40d9e68f3f5f442a" /><Relationship Type="http://schemas.openxmlformats.org/officeDocument/2006/relationships/notesSlide" Target="/ppt/notesSlides/notesSlide24.xml" Id="Rf71097e1d347487f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pn</c:v>
          </c:tx>
          <c:spPr>
            <a:solidFill xmlns:a="http://schemas.openxmlformats.org/drawingml/2006/main">
              <a:srgbClr val="007F82"/>
            </a:solidFill>
            <a:ln xmlns:a="http://schemas.openxmlformats.org/drawingml/2006/main" w="28575">
              <a:solidFill>
                <a:srgbClr val="007F82"/>
              </a:solidFill>
              <a:prstDash val="solid"/>
            </a:ln>
          </c:spPr>
          <c:invertIfNegative val="0"/>
          <c:cat>
            <c:numRef>
              <c:f>'Chart Data'!$A$2:$A$12</c:f>
              <c:numCache>
                <c:formatCode>0</c:formatCode>
                <c:ptCount val="1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</c:numCache>
            </c:numRef>
          </c:cat>
          <c:val>
            <c:numRef>
              <c:f>'Chart Data'!$B$2:$B$12</c:f>
              <c:numCache>
                <c:formatCode>0.00</c:formatCode>
                <c:ptCount val="11"/>
                <c:pt idx="0">
                  <c:v>0.2</c:v>
                </c:pt>
                <c:pt idx="1">
                  <c:v>0.16</c:v>
                </c:pt>
                <c:pt idx="2">
                  <c:v>0.128</c:v>
                </c:pt>
                <c:pt idx="3">
                  <c:v>0.1024</c:v>
                </c:pt>
                <c:pt idx="4">
                  <c:v>0.08192</c:v>
                </c:pt>
                <c:pt idx="5">
                  <c:v>0.065536</c:v>
                </c:pt>
                <c:pt idx="6">
                  <c:v>0.0524288</c:v>
                </c:pt>
                <c:pt idx="7">
                  <c:v>0.04194304</c:v>
                </c:pt>
                <c:pt idx="8">
                  <c:v>0.033554432</c:v>
                </c:pt>
                <c:pt idx="9">
                  <c:v>0.0268435456</c:v>
                </c:pt>
                <c:pt idx="10">
                  <c:v>0.02147483648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latin typeface="Arial"/>
                    <a:ea typeface="Arial"/>
                    <a:cs typeface="Arial"/>
                  </a:rPr>
                  <a:t>n: запити в системі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5EA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latin typeface="Arial"/>
                    <a:ea typeface="Arial"/>
                    <a:cs typeface="Arial"/>
                  </a:rPr>
                  <a:t>Ймовірність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latin typeface="Arial"/>
                  <a:ea typeface="Arial"/>
                  <a:cs typeface="Arial"/>
                </a:defRPr>
              </a:pPr>
            </a:p>
          </c:txPr>
        </c:title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CFDFE"/>
        </a:solidFill>
      </c:spPr>
    </c:plotArea>
    <c:plotVisOnly val="1"/>
  </c:chart>
  <c:spPr>
    <a:solidFill xmlns:a="http://schemas.openxmlformats.org/drawingml/2006/main">
      <a:srgbClr val="FCFDFE"/>
    </a:solidFill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varyColors val="0"/>
        <c:ser>
          <c:idx val="0"/>
          <c:order val="0"/>
          <c:tx>
            <c:v>W, с</c:v>
          </c:tx>
          <c:spPr>
            <a:solidFill xmlns:a="http://schemas.openxmlformats.org/drawingml/2006/main">
              <a:srgbClr val="007F82"/>
            </a:solidFill>
            <a:ln xmlns:a="http://schemas.openxmlformats.org/drawingml/2006/main" w="28575">
              <a:solidFill>
                <a:srgbClr val="007F82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007F82"/>
              </a:solidFill>
            </c:spPr>
          </c:marker>
          <c:xVal>
            <c:numRef>
              <c:f>'Chart Data'!$A$2:$A$7</c:f>
              <c:numCache>
                <c:formatCode>General</c:formatCode>
                <c:ptCount val="6"/>
                <c:pt idx="0">
                  <c:v>2</c:v>
                </c:pt>
                <c:pt idx="1">
                  <c:v>4</c:v>
                </c:pt>
                <c:pt idx="2">
                  <c:v>6</c:v>
                </c:pt>
                <c:pt idx="3">
                  <c:v>8</c:v>
                </c:pt>
                <c:pt idx="4">
                  <c:v>9</c:v>
                </c:pt>
                <c:pt idx="5">
                  <c:v>9.5</c:v>
                </c:pt>
              </c:numCache>
            </c:numRef>
          </c:xVal>
          <c:yVal>
            <c:numRef>
              <c:f>'Chart Data'!$B$2:$B$7</c:f>
              <c:numCache>
                <c:formatCode>0.0</c:formatCode>
                <c:ptCount val="6"/>
                <c:pt idx="0">
                  <c:v>0.125</c:v>
                </c:pt>
                <c:pt idx="1">
                  <c:v>0.166666666667</c:v>
                </c:pt>
                <c:pt idx="2">
                  <c:v>0.25</c:v>
                </c:pt>
                <c:pt idx="3">
                  <c:v>0.5</c:v>
                </c:pt>
                <c:pt idx="4">
                  <c:v>1</c:v>
                </c:pt>
                <c:pt idx="5">
                  <c:v>2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5EA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latin typeface="Arial"/>
                    <a:ea typeface="Arial"/>
                    <a:cs typeface="Arial"/>
                  </a:rPr>
                  <a:t>Середній час, с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latin typeface="Arial"/>
                  <a:ea typeface="Arial"/>
                  <a:cs typeface="Arial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</c:valAx>
      <c:valAx>
        <c:axId val="48650112"/>
        <c:scaling>
          <c:orientation val="minMax"/>
          <c:max val="9.5"/>
          <c:min val="2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latin typeface="Arial"/>
                    <a:ea typeface="Arial"/>
                    <a:cs typeface="Arial"/>
                  </a:rPr>
                  <a:t>λ, запитів/с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latin typeface="Arial"/>
                  <a:ea typeface="Arial"/>
                  <a:cs typeface="Arial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valAx>
      <c:spPr>
        <a:solidFill xmlns:a="http://schemas.openxmlformats.org/drawingml/2006/main">
          <a:srgbClr val="FCFDFE"/>
        </a:solidFill>
      </c:spPr>
    </c:plotArea>
    <c:plotVisOnly val="1"/>
  </c:chart>
  <c:spPr>
    <a:solidFill xmlns:a="http://schemas.openxmlformats.org/drawingml/2006/main">
      <a:srgbClr val="FCFDFE"/>
    </a:solidFill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6324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lecture">
            <a:extLst xmlns:a="http://schemas.openxmlformats.org/drawingml/2006/main">
              <a:ext uri="{FF2B5EF4-FFF2-40B4-BE49-F238E27FC236}">
                <a16:creationId xmlns:a16="http://schemas.microsoft.com/office/drawing/2014/main" id="{E5F25EFA-99D6-48DE-92AA-FDFD15D06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4295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71D8CF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71D8CF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71D8CF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71D8CF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71D8CF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71D8CF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71D8CF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71D8CF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71D8CF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71D8C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71D8C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71D8CF"/>
                </a:solidFill>
                <a:latin typeface="Arial"/>
                <a:ea typeface="Arial"/>
                <a:cs typeface="Arial"/>
              </a:rPr>
              <a:t>ЛЕКЦІЯ 10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BF0F637F-4CE6-4D0E-9B4D-EE1510330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10668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Теорія черг</a:t>
            </a:r>
          </a:p>
          <a:p xmlns:a="http://schemas.openxmlformats.org/drawingml/2006/main">
            <a:pPr>
              <a:defRPr sz="4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Модель M/M/1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A537A0E5-BB4C-4A6A-8494-DD71C36B3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14875"/>
            <a:ext cx="1028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D6E6EF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D6E6EF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D6E6EF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D6E6EF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D6E6EF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D6E6EF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D6E6EF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D6E6EF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D6E6EF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D6E6E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D6E6E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D6E6EF"/>
                </a:solidFill>
                <a:latin typeface="Arial"/>
                <a:ea typeface="Arial"/>
                <a:cs typeface="Arial"/>
              </a:rPr>
              <a:t>Один обробник запитів, навантаження та час очікування</a:t>
            </a:r>
          </a:p>
        </p:txBody>
      </p:sp>
      <p:sp>
        <p:nvSpPr>
          <p:cNvPr id="4" name="course">
            <a:extLst xmlns:a="http://schemas.openxmlformats.org/drawingml/2006/main">
              <a:ext uri="{FF2B5EF4-FFF2-40B4-BE49-F238E27FC236}">
                <a16:creationId xmlns:a16="http://schemas.microsoft.com/office/drawing/2014/main" id="{652EEF63-917C-4034-B77F-13BD2466E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200775"/>
            <a:ext cx="1057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C1D5E1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C1D5E1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C1D5E1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C1D5E1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C1D5E1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C1D5E1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C1D5E1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C1D5E1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C1D5E1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C1D5E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C1D5E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1D5E1"/>
                </a:solidFill>
                <a:latin typeface="Arial"/>
                <a:ea typeface="Arial"/>
                <a:cs typeface="Arial"/>
              </a:rPr>
              <a:t>Математичне моделювання та методи дослідження операцій</a:t>
            </a:r>
          </a:p>
        </p:txBody>
      </p:sp>
    </p:spTree>
    <p:extLst>
      <p:ext uri="{BB962C8B-B14F-4D97-AF65-F5344CB8AC3E}">
        <p14:creationId xmlns:p14="http://schemas.microsoft.com/office/powerpoint/2010/main" val="191610465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">
            <a:extLst xmlns:a="http://schemas.openxmlformats.org/drawingml/2006/main">
              <a:ext uri="{FF2B5EF4-FFF2-40B4-BE49-F238E27FC236}">
                <a16:creationId xmlns:a16="http://schemas.microsoft.com/office/drawing/2014/main" id="{8518EE4E-7817-4B53-9140-9870928BC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План і результат навчання</a:t>
            </a:r>
          </a:p>
        </p:txBody>
      </p:sp>
      <p:sp>
        <p:nvSpPr>
          <p:cNvPr id="2" name="number-0">
            <a:extLst xmlns:a="http://schemas.openxmlformats.org/drawingml/2006/main">
              <a:ext uri="{FF2B5EF4-FFF2-40B4-BE49-F238E27FC236}">
                <a16:creationId xmlns:a16="http://schemas.microsoft.com/office/drawing/2014/main" id="{236A7F96-7E05-4171-84A5-07221A638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9070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body-0">
            <a:extLst xmlns:a="http://schemas.openxmlformats.org/drawingml/2006/main">
              <a:ext uri="{FF2B5EF4-FFF2-40B4-BE49-F238E27FC236}">
                <a16:creationId xmlns:a16="http://schemas.microsoft.com/office/drawing/2014/main" id="{B8C488BA-D9E7-48E0-AD28-CF0D17733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73355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Побудувати модель однієї черги запитів</a:t>
            </a:r>
          </a:p>
        </p:txBody>
      </p:sp>
      <p:sp>
        <p:nvSpPr>
          <p:cNvPr id="4" name="number-1">
            <a:extLst xmlns:a="http://schemas.openxmlformats.org/drawingml/2006/main">
              <a:ext uri="{FF2B5EF4-FFF2-40B4-BE49-F238E27FC236}">
                <a16:creationId xmlns:a16="http://schemas.microsoft.com/office/drawing/2014/main" id="{89EAAEBA-A705-4A61-8BA1-8A8EC20F0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3845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body-1">
            <a:extLst xmlns:a="http://schemas.openxmlformats.org/drawingml/2006/main">
              <a:ext uri="{FF2B5EF4-FFF2-40B4-BE49-F238E27FC236}">
                <a16:creationId xmlns:a16="http://schemas.microsoft.com/office/drawing/2014/main" id="{CAA3D2D5-BADB-49B1-A6D9-CDF0A4316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78130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Перевірити умову стаціонарного режиму</a:t>
            </a:r>
          </a:p>
        </p:txBody>
      </p:sp>
      <p:sp>
        <p:nvSpPr>
          <p:cNvPr id="6" name="number-2">
            <a:extLst xmlns:a="http://schemas.openxmlformats.org/drawingml/2006/main">
              <a:ext uri="{FF2B5EF4-FFF2-40B4-BE49-F238E27FC236}">
                <a16:creationId xmlns:a16="http://schemas.microsoft.com/office/drawing/2014/main" id="{DE063AF7-1712-42DA-A668-0D3FC045B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8620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body-2">
            <a:extLst xmlns:a="http://schemas.openxmlformats.org/drawingml/2006/main">
              <a:ext uri="{FF2B5EF4-FFF2-40B4-BE49-F238E27FC236}">
                <a16:creationId xmlns:a16="http://schemas.microsoft.com/office/drawing/2014/main" id="{7B0A1E54-BC7C-4DA4-9FC6-7AB2B3CE2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82905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Розрахувати очікування та число заявок</a:t>
            </a:r>
          </a:p>
        </p:txBody>
      </p:sp>
      <p:sp>
        <p:nvSpPr>
          <p:cNvPr id="8" name="number-3">
            <a:extLst xmlns:a="http://schemas.openxmlformats.org/drawingml/2006/main">
              <a:ext uri="{FF2B5EF4-FFF2-40B4-BE49-F238E27FC236}">
                <a16:creationId xmlns:a16="http://schemas.microsoft.com/office/drawing/2014/main" id="{F354968B-4213-47F1-9895-DE9FEE8BC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3395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9" name="body-3">
            <a:extLst xmlns:a="http://schemas.openxmlformats.org/drawingml/2006/main">
              <a:ext uri="{FF2B5EF4-FFF2-40B4-BE49-F238E27FC236}">
                <a16:creationId xmlns:a16="http://schemas.microsoft.com/office/drawing/2014/main" id="{5B67CBC8-61F1-42EE-9E8F-44F33BDCA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87680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Оцінити вплив навантаження й межі припущень</a:t>
            </a:r>
          </a:p>
        </p:txBody>
      </p:sp>
      <p:sp>
        <p:nvSpPr>
          <p:cNvPr id="10" name="takeaway">
            <a:extLst xmlns:a="http://schemas.openxmlformats.org/drawingml/2006/main">
              <a:ext uri="{FF2B5EF4-FFF2-40B4-BE49-F238E27FC236}">
                <a16:creationId xmlns:a16="http://schemas.microsoft.com/office/drawing/2014/main" id="{D0555350-6F22-4AEA-9576-377CE2430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15050"/>
            <a:ext cx="10191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Результат: пояснити, чому запас продуктивності потрібний навіть за λ&lt;μ.</a:t>
            </a:r>
          </a:p>
        </p:txBody>
      </p:sp>
      <p:sp>
        <p:nvSpPr>
          <p:cNvPr id="11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BB3218A5-6950-4F62-9A5E-00BE83FB0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055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7C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87954989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">
            <a:extLst xmlns:a="http://schemas.openxmlformats.org/drawingml/2006/main">
              <a:ext uri="{FF2B5EF4-FFF2-40B4-BE49-F238E27FC236}">
                <a16:creationId xmlns:a16="http://schemas.microsoft.com/office/drawing/2014/main" id="{3E4164EE-419C-4DE3-8463-0DF854559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Задача: один обробник інференсу</a:t>
            </a:r>
          </a:p>
        </p:txBody>
      </p:sp>
      <p:sp>
        <p:nvSpPr>
          <p:cNvPr id="2" name="number-0">
            <a:extLst xmlns:a="http://schemas.openxmlformats.org/drawingml/2006/main">
              <a:ext uri="{FF2B5EF4-FFF2-40B4-BE49-F238E27FC236}">
                <a16:creationId xmlns:a16="http://schemas.microsoft.com/office/drawing/2014/main" id="{74426224-88BF-4611-A6C8-01AD1A770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9070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body-0">
            <a:extLst xmlns:a="http://schemas.openxmlformats.org/drawingml/2006/main">
              <a:ext uri="{FF2B5EF4-FFF2-40B4-BE49-F238E27FC236}">
                <a16:creationId xmlns:a16="http://schemas.microsoft.com/office/drawing/2014/main" id="{EC20A32F-EB71-4355-885A-07271717F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73355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У середньому надходить λ = 8 запитів/с</a:t>
            </a:r>
          </a:p>
        </p:txBody>
      </p:sp>
      <p:sp>
        <p:nvSpPr>
          <p:cNvPr id="4" name="number-1">
            <a:extLst xmlns:a="http://schemas.openxmlformats.org/drawingml/2006/main">
              <a:ext uri="{FF2B5EF4-FFF2-40B4-BE49-F238E27FC236}">
                <a16:creationId xmlns:a16="http://schemas.microsoft.com/office/drawing/2014/main" id="{7CE0C064-387C-4F4E-9E06-9AD3F351E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3845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body-1">
            <a:extLst xmlns:a="http://schemas.openxmlformats.org/drawingml/2006/main">
              <a:ext uri="{FF2B5EF4-FFF2-40B4-BE49-F238E27FC236}">
                <a16:creationId xmlns:a16="http://schemas.microsoft.com/office/drawing/2014/main" id="{4F08CB4A-2B77-4AA6-AAA2-AF24331AE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78130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Один обробник виконує μ = 10 запитів/с</a:t>
            </a:r>
          </a:p>
        </p:txBody>
      </p:sp>
      <p:sp>
        <p:nvSpPr>
          <p:cNvPr id="6" name="number-2">
            <a:extLst xmlns:a="http://schemas.openxmlformats.org/drawingml/2006/main">
              <a:ext uri="{FF2B5EF4-FFF2-40B4-BE49-F238E27FC236}">
                <a16:creationId xmlns:a16="http://schemas.microsoft.com/office/drawing/2014/main" id="{816B908A-AE6B-4074-88B0-E5205F351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8620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body-2">
            <a:extLst xmlns:a="http://schemas.openxmlformats.org/drawingml/2006/main">
              <a:ext uri="{FF2B5EF4-FFF2-40B4-BE49-F238E27FC236}">
                <a16:creationId xmlns:a16="http://schemas.microsoft.com/office/drawing/2014/main" id="{51944CF4-7F23-48C8-9386-9A348BBD8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82905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Середній час обслуговування: 0,1 с</a:t>
            </a:r>
          </a:p>
        </p:txBody>
      </p:sp>
      <p:sp>
        <p:nvSpPr>
          <p:cNvPr id="8" name="number-3">
            <a:extLst xmlns:a="http://schemas.openxmlformats.org/drawingml/2006/main">
              <a:ext uri="{FF2B5EF4-FFF2-40B4-BE49-F238E27FC236}">
                <a16:creationId xmlns:a16="http://schemas.microsoft.com/office/drawing/2014/main" id="{134E8C37-774B-41B7-B1DF-A61BB5A11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3395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9" name="body-3">
            <a:extLst xmlns:a="http://schemas.openxmlformats.org/drawingml/2006/main">
              <a:ext uri="{FF2B5EF4-FFF2-40B4-BE49-F238E27FC236}">
                <a16:creationId xmlns:a16="http://schemas.microsoft.com/office/drawing/2014/main" id="{4ACF00E6-DF4F-49D7-AAA0-E45666C2C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87680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Потрібно знайти середній час до завершення запиту</a:t>
            </a:r>
          </a:p>
        </p:txBody>
      </p:sp>
      <p:sp>
        <p:nvSpPr>
          <p:cNvPr id="10" name="takeaway">
            <a:extLst xmlns:a="http://schemas.openxmlformats.org/drawingml/2006/main">
              <a:ext uri="{FF2B5EF4-FFF2-40B4-BE49-F238E27FC236}">
                <a16:creationId xmlns:a16="http://schemas.microsoft.com/office/drawing/2014/main" id="{D694A5E7-943E-40B0-A9E8-C24ED9368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15050"/>
            <a:ext cx="10191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Продуктивність 10 запитів/с не гарантує затримку 0,1 с.</a:t>
            </a:r>
          </a:p>
        </p:txBody>
      </p:sp>
      <p:sp>
        <p:nvSpPr>
          <p:cNvPr id="11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12EB9DD0-264B-4D97-AB55-210262BBE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055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7C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88340132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7A0EECEC-D47A-43BB-BCA5-9D92FD325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Припущення M/M/1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2D4F5B-6C77-43B6-A35E-C729C3A1AB96}"/>
              </a:ext>
            </a:extLst>
          </p:cNvPr>
          <p:cNvGraphicFramePr/>
          <p:nvPr/>
        </p:nvGraphicFramePr>
        <p:xfrm>
          <a:off xmlns:a="http://schemas.openxmlformats.org/drawingml/2006/main" x="762000" y="1695450"/>
          <a:ext xmlns:a="http://schemas.openxmlformats.org/drawingml/2006/main" cx="106680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24545"/>
                <a:gridCol w="8243455"/>
              </a:tblGrid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Позначення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6D4DF"/>
                      </a:solidFill>
                      <a:prstDash val="solid"/>
                    </a:lnL>
                    <a:lnR w="9525">
                      <a:solidFill>
                        <a:srgbClr val="C6D4DF"/>
                      </a:solidFill>
                      <a:prstDash val="solid"/>
                    </a:lnR>
                    <a:lnT w="9525">
                      <a:solidFill>
                        <a:srgbClr val="C6D4DF"/>
                      </a:solidFill>
                      <a:prstDash val="solid"/>
                    </a:lnT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Зміст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T w="9525">
                      <a:solidFill>
                        <a:srgbClr val="C6D4DF"/>
                      </a:solidFill>
                      <a:prstDash val="solid"/>
                    </a:lnT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</a:tr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Перше M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6D4DF"/>
                      </a:solidFill>
                      <a:prstDash val="solid"/>
                    </a:lnL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Пуассонівські надходження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</a:tr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Друге M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6D4DF"/>
                      </a:solidFill>
                      <a:prstDash val="solid"/>
                    </a:lnL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Експоненційний час обслуговування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6D4DF"/>
                      </a:solidFill>
                      <a:prstDash val="solid"/>
                    </a:lnL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Один обробник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</a:tr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Додатково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6D4DF"/>
                      </a:solidFill>
                      <a:prstDash val="solid"/>
                    </a:lnL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FCFS, необмежена черга, без відмов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takeaway">
            <a:extLst xmlns:a="http://schemas.openxmlformats.org/drawingml/2006/main">
              <a:ext uri="{FF2B5EF4-FFF2-40B4-BE49-F238E27FC236}">
                <a16:creationId xmlns:a16="http://schemas.microsoft.com/office/drawing/2014/main" id="{DC9050E7-8C86-482C-BF91-43F59A8D7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15050"/>
            <a:ext cx="10191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Припускаємо незалежність надходжень і часів обслуговування.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836230AC-0CC7-4858-88DD-D20F70B55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055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7C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61670112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">
            <a:extLst xmlns:a="http://schemas.openxmlformats.org/drawingml/2006/main">
              <a:ext uri="{FF2B5EF4-FFF2-40B4-BE49-F238E27FC236}">
                <a16:creationId xmlns:a16="http://schemas.microsoft.com/office/drawing/2014/main" id="{D2AC2203-C5D5-4566-90D8-B348B7FB8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Стан системи</a:t>
            </a:r>
          </a:p>
        </p:txBody>
      </p:sp>
      <p:sp>
        <p:nvSpPr>
          <p:cNvPr id="2" name="number-0">
            <a:extLst xmlns:a="http://schemas.openxmlformats.org/drawingml/2006/main">
              <a:ext uri="{FF2B5EF4-FFF2-40B4-BE49-F238E27FC236}">
                <a16:creationId xmlns:a16="http://schemas.microsoft.com/office/drawing/2014/main" id="{5AF25B27-A557-4AA2-8FC4-793C033FE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9070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body-0">
            <a:extLst xmlns:a="http://schemas.openxmlformats.org/drawingml/2006/main">
              <a:ext uri="{FF2B5EF4-FFF2-40B4-BE49-F238E27FC236}">
                <a16:creationId xmlns:a16="http://schemas.microsoft.com/office/drawing/2014/main" id="{9772F4EE-79B2-4474-BB07-8CBC26358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73355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n: число запитів у системі</a:t>
            </a:r>
          </a:p>
        </p:txBody>
      </p:sp>
      <p:sp>
        <p:nvSpPr>
          <p:cNvPr id="4" name="number-1">
            <a:extLst xmlns:a="http://schemas.openxmlformats.org/drawingml/2006/main">
              <a:ext uri="{FF2B5EF4-FFF2-40B4-BE49-F238E27FC236}">
                <a16:creationId xmlns:a16="http://schemas.microsoft.com/office/drawing/2014/main" id="{0AFFC5C2-4F5C-4DD0-BB87-1A63A570D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3845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body-1">
            <a:extLst xmlns:a="http://schemas.openxmlformats.org/drawingml/2006/main">
              <a:ext uri="{FF2B5EF4-FFF2-40B4-BE49-F238E27FC236}">
                <a16:creationId xmlns:a16="http://schemas.microsoft.com/office/drawing/2014/main" id="{AEF67855-951F-490C-B8DE-7C540C9E6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78130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Запит в обробці входить до n</a:t>
            </a:r>
          </a:p>
        </p:txBody>
      </p:sp>
      <p:sp>
        <p:nvSpPr>
          <p:cNvPr id="6" name="number-2">
            <a:extLst xmlns:a="http://schemas.openxmlformats.org/drawingml/2006/main">
              <a:ext uri="{FF2B5EF4-FFF2-40B4-BE49-F238E27FC236}">
                <a16:creationId xmlns:a16="http://schemas.microsoft.com/office/drawing/2014/main" id="{A5B5C282-DD2D-46C5-80D5-C12720363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8620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body-2">
            <a:extLst xmlns:a="http://schemas.openxmlformats.org/drawingml/2006/main">
              <a:ext uri="{FF2B5EF4-FFF2-40B4-BE49-F238E27FC236}">
                <a16:creationId xmlns:a16="http://schemas.microsoft.com/office/drawing/2014/main" id="{C528156B-D4F2-4D31-A057-FDBAE39A9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82905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За n=0 обробник вільний</a:t>
            </a:r>
          </a:p>
        </p:txBody>
      </p:sp>
      <p:sp>
        <p:nvSpPr>
          <p:cNvPr id="8" name="number-3">
            <a:extLst xmlns:a="http://schemas.openxmlformats.org/drawingml/2006/main">
              <a:ext uri="{FF2B5EF4-FFF2-40B4-BE49-F238E27FC236}">
                <a16:creationId xmlns:a16="http://schemas.microsoft.com/office/drawing/2014/main" id="{3BCBCBA3-8B8D-420C-A1F8-C5B2112CF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3395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9" name="body-3">
            <a:extLst xmlns:a="http://schemas.openxmlformats.org/drawingml/2006/main">
              <a:ext uri="{FF2B5EF4-FFF2-40B4-BE49-F238E27FC236}">
                <a16:creationId xmlns:a16="http://schemas.microsoft.com/office/drawing/2014/main" id="{5565B643-445C-4328-992B-187EABB2B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87680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За n≥1 один запит обслуговується, n−1 чекають</a:t>
            </a:r>
          </a:p>
        </p:txBody>
      </p:sp>
      <p:sp>
        <p:nvSpPr>
          <p:cNvPr id="10" name="takeaway">
            <a:extLst xmlns:a="http://schemas.openxmlformats.org/drawingml/2006/main">
              <a:ext uri="{FF2B5EF4-FFF2-40B4-BE49-F238E27FC236}">
                <a16:creationId xmlns:a16="http://schemas.microsoft.com/office/drawing/2014/main" id="{C6A267EF-5D95-411A-BEF9-AE4A58E39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15050"/>
            <a:ext cx="10191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Черга і вся система мають різні лічильники.</a:t>
            </a:r>
          </a:p>
        </p:txBody>
      </p:sp>
      <p:sp>
        <p:nvSpPr>
          <p:cNvPr id="11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5FD75837-0E3F-475B-81F0-0FA8C9AA2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055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7C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74305750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7452204A-BD6E-4C43-8C1C-D0BA0BFC7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Інтенсивності переходів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79D413-2B7A-488F-AC40-42C01769C467}"/>
              </a:ext>
            </a:extLst>
          </p:cNvPr>
          <p:cNvGraphicFramePr/>
          <p:nvPr/>
        </p:nvGraphicFramePr>
        <p:xfrm>
          <a:off xmlns:a="http://schemas.openxmlformats.org/drawingml/2006/main" x="762000" y="1695450"/>
          <a:ext xmlns:a="http://schemas.openxmlformats.org/drawingml/2006/main" cx="10668000" cy="2514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50723"/>
                <a:gridCol w="2496766"/>
                <a:gridCol w="2269787"/>
                <a:gridCol w="2950723"/>
              </a:tblGrid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Поточний стан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6D4DF"/>
                      </a:solidFill>
                      <a:prstDash val="solid"/>
                    </a:lnL>
                    <a:lnR w="9525">
                      <a:solidFill>
                        <a:srgbClr val="C6D4DF"/>
                      </a:solidFill>
                      <a:prstDash val="solid"/>
                    </a:lnR>
                    <a:lnT w="9525">
                      <a:solidFill>
                        <a:srgbClr val="C6D4DF"/>
                      </a:solidFill>
                      <a:prstDash val="solid"/>
                    </a:lnT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Подія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T w="9525">
                      <a:solidFill>
                        <a:srgbClr val="C6D4DF"/>
                      </a:solidFill>
                      <a:prstDash val="solid"/>
                    </a:lnT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Наступний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T w="9525">
                      <a:solidFill>
                        <a:srgbClr val="C6D4DF"/>
                      </a:solidFill>
                      <a:prstDash val="solid"/>
                    </a:lnT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Інтенсивність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T w="9525">
                      <a:solidFill>
                        <a:srgbClr val="C6D4DF"/>
                      </a:solidFill>
                      <a:prstDash val="solid"/>
                    </a:lnT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</a:tr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6D4DF"/>
                      </a:solidFill>
                      <a:prstDash val="solid"/>
                    </a:lnL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Надходження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λ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</a:tr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n ≥ 1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6D4DF"/>
                      </a:solidFill>
                      <a:prstDash val="solid"/>
                    </a:lnL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Надходження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n+1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λ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n ≥ 1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6D4DF"/>
                      </a:solidFill>
                      <a:prstDash val="solid"/>
                    </a:lnL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Завершення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n−1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μ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</a:tr>
            </a:tbl>
          </a:graphicData>
        </a:graphic>
      </p:graphicFrame>
      <p:sp>
        <p:nvSpPr>
          <p:cNvPr id="3" name="takeaway">
            <a:extLst xmlns:a="http://schemas.openxmlformats.org/drawingml/2006/main">
              <a:ext uri="{FF2B5EF4-FFF2-40B4-BE49-F238E27FC236}">
                <a16:creationId xmlns:a16="http://schemas.microsoft.com/office/drawing/2014/main" id="{80E159BA-3A50-4044-BB7D-1B928A00D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15050"/>
            <a:ext cx="10191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Коли система порожня, завершення неможливе.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8DB83D71-3572-4B54-97DB-9BB2699A7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055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7C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90188951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">
            <a:extLst xmlns:a="http://schemas.openxmlformats.org/drawingml/2006/main">
              <a:ext uri="{FF2B5EF4-FFF2-40B4-BE49-F238E27FC236}">
                <a16:creationId xmlns:a16="http://schemas.microsoft.com/office/drawing/2014/main" id="{386EC134-9AB0-4E77-89A9-64B4F4920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Завантаження та стійкість</a:t>
            </a:r>
          </a:p>
        </p:txBody>
      </p:sp>
      <p:sp>
        <p:nvSpPr>
          <p:cNvPr id="2" name="number-0">
            <a:extLst xmlns:a="http://schemas.openxmlformats.org/drawingml/2006/main">
              <a:ext uri="{FF2B5EF4-FFF2-40B4-BE49-F238E27FC236}">
                <a16:creationId xmlns:a16="http://schemas.microsoft.com/office/drawing/2014/main" id="{2B14721C-7790-4B4C-BF55-D5FB508A1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9070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body-0">
            <a:extLst xmlns:a="http://schemas.openxmlformats.org/drawingml/2006/main">
              <a:ext uri="{FF2B5EF4-FFF2-40B4-BE49-F238E27FC236}">
                <a16:creationId xmlns:a16="http://schemas.microsoft.com/office/drawing/2014/main" id="{A79BC19E-C4DE-4E3E-9573-0F0348802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73355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ρ = λ/μ = 8/10 = 0,8</a:t>
            </a:r>
          </a:p>
        </p:txBody>
      </p:sp>
      <p:sp>
        <p:nvSpPr>
          <p:cNvPr id="4" name="number-1">
            <a:extLst xmlns:a="http://schemas.openxmlformats.org/drawingml/2006/main">
              <a:ext uri="{FF2B5EF4-FFF2-40B4-BE49-F238E27FC236}">
                <a16:creationId xmlns:a16="http://schemas.microsoft.com/office/drawing/2014/main" id="{7F415D89-719B-47E4-A97A-609C7850F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3845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body-1">
            <a:extLst xmlns:a="http://schemas.openxmlformats.org/drawingml/2006/main">
              <a:ext uri="{FF2B5EF4-FFF2-40B4-BE49-F238E27FC236}">
                <a16:creationId xmlns:a16="http://schemas.microsoft.com/office/drawing/2014/main" id="{5C25E083-91F6-4631-A0CC-B1D4D1962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78130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У стаціонарі обробник зайнятий 80% часу</a:t>
            </a:r>
          </a:p>
        </p:txBody>
      </p:sp>
      <p:sp>
        <p:nvSpPr>
          <p:cNvPr id="6" name="number-2">
            <a:extLst xmlns:a="http://schemas.openxmlformats.org/drawingml/2006/main">
              <a:ext uri="{FF2B5EF4-FFF2-40B4-BE49-F238E27FC236}">
                <a16:creationId xmlns:a16="http://schemas.microsoft.com/office/drawing/2014/main" id="{D1B6DDB5-1448-4D44-92B3-B262BA79D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8620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body-2">
            <a:extLst xmlns:a="http://schemas.openxmlformats.org/drawingml/2006/main">
              <a:ext uri="{FF2B5EF4-FFF2-40B4-BE49-F238E27FC236}">
                <a16:creationId xmlns:a16="http://schemas.microsoft.com/office/drawing/2014/main" id="{60EEFFF7-1E9D-4A9E-82AF-A6C882F8F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82905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Умова: λ &lt; μ</a:t>
            </a:r>
          </a:p>
        </p:txBody>
      </p:sp>
      <p:sp>
        <p:nvSpPr>
          <p:cNvPr id="8" name="number-3">
            <a:extLst xmlns:a="http://schemas.openxmlformats.org/drawingml/2006/main">
              <a:ext uri="{FF2B5EF4-FFF2-40B4-BE49-F238E27FC236}">
                <a16:creationId xmlns:a16="http://schemas.microsoft.com/office/drawing/2014/main" id="{A777570D-70F6-47E2-8929-A8DE61252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3395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9" name="body-3">
            <a:extLst xmlns:a="http://schemas.openxmlformats.org/drawingml/2006/main">
              <a:ext uri="{FF2B5EF4-FFF2-40B4-BE49-F238E27FC236}">
                <a16:creationId xmlns:a16="http://schemas.microsoft.com/office/drawing/2014/main" id="{AA88089F-F78C-4DB5-8002-A6DE291CD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87680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За λ ≥ μ скінченних стаціонарних середніх немає</a:t>
            </a:r>
          </a:p>
        </p:txBody>
      </p:sp>
      <p:sp>
        <p:nvSpPr>
          <p:cNvPr id="10" name="takeaway">
            <a:extLst xmlns:a="http://schemas.openxmlformats.org/drawingml/2006/main">
              <a:ext uri="{FF2B5EF4-FFF2-40B4-BE49-F238E27FC236}">
                <a16:creationId xmlns:a16="http://schemas.microsoft.com/office/drawing/2014/main" id="{E4B47C9D-427F-457F-922B-65F1B12E1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15050"/>
            <a:ext cx="10191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Середній вхід має бути меншим за середню продуктивність.</a:t>
            </a:r>
          </a:p>
        </p:txBody>
      </p:sp>
      <p:sp>
        <p:nvSpPr>
          <p:cNvPr id="11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7C3D800D-16A4-4D36-A2D9-7C8B11705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055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7C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13416712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">
            <a:extLst xmlns:a="http://schemas.openxmlformats.org/drawingml/2006/main">
              <a:ext uri="{FF2B5EF4-FFF2-40B4-BE49-F238E27FC236}">
                <a16:creationId xmlns:a16="http://schemas.microsoft.com/office/drawing/2014/main" id="{3D2BC30C-7E00-446E-A45D-486A088CE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Стаціонарний розподіл числа запитів</a:t>
            </a:r>
          </a:p>
        </p:txBody>
      </p:sp>
      <p:sp>
        <p:nvSpPr>
          <p:cNvPr id="2" name="number-0">
            <a:extLst xmlns:a="http://schemas.openxmlformats.org/drawingml/2006/main">
              <a:ext uri="{FF2B5EF4-FFF2-40B4-BE49-F238E27FC236}">
                <a16:creationId xmlns:a16="http://schemas.microsoft.com/office/drawing/2014/main" id="{12BDF626-7B51-4C88-903C-D3F3CD9C6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9070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body-0">
            <a:extLst xmlns:a="http://schemas.openxmlformats.org/drawingml/2006/main">
              <a:ext uri="{FF2B5EF4-FFF2-40B4-BE49-F238E27FC236}">
                <a16:creationId xmlns:a16="http://schemas.microsoft.com/office/drawing/2014/main" id="{56DEE3DE-7AF0-43A1-9F25-C9158AC75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73355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Баланс сусідніх станів: λpn = μpn+1</a:t>
            </a:r>
          </a:p>
        </p:txBody>
      </p:sp>
      <p:sp>
        <p:nvSpPr>
          <p:cNvPr id="4" name="number-1">
            <a:extLst xmlns:a="http://schemas.openxmlformats.org/drawingml/2006/main">
              <a:ext uri="{FF2B5EF4-FFF2-40B4-BE49-F238E27FC236}">
                <a16:creationId xmlns:a16="http://schemas.microsoft.com/office/drawing/2014/main" id="{1DCC3439-3819-4CA5-B82C-6A799FBEE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3845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body-1">
            <a:extLst xmlns:a="http://schemas.openxmlformats.org/drawingml/2006/main">
              <a:ext uri="{FF2B5EF4-FFF2-40B4-BE49-F238E27FC236}">
                <a16:creationId xmlns:a16="http://schemas.microsoft.com/office/drawing/2014/main" id="{AC4539FB-D875-45F4-A82F-7C78E9CDB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78130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Звідси pn+1 = ρpn</a:t>
            </a:r>
          </a:p>
        </p:txBody>
      </p:sp>
      <p:sp>
        <p:nvSpPr>
          <p:cNvPr id="6" name="number-2">
            <a:extLst xmlns:a="http://schemas.openxmlformats.org/drawingml/2006/main">
              <a:ext uri="{FF2B5EF4-FFF2-40B4-BE49-F238E27FC236}">
                <a16:creationId xmlns:a16="http://schemas.microsoft.com/office/drawing/2014/main" id="{2991EE5A-0B55-4B82-905B-8A088F253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8620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body-2">
            <a:extLst xmlns:a="http://schemas.openxmlformats.org/drawingml/2006/main">
              <a:ext uri="{FF2B5EF4-FFF2-40B4-BE49-F238E27FC236}">
                <a16:creationId xmlns:a16="http://schemas.microsoft.com/office/drawing/2014/main" id="{38F9AE0C-095F-45FA-809B-461FE72AF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82905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Нормування дає p0 = 1−ρ</a:t>
            </a:r>
          </a:p>
        </p:txBody>
      </p:sp>
      <p:sp>
        <p:nvSpPr>
          <p:cNvPr id="8" name="number-3">
            <a:extLst xmlns:a="http://schemas.openxmlformats.org/drawingml/2006/main">
              <a:ext uri="{FF2B5EF4-FFF2-40B4-BE49-F238E27FC236}">
                <a16:creationId xmlns:a16="http://schemas.microsoft.com/office/drawing/2014/main" id="{63B09CE1-AFDA-47E3-99C4-C11824838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3395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9" name="body-3">
            <a:extLst xmlns:a="http://schemas.openxmlformats.org/drawingml/2006/main">
              <a:ext uri="{FF2B5EF4-FFF2-40B4-BE49-F238E27FC236}">
                <a16:creationId xmlns:a16="http://schemas.microsoft.com/office/drawing/2014/main" id="{0A7C2DA4-A916-4A25-A143-5581A53CB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87680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Отже pn = (1−ρ)ρⁿ</a:t>
            </a:r>
          </a:p>
        </p:txBody>
      </p:sp>
      <p:sp>
        <p:nvSpPr>
          <p:cNvPr id="10" name="takeaway">
            <a:extLst xmlns:a="http://schemas.openxmlformats.org/drawingml/2006/main">
              <a:ext uri="{FF2B5EF4-FFF2-40B4-BE49-F238E27FC236}">
                <a16:creationId xmlns:a16="http://schemas.microsoft.com/office/drawing/2014/main" id="{BEC218A0-2EB8-4122-8386-4887F45E6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15050"/>
            <a:ext cx="10191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Геометричний хвіст показує ймовірність великих черг.</a:t>
            </a:r>
          </a:p>
        </p:txBody>
      </p:sp>
      <p:sp>
        <p:nvSpPr>
          <p:cNvPr id="11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C9038B80-2560-41B6-AB99-88E4DEEC3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055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7C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87739469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07935425-3443-4ABA-8794-6DEC91618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Ймовірність кількості запитів</a:t>
            </a:r>
          </a:p>
        </p:txBody>
      </p:sp>
      <p:graphicFrame>
        <p:nvGraphicFramePr>
          <p:cNvPr id="2" name="Chart">
            <a:extLst xmlns:a="http://schemas.openxmlformats.org/drawingml/2006/main">
              <a:ext uri="{FF2B5EF4-FFF2-40B4-BE49-F238E27FC236}">
                <a16:creationId xmlns:a16="http://schemas.microsoft.com/office/drawing/2014/main" id="{8065B5CB-9E90-41C7-B546-1E147E6B8C99}"/>
              </a:ext>
            </a:extLst>
          </p:cNvPr>
          <p:cNvGraphicFramePr/>
          <p:nvPr/>
        </p:nvGraphicFramePr>
        <p:xfrm>
          <a:off xmlns:a="http://schemas.openxmlformats.org/drawingml/2006/main" x="762000" y="1619250"/>
          <a:ext xmlns:a="http://schemas.openxmlformats.org/drawingml/2006/main" cx="10668000" cy="4191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d2c549969c14e94"/>
          </a:graphicData>
        </a:graphic>
      </p:graphicFrame>
      <p:sp>
        <p:nvSpPr>
          <p:cNvPr id="3" name="takeaway">
            <a:extLst xmlns:a="http://schemas.openxmlformats.org/drawingml/2006/main">
              <a:ext uri="{FF2B5EF4-FFF2-40B4-BE49-F238E27FC236}">
                <a16:creationId xmlns:a16="http://schemas.microsoft.com/office/drawing/2014/main" id="{7666B9D7-6EE3-49D0-8317-7DE4E2875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15050"/>
            <a:ext cx="10191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Показано n=0…10, за правою межею залишається хвіст.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0556B87C-0081-4B09-BD07-FD37EAC29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055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7C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7607138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">
            <a:extLst xmlns:a="http://schemas.openxmlformats.org/drawingml/2006/main">
              <a:ext uri="{FF2B5EF4-FFF2-40B4-BE49-F238E27FC236}">
                <a16:creationId xmlns:a16="http://schemas.microsoft.com/office/drawing/2014/main" id="{D9EC0A21-EC4D-49C9-BE48-7943368A9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Середній час у системі</a:t>
            </a:r>
          </a:p>
        </p:txBody>
      </p:sp>
      <p:sp>
        <p:nvSpPr>
          <p:cNvPr id="2" name="number-0">
            <a:extLst xmlns:a="http://schemas.openxmlformats.org/drawingml/2006/main">
              <a:ext uri="{FF2B5EF4-FFF2-40B4-BE49-F238E27FC236}">
                <a16:creationId xmlns:a16="http://schemas.microsoft.com/office/drawing/2014/main" id="{8F8885C2-3D2D-41E1-97E6-2B99E7C79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9070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body-0">
            <a:extLst xmlns:a="http://schemas.openxmlformats.org/drawingml/2006/main">
              <a:ext uri="{FF2B5EF4-FFF2-40B4-BE49-F238E27FC236}">
                <a16:creationId xmlns:a16="http://schemas.microsoft.com/office/drawing/2014/main" id="{33323A7D-08AD-4980-BE44-EA136A6F3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73355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W = 1/(μ−λ)</a:t>
            </a:r>
          </a:p>
        </p:txBody>
      </p:sp>
      <p:sp>
        <p:nvSpPr>
          <p:cNvPr id="4" name="number-1">
            <a:extLst xmlns:a="http://schemas.openxmlformats.org/drawingml/2006/main">
              <a:ext uri="{FF2B5EF4-FFF2-40B4-BE49-F238E27FC236}">
                <a16:creationId xmlns:a16="http://schemas.microsoft.com/office/drawing/2014/main" id="{2246FE2F-8260-4772-90DE-9267E8765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3845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body-1">
            <a:extLst xmlns:a="http://schemas.openxmlformats.org/drawingml/2006/main">
              <a:ext uri="{FF2B5EF4-FFF2-40B4-BE49-F238E27FC236}">
                <a16:creationId xmlns:a16="http://schemas.microsoft.com/office/drawing/2014/main" id="{3A6AA97D-29BC-4C58-90E1-CC03EDC6F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78130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W = 1/(10−8) = 0,5 с</a:t>
            </a:r>
          </a:p>
        </p:txBody>
      </p:sp>
      <p:sp>
        <p:nvSpPr>
          <p:cNvPr id="6" name="number-2">
            <a:extLst xmlns:a="http://schemas.openxmlformats.org/drawingml/2006/main">
              <a:ext uri="{FF2B5EF4-FFF2-40B4-BE49-F238E27FC236}">
                <a16:creationId xmlns:a16="http://schemas.microsoft.com/office/drawing/2014/main" id="{470AC8E0-7D04-46FA-94DF-354C5F174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8620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body-2">
            <a:extLst xmlns:a="http://schemas.openxmlformats.org/drawingml/2006/main">
              <a:ext uri="{FF2B5EF4-FFF2-40B4-BE49-F238E27FC236}">
                <a16:creationId xmlns:a16="http://schemas.microsoft.com/office/drawing/2014/main" id="{437776F2-2C1B-43BC-84F5-77E08D74C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82905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W включає очікування й обслуговування</a:t>
            </a:r>
          </a:p>
        </p:txBody>
      </p:sp>
      <p:sp>
        <p:nvSpPr>
          <p:cNvPr id="8" name="number-3">
            <a:extLst xmlns:a="http://schemas.openxmlformats.org/drawingml/2006/main">
              <a:ext uri="{FF2B5EF4-FFF2-40B4-BE49-F238E27FC236}">
                <a16:creationId xmlns:a16="http://schemas.microsoft.com/office/drawing/2014/main" id="{958267C0-7088-4F52-B42E-342E4A163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3395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9" name="body-3">
            <a:extLst xmlns:a="http://schemas.openxmlformats.org/drawingml/2006/main">
              <a:ext uri="{FF2B5EF4-FFF2-40B4-BE49-F238E27FC236}">
                <a16:creationId xmlns:a16="http://schemas.microsoft.com/office/drawing/2014/main" id="{C15A8F01-399E-420B-9A47-E3A634AA7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87680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Wq = W−1/μ = 0,4 с</a:t>
            </a:r>
          </a:p>
        </p:txBody>
      </p:sp>
      <p:sp>
        <p:nvSpPr>
          <p:cNvPr id="10" name="takeaway">
            <a:extLst xmlns:a="http://schemas.openxmlformats.org/drawingml/2006/main">
              <a:ext uri="{FF2B5EF4-FFF2-40B4-BE49-F238E27FC236}">
                <a16:creationId xmlns:a16="http://schemas.microsoft.com/office/drawing/2014/main" id="{7FDCB9D8-282B-456D-80D3-158C3229C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15050"/>
            <a:ext cx="10191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Із 0,5 с лише 0,1 с припадає на обслуговування.</a:t>
            </a:r>
          </a:p>
        </p:txBody>
      </p:sp>
      <p:sp>
        <p:nvSpPr>
          <p:cNvPr id="11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7B6CFE3E-B95E-4638-904B-FCCF41244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055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7C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25931567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">
            <a:extLst xmlns:a="http://schemas.openxmlformats.org/drawingml/2006/main">
              <a:ext uri="{FF2B5EF4-FFF2-40B4-BE49-F238E27FC236}">
                <a16:creationId xmlns:a16="http://schemas.microsoft.com/office/drawing/2014/main" id="{8F9DCB73-3D73-4C0A-9675-0AB1D5F5A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Формула Літтла</a:t>
            </a:r>
          </a:p>
        </p:txBody>
      </p:sp>
      <p:sp>
        <p:nvSpPr>
          <p:cNvPr id="2" name="number-0">
            <a:extLst xmlns:a="http://schemas.openxmlformats.org/drawingml/2006/main">
              <a:ext uri="{FF2B5EF4-FFF2-40B4-BE49-F238E27FC236}">
                <a16:creationId xmlns:a16="http://schemas.microsoft.com/office/drawing/2014/main" id="{9F6983C6-D0BA-491F-8845-BE2C7DC12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9070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body-0">
            <a:extLst xmlns:a="http://schemas.openxmlformats.org/drawingml/2006/main">
              <a:ext uri="{FF2B5EF4-FFF2-40B4-BE49-F238E27FC236}">
                <a16:creationId xmlns:a16="http://schemas.microsoft.com/office/drawing/2014/main" id="{305840E6-57CB-4579-B558-170690745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73355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L = λW = 8 × 0,5 = 4 запити</a:t>
            </a:r>
          </a:p>
        </p:txBody>
      </p:sp>
      <p:sp>
        <p:nvSpPr>
          <p:cNvPr id="4" name="number-1">
            <a:extLst xmlns:a="http://schemas.openxmlformats.org/drawingml/2006/main">
              <a:ext uri="{FF2B5EF4-FFF2-40B4-BE49-F238E27FC236}">
                <a16:creationId xmlns:a16="http://schemas.microsoft.com/office/drawing/2014/main" id="{A2DFB373-FEDC-4F26-8EBA-7E7A7BAAE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3845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body-1">
            <a:extLst xmlns:a="http://schemas.openxmlformats.org/drawingml/2006/main">
              <a:ext uri="{FF2B5EF4-FFF2-40B4-BE49-F238E27FC236}">
                <a16:creationId xmlns:a16="http://schemas.microsoft.com/office/drawing/2014/main" id="{CB29DEAD-98D1-453D-B69C-CC62AD151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78130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Lq = λWq = 8 × 0,4 = 3,2 запиту</a:t>
            </a:r>
          </a:p>
        </p:txBody>
      </p:sp>
      <p:sp>
        <p:nvSpPr>
          <p:cNvPr id="6" name="number-2">
            <a:extLst xmlns:a="http://schemas.openxmlformats.org/drawingml/2006/main">
              <a:ext uri="{FF2B5EF4-FFF2-40B4-BE49-F238E27FC236}">
                <a16:creationId xmlns:a16="http://schemas.microsoft.com/office/drawing/2014/main" id="{5C4EE9CB-9588-41BE-AC4C-BD6E3C550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8620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body-2">
            <a:extLst xmlns:a="http://schemas.openxmlformats.org/drawingml/2006/main">
              <a:ext uri="{FF2B5EF4-FFF2-40B4-BE49-F238E27FC236}">
                <a16:creationId xmlns:a16="http://schemas.microsoft.com/office/drawing/2014/main" id="{8E22843A-6D9D-466A-BF48-C8801ABAC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82905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У середньому 0,8 запиту обслуговується</a:t>
            </a:r>
          </a:p>
        </p:txBody>
      </p:sp>
      <p:sp>
        <p:nvSpPr>
          <p:cNvPr id="8" name="number-3">
            <a:extLst xmlns:a="http://schemas.openxmlformats.org/drawingml/2006/main">
              <a:ext uri="{FF2B5EF4-FFF2-40B4-BE49-F238E27FC236}">
                <a16:creationId xmlns:a16="http://schemas.microsoft.com/office/drawing/2014/main" id="{55C05964-D196-465E-AE6D-802776DDA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3395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9" name="body-3">
            <a:extLst xmlns:a="http://schemas.openxmlformats.org/drawingml/2006/main">
              <a:ext uri="{FF2B5EF4-FFF2-40B4-BE49-F238E27FC236}">
                <a16:creationId xmlns:a16="http://schemas.microsoft.com/office/drawing/2014/main" id="{79713892-5881-48A2-8FA5-0AFE0D5A0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87680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L = Lq + ρ</a:t>
            </a:r>
          </a:p>
        </p:txBody>
      </p:sp>
      <p:sp>
        <p:nvSpPr>
          <p:cNvPr id="10" name="takeaway">
            <a:extLst xmlns:a="http://schemas.openxmlformats.org/drawingml/2006/main">
              <a:ext uri="{FF2B5EF4-FFF2-40B4-BE49-F238E27FC236}">
                <a16:creationId xmlns:a16="http://schemas.microsoft.com/office/drawing/2014/main" id="{98A0C98F-7A2A-467C-98AF-AB46CCCF7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15050"/>
            <a:ext cx="10191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Число запитів і час пов’язані за однакового визначення меж системи.</a:t>
            </a:r>
          </a:p>
        </p:txBody>
      </p:sp>
      <p:sp>
        <p:nvSpPr>
          <p:cNvPr id="11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6CD2CAE2-E7AF-41FA-B9DA-66DDF8F70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055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7C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60901529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E7509423-318D-4171-A46A-657E3B97C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Python: розрахунок показників</a:t>
            </a:r>
          </a:p>
        </p:txBody>
      </p:sp>
      <p:sp>
        <p:nvSpPr>
          <p:cNvPr id="2" name="code">
            <a:extLst xmlns:a="http://schemas.openxmlformats.org/drawingml/2006/main">
              <a:ext uri="{FF2B5EF4-FFF2-40B4-BE49-F238E27FC236}">
                <a16:creationId xmlns:a16="http://schemas.microsoft.com/office/drawing/2014/main" id="{6870A658-0E5F-445F-982B-58C606987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95450"/>
            <a:ext cx="1057275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rPr>
              <a:t>lam, mu = 8., 10.  # запити за секунду</a:t>
            </a:r>
          </a:p>
          <a:p xmlns:a="http://schemas.openxmlformats.org/drawingml/2006/main">
            <a: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rPr>
              <a:t>rho = lam/mu</a:t>
            </a:r>
          </a:p>
          <a:p xmlns:a="http://schemas.openxmlformats.org/drawingml/2006/main">
            <a: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rPr>
              <a:t>if rho &gt;= 1:</a:t>
            </a:r>
          </a:p>
          <a:p xmlns:a="http://schemas.openxmlformats.org/drawingml/2006/main">
            <a: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rPr>
              <a:t>    raise ValueError("Немає стаціонарного режиму")</a:t>
            </a:r>
          </a:p>
          <a:p xmlns:a="http://schemas.openxmlformats.org/drawingml/2006/main">
            <a: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rPr>
              <a:t>W = 1/(mu-lam)</a:t>
            </a:r>
          </a:p>
          <a:p xmlns:a="http://schemas.openxmlformats.org/drawingml/2006/main">
            <a: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rPr>
              <a:t>Wq = W - 1/mu</a:t>
            </a:r>
          </a:p>
          <a:p xmlns:a="http://schemas.openxmlformats.org/drawingml/2006/main">
            <a: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rPr>
              <a:t>L, Lq = lam*W, lam*Wq</a:t>
            </a:r>
          </a:p>
        </p:txBody>
      </p:sp>
      <p:sp>
        <p:nvSpPr>
          <p:cNvPr id="3" name="takeaway">
            <a:extLst xmlns:a="http://schemas.openxmlformats.org/drawingml/2006/main">
              <a:ext uri="{FF2B5EF4-FFF2-40B4-BE49-F238E27FC236}">
                <a16:creationId xmlns:a16="http://schemas.microsoft.com/office/drawing/2014/main" id="{B0E30BFF-EDFF-4610-B602-B8A4F78D6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15050"/>
            <a:ext cx="10191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Спочатку перевіряємо стійкість, потім застосовуємо формули.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156ED8B6-3C83-420C-9481-F0AB077EC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055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7C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11541717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09417D81-25D9-47F1-927D-060CA688D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Python: друк і контроль результатів</a:t>
            </a:r>
          </a:p>
        </p:txBody>
      </p:sp>
      <p:sp>
        <p:nvSpPr>
          <p:cNvPr id="2" name="code">
            <a:extLst xmlns:a="http://schemas.openxmlformats.org/drawingml/2006/main">
              <a:ext uri="{FF2B5EF4-FFF2-40B4-BE49-F238E27FC236}">
                <a16:creationId xmlns:a16="http://schemas.microsoft.com/office/drawing/2014/main" id="{9E32B1DF-A785-4409-9481-943D18171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95450"/>
            <a:ext cx="1057275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rPr>
              <a:t>print(f"rho={rho:.3f}")</a:t>
            </a:r>
          </a:p>
          <a:p xmlns:a="http://schemas.openxmlformats.org/drawingml/2006/main">
            <a: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rPr>
              <a:t>print(f"W={W:.3f} с, Wq={Wq:.3f} с")</a:t>
            </a:r>
          </a:p>
          <a:p xmlns:a="http://schemas.openxmlformats.org/drawingml/2006/main">
            <a: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rPr>
              <a:t>print(f"L={L:.3f}, Lq={Lq:.3f}")</a:t>
            </a:r>
          </a:p>
          <a:p xmlns:a="http://schemas.openxmlformats.org/drawingml/2006/main">
            <a: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rPr>
              <a:t>assert abs(L-Lq-rho) &lt; 1e-12</a:t>
            </a:r>
          </a:p>
          <a:p xmlns:a="http://schemas.openxmlformats.org/drawingml/2006/main">
            <a:pPr>
              <a:def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6324F"/>
                </a:solidFill>
                <a:latin typeface="Courier New"/>
                <a:ea typeface="Courier New"/>
                <a:cs typeface="Courier New"/>
              </a:rPr>
              <a:t>assert W &gt;= 1/mu</a:t>
            </a:r>
          </a:p>
        </p:txBody>
      </p:sp>
      <p:sp>
        <p:nvSpPr>
          <p:cNvPr id="3" name="takeaway">
            <a:extLst xmlns:a="http://schemas.openxmlformats.org/drawingml/2006/main">
              <a:ext uri="{FF2B5EF4-FFF2-40B4-BE49-F238E27FC236}">
                <a16:creationId xmlns:a16="http://schemas.microsoft.com/office/drawing/2014/main" id="{0195C416-3C93-430B-8478-369FAF99D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15050"/>
            <a:ext cx="10191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Контроль L−Lq=ρ перевіряє узгодженість показників.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71594EA4-4168-4C3F-86DD-2460DEB70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055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7C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88015914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BD84B826-6FC0-45D3-B88F-5CD84911D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Фактичний вивід M/M/1</a:t>
            </a:r>
          </a:p>
        </p:txBody>
      </p:sp>
      <p:sp>
        <p:nvSpPr>
          <p:cNvPr id="2" name="code">
            <a:extLst xmlns:a="http://schemas.openxmlformats.org/drawingml/2006/main">
              <a:ext uri="{FF2B5EF4-FFF2-40B4-BE49-F238E27FC236}">
                <a16:creationId xmlns:a16="http://schemas.microsoft.com/office/drawing/2014/main" id="{B2982E54-A488-470E-83A8-FA3F2C735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95450"/>
            <a:ext cx="1057275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defRPr>
            </a:defPPr>
            <a:lvl1pPr>
              <a:def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defRPr>
            </a:lvl1pPr>
            <a:lvl2pPr>
              <a:def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defRPr>
            </a:lvl2pPr>
            <a:lvl3pPr>
              <a:def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defRPr>
            </a:lvl3pPr>
            <a:lvl4pPr>
              <a:def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defRPr>
            </a:lvl4pPr>
            <a:lvl5pPr>
              <a:def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defRPr>
            </a:lvl5pPr>
            <a:lvl6pPr>
              <a:def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defRPr>
            </a:lvl6pPr>
            <a:lvl7pPr>
              <a:def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defRPr>
            </a:lvl7pPr>
            <a:lvl8pPr>
              <a:def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defRPr>
            </a:lvl8pPr>
            <a:lvl9pPr>
              <a:def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rPr>
              <a:t>rho=0.800</a:t>
            </a:r>
          </a:p>
          <a:p xmlns:a="http://schemas.openxmlformats.org/drawingml/2006/main">
            <a:pPr>
              <a:def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rPr>
              <a:t>W=0.500 с, Wq=0.400 с</a:t>
            </a:r>
          </a:p>
          <a:p xmlns:a="http://schemas.openxmlformats.org/drawingml/2006/main">
            <a:pPr>
              <a:def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007F82"/>
                </a:solidFill>
                <a:latin typeface="Courier New"/>
                <a:ea typeface="Courier New"/>
                <a:cs typeface="Courier New"/>
              </a:rPr>
              <a:t>L=4.000, Lq=3.200</a:t>
            </a:r>
          </a:p>
        </p:txBody>
      </p:sp>
      <p:sp>
        <p:nvSpPr>
          <p:cNvPr id="3" name="takeaway">
            <a:extLst xmlns:a="http://schemas.openxmlformats.org/drawingml/2006/main">
              <a:ext uri="{FF2B5EF4-FFF2-40B4-BE49-F238E27FC236}">
                <a16:creationId xmlns:a16="http://schemas.microsoft.com/office/drawing/2014/main" id="{B249A0D7-5DD6-4A1D-A26A-A1988E204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15050"/>
            <a:ext cx="10191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Середній час у системі у п’ять разів більший за час обслуговування.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7A788401-0E10-42AE-A4D7-11A043F68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055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7C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47988796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324E6EC7-821B-4188-974E-30E31DCF9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Один обробник при різному вході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57FD79-AB18-4347-AFB0-793920EA7E70}"/>
              </a:ext>
            </a:extLst>
          </p:cNvPr>
          <p:cNvGraphicFramePr/>
          <p:nvPr/>
        </p:nvGraphicFramePr>
        <p:xfrm>
          <a:off xmlns:a="http://schemas.openxmlformats.org/drawingml/2006/main" x="762000" y="1695450"/>
          <a:ext xmlns:a="http://schemas.openxmlformats.org/drawingml/2006/main" cx="10668000" cy="3771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2667000"/>
                <a:gridCol w="2667000"/>
                <a:gridCol w="2667000"/>
              </a:tblGrid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λ, 1/с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6D4DF"/>
                      </a:solidFill>
                      <a:prstDash val="solid"/>
                    </a:lnL>
                    <a:lnR w="9525">
                      <a:solidFill>
                        <a:srgbClr val="C6D4DF"/>
                      </a:solidFill>
                      <a:prstDash val="solid"/>
                    </a:lnR>
                    <a:lnT w="9525">
                      <a:solidFill>
                        <a:srgbClr val="C6D4DF"/>
                      </a:solidFill>
                      <a:prstDash val="solid"/>
                    </a:lnT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ρ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T w="9525">
                      <a:solidFill>
                        <a:srgbClr val="C6D4DF"/>
                      </a:solidFill>
                      <a:prstDash val="solid"/>
                    </a:lnT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W, с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T w="9525">
                      <a:solidFill>
                        <a:srgbClr val="C6D4DF"/>
                      </a:solidFill>
                      <a:prstDash val="solid"/>
                    </a:lnT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Wq, с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T w="9525">
                      <a:solidFill>
                        <a:srgbClr val="C6D4DF"/>
                      </a:solidFill>
                      <a:prstDash val="solid"/>
                    </a:lnT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</a:tr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6D4DF"/>
                      </a:solidFill>
                      <a:prstDash val="solid"/>
                    </a:lnL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0.20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0.125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0.025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</a:tr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6D4DF"/>
                      </a:solidFill>
                      <a:prstDash val="solid"/>
                    </a:lnL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0.50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0.200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0.100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8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6D4DF"/>
                      </a:solidFill>
                      <a:prstDash val="solid"/>
                    </a:lnL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0.80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0.500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0.400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</a:tr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9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6D4DF"/>
                      </a:solidFill>
                      <a:prstDash val="solid"/>
                    </a:lnL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0.90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1.000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0.900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9.5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6D4DF"/>
                      </a:solidFill>
                      <a:prstDash val="solid"/>
                    </a:lnL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0.95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2.000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1.900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</a:tr>
            </a:tbl>
          </a:graphicData>
        </a:graphic>
      </p:graphicFrame>
      <p:sp>
        <p:nvSpPr>
          <p:cNvPr id="3" name="takeaway">
            <a:extLst xmlns:a="http://schemas.openxmlformats.org/drawingml/2006/main">
              <a:ext uri="{FF2B5EF4-FFF2-40B4-BE49-F238E27FC236}">
                <a16:creationId xmlns:a16="http://schemas.microsoft.com/office/drawing/2014/main" id="{0460EF4D-309B-487E-9F88-D0F234C75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15050"/>
            <a:ext cx="10191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Наближення до межі продуктивності різко збільшує очікування.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05E80129-F2C7-4BC5-BCB6-470B177B1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055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7C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97438469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49D9182F-C6BD-4FB7-9809-35FDAD342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Затримка поблизу насичення</a:t>
            </a:r>
          </a:p>
        </p:txBody>
      </p:sp>
      <p:graphicFrame>
        <p:nvGraphicFramePr>
          <p:cNvPr id="2" name="Chart">
            <a:extLst xmlns:a="http://schemas.openxmlformats.org/drawingml/2006/main">
              <a:ext uri="{FF2B5EF4-FFF2-40B4-BE49-F238E27FC236}">
                <a16:creationId xmlns:a16="http://schemas.microsoft.com/office/drawing/2014/main" id="{E54F510F-64C6-4252-8D25-03A17116897A}"/>
              </a:ext>
            </a:extLst>
          </p:cNvPr>
          <p:cNvGraphicFramePr/>
          <p:nvPr/>
        </p:nvGraphicFramePr>
        <p:xfrm>
          <a:off xmlns:a="http://schemas.openxmlformats.org/drawingml/2006/main" x="762000" y="1619250"/>
          <a:ext xmlns:a="http://schemas.openxmlformats.org/drawingml/2006/main" cx="10668000" cy="4191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fe56e5bdd3f44d8"/>
          </a:graphicData>
        </a:graphic>
      </p:graphicFrame>
      <p:sp>
        <p:nvSpPr>
          <p:cNvPr id="3" name="takeaway">
            <a:extLst xmlns:a="http://schemas.openxmlformats.org/drawingml/2006/main">
              <a:ext uri="{FF2B5EF4-FFF2-40B4-BE49-F238E27FC236}">
                <a16:creationId xmlns:a16="http://schemas.microsoft.com/office/drawing/2014/main" id="{BA0988D9-999F-4496-9FFA-FCED39FAD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15050"/>
            <a:ext cx="10191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Для роботи з малими затримками потрібний запас продуктивності.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3ADCDD70-F457-44D6-8B24-7E65E7813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055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7C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03601897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">
            <a:extLst xmlns:a="http://schemas.openxmlformats.org/drawingml/2006/main">
              <a:ext uri="{FF2B5EF4-FFF2-40B4-BE49-F238E27FC236}">
                <a16:creationId xmlns:a16="http://schemas.microsoft.com/office/drawing/2014/main" id="{4120DA67-67D3-4387-877C-8A584E975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Середня затримка і вимога SLA</a:t>
            </a:r>
          </a:p>
        </p:txBody>
      </p:sp>
      <p:sp>
        <p:nvSpPr>
          <p:cNvPr id="2" name="number-0">
            <a:extLst xmlns:a="http://schemas.openxmlformats.org/drawingml/2006/main">
              <a:ext uri="{FF2B5EF4-FFF2-40B4-BE49-F238E27FC236}">
                <a16:creationId xmlns:a16="http://schemas.microsoft.com/office/drawing/2014/main" id="{2FF838E8-5DFF-43A6-8FEE-7A2EF5EDE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9070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body-0">
            <a:extLst xmlns:a="http://schemas.openxmlformats.org/drawingml/2006/main">
              <a:ext uri="{FF2B5EF4-FFF2-40B4-BE49-F238E27FC236}">
                <a16:creationId xmlns:a16="http://schemas.microsoft.com/office/drawing/2014/main" id="{CDCC3C1E-D31D-4997-9686-56703528F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73355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У моделі P(T&gt;t) = exp[−(μ−λ)t]</a:t>
            </a:r>
          </a:p>
        </p:txBody>
      </p:sp>
      <p:sp>
        <p:nvSpPr>
          <p:cNvPr id="4" name="number-1">
            <a:extLst xmlns:a="http://schemas.openxmlformats.org/drawingml/2006/main">
              <a:ext uri="{FF2B5EF4-FFF2-40B4-BE49-F238E27FC236}">
                <a16:creationId xmlns:a16="http://schemas.microsoft.com/office/drawing/2014/main" id="{A5D07F3F-8284-4F9A-949C-E6414AD5C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3845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body-1">
            <a:extLst xmlns:a="http://schemas.openxmlformats.org/drawingml/2006/main">
              <a:ext uri="{FF2B5EF4-FFF2-40B4-BE49-F238E27FC236}">
                <a16:creationId xmlns:a16="http://schemas.microsoft.com/office/drawing/2014/main" id="{1E2B8B1E-97A7-4415-A8AC-A461EB0F8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78130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За t=0,5 с: P(T&gt;t) ≈ 0,368</a:t>
            </a:r>
          </a:p>
        </p:txBody>
      </p:sp>
      <p:sp>
        <p:nvSpPr>
          <p:cNvPr id="6" name="number-2">
            <a:extLst xmlns:a="http://schemas.openxmlformats.org/drawingml/2006/main">
              <a:ext uri="{FF2B5EF4-FFF2-40B4-BE49-F238E27FC236}">
                <a16:creationId xmlns:a16="http://schemas.microsoft.com/office/drawing/2014/main" id="{6171F335-E379-4FDD-B5D0-3989D7F30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8620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body-2">
            <a:extLst xmlns:a="http://schemas.openxmlformats.org/drawingml/2006/main">
              <a:ext uri="{FF2B5EF4-FFF2-40B4-BE49-F238E27FC236}">
                <a16:creationId xmlns:a16="http://schemas.microsoft.com/office/drawing/2014/main" id="{A9EA15C1-9160-42EF-BD3D-A5A166949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82905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W=0,5 с не означає, що 95% запитів швидші за 0,5 с</a:t>
            </a:r>
          </a:p>
        </p:txBody>
      </p:sp>
      <p:sp>
        <p:nvSpPr>
          <p:cNvPr id="8" name="number-3">
            <a:extLst xmlns:a="http://schemas.openxmlformats.org/drawingml/2006/main">
              <a:ext uri="{FF2B5EF4-FFF2-40B4-BE49-F238E27FC236}">
                <a16:creationId xmlns:a16="http://schemas.microsoft.com/office/drawing/2014/main" id="{0CA969B4-A885-429D-B268-E19E76BF8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3395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9" name="body-3">
            <a:extLst xmlns:a="http://schemas.openxmlformats.org/drawingml/2006/main">
              <a:ext uri="{FF2B5EF4-FFF2-40B4-BE49-F238E27FC236}">
                <a16:creationId xmlns:a16="http://schemas.microsoft.com/office/drawing/2014/main" id="{017173B5-378C-4FBF-8406-0C00CAD4E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87680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Для 95-го процентиля: t95 = −ln(0,05)/(μ−λ)</a:t>
            </a:r>
          </a:p>
        </p:txBody>
      </p:sp>
      <p:sp>
        <p:nvSpPr>
          <p:cNvPr id="10" name="takeaway">
            <a:extLst xmlns:a="http://schemas.openxmlformats.org/drawingml/2006/main">
              <a:ext uri="{FF2B5EF4-FFF2-40B4-BE49-F238E27FC236}">
                <a16:creationId xmlns:a16="http://schemas.microsoft.com/office/drawing/2014/main" id="{51312E23-3781-444F-BBA2-B2F659989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15050"/>
            <a:ext cx="10191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Середнє не замінює процентиль.</a:t>
            </a:r>
          </a:p>
        </p:txBody>
      </p:sp>
      <p:sp>
        <p:nvSpPr>
          <p:cNvPr id="11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8148A896-10B5-4DC3-BC32-EC0FCC19F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055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7C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38167582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FFB1B72A-89D5-4750-9D10-E20DD1233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Який показник відповідає на запитання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A222D0-003A-4A62-87C9-E32F828D47FE}"/>
              </a:ext>
            </a:extLst>
          </p:cNvPr>
          <p:cNvGraphicFramePr/>
          <p:nvPr/>
        </p:nvGraphicFramePr>
        <p:xfrm>
          <a:off xmlns:a="http://schemas.openxmlformats.org/drawingml/2006/main" x="762000" y="1695450"/>
          <a:ext xmlns:a="http://schemas.openxmlformats.org/drawingml/2006/main" cx="106680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243455"/>
                <a:gridCol w="2424545"/>
              </a:tblGrid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Запитання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6D4DF"/>
                      </a:solidFill>
                      <a:prstDash val="solid"/>
                    </a:lnL>
                    <a:lnR w="9525">
                      <a:solidFill>
                        <a:srgbClr val="C6D4DF"/>
                      </a:solidFill>
                      <a:prstDash val="solid"/>
                    </a:lnR>
                    <a:lnT w="9525">
                      <a:solidFill>
                        <a:srgbClr val="C6D4DF"/>
                      </a:solidFill>
                      <a:prstDash val="solid"/>
                    </a:lnT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Показник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T w="9525">
                      <a:solidFill>
                        <a:srgbClr val="C6D4DF"/>
                      </a:solidFill>
                      <a:prstDash val="solid"/>
                    </a:lnT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16324F"/>
                    </a:solidFill>
                  </a:tcPr>
                </a:tc>
              </a:tr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Скільки часу до завершення?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6D4DF"/>
                      </a:solidFill>
                      <a:prstDash val="solid"/>
                    </a:lnL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W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</a:tr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Скільки часу до початку обробки?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6D4DF"/>
                      </a:solidFill>
                      <a:prstDash val="solid"/>
                    </a:lnL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Wq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Скільки запитів у черзі?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6D4DF"/>
                      </a:solidFill>
                      <a:prstDash val="solid"/>
                    </a:lnL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Lq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EFF5F7"/>
                    </a:solidFill>
                  </a:tcPr>
                </a:tc>
              </a:tr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Яка частка часу обробник зайнятий?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6D4DF"/>
                      </a:solidFill>
                      <a:prstDash val="solid"/>
                    </a:lnL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950" b="0">
                          <a:solidFill>
                            <a:srgbClr val="16324F"/>
                          </a:solidFill>
                          <a:latin typeface="Arial"/>
                          <a:ea typeface="Arial"/>
                          <a:cs typeface="Arial"/>
                        </a:rPr>
                        <a:t>ρ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6D4DF"/>
                      </a:solidFill>
                      <a:prstDash val="solid"/>
                    </a:lnR>
                    <a:lnB w="9525">
                      <a:solidFill>
                        <a:srgbClr val="C6D4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takeaway">
            <a:extLst xmlns:a="http://schemas.openxmlformats.org/drawingml/2006/main">
              <a:ext uri="{FF2B5EF4-FFF2-40B4-BE49-F238E27FC236}">
                <a16:creationId xmlns:a16="http://schemas.microsoft.com/office/drawing/2014/main" id="{13827AC7-AF64-4AC2-9E50-3980AA026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15050"/>
            <a:ext cx="10191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Визначення метрики має передувати її обчисленню.</a:t>
            </a:r>
          </a:p>
        </p:txBody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081A0A9F-9A39-48B1-B6A7-B65F077CB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055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7C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56430576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">
            <a:extLst xmlns:a="http://schemas.openxmlformats.org/drawingml/2006/main">
              <a:ext uri="{FF2B5EF4-FFF2-40B4-BE49-F238E27FC236}">
                <a16:creationId xmlns:a16="http://schemas.microsoft.com/office/drawing/2014/main" id="{C8829FFF-5BC8-4282-ACAC-199F946E1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Коли M/M/1 недостатньо</a:t>
            </a:r>
          </a:p>
        </p:txBody>
      </p:sp>
      <p:sp>
        <p:nvSpPr>
          <p:cNvPr id="2" name="number-0">
            <a:extLst xmlns:a="http://schemas.openxmlformats.org/drawingml/2006/main">
              <a:ext uri="{FF2B5EF4-FFF2-40B4-BE49-F238E27FC236}">
                <a16:creationId xmlns:a16="http://schemas.microsoft.com/office/drawing/2014/main" id="{167C1C28-3BC3-4A0E-A8FC-E66ED788E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9070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body-0">
            <a:extLst xmlns:a="http://schemas.openxmlformats.org/drawingml/2006/main">
              <a:ext uri="{FF2B5EF4-FFF2-40B4-BE49-F238E27FC236}">
                <a16:creationId xmlns:a16="http://schemas.microsoft.com/office/drawing/2014/main" id="{B7176427-C6F2-47B7-B952-AAFC6AA07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73355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Пакетні або корельовані надходження</a:t>
            </a:r>
          </a:p>
        </p:txBody>
      </p:sp>
      <p:sp>
        <p:nvSpPr>
          <p:cNvPr id="4" name="number-1">
            <a:extLst xmlns:a="http://schemas.openxmlformats.org/drawingml/2006/main">
              <a:ext uri="{FF2B5EF4-FFF2-40B4-BE49-F238E27FC236}">
                <a16:creationId xmlns:a16="http://schemas.microsoft.com/office/drawing/2014/main" id="{2865DBD7-26F5-4968-8FE1-706387B2F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3845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body-1">
            <a:extLst xmlns:a="http://schemas.openxmlformats.org/drawingml/2006/main">
              <a:ext uri="{FF2B5EF4-FFF2-40B4-BE49-F238E27FC236}">
                <a16:creationId xmlns:a16="http://schemas.microsoft.com/office/drawing/2014/main" id="{FEB10AC6-10FB-447C-B511-CCA6B0B30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78130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Велика різниця довжин запитів</a:t>
            </a:r>
          </a:p>
        </p:txBody>
      </p:sp>
      <p:sp>
        <p:nvSpPr>
          <p:cNvPr id="6" name="number-2">
            <a:extLst xmlns:a="http://schemas.openxmlformats.org/drawingml/2006/main">
              <a:ext uri="{FF2B5EF4-FFF2-40B4-BE49-F238E27FC236}">
                <a16:creationId xmlns:a16="http://schemas.microsoft.com/office/drawing/2014/main" id="{AE5AC832-7C17-471A-A739-6B4A2D37A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8620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body-2">
            <a:extLst xmlns:a="http://schemas.openxmlformats.org/drawingml/2006/main">
              <a:ext uri="{FF2B5EF4-FFF2-40B4-BE49-F238E27FC236}">
                <a16:creationId xmlns:a16="http://schemas.microsoft.com/office/drawing/2014/main" id="{C11F3ECF-3913-4B4A-9A39-06ECF4CCE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82905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Обмежена черга та відкидання запитів</a:t>
            </a:r>
          </a:p>
        </p:txBody>
      </p:sp>
      <p:sp>
        <p:nvSpPr>
          <p:cNvPr id="8" name="number-3">
            <a:extLst xmlns:a="http://schemas.openxmlformats.org/drawingml/2006/main">
              <a:ext uri="{FF2B5EF4-FFF2-40B4-BE49-F238E27FC236}">
                <a16:creationId xmlns:a16="http://schemas.microsoft.com/office/drawing/2014/main" id="{0B6F08EB-C70F-48D6-865C-C68E2D99F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3395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9" name="body-3">
            <a:extLst xmlns:a="http://schemas.openxmlformats.org/drawingml/2006/main">
              <a:ext uri="{FF2B5EF4-FFF2-40B4-BE49-F238E27FC236}">
                <a16:creationId xmlns:a16="http://schemas.microsoft.com/office/drawing/2014/main" id="{FA189A9C-28C1-4128-B928-FF70B7A44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87680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Кілька обробників або різні пріоритети</a:t>
            </a:r>
          </a:p>
        </p:txBody>
      </p:sp>
      <p:sp>
        <p:nvSpPr>
          <p:cNvPr id="10" name="takeaway">
            <a:extLst xmlns:a="http://schemas.openxmlformats.org/drawingml/2006/main">
              <a:ext uri="{FF2B5EF4-FFF2-40B4-BE49-F238E27FC236}">
                <a16:creationId xmlns:a16="http://schemas.microsoft.com/office/drawing/2014/main" id="{11E6291C-D83B-4490-9F93-E69CA0354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15050"/>
            <a:ext cx="10191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Припущення перевіряємо на робочому навантаженні.</a:t>
            </a:r>
          </a:p>
        </p:txBody>
      </p:sp>
      <p:sp>
        <p:nvSpPr>
          <p:cNvPr id="11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E4E48992-EBEF-47D1-BE6B-79404D9AD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055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7C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4336385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">
            <a:extLst xmlns:a="http://schemas.openxmlformats.org/drawingml/2006/main">
              <a:ext uri="{FF2B5EF4-FFF2-40B4-BE49-F238E27FC236}">
                <a16:creationId xmlns:a16="http://schemas.microsoft.com/office/drawing/2014/main" id="{E856AD00-5012-4BFF-BC8C-89D5E8374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Вибір інженерного заходу</a:t>
            </a:r>
          </a:p>
        </p:txBody>
      </p:sp>
      <p:sp>
        <p:nvSpPr>
          <p:cNvPr id="2" name="number-0">
            <a:extLst xmlns:a="http://schemas.openxmlformats.org/drawingml/2006/main">
              <a:ext uri="{FF2B5EF4-FFF2-40B4-BE49-F238E27FC236}">
                <a16:creationId xmlns:a16="http://schemas.microsoft.com/office/drawing/2014/main" id="{73E6211A-9C98-49BF-8D1C-4F9B83DF4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9070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body-0">
            <a:extLst xmlns:a="http://schemas.openxmlformats.org/drawingml/2006/main">
              <a:ext uri="{FF2B5EF4-FFF2-40B4-BE49-F238E27FC236}">
                <a16:creationId xmlns:a16="http://schemas.microsoft.com/office/drawing/2014/main" id="{CF99B241-21CD-43D8-9401-5A93821B9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73355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Збільшити μ: прискорити один обробник</a:t>
            </a:r>
          </a:p>
        </p:txBody>
      </p:sp>
      <p:sp>
        <p:nvSpPr>
          <p:cNvPr id="4" name="number-1">
            <a:extLst xmlns:a="http://schemas.openxmlformats.org/drawingml/2006/main">
              <a:ext uri="{FF2B5EF4-FFF2-40B4-BE49-F238E27FC236}">
                <a16:creationId xmlns:a16="http://schemas.microsoft.com/office/drawing/2014/main" id="{348362C8-2B09-451E-845B-77868CE31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3845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body-1">
            <a:extLst xmlns:a="http://schemas.openxmlformats.org/drawingml/2006/main">
              <a:ext uri="{FF2B5EF4-FFF2-40B4-BE49-F238E27FC236}">
                <a16:creationId xmlns:a16="http://schemas.microsoft.com/office/drawing/2014/main" id="{45A35062-8543-45FE-9B12-E000D12DC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78130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Зменшити λ: кешування або контроль допуску</a:t>
            </a:r>
          </a:p>
        </p:txBody>
      </p:sp>
      <p:sp>
        <p:nvSpPr>
          <p:cNvPr id="6" name="number-2">
            <a:extLst xmlns:a="http://schemas.openxmlformats.org/drawingml/2006/main">
              <a:ext uri="{FF2B5EF4-FFF2-40B4-BE49-F238E27FC236}">
                <a16:creationId xmlns:a16="http://schemas.microsoft.com/office/drawing/2014/main" id="{D6BBE84D-480F-468B-B4B2-DAB1EDD38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8620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body-2">
            <a:extLst xmlns:a="http://schemas.openxmlformats.org/drawingml/2006/main">
              <a:ext uri="{FF2B5EF4-FFF2-40B4-BE49-F238E27FC236}">
                <a16:creationId xmlns:a16="http://schemas.microsoft.com/office/drawing/2014/main" id="{532510F3-613D-4AD1-8C7D-AC465AE49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82905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Додати обробники: перейти до M/M/c</a:t>
            </a:r>
          </a:p>
        </p:txBody>
      </p:sp>
      <p:sp>
        <p:nvSpPr>
          <p:cNvPr id="8" name="number-3">
            <a:extLst xmlns:a="http://schemas.openxmlformats.org/drawingml/2006/main">
              <a:ext uri="{FF2B5EF4-FFF2-40B4-BE49-F238E27FC236}">
                <a16:creationId xmlns:a16="http://schemas.microsoft.com/office/drawing/2014/main" id="{4E6AD50A-042D-4C84-9CCD-ECE795A8E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3395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9" name="body-3">
            <a:extLst xmlns:a="http://schemas.openxmlformats.org/drawingml/2006/main">
              <a:ext uri="{FF2B5EF4-FFF2-40B4-BE49-F238E27FC236}">
                <a16:creationId xmlns:a16="http://schemas.microsoft.com/office/drawing/2014/main" id="{21E20EF7-4F11-4BB1-8ABA-2DCAFC4FC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87680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Порівнювати зміни за тією самою метрикою</a:t>
            </a:r>
          </a:p>
        </p:txBody>
      </p:sp>
      <p:sp>
        <p:nvSpPr>
          <p:cNvPr id="10" name="takeaway">
            <a:extLst xmlns:a="http://schemas.openxmlformats.org/drawingml/2006/main">
              <a:ext uri="{FF2B5EF4-FFF2-40B4-BE49-F238E27FC236}">
                <a16:creationId xmlns:a16="http://schemas.microsoft.com/office/drawing/2014/main" id="{E838A5B6-B8C4-44B7-BE16-B74252F5F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15050"/>
            <a:ext cx="10191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Оптимізація часу обробки та масштабування мають різні моделі.</a:t>
            </a:r>
          </a:p>
        </p:txBody>
      </p:sp>
      <p:sp>
        <p:nvSpPr>
          <p:cNvPr id="11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EA840052-ED53-4F22-A27E-BB034169C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055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7C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80263064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">
            <a:extLst xmlns:a="http://schemas.openxmlformats.org/drawingml/2006/main">
              <a:ext uri="{FF2B5EF4-FFF2-40B4-BE49-F238E27FC236}">
                <a16:creationId xmlns:a16="http://schemas.microsoft.com/office/drawing/2014/main" id="{2184E14F-A203-45FB-8922-9DB3A301F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Мініексперимент</a:t>
            </a:r>
          </a:p>
        </p:txBody>
      </p:sp>
      <p:sp>
        <p:nvSpPr>
          <p:cNvPr id="2" name="number-0">
            <a:extLst xmlns:a="http://schemas.openxmlformats.org/drawingml/2006/main">
              <a:ext uri="{FF2B5EF4-FFF2-40B4-BE49-F238E27FC236}">
                <a16:creationId xmlns:a16="http://schemas.microsoft.com/office/drawing/2014/main" id="{BCD9744D-D123-4640-93A8-4D76603A8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9070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body-0">
            <a:extLst xmlns:a="http://schemas.openxmlformats.org/drawingml/2006/main">
              <a:ext uri="{FF2B5EF4-FFF2-40B4-BE49-F238E27FC236}">
                <a16:creationId xmlns:a16="http://schemas.microsoft.com/office/drawing/2014/main" id="{FE6864A0-F5B5-4E04-8420-8A8C6BAEE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73355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Побудувати таблицю для μ=10 і μ=12</a:t>
            </a:r>
          </a:p>
        </p:txBody>
      </p:sp>
      <p:sp>
        <p:nvSpPr>
          <p:cNvPr id="4" name="number-1">
            <a:extLst xmlns:a="http://schemas.openxmlformats.org/drawingml/2006/main">
              <a:ext uri="{FF2B5EF4-FFF2-40B4-BE49-F238E27FC236}">
                <a16:creationId xmlns:a16="http://schemas.microsoft.com/office/drawing/2014/main" id="{42B12C70-D0DF-4D3A-97CA-77101B5CA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3845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body-1">
            <a:extLst xmlns:a="http://schemas.openxmlformats.org/drawingml/2006/main">
              <a:ext uri="{FF2B5EF4-FFF2-40B4-BE49-F238E27FC236}">
                <a16:creationId xmlns:a16="http://schemas.microsoft.com/office/drawing/2014/main" id="{0DA977FD-66A0-4A66-9AA3-8CD3A7A1B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78130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Зберегти λ=8</a:t>
            </a:r>
          </a:p>
        </p:txBody>
      </p:sp>
      <p:sp>
        <p:nvSpPr>
          <p:cNvPr id="6" name="number-2">
            <a:extLst xmlns:a="http://schemas.openxmlformats.org/drawingml/2006/main">
              <a:ext uri="{FF2B5EF4-FFF2-40B4-BE49-F238E27FC236}">
                <a16:creationId xmlns:a16="http://schemas.microsoft.com/office/drawing/2014/main" id="{3EFA5E21-DB22-47C9-9A72-12AB5FD9E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8620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body-2">
            <a:extLst xmlns:a="http://schemas.openxmlformats.org/drawingml/2006/main">
              <a:ext uri="{FF2B5EF4-FFF2-40B4-BE49-F238E27FC236}">
                <a16:creationId xmlns:a16="http://schemas.microsoft.com/office/drawing/2014/main" id="{3E9D72D7-8DA1-440A-83B5-4897D5619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82905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Порівняти W, Wq і ρ</a:t>
            </a:r>
          </a:p>
        </p:txBody>
      </p:sp>
      <p:sp>
        <p:nvSpPr>
          <p:cNvPr id="8" name="number-3">
            <a:extLst xmlns:a="http://schemas.openxmlformats.org/drawingml/2006/main">
              <a:ext uri="{FF2B5EF4-FFF2-40B4-BE49-F238E27FC236}">
                <a16:creationId xmlns:a16="http://schemas.microsoft.com/office/drawing/2014/main" id="{ACA92282-4560-45B8-BBD8-804272886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3395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9" name="body-3">
            <a:extLst xmlns:a="http://schemas.openxmlformats.org/drawingml/2006/main">
              <a:ext uri="{FF2B5EF4-FFF2-40B4-BE49-F238E27FC236}">
                <a16:creationId xmlns:a16="http://schemas.microsoft.com/office/drawing/2014/main" id="{00A6F101-F91C-464D-8FD0-C0B9DBD55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87680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Пояснити, чому W змінюється нелінійно</a:t>
            </a:r>
          </a:p>
        </p:txBody>
      </p:sp>
      <p:sp>
        <p:nvSpPr>
          <p:cNvPr id="10" name="takeaway">
            <a:extLst xmlns:a="http://schemas.openxmlformats.org/drawingml/2006/main">
              <a:ext uri="{FF2B5EF4-FFF2-40B4-BE49-F238E27FC236}">
                <a16:creationId xmlns:a16="http://schemas.microsoft.com/office/drawing/2014/main" id="{ADD06DE8-2ABA-4571-ADAA-C1D90847E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15050"/>
            <a:ext cx="10191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За μ=12 маємо W=0,25 с і Wq≈0,1667 с.</a:t>
            </a:r>
          </a:p>
        </p:txBody>
      </p:sp>
      <p:sp>
        <p:nvSpPr>
          <p:cNvPr id="11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E14AA46E-0694-4B1F-B921-17FB44242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055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7C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062006831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">
            <a:extLst xmlns:a="http://schemas.openxmlformats.org/drawingml/2006/main">
              <a:ext uri="{FF2B5EF4-FFF2-40B4-BE49-F238E27FC236}">
                <a16:creationId xmlns:a16="http://schemas.microsoft.com/office/drawing/2014/main" id="{E1F0CC6F-17DC-4D0E-8BDA-47D38A211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Зв’язок із наскрізною задачею ДЗ №5</a:t>
            </a:r>
          </a:p>
        </p:txBody>
      </p:sp>
      <p:sp>
        <p:nvSpPr>
          <p:cNvPr id="2" name="number-0">
            <a:extLst xmlns:a="http://schemas.openxmlformats.org/drawingml/2006/main">
              <a:ext uri="{FF2B5EF4-FFF2-40B4-BE49-F238E27FC236}">
                <a16:creationId xmlns:a16="http://schemas.microsoft.com/office/drawing/2014/main" id="{D8ED1013-BF0D-4DDD-8D17-DCD7FA15B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9070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body-0">
            <a:extLst xmlns:a="http://schemas.openxmlformats.org/drawingml/2006/main">
              <a:ext uri="{FF2B5EF4-FFF2-40B4-BE49-F238E27FC236}">
                <a16:creationId xmlns:a16="http://schemas.microsoft.com/office/drawing/2014/main" id="{9FF94534-073A-4267-9AA0-D51021F25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73355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Зафіксувати одиниці λ і μ</a:t>
            </a:r>
          </a:p>
        </p:txBody>
      </p:sp>
      <p:sp>
        <p:nvSpPr>
          <p:cNvPr id="4" name="number-1">
            <a:extLst xmlns:a="http://schemas.openxmlformats.org/drawingml/2006/main">
              <a:ext uri="{FF2B5EF4-FFF2-40B4-BE49-F238E27FC236}">
                <a16:creationId xmlns:a16="http://schemas.microsoft.com/office/drawing/2014/main" id="{BE8F3DA6-2F7F-40ED-93E0-33893CC48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3845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body-1">
            <a:extLst xmlns:a="http://schemas.openxmlformats.org/drawingml/2006/main">
              <a:ext uri="{FF2B5EF4-FFF2-40B4-BE49-F238E27FC236}">
                <a16:creationId xmlns:a16="http://schemas.microsoft.com/office/drawing/2014/main" id="{91C87CB8-DC95-413B-A0E9-6CC4A6AF3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78130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Пояснити припущення процесів надходження й обслуговування</a:t>
            </a:r>
          </a:p>
        </p:txBody>
      </p:sp>
      <p:sp>
        <p:nvSpPr>
          <p:cNvPr id="6" name="number-2">
            <a:extLst xmlns:a="http://schemas.openxmlformats.org/drawingml/2006/main">
              <a:ext uri="{FF2B5EF4-FFF2-40B4-BE49-F238E27FC236}">
                <a16:creationId xmlns:a16="http://schemas.microsoft.com/office/drawing/2014/main" id="{51E4F549-FBE4-4955-ADDF-865F66FD7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8620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body-2">
            <a:extLst xmlns:a="http://schemas.openxmlformats.org/drawingml/2006/main">
              <a:ext uri="{FF2B5EF4-FFF2-40B4-BE49-F238E27FC236}">
                <a16:creationId xmlns:a16="http://schemas.microsoft.com/office/drawing/2014/main" id="{2DB2C696-8675-4429-BFC7-BA39C1469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82905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Обґрунтувати метрику: W, Wq або процентиль</a:t>
            </a:r>
          </a:p>
        </p:txBody>
      </p:sp>
      <p:sp>
        <p:nvSpPr>
          <p:cNvPr id="8" name="number-3">
            <a:extLst xmlns:a="http://schemas.openxmlformats.org/drawingml/2006/main">
              <a:ext uri="{FF2B5EF4-FFF2-40B4-BE49-F238E27FC236}">
                <a16:creationId xmlns:a16="http://schemas.microsoft.com/office/drawing/2014/main" id="{EFBF04A3-9149-4858-8D34-DFB327C60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3395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9" name="body-3">
            <a:extLst xmlns:a="http://schemas.openxmlformats.org/drawingml/2006/main">
              <a:ext uri="{FF2B5EF4-FFF2-40B4-BE49-F238E27FC236}">
                <a16:creationId xmlns:a16="http://schemas.microsoft.com/office/drawing/2014/main" id="{040E6B5F-D620-4CAC-914D-839D9DD1B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876800"/>
            <a:ext cx="9620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Далі порівняти один і кілька каналів</a:t>
            </a:r>
          </a:p>
        </p:txBody>
      </p:sp>
      <p:sp>
        <p:nvSpPr>
          <p:cNvPr id="10" name="takeaway">
            <a:extLst xmlns:a="http://schemas.openxmlformats.org/drawingml/2006/main">
              <a:ext uri="{FF2B5EF4-FFF2-40B4-BE49-F238E27FC236}">
                <a16:creationId xmlns:a16="http://schemas.microsoft.com/office/drawing/2014/main" id="{FC80FE37-2179-4AA7-AAA0-AB842554F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15050"/>
            <a:ext cx="10191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Наскрізний приклад має зберігати однаковий зміст параметрів.</a:t>
            </a:r>
          </a:p>
        </p:txBody>
      </p:sp>
      <p:sp>
        <p:nvSpPr>
          <p:cNvPr id="11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F4EE535C-F1F5-4169-8F77-A04DBB6B4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055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7C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520113182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itle">
            <a:extLst xmlns:a="http://schemas.openxmlformats.org/drawingml/2006/main">
              <a:ext uri="{FF2B5EF4-FFF2-40B4-BE49-F238E27FC236}">
                <a16:creationId xmlns:a16="http://schemas.microsoft.com/office/drawing/2014/main" id="{8C029B09-2067-4EBA-886C-49EB08F89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Самоперевірка</a:t>
            </a:r>
          </a:p>
        </p:txBody>
      </p:sp>
      <p:sp>
        <p:nvSpPr>
          <p:cNvPr id="2" name="number-0">
            <a:extLst xmlns:a="http://schemas.openxmlformats.org/drawingml/2006/main">
              <a:ext uri="{FF2B5EF4-FFF2-40B4-BE49-F238E27FC236}">
                <a16:creationId xmlns:a16="http://schemas.microsoft.com/office/drawing/2014/main" id="{3D3D1106-6F67-4EAF-8BF1-0125650C5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9070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body-0">
            <a:extLst xmlns:a="http://schemas.openxmlformats.org/drawingml/2006/main">
              <a:ext uri="{FF2B5EF4-FFF2-40B4-BE49-F238E27FC236}">
                <a16:creationId xmlns:a16="http://schemas.microsoft.com/office/drawing/2014/main" id="{DFFC5B74-9B34-44EE-AF95-ECF345F4E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733550"/>
            <a:ext cx="9620250" cy="128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Чому μ&gt;λ недостатньо для малої затримки?</a:t>
            </a:r>
          </a:p>
        </p:txBody>
      </p:sp>
      <p:sp>
        <p:nvSpPr>
          <p:cNvPr id="4" name="number-1">
            <a:extLst xmlns:a="http://schemas.openxmlformats.org/drawingml/2006/main">
              <a:ext uri="{FF2B5EF4-FFF2-40B4-BE49-F238E27FC236}">
                <a16:creationId xmlns:a16="http://schemas.microsoft.com/office/drawing/2014/main" id="{A13FF9E0-01F1-4D0D-8E83-9B99136D0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8770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body-1">
            <a:extLst xmlns:a="http://schemas.openxmlformats.org/drawingml/2006/main">
              <a:ext uri="{FF2B5EF4-FFF2-40B4-BE49-F238E27FC236}">
                <a16:creationId xmlns:a16="http://schemas.microsoft.com/office/drawing/2014/main" id="{CFA3BC61-7404-43D5-8144-A25B5F2EA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130550"/>
            <a:ext cx="9620250" cy="128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Чим L відрізняється від Lq?</a:t>
            </a:r>
          </a:p>
        </p:txBody>
      </p:sp>
      <p:sp>
        <p:nvSpPr>
          <p:cNvPr id="6" name="number-2">
            <a:extLst xmlns:a="http://schemas.openxmlformats.org/drawingml/2006/main">
              <a:ext uri="{FF2B5EF4-FFF2-40B4-BE49-F238E27FC236}">
                <a16:creationId xmlns:a16="http://schemas.microsoft.com/office/drawing/2014/main" id="{0A8604B6-D7A2-4CED-95B7-7B4D6CD26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8470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body-2">
            <a:extLst xmlns:a="http://schemas.openxmlformats.org/drawingml/2006/main">
              <a:ext uri="{FF2B5EF4-FFF2-40B4-BE49-F238E27FC236}">
                <a16:creationId xmlns:a16="http://schemas.microsoft.com/office/drawing/2014/main" id="{143B46D5-9262-4B07-8AB5-955765E49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527550"/>
            <a:ext cx="9620250" cy="128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Чи дорівнює W 95-му процентилю?</a:t>
            </a:r>
          </a:p>
        </p:txBody>
      </p:sp>
      <p:sp>
        <p:nvSpPr>
          <p:cNvPr id="8" name="takeaway">
            <a:extLst xmlns:a="http://schemas.openxmlformats.org/drawingml/2006/main">
              <a:ext uri="{FF2B5EF4-FFF2-40B4-BE49-F238E27FC236}">
                <a16:creationId xmlns:a16="http://schemas.microsoft.com/office/drawing/2014/main" id="{FC22A867-2CE9-4505-A7B1-DC548125A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15050"/>
            <a:ext cx="10191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Спочатку дайте відповідь словами, потім перевірте обчислення.</a:t>
            </a:r>
          </a:p>
        </p:txBody>
      </p:sp>
      <p:sp>
        <p:nvSpPr>
          <p:cNvPr id="9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77E41E64-CE1E-4BF2-9033-9C560360E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055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7C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1299594969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A0EBD847-A31E-4C86-8343-D7182595B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Джерела та відтворення</a:t>
            </a:r>
          </a:p>
        </p:txBody>
      </p:sp>
      <p:sp>
        <p:nvSpPr>
          <p:cNvPr id="2" name="source-queue">
            <a:extLst xmlns:a="http://schemas.openxmlformats.org/drawingml/2006/main">
              <a:ext uri="{FF2B5EF4-FFF2-40B4-BE49-F238E27FC236}">
                <a16:creationId xmlns:a16="http://schemas.microsoft.com/office/drawing/2014/main" id="{F787D0C5-5F88-42B1-AE53-F390B71FE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43075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007F82"/>
                </a:solidFill>
                <a:latin typeface="Arial"/>
                <a:ea typeface="Arial"/>
                <a:cs typeface="Arial"/>
                <a:hlinkClick xmlns:r="http://schemas.openxmlformats.org/officeDocument/2006/relationships" r:id="R6901b737260749b7"/>
              </a:rPr>
              <a:t>MIT · модель M/M/1</a:t>
            </a:r>
          </a:p>
        </p:txBody>
      </p:sp>
      <p:sp>
        <p:nvSpPr>
          <p:cNvPr id="3" name="source-markov">
            <a:extLst xmlns:a="http://schemas.openxmlformats.org/drawingml/2006/main">
              <a:ext uri="{FF2B5EF4-FFF2-40B4-BE49-F238E27FC236}">
                <a16:creationId xmlns:a16="http://schemas.microsoft.com/office/drawing/2014/main" id="{4C44EEB8-EFE4-4A7E-8CC8-4C48F32A0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49575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007F82"/>
                </a:solidFill>
                <a:latin typeface="Arial"/>
                <a:ea typeface="Arial"/>
                <a:cs typeface="Arial"/>
                <a:hlinkClick xmlns:r="http://schemas.openxmlformats.org/officeDocument/2006/relationships" r:id="Rc98ead9b39f74c09"/>
              </a:rPr>
              <a:t>MIT · марковські ланцюги та генератори</a:t>
            </a:r>
          </a:p>
        </p:txBody>
      </p:sp>
      <p:sp>
        <p:nvSpPr>
          <p:cNvPr id="4" name="source-numpy">
            <a:extLst xmlns:a="http://schemas.openxmlformats.org/drawingml/2006/main">
              <a:ext uri="{FF2B5EF4-FFF2-40B4-BE49-F238E27FC236}">
                <a16:creationId xmlns:a16="http://schemas.microsoft.com/office/drawing/2014/main" id="{111DCAEF-72D9-410A-9BBE-C164C84E8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56075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007F82"/>
                </a:solidFill>
                <a:latin typeface="Arial"/>
                <a:ea typeface="Arial"/>
                <a:cs typeface="Arial"/>
                <a:hlinkClick xmlns:r="http://schemas.openxmlformats.org/officeDocument/2006/relationships" r:id="R40d9e68f3f5f442a"/>
              </a:rPr>
              <a:t>NumPy · генерація випадкових чисел</a:t>
            </a:r>
          </a:p>
        </p:txBody>
      </p:sp>
      <p:sp>
        <p:nvSpPr>
          <p:cNvPr id="5" name="source-note">
            <a:extLst xmlns:a="http://schemas.openxmlformats.org/drawingml/2006/main">
              <a:ext uri="{FF2B5EF4-FFF2-40B4-BE49-F238E27FC236}">
                <a16:creationId xmlns:a16="http://schemas.microsoft.com/office/drawing/2014/main" id="{D1E783F9-CD50-4C6C-BD0C-D40E6D750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72125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36A7C"/>
                </a:solidFill>
                <a:latin typeface="Arial"/>
                <a:ea typeface="Arial"/>
                <a:cs typeface="Arial"/>
              </a:rPr>
              <a:t>Навчальні дані синтетичні. Усі показані програми виконано.</a:t>
            </a:r>
          </a:p>
        </p:txBody>
      </p:sp>
      <p:sp>
        <p:nvSpPr>
          <p:cNvPr id="6" name="takeaway">
            <a:extLst xmlns:a="http://schemas.openxmlformats.org/drawingml/2006/main">
              <a:ext uri="{FF2B5EF4-FFF2-40B4-BE49-F238E27FC236}">
                <a16:creationId xmlns:a16="http://schemas.microsoft.com/office/drawing/2014/main" id="{3E6A310C-328B-4CD3-BDF3-A3043A88C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15050"/>
            <a:ext cx="10191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7F8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F82"/>
                </a:solidFill>
                <a:latin typeface="Arial"/>
                <a:ea typeface="Arial"/>
                <a:cs typeface="Arial"/>
              </a:rPr>
              <a:t>Навчальні дані та код прикладів додано до комплекту.</a:t>
            </a:r>
          </a:p>
        </p:txBody>
      </p:sp>
      <p:sp>
        <p:nvSpPr>
          <p:cNvPr id="7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5AAB6D10-C1D7-4F69-A37E-41B534DC7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055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A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A7C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123373419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2026-10-19T09:24:42.1180000Z</dcterms:created>
  <dcterms:modified xsi:type="dcterms:W3CDTF">2026-10-19T09:24:42.1180000Z</dcterms:modified>
</coreProperties>
</file>