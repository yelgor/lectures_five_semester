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c69ea7be034cfb" /><Relationship Type="http://schemas.openxmlformats.org/officeDocument/2006/relationships/extended-properties" Target="/docProps/app.xml" Id="Rd24fc86ff6b04ba2" /><Relationship Type="http://schemas.openxmlformats.org/officeDocument/2006/relationships/officeDocument" Target="/ppt/presentation.xml" Id="Raebcd12b6ae942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451128be244e87"/>
  </p:sldMasterIdLst>
  <p:notesMasterIdLst>
    <p:notesMasterId xmlns:r="http://schemas.openxmlformats.org/officeDocument/2006/relationships" r:id="Rb032c224bc6049e5"/>
  </p:notesMasterIdLst>
  <p:sldIdLst>
    <p:sldId xmlns:r="http://schemas.openxmlformats.org/officeDocument/2006/relationships" id="256" r:id="Rcdee2e2889fb4481"/>
    <p:sldId xmlns:r="http://schemas.openxmlformats.org/officeDocument/2006/relationships" id="257" r:id="R83e7b889a2eb43cd"/>
    <p:sldId xmlns:r="http://schemas.openxmlformats.org/officeDocument/2006/relationships" id="258" r:id="Rd0bfa8bd79e24fdf"/>
    <p:sldId xmlns:r="http://schemas.openxmlformats.org/officeDocument/2006/relationships" id="259" r:id="R55f5731cfc6b4aeb"/>
    <p:sldId xmlns:r="http://schemas.openxmlformats.org/officeDocument/2006/relationships" id="260" r:id="R53d0145d893e44ad"/>
    <p:sldId xmlns:r="http://schemas.openxmlformats.org/officeDocument/2006/relationships" id="261" r:id="R58b870f836304064"/>
    <p:sldId xmlns:r="http://schemas.openxmlformats.org/officeDocument/2006/relationships" id="262" r:id="R684425e3cf9d4407"/>
    <p:sldId xmlns:r="http://schemas.openxmlformats.org/officeDocument/2006/relationships" id="263" r:id="Rbcbdde995f864be1"/>
    <p:sldId xmlns:r="http://schemas.openxmlformats.org/officeDocument/2006/relationships" id="264" r:id="R0e86ede9f89b4a05"/>
    <p:sldId xmlns:r="http://schemas.openxmlformats.org/officeDocument/2006/relationships" id="265" r:id="R04ffffe19336412c"/>
    <p:sldId xmlns:r="http://schemas.openxmlformats.org/officeDocument/2006/relationships" id="266" r:id="Ra432a8af86154e54"/>
    <p:sldId xmlns:r="http://schemas.openxmlformats.org/officeDocument/2006/relationships" id="267" r:id="R95817791e5864d0f"/>
    <p:sldId xmlns:r="http://schemas.openxmlformats.org/officeDocument/2006/relationships" id="268" r:id="Rad1aff70878c47e4"/>
    <p:sldId xmlns:r="http://schemas.openxmlformats.org/officeDocument/2006/relationships" id="269" r:id="Rc64aa7df91544039"/>
    <p:sldId xmlns:r="http://schemas.openxmlformats.org/officeDocument/2006/relationships" id="270" r:id="Rbff81fde165d4f29"/>
    <p:sldId xmlns:r="http://schemas.openxmlformats.org/officeDocument/2006/relationships" id="271" r:id="Rada1870b5eb34f36"/>
    <p:sldId xmlns:r="http://schemas.openxmlformats.org/officeDocument/2006/relationships" id="272" r:id="Rab94d3aec75448ea"/>
    <p:sldId xmlns:r="http://schemas.openxmlformats.org/officeDocument/2006/relationships" id="273" r:id="R98b1824a0ddb4ce9"/>
    <p:sldId xmlns:r="http://schemas.openxmlformats.org/officeDocument/2006/relationships" id="274" r:id="Rdb01c328f878469a"/>
    <p:sldId xmlns:r="http://schemas.openxmlformats.org/officeDocument/2006/relationships" id="275" r:id="Rcdb6328db582422f"/>
    <p:sldId xmlns:r="http://schemas.openxmlformats.org/officeDocument/2006/relationships" id="276" r:id="Rece2d1d697294169"/>
    <p:sldId xmlns:r="http://schemas.openxmlformats.org/officeDocument/2006/relationships" id="277" r:id="R3f6cc6ad7d384105"/>
    <p:sldId xmlns:r="http://schemas.openxmlformats.org/officeDocument/2006/relationships" id="278" r:id="R5b7749896d0a4708"/>
    <p:sldId xmlns:r="http://schemas.openxmlformats.org/officeDocument/2006/relationships" id="279" r:id="Rd7ba0db9612b4d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0df85fdb6a45c0" /><Relationship Type="http://schemas.openxmlformats.org/officeDocument/2006/relationships/slideMaster" Target="/ppt/slideMasters/slideMaster1.xml" Id="Re6451128be244e87" /><Relationship Type="http://schemas.openxmlformats.org/officeDocument/2006/relationships/notesMaster" Target="/ppt/notesMasters/notesMaster1.xml" Id="Rb032c224bc6049e5" /><Relationship Type="http://schemas.openxmlformats.org/officeDocument/2006/relationships/presProps" Target="/ppt/presProps.xml" Id="R276f90ecd1024725" /><Relationship Type="http://schemas.openxmlformats.org/officeDocument/2006/relationships/tableStyles" Target="/ppt/tableStyles.xml" Id="Rb37af2db799547e3" /><Relationship Type="http://schemas.openxmlformats.org/officeDocument/2006/relationships/slide" Target="/ppt/slides/slide1.xml" Id="Rcdee2e2889fb4481" /><Relationship Type="http://schemas.openxmlformats.org/officeDocument/2006/relationships/slide" Target="/ppt/slides/slide2.xml" Id="R83e7b889a2eb43cd" /><Relationship Type="http://schemas.openxmlformats.org/officeDocument/2006/relationships/slide" Target="/ppt/slides/slide3.xml" Id="Rd0bfa8bd79e24fdf" /><Relationship Type="http://schemas.openxmlformats.org/officeDocument/2006/relationships/slide" Target="/ppt/slides/slide4.xml" Id="R55f5731cfc6b4aeb" /><Relationship Type="http://schemas.openxmlformats.org/officeDocument/2006/relationships/slide" Target="/ppt/slides/slide5.xml" Id="R53d0145d893e44ad" /><Relationship Type="http://schemas.openxmlformats.org/officeDocument/2006/relationships/slide" Target="/ppt/slides/slide6.xml" Id="R58b870f836304064" /><Relationship Type="http://schemas.openxmlformats.org/officeDocument/2006/relationships/slide" Target="/ppt/slides/slide7.xml" Id="R684425e3cf9d4407" /><Relationship Type="http://schemas.openxmlformats.org/officeDocument/2006/relationships/slide" Target="/ppt/slides/slide8.xml" Id="Rbcbdde995f864be1" /><Relationship Type="http://schemas.openxmlformats.org/officeDocument/2006/relationships/slide" Target="/ppt/slides/slide9.xml" Id="R0e86ede9f89b4a05" /><Relationship Type="http://schemas.openxmlformats.org/officeDocument/2006/relationships/slide" Target="/ppt/slides/slide10.xml" Id="R04ffffe19336412c" /><Relationship Type="http://schemas.openxmlformats.org/officeDocument/2006/relationships/slide" Target="/ppt/slides/slide11.xml" Id="Ra432a8af86154e54" /><Relationship Type="http://schemas.openxmlformats.org/officeDocument/2006/relationships/slide" Target="/ppt/slides/slide12.xml" Id="R95817791e5864d0f" /><Relationship Type="http://schemas.openxmlformats.org/officeDocument/2006/relationships/slide" Target="/ppt/slides/slide13.xml" Id="Rad1aff70878c47e4" /><Relationship Type="http://schemas.openxmlformats.org/officeDocument/2006/relationships/slide" Target="/ppt/slides/slide14.xml" Id="Rc64aa7df91544039" /><Relationship Type="http://schemas.openxmlformats.org/officeDocument/2006/relationships/slide" Target="/ppt/slides/slide15.xml" Id="Rbff81fde165d4f29" /><Relationship Type="http://schemas.openxmlformats.org/officeDocument/2006/relationships/slide" Target="/ppt/slides/slide16.xml" Id="Rada1870b5eb34f36" /><Relationship Type="http://schemas.openxmlformats.org/officeDocument/2006/relationships/slide" Target="/ppt/slides/slide17.xml" Id="Rab94d3aec75448ea" /><Relationship Type="http://schemas.openxmlformats.org/officeDocument/2006/relationships/slide" Target="/ppt/slides/slide18.xml" Id="R98b1824a0ddb4ce9" /><Relationship Type="http://schemas.openxmlformats.org/officeDocument/2006/relationships/slide" Target="/ppt/slides/slide19.xml" Id="Rdb01c328f878469a" /><Relationship Type="http://schemas.openxmlformats.org/officeDocument/2006/relationships/slide" Target="/ppt/slides/slide20.xml" Id="Rcdb6328db582422f" /><Relationship Type="http://schemas.openxmlformats.org/officeDocument/2006/relationships/slide" Target="/ppt/slides/slide21.xml" Id="Rece2d1d697294169" /><Relationship Type="http://schemas.openxmlformats.org/officeDocument/2006/relationships/slide" Target="/ppt/slides/slide22.xml" Id="R3f6cc6ad7d384105" /><Relationship Type="http://schemas.openxmlformats.org/officeDocument/2006/relationships/slide" Target="/ppt/slides/slide23.xml" Id="R5b7749896d0a4708" /><Relationship Type="http://schemas.openxmlformats.org/officeDocument/2006/relationships/slide" Target="/ppt/slides/slide24.xml" Id="Rd7ba0db9612b4d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e38b92406e4c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d8e1fa942a4c7f" /><Relationship Type="http://schemas.openxmlformats.org/officeDocument/2006/relationships/notesMaster" Target="/ppt/notesMasters/notesMaster1.xml" Id="Rd5929dcf093f47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59ddcf75b84b26" /><Relationship Type="http://schemas.openxmlformats.org/officeDocument/2006/relationships/notesMaster" Target="/ppt/notesMasters/notesMaster1.xml" Id="R746ba350be5547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1df39108964889" /><Relationship Type="http://schemas.openxmlformats.org/officeDocument/2006/relationships/notesMaster" Target="/ppt/notesMasters/notesMaster1.xml" Id="R840150450dcd49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874db1dd1d4c6d" /><Relationship Type="http://schemas.openxmlformats.org/officeDocument/2006/relationships/notesMaster" Target="/ppt/notesMasters/notesMaster1.xml" Id="R47866939d1ed45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64f92a0d0a45c5" /><Relationship Type="http://schemas.openxmlformats.org/officeDocument/2006/relationships/notesMaster" Target="/ppt/notesMasters/notesMaster1.xml" Id="R673143bb72d941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1231fa308e4611" /><Relationship Type="http://schemas.openxmlformats.org/officeDocument/2006/relationships/notesMaster" Target="/ppt/notesMasters/notesMaster1.xml" Id="R0f07678a45134c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69711fcd8d4410" /><Relationship Type="http://schemas.openxmlformats.org/officeDocument/2006/relationships/notesMaster" Target="/ppt/notesMasters/notesMaster1.xml" Id="R1ab0f61f32b54b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c422efb8414e05" /><Relationship Type="http://schemas.openxmlformats.org/officeDocument/2006/relationships/notesMaster" Target="/ppt/notesMasters/notesMaster1.xml" Id="R55f98bef6ae440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f8a312327e446a" /><Relationship Type="http://schemas.openxmlformats.org/officeDocument/2006/relationships/notesMaster" Target="/ppt/notesMasters/notesMaster1.xml" Id="Rfc56e2c1f3974b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c38694cd324062" /><Relationship Type="http://schemas.openxmlformats.org/officeDocument/2006/relationships/notesMaster" Target="/ppt/notesMasters/notesMaster1.xml" Id="Recdf2288bfcd45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bbb6795df247b9" /><Relationship Type="http://schemas.openxmlformats.org/officeDocument/2006/relationships/notesMaster" Target="/ppt/notesMasters/notesMaster1.xml" Id="Re0e3504e01144b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d016f6fda04e8c" /><Relationship Type="http://schemas.openxmlformats.org/officeDocument/2006/relationships/notesMaster" Target="/ppt/notesMasters/notesMaster1.xml" Id="Ra3434a7893d143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adf7a54af34098" /><Relationship Type="http://schemas.openxmlformats.org/officeDocument/2006/relationships/notesMaster" Target="/ppt/notesMasters/notesMaster1.xml" Id="R33fd4393a74045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5090e65c214dab" /><Relationship Type="http://schemas.openxmlformats.org/officeDocument/2006/relationships/notesMaster" Target="/ppt/notesMasters/notesMaster1.xml" Id="R4107763a79df4a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76cab773104cd6" /><Relationship Type="http://schemas.openxmlformats.org/officeDocument/2006/relationships/notesMaster" Target="/ppt/notesMasters/notesMaster1.xml" Id="Rf9bff40de42041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02fedf5e9244b9" /><Relationship Type="http://schemas.openxmlformats.org/officeDocument/2006/relationships/notesMaster" Target="/ppt/notesMasters/notesMaster1.xml" Id="Rcb97d9a1700242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56d5a500784bc4" /><Relationship Type="http://schemas.openxmlformats.org/officeDocument/2006/relationships/notesMaster" Target="/ppt/notesMasters/notesMaster1.xml" Id="Rbee8843a497548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2bd2ddba2e4db8" /><Relationship Type="http://schemas.openxmlformats.org/officeDocument/2006/relationships/notesMaster" Target="/ppt/notesMasters/notesMaster1.xml" Id="R10a8a2b0b56a4e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b9119d8e8f458b" /><Relationship Type="http://schemas.openxmlformats.org/officeDocument/2006/relationships/notesMaster" Target="/ppt/notesMasters/notesMaster1.xml" Id="R61447d761d8649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60227bae7d405e" /><Relationship Type="http://schemas.openxmlformats.org/officeDocument/2006/relationships/notesMaster" Target="/ppt/notesMasters/notesMaster1.xml" Id="R93fb51895c1749b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419da92c5c4707" /><Relationship Type="http://schemas.openxmlformats.org/officeDocument/2006/relationships/notesMaster" Target="/ppt/notesMasters/notesMaster1.xml" Id="R788c8f0bb4cc48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e02c20208b4743" /><Relationship Type="http://schemas.openxmlformats.org/officeDocument/2006/relationships/notesMaster" Target="/ppt/notesMasters/notesMaster1.xml" Id="R5e14fa09561d43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f67e02f78c4745" /><Relationship Type="http://schemas.openxmlformats.org/officeDocument/2006/relationships/notesMaster" Target="/ppt/notesMasters/notesMaster1.xml" Id="R00d608a0eb904eb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527f990d3274b7d" /><Relationship Type="http://schemas.openxmlformats.org/officeDocument/2006/relationships/notesMaster" Target="/ppt/notesMasters/notesMaster1.xml" Id="R55696599c3cf44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зв’язок теми з попередніми лекціями. Усі числові приклади є навчальними, а не вимірюваннями реальної інфраструктури.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Нагадайте, що тут оцінюємо випадкову динаміку, а не оптимізуємо змінні рішення. Керування може бути окремим наступним шаром моделі.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Навчальні ймовірності великі для наочності. За годину могли відбутися відмова і відновлення, які кінцевий стан не розкриває.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Поясніть: 0,1 є умовною ймовірністю D на наступній перевірці за умови U зараз. Це не інтенсивність відмов за годину.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Якщо ймовірність завершення ремонту залежить від його тривалості, стан D може бути надто грубим. Можна деталізувати стани ремонту або змінити клас моделі.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 свідомо використовуємо рядкові вектори. Для стовпчикової домовленості формули транспонуються. Не змішуйте обидві домовленості в одному розрахунку.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закон повної ймовірності за попереднім станом. Попросіть студентів самостійно пояснити добуток у другому рядку.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Сума 0,81+0,04 враховує шлях U–U–U та U–D–U. Це пояснює, чому ймовірність бути працездатним відрізняється від ймовірності не мати жодної відмови.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Матрицю P множимо на вектор, а не підносимо кожен елемент окремо. Довгострокова межа у цьому прикладі існує, бо ланцюг скінченний, незвідний і аперіодичний.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Ці перевірки виявляють помилки матриці, але не доводять правильність її оцінювання з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Зверніть увагу: print виконується до множення. Тому рядок з номером 0 показує початковий стан. matrix_power виконує матричний степінь.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Зіставте фактичний вивід із ручними двома ітераціями. Невеликі похибки десяткового подання усуваємо округленням лише під час друку.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Графік відображає розподіли ансамблю серверів або ймовірності одного сервера. Це не графік фізичного стану окремого сервера, який приймає лише U або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Навіть у стаціонарному режимі відмови та відновлення продовжуються. У рівновазі потоки ймовірності в обох напрямках збалансовані.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Система πP=π має залежні рівняння. Для цього незвідного скінченного ланцюга заміна одного рівняння нормуванням дає єдиний розв’язок. Для звідних ланцюгів єдиність не гарантовано.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Інтерпретація як частки часу спирається на властивості цього ланцюга. Не переносіть твердження без перевірки на довільну матрицю 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Нормуйте окремо кожен рядок за числом спостережень відповідного початкового стану. Дані синтетичні, і спостереження можуть бути залежними. Для оцінювання невизначеності потрібен відповідний план.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двох станів πU=b/(a+b), де a=P(U,D), b=P(D,U). Значення інтерпретуємо як ймовірності переходів за той самий часовий крок.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Контрприклад: P=[[0,1],[1,0]]. Стаціонарний розподіл існує, але старт (1,0) чергується між двома станами.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Навіть три послідовні спостереження U не виключають відмови між ними. Для безперервної безвідмовності потрібна модель подій у часі, яку розглянемо далі.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змінюємо бали й терміни ДЗ. Цей слайд пояснює, які частини моделі студент має вміти обґрунтувати.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початкового D перший розподіл дорівнює (0,4;0,6). У цій моделі обидва початкові стани наближаються до (0,8;0,2).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Рядок перелічує всі можливі наступні стани. p(3) залежить від старту, π є стаціонарним. Потрібні також невід’ємність і нормування, а для збіжності відповідні властивості ланцюга.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Посилання ведуть до першоджерел та офіційної документації. Формулювання і числові приклади адаптовано для ІТ-контексту. Для повторення запустіть відповідний файл lecture_NN.py. Версії пакетів наведено у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c89b3ab6f4d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9aec593cc4f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18668496143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b3de4b13641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af2f7e4c746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f00c4abf247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874CDF-5176-419E-95AB-0087CC612C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88B917-1B6F-4BC1-8442-1126A4E0CE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69C97F-2611-4AA0-9DB5-0E4D1223EF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9B11CC-E50C-4560-91E4-C4D214B63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E775F6-EC7B-4CD3-9A2A-56A241774D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94B60A-3D32-4F35-9F25-CDE400AA2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E00F2B-4E9F-45B0-B2C9-E4E176F3C4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357E44-C54A-4D04-82C8-2C27828D08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C6192D-1606-4357-BD16-54289B0D75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67CF2E-396D-4A0E-ACE6-AE5EB5887C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7463a226b64c90" /><Relationship Type="http://schemas.openxmlformats.org/officeDocument/2006/relationships/slideLayout" Target="/ppt/slideLayouts/slideLayout1.xml" Id="R747c077d7ce84053" /><Relationship Type="http://schemas.openxmlformats.org/officeDocument/2006/relationships/slideLayout" Target="/ppt/slideLayouts/slideLayout2.xml" Id="Re3b88ed1dc524896" /><Relationship Type="http://schemas.openxmlformats.org/officeDocument/2006/relationships/slideLayout" Target="/ppt/slideLayouts/slideLayout3.xml" Id="Rc4bdfcab2dd64f1b" /><Relationship Type="http://schemas.openxmlformats.org/officeDocument/2006/relationships/slideLayout" Target="/ppt/slideLayouts/slideLayout4.xml" Id="R4ad396ecf0704f60" /><Relationship Type="http://schemas.openxmlformats.org/officeDocument/2006/relationships/slideLayout" Target="/ppt/slideLayouts/slideLayout5.xml" Id="R48fbc20721d448c2" /><Relationship Type="http://schemas.openxmlformats.org/officeDocument/2006/relationships/slideLayout" Target="/ppt/slideLayouts/slideLayout6.xml" Id="R8e5acc9245674a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7c077d7ce84053"/>
    <p:sldLayoutId xmlns:r="http://schemas.openxmlformats.org/officeDocument/2006/relationships" id="2147483650" r:id="Re3b88ed1dc524896"/>
    <p:sldLayoutId xmlns:r="http://schemas.openxmlformats.org/officeDocument/2006/relationships" id="2147483651" r:id="Rc4bdfcab2dd64f1b"/>
    <p:sldLayoutId xmlns:r="http://schemas.openxmlformats.org/officeDocument/2006/relationships" id="2147483652" r:id="R4ad396ecf0704f60"/>
    <p:sldLayoutId xmlns:r="http://schemas.openxmlformats.org/officeDocument/2006/relationships" id="2147483653" r:id="R48fbc20721d448c2"/>
    <p:sldLayoutId xmlns:r="http://schemas.openxmlformats.org/officeDocument/2006/relationships" id="2147483654" r:id="R8e5acc9245674a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3654b709640bc" /><Relationship Type="http://schemas.openxmlformats.org/officeDocument/2006/relationships/notesSlide" Target="/ppt/notesSlides/notesSlide1.xml" Id="R6f260bda14e549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c05f83c174885" /><Relationship Type="http://schemas.openxmlformats.org/officeDocument/2006/relationships/notesSlide" Target="/ppt/notesSlides/notesSlide2.xml" Id="Rc832514059a349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3ac7677134d55" /><Relationship Type="http://schemas.openxmlformats.org/officeDocument/2006/relationships/notesSlide" Target="/ppt/notesSlides/notesSlide3.xml" Id="R1883444bc31040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281e0669c41d0" /><Relationship Type="http://schemas.openxmlformats.org/officeDocument/2006/relationships/notesSlide" Target="/ppt/notesSlides/notesSlide4.xml" Id="R0a36b348346941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58fd5ec7f4c14" /><Relationship Type="http://schemas.openxmlformats.org/officeDocument/2006/relationships/notesSlide" Target="/ppt/notesSlides/notesSlide5.xml" Id="Rbca2011fb39440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2afe7651f486f" /><Relationship Type="http://schemas.openxmlformats.org/officeDocument/2006/relationships/notesSlide" Target="/ppt/notesSlides/notesSlide6.xml" Id="Red8e85e0619e4f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e5a16fa034f22" /><Relationship Type="http://schemas.openxmlformats.org/officeDocument/2006/relationships/notesSlide" Target="/ppt/notesSlides/notesSlide7.xml" Id="R5db5bb4bf1c948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1a03e6ffb4a7c" /><Relationship Type="http://schemas.openxmlformats.org/officeDocument/2006/relationships/notesSlide" Target="/ppt/notesSlides/notesSlide8.xml" Id="Rb05d20f40dd04c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1c635dbe24f32" /><Relationship Type="http://schemas.openxmlformats.org/officeDocument/2006/relationships/notesSlide" Target="/ppt/notesSlides/notesSlide9.xml" Id="R890bc7ea121b49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66b33fc8c64a5f" /><Relationship Type="http://schemas.openxmlformats.org/officeDocument/2006/relationships/notesSlide" Target="/ppt/notesSlides/notesSlide10.xml" Id="Re9dbce7f8c7840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e9aa7ac1646b6" /><Relationship Type="http://schemas.openxmlformats.org/officeDocument/2006/relationships/notesSlide" Target="/ppt/notesSlides/notesSlide11.xml" Id="R1e2918bb76d54c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9dd27a11e455b" /><Relationship Type="http://schemas.openxmlformats.org/officeDocument/2006/relationships/notesSlide" Target="/ppt/notesSlides/notesSlide12.xml" Id="R35d0195a2c3f40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8e8352b814845" /><Relationship Type="http://schemas.openxmlformats.org/officeDocument/2006/relationships/chart" Target="/ppt/slides/charts/chart1.xml" Id="Rc3dd6e4b69b14077" /><Relationship Type="http://schemas.openxmlformats.org/officeDocument/2006/relationships/notesSlide" Target="/ppt/notesSlides/notesSlide13.xml" Id="R87a6108bdb5e4d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52194ea364ea0" /><Relationship Type="http://schemas.openxmlformats.org/officeDocument/2006/relationships/notesSlide" Target="/ppt/notesSlides/notesSlide14.xml" Id="Raa930d18d98f44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7242d2d6e4ae9" /><Relationship Type="http://schemas.openxmlformats.org/officeDocument/2006/relationships/notesSlide" Target="/ppt/notesSlides/notesSlide15.xml" Id="R3131393089fd49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68c8b8f6046ca" /><Relationship Type="http://schemas.openxmlformats.org/officeDocument/2006/relationships/notesSlide" Target="/ppt/notesSlides/notesSlide16.xml" Id="Rc43cfaeffd9f4c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1c668b2b14b9f" /><Relationship Type="http://schemas.openxmlformats.org/officeDocument/2006/relationships/notesSlide" Target="/ppt/notesSlides/notesSlide17.xml" Id="R861d905e71104d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5cfad73884f86" /><Relationship Type="http://schemas.openxmlformats.org/officeDocument/2006/relationships/notesSlide" Target="/ppt/notesSlides/notesSlide18.xml" Id="R8080c5273d5540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d3ad3206842f6" /><Relationship Type="http://schemas.openxmlformats.org/officeDocument/2006/relationships/notesSlide" Target="/ppt/notesSlides/notesSlide19.xml" Id="R413579de6ad345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f590be242543d2" /><Relationship Type="http://schemas.openxmlformats.org/officeDocument/2006/relationships/notesSlide" Target="/ppt/notesSlides/notesSlide20.xml" Id="R9d1f79d254d34d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71763ce284cc8" /><Relationship Type="http://schemas.openxmlformats.org/officeDocument/2006/relationships/notesSlide" Target="/ppt/notesSlides/notesSlide21.xml" Id="R3696dfd912fe4e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1824a0e404b0f" /><Relationship Type="http://schemas.openxmlformats.org/officeDocument/2006/relationships/notesSlide" Target="/ppt/notesSlides/notesSlide22.xml" Id="R95513df267c54a9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acdd883fc418f" /><Relationship Type="http://schemas.openxmlformats.org/officeDocument/2006/relationships/notesSlide" Target="/ppt/notesSlides/notesSlide23.xml" Id="R3409aa67be9b490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ae8954fb841ab" /><Relationship Type="http://schemas.openxmlformats.org/officeDocument/2006/relationships/hyperlink" Target="https://ocw.mit.edu/courses/6-436j-fundamentals-of-probability-fall-2018/resources/mit6_436jf18_lec24/" TargetMode="External" Id="R9699b870b44f4110" /><Relationship Type="http://schemas.openxmlformats.org/officeDocument/2006/relationships/hyperlink" Target="https://numpy.org/doc/stable/reference/random/index.html" TargetMode="External" Id="R4b80c8d838e142e0" /><Relationship Type="http://schemas.openxmlformats.org/officeDocument/2006/relationships/notesSlide" Target="/ppt/notesSlides/notesSlide24.xml" Id="R952aa476278f49e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P(U)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'Chart Data'!$B$2:$B$12</c:f>
              <c:numCache>
                <c:formatCode>0.00</c:formatCode>
                <c:ptCount val="11"/>
                <c:pt idx="0">
                  <c:v>1</c:v>
                </c:pt>
                <c:pt idx="1">
                  <c:v>0.9</c:v>
                </c:pt>
                <c:pt idx="2">
                  <c:v>0.85</c:v>
                </c:pt>
                <c:pt idx="3">
                  <c:v>0.825</c:v>
                </c:pt>
                <c:pt idx="4">
                  <c:v>0.8125</c:v>
                </c:pt>
                <c:pt idx="5">
                  <c:v>0.80625</c:v>
                </c:pt>
                <c:pt idx="6">
                  <c:v>0.803125</c:v>
                </c:pt>
                <c:pt idx="7">
                  <c:v>0.8015625</c:v>
                </c:pt>
                <c:pt idx="8">
                  <c:v>0.80078125</c:v>
                </c:pt>
                <c:pt idx="9">
                  <c:v>0.800390625</c:v>
                </c:pt>
                <c:pt idx="10">
                  <c:v>0.8001953125</c:v>
                </c:pt>
              </c:numCache>
            </c:numRef>
          </c:yVal>
        </c:ser>
        <c:ser>
          <c:idx val="1"/>
          <c:order val="1"/>
          <c:tx>
            <c:v>P(D)</c:v>
          </c:tx>
          <c:spPr>
            <a:solidFill xmlns:a="http://schemas.openxmlformats.org/drawingml/2006/main">
              <a:srgbClr val="D06B25"/>
            </a:solidFill>
            <a:ln xmlns:a="http://schemas.openxmlformats.org/drawingml/2006/main" w="28575">
              <a:solidFill>
                <a:srgbClr val="D06B2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06B25"/>
              </a:solidFill>
            </c:spPr>
          </c:marker>
          <c:xVal>
            <c:numRef>
              <c:f>'Chart Data'!$C$2:$C$12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'Chart Data'!$D$2:$D$12</c:f>
              <c:numCache>
                <c:formatCode>0.00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0.15</c:v>
                </c:pt>
                <c:pt idx="3">
                  <c:v>0.175</c:v>
                </c:pt>
                <c:pt idx="4">
                  <c:v>0.1875</c:v>
                </c:pt>
                <c:pt idx="5">
                  <c:v>0.19375</c:v>
                </c:pt>
                <c:pt idx="6">
                  <c:v>0.196875</c:v>
                </c:pt>
                <c:pt idx="7">
                  <c:v>0.1984375</c:v>
                </c:pt>
                <c:pt idx="8">
                  <c:v>0.19921875</c:v>
                </c:pt>
                <c:pt idx="9">
                  <c:v>0.199609375</c:v>
                </c:pt>
                <c:pt idx="10">
                  <c:v>0.1998046875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Ймовірність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Крок, год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D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cture">
            <a:extLst xmlns:a="http://schemas.openxmlformats.org/drawingml/2006/main">
              <a:ext uri="{FF2B5EF4-FFF2-40B4-BE49-F238E27FC236}">
                <a16:creationId xmlns:a16="http://schemas.microsoft.com/office/drawing/2014/main" id="{54836820-70D9-44C1-AEAC-8152BCE2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D8CF"/>
                </a:solidFill>
                <a:latin typeface="Arial"/>
                <a:ea typeface="Arial"/>
                <a:cs typeface="Arial"/>
              </a:rPr>
              <a:t>ЛЕКЦІЯ 8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59B5C4-0499-4694-B4C8-D9F9451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Дискретні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марковські ланцюги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AB0E298-A3A7-49A2-B12A-2A79E29D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6EF"/>
                </a:solidFill>
                <a:latin typeface="Arial"/>
                <a:ea typeface="Arial"/>
                <a:cs typeface="Arial"/>
              </a:rPr>
              <a:t>Стан сервера, прогноз на кілька кроків і стаціонарний режим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D212E6BB-E42E-4B14-B2FA-4989E28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5E1"/>
                </a:solidFill>
                <a:latin typeface="Arial"/>
                <a:ea typeface="Arial"/>
                <a:cs typeface="Arial"/>
              </a:rPr>
              <a:t>Математичне моделювання та методи дослідження операцій</a:t>
            </a:r>
          </a:p>
        </p:txBody>
      </p:sp>
    </p:spTree>
    <p:extLst>
      <p:ext uri="{BB962C8B-B14F-4D97-AF65-F5344CB8AC3E}">
        <p14:creationId xmlns:p14="http://schemas.microsoft.com/office/powerpoint/2010/main" val="276793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956B0D8-12C0-46B7-BAC8-A5042C51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і результат навчання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021CEAC0-D3EB-4B90-9C33-A14512C7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EBA27A1-F43B-46E5-9384-EFB23063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Задати стани й крок спостереження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D8BD8646-41A5-4610-84EC-C56CA9D1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A13D8E1-2EC3-4ABA-8144-41FFD999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Побудувати та перевірити матрицю переходів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1EB49034-88A7-43FF-81DB-A19B9AAD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A9F447B-D3BE-451F-83DF-AB0B680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Обчислити розподіл через кілька кроків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5B112A1-84F8-46E6-A2AF-47DD3CFA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AD0D302-12AE-4C6D-AE3B-D2F749A7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Знайти й перевірити стаціонарний розподіл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4FAC1579-DDFE-4595-8E85-9FAC7AD9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Результат: прогноз доступності сервера з поясненням припущень.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0A576A-EF2D-40A7-AADE-7DC0611D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5418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FC48D80-76EF-4382-827E-512074FF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Задача: сервер у щогодинному моніторингу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D586F62C-7FD4-430D-B11A-9B16709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9B93902-7E31-456C-A1AE-72378AE1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U: сервер працездатний під час перевірки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75775A49-2904-4D13-96C0-07EAEA7D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7A8D9BF1-D121-4EF4-A156-A597E7CC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D: сервер недоступний під час перевірки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16A54DC7-0EF5-4418-A758-C62CF13D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379254E-C8FD-4E5F-9C2D-BAC5690B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Один крок відповідає одній годині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4F5BFE83-A3EC-4455-92FA-2FCF1EC2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808C7635-FD50-4BA2-B6F2-E60AA1BB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Потрібно оцінити стан через 3 години та в довгому періоді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7208F1C9-6441-4B58-A7F8-D84A6321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Дискретні спостереження не показують усі події між перевірками.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78E935-D482-421F-99FC-C331BC27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3165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9BF62D9-DB86-493C-A3CD-EBC8A377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Ймовірності переходів за одну годину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A1990-7814-4554-9D99-6C44B74F0FC1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667000"/>
                <a:gridCol w="2667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Поточний / наступний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9282BDBD-6E21-4BF7-B021-16A42288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Рядок описує наступний стан за відомого поточного.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67A324E-BFB7-41AD-993D-FA19918B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30726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A6F2507-DCB8-4F65-89EC-BEB0E687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Марковська властивість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BA77A793-E84A-4528-9663-19FC53E5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74B4606-615C-4A47-A3D1-9AE96683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прогнозу достатньо поточного стану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AD3DDDB1-C189-4264-A6F7-037ED79E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CD4B0D8-E7E3-48D7-A584-504E815C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Ймовірності переходів не змінюються з номером кроку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8F0570B6-FB02-45C8-810C-42582286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B4148AB-8B9C-4B41-9336-9A29B901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Вік сервера і тривалість ремонту окремо не враховані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107C6FD8-66FA-4AAB-BA03-39275AAD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3575393-0ED1-4F57-A231-5E3C4B9E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Ці припущення потрібно зіставити з даними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2FD37FDD-F329-4E0C-AB96-D40719CF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Марковська властивість залежить від вибору стану.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ADD66B-CDB4-4CFE-B4CA-63673B36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16604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AADE7A5D-9030-42F9-97D5-6CFBF95E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Матриця P і вектор p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31EA171E-1C3E-41E6-AE5C-0E5A0F77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3B217D7-B2A4-4DE5-862D-54AB7C42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Pij: ймовірність переходу зі стану i у j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28E3714B-94E1-49B9-AA2D-1AE38FEB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3BB381B-B7F5-4171-B01C-6DF2170C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p(k): рядок імовірностей станів на кроці k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88658E25-2460-4541-AE8C-96AF47B7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057E9542-AA73-4221-AE5B-2C89B035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p(k+1) = p(k)P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CF809190-C7B8-4799-BAA8-1E6A2C0C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75F5374-1F26-416A-B96F-975F2582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прикладі порядок станів завжди U, D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7FD8D7EB-45BB-40C1-A3D0-33F8CFF9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Однаковий порядок станів потрібний у таблиці, формулі й коді.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030A25-6B16-4A81-9C1C-23349122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54752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BBE25C-6582-45F1-BF1C-79354C75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Перша ітерація: сервер спочатку U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3F22C-8DA6-470B-BB55-65B6495610E0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63333"/>
                <a:gridCol w="3852333"/>
                <a:gridCol w="3852333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Внесок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 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З U: 1,0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 × 0,9 = 0,9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 × 0,1 = 0,1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З D: 0,0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 × 0,4 =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 × 0,6 =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Разом p(1)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189A549C-AEF3-4DC4-B831-BC442E6C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p(1) = (0,9; 0,1).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92D369D-72E4-4A10-BC37-F8686A51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36218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4BAF31-7468-4764-ACEB-9251AFAF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Друга ітерація: додаємо обидва джерела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6A4DB-A3D1-4B71-8356-26721E063FD0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0000"/>
                <a:gridCol w="4064000"/>
                <a:gridCol w="4064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Внесок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 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З U: 0,9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 × 0,9 = 0,81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 × 0,1 = 0,09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З D: 0,1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 × 0,4 = 0,04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 × 0,6 = 0,06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Разом p(2)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3388E7A0-A13A-4111-B758-7995869C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Стан U на другому кроці можливий двома способами.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59CB3E-5E43-4CA1-BC44-A89C135D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79577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D19318-AD61-4F6D-B22B-F91A9924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Прогноз на кілька кроків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09995-DE29-4BC3-88AF-FB9B9AE5891B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k, год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P(U)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P(D)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0,8002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0,1998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E935F46A-5B9F-4830-8E63-545C9A37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Через 3 кроки P(U) = 0,825.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4513DA-AA03-4A61-A60E-05D1845A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7629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320A678-4B0C-4250-94EB-73123A97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дані та перевірка матриці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72B38778-21C3-42D9-84EF-1BB66AA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 = np.array([[.9,.1],[.4,.6]])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 = np.array([1.,0.])  # U на початку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np.all(P &gt;= 0)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np.allclose(P.sum(axis=1),1)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77D08A55-2C0A-4F4E-92D5-F029B22E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Кожен рядок P має суму 1 і невід’ємні елементи.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B8DC5E-092E-49F0-B558-E5B9F736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21899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1F2F76-78A4-4868-BE40-B74FE987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покроковий прогноз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A88DEF7C-E0CB-4C2F-B83E-31089457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for k in range(4):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print(k, np.round(p,4))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 = p @ P  # один часовий крок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p3 = np.array([1.,0.]) @ np.linalg.matrix_power(P,3)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print("Через 3 кроки:", p3)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3824FB7D-D2B6-4DB6-AE20-74A24E03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Послідовне множення і P у степені 3 дають той самий результат.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09DB5E-753D-4448-BF28-542ED8E3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9453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A573B19-4E36-4441-B125-79A42310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вивід прогнозу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6644673C-889E-4592-8B40-FF7EDF8F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0 [1. 0.]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1 [0.9 0.1]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2 [0.85 0.15]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3 [0.825 0.175]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Через 3 кроки: [0.825 0.175]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5A76924B-AB43-4AF9-8874-B67EE67E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Сума ймовірностей на кожному кроці дорівнює 1.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B2F535-2251-4F8A-AFEB-B6FDE705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4122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E3647E-CDD5-4672-8E4A-3F29604B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Наближення до стаціонарного режиму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B3BDE9E-71B2-4286-BAE5-8A223917C4ED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dd6e4b69b14077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A135433-00CC-436F-9F95-0C7D2DD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У цьому прикладі початкова перевага U поступово зникає.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4CE9D2-D717-4F9B-86FF-0E76DAD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85306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4DB03CC-5ED7-434B-9F28-5D72EF5B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Стаціонарний розподіл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1F7E5C0A-3F8F-4352-AEFB-C2CDED3E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ADE0E42-166E-48EE-9190-352A173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π = πP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74CBCDD0-F1E8-48F0-8514-48041152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FBA3A3D-EC32-4A30-828D-426A805C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πU + πD = 1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EF0F1125-485A-4364-93D2-9C2B9117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A24A460F-86C0-400F-B258-3821E927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Баланс переходів: 0,1πU = 0,4πD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4AB244B-4E30-438B-A27F-2420A659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18069557-CB6C-4AE5-B236-57F1158B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Розв’язок: πU = 0,8, πD = 0,2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EEC4EC4-9D6B-4E3C-8979-7798F853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Стаціонарність означає незмінність розподілу, а не стану сервера.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76375F-7FB2-4E9B-8E9C-30391D11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27438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954331-B0D5-4A6D-A655-420E08B3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стаціонарний розподіл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09291B51-DA96-4983-A0DB-58B5AA94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 = P.T - np.eye(2)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A[-1] = 1  # замінити залежне рівняння нормуванням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b = np.array([0.,1.])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pi = np.linalg.solve(A,b)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print("pi:", np.round(pi,4))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print("Перевірка:", np.allclose(pi @ P,pi))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AD7417E1-2E3A-404E-A0A5-6245C4B4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Нормування робить систему придатною до розв’язання.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9B0C9C-43F0-49EE-B4D7-4F2D2B4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836180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B83D6F-04E3-48CE-89AC-E24DBA21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Фактична перевірка стаціонарності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293F3C15-7CFB-4B34-8F10-D3C872B5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pi: [0.8 0.2]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Перевірка: True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FDFB724B-09AF-4331-9ED3-37FB2EDC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У довгому періоді модель прогнозує 80% часу в U.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EE2C18-04F2-4939-B9ED-17AEFCE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636068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60ECFA7-317C-4FFA-BA09-0F941A5A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 оцінити P з журналу станів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E87D0-5CD9-4AA4-A1A4-CAF1963E25D3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334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Перехід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Число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U до 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U до 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D до 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D до 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6D7F6B47-E4B1-475E-92CC-AF7DC630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P(U,D) = 100/1000, P(D,U) = 80/200.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77CB89-9D41-401D-B3E9-EE574230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571989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9C8AFC-7BC8-4C7C-9EAA-BF321FD2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Чутливість до відновлення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8EEFD-49EB-454F-B5D9-8A7C8AF9F044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03077"/>
                <a:gridCol w="6564923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P(D,U)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Стаціонарна P(U)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0,6667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0,8571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0,8889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C8856761-9A13-4A23-A87F-3E06C66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За фіксованої P(U,D)=0,1 швидше відновлення підвищує доступність.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E3F28A-1A4C-4CF6-AEFF-31F76457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225066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94C9ABE-1150-4A10-ABEF-665990C6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Коли стаціонарний прогноз вводить в оману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BE94B564-0C09-49FA-98CC-51FBCFBC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8B1C7F8-F8E6-48D6-BA78-62C9A163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Періодичний ланцюг може коливатися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427E575C-1B87-40C6-8F64-4006AD47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13AA6D6-6766-4CA0-B260-1AB9184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Кілька замкнених класів можуть дати різні стаціонарні розподіли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5011412-3C2D-4831-B098-3DDBEE39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8663863-2CA2-4F56-912E-B7971CEA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Параметри можуть змінюватися з часом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88A5E460-D411-4A4F-B936-5D27482F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33AB23C2-584F-47CF-8BCC-FAF0ACF8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Короткий горизонт потребує p(k), а не лише π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2D8A4F76-D6E6-4C1C-ABED-22F9E265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Наявність π ще не гарантує збіжність із будь-якого старту.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ADA2FD-7A6A-4BAE-A4D3-2EDAB0AB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542886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CCE1E911-9311-4FF9-A258-6D524572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Доступність і безвідмовність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5685F215-B2E2-4240-865B-C57501AB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C66E5DD-0DB5-414E-AFEE-AE4229F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P(U на кроці 3) = 0,825 включає відновлення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5EA36C06-E647-4F15-9A7E-6D7B70FE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F17F252-FE06-4E9A-96A6-09468A91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P(усі три переходи U до U) = 0,9³ = 0,729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E84F8731-5C5B-46E0-B335-5FE493A7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4AC775F-3A22-4184-B58E-E133FDC6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Перший показник описує стан на перевірці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C4EDACE8-3481-4692-9B91-171F8961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62B545E0-958B-4E44-9269-01304EFC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Другий описує послідовність спостережених станів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0F551220-5A1E-4B1D-BCB6-7595D258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Працездатний наприкінці не означає безвідмовний увесь час.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EBE80A-A263-46CC-8FFF-E08D1BF4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597989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9754496-17F8-494B-A53B-BAFCF63B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Зв’язок із ДЗ №4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374E2FC9-C31B-4B14-800B-6C1D09AD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77508BD-0091-42C9-9103-157A2283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Описати стани свого ІТ-об’єкта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947CF24D-9F88-4A0C-A9D3-3BBEE6F2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44A3E28-CC44-46E3-B98F-0534C25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Задати часовий крок та обґрунтувати P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6824DAC-5123-4E42-BF3C-5258CAF9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E8EDDF7-0D6E-40B3-A75C-C34638E6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Порівняти p(1), p(5), p(20) і π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876C131B-17A3-4156-A46F-B315659C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9D883580-28D4-4718-969B-6319AE4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Перевірити нормування та чутливість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DBF48E7-EEB9-4762-90D0-A67E33AF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Notebook має пояснити, звідки взялися переходи.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7F3AFA-28C6-4C70-8EB7-D30521C5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714573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FBAA3B85-4965-4BD0-AE67-6ED473A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Невеликий експеримент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8A4E4E40-31E2-4285-BF33-63429187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091B919-86BB-4C9D-B735-FE4943F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Замініть початковий стан на D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271BEE8E-C652-466C-87A0-D379D906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81C7BE9-D6D9-4F7F-B779-09F3EAF7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Порівняйте прогноз на 1 і 10 кроків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7CCF1D5D-B9AE-4D5B-BB8C-9A3E90B6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B9F99F8-197A-45F0-9190-96768773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Перевірте, чи стаціонарна межа змінилася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BB47A64E-AE04-438A-A406-A4922043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F272FFA-C6DF-4D87-92DB-0D0799D5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Поясніть результат через властивості P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FFFBC94-64F3-4F0F-BE77-984B4165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Початковий стан впливає на перехідний режим.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7CDCC9-D779-4528-A5A5-BEDF2229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510336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C7345D77-015B-4AC1-9D43-C43D5729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D37B07C7-245D-4051-A858-6869287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C51C49F-AE84-45A8-82F0-8AB11E16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сума рядка P дорівнює 1?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634D89FE-D417-4111-91ED-C17D834A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7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099AA07-490F-4467-B086-61DFE4A9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0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Чим p(3) відрізняється від π?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19CE4D41-C2A9-4844-9CFF-12B0A2E0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6DE2484-CFE3-4981-8EF2-2EB81143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7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Чи достатньо перевірити тільки πP=π?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88EC6C58-02A6-40D0-B754-D2D89C1F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дайте відповідь словами, потім перевірте обчислення.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4DD069-A53B-43C9-8F19-80ABED0B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55008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BB7C92C-218E-4AC1-B710-7832CA49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Джерела та відтворення</a:t>
            </a:r>
          </a:p>
        </p:txBody>
      </p:sp>
      <p:sp>
        <p:nvSpPr>
          <p:cNvPr id="2" name="source-markov">
            <a:extLst xmlns:a="http://schemas.openxmlformats.org/drawingml/2006/main">
              <a:ext uri="{FF2B5EF4-FFF2-40B4-BE49-F238E27FC236}">
                <a16:creationId xmlns:a16="http://schemas.microsoft.com/office/drawing/2014/main" id="{C57F8CFF-4422-48BE-A724-083F82D5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9699b870b44f4110"/>
              </a:rPr>
              <a:t>MIT · марковські ланцюги та генератори</a:t>
            </a:r>
          </a:p>
        </p:txBody>
      </p:sp>
      <p:sp>
        <p:nvSpPr>
          <p:cNvPr id="3" name="source-numpy">
            <a:extLst xmlns:a="http://schemas.openxmlformats.org/drawingml/2006/main">
              <a:ext uri="{FF2B5EF4-FFF2-40B4-BE49-F238E27FC236}">
                <a16:creationId xmlns:a16="http://schemas.microsoft.com/office/drawing/2014/main" id="{AFD9DC6F-1066-456A-B7DC-3806C670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4b80c8d838e142e0"/>
              </a:rPr>
              <a:t>NumPy · генерація випадкових чисел</a:t>
            </a:r>
          </a:p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7CEE913-904E-40BB-9361-E4CE573C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Навчальні дані синтетичні. Усі показані програми виконано.</a:t>
            </a:r>
          </a:p>
        </p:txBody>
      </p:sp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50DE0392-D93A-4B14-B291-CFA89931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Навчальні дані та код прикладів додано до комплекту.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88CA72-E40F-4D66-AE99-A28F04E2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38899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2026-10-19T09:24:31.8670000Z</dcterms:created>
  <dcterms:modified xsi:type="dcterms:W3CDTF">2026-10-19T09:24:31.8670000Z</dcterms:modified>
</coreProperties>
</file>