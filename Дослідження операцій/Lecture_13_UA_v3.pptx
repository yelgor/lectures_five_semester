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449e35d7584a40" /><Relationship Type="http://schemas.openxmlformats.org/officeDocument/2006/relationships/extended-properties" Target="/docProps/app.xml" Id="Re962b2e0ab024e45" /><Relationship Type="http://schemas.openxmlformats.org/officeDocument/2006/relationships/officeDocument" Target="/ppt/presentation.xml" Id="Rc54a230b8e9440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ff3b998af04a84"/>
  </p:sldMasterIdLst>
  <p:notesMasterIdLst>
    <p:notesMasterId xmlns:r="http://schemas.openxmlformats.org/officeDocument/2006/relationships" r:id="R8b5993e1df7d49f7"/>
  </p:notesMasterIdLst>
  <p:sldIdLst>
    <p:sldId xmlns:r="http://schemas.openxmlformats.org/officeDocument/2006/relationships" id="256" r:id="Rfb10d9b3d8084a1d"/>
    <p:sldId xmlns:r="http://schemas.openxmlformats.org/officeDocument/2006/relationships" id="257" r:id="R8074f38b02fb4fd8"/>
    <p:sldId xmlns:r="http://schemas.openxmlformats.org/officeDocument/2006/relationships" id="258" r:id="R56bbae9f7bd34ee8"/>
    <p:sldId xmlns:r="http://schemas.openxmlformats.org/officeDocument/2006/relationships" id="259" r:id="R3138b2630f614ceb"/>
    <p:sldId xmlns:r="http://schemas.openxmlformats.org/officeDocument/2006/relationships" id="260" r:id="R373c97ee31fb4a65"/>
    <p:sldId xmlns:r="http://schemas.openxmlformats.org/officeDocument/2006/relationships" id="261" r:id="Rd7f90d308e3e4b7c"/>
    <p:sldId xmlns:r="http://schemas.openxmlformats.org/officeDocument/2006/relationships" id="262" r:id="R0edb69ea2e54467e"/>
    <p:sldId xmlns:r="http://schemas.openxmlformats.org/officeDocument/2006/relationships" id="263" r:id="Re386940865c34f9c"/>
    <p:sldId xmlns:r="http://schemas.openxmlformats.org/officeDocument/2006/relationships" id="264" r:id="R825eea920d964e6b"/>
    <p:sldId xmlns:r="http://schemas.openxmlformats.org/officeDocument/2006/relationships" id="265" r:id="R69f7f7367f2c4848"/>
    <p:sldId xmlns:r="http://schemas.openxmlformats.org/officeDocument/2006/relationships" id="266" r:id="R49fff045caa648ee"/>
    <p:sldId xmlns:r="http://schemas.openxmlformats.org/officeDocument/2006/relationships" id="267" r:id="R8d64ab757f54444d"/>
    <p:sldId xmlns:r="http://schemas.openxmlformats.org/officeDocument/2006/relationships" id="268" r:id="Rbff5d87924ba467b"/>
    <p:sldId xmlns:r="http://schemas.openxmlformats.org/officeDocument/2006/relationships" id="269" r:id="R3b0d6e7e3b1c4a5d"/>
    <p:sldId xmlns:r="http://schemas.openxmlformats.org/officeDocument/2006/relationships" id="270" r:id="Rf4e673f8da694ee9"/>
    <p:sldId xmlns:r="http://schemas.openxmlformats.org/officeDocument/2006/relationships" id="271" r:id="Reba5d6ab1b7642a1"/>
    <p:sldId xmlns:r="http://schemas.openxmlformats.org/officeDocument/2006/relationships" id="272" r:id="R7d40cd16b9e74472"/>
    <p:sldId xmlns:r="http://schemas.openxmlformats.org/officeDocument/2006/relationships" id="273" r:id="R22abd221103d41bf"/>
    <p:sldId xmlns:r="http://schemas.openxmlformats.org/officeDocument/2006/relationships" id="274" r:id="Rce206d92f78f4683"/>
    <p:sldId xmlns:r="http://schemas.openxmlformats.org/officeDocument/2006/relationships" id="275" r:id="Re4491296eab04e55"/>
    <p:sldId xmlns:r="http://schemas.openxmlformats.org/officeDocument/2006/relationships" id="276" r:id="R0226dc25f7904262"/>
    <p:sldId xmlns:r="http://schemas.openxmlformats.org/officeDocument/2006/relationships" id="277" r:id="R5e59aaef8dfc44e3"/>
    <p:sldId xmlns:r="http://schemas.openxmlformats.org/officeDocument/2006/relationships" id="278" r:id="R44b7d95cd83a491c"/>
    <p:sldId xmlns:r="http://schemas.openxmlformats.org/officeDocument/2006/relationships" id="279" r:id="Rcb4f3247fff9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b910344344c9d" /><Relationship Type="http://schemas.openxmlformats.org/officeDocument/2006/relationships/slideMaster" Target="/ppt/slideMasters/slideMaster1.xml" Id="R1aff3b998af04a84" /><Relationship Type="http://schemas.openxmlformats.org/officeDocument/2006/relationships/notesMaster" Target="/ppt/notesMasters/notesMaster1.xml" Id="R8b5993e1df7d49f7" /><Relationship Type="http://schemas.openxmlformats.org/officeDocument/2006/relationships/presProps" Target="/ppt/presProps.xml" Id="R66abc501b9f84af0" /><Relationship Type="http://schemas.openxmlformats.org/officeDocument/2006/relationships/tableStyles" Target="/ppt/tableStyles.xml" Id="R687f42c4cd08495e" /><Relationship Type="http://schemas.openxmlformats.org/officeDocument/2006/relationships/slide" Target="/ppt/slides/slide1.xml" Id="Rfb10d9b3d8084a1d" /><Relationship Type="http://schemas.openxmlformats.org/officeDocument/2006/relationships/slide" Target="/ppt/slides/slide2.xml" Id="R8074f38b02fb4fd8" /><Relationship Type="http://schemas.openxmlformats.org/officeDocument/2006/relationships/slide" Target="/ppt/slides/slide3.xml" Id="R56bbae9f7bd34ee8" /><Relationship Type="http://schemas.openxmlformats.org/officeDocument/2006/relationships/slide" Target="/ppt/slides/slide4.xml" Id="R3138b2630f614ceb" /><Relationship Type="http://schemas.openxmlformats.org/officeDocument/2006/relationships/slide" Target="/ppt/slides/slide5.xml" Id="R373c97ee31fb4a65" /><Relationship Type="http://schemas.openxmlformats.org/officeDocument/2006/relationships/slide" Target="/ppt/slides/slide6.xml" Id="Rd7f90d308e3e4b7c" /><Relationship Type="http://schemas.openxmlformats.org/officeDocument/2006/relationships/slide" Target="/ppt/slides/slide7.xml" Id="R0edb69ea2e54467e" /><Relationship Type="http://schemas.openxmlformats.org/officeDocument/2006/relationships/slide" Target="/ppt/slides/slide8.xml" Id="Re386940865c34f9c" /><Relationship Type="http://schemas.openxmlformats.org/officeDocument/2006/relationships/slide" Target="/ppt/slides/slide9.xml" Id="R825eea920d964e6b" /><Relationship Type="http://schemas.openxmlformats.org/officeDocument/2006/relationships/slide" Target="/ppt/slides/slide10.xml" Id="R69f7f7367f2c4848" /><Relationship Type="http://schemas.openxmlformats.org/officeDocument/2006/relationships/slide" Target="/ppt/slides/slide11.xml" Id="R49fff045caa648ee" /><Relationship Type="http://schemas.openxmlformats.org/officeDocument/2006/relationships/slide" Target="/ppt/slides/slide12.xml" Id="R8d64ab757f54444d" /><Relationship Type="http://schemas.openxmlformats.org/officeDocument/2006/relationships/slide" Target="/ppt/slides/slide13.xml" Id="Rbff5d87924ba467b" /><Relationship Type="http://schemas.openxmlformats.org/officeDocument/2006/relationships/slide" Target="/ppt/slides/slide14.xml" Id="R3b0d6e7e3b1c4a5d" /><Relationship Type="http://schemas.openxmlformats.org/officeDocument/2006/relationships/slide" Target="/ppt/slides/slide15.xml" Id="Rf4e673f8da694ee9" /><Relationship Type="http://schemas.openxmlformats.org/officeDocument/2006/relationships/slide" Target="/ppt/slides/slide16.xml" Id="Reba5d6ab1b7642a1" /><Relationship Type="http://schemas.openxmlformats.org/officeDocument/2006/relationships/slide" Target="/ppt/slides/slide17.xml" Id="R7d40cd16b9e74472" /><Relationship Type="http://schemas.openxmlformats.org/officeDocument/2006/relationships/slide" Target="/ppt/slides/slide18.xml" Id="R22abd221103d41bf" /><Relationship Type="http://schemas.openxmlformats.org/officeDocument/2006/relationships/slide" Target="/ppt/slides/slide19.xml" Id="Rce206d92f78f4683" /><Relationship Type="http://schemas.openxmlformats.org/officeDocument/2006/relationships/slide" Target="/ppt/slides/slide20.xml" Id="Re4491296eab04e55" /><Relationship Type="http://schemas.openxmlformats.org/officeDocument/2006/relationships/slide" Target="/ppt/slides/slide21.xml" Id="R0226dc25f7904262" /><Relationship Type="http://schemas.openxmlformats.org/officeDocument/2006/relationships/slide" Target="/ppt/slides/slide22.xml" Id="R5e59aaef8dfc44e3" /><Relationship Type="http://schemas.openxmlformats.org/officeDocument/2006/relationships/slide" Target="/ppt/slides/slide23.xml" Id="R44b7d95cd83a491c" /><Relationship Type="http://schemas.openxmlformats.org/officeDocument/2006/relationships/slide" Target="/ppt/slides/slide24.xml" Id="Rcb4f3247fff9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01ae4c87fe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0f7002590342a0" /><Relationship Type="http://schemas.openxmlformats.org/officeDocument/2006/relationships/notesMaster" Target="/ppt/notesMasters/notesMaster1.xml" Id="R338a9cf26fbe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bf76640a1473b" /><Relationship Type="http://schemas.openxmlformats.org/officeDocument/2006/relationships/notesMaster" Target="/ppt/notesMasters/notesMaster1.xml" Id="Ra5fc1d2c52ec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0c07523f540fe" /><Relationship Type="http://schemas.openxmlformats.org/officeDocument/2006/relationships/notesMaster" Target="/ppt/notesMasters/notesMaster1.xml" Id="R0a192ceba61e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73532872e24a6c" /><Relationship Type="http://schemas.openxmlformats.org/officeDocument/2006/relationships/notesMaster" Target="/ppt/notesMasters/notesMaster1.xml" Id="Rfb11f28f6dd0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20e20e99424bdf" /><Relationship Type="http://schemas.openxmlformats.org/officeDocument/2006/relationships/notesMaster" Target="/ppt/notesMasters/notesMaster1.xml" Id="R501b23affa13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cb0c1d0bf74959" /><Relationship Type="http://schemas.openxmlformats.org/officeDocument/2006/relationships/notesMaster" Target="/ppt/notesMasters/notesMaster1.xml" Id="R180f1bc720c9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3bee6feea4b5c" /><Relationship Type="http://schemas.openxmlformats.org/officeDocument/2006/relationships/notesMaster" Target="/ppt/notesMasters/notesMaster1.xml" Id="R638da5cc33f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148a3829a24b9b" /><Relationship Type="http://schemas.openxmlformats.org/officeDocument/2006/relationships/notesMaster" Target="/ppt/notesMasters/notesMaster1.xml" Id="R51c335cc7ee14d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0d608947834177" /><Relationship Type="http://schemas.openxmlformats.org/officeDocument/2006/relationships/notesMaster" Target="/ppt/notesMasters/notesMaster1.xml" Id="Rd2a07626077d48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4464c556904cfe" /><Relationship Type="http://schemas.openxmlformats.org/officeDocument/2006/relationships/notesMaster" Target="/ppt/notesMasters/notesMaster1.xml" Id="Rfe9530a004fc46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890928f0fe4c5f" /><Relationship Type="http://schemas.openxmlformats.org/officeDocument/2006/relationships/notesMaster" Target="/ppt/notesMasters/notesMaster1.xml" Id="R3c7e3624049e4f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29828865214706" /><Relationship Type="http://schemas.openxmlformats.org/officeDocument/2006/relationships/notesMaster" Target="/ppt/notesMasters/notesMaster1.xml" Id="R19b5f29b8aec46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7edad643294df4" /><Relationship Type="http://schemas.openxmlformats.org/officeDocument/2006/relationships/notesMaster" Target="/ppt/notesMasters/notesMaster1.xml" Id="Re5a93436f59a41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39c69a317e4672" /><Relationship Type="http://schemas.openxmlformats.org/officeDocument/2006/relationships/notesMaster" Target="/ppt/notesMasters/notesMaster1.xml" Id="Rc54c74c36ec449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06571b7a1145d2" /><Relationship Type="http://schemas.openxmlformats.org/officeDocument/2006/relationships/notesMaster" Target="/ppt/notesMasters/notesMaster1.xml" Id="Racbf23cea08a4e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4c8f7c27e7478f" /><Relationship Type="http://schemas.openxmlformats.org/officeDocument/2006/relationships/notesMaster" Target="/ppt/notesMasters/notesMaster1.xml" Id="Ref9d6bb856434a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1ae443bf0b4e48" /><Relationship Type="http://schemas.openxmlformats.org/officeDocument/2006/relationships/notesMaster" Target="/ppt/notesMasters/notesMaster1.xml" Id="R8ce5dbe6c8c34c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4384b026164d88" /><Relationship Type="http://schemas.openxmlformats.org/officeDocument/2006/relationships/notesMaster" Target="/ppt/notesMasters/notesMaster1.xml" Id="Rb109720db8ce46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23fba7ee274e55" /><Relationship Type="http://schemas.openxmlformats.org/officeDocument/2006/relationships/notesMaster" Target="/ppt/notesMasters/notesMaster1.xml" Id="R9807c9912af841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d5b5a4796a49ed" /><Relationship Type="http://schemas.openxmlformats.org/officeDocument/2006/relationships/notesMaster" Target="/ppt/notesMasters/notesMaster1.xml" Id="R1c022e932c994a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e1cba9189445c3" /><Relationship Type="http://schemas.openxmlformats.org/officeDocument/2006/relationships/notesMaster" Target="/ppt/notesMasters/notesMaster1.xml" Id="R2c611494272144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814c6e938541f3" /><Relationship Type="http://schemas.openxmlformats.org/officeDocument/2006/relationships/notesMaster" Target="/ppt/notesMasters/notesMaster1.xml" Id="Rff48a06e439b45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3c387b080f4e62" /><Relationship Type="http://schemas.openxmlformats.org/officeDocument/2006/relationships/notesMaster" Target="/ppt/notesMasters/notesMaster1.xml" Id="Rc694dbc989d644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141f8c8ea34dba" /><Relationship Type="http://schemas.openxmlformats.org/officeDocument/2006/relationships/notesMaster" Target="/ppt/notesMasters/notesMaster1.xml" Id="Rc64a20f0a610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Наголосіть на двох гравцях із протилежними інтересами. Для випадкової природи з відомими ймовірностями або для кооперації потрібні інші постановки.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синтетичні й не є оцінкою реальної кібербезпеки. Стратегії обираються без знання одночасного вибору суперника.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клітинки записано з точки зору A. Для B виграш дорівнює мінус цьому числу. Не міняйте знаки довільно під час читання матриці.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планує, що B обере найгірший для A стовпець після врахування стратегії. Максимін є критерієм гарантованого результату.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сідлової точки чистих стратегій нижня і верхня ціни мають збігтися. Тут вони різні, тому шукаємо змішані стратегії.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інтерпретуйте p як поділ одного неподільного рішення на дві частини без контексту. Це може бути рандомізація між повторними раундами.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Рівність виграшів є розв’язком цієї внутрішньої гри 2×2. Для вироджених ігор або оптимуму на межі механічне прирівнювання може бути неправильним.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Вісь X показує ймовірність p у межах від 0 до 1. Гарантією A є нижня з двох ліній очікуваного виграшу. Її максимум у перетині: p=1/3, v=2.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рівноважного q обидва чисті рядки A мають очікування 2. Це робить A байдужим між стратегіями в підтримці змішаної стратегії.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Гравець не гарантує виграш 2 у кожному раунді: це очікувана ціна. Реалізований результат може бути 0,1,3 або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лінійна модель для довільної скінченної матриці виграшів. v може бути від’ємним, тому не обмежуємо його знизу нулем.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та сама задача max v, записана як min(−v). У фінальному звіті ціну читаємо як r.x[-1], а не r.fun без зміни знака.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Розмір A_ub дорівнює n на m+1. В останньому стовпці одиниці є коефіцієнтами змінної v. Джерело параметрів: https://docs.scipy.org/doc/scipy/reference/generated/scipy.optimize.linprog.html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Зіставте число з ручним розрахунком та графіком. Друк після перевірки r.success дозволяє не інтерпретувати порожній результат невдалого солвера.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мінімізує верхню оцінку ціни гри. Перевірка min(pA)=max(Aq) є змістовним незалежним від status контролем знайдених стратегій.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Чисельні похибки порівнюємо з допуском, а не точним побітовим порівнянням float. Перевірте також нормування й невід’ємність стратегій.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Нижня ціна max(2,0)=2, верхня min(3,2)=2. У такій грі чисті стратегії вже оптимальні.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слабкого домінування множина рівноваг може змінитися, хоча ціна гри зберігається. Починайте зі строгого покомпонентного домінування для наочності.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Цей слайд не повертає окремий курс теорії рішень. Він запобігає помилці, коли будь-яку випадкову подію безпідставно називають противником.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робіть з навчального прикладу практичну рекомендацію щодо захисту реальної мережі. Для неї потрібні модель загроз, дані й інший масштаб аналізу.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нової матриці [[4,1],[1,3]] p=0,4, q=0,4, v=2,2. Дайте студентам спочатку передбачити напрям зміни.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рівноважний очікуваний виграш, а не результат кожного раунду. −v переводить максимум у мінімум. Потрібні min(pA) та max(Aq), а також коректні ймовірності.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https://ocw.mit.edu/courses/15-053-optimization-methods-in-management-science-spring-2013/resources/mit15_053s13_lec7/</a:t>
            </a:r>
          </a:p>
          <a:p xmlns:a="http://schemas.openxmlformats.org/drawingml/2006/main">
            <a:r>
              <a:t>https://docs.scipy.org/doc/scipy/reference/generated/scipy.optimize.linprog.html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a0581f8844f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276f7689041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eda430e9c4c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80b7aa8c042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b2871116947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ed7c1a475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A0236F-CABF-4CD3-BA8C-CEC4FE8B6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C50E82-16BB-46D5-B1D9-FFEADFB31B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B9DBF6-3E19-43C5-843F-B980252DA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2933B-CCD8-4B26-8770-B90D924E7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FEF5F1-0572-4A00-A73D-1529E147F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1EE89E-8DB5-43B3-9752-AD17DD6B6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1255EB-3DDF-4FED-9041-5A5973146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782C92-8BE8-4303-8AA2-D69D8E5379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59961B-47E2-4C6E-B1CD-AB1245DB0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57BD49-72C5-4D46-AF82-66DB3C0630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7d638a1984833" /><Relationship Type="http://schemas.openxmlformats.org/officeDocument/2006/relationships/slideLayout" Target="/ppt/slideLayouts/slideLayout1.xml" Id="Rbb8ec1b044f4480b" /><Relationship Type="http://schemas.openxmlformats.org/officeDocument/2006/relationships/slideLayout" Target="/ppt/slideLayouts/slideLayout2.xml" Id="R2c8e4a9da8414434" /><Relationship Type="http://schemas.openxmlformats.org/officeDocument/2006/relationships/slideLayout" Target="/ppt/slideLayouts/slideLayout3.xml" Id="R35ed37609ccc4b2d" /><Relationship Type="http://schemas.openxmlformats.org/officeDocument/2006/relationships/slideLayout" Target="/ppt/slideLayouts/slideLayout4.xml" Id="Ra0c8beb9e8ff4dd4" /><Relationship Type="http://schemas.openxmlformats.org/officeDocument/2006/relationships/slideLayout" Target="/ppt/slideLayouts/slideLayout5.xml" Id="R58b4ef7276d44076" /><Relationship Type="http://schemas.openxmlformats.org/officeDocument/2006/relationships/slideLayout" Target="/ppt/slideLayouts/slideLayout6.xml" Id="R4f4b12d96ce349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ec1b044f4480b"/>
    <p:sldLayoutId xmlns:r="http://schemas.openxmlformats.org/officeDocument/2006/relationships" id="2147483650" r:id="R2c8e4a9da8414434"/>
    <p:sldLayoutId xmlns:r="http://schemas.openxmlformats.org/officeDocument/2006/relationships" id="2147483651" r:id="R35ed37609ccc4b2d"/>
    <p:sldLayoutId xmlns:r="http://schemas.openxmlformats.org/officeDocument/2006/relationships" id="2147483652" r:id="Ra0c8beb9e8ff4dd4"/>
    <p:sldLayoutId xmlns:r="http://schemas.openxmlformats.org/officeDocument/2006/relationships" id="2147483653" r:id="R58b4ef7276d44076"/>
    <p:sldLayoutId xmlns:r="http://schemas.openxmlformats.org/officeDocument/2006/relationships" id="2147483654" r:id="R4f4b12d96ce349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5941ec4244dd4" /><Relationship Type="http://schemas.openxmlformats.org/officeDocument/2006/relationships/notesSlide" Target="/ppt/notesSlides/notesSlide1.xml" Id="R580856402d7a4f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ee8127f694d6d" /><Relationship Type="http://schemas.openxmlformats.org/officeDocument/2006/relationships/notesSlide" Target="/ppt/notesSlides/notesSlide2.xml" Id="Ra7e50a41e01847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247f128b94e3e" /><Relationship Type="http://schemas.openxmlformats.org/officeDocument/2006/relationships/notesSlide" Target="/ppt/notesSlides/notesSlide3.xml" Id="Rc81433de6eaa47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c2e148dff4a99" /><Relationship Type="http://schemas.openxmlformats.org/officeDocument/2006/relationships/notesSlide" Target="/ppt/notesSlides/notesSlide4.xml" Id="R4c1c8e18f411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8fbf3aecd458d" /><Relationship Type="http://schemas.openxmlformats.org/officeDocument/2006/relationships/notesSlide" Target="/ppt/notesSlides/notesSlide5.xml" Id="R2f3a0cf525d94c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cf02d263e4902" /><Relationship Type="http://schemas.openxmlformats.org/officeDocument/2006/relationships/notesSlide" Target="/ppt/notesSlides/notesSlide6.xml" Id="Reb37a6509256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867bf4e584b70" /><Relationship Type="http://schemas.openxmlformats.org/officeDocument/2006/relationships/notesSlide" Target="/ppt/notesSlides/notesSlide7.xml" Id="R62b1f58128734b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1a49174444058" /><Relationship Type="http://schemas.openxmlformats.org/officeDocument/2006/relationships/notesSlide" Target="/ppt/notesSlides/notesSlide8.xml" Id="R923a4c4a0a2d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4b74ac0514634" /><Relationship Type="http://schemas.openxmlformats.org/officeDocument/2006/relationships/chart" Target="/ppt/slides/charts/chart1.xml" Id="R16a6466eabf049ae" /><Relationship Type="http://schemas.openxmlformats.org/officeDocument/2006/relationships/notesSlide" Target="/ppt/notesSlides/notesSlide9.xml" Id="R6ac7a0e88b4b44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a949699794855" /><Relationship Type="http://schemas.openxmlformats.org/officeDocument/2006/relationships/notesSlide" Target="/ppt/notesSlides/notesSlide10.xml" Id="R979e2231be144a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98f345fd645df" /><Relationship Type="http://schemas.openxmlformats.org/officeDocument/2006/relationships/notesSlide" Target="/ppt/notesSlides/notesSlide11.xml" Id="R946364306f8444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45541b2624f7a" /><Relationship Type="http://schemas.openxmlformats.org/officeDocument/2006/relationships/notesSlide" Target="/ppt/notesSlides/notesSlide12.xml" Id="Rbe5241d455714a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917ecf1204f27" /><Relationship Type="http://schemas.openxmlformats.org/officeDocument/2006/relationships/notesSlide" Target="/ppt/notesSlides/notesSlide13.xml" Id="R8c216e2c8dbe4e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8f6ca633c4b82" /><Relationship Type="http://schemas.openxmlformats.org/officeDocument/2006/relationships/notesSlide" Target="/ppt/notesSlides/notesSlide14.xml" Id="R84dd627b7b914f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10112f2134e14" /><Relationship Type="http://schemas.openxmlformats.org/officeDocument/2006/relationships/notesSlide" Target="/ppt/notesSlides/notesSlide15.xml" Id="R5876d4f4acd84f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879c5a39145fd" /><Relationship Type="http://schemas.openxmlformats.org/officeDocument/2006/relationships/notesSlide" Target="/ppt/notesSlides/notesSlide16.xml" Id="R851ad726e26945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054227b64444c3" /><Relationship Type="http://schemas.openxmlformats.org/officeDocument/2006/relationships/notesSlide" Target="/ppt/notesSlides/notesSlide17.xml" Id="R32641f4954b64e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9632942de4894" /><Relationship Type="http://schemas.openxmlformats.org/officeDocument/2006/relationships/notesSlide" Target="/ppt/notesSlides/notesSlide18.xml" Id="Rfc62d193b31640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c5dcacfef4388" /><Relationship Type="http://schemas.openxmlformats.org/officeDocument/2006/relationships/notesSlide" Target="/ppt/notesSlides/notesSlide19.xml" Id="R3e5a98ea69964f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35635be7248e6" /><Relationship Type="http://schemas.openxmlformats.org/officeDocument/2006/relationships/notesSlide" Target="/ppt/notesSlides/notesSlide20.xml" Id="R3e34f942ad3845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3cead814c4b42" /><Relationship Type="http://schemas.openxmlformats.org/officeDocument/2006/relationships/notesSlide" Target="/ppt/notesSlides/notesSlide21.xml" Id="R72129892112f47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f2317b3884e62" /><Relationship Type="http://schemas.openxmlformats.org/officeDocument/2006/relationships/notesSlide" Target="/ppt/notesSlides/notesSlide22.xml" Id="R3c4abeff4ff94b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db02a1e924baa" /><Relationship Type="http://schemas.openxmlformats.org/officeDocument/2006/relationships/notesSlide" Target="/ppt/notesSlides/notesSlide23.xml" Id="R5f688b00059c40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6381c436d4ad2" /><Relationship Type="http://schemas.openxmlformats.org/officeDocument/2006/relationships/hyperlink" Target="https://ocw.mit.edu/courses/15-053-optimization-methods-in-management-science-spring-2013/resources/mit15_053s13_lec7/" TargetMode="External" Id="R1f8ec51f90ed40ab" /><Relationship Type="http://schemas.openxmlformats.org/officeDocument/2006/relationships/hyperlink" Target="https://docs.scipy.org/doc/scipy/reference/generated/scipy.optimize.linprog.html" TargetMode="External" Id="Re0e30fde73564b63" /><Relationship Type="http://schemas.openxmlformats.org/officeDocument/2006/relationships/notesSlide" Target="/ppt/notesSlides/notesSlide24.xml" Id="R1971818f0b344d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Проти B1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0.333333333333</c:v>
                </c:pt>
                <c:pt idx="3">
                  <c:v>0.5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'Chart Data'!$B$2:$B$7</c:f>
              <c:numCache>
                <c:formatCode>0.0</c:formatCode>
                <c:ptCount val="6"/>
                <c:pt idx="0">
                  <c:v>1</c:v>
                </c:pt>
                <c:pt idx="1">
                  <c:v>1.6</c:v>
                </c:pt>
                <c:pt idx="2">
                  <c:v>2</c:v>
                </c:pt>
                <c:pt idx="3">
                  <c:v>2.5</c:v>
                </c:pt>
                <c:pt idx="4">
                  <c:v>3.4</c:v>
                </c:pt>
                <c:pt idx="5">
                  <c:v>4</c:v>
                </c:pt>
              </c:numCache>
            </c:numRef>
          </c:yVal>
        </c:ser>
        <c:ser>
          <c:idx val="1"/>
          <c:order val="1"/>
          <c:tx>
            <c:v>Проти B2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0.333333333333</c:v>
                </c:pt>
                <c:pt idx="3">
                  <c:v>0.5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'Chart Data'!$D$2:$D$7</c:f>
              <c:numCache>
                <c:formatCode>0.0</c:formatCode>
                <c:ptCount val="6"/>
                <c:pt idx="0">
                  <c:v>3</c:v>
                </c:pt>
                <c:pt idx="1">
                  <c:v>2.4</c:v>
                </c:pt>
                <c:pt idx="2">
                  <c:v>2</c:v>
                </c:pt>
                <c:pt idx="3">
                  <c:v>1.5</c:v>
                </c:pt>
                <c:pt idx="4">
                  <c:v>0.6</c:v>
                </c:pt>
                <c:pt idx="5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Очікуваний виграш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Ймовірність p вибору A1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55BC99F2-9423-4124-8E5A-B203E185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DC9F5D-FC98-4163-B7E9-4BE8F3B2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Матричні ігри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 лінійне програмування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8B29B36-FD39-4C75-9307-599C8BB1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Стратегічний вибір в ІТ, змішані стратегії та перевірка рівноваги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A25C6D25-E9D2-4A6C-A84C-C9753BF0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187259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BB27729-07D2-4D5F-8599-0F2698C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F11D6140-0141-46D6-A73B-20E9E3F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7012714-AB81-400F-8B84-DBCA4E2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Визначити гравців, стратегії та виграші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AF87DC1-0745-4871-9602-CE2610D2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5293046-3409-48C0-8CC8-247590F7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наявність сідлової точки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DF7C2C6-8FE0-4652-91E6-AA87C91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0A0E44C-3BDF-4264-9667-2D8D825A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змішані стратегії гри 2×2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FE8637B-F63E-4768-9544-99CCCE3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726AFA3-71EC-4A8C-90F8-8C38CA2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Розв’язати загальну матричну гру як ЛП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BE5727D-9C09-469C-A704-9E64B155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стратегія з гарантованим очікуваним виграшем.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391943-DE07-468A-9814-E3DF9FC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627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9139F21-B5C8-4041-B300-535B0F7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ІТ-приклад: профіль захисту й напрям атаки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5434A36-84A3-4BF0-AC04-B4DAB60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5D48280F-BE2D-4F6C-B4A5-DB2CF41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Захисник A обирає профіль A1 або A2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8C07529-5281-46CB-A5AA-59DB5D47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A37F3FB-2C42-4A61-8357-390FA773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Опонент B обирає напрям B1 або B2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D0F5263-2C13-4418-B25E-70CCAD5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047EBE0-BFDE-4A4C-9BA3-D9E880C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Виграш A: умовна оцінка збереженого сервісу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E92F26EE-E880-4F58-AE60-83AE6A1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7BCF81A-A5B9-4663-B621-CBAF587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 мінімізує той самий виграш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F105C7A4-0E32-4710-849D-C4528673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Нульова сума є навчальним припущенням про протилежність інтересів.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F41330-36BD-4621-890F-FA4B6DF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7242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3D2BCF4-D678-486C-BD41-E40E664F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Матриця виграшів захисника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F87EA-DB4F-482E-BE5A-371713967E1F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/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81405C9-DEF7-4B33-931C-65009A33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Рядки обирає A, стовпці обирає B.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51E7C8-305D-4E81-A8F7-390278AC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1880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E2295E-F9A5-40D5-B02B-B0CADFF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Гарантія кожної чистої стратегії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1A569-AB53-41B3-8469-CAE32709CD21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46222"/>
                <a:gridCol w="6321778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Стратегія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Найгірший виграш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min(4,0)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min(1,3)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Максимін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max(0,1)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0A0AA8E-334C-4ED9-A46D-A6D5AE8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Найкраща чиста гарантія A дорівнює 1.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D47811-169F-48CD-A881-A5FE246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207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ED6E2E-C0FC-4252-8C57-7436B343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Перевірка сідлової точки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971B2-4BBF-46FA-BB82-922366497855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621"/>
                <a:gridCol w="6989379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Стовпець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Найбільший виграш 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max(4,1) = 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max(0,3) =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Мінімакс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min(4,3) =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40687ECB-7677-4011-88A2-1B180654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Максимін 1 &lt; мінімакс 3: сідлової точки немає.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FED9F8-A753-4C0F-986D-9955BD60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98843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F008809-F6CA-43DB-AE4F-C9B3D670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Змішана стратегія A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EA7FDBE-0F91-41AE-A82C-D100B73B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322BA28-8A58-4DE0-9B4C-1988E50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p: ймовірність вибору A1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043CC39-CD8C-4844-82BD-0D83EE5C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554060E-805F-4B98-88B9-F5C48C6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1−p: ймовірність вибору A2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FCBA321-9E74-4A9C-B87F-FA402A0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491028F-FC23-412F-A48F-CEF23CAE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Опонент може знати p, але не конкретний випадковий вибір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0A4A691-CFD2-49B8-B063-06DF363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9D8CE41-742D-40A0-9BF6-75BB7AC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Мета A: збільшити найменший очікуваний виграш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C0E2B2A-CB38-4727-9254-AF3F2EA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Змішування задає правило випадкового вибору стратегій.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40A563-A3D3-4B62-BD3B-568A69F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2429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DA90170-B678-4C22-92DC-BB7F07F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Очікувані виграші проти двох стовпців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6500E8A7-3748-4D8B-A1F0-5AB7C24C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6D62B14-F575-4E59-9FCB-F21AFC2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Проти B1: 4p + 1(1−p) = 1+3p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A2BC63F-1178-4266-BA80-FE519D3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48C6605-2A0F-4174-938D-1E353BB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Проти B2: 0p + 3(1−p) = 3−3p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5FD77B4-E5C8-4CD0-BB89-B98AEAB3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C1A84FB-F51E-45B5-B78F-D90A485C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Гарантія: min(1+3p, 3−3p)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DC0ACAB-4B78-476C-9922-E4C880B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30FDE71-F927-4761-B9E4-BF55407E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Оптимум у цій грі: 1+3p = 3−3p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3D99B00-4F54-4CED-8DBE-0239F87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Дві прямі перетинаються при p=1/3.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187CA0-F5EE-4C49-9E2B-9D86C53A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84988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0EA831-DDA4-4356-BB5B-F49D189C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Графічний вибір змішаної стратегії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9F601F6-0165-45B7-BDD3-1042F3B04C22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a6466eabf049ae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0EAE8C7-3F07-4317-AD9C-41F6B28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 перетині p=1/3 обидва виграші дорівнюють 2.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0FAAF1-C8D5-4657-ACFD-336CBBD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4639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4B56C1B-A995-4ECF-BC66-9C77F9B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Змішана стратегія B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29DDB02-AEAA-4E99-97C1-555BEDDE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E685621-B4D5-4902-BB48-7E00AA11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q: ймовірність B1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E8EEBFA-306F-4428-9E36-E5714042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1FB87D3-C382-4D93-924B-52390C4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Виграш рядка A1: 4q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84FFD47-B0BB-4984-B583-A7FF953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25CC94C-5A51-46F4-9E19-34CB407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Виграш рядка A2: q+3(1−q) = 3−2q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8DEF15D-AFB4-4DBB-9843-15B8F846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442D400D-E98C-40BE-A4F8-BD0FF8D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4q = 3−2q, отже q=1/2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8D169B5-188F-4E2D-AD15-D244A0B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Рівновага: p=(1/3,2/3), q=(1/2,1/2), v=2.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9B74A8-32EB-48BE-B79A-8097EFB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0801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70D47A-5834-414D-901C-6E68C53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Перевірка рівноваги вручну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39F65-B3F8-4820-9698-267A2320D19D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38261"/>
                <a:gridCol w="6029739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Перевірка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 проти B1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4/3 + 2/3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 проти B2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 + 2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q проти 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4/2 + 0/2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q проти A2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1/2 + 3/2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7A1D84E-1600-468A-AD97-C281F6C8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Одностороння зміна не покращує гарантований результат.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C76B2C-3F1C-4267-870F-15DFFB0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00822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9759B85-35AE-4BAB-9565-66E9E9D0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Загальна модель для гравця A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2625A56-765E-4E33-84BB-FE82437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7CA4037-B2D9-43C2-8D05-B713F25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pi ≥ 0, сума pi = 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1F0225C-C24D-4699-94F2-C4B76D25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3478CA1-395B-4AC2-9170-50C0E06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v: гарантований очікуваний виграш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204FA89-BC32-4658-80D8-5A4A8B0F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42B030E-820B-4D13-99FD-93E2CC33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кожного стовпця j: Σ aij pi ≥ v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69B8D83-1B5A-4077-96A8-1CEAF7E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CE38B83-0CE7-47E6-9D1A-49F264A8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Мета: max v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D2840F6D-0813-40C0-BBC0-5C6B1E5F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Кожен стовпець суперника породжує окреме обмеження.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88BBC8-46D2-4FD9-83BE-7903F7C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5218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BFB3197-0318-4596-B0CC-0DF8F088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Підготовка до linprog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C3FA5BCC-F175-46F4-ACD1-DDA811D4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D49162F-C19E-48AE-BA29-E21207EA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linprog мінімізує, тому мінімізуємо −v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EE3E411-ADA4-4C65-B423-C088A60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B25A903-91C5-46FF-9B77-4111C46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Вектор змінних: p1,…,pm,v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3007DA47-3B61-4E66-AF8F-0D17F7F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CC24F53-A2D8-4320-A51D-7E9638B5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Обмеження у форматі ≤: −Aᵀp+v ≤ 0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3547214-9FDC-487A-A531-42C85083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A0AEAD6-9591-4058-8C61-AD2645B3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Ймовірності невід’ємні, v є вільною змінною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2C1E9B7-0D88-4BEA-A2BC-F8C5FC7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Мінус змінює напрям оптимізації, а не виграші самої гри.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0E6FB4-4942-41C8-9A27-FFF1C49E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0633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141FCF-048D-4B16-B7EA-72A13F1B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задача ЛП для захисника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515B540-D113-4211-914E-3DD62A0F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scipy.optimize import linprog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 = np.array([[4.,0.],[1.,3.]])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m,n = A.shape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r = linprog([0.]*m+[-1.],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A_ub=np.c_[-A.T,np.ones(n)], b_ub=np.zeros(n),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A_eq=[[1.]*m+[0.]], b_eq=[1.],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bounds=[(0,None)]*m+[(None,None)], method="highs")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r.success, r.message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print("p =", np.round(r.x[:-1],6))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print("v =", round(r.x[-1],6))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C50C2C5-3F47-4FEF-9317-B0DD0FD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bounds для v задає відсутність штучної вимоги v≥0.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86BB9F-50EE-4621-8ADE-B340339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47153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39A125-AE51-4FFA-98F0-230A570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ЛП для A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91E4288-8AAA-4E8C-B73A-78726A1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p = [0.333333 0.666667]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v = 2.0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5C7156F-3092-47A0-B7C1-AE33114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Програма підтверджує p=(1/3,2/3), v=2.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1AFEA3-ED41-47E5-844D-06295E1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76545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020677A-0C62-4550-B6D5-4B2F05A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двоїста задача для B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3B63BE7E-9884-469A-A482-9929B41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s = linprog([0.]*n+[1.],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A_ub=np.c_[A,-np.ones(m)], b_ub=np.zeros(m),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A_eq=[[1.]*n+[0.]], b_eq=[1.],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bounds=[(0,None)]*n+[(None,None)], method="highs")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s.success, s.message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p,q = r.x[:-1], s.x[:-1]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print("q =", np.round(q,6))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print("v =", round(s.x[-1],6))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print("Гарантії:", round((p@A).min(),6),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round((A@q).max(),6))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7CC3034-CB26-4D10-9CBB-0FF21EA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Нижня і верхня гарантії мають збігтися в межах точності.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EC851E-7791-4E7E-A390-B4C7720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14325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CB38D6-9C4A-4DDA-AD59-E3367315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Фактична перевірка двох стратегій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8CF19C4A-8637-4C91-9D8D-AE88CB4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q = [0.5 0.5]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v = 2.0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Гарантії: 2.0 2.0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82D7A519-C75F-4540-AB09-B7E0DEF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Обидві сторони узгоджують ціну 2.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752961-ABD7-4F29-9D36-4CF5D1A0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13903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9B1802-9942-4818-AC5E-D6EFD26C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Приклад із сідловою точкою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40CC2-70CA-4A5B-8A0C-4FB3DB041A3D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3429"/>
                <a:gridCol w="2177143"/>
                <a:gridCol w="2177143"/>
                <a:gridCol w="2830286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/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Мінімум рядка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Максимум стовпця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BD03A14-534C-4D7D-A424-4FE49C76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Клітинка (A1,B2) має ціну 2 і є сідловою.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8D8BBB-838F-4E6F-8C99-9BC05E7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045413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518C4A7-58F9-424B-A9AD-F66A936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Домінування стратегій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03ECEA1-53F9-4680-8920-496DA1D9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6A38B44-70C8-45C0-912C-B48BF234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відкидає рядок, який не кращий за інший у кожному стовпці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4648A71-EB06-4F1C-806B-D5557CD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522F773-98CA-4E05-B998-29F14FB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 відкидає стовпець, який не менший за інший у кожному рядку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6F33A9F-F617-44F9-A024-0F9778CC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CEB4822-0601-4366-972B-4A754588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Напрям порівняння залежить від гравця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E1E85EF-FB4C-47B9-90C4-0CFD8EE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8B0169F-B638-4994-8D71-312D9BE2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Після скорочення зберігаємо назви стратегій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32A3843-A595-49B3-B2AF-0ED9EFFD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Однаковий напрям порівняння для рядків і стовпців є помилкою.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ECDAF4-22C6-44CE-B7DF-0F61555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34559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3654586-DE2D-4EE6-BD54-1FA44F9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Гра і випадкове середовище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0433F2D-6891-4AD0-A62C-B20260F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6707364-B050-4A1E-B532-A805F6A2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грі B активно обирає стратегію проти A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3A779B3-DF0A-473D-B698-2777E4B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98B2809B-71EC-424F-BE2B-C2F1E96B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Відомі випадкові сценарії мають задані ймовірності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E1AAC4E-3FD1-4344-9CA7-4C49C04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5E15F7C-C6A3-450B-9A56-E9BA954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Невідомі параметри потребують аналізу невизначеності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FEC87E90-892A-4DF3-9E24-29D8651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91CA8A4-22C7-44FA-96B2-2A17F102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Це різні підстави для вибору критерію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35CD428-1346-4BD4-9DD7-170E2B5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Вибір моделі залежить від поведінки середовища.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99A06D-E1D9-437B-94E6-58ED1475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680427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B4B9721-38A3-4705-A688-5376977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Межі ІТ-інтерпретації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B54898C-BCBE-4F08-A63A-FE5BE61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22C01F5-EFF8-4D74-90EB-0F48C3AD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Числа виграшів потребують обґрунтування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DA885C7F-346A-4BC6-8D68-C3385E9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6FEF4D7-0AAE-4F74-974C-A60605E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Одночасність і прихованість вибору можуть не виконуватися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424D867-F96C-4169-9E33-80E84F0C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1D45461-592B-4CA4-AE25-DA9A94D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Повторні взаємодії можуть змінювати поведінку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CB4936D-6B5E-49F7-BE3E-0E7D827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63B9FA3-18EA-42DF-921A-5BF7F5C0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Нульова сума є сильним спрощенням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78102E5-31B2-4B19-954F-405632A2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Матрична гра дає висновок лише в межах своїх припущень.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78F597-3417-4D5C-AC9B-B9AD0AC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07632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51F9D21-1271-4918-9832-442F300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Експеримент для ДЗ №6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396AB89-9752-4201-9735-43442307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24CC988-384B-44CD-8DA7-150DD6F3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Змінити виграш A1 проти B2 з 0 на 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81801AE-6926-47A8-9A5F-727986EA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D512EB5-90F2-4BE2-90C4-3C768F5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Повторити чисті оцінки й задачу ЛП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A010928-3AB1-4117-93DC-C8C8B49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9CFB552-4186-48B4-A99B-9C5796F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обидві гарантії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7137163-257F-4AF8-B9A0-DD29A08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01674C3-8806-4F4D-87E9-9D93CDF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Пояснити, чи змінилася частота вибору A1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F4AE7F9-514F-44BE-B874-9133044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Порівняння має пояснити зміну стратегії, а не лише ціни.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2022FF-45B8-4407-99C1-9668933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328118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E707F82-44EA-47FC-BFFA-B19DAC28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2C0EA03-9CAE-41C2-B7AA-168A3F9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4B20A99-366C-4C42-8342-884FDA0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означає ціна гри 2?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3A8720A-D21D-4E49-8329-B5BC97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626461B-DE39-4949-9064-FE3AF4E0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у linprog мінімізуємо −v?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BA2DF1AF-B98D-490B-9A91-4D0D83F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F0B5FF7-213A-4371-AB20-8108FD6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Які дві гарантії підтверджують результат?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D3674FA9-B0BD-4DFD-8569-8A1520C2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2204216-4800-4F3B-AD8E-B25BC90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944833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5ED20DE-0E49-42D3-AAC2-7F22718B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game">
            <a:extLst xmlns:a="http://schemas.openxmlformats.org/drawingml/2006/main">
              <a:ext uri="{FF2B5EF4-FFF2-40B4-BE49-F238E27FC236}">
                <a16:creationId xmlns:a16="http://schemas.microsoft.com/office/drawing/2014/main" id="{D4294DC5-F2B5-434B-A055-28C2C83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1f8ec51f90ed40ab"/>
              </a:rPr>
              <a:t>MIT · матричні ігри й лінійне програмування</a:t>
            </a:r>
          </a:p>
        </p:txBody>
      </p:sp>
      <p:sp>
        <p:nvSpPr>
          <p:cNvPr id="3" name="source-lp">
            <a:extLst xmlns:a="http://schemas.openxmlformats.org/drawingml/2006/main">
              <a:ext uri="{FF2B5EF4-FFF2-40B4-BE49-F238E27FC236}">
                <a16:creationId xmlns:a16="http://schemas.microsoft.com/office/drawing/2014/main" id="{0D4572F1-972C-46E9-A376-BDC188EE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e0e30fde73564b63"/>
              </a:rPr>
              <a:t>SciPy · лінійне програмування linprog</a:t>
            </a:r>
          </a:p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219333A-5406-4D06-B560-A72A266D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BDBA7648-BDF6-4738-9814-9E846C5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7D27E5-51E7-4071-BAB9-7A45982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83322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2026-10-19T09:24:58.4580000Z</dcterms:created>
  <dcterms:modified xsi:type="dcterms:W3CDTF">2026-10-19T09:24:58.4580000Z</dcterms:modified>
</coreProperties>
</file>