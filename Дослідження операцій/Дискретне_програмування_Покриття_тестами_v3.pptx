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slides/charts/chart3.xml" ContentType="application/vnd.openxmlformats-officedocument.drawingml.chart+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efffe7d65f84050" /><Relationship Type="http://schemas.openxmlformats.org/officeDocument/2006/relationships/extended-properties" Target="/docProps/app.xml" Id="R1fb8234e1c9f47a1" /><Relationship Type="http://schemas.openxmlformats.org/officeDocument/2006/relationships/officeDocument" Target="/ppt/presentation.xml" Id="Rb9f94433e0574ab7" /></Relationships>
</file>

<file path=ppt/presentation.xml><?xml version="1.0" encoding="utf-8"?>
<p:presentation xmlns:p="http://schemas.openxmlformats.org/presentationml/2006/main">
  <p:sldMasterIdLst>
    <p:sldMasterId xmlns:r="http://schemas.openxmlformats.org/officeDocument/2006/relationships" id="2147483648" r:id="R353106d145374fc7"/>
  </p:sldMasterIdLst>
  <p:notesMasterIdLst>
    <p:notesMasterId xmlns:r="http://schemas.openxmlformats.org/officeDocument/2006/relationships" r:id="R3f10b8365af34d57"/>
  </p:notesMasterIdLst>
  <p:sldIdLst>
    <p:sldId xmlns:r="http://schemas.openxmlformats.org/officeDocument/2006/relationships" id="256" r:id="R77dde1368f604999"/>
    <p:sldId xmlns:r="http://schemas.openxmlformats.org/officeDocument/2006/relationships" id="257" r:id="R1f492863c9fb4cb8"/>
    <p:sldId xmlns:r="http://schemas.openxmlformats.org/officeDocument/2006/relationships" id="258" r:id="Rbb78f8dc841e4a82"/>
    <p:sldId xmlns:r="http://schemas.openxmlformats.org/officeDocument/2006/relationships" id="259" r:id="Rfdee93f4476c46c2"/>
    <p:sldId xmlns:r="http://schemas.openxmlformats.org/officeDocument/2006/relationships" id="260" r:id="Rd152e4400461488a"/>
    <p:sldId xmlns:r="http://schemas.openxmlformats.org/officeDocument/2006/relationships" id="261" r:id="R6bee126b6dad451b"/>
    <p:sldId xmlns:r="http://schemas.openxmlformats.org/officeDocument/2006/relationships" id="262" r:id="R17ee36799c194b70"/>
    <p:sldId xmlns:r="http://schemas.openxmlformats.org/officeDocument/2006/relationships" id="263" r:id="R96465a3164f242e2"/>
    <p:sldId xmlns:r="http://schemas.openxmlformats.org/officeDocument/2006/relationships" id="264" r:id="R659fbfedbb114b9f"/>
    <p:sldId xmlns:r="http://schemas.openxmlformats.org/officeDocument/2006/relationships" id="265" r:id="Rf896ecf872b5422a"/>
    <p:sldId xmlns:r="http://schemas.openxmlformats.org/officeDocument/2006/relationships" id="266" r:id="R8b41d8df9f234626"/>
    <p:sldId xmlns:r="http://schemas.openxmlformats.org/officeDocument/2006/relationships" id="267" r:id="R6cc2bda945b0457b"/>
    <p:sldId xmlns:r="http://schemas.openxmlformats.org/officeDocument/2006/relationships" id="268" r:id="Rd67f9bb058c14079"/>
    <p:sldId xmlns:r="http://schemas.openxmlformats.org/officeDocument/2006/relationships" id="269" r:id="Rcaf1c74a85754545"/>
    <p:sldId xmlns:r="http://schemas.openxmlformats.org/officeDocument/2006/relationships" id="270" r:id="Rb90987765f054b11"/>
    <p:sldId xmlns:r="http://schemas.openxmlformats.org/officeDocument/2006/relationships" id="271" r:id="Rf864df7839f64d49"/>
    <p:sldId xmlns:r="http://schemas.openxmlformats.org/officeDocument/2006/relationships" id="272" r:id="R8ad074fefc5f4e72"/>
    <p:sldId xmlns:r="http://schemas.openxmlformats.org/officeDocument/2006/relationships" id="273" r:id="R61a1b81a50e84674"/>
    <p:sldId xmlns:r="http://schemas.openxmlformats.org/officeDocument/2006/relationships" id="274" r:id="R43b46fb9202e4c4f"/>
    <p:sldId xmlns:r="http://schemas.openxmlformats.org/officeDocument/2006/relationships" id="275" r:id="Rf1395486fef14e80"/>
    <p:sldId xmlns:r="http://schemas.openxmlformats.org/officeDocument/2006/relationships" id="276" r:id="Rff5640d5b5df4e5b"/>
    <p:sldId xmlns:r="http://schemas.openxmlformats.org/officeDocument/2006/relationships" id="277" r:id="Rcc32002c5c114dfa"/>
    <p:sldId xmlns:r="http://schemas.openxmlformats.org/officeDocument/2006/relationships" id="278" r:id="Rcbfa0a6407bd463e"/>
    <p:sldId xmlns:r="http://schemas.openxmlformats.org/officeDocument/2006/relationships" id="279" r:id="Raf8834194ec24d72"/>
    <p:sldId xmlns:r="http://schemas.openxmlformats.org/officeDocument/2006/relationships" id="280" r:id="R8079de84826e4665"/>
    <p:sldId xmlns:r="http://schemas.openxmlformats.org/officeDocument/2006/relationships" id="281" r:id="R96b920c830e0453f"/>
    <p:sldId xmlns:r="http://schemas.openxmlformats.org/officeDocument/2006/relationships" id="282" r:id="Rd9ed19843c0f4d0b"/>
    <p:sldId xmlns:r="http://schemas.openxmlformats.org/officeDocument/2006/relationships" id="283" r:id="Ra224b1c1efaf4299"/>
    <p:sldId xmlns:r="http://schemas.openxmlformats.org/officeDocument/2006/relationships" id="284" r:id="R371c241a41984af3"/>
    <p:sldId xmlns:r="http://schemas.openxmlformats.org/officeDocument/2006/relationships" id="285" r:id="Rf4a196a1f8984265"/>
    <p:sldId xmlns:r="http://schemas.openxmlformats.org/officeDocument/2006/relationships" id="286" r:id="R21b09a49fb544ad4"/>
    <p:sldId xmlns:r="http://schemas.openxmlformats.org/officeDocument/2006/relationships" id="287" r:id="R5d55549729024d14"/>
    <p:sldId xmlns:r="http://schemas.openxmlformats.org/officeDocument/2006/relationships" id="288" r:id="Ra0e1d0941f1243f1"/>
    <p:sldId xmlns:r="http://schemas.openxmlformats.org/officeDocument/2006/relationships" id="289" r:id="R49bde1c44c284a6c"/>
    <p:sldId xmlns:r="http://schemas.openxmlformats.org/officeDocument/2006/relationships" id="290" r:id="R6e84c41adda640a6"/>
    <p:sldId xmlns:r="http://schemas.openxmlformats.org/officeDocument/2006/relationships" id="291" r:id="Rbbe1761ce89d4d51"/>
    <p:sldId xmlns:r="http://schemas.openxmlformats.org/officeDocument/2006/relationships" id="292" r:id="Re6cdf58cce5b4cef"/>
    <p:sldId xmlns:r="http://schemas.openxmlformats.org/officeDocument/2006/relationships" id="293" r:id="R42d2f313906d4bd1"/>
    <p:sldId xmlns:r="http://schemas.openxmlformats.org/officeDocument/2006/relationships" id="294" r:id="Ra81ba71152cb4bbd"/>
    <p:sldId xmlns:r="http://schemas.openxmlformats.org/officeDocument/2006/relationships" id="295" r:id="R69d376acba8042df"/>
    <p:sldId xmlns:r="http://schemas.openxmlformats.org/officeDocument/2006/relationships" id="296" r:id="R2900958281094a0d"/>
    <p:sldId xmlns:r="http://schemas.openxmlformats.org/officeDocument/2006/relationships" id="297" r:id="Rf4cf5ff2e78e48fc"/>
    <p:sldId xmlns:r="http://schemas.openxmlformats.org/officeDocument/2006/relationships" id="298" r:id="R409f5116d3c74670"/>
    <p:sldId xmlns:r="http://schemas.openxmlformats.org/officeDocument/2006/relationships" id="299" r:id="R1dccd425b6084748"/>
    <p:sldId xmlns:r="http://schemas.openxmlformats.org/officeDocument/2006/relationships" id="300" r:id="R6deb8fbca076446f"/>
    <p:sldId xmlns:r="http://schemas.openxmlformats.org/officeDocument/2006/relationships" id="301" r:id="R8e455efcaf0b4e6e"/>
    <p:sldId xmlns:r="http://schemas.openxmlformats.org/officeDocument/2006/relationships" id="302" r:id="R46e8332058ba46cc"/>
    <p:sldId xmlns:r="http://schemas.openxmlformats.org/officeDocument/2006/relationships" id="303" r:id="Rfcb37f8cc444435b"/>
    <p:sldId xmlns:r="http://schemas.openxmlformats.org/officeDocument/2006/relationships" id="304" r:id="R941a2ddf09a242bc"/>
    <p:sldId xmlns:r="http://schemas.openxmlformats.org/officeDocument/2006/relationships" id="305" r:id="Rc5c4a5b083134fb0"/>
    <p:sldId xmlns:r="http://schemas.openxmlformats.org/officeDocument/2006/relationships" id="306" r:id="Rc7fe0a0b1564429d"/>
    <p:sldId xmlns:r="http://schemas.openxmlformats.org/officeDocument/2006/relationships" id="307" r:id="R3b489fa5a1f34e39"/>
    <p:sldId xmlns:r="http://schemas.openxmlformats.org/officeDocument/2006/relationships" id="308" r:id="R395e1205acce45f8"/>
    <p:sldId xmlns:r="http://schemas.openxmlformats.org/officeDocument/2006/relationships" id="309" r:id="R8564a019aa024c8b"/>
    <p:sldId xmlns:r="http://schemas.openxmlformats.org/officeDocument/2006/relationships" id="310" r:id="R70526c1428b24888"/>
    <p:sldId xmlns:r="http://schemas.openxmlformats.org/officeDocument/2006/relationships" id="311" r:id="R29488dff8985471c"/>
    <p:sldId xmlns:r="http://schemas.openxmlformats.org/officeDocument/2006/relationships" id="312" r:id="R49c3039bb4b54d89"/>
    <p:sldId xmlns:r="http://schemas.openxmlformats.org/officeDocument/2006/relationships" id="313" r:id="R208657dff8644c06"/>
    <p:sldId xmlns:r="http://schemas.openxmlformats.org/officeDocument/2006/relationships" id="314" r:id="Rab2dd85e24364188"/>
    <p:sldId xmlns:r="http://schemas.openxmlformats.org/officeDocument/2006/relationships" id="315" r:id="R596f7a2e3050433b"/>
    <p:sldId xmlns:r="http://schemas.openxmlformats.org/officeDocument/2006/relationships" id="316" r:id="R689754a611204999"/>
    <p:sldId xmlns:r="http://schemas.openxmlformats.org/officeDocument/2006/relationships" id="317" r:id="Rbe59f20faabe48ec"/>
    <p:sldId xmlns:r="http://schemas.openxmlformats.org/officeDocument/2006/relationships" id="318" r:id="Rcb1d8716358b4925"/>
    <p:sldId xmlns:r="http://schemas.openxmlformats.org/officeDocument/2006/relationships" id="319" r:id="Rf1730f4dd2294b5e"/>
    <p:sldId xmlns:r="http://schemas.openxmlformats.org/officeDocument/2006/relationships" id="320" r:id="Rdcb4e0ccce6e47fb"/>
    <p:sldId xmlns:r="http://schemas.openxmlformats.org/officeDocument/2006/relationships" id="321" r:id="R0a6f0edb102448c9"/>
    <p:sldId xmlns:r="http://schemas.openxmlformats.org/officeDocument/2006/relationships" id="322" r:id="R64a52a3523b4498c"/>
    <p:sldId xmlns:r="http://schemas.openxmlformats.org/officeDocument/2006/relationships" id="323" r:id="Rabf9c006b60e4fd8"/>
    <p:sldId xmlns:r="http://schemas.openxmlformats.org/officeDocument/2006/relationships" id="324" r:id="R372ce06e3571425c"/>
    <p:sldId xmlns:r="http://schemas.openxmlformats.org/officeDocument/2006/relationships" id="325" r:id="Re801a5bdae134d00"/>
    <p:sldId xmlns:r="http://schemas.openxmlformats.org/officeDocument/2006/relationships" id="326" r:id="R3f20a8d8022c4081"/>
    <p:sldId xmlns:r="http://schemas.openxmlformats.org/officeDocument/2006/relationships" id="327" r:id="Rc34e2228cbcc4640"/>
    <p:sldId xmlns:r="http://schemas.openxmlformats.org/officeDocument/2006/relationships" id="328" r:id="Rcc6ee6d5bcb945d8"/>
    <p:sldId xmlns:r="http://schemas.openxmlformats.org/officeDocument/2006/relationships" id="329" r:id="R3948052ed73c49fd"/>
    <p:sldId xmlns:r="http://schemas.openxmlformats.org/officeDocument/2006/relationships" id="330" r:id="Rbfc15b34a34b4690"/>
    <p:sldId xmlns:r="http://schemas.openxmlformats.org/officeDocument/2006/relationships" id="331" r:id="R62fb54717aab4c61"/>
    <p:sldId xmlns:r="http://schemas.openxmlformats.org/officeDocument/2006/relationships" id="332" r:id="R2fa2e074c61d43a1"/>
    <p:sldId xmlns:r="http://schemas.openxmlformats.org/officeDocument/2006/relationships" id="333" r:id="R0f4c8723ad624914"/>
    <p:sldId xmlns:r="http://schemas.openxmlformats.org/officeDocument/2006/relationships" id="334" r:id="R9d94fa3a784e40b2"/>
    <p:sldId xmlns:r="http://schemas.openxmlformats.org/officeDocument/2006/relationships" id="335" r:id="R8448ecd231594c71"/>
    <p:sldId xmlns:r="http://schemas.openxmlformats.org/officeDocument/2006/relationships" id="336" r:id="R9c9d7f6eacfc4711"/>
    <p:sldId xmlns:r="http://schemas.openxmlformats.org/officeDocument/2006/relationships" id="337" r:id="Rbf5bd19ebd8e43c2"/>
    <p:sldId xmlns:r="http://schemas.openxmlformats.org/officeDocument/2006/relationships" id="338" r:id="R20391db0cb1241a3"/>
    <p:sldId xmlns:r="http://schemas.openxmlformats.org/officeDocument/2006/relationships" id="339" r:id="R15bd2f63143f4798"/>
    <p:sldId xmlns:r="http://schemas.openxmlformats.org/officeDocument/2006/relationships" id="340" r:id="R21240289167c4158"/>
    <p:sldId xmlns:r="http://schemas.openxmlformats.org/officeDocument/2006/relationships" id="341" r:id="Ree34cdef82804775"/>
    <p:sldId xmlns:r="http://schemas.openxmlformats.org/officeDocument/2006/relationships" id="342" r:id="R8a59252cb4384ac1"/>
    <p:sldId xmlns:r="http://schemas.openxmlformats.org/officeDocument/2006/relationships" id="343" r:id="R054cafbcf3454b72"/>
    <p:sldId xmlns:r="http://schemas.openxmlformats.org/officeDocument/2006/relationships" id="344" r:id="R39718895a31c4d03"/>
    <p:sldId xmlns:r="http://schemas.openxmlformats.org/officeDocument/2006/relationships" id="345" r:id="Rbe6a1b3d5f08486d"/>
    <p:sldId xmlns:r="http://schemas.openxmlformats.org/officeDocument/2006/relationships" id="346" r:id="Rd29064b73c5b4fc0"/>
    <p:sldId xmlns:r="http://schemas.openxmlformats.org/officeDocument/2006/relationships" id="347" r:id="R63707877fbe44ab2"/>
    <p:sldId xmlns:r="http://schemas.openxmlformats.org/officeDocument/2006/relationships" id="348" r:id="R87e02d2465744525"/>
    <p:sldId xmlns:r="http://schemas.openxmlformats.org/officeDocument/2006/relationships" id="349" r:id="R2f746e66d5094fa4"/>
    <p:sldId xmlns:r="http://schemas.openxmlformats.org/officeDocument/2006/relationships" id="350" r:id="R50d742cf27044843"/>
    <p:sldId xmlns:r="http://schemas.openxmlformats.org/officeDocument/2006/relationships" id="351" r:id="R4543527fa8584086"/>
    <p:sldId xmlns:r="http://schemas.openxmlformats.org/officeDocument/2006/relationships" id="352" r:id="Rb67c22ca58384c34"/>
    <p:sldId xmlns:r="http://schemas.openxmlformats.org/officeDocument/2006/relationships" id="353" r:id="R2ff9db689c3a4987"/>
    <p:sldId xmlns:r="http://schemas.openxmlformats.org/officeDocument/2006/relationships" id="354" r:id="R95cf1a47be7d4b5a"/>
    <p:sldId xmlns:r="http://schemas.openxmlformats.org/officeDocument/2006/relationships" id="355" r:id="R398269a1e82c4e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315840d82e4305" /><Relationship Type="http://schemas.openxmlformats.org/officeDocument/2006/relationships/slideMaster" Target="/ppt/slideMasters/slideMaster1.xml" Id="R353106d145374fc7" /><Relationship Type="http://schemas.openxmlformats.org/officeDocument/2006/relationships/notesMaster" Target="/ppt/notesMasters/notesMaster1.xml" Id="R3f10b8365af34d57" /><Relationship Type="http://schemas.openxmlformats.org/officeDocument/2006/relationships/presProps" Target="/ppt/presProps.xml" Id="Rc6ffdd72abf7461e" /><Relationship Type="http://schemas.openxmlformats.org/officeDocument/2006/relationships/tableStyles" Target="/ppt/tableStyles.xml" Id="R2ac7a55cad714658" /><Relationship Type="http://schemas.openxmlformats.org/officeDocument/2006/relationships/slide" Target="/ppt/slides/slide1.xml" Id="R77dde1368f604999" /><Relationship Type="http://schemas.openxmlformats.org/officeDocument/2006/relationships/slide" Target="/ppt/slides/slide2.xml" Id="R1f492863c9fb4cb8" /><Relationship Type="http://schemas.openxmlformats.org/officeDocument/2006/relationships/slide" Target="/ppt/slides/slide3.xml" Id="Rbb78f8dc841e4a82" /><Relationship Type="http://schemas.openxmlformats.org/officeDocument/2006/relationships/slide" Target="/ppt/slides/slide4.xml" Id="Rfdee93f4476c46c2" /><Relationship Type="http://schemas.openxmlformats.org/officeDocument/2006/relationships/slide" Target="/ppt/slides/slide5.xml" Id="Rd152e4400461488a" /><Relationship Type="http://schemas.openxmlformats.org/officeDocument/2006/relationships/slide" Target="/ppt/slides/slide6.xml" Id="R6bee126b6dad451b" /><Relationship Type="http://schemas.openxmlformats.org/officeDocument/2006/relationships/slide" Target="/ppt/slides/slide7.xml" Id="R17ee36799c194b70" /><Relationship Type="http://schemas.openxmlformats.org/officeDocument/2006/relationships/slide" Target="/ppt/slides/slide8.xml" Id="R96465a3164f242e2" /><Relationship Type="http://schemas.openxmlformats.org/officeDocument/2006/relationships/slide" Target="/ppt/slides/slide9.xml" Id="R659fbfedbb114b9f" /><Relationship Type="http://schemas.openxmlformats.org/officeDocument/2006/relationships/slide" Target="/ppt/slides/slide10.xml" Id="Rf896ecf872b5422a" /><Relationship Type="http://schemas.openxmlformats.org/officeDocument/2006/relationships/slide" Target="/ppt/slides/slide11.xml" Id="R8b41d8df9f234626" /><Relationship Type="http://schemas.openxmlformats.org/officeDocument/2006/relationships/slide" Target="/ppt/slides/slide12.xml" Id="R6cc2bda945b0457b" /><Relationship Type="http://schemas.openxmlformats.org/officeDocument/2006/relationships/slide" Target="/ppt/slides/slide13.xml" Id="Rd67f9bb058c14079" /><Relationship Type="http://schemas.openxmlformats.org/officeDocument/2006/relationships/slide" Target="/ppt/slides/slide14.xml" Id="Rcaf1c74a85754545" /><Relationship Type="http://schemas.openxmlformats.org/officeDocument/2006/relationships/slide" Target="/ppt/slides/slide15.xml" Id="Rb90987765f054b11" /><Relationship Type="http://schemas.openxmlformats.org/officeDocument/2006/relationships/slide" Target="/ppt/slides/slide16.xml" Id="Rf864df7839f64d49" /><Relationship Type="http://schemas.openxmlformats.org/officeDocument/2006/relationships/slide" Target="/ppt/slides/slide17.xml" Id="R8ad074fefc5f4e72" /><Relationship Type="http://schemas.openxmlformats.org/officeDocument/2006/relationships/slide" Target="/ppt/slides/slide18.xml" Id="R61a1b81a50e84674" /><Relationship Type="http://schemas.openxmlformats.org/officeDocument/2006/relationships/slide" Target="/ppt/slides/slide19.xml" Id="R43b46fb9202e4c4f" /><Relationship Type="http://schemas.openxmlformats.org/officeDocument/2006/relationships/slide" Target="/ppt/slides/slide20.xml" Id="Rf1395486fef14e80" /><Relationship Type="http://schemas.openxmlformats.org/officeDocument/2006/relationships/slide" Target="/ppt/slides/slide21.xml" Id="Rff5640d5b5df4e5b" /><Relationship Type="http://schemas.openxmlformats.org/officeDocument/2006/relationships/slide" Target="/ppt/slides/slide22.xml" Id="Rcc32002c5c114dfa" /><Relationship Type="http://schemas.openxmlformats.org/officeDocument/2006/relationships/slide" Target="/ppt/slides/slide23.xml" Id="Rcbfa0a6407bd463e" /><Relationship Type="http://schemas.openxmlformats.org/officeDocument/2006/relationships/slide" Target="/ppt/slides/slide24.xml" Id="Raf8834194ec24d72" /><Relationship Type="http://schemas.openxmlformats.org/officeDocument/2006/relationships/slide" Target="/ppt/slides/slide25.xml" Id="R8079de84826e4665" /><Relationship Type="http://schemas.openxmlformats.org/officeDocument/2006/relationships/slide" Target="/ppt/slides/slide26.xml" Id="R96b920c830e0453f" /><Relationship Type="http://schemas.openxmlformats.org/officeDocument/2006/relationships/slide" Target="/ppt/slides/slide27.xml" Id="Rd9ed19843c0f4d0b" /><Relationship Type="http://schemas.openxmlformats.org/officeDocument/2006/relationships/slide" Target="/ppt/slides/slide28.xml" Id="Ra224b1c1efaf4299" /><Relationship Type="http://schemas.openxmlformats.org/officeDocument/2006/relationships/slide" Target="/ppt/slides/slide29.xml" Id="R371c241a41984af3" /><Relationship Type="http://schemas.openxmlformats.org/officeDocument/2006/relationships/slide" Target="/ppt/slides/slide30.xml" Id="Rf4a196a1f8984265" /><Relationship Type="http://schemas.openxmlformats.org/officeDocument/2006/relationships/slide" Target="/ppt/slides/slide31.xml" Id="R21b09a49fb544ad4" /><Relationship Type="http://schemas.openxmlformats.org/officeDocument/2006/relationships/slide" Target="/ppt/slides/slide32.xml" Id="R5d55549729024d14" /><Relationship Type="http://schemas.openxmlformats.org/officeDocument/2006/relationships/slide" Target="/ppt/slides/slide33.xml" Id="Ra0e1d0941f1243f1" /><Relationship Type="http://schemas.openxmlformats.org/officeDocument/2006/relationships/slide" Target="/ppt/slides/slide34.xml" Id="R49bde1c44c284a6c" /><Relationship Type="http://schemas.openxmlformats.org/officeDocument/2006/relationships/slide" Target="/ppt/slides/slide35.xml" Id="R6e84c41adda640a6" /><Relationship Type="http://schemas.openxmlformats.org/officeDocument/2006/relationships/slide" Target="/ppt/slides/slide36.xml" Id="Rbbe1761ce89d4d51" /><Relationship Type="http://schemas.openxmlformats.org/officeDocument/2006/relationships/slide" Target="/ppt/slides/slide37.xml" Id="Re6cdf58cce5b4cef" /><Relationship Type="http://schemas.openxmlformats.org/officeDocument/2006/relationships/slide" Target="/ppt/slides/slide38.xml" Id="R42d2f313906d4bd1" /><Relationship Type="http://schemas.openxmlformats.org/officeDocument/2006/relationships/slide" Target="/ppt/slides/slide39.xml" Id="Ra81ba71152cb4bbd" /><Relationship Type="http://schemas.openxmlformats.org/officeDocument/2006/relationships/slide" Target="/ppt/slides/slide40.xml" Id="R69d376acba8042df" /><Relationship Type="http://schemas.openxmlformats.org/officeDocument/2006/relationships/slide" Target="/ppt/slides/slide41.xml" Id="R2900958281094a0d" /><Relationship Type="http://schemas.openxmlformats.org/officeDocument/2006/relationships/slide" Target="/ppt/slides/slide42.xml" Id="Rf4cf5ff2e78e48fc" /><Relationship Type="http://schemas.openxmlformats.org/officeDocument/2006/relationships/slide" Target="/ppt/slides/slide43.xml" Id="R409f5116d3c74670" /><Relationship Type="http://schemas.openxmlformats.org/officeDocument/2006/relationships/slide" Target="/ppt/slides/slide44.xml" Id="R1dccd425b6084748" /><Relationship Type="http://schemas.openxmlformats.org/officeDocument/2006/relationships/slide" Target="/ppt/slides/slide45.xml" Id="R6deb8fbca076446f" /><Relationship Type="http://schemas.openxmlformats.org/officeDocument/2006/relationships/slide" Target="/ppt/slides/slide46.xml" Id="R8e455efcaf0b4e6e" /><Relationship Type="http://schemas.openxmlformats.org/officeDocument/2006/relationships/slide" Target="/ppt/slides/slide47.xml" Id="R46e8332058ba46cc" /><Relationship Type="http://schemas.openxmlformats.org/officeDocument/2006/relationships/slide" Target="/ppt/slides/slide48.xml" Id="Rfcb37f8cc444435b" /><Relationship Type="http://schemas.openxmlformats.org/officeDocument/2006/relationships/slide" Target="/ppt/slides/slide49.xml" Id="R941a2ddf09a242bc" /><Relationship Type="http://schemas.openxmlformats.org/officeDocument/2006/relationships/slide" Target="/ppt/slides/slide50.xml" Id="Rc5c4a5b083134fb0" /><Relationship Type="http://schemas.openxmlformats.org/officeDocument/2006/relationships/slide" Target="/ppt/slides/slide51.xml" Id="Rc7fe0a0b1564429d" /><Relationship Type="http://schemas.openxmlformats.org/officeDocument/2006/relationships/slide" Target="/ppt/slides/slide52.xml" Id="R3b489fa5a1f34e39" /><Relationship Type="http://schemas.openxmlformats.org/officeDocument/2006/relationships/slide" Target="/ppt/slides/slide53.xml" Id="R395e1205acce45f8" /><Relationship Type="http://schemas.openxmlformats.org/officeDocument/2006/relationships/slide" Target="/ppt/slides/slide54.xml" Id="R8564a019aa024c8b" /><Relationship Type="http://schemas.openxmlformats.org/officeDocument/2006/relationships/slide" Target="/ppt/slides/slide55.xml" Id="R70526c1428b24888" /><Relationship Type="http://schemas.openxmlformats.org/officeDocument/2006/relationships/slide" Target="/ppt/slides/slide56.xml" Id="R29488dff8985471c" /><Relationship Type="http://schemas.openxmlformats.org/officeDocument/2006/relationships/slide" Target="/ppt/slides/slide57.xml" Id="R49c3039bb4b54d89" /><Relationship Type="http://schemas.openxmlformats.org/officeDocument/2006/relationships/slide" Target="/ppt/slides/slide58.xml" Id="R208657dff8644c06" /><Relationship Type="http://schemas.openxmlformats.org/officeDocument/2006/relationships/slide" Target="/ppt/slides/slide59.xml" Id="Rab2dd85e24364188" /><Relationship Type="http://schemas.openxmlformats.org/officeDocument/2006/relationships/slide" Target="/ppt/slides/slide60.xml" Id="R596f7a2e3050433b" /><Relationship Type="http://schemas.openxmlformats.org/officeDocument/2006/relationships/slide" Target="/ppt/slides/slide61.xml" Id="R689754a611204999" /><Relationship Type="http://schemas.openxmlformats.org/officeDocument/2006/relationships/slide" Target="/ppt/slides/slide62.xml" Id="Rbe59f20faabe48ec" /><Relationship Type="http://schemas.openxmlformats.org/officeDocument/2006/relationships/slide" Target="/ppt/slides/slide63.xml" Id="Rcb1d8716358b4925" /><Relationship Type="http://schemas.openxmlformats.org/officeDocument/2006/relationships/slide" Target="/ppt/slides/slide64.xml" Id="Rf1730f4dd2294b5e" /><Relationship Type="http://schemas.openxmlformats.org/officeDocument/2006/relationships/slide" Target="/ppt/slides/slide65.xml" Id="Rdcb4e0ccce6e47fb" /><Relationship Type="http://schemas.openxmlformats.org/officeDocument/2006/relationships/slide" Target="/ppt/slides/slide66.xml" Id="R0a6f0edb102448c9" /><Relationship Type="http://schemas.openxmlformats.org/officeDocument/2006/relationships/slide" Target="/ppt/slides/slide67.xml" Id="R64a52a3523b4498c" /><Relationship Type="http://schemas.openxmlformats.org/officeDocument/2006/relationships/slide" Target="/ppt/slides/slide68.xml" Id="Rabf9c006b60e4fd8" /><Relationship Type="http://schemas.openxmlformats.org/officeDocument/2006/relationships/slide" Target="/ppt/slides/slide69.xml" Id="R372ce06e3571425c" /><Relationship Type="http://schemas.openxmlformats.org/officeDocument/2006/relationships/slide" Target="/ppt/slides/slide70.xml" Id="Re801a5bdae134d00" /><Relationship Type="http://schemas.openxmlformats.org/officeDocument/2006/relationships/slide" Target="/ppt/slides/slide71.xml" Id="R3f20a8d8022c4081" /><Relationship Type="http://schemas.openxmlformats.org/officeDocument/2006/relationships/slide" Target="/ppt/slides/slide72.xml" Id="Rc34e2228cbcc4640" /><Relationship Type="http://schemas.openxmlformats.org/officeDocument/2006/relationships/slide" Target="/ppt/slides/slide73.xml" Id="Rcc6ee6d5bcb945d8" /><Relationship Type="http://schemas.openxmlformats.org/officeDocument/2006/relationships/slide" Target="/ppt/slides/slide74.xml" Id="R3948052ed73c49fd" /><Relationship Type="http://schemas.openxmlformats.org/officeDocument/2006/relationships/slide" Target="/ppt/slides/slide75.xml" Id="Rbfc15b34a34b4690" /><Relationship Type="http://schemas.openxmlformats.org/officeDocument/2006/relationships/slide" Target="/ppt/slides/slide76.xml" Id="R62fb54717aab4c61" /><Relationship Type="http://schemas.openxmlformats.org/officeDocument/2006/relationships/slide" Target="/ppt/slides/slide77.xml" Id="R2fa2e074c61d43a1" /><Relationship Type="http://schemas.openxmlformats.org/officeDocument/2006/relationships/slide" Target="/ppt/slides/slide78.xml" Id="R0f4c8723ad624914" /><Relationship Type="http://schemas.openxmlformats.org/officeDocument/2006/relationships/slide" Target="/ppt/slides/slide79.xml" Id="R9d94fa3a784e40b2" /><Relationship Type="http://schemas.openxmlformats.org/officeDocument/2006/relationships/slide" Target="/ppt/slides/slide80.xml" Id="R8448ecd231594c71" /><Relationship Type="http://schemas.openxmlformats.org/officeDocument/2006/relationships/slide" Target="/ppt/slides/slide81.xml" Id="R9c9d7f6eacfc4711" /><Relationship Type="http://schemas.openxmlformats.org/officeDocument/2006/relationships/slide" Target="/ppt/slides/slide82.xml" Id="Rbf5bd19ebd8e43c2" /><Relationship Type="http://schemas.openxmlformats.org/officeDocument/2006/relationships/slide" Target="/ppt/slides/slide83.xml" Id="R20391db0cb1241a3" /><Relationship Type="http://schemas.openxmlformats.org/officeDocument/2006/relationships/slide" Target="/ppt/slides/slide84.xml" Id="R15bd2f63143f4798" /><Relationship Type="http://schemas.openxmlformats.org/officeDocument/2006/relationships/slide" Target="/ppt/slides/slide85.xml" Id="R21240289167c4158" /><Relationship Type="http://schemas.openxmlformats.org/officeDocument/2006/relationships/slide" Target="/ppt/slides/slide86.xml" Id="Ree34cdef82804775" /><Relationship Type="http://schemas.openxmlformats.org/officeDocument/2006/relationships/slide" Target="/ppt/slides/slide87.xml" Id="R8a59252cb4384ac1" /><Relationship Type="http://schemas.openxmlformats.org/officeDocument/2006/relationships/slide" Target="/ppt/slides/slide88.xml" Id="R054cafbcf3454b72" /><Relationship Type="http://schemas.openxmlformats.org/officeDocument/2006/relationships/slide" Target="/ppt/slides/slide89.xml" Id="R39718895a31c4d03" /><Relationship Type="http://schemas.openxmlformats.org/officeDocument/2006/relationships/slide" Target="/ppt/slides/slide90.xml" Id="Rbe6a1b3d5f08486d" /><Relationship Type="http://schemas.openxmlformats.org/officeDocument/2006/relationships/slide" Target="/ppt/slides/slide91.xml" Id="Rd29064b73c5b4fc0" /><Relationship Type="http://schemas.openxmlformats.org/officeDocument/2006/relationships/slide" Target="/ppt/slides/slide92.xml" Id="R63707877fbe44ab2" /><Relationship Type="http://schemas.openxmlformats.org/officeDocument/2006/relationships/slide" Target="/ppt/slides/slide93.xml" Id="R87e02d2465744525" /><Relationship Type="http://schemas.openxmlformats.org/officeDocument/2006/relationships/slide" Target="/ppt/slides/slide94.xml" Id="R2f746e66d5094fa4" /><Relationship Type="http://schemas.openxmlformats.org/officeDocument/2006/relationships/slide" Target="/ppt/slides/slide95.xml" Id="R50d742cf27044843" /><Relationship Type="http://schemas.openxmlformats.org/officeDocument/2006/relationships/slide" Target="/ppt/slides/slide96.xml" Id="R4543527fa8584086" /><Relationship Type="http://schemas.openxmlformats.org/officeDocument/2006/relationships/slide" Target="/ppt/slides/slide97.xml" Id="Rb67c22ca58384c34" /><Relationship Type="http://schemas.openxmlformats.org/officeDocument/2006/relationships/slide" Target="/ppt/slides/slide98.xml" Id="R2ff9db689c3a4987" /><Relationship Type="http://schemas.openxmlformats.org/officeDocument/2006/relationships/slide" Target="/ppt/slides/slide99.xml" Id="R95cf1a47be7d4b5a" /><Relationship Type="http://schemas.openxmlformats.org/officeDocument/2006/relationships/slide" Target="/ppt/slides/slide100.xml" Id="R398269a1e82c4e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bad69a05e247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a44a5b2d32467b" /><Relationship Type="http://schemas.openxmlformats.org/officeDocument/2006/relationships/notesMaster" Target="/ppt/notesMasters/notesMaster1.xml" Id="R741ae7838a3049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198121e6cd4374" /><Relationship Type="http://schemas.openxmlformats.org/officeDocument/2006/relationships/notesMaster" Target="/ppt/notesMasters/notesMaster1.xml" Id="R1c513c25cd9443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7a1c6e460f4639" /><Relationship Type="http://schemas.openxmlformats.org/officeDocument/2006/relationships/notesMaster" Target="/ppt/notesMasters/notesMaster1.xml" Id="R2da2281b624b46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5d55deb27b46f8" /><Relationship Type="http://schemas.openxmlformats.org/officeDocument/2006/relationships/notesMaster" Target="/ppt/notesMasters/notesMaster1.xml" Id="Re9bc9441ecfd41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981d76a3fd4c2f" /><Relationship Type="http://schemas.openxmlformats.org/officeDocument/2006/relationships/notesMaster" Target="/ppt/notesMasters/notesMaster1.xml" Id="Rc421120f409f46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1b128dcd64472f" /><Relationship Type="http://schemas.openxmlformats.org/officeDocument/2006/relationships/notesMaster" Target="/ppt/notesMasters/notesMaster1.xml" Id="R5bdb5364c96341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72fe2c629a4527" /><Relationship Type="http://schemas.openxmlformats.org/officeDocument/2006/relationships/notesMaster" Target="/ppt/notesMasters/notesMaster1.xml" Id="R9a6c2d2ce5394d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d88bbfe0554ca8" /><Relationship Type="http://schemas.openxmlformats.org/officeDocument/2006/relationships/notesMaster" Target="/ppt/notesMasters/notesMaster1.xml" Id="R2d88835b863f4e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d82aab370e491b" /><Relationship Type="http://schemas.openxmlformats.org/officeDocument/2006/relationships/notesMaster" Target="/ppt/notesMasters/notesMaster1.xml" Id="R7fc4d15901244e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8ee8a19e994303" /><Relationship Type="http://schemas.openxmlformats.org/officeDocument/2006/relationships/notesMaster" Target="/ppt/notesMasters/notesMaster1.xml" Id="R004b0f1661614d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0c3818e0d349b1" /><Relationship Type="http://schemas.openxmlformats.org/officeDocument/2006/relationships/notesMaster" Target="/ppt/notesMasters/notesMaster1.xml" Id="R168e4964d9b645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f681cab3de454c" /><Relationship Type="http://schemas.openxmlformats.org/officeDocument/2006/relationships/notesMaster" Target="/ppt/notesMasters/notesMaster1.xml" Id="R334e99366a9846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73001043604bee" /><Relationship Type="http://schemas.openxmlformats.org/officeDocument/2006/relationships/notesMaster" Target="/ppt/notesMasters/notesMaster1.xml" Id="R6edf1eef1d6a43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4fbc89e0b34b56" /><Relationship Type="http://schemas.openxmlformats.org/officeDocument/2006/relationships/notesMaster" Target="/ppt/notesMasters/notesMaster1.xml" Id="R28439d86f10844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29eb069fc44c1e" /><Relationship Type="http://schemas.openxmlformats.org/officeDocument/2006/relationships/notesMaster" Target="/ppt/notesMasters/notesMaster1.xml" Id="Rd18ce9e71a454b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07024caf164c46" /><Relationship Type="http://schemas.openxmlformats.org/officeDocument/2006/relationships/notesMaster" Target="/ppt/notesMasters/notesMaster1.xml" Id="R2781585461d94a7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11fcce2d8543b4" /><Relationship Type="http://schemas.openxmlformats.org/officeDocument/2006/relationships/notesMaster" Target="/ppt/notesMasters/notesMaster1.xml" Id="R7492c26455604b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9e5b85fcc246b2" /><Relationship Type="http://schemas.openxmlformats.org/officeDocument/2006/relationships/notesMaster" Target="/ppt/notesMasters/notesMaster1.xml" Id="R0fc94cce8c95457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f2ca1395ab4936" /><Relationship Type="http://schemas.openxmlformats.org/officeDocument/2006/relationships/notesMaster" Target="/ppt/notesMasters/notesMaster1.xml" Id="R6cff6cec0a6041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d9da451927c4218" /><Relationship Type="http://schemas.openxmlformats.org/officeDocument/2006/relationships/notesMaster" Target="/ppt/notesMasters/notesMaster1.xml" Id="R741cf87fed7d42d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196496e4d364c7c" /><Relationship Type="http://schemas.openxmlformats.org/officeDocument/2006/relationships/notesMaster" Target="/ppt/notesMasters/notesMaster1.xml" Id="R0f2aa7492c044d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d3fb7f127c24446" /><Relationship Type="http://schemas.openxmlformats.org/officeDocument/2006/relationships/notesMaster" Target="/ppt/notesMasters/notesMaster1.xml" Id="R2f4a835f0c20461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2f8e96d594d473b" /><Relationship Type="http://schemas.openxmlformats.org/officeDocument/2006/relationships/notesMaster" Target="/ppt/notesMasters/notesMaster1.xml" Id="Rb9a4e37e7d2b45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48383e205084abb" /><Relationship Type="http://schemas.openxmlformats.org/officeDocument/2006/relationships/notesMaster" Target="/ppt/notesMasters/notesMaster1.xml" Id="R5dec90f18290496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351853761384c14" /><Relationship Type="http://schemas.openxmlformats.org/officeDocument/2006/relationships/notesMaster" Target="/ppt/notesMasters/notesMaster1.xml" Id="Rb761d7b6656248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7d59337d418403a" /><Relationship Type="http://schemas.openxmlformats.org/officeDocument/2006/relationships/notesMaster" Target="/ppt/notesMasters/notesMaster1.xml" Id="Rc4570526096547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9e69a509db347dd" /><Relationship Type="http://schemas.openxmlformats.org/officeDocument/2006/relationships/notesMaster" Target="/ppt/notesMasters/notesMaster1.xml" Id="Rda0020863370426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b9109b7d9e14e30" /><Relationship Type="http://schemas.openxmlformats.org/officeDocument/2006/relationships/notesMaster" Target="/ppt/notesMasters/notesMaster1.xml" Id="Rbdaeae1d40494f0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b64879ce0894a2b" /><Relationship Type="http://schemas.openxmlformats.org/officeDocument/2006/relationships/notesMaster" Target="/ppt/notesMasters/notesMaster1.xml" Id="R38462c8f3dab43b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a371f46b75e4473" /><Relationship Type="http://schemas.openxmlformats.org/officeDocument/2006/relationships/notesMaster" Target="/ppt/notesMasters/notesMaster1.xml" Id="Re33fa98f7a394c0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bcb52a16f246b7" /><Relationship Type="http://schemas.openxmlformats.org/officeDocument/2006/relationships/notesMaster" Target="/ppt/notesMasters/notesMaster1.xml" Id="R363ffabc44f3411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ef1b3347c34b15" /><Relationship Type="http://schemas.openxmlformats.org/officeDocument/2006/relationships/notesMaster" Target="/ppt/notesMasters/notesMaster1.xml" Id="R715241dada20481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9155062bde34882" /><Relationship Type="http://schemas.openxmlformats.org/officeDocument/2006/relationships/notesMaster" Target="/ppt/notesMasters/notesMaster1.xml" Id="R84ff559156284da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247e79f505845b7" /><Relationship Type="http://schemas.openxmlformats.org/officeDocument/2006/relationships/notesMaster" Target="/ppt/notesMasters/notesMaster1.xml" Id="Rc6d56c3f396b481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16cfc5b207c423a" /><Relationship Type="http://schemas.openxmlformats.org/officeDocument/2006/relationships/notesMaster" Target="/ppt/notesMasters/notesMaster1.xml" Id="Rf59e33963b3643b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8e43ac488fc4005" /><Relationship Type="http://schemas.openxmlformats.org/officeDocument/2006/relationships/notesMaster" Target="/ppt/notesMasters/notesMaster1.xml" Id="R5247e27011214ee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9c3d4d9a0e14bf2" /><Relationship Type="http://schemas.openxmlformats.org/officeDocument/2006/relationships/notesMaster" Target="/ppt/notesMasters/notesMaster1.xml" Id="R8a9053115960415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e417ab6c5bb42a3" /><Relationship Type="http://schemas.openxmlformats.org/officeDocument/2006/relationships/notesMaster" Target="/ppt/notesMasters/notesMaster1.xml" Id="Re656b017f170456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cdbc40a4cc74c77" /><Relationship Type="http://schemas.openxmlformats.org/officeDocument/2006/relationships/notesMaster" Target="/ppt/notesMasters/notesMaster1.xml" Id="R2e79017c79214e6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47d6e5bebbf4f82" /><Relationship Type="http://schemas.openxmlformats.org/officeDocument/2006/relationships/notesMaster" Target="/ppt/notesMasters/notesMaster1.xml" Id="R4c56cc9d68be421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28703bd31944df4" /><Relationship Type="http://schemas.openxmlformats.org/officeDocument/2006/relationships/notesMaster" Target="/ppt/notesMasters/notesMaster1.xml" Id="R5946734320b140e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a96eb93774b43f3" /><Relationship Type="http://schemas.openxmlformats.org/officeDocument/2006/relationships/notesMaster" Target="/ppt/notesMasters/notesMaster1.xml" Id="Rab680c34055541a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2c6ae6661cd4e9f" /><Relationship Type="http://schemas.openxmlformats.org/officeDocument/2006/relationships/notesMaster" Target="/ppt/notesMasters/notesMaster1.xml" Id="Rf0c793f4c8044a0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45d6a1c941f41c6" /><Relationship Type="http://schemas.openxmlformats.org/officeDocument/2006/relationships/notesMaster" Target="/ppt/notesMasters/notesMaster1.xml" Id="R873494b81a51464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bfb447781b14399" /><Relationship Type="http://schemas.openxmlformats.org/officeDocument/2006/relationships/notesMaster" Target="/ppt/notesMasters/notesMaster1.xml" Id="Rf9c735959f82495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83ffbd760504d85" /><Relationship Type="http://schemas.openxmlformats.org/officeDocument/2006/relationships/notesMaster" Target="/ppt/notesMasters/notesMaster1.xml" Id="R6d9c6f56e95349d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2998fed92334b31" /><Relationship Type="http://schemas.openxmlformats.org/officeDocument/2006/relationships/notesMaster" Target="/ppt/notesMasters/notesMaster1.xml" Id="R9771fc27c19e409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ac1d966eaab4581" /><Relationship Type="http://schemas.openxmlformats.org/officeDocument/2006/relationships/notesMaster" Target="/ppt/notesMasters/notesMaster1.xml" Id="Rc0a6c0f3e7854ba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c2e7c743bd64a98" /><Relationship Type="http://schemas.openxmlformats.org/officeDocument/2006/relationships/notesMaster" Target="/ppt/notesMasters/notesMaster1.xml" Id="R8b94aa19457745b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4f4becdcdcb46f7" /><Relationship Type="http://schemas.openxmlformats.org/officeDocument/2006/relationships/notesMaster" Target="/ppt/notesMasters/notesMaster1.xml" Id="R55ea72af82c749d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f5ce49b0d8046a7" /><Relationship Type="http://schemas.openxmlformats.org/officeDocument/2006/relationships/notesMaster" Target="/ppt/notesMasters/notesMaster1.xml" Id="R75de47a015db452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81a5227193f4cfc" /><Relationship Type="http://schemas.openxmlformats.org/officeDocument/2006/relationships/notesMaster" Target="/ppt/notesMasters/notesMaster1.xml" Id="R5660735106174e9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d78c87ac0ea4266" /><Relationship Type="http://schemas.openxmlformats.org/officeDocument/2006/relationships/notesMaster" Target="/ppt/notesMasters/notesMaster1.xml" Id="Ra23bc8841b8d49a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b3a1ab7468449f4" /><Relationship Type="http://schemas.openxmlformats.org/officeDocument/2006/relationships/notesMaster" Target="/ppt/notesMasters/notesMaster1.xml" Id="R97b3d12a9e1c43e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ad0994720e54c29" /><Relationship Type="http://schemas.openxmlformats.org/officeDocument/2006/relationships/notesMaster" Target="/ppt/notesMasters/notesMaster1.xml" Id="Rd1f9cdaa520544b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bf452377ef148f2" /><Relationship Type="http://schemas.openxmlformats.org/officeDocument/2006/relationships/notesMaster" Target="/ppt/notesMasters/notesMaster1.xml" Id="Rc7de95f53a40434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08fd9319e95432a" /><Relationship Type="http://schemas.openxmlformats.org/officeDocument/2006/relationships/notesMaster" Target="/ppt/notesMasters/notesMaster1.xml" Id="Rf0098e74acb649c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fba8e6d4b444649" /><Relationship Type="http://schemas.openxmlformats.org/officeDocument/2006/relationships/notesMaster" Target="/ppt/notesMasters/notesMaster1.xml" Id="Ra401e9aac21e439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adc2d4185b748bf" /><Relationship Type="http://schemas.openxmlformats.org/officeDocument/2006/relationships/notesMaster" Target="/ppt/notesMasters/notesMaster1.xml" Id="R752f67e5a20e429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a35c013581449f5" /><Relationship Type="http://schemas.openxmlformats.org/officeDocument/2006/relationships/notesMaster" Target="/ppt/notesMasters/notesMaster1.xml" Id="Rde29ea969de84a7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86b60cfc3ab4954" /><Relationship Type="http://schemas.openxmlformats.org/officeDocument/2006/relationships/notesMaster" Target="/ppt/notesMasters/notesMaster1.xml" Id="R1afe0df133604ae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d9b66e62311402d" /><Relationship Type="http://schemas.openxmlformats.org/officeDocument/2006/relationships/notesMaster" Target="/ppt/notesMasters/notesMaster1.xml" Id="R9232e5d034df4acc"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b32a081141e459f" /><Relationship Type="http://schemas.openxmlformats.org/officeDocument/2006/relationships/notesMaster" Target="/ppt/notesMasters/notesMaster1.xml" Id="R9e53a8077b854897"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4edc845c9ca54096" /><Relationship Type="http://schemas.openxmlformats.org/officeDocument/2006/relationships/notesMaster" Target="/ppt/notesMasters/notesMaster1.xml" Id="R65ba14bdceae45a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0d0be88e5414bfa" /><Relationship Type="http://schemas.openxmlformats.org/officeDocument/2006/relationships/notesMaster" Target="/ppt/notesMasters/notesMaster1.xml" Id="R38567b4b4dc1480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4325a7cedcf4b76" /><Relationship Type="http://schemas.openxmlformats.org/officeDocument/2006/relationships/notesMaster" Target="/ppt/notesMasters/notesMaster1.xml" Id="Rf9da10f1460c468f"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98fe95ae5f134719" /><Relationship Type="http://schemas.openxmlformats.org/officeDocument/2006/relationships/notesMaster" Target="/ppt/notesMasters/notesMaster1.xml" Id="Rca0816ba00254b5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4b004d7ecb0c4f8a" /><Relationship Type="http://schemas.openxmlformats.org/officeDocument/2006/relationships/notesMaster" Target="/ppt/notesMasters/notesMaster1.xml" Id="R02610bac42244bd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e41a208cffbb4b90" /><Relationship Type="http://schemas.openxmlformats.org/officeDocument/2006/relationships/notesMaster" Target="/ppt/notesMasters/notesMaster1.xml" Id="R50c9341c73f74aaf"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c9b8db3d9c34dd4" /><Relationship Type="http://schemas.openxmlformats.org/officeDocument/2006/relationships/notesMaster" Target="/ppt/notesMasters/notesMaster1.xml" Id="R1202f013181c495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a6d45fa9ed24e1a" /><Relationship Type="http://schemas.openxmlformats.org/officeDocument/2006/relationships/notesMaster" Target="/ppt/notesMasters/notesMaster1.xml" Id="R9de327c89d5741dd"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d9e38ae75674371" /><Relationship Type="http://schemas.openxmlformats.org/officeDocument/2006/relationships/notesMaster" Target="/ppt/notesMasters/notesMaster1.xml" Id="R9eff9f62c0c24844"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8b537805d04c4a81" /><Relationship Type="http://schemas.openxmlformats.org/officeDocument/2006/relationships/notesMaster" Target="/ppt/notesMasters/notesMaster1.xml" Id="Rb9673a89a1284c7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55065229620470c" /><Relationship Type="http://schemas.openxmlformats.org/officeDocument/2006/relationships/notesMaster" Target="/ppt/notesMasters/notesMaster1.xml" Id="R8054b3929b29419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63ac7cbf97e4af2" /><Relationship Type="http://schemas.openxmlformats.org/officeDocument/2006/relationships/notesMaster" Target="/ppt/notesMasters/notesMaster1.xml" Id="R3b129ea4f52b4f1b"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bf6d5d6c68d248ee" /><Relationship Type="http://schemas.openxmlformats.org/officeDocument/2006/relationships/notesMaster" Target="/ppt/notesMasters/notesMaster1.xml" Id="R18c92cb90d7440c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a44a70a828bb41e8" /><Relationship Type="http://schemas.openxmlformats.org/officeDocument/2006/relationships/notesMaster" Target="/ppt/notesMasters/notesMaster1.xml" Id="R38fba9d8cb05405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8a259fc99a77492d" /><Relationship Type="http://schemas.openxmlformats.org/officeDocument/2006/relationships/notesMaster" Target="/ppt/notesMasters/notesMaster1.xml" Id="R3f890afb244e4de0"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b597c8ad52734ffc" /><Relationship Type="http://schemas.openxmlformats.org/officeDocument/2006/relationships/notesMaster" Target="/ppt/notesMasters/notesMaster1.xml" Id="R6425b18ddf1f4c86"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5de1ae005e094eb9" /><Relationship Type="http://schemas.openxmlformats.org/officeDocument/2006/relationships/notesMaster" Target="/ppt/notesMasters/notesMaster1.xml" Id="Rbf20159313464dc4"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596489febbb84da7" /><Relationship Type="http://schemas.openxmlformats.org/officeDocument/2006/relationships/notesMaster" Target="/ppt/notesMasters/notesMaster1.xml" Id="R1f993bdba8064d2f"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e67338d4d0cd4870" /><Relationship Type="http://schemas.openxmlformats.org/officeDocument/2006/relationships/notesMaster" Target="/ppt/notesMasters/notesMaster1.xml" Id="R89022eb3e59f44e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01a275ca2be44aa6" /><Relationship Type="http://schemas.openxmlformats.org/officeDocument/2006/relationships/notesMaster" Target="/ppt/notesMasters/notesMaster1.xml" Id="R8243b38a7ba94d9b"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fed620f005644c03" /><Relationship Type="http://schemas.openxmlformats.org/officeDocument/2006/relationships/notesMaster" Target="/ppt/notesMasters/notesMaster1.xml" Id="R4164cecb9ea741eb"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99d88d08eb44c5a" /><Relationship Type="http://schemas.openxmlformats.org/officeDocument/2006/relationships/notesMaster" Target="/ppt/notesMasters/notesMaster1.xml" Id="R7704e7bc86ed4773"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5ff9cd53c316483a" /><Relationship Type="http://schemas.openxmlformats.org/officeDocument/2006/relationships/notesMaster" Target="/ppt/notesMasters/notesMaster1.xml" Id="R2c7886f5dc3948a8"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8caa9d610a074a79" /><Relationship Type="http://schemas.openxmlformats.org/officeDocument/2006/relationships/notesMaster" Target="/ppt/notesMasters/notesMaster1.xml" Id="R207b6f8965544bcf"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49fde00181b846d0" /><Relationship Type="http://schemas.openxmlformats.org/officeDocument/2006/relationships/notesMaster" Target="/ppt/notesMasters/notesMaster1.xml" Id="R58563e9e731047f8"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0d78759c02a44ce1" /><Relationship Type="http://schemas.openxmlformats.org/officeDocument/2006/relationships/notesMaster" Target="/ppt/notesMasters/notesMaster1.xml" Id="R61e967ed5d2f456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7f10d339f64c45eb" /><Relationship Type="http://schemas.openxmlformats.org/officeDocument/2006/relationships/notesMaster" Target="/ppt/notesMasters/notesMaster1.xml" Id="R8cedf2b8201645e9"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f8a34a80436345d9" /><Relationship Type="http://schemas.openxmlformats.org/officeDocument/2006/relationships/notesMaster" Target="/ppt/notesMasters/notesMaster1.xml" Id="Rda633a8b745e4db7"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c88cff112b8b4417" /><Relationship Type="http://schemas.openxmlformats.org/officeDocument/2006/relationships/notesMaster" Target="/ppt/notesMasters/notesMaster1.xml" Id="R7188aa35bec2409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75c708d289634439" /><Relationship Type="http://schemas.openxmlformats.org/officeDocument/2006/relationships/notesMaster" Target="/ppt/notesMasters/notesMaster1.xml" Id="Rc111350e8d394bc8"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17084c93d576446e" /><Relationship Type="http://schemas.openxmlformats.org/officeDocument/2006/relationships/notesMaster" Target="/ppt/notesMasters/notesMaster1.xml" Id="R771f015b4fc74ca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a22cafcb17dc447b" /><Relationship Type="http://schemas.openxmlformats.org/officeDocument/2006/relationships/notesMaster" Target="/ppt/notesMasters/notesMaster1.xml" Id="R4ef0917c48b74367"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b1d96b47e6934167" /><Relationship Type="http://schemas.openxmlformats.org/officeDocument/2006/relationships/notesMaster" Target="/ppt/notesMasters/notesMaster1.xml" Id="R139796abb9b645df"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acd11ef2eb994070" /><Relationship Type="http://schemas.openxmlformats.org/officeDocument/2006/relationships/notesMaster" Target="/ppt/notesMasters/notesMaster1.xml" Id="R7365bdbf503140b1"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362cf94ddcce4dd8" /><Relationship Type="http://schemas.openxmlformats.org/officeDocument/2006/relationships/notesMaster" Target="/ppt/notesMasters/notesMaster1.xml" Id="Rb78675b33291439f"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9fa0416bf0ce4203" /><Relationship Type="http://schemas.openxmlformats.org/officeDocument/2006/relationships/notesMaster" Target="/ppt/notesMasters/notesMaster1.xml" Id="R7e444b1ee60e45ff"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c1b75fa9aba74440" /><Relationship Type="http://schemas.openxmlformats.org/officeDocument/2006/relationships/notesMaster" Target="/ppt/notesMasters/notesMaster1.xml" Id="Rba57788f451740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Сьогодні розглянемо рішення, у яких об’єкти не можна ділити: кількість віртуальних машин, вибір завдань і порядок відвідування майданчиків. Основним прикладом буде маршрут інженера між комп’ютерними системами. Побудуємо модель, простежимо роботу алгоритмів і перевіримо отриманий результат.</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Окрема лекція для студентів ІТ і комп’ютерних наук. Навчальні дані VM, GPU та TSP умовні. Основний матеріал: типи рішень, модель TSP, підцикли, навчальний алгоритм і перевірка. Деталі Python та зіставлення методів можна опрацювати на практикумі.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Спочатку визначимо типи дискретних задач і змінних. Потім побудуємо модель комівояжера та розв’яжемо її алгоритмом Літтла і засобами Python. Наприкінці порівняємо точні методи з евристиками та з’ясуємо, які результати справді доводять оптимальність маршруту.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Для одного заняття візьміть вступ, модель TSP, чотири кроки відсічення та результати. Решта коду й порівняння методів придатні для практикуму.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Тип змінної визначає зміст рішення. Кількість віртуальних машин має бути цілою, а рішення запускати завдання приймає значення нуль або один. Якщо одночасно обираємо сервери й розподіляємо між ними неперервний потік даних, отримуємо змішану модель.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задачі покриття обираємо набір тестів, у задачі призначення розподіляємо роботи між вузлами. Розкрій визначає кількість заготовок і способи їх розрізання, а комівояжер визначає порядок обходу. В усіх випадках змінні дискретні, але обмеження описують різні вимоги.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Класифікація є переліком типових задач, не вичерпним списком. Навчальні ІТ-приклади створені для курсу.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Для покриття кожну функцію потрібно перевірити хоча б одним тестом. Наприклад, T1 і T3 разом охоплюють усі чотири функції, тому достатньо двох тестів. У базовій квадратній задачі призначення вимога інша: кожна робота й кожен виконавець мають рівно одне призначення.</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Синтетична матриця тестів. x1+x4&gt;=1 для входу, x1+x2&gt;=1 для пошуку, x2+x3&gt;=1 для оплати, x3+x4&gt;=1 для звіту. min sum(x), x binary. Мінімум 2: T1+T3 або T2+T4. Для квадратної задачі призначень кожна робота та виконавець мають рівно одне призначення.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 попередньому слайді достатньо двох тестів. Але за різної тривалості набори мають різну ціну: T1 і T3 займають п’ятнадцять хвилин, T2 і T4 лише сім. Тому для регресії мінімізуватимемо час послідовного запуску.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Розглянемо сервіс керування комп’ютерними системами. Треба перевірити вісім властивостей, а права доступу та відновлення покрити двома різними тестами. Додатково обмежуємо складність одного тесту, кількість тестів у наборі та загальний час.</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Кожен рядок описує готовий тест, а одиниця показує, яку властивість він перевіряє. Праворуч наведено час і число перевірюваних властивостей. T9 охоплює п’ять властивостей, тому при ліміті три його не дозволено обирати.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a:p xmlns:a="http://schemas.openxmlformats.org/drawingml/2006/main">
            <a:r>
              <a:t/>
            </a:r>
          </a:p>
          <a:p xmlns:a="http://schemas.openxmlformats.org/drawingml/2006/main">
            <a:r>
              <a:t>На слайді тести в рядках. У Python A має властивості в рядках і тести в стовпцях: це транспонована матриця. Швидкий T9 умовно перевіряє п’ять властивостей в одному короткому сценарії; тривалість і число перевірок не зобов’язані бути пропорційними.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Змінна x показує, чи запускаємо конкретний тест. Для кожної властивості додаємо умову покриття, а для критичної властивості підвищуємо праву частину до двох. Окремі обмеження контролюють кількість тестів та сумарний час.</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Кількість властивостей у готовому тесті вже задана матрицею. Якщо вона перевищує K, цей тест має отримати нульову змінну вибору. Це обмеження стосується кожного тесту окремо; весь набір усе одно повинен покрити всі вісім властивостей.</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a:p xmlns:a="http://schemas.openxmlformats.org/drawingml/2006/main">
            <a:r>
              <a:t/>
            </a:r>
          </a:p>
          <a:p xmlns:a="http://schemas.openxmlformats.org/drawingml/2006/main">
            <a:r>
              <a:t>qj = сума aij за всіма властивостями i. Для готових тестів qj — параметр, а не змінна. Еквівалентно: верхня межа xj дорівнює 0, якщо qj&gt;K, і 1 інакше. Не можна просто прибрати частину перевірок T9: це був би новий тест, який треба окремо описати та перевірити.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Матриця a визначає, що перевіряє кожен тест, t задає його тривалість, d задає потрібну кратність покриття. Ціль мінімізує час. Ліміти K, N і B окремо задають складність одного тесту, розмір набору та бюджет запуску.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Спочатку описуємо властивості й заповнюємо матрицю на основі реальних перевірок. Потім забороняємо тести, що перевищують K, і будуємо бінарну модель. Розв’язувач знаходить набір, а програма незалежно перевіряє його покриття та ресурси.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 цьому слайді перенесено матрицю та параметри в NumPy. Зверніть увагу на орієнтацію: властивості розміщено в рядках, тести у стовпцях. Вектор need вимагає подвійного покриття F2 і F7; усі наступні фрагменти є продовженням однієї програми.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a:p xmlns:a="http://schemas.openxmlformats.org/drawingml/2006/main">
            <a:r>
              <a:t/>
            </a:r>
          </a:p>
          <a:p xmlns:a="http://schemas.openxmlformats.org/drawingml/2006/main">
            <a:r>
              <a:t>Повна програма test_coverage_selection.py:</a:t>
            </a:r>
          </a:p>
          <a:p xmlns:a="http://schemas.openxmlformats.org/drawingml/2006/main">
            <a:r>
              <a:t>"""Вибір регресійних тестів. Python 3.10+, NumPy, SciPy &gt;= 1.9.</a:t>
            </a:r>
          </a:p>
          <a:p xmlns:a="http://schemas.openxmlformats.org/drawingml/2006/main">
            <a:r>
              <a:t/>
            </a:r>
          </a:p>
          <a:p xmlns:a="http://schemas.openxmlformats.org/drawingml/2006/main">
            <a:r>
              <a:t>Запуск: python test_coverage_selection.py</a:t>
            </a:r>
          </a:p>
          <a:p xmlns:a="http://schemas.openxmlformats.org/drawingml/2006/main">
            <a:r>
              <a:t>Умовні навчальні дані. Час описує послідовний запуск.</a:t>
            </a:r>
          </a:p>
          <a:p xmlns:a="http://schemas.openxmlformats.org/drawingml/2006/main">
            <a:r>
              <a:t>"""</a:t>
            </a:r>
          </a:p>
          <a:p xmlns:a="http://schemas.openxmlformats.org/drawingml/2006/main">
            <a:r>
              <a:t>import numpy as np</a:t>
            </a:r>
          </a:p>
          <a:p xmlns:a="http://schemas.openxmlformats.org/drawingml/2006/main">
            <a:r>
              <a:t>from scipy.optimize import milp, Bounds, LinearConstraint</a:t>
            </a:r>
          </a:p>
          <a:p xmlns:a="http://schemas.openxmlformats.org/drawingml/2006/main">
            <a:r>
              <a:t/>
            </a:r>
          </a:p>
          <a:p xmlns:a="http://schemas.openxmlformats.org/drawingml/2006/main">
            <a:r>
              <a:t># Рядки F1-F8 — властивості; стовпці T1-T10 — готові тести.</a:t>
            </a:r>
          </a:p>
          <a:p xmlns:a="http://schemas.openxmlformats.org/drawingml/2006/main">
            <a:r>
              <a:t>A = np.array([</a:t>
            </a:r>
          </a:p>
          <a:p xmlns:a="http://schemas.openxmlformats.org/drawingml/2006/main">
            <a:r>
              <a:t>    [1, 1, 0, 0, 0, 0, 1, 0, 1, 0],  # F1: вхід</a:t>
            </a:r>
          </a:p>
          <a:p xmlns:a="http://schemas.openxmlformats.org/drawingml/2006/main">
            <a:r>
              <a:t>    [1, 0, 1, 0, 0, 0, 0, 1, 1, 0],  # F2: права доступу</a:t>
            </a:r>
          </a:p>
          <a:p xmlns:a="http://schemas.openxmlformats.org/drawingml/2006/main">
            <a:r>
              <a:t>    [1, 0, 0, 1, 0, 0, 0, 1, 1, 0],  # F3: оновлення токена</a:t>
            </a:r>
          </a:p>
          <a:p xmlns:a="http://schemas.openxmlformats.org/drawingml/2006/main">
            <a:r>
              <a:t>    [0, 1, 0, 0, 1, 0, 0, 0, 1, 1],  # F4: конфігурація</a:t>
            </a:r>
          </a:p>
          <a:p xmlns:a="http://schemas.openxmlformats.org/drawingml/2006/main">
            <a:r>
              <a:t>    [0, 0, 1, 0, 1, 1, 0, 0, 1, 0],  # F5: телеметрія</a:t>
            </a:r>
          </a:p>
          <a:p xmlns:a="http://schemas.openxmlformats.org/drawingml/2006/main">
            <a:r>
              <a:t>    [0, 0, 0, 1, 1, 0, 1, 0, 0, 0],  # F6: повтор запиту</a:t>
            </a:r>
          </a:p>
          <a:p xmlns:a="http://schemas.openxmlformats.org/drawingml/2006/main">
            <a:r>
              <a:t>    [0, 0, 0, 0, 0, 1, 1, 1, 0, 1],  # F7: відновлення</a:t>
            </a:r>
          </a:p>
          <a:p xmlns:a="http://schemas.openxmlformats.org/drawingml/2006/main">
            <a:r>
              <a:t>    [0, 1, 1, 1, 0, 1, 0, 0, 0, 0],  # F8: журнал аудиту</a:t>
            </a:r>
          </a:p>
          <a:p xmlns:a="http://schemas.openxmlformats.org/drawingml/2006/main">
            <a:r>
              <a:t>], dtype=int)</a:t>
            </a:r>
          </a:p>
          <a:p xmlns:a="http://schemas.openxmlformats.org/drawingml/2006/main">
            <a:r>
              <a:t>time = np.array([5, 4, 4, 3, 4, 5, 4, 4, 2, 2])</a:t>
            </a:r>
          </a:p>
          <a:p xmlns:a="http://schemas.openxmlformats.org/drawingml/2006/main">
            <a:r>
              <a:t>need = np.array([1, 2, 1, 1, 1, 1, 2, 1])</a:t>
            </a:r>
          </a:p>
          <a:p xmlns:a="http://schemas.openxmlformats.org/drawingml/2006/main">
            <a:r>
              <a:t>K, N, B = 3, 5, 16  # Властивостей у тесті, тестів у наборі, хвилин</a:t>
            </a:r>
          </a:p>
          <a:p xmlns:a="http://schemas.openxmlformats.org/drawingml/2006/main">
            <a:r>
              <a:t/>
            </a:r>
          </a:p>
          <a:p xmlns:a="http://schemas.openxmlformats.org/drawingml/2006/main">
            <a:r>
              <a:t># Готовий тест виконує всі свої перевірки. Змінювати його склад не можна.</a:t>
            </a:r>
          </a:p>
          <a:p xmlns:a="http://schemas.openxmlformats.org/drawingml/2006/main">
            <a:r>
              <a:t>q = A.sum(axis=0)</a:t>
            </a:r>
          </a:p>
          <a:p xmlns:a="http://schemas.openxmlformats.org/drawingml/2006/main">
            <a:r>
              <a:t>allowed = (q &lt;= K).astype(int)  # Верхня межа 0 забороняє широкий тест</a:t>
            </a:r>
          </a:p>
          <a:p xmlns:a="http://schemas.openxmlformats.org/drawingml/2006/main">
            <a:r>
              <a:t>constraints = [</a:t>
            </a:r>
          </a:p>
          <a:p xmlns:a="http://schemas.openxmlformats.org/drawingml/2006/main">
            <a:r>
              <a:t>    LinearConstraint(A, need, np.inf),               # Покриття</a:t>
            </a:r>
          </a:p>
          <a:p xmlns:a="http://schemas.openxmlformats.org/drawingml/2006/main">
            <a:r>
              <a:t>    LinearConstraint(np.ones((1, 10)), -np.inf, N),   # Число тестів</a:t>
            </a:r>
          </a:p>
          <a:p xmlns:a="http://schemas.openxmlformats.org/drawingml/2006/main">
            <a:r>
              <a:t>    LinearConstraint(time.reshape(1, -1), -np.inf, B),  # Час</a:t>
            </a:r>
          </a:p>
          <a:p xmlns:a="http://schemas.openxmlformats.org/drawingml/2006/main">
            <a:r>
              <a:t>]</a:t>
            </a:r>
          </a:p>
          <a:p xmlns:a="http://schemas.openxmlformats.org/drawingml/2006/main">
            <a:r>
              <a:t>r = milp(</a:t>
            </a:r>
          </a:p>
          <a:p xmlns:a="http://schemas.openxmlformats.org/drawingml/2006/main">
            <a:r>
              <a:t>    c=time,</a:t>
            </a:r>
          </a:p>
          <a:p xmlns:a="http://schemas.openxmlformats.org/drawingml/2006/main">
            <a:r>
              <a:t>    integrality=np.ones(10),</a:t>
            </a:r>
          </a:p>
          <a:p xmlns:a="http://schemas.openxmlformats.org/drawingml/2006/main">
            <a:r>
              <a:t>    bounds=Bounds(np.zeros(10), allowed),</a:t>
            </a:r>
          </a:p>
          <a:p xmlns:a="http://schemas.openxmlformats.org/drawingml/2006/main">
            <a:r>
              <a:t>    constraints=constraints,</a:t>
            </a:r>
          </a:p>
          <a:p xmlns:a="http://schemas.openxmlformats.org/drawingml/2006/main">
            <a:r>
              <a:t>    options={"mip_rel_gap": 0.0},</a:t>
            </a:r>
          </a:p>
          <a:p xmlns:a="http://schemas.openxmlformats.org/drawingml/2006/main">
            <a:r>
              <a:t>)</a:t>
            </a:r>
          </a:p>
          <a:p xmlns:a="http://schemas.openxmlformats.org/drawingml/2006/main">
            <a:r>
              <a:t>if not r.success or r.x is None:</a:t>
            </a:r>
          </a:p>
          <a:p xmlns:a="http://schemas.openxmlformats.org/drawingml/2006/main">
            <a:r>
              <a:t>    raise RuntimeError(f"Набір не знайдено: status={r.status}; {r.message}")</a:t>
            </a:r>
          </a:p>
          <a:p xmlns:a="http://schemas.openxmlformats.org/drawingml/2006/main">
            <a:r>
              <a:t/>
            </a:r>
          </a:p>
          <a:p xmlns:a="http://schemas.openxmlformats.org/drawingml/2006/main">
            <a:r>
              <a:t>x = (r.x &gt; 0.5).astype(int)</a:t>
            </a:r>
          </a:p>
          <a:p xmlns:a="http://schemas.openxmlformats.org/drawingml/2006/main">
            <a:r>
              <a:t>coverage = A @ x</a:t>
            </a:r>
          </a:p>
          <a:p xmlns:a="http://schemas.openxmlformats.org/drawingml/2006/main">
            <a:r>
              <a:t>assert np.allclose(r.x, x)</a:t>
            </a:r>
          </a:p>
          <a:p xmlns:a="http://schemas.openxmlformats.org/drawingml/2006/main">
            <a:r>
              <a:t>assert (coverage &gt;= need).all()</a:t>
            </a:r>
          </a:p>
          <a:p xmlns:a="http://schemas.openxmlformats.org/drawingml/2006/main">
            <a:r>
              <a:t>assert (q * x &lt;= K).all() and x.sum() &lt;= N and time @ x &lt;= B</a:t>
            </a:r>
          </a:p>
          <a:p xmlns:a="http://schemas.openxmlformats.org/drawingml/2006/main">
            <a:r>
              <a:t>assert np.isclose(time @ x, r.fun)</a:t>
            </a:r>
          </a:p>
          <a:p xmlns:a="http://schemas.openxmlformats.org/drawingml/2006/main">
            <a:r>
              <a:t/>
            </a:r>
          </a:p>
          <a:p xmlns:a="http://schemas.openxmlformats.org/drawingml/2006/main">
            <a:r>
              <a:t>print("Тести:", [f"T{i+1}" for i in np.flatnonzero(x)])</a:t>
            </a:r>
          </a:p>
          <a:p xmlns:a="http://schemas.openxmlformats.org/drawingml/2006/main">
            <a:r>
              <a:t>print("Час:", int(time @ x), "хв; кількість:", int(x.sum()))</a:t>
            </a:r>
          </a:p>
          <a:p xmlns:a="http://schemas.openxmlformats.org/drawingml/2006/main">
            <a:r>
              <a:t>print("Покриття F1-F8:", coverage.tolist())</a:t>
            </a:r>
          </a:p>
          <a:p xmlns:a="http://schemas.openxmlformats.org/drawingml/2006/main">
            <a:r>
              <a:t>print("Властивостей у тестах:", q[x == 1].tolist())</a:t>
            </a:r>
          </a:p>
          <a:p xmlns:a="http://schemas.openxmlformats.org/drawingml/2006/main">
            <a:r>
              <a:t>print("Статус:", r.status, "; gap:", r.mip_gap)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Сума стовпця A показує, скільки властивостей перевіряє тест. Порівняння з K утворює вектор верхніх меж: нуль забороняє тест. Три лінійні умови задають покриття, максимальну кількість тестів і бюджет часу.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Функція milp мінімізує час із заданими обмеженнями та бінарними змінними. Перед використанням відповіді перевіряємо успішне завершення. Потім перераховуємо покриття, час, число тестів і ліміт властивостей; поріг 0,5 лише декодує вже цілий розв’язок.</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Обрано T3, T7, T8 і T10. Сума часу дорівнює чотирнадцяти, тестів чотири, а максимальна кількість властивостей у кожному обраному тесті три. Права доступу покрито двічі, відновлення тричі; всі інші вимоги теж виконано.</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Змінимо по одному ліміту, залишивши матрицю й потрібну кратність незмінними. При K п’ять доступний швидкий T9, і оптимум становить одинадцять хвилин. При K три потрібно чотирнадцять; ліміт дві властивості, три тести або тринадцять хвилин не дає допустимого набору.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a:p xmlns:a="http://schemas.openxmlformats.org/drawingml/2006/main">
            <a:r>
              <a:t/>
            </a:r>
          </a:p>
          <a:p xmlns:a="http://schemas.openxmlformats.org/drawingml/2006/main">
            <a:r>
              <a:t>Кожен рядок є окремим сценарієм. Всі результати перевірені повним перебором 1024 бінарних наборів. Для K=2 допускається лише T10, тому покриття всіх властивостей неможливе. Для N=3 при K=3 бракує сумарної кратності: потрібно 10 перевірок, доступно максимум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Властивість потрібно визначити як перевірювану вимогу, наприклад відновлення сервісу після конкретного збою. Два тести не обов’язково дають незалежні перевірки. Для практикуму змініть K або вимогу повторного покриття та поясніть, чому результат змінився чи став неможливим.</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Умовний навчальний приклад вибору регресійних тестів. Матриця описує перевірені очікувані результати, а не просто виконання дії. Покриття F2 і F7 щонайменше двома різними тестами не доводить статистичної незалежності перевірок. Тривалості означають послідовний запуск. Документація SciPy: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Заготовка має довжину десять метрів, а замовлення потребує трьох відрізків по шість і двох по чотири метри. Двічі використовуємо схему шість плюс чотири та один раз схему з одним шестиметровим відрізком. Три заготовки є мінімумом, бо загальна потрібна довжина становить двадцять шість метрів.</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Навчальна точна заявка: 3 відрізки по 6 м та 2 по 4 м. Показані схеми P1=(6+4), P2=(4+4), P3=(6). y1+y3=3, y1+2y2=2, min y1+y2+y3, y integer &gt;=0. Оптимум y=(2,0,1), три заготовки, залишок 4 м. Нижня оцінка ceil(26/10)=3. Показані схеми достатні для оптимального рішення цієї заявки, не всі можливі схеми розкрою.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Дискретне програмування називає клас задач, а динамічне програмування називає метод їх розв’язання. Лінійна модель із цілими змінними є цілочисельним ЛП; якщо частина змінних неперервна, вона змішана. Для однієї дискретної задачі можуть підходити різні методи.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Free University of Bozen-Bolzano, A. Artale: https://www.inf.unibz.it/~artale/ADP/Lectures/slide-6.2-TSP.pdf</a:t>
            </a:r>
          </a:p>
          <a:p xmlns:a="http://schemas.openxmlformats.org/drawingml/2006/main">
            <a:r>
              <a:t>ILP є підкласом MILP. Дискретне програмування ширше за лінійні цілочисельні моделі. У лекції зосереджуємося на ILP/MILP та TSP.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Потрібно запустити віртуальні машини із сумарною потужністю щонайменше одинадцять vCPU. Тип A дає три vCPU за п’ять одиниць вартості на годину, тип B дає п’ять за вісім. Обираємо кількість машин кожного типу з урахуванням доступних лімітів і мінімізуємо витрати.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Умовні нормовані ціни за годину, не ринкові тарифи. xA,xB є кількостями екземплярів.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Змінні показують кількість машин A і B. Вартість отримуємо, помноживши їх кількості на відповідні тарифи; потужність обчислюємо так само за кількістю vCPU. Нерівність вимагає достатньої потужності, межі задають доступність, а цілочисельність забороняє запускати частину машини.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Модель: min 5xA+8xB; 3xA+5xB&gt;=11; 0&lt;=xA&lt;=4, 0&lt;=xB&lt;=3, xA,xB integers. Вартість 18 підтверджена перебором 20 обмежених пар.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 графіку кожна ціла точка відповідає реальному набору машин. Точки в межах лімітів на лінії потужності або вище від неї забезпечують одинадцять vCPU. Неперервний оптимум містить 2,2 машини B, тоді як найдешевший допустимий цілий план має дві машини A й одну B.</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Графік побудовано за тією самою моделлю, що й слайд 6. Зелений бік границі 3xA+5xB=11 задовольняє потребу. Межі 0&lt;=xA&lt;=4, 0&lt;=xB&lt;=3. Усі 20 цілих пар перевірено незалежним перебором: 13 допустимих, 7 недопустимих. LP=(0,2.2), C=17.6. До найближчого=(0,2), 10 CPU, недопустимо. Вгору=(0,3), C=24. Цілий оптимум=(2,1), C=18. Умовні нормовані ціни за годину.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Округлення 2,2 машини B до двох залишає лише десять vCPU, тому вимога порушується. Округлення до трьох забезпечує потужність, але коштує двадцять чотири. Цілий оптимум коштує вісімнадцять і точно забезпечує одинадцять vCPU: округлення саме по собі не розв’язує задачу.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Дані перевірені SciPy та незалежним перебором. Округлення в таблиці лише демонструє проблему й не використовується як алгоритм ILP.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коді LinearConstraint задає мінімальну потужність, Bounds задає доступні кількості, а integrality вимагає цілих значень обох змінних. Після перевірки успішного завершення друкуємо план, його вартість і потужність. Результат підтверджує дві машини A, одну B та вартість вісімнадцять.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Самодостатній фрагмент із vm_gpu_examples.py.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Загальна модель поєднує лінійну ціль, обмеження на ресурси та межі змінних. Цілочисельність вказуємо окремо; для бінарного рішення додатково встановлюємо межі від нуля до одного. Функція milp мінімізує, тому для максимізації користі передаємо коефіцієнти зі знаком мінус.</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x — вектор рішень, c — вектор коефіцієнтів цілі, A — матриця обмежень. Цілочисельність задаємо для визначених компонент x. Якщо всі змінні цілі, маємо ILP, якщо частина неперервна — MILP.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Метод гілок і меж ділить множину варіантів на підзадачі та оцінює, наскільки хорошим може бути їх найкращий розв’язок. Для мінімізації відсіваємо гілку, нижня межа якої не менша за відому вартість. Для максимізації відсіваємо гілку, верхня межа якої не перевищує вже знайдену користь.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Land, A. H., Doig, A. G. (1960). An Automatic Method of Solving Discrete Programming Problems. Econometrica 28(3), 497–520. DOI: 10.2307/1910129. Original paper: https://jmvidal.cse.sc.edu/library/land60a.pdf</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Формулювання подано для пошуку одного оптимального рішення. Рівність з рекордом дозволяє відсів, якщо не потрібно перелічувати всі оптимуми.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підході Ленда–Дойга оцінку отримують із лінійної релаксації, а гілки обмежують значення цілої змінної. Алгоритм Літтла застосовує той самий принцип до комівояжера, але оцінює матрицю вартостей і включає або виключає дугу. Спосіб оцінювання залежить від структури задачі.</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Land, A. H., Doig, A. G. (1960). An Automatic Method of Solving Discrete Programming Problems. Econometrica 28(3), 497–520. DOI: 10.2307/1910129. Original paper: https://jmvidal.cse.sc.edu/library/land60a.pdf</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Не називаємо спосіб редукції Літтла LP-релаксацією, яку розв’язує linprog. У ньому оцінку дають рядкові та стовпцеві мінімуми.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Маємо вісім GPU-годин і чотири завдання з різними витратами та користю. Кожне завдання або виконуємо повністю, або пропускаємо, тому змінні бінарні. Потрібно отримати найбільшу сумарну користь, не перевищивши доступний час обчислень.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Синтетичні дані. max F=10xA+7xB+5xC+3xD; 5xA+4xB+3xC+2xD&lt;=8; x in {0,1}^4. Оптимум A,C з користю 15, підтверджено 16 варіантами.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Якщо тимчасово дозволити дробові значення, ЛП обирає A та три чверті B і дає верхню оцінку 15,25. Розділяємо задачу на випадки B не запускається та B запускається. Перша гілка дає цілий план A плюс C із користю п’ятнадцять; друга не може дати більше п’ятнадцяти.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12: https://ocw.mit.edu/courses/15-053-optimization-methods-in-management-science-spring-2013/resources/mit15_053s13_lec12/</a:t>
            </a:r>
          </a:p>
          <a:p xmlns:a="http://schemas.openxmlformats.org/drawingml/2006/main">
            <a:r>
              <a:t>Повна навчальна реалізація branch_bound_steps.py. Перша дробова змінна xB=0.75. Перша гілка xB=0, друга xB=1. Остання гілка має дробовий план, але верхня межа 15 вже не краща за відомий цілий план.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 дереві видно, як одна дробова змінна породжує дві гілки. Ліва дає допустимий план A плюс C із користю п’ятнадцять. Верхня межа правої гілки також дорівнює п’ятнадцяти, тому вона не покращить результат і для пошуку одного оптимуму її можна відсіяти.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12: https://ocw.mit.edu/courses/15-053-optimization-methods-in-management-science-spring-2013/resources/mit15_053s13_lec12/</a:t>
            </a:r>
          </a:p>
          <a:p xmlns:a="http://schemas.openxmlformats.org/drawingml/2006/main">
            <a:r>
              <a:t>Умови відсіву для пошуку одного max-оптимуму: верхня LP-межа &lt;= користі найкращого цілого плану. Журнал HiGHS може мати іншу структуру дерева.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Коефіцієнти користі передаємо зі знаком мінус, бо milp виконує мінімізацію. Цілі змінні з межами від нуля до одного кодують вибір завдань, а лінійне обмеження задає вісім GPU-годин. Для друку користі повертаємо знак; значення мінус нуль у виводі означає звичайний нуль.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Самодостатній фрагмент. Повний навчальний B&amp;B із linprog і фактична траса є в окремому файлі практикуму.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Тепер розглянемо рішення, у якому важливий порядок відвідування об’єктів. Задача комівояжера шукає один замкнутий маршрут через усі задані майданчики. Навіть дешеві окремі переходи можуть утворити невдалий загальний обхід.</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TSP — основний приклад цієї лекції. Задача про фізичний обхід майданчиків, де розташовані обчислювальні вузли. Не плутати з пошуком найкоротшого шляху між двома вузлами.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Інженер виїжджає з бази S, обслуговує майданчики A–E та повертається на базу. Обираємо порядок відвідування, щоб мінімізувати сумарний час переїздів. Положення вузлів на рисунку умовне: конкретні вартості беремо з матриці часу.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Навчальна схема майданчиків із edge-серверами. Позиції вузлів умовні, не географічні. Матриця на наступних слайдах задає час прямих переїздів. Ціль — мінімізувати сумарний час переходів. Тривалість обслуговування однакова для кожного порядку, тому її стала сума не впливає на оптимальний маршрут.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навчальній задачі всі майданчики потрібно відвідати один раз і повернутися в S. Часи прямих переїздів сталі та однакові в обох напрямках. Довжина стрілки на схемі не задає час, а нерівність трикутника для цієї умовної матриці не припускається.</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Позиції схематичні. Часи прямих переходів умовні та симетричні. Нерівність трикутника не припускаємо, тому не застосовуємо метричні гарантії наближення. Це одна машина без часових вікон, місткості та кількох інженерів. Такі умови ведуть до інших моделей, наприклад VRP.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Рядок показує, звідки їдемо, стовпець показує, куди, а клітинка містить час у хвилинах. Переходи S–A, B–C і D–E найдешевші, по дві хвилини. Самі ці пари ще не утворюють спільного маршруту: доведеться обрати переходи, які поєднають усі вузли.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Матриця повністю збігається з C у tsp_examples.py. Діагональні переходи заборонені моделлю через відсутність змінних i=j. Нуль у програмній діагоналі не означає можливості обрати петлю.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Евристика найближчого сусіда починає з S і щоразу обирає найдешевший перехід до ще не відвіданого вузла. Після відвідування всіх майданчиків повертаємося на базу. Такий спосіб швидко дає допустимий маршрут, але не доводить, що його загальна вартість найменша.</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17: https://ocw.mit.edu/courses/15-053-optimization-methods-in-management-science-spring-2013/resources/mit15_053s13_lec17/</a:t>
            </a:r>
          </a:p>
          <a:p xmlns:a="http://schemas.openxmlformats.org/drawingml/2006/main">
            <a:r>
              <a:t>За рівної вартості код обирає менший індекс, щоб приклад був відтворюваним. Евристика може давати неоптимальний маршрут.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Пройдімо таблицю послідовно: спочатку S–A, далі A–D, D–E, E–C та C–B. До повернення накопичено двадцять вісім хвилин, а останній перехід B–S додає ще шістнадцять. Загальна вартість отриманого маршруту становить сорок чотири хвилини.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Кумулятивні суми: 2,12,14,26,28,44. В останньому рядку це повернення на базу, а не вибір невідвіданого вузла.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Рисунок показує весь маршрут найближчого сусіда. Ранні дешеві переходи залишили вузол B останнім, а повернення з нього коштує шістнадцять хвилин. Тому локально вигідний вибір потрібно оцінювати разом із тим, як він впливає на завершення обходу.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Повністю допустимий маршрут. Переходи: SA=2, AD=10, DE=2, EC=12, CB=2, BS=16. Сума 44. Стрілки є редагованими з’єднаннями, граф схематичний.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Для кожного можливого прямого переходу вводимо бінарну змінну. Одиниця означає, що дуга входить до маршруту, нуль означає, що її не використовуємо. У цільову функцію додаємо час кожного переходу, помножений на його змінну, тому враховуються лише обрані дуги.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Орієнтована модель використовується навіть для симетричної матриці. x(i,j) і x(j,i) — різні змінні. Є n(n-1)=30 змінних для n=6, без петель. Ціль: min sum_{i in V} sum_{j in V, j != i} c(i,j)x(i,j).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Із кожного вузла потрібно вийти рівно один раз і до кожного потрібно зайти рівно один раз. Для бази S це дві показані рівності; аналогічні умови записуємо для решти вузлів. Вони задають локальні зв’язки, але ще не гарантують одного спільного циклу.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Для S наведено повні дві рівності. За цієї умови загальна кількість дуг дорівнює шести. Вони утворюють покриття циклами, але не обов’язково один гамільтонів цикл.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План із трьох окремих циклів задовольняє всі умови входу й виходу. Кожен вузол має попередника та наступника, а загальна вартість становить дванадцять хвилин. Проте інженер не може обійти всі майданчики одним маршрутом, тому модель потребує умов проти підциклів.</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Три двовузлові орієнтовані цикли: S-A-S, B-C-B, D-E-D. Вартість 4+4+4=12. Двостороння стрілка означає дві дуги, кожна з часом 2. Цей план оптимальний для моделі без умов зв’язності.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Щоб заборонити цикл S–A–S, дозволяємо обрати щонайбільше одну з його двох внутрішніх дуг. Повний маршрут через усі вузли не може містити обидві одночасно, тому жодного правильного туру не втрачаємо. Так усуваємо конкретний помилковий план і зберігаємо допустимі обходи.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Для S={S,A}: x(S,A)+x(A,S)&lt;=1. Дві внутрішні дуги утворювали б замкнений цикл і не залишили б можливості відвідати решту вузлів. Якщо обидва вузли йдуть послідовно у справжньому маршруті, між ними є лише одна вибрана внутрішня дуга.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Повна модель поєднує мінімізацію часу, один вхід і вихід для кожного вузла та заборону підциклів. Для будь-якої власної групи вузлів кількість обраних внутрішніх дуг має бути меншою за кількість її вузлів. Саме ці додаткові умови забезпечують один загальний обхід.</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V — множина вузлів, n=|V|; x(i,j) in {0,1} for i!=j. Повна орієнтована DFJ-модель: min sum_{i in V}sum_{j in V{i}} c(i,j)x(i,j); sum_{j!=i}x(i,j)=1 for every i; sum_{i!=j}x(i,j)=1 for every j; sum_{i in Q}sum_{j in Q{i}}x(i,j)&lt;=|Q|-1 for every Q subset V, 2&lt;=|Q|&lt;=n-1. Усі самопереходи виключені.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Розв’яжемо ту саму задачу алгоритмом Літтла. Він будує нижні оцінки через редукцію матриці та розгалужує пошук за включенням або виключенням переходу. На наступних слайдах простежимо зміни матриць і відповідне дерево підзадач.</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Навчальний точний МГМ для тієї самої матриці. Далі всі числа належать до єдиного запуску little_tsp.py. 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Нижня межа дванадцять показує, дешевше за яке значення тур у поточній підзадачі коштувати не може. Верхня межа сорок чотири є вартістю вже знайденого допустимого маршруту. Пошук потрібен доти, доки залишаються гілки, нижня межа яких менша за поточний рекорд.</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0,"parent":null,"decision":"root","bound":12,"rows":[0,1,2,3,4,5],"cols":[0,1,2,3,4,5],"matrix":[["∞",0,14,9,17,10],[0,"∞",13,19,8,12],[14,13,"∞",0,3,16],[9,19,0,"∞",10,10],[17,8,3,10,"∞",0],[10,12,16,10,0,"∞"]],"selected":[],"row_min":[2,2,2,2,2,2],"col_min":[0,0,0,0,0,0],"reduction":12,"status":"expanded","choice":{"i":0,"j":1,"row":9,"col":8,"penalty":17},"penalties":[{"i":0,"j":1,"row":9,"col":8,"penalty":17},{"i":1,"j":0,"row":8,"col":9,"penalty":17},{"i":4,"j":5,"row":3,"col":10,"penalty":13},{"i":5,"j":4,"row":10,"col":3,"penalty":13},{"i":2,"j":3,"row":3,"col":9,"penalty":12},{"i":3,"j":2,"row":9,"col":3,"penalty":12}],"children":[1,2]}</a:t>
            </a:r>
          </a:p>
          <a:p xmlns:a="http://schemas.openxmlformats.org/drawingml/2006/main">
            <a:r>
              <a:t>Початковий рекорд U=44 дає nearest neighbor. Нижня оцінка L=12 після редукції. Це не готовий TSP-тур.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кожному рядку маршрут обирає один вихід, тому його вартість не менша за суму мінімумів рядків. Тут шість мінімумів по дві хвилини дають дванадцять. Віднімаємо їх від рядків, а потім мінімуми стовпців; у цьому випадку стовпці вже містять нулі й додаткової суми не дають.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0,"parent":null,"decision":"root","bound":12,"rows":[0,1,2,3,4,5],"cols":[0,1,2,3,4,5],"matrix":[["∞",0,14,9,17,10],[0,"∞",13,19,8,12],[14,13,"∞",0,3,16],[9,19,0,"∞",10,10],[17,8,3,10,"∞",0],[10,12,16,10,0,"∞"]],"selected":[],"row_min":[2,2,2,2,2,2],"col_min":[0,0,0,0,0,0],"reduction":12,"status":"expanded","choice":{"i":0,"j":1,"row":9,"col":8,"penalty":17},"penalties":[{"i":0,"j":1,"row":9,"col":8,"penalty":17},{"i":1,"j":0,"row":8,"col":9,"penalty":17},{"i":4,"j":5,"row":3,"col":10,"penalty":13},{"i":5,"j":4,"row":10,"col":3,"penalty":13},{"i":2,"j":3,"row":3,"col":9,"penalty":12},{"i":3,"j":2,"row":9,"col":3,"penalty":12}],"children":[1,2]}</a:t>
            </a:r>
          </a:p>
          <a:p xmlns:a="http://schemas.openxmlformats.org/drawingml/2006/main">
            <a:r>
              <a:t>Початкова матриця містить ∞ на діагоналі. Віднімаємо 2 з кожного рядка, додаємо 12 до межі. Редукція стовпців після редукції рядків додає 0. Сумарна вартість туру = сума редукцій + сума вибраних редукованих вартостей; ці залишкові вартості невід’ємні.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Після редукції отримуємо матрицю залишкових вартостей, а відняту суму зберігаємо в нижній межі. Нуль означає, що відповідний перехід не додає залишкової вартості на цьому кроці. Реальний час переїзду з початкової матриці при цьому не стає нульовим.</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0,"parent":null,"decision":"root","bound":12,"rows":[0,1,2,3,4,5],"cols":[0,1,2,3,4,5],"matrix":[["∞",0,14,9,17,10],[0,"∞",13,19,8,12],[14,13,"∞",0,3,16],[9,19,0,"∞",10,10],[17,8,3,10,"∞",0],[10,12,16,10,0,"∞"]],"selected":[],"row_min":[2,2,2,2,2,2],"col_min":[0,0,0,0,0,0],"reduction":12,"status":"expanded","choice":{"i":0,"j":1,"row":9,"col":8,"penalty":17},"penalties":[{"i":0,"j":1,"row":9,"col":8,"penalty":17},{"i":1,"j":0,"row":8,"col":9,"penalty":17},{"i":4,"j":5,"row":3,"col":10,"penalty":13},{"i":5,"j":4,"row":10,"col":3,"penalty":13},{"i":2,"j":3,"row":3,"col":9,"penalty":12},{"i":3,"j":2,"row":9,"col":3,"penalty":12}],"children":[1,2]}</a:t>
            </a:r>
          </a:p>
          <a:p xmlns:a="http://schemas.openxmlformats.org/drawingml/2006/main">
            <a:r>
              <a:t>Зелений темний елемент S-A обрано за максимальним штрафом на наступному слайді.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Для кожного нуля шукаємо найменше інше значення в його рядку та стовпці й додаємо їх. Отриманий штраф оцінює втрату цього нуля при забороні дуги. Для S–A маємо дев’ять плюс вісім, тобто сімнадцять; він має найбільший штраф, а нічию з A–S розв’язує фіксоване правило.</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0,"parent":null,"decision":"root","bound":12,"rows":[0,1,2,3,4,5],"cols":[0,1,2,3,4,5],"matrix":[["∞",0,14,9,17,10],[0,"∞",13,19,8,12],[14,13,"∞",0,3,16],[9,19,0,"∞",10,10],[17,8,3,10,"∞",0],[10,12,16,10,0,"∞"]],"selected":[],"row_min":[2,2,2,2,2,2],"col_min":[0,0,0,0,0,0],"reduction":12,"status":"expanded","choice":{"i":0,"j":1,"row":9,"col":8,"penalty":17},"penalties":[{"i":0,"j":1,"row":9,"col":8,"penalty":17},{"i":1,"j":0,"row":8,"col":9,"penalty":17},{"i":4,"j":5,"row":3,"col":10,"penalty":13},{"i":5,"j":4,"row":10,"col":3,"penalty":13},{"i":2,"j":3,"row":3,"col":9,"penalty":12},{"i":3,"j":2,"row":9,"col":3,"penalty":12}],"children":[1,2]}</a:t>
            </a:r>
          </a:p>
          <a:p xmlns:a="http://schemas.openxmlformats.org/drawingml/2006/main">
            <a:r>
              <a:t>Штраф нуля = мінімум інших елементів його рядка + мінімум інших елементів його стовпця. Це оцінка зростання межі при виключенні дуги. Єдине правило розв’язання нічиїх: менші індекси i,j.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Будь-який тур або містить дугу S–A, або не містить її, тому дві гілки охоплюють усі варіанти. Для кожної оновлюємо матрицю й виконуємо редукцію. В обох випадках додається сімнадцять і нижня межа зростає з дванадцяти до двадцяти дев’яти.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0,"parent":null,"decision":"root","bound":12,"rows":[0,1,2,3,4,5],"cols":[0,1,2,3,4,5],"matrix":[["∞",0,14,9,17,10],[0,"∞",13,19,8,12],[14,13,"∞",0,3,16],[9,19,0,"∞",10,10],[17,8,3,10,"∞",0],[10,12,16,10,0,"∞"]],"selected":[],"row_min":[2,2,2,2,2,2],"col_min":[0,0,0,0,0,0],"reduction":12,"status":"expanded","choice":{"i":0,"j":1,"row":9,"col":8,"penalty":17},"penalties":[{"i":0,"j":1,"row":9,"col":8,"penalty":17},{"i":1,"j":0,"row":8,"col":9,"penalty":17},{"i":4,"j":5,"row":3,"col":10,"penalty":13},{"i":5,"j":4,"row":10,"col":3,"penalty":13},{"i":2,"j":3,"row":3,"col":9,"penalty":12},{"i":3,"j":2,"row":9,"col":3,"penalty":12}],"children":[1,2]}</a:t>
            </a:r>
          </a:p>
          <a:p xmlns:a="http://schemas.openxmlformats.org/drawingml/2006/main">
            <a:r>
              <a:t>Після розгалуження L(N1)=29 і L(N2)=29. Початкова вартість S-A=2 вже врахована редукцією, тому її не додаємо знову до межі.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При включенні S–A вихід із S і вхід до A вже визначені, тому відповідні рядок і стовпець прибираємо. Повернення A–S забороняємо, щоб не замкнути короткий цикл. У залишковій матриці віднімаємо вісім від рядка A, а потім дев’ять від стовпця S.</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1,"parent":0,"decision":"include","arc":[0,1],"bound":29,"rows":[1,2,3,4,5],"cols":[0,2,3,4,5],"matrix":[["∞",5,11,0,4],[5,"∞",0,3,16],[0,0,"∞",10,10],[8,3,10,"∞",0],[1,16,10,0,"∞"]],"raw_matrix":[["∞",13,19,8,12],[14,"∞",0,3,16],[9,0,"∞",10,10],[17,3,10,"∞",0],[10,16,10,0,"∞"]],"selected":[[0,1]],"forbidden":[[1,0]],"row_min":[8,0,0,0,0],"col_min":[9,0,0,0,0],"reduction":17,"status":"expanded","choice":{"i":2,"j":3,"row":3,"col":10,"penalty":13},"penalties":[{"i":2,"j":3,"row":3,"col":10,"penalty":13},{"i":4,"j":5,"row":3,"col":4,"penalty":7},{"i":1,"j":4,"row":4,"col":0,"penalty":4},{"i":3,"j":2,"row":0,"col":3,"penalty":3},{"i":3,"j":0,"row":0,"col":1,"penalty":1},{"i":5,"j":4,"row":1,"col":0,"penalty":1}],"children":[3,4]}</a:t>
            </a:r>
          </a:p>
          <a:p xmlns:a="http://schemas.openxmlformats.org/drawingml/2006/main">
            <a:r>
              <a:t>На слайді показано raw_matrix, тобто матрицю після видалення рядка S і стовпця A та заборони A-S, до додаткової редукції.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Після двох редукцій нижня межа дорівнює двадцяти дев’яти. Зверніть увагу на нові нулі та заборонений перехід A–S: вони визначають подальші варіанти. Початкові дві хвилини переходу S–A уже враховано в накопиченій межі, тому повторно їх не додаємо.</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1,"parent":0,"decision":"include","arc":[0,1],"bound":29,"rows":[1,2,3,4,5],"cols":[0,2,3,4,5],"matrix":[["∞",5,11,0,4],[5,"∞",0,3,16],[0,0,"∞",10,10],[8,3,10,"∞",0],[1,16,10,0,"∞"]],"raw_matrix":[["∞",13,19,8,12],[14,"∞",0,3,16],[9,0,"∞",10,10],[17,3,10,"∞",0],[10,16,10,0,"∞"]],"selected":[[0,1]],"forbidden":[[1,0]],"row_min":[8,0,0,0,0],"col_min":[9,0,0,0,0],"reduction":17,"status":"expanded","choice":{"i":2,"j":3,"row":3,"col":10,"penalty":13},"penalties":[{"i":2,"j":3,"row":3,"col":10,"penalty":13},{"i":4,"j":5,"row":3,"col":4,"penalty":7},{"i":1,"j":4,"row":4,"col":0,"penalty":4},{"i":3,"j":2,"row":0,"col":3,"penalty":3},{"i":3,"j":0,"row":0,"col":1,"penalty":1},{"i":5,"j":4,"row":1,"col":0,"penalty":1}],"children":[3,4]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гілці виключення ставимо нескінченність у клітинці S–A, але зберігаємо всі рядки й стовпці. Нові мінімуми рядка S та стовпця A додають дев’ять і вісім. Межа також дорівнює двадцяти дев’яти, хоча дозволені переходи тепер відрізняються від гілки включення.</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2,"parent":0,"decision":"exclude","arc":[0,1],"bound":29,"rows":[0,1,2,3,4,5],"cols":[0,1,2,3,4,5],"matrix":[["∞","∞",5,0,8,1],[0,"∞",13,19,8,12],[14,5,"∞",0,3,16],[9,11,0,"∞",10,10],[17,0,3,10,"∞",0],[10,4,16,10,0,"∞"]],"raw_matrix":[["∞","∞",14,9,17,10],[0,"∞",13,19,8,12],[14,13,"∞",0,3,16],[9,19,0,"∞",10,10],[17,8,3,10,"∞",0],[10,12,16,10,0,"∞"]],"selected":[],"forbidden":[],"row_min":[9,0,0,0,0,0],"col_min":[0,8,0,0,0,0],"reduction":17,"status":"expanded","choice":{"i":1,"j":0,"row":8,"col":9,"penalty":17},"penalties":[{"i":1,"j":0,"row":8,"col":9,"penalty":17},{"i":3,"j":2,"row":9,"col":3,"penalty":12},{"i":5,"j":4,"row":4,"col":3,"penalty":7},{"i":4,"j":1,"row":0,"col":4,"penalty":4},{"i":2,"j":3,"row":3,"col":0,"penalty":3},{"i":0,"j":3,"row":1,"col":0,"penalty":1},{"i":4,"j":5,"row":0,"col":1,"penalty":1}],"children":[5,6]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Забороняти лише зворотний перехід між двома вузлами недостатньо. Якщо вже утворено ланцюг B–C–S–A, дуга A–B замкнула б цикл без D та E. Тому забороняємо перехід від кінця незавершеного ланцюга до його початку; замикання дозволимо, коли ланцюг охопить усі вузли.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9,"parent":3,"decision":"include","arc":[3,0],"bound":32,"rows":[1,4,5],"cols":[2,4,5],"matrix":[["∞",0,4],[0,"∞",0],[13,0,"∞"]],"raw_matrix":[["∞",0,4],[0,"∞",0],[13,0,"∞"]],"selected":[[0,1],[2,3],[3,0]],"forbidden":[[1,2]],"row_min":[0,0,0],"col_min":[0,0,0],"reduction":0,"status":"expanded","choice":{"i":4,"j":2,"row":0,"col":13,"penalty":13},"penalties":[{"i":4,"j":2,"row":0,"col":13,"penalty":13},{"i":5,"j":4,"row":13,"col":0,"penalty":13},{"i":1,"j":4,"row":4,"col":0,"penalty":4},{"i":4,"j":5,"row":0,"col":4,"penalty":4}],"children":[11,12]}</a:t>
            </a:r>
          </a:p>
          <a:p xmlns:a="http://schemas.openxmlformats.org/drawingml/2006/main">
            <a:r>
              <a:t>Після включень S-A, B-C, C-S маємо ланцюг B-C-S-A. Забороняємо A-B, бо він утворював би цикл із чотирьох вузлів. Після D-B забороняємо 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Після включення S–A наступною обраною дугою є B–C. Її включення потребує додаткової редукції на три, тому отримуємо межу тридцять два. У цій матриці штраф C–S становить одинадцять; проте черга спочатку перевіряє іншу підзадачу N2 з меншою межею двадцять дев’ять.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3,"parent":1,"decision":"include","arc":[2,3],"bound":32,"rows":[1,3,4,5],"cols":[0,2,4,5],"matrix":[["∞",2,0,4],[0,"∞",10,10],[8,0,"∞",0],[1,13,0,"∞"]],"raw_matrix":[["∞",5,0,4],[0,"∞",10,10],[8,3,"∞",0],[1,16,0,"∞"]],"selected":[[0,1],[2,3]],"forbidden":[[1,0],[3,2]],"row_min":[0,0,0,0],"col_min":[0,3,0,0],"reduction":3,"status":"expanded","choice":{"i":3,"j":0,"row":10,"col":1,"penalty":11},"penalties":[{"i":3,"j":0,"row":10,"col":1,"penalty":11},{"i":4,"j":5,"row":0,"col":4,"penalty":4},{"i":1,"j":4,"row":2,"col":0,"penalty":2},{"i":4,"j":2,"row":0,"col":2,"penalty":2},{"i":5,"j":4,"row":1,"col":0,"penalty":1}],"children":[9,10]}</a:t>
            </a:r>
          </a:p>
          <a:p xmlns:a="http://schemas.openxmlformats.org/drawingml/2006/main">
            <a:r>
              <a:t>Після S-A обираємо B-C за штрафом 13. Включення B-C додає редукцію стовпця B на 3: L=29+3=32.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Включення C–S не збільшує межу, яка залишається тридцять два. Обираємо нуль D–B зі штрафом тринадцять. Його включення створить ланцюг D–B–C–S–A, тому заборонимо A–D; нова редукція підніме межу до тридцяти шести, а виключення D–B дасть сорок п’ять.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9,"parent":3,"decision":"include","arc":[3,0],"bound":32,"rows":[1,4,5],"cols":[2,4,5],"matrix":[["∞",0,4],[0,"∞",0],[13,0,"∞"]],"raw_matrix":[["∞",0,4],[0,"∞",0],[13,0,"∞"]],"selected":[[0,1],[2,3],[3,0]],"forbidden":[[1,2]],"row_min":[0,0,0],"col_min":[0,0,0],"reduction":0,"status":"expanded","choice":{"i":4,"j":2,"row":0,"col":13,"penalty":13},"penalties":[{"i":4,"j":2,"row":0,"col":13,"penalty":13},{"i":5,"j":4,"row":13,"col":0,"penalty":13},{"i":1,"j":4,"row":4,"col":0,"penalty":4},{"i":4,"j":5,"row":0,"col":4,"penalty":4}],"children":[11,12]}</a:t>
            </a:r>
          </a:p>
          <a:p xmlns:a="http://schemas.openxmlformats.org/drawingml/2006/main">
            <a:r>
              <a:t>Після C-S додаткова редукція 0, L=32. Для D-B інший min рядка 0, інший min стовпця 13. Після включення забороняємо A-D. Рядок A потребує нової редукції на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залишковій матриці можливі лише переходи A–E та E–D, тому вони вимушені. Отримуємо один маршрут S–A–E–D–B–C–S. Перевіряємо його за початковими часами: два, чотирнадцять, два, п’ять, два й одинадцять разом дають тридцять шість хвилин.</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11,"parent":9,"decision":"include","arc":[4,2],"bound":36,"rows":[1,5],"cols":[4,5],"matrix":[["∞",0],[0,"∞"]],"raw_matrix":[["∞",4],[0,"∞"]],"selected":[[0,1],[2,3],[3,0],[4,2]],"forbidden":[[1,4]],"row_min":[4,0],"col_min":[0,0],"reduction":4,"status":"expanded","choice":{"i":1,"j":5,"row":"∞","col":"∞","penalty":"∞"},"penalties":[{"i":1,"j":5,"row":"∞","col":"∞","penalty":"∞"},{"i":5,"j":4,"row":"∞","col":"∞","penalty":"∞"}],"children":[17,18]}</a:t>
            </a:r>
          </a:p>
          <a:p xmlns:a="http://schemas.openxmlformats.org/drawingml/2006/main">
            <a:r>
              <a:t>A-E та E-D мають редуковану вартість 0, початкові вартості 14 і 2. Вибрано S-A,B-C,C-S,D-B,A-E,E-D. Будь-яка заборона двох залишкових дуг робить підзадачу несумісною.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Дерево поєднує матриці з логікою пошуку: плюс означає включення дуги, мінус означає виключення. Гілка з межею сорок шість відсівається вже за початкового рекорду сорок чотири. Гілку з межею сорок два відсікаємо після поліпшення рекорду до тридцяти шести; кольори показують підсумок пошуку.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a:t>
            </a:r>
          </a:p>
          <a:p xmlns:a="http://schemas.openxmlformats.org/drawingml/2006/main">
            <a:r>
              <a:t>Підсумкова схема. N4 не відсікається від початкового U=44, але відсікається після U=36. N6 з L=46 відсікається одразу. N3 та N5 мають продовження на наступних схемах.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 цій частині дерева простежуємо гілку, яка привела до оптимального туру. Включаємо C–S, потім D–B і завершуємо обхід двома вимушеними переходами. Рекорд стає тридцять шість, тому альтернативи з нижніми межами сорок три та сорок п’ять уже не потребують продовження.</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a:t>
            </a:r>
          </a:p>
          <a:p xmlns:a="http://schemas.openxmlformats.org/drawingml/2006/main">
            <a:r>
              <a:t>N3-&gt;N9(+C-S),N10(-C-S). N9-&gt;N11(+D-B),N12(-D-B). N11-&gt;N17(+A-E),N18(-A-E,несумісна). N17-&gt;N19(+E-D,тур),N20(-E-D,несумісна). На схемі два вимушені включення об’єднано. Повна траса містить усі 21 вузол.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Друга велика гілка теж містить перспективні підзадачі, тому алгоритм перевіряє її до завершення пошуку. Після знаходження туру за тридцять шість підзадачу з такою самою нижньою межею можна відсіяти, якщо шукаємо один оптимум. Для пошуку всіх рівноцінних турів правило відсіву за рівністю потрібно змінити.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a:t>
            </a:r>
          </a:p>
          <a:p xmlns:a="http://schemas.openxmlformats.org/drawingml/2006/main">
            <a:r>
              <a:t>N5-&gt;N7(+C-B),N8(-C-B). N7-&gt;N13(+S-C),N14(-S-C). N13-&gt;N15(+B-D),N16(-B-D). Порядок best bound змушує розглянути цю гілку до завершення першого туру. N15 може містити рівноцінний обернений оптимум, але шукаємо лише один.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Таблиця показує фактичну черговість перших п’яти розгалужень, а не лише шлях до відповіді. Алгоритм обирає відкритий вузол із найменшою нижньою межею, тому переходить між різними гілками. Стовпці праворуч показують нові підзадачі та їх межі після включення й виключення дуги.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a:t>
            </a:r>
          </a:p>
          <a:p xmlns:a="http://schemas.openxmlformats.org/drawingml/2006/main">
            <a:r>
              <a:t>Крок означає розгалуження вузла. Порядок: N0, N1, N2, N5, N3, N9, N7, N13, N11, N17. Обробку вузлів, які відсікаються без розгалуження, наведено в повній трасі.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 останніх кроках пошук ще перевіряє альтернативну гілку, а потім завершує перспективніший ланцюг. Дві фінальні дуги вимушені: їх виключення робить підзадачі несумісними, що позначено нескінченністю. На десятому розгалуженні отримуємо тур за тридцять шість і відсіваємо решту відкритих вузлів за межею.</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a:t>
            </a:r>
          </a:p>
          <a:p xmlns:a="http://schemas.openxmlformats.org/drawingml/2006/main">
            <a:r>
              <a:t>Крок означає розгалуження вузла. Порядок: N0, N1, N2, N5, N3, N9, N7, N13, N11, N17. Обробку вузлів, які відсікаються без розгалуження, наведено в повній трасі.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Цикл алгоритму починається з редукції матриці та допустимого туру для верхньої межі. Далі обираємо найперспективнішу підзадачу, відсіваємо її або розгалужуємо за нульовою дугою. Після зміни матриці оновлюємо заборони підциклів і межу; завершений тур може поліпшити рекорд.</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Навчальна реалізація додає явну перевірку завершеного туру та фіксовані правила нічиїх. За один запуск шукає один оптимум.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Функція перебирає нульові клітинки й для кожної знаходить інші мінімуми її рядка та стовпця. Сума цих мінімумів є штрафом. Сортування ставить найбільший штраф першим і задає стабільний порядок при рівності, тому початковий вибір у нашому прикладі відтворюється як S–A.</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id":0,"parent":null,"decision":"root","bound":12,"rows":[0,1,2,3,4,5],"cols":[0,1,2,3,4,5],"matrix":[["∞",0,14,9,17,10],[0,"∞",13,19,8,12],[14,13,"∞",0,3,16],[9,19,0,"∞",10,10],[17,8,3,10,"∞",0],[10,12,16,10,0,"∞"]],"selected":[],"row_min":[2,2,2,2,2,2],"col_min":[0,0,0,0,0,0],"reduction":12,"status":"expanded","choice":{"i":0,"j":1,"row":9,"col":8,"penalty":17},"penalties":[{"i":0,"j":1,"row":9,"col":8,"penalty":17},{"i":1,"j":0,"row":8,"col":9,"penalty":17},{"i":4,"j":5,"row":3,"col":10,"penalty":13},{"i":5,"j":4,"row":10,"col":3,"penalty":13},{"i":2,"j":3,"row":3,"col":9,"penalty":12},{"i":3,"j":2,"row":9,"col":3,"penalty":12}],"children":[1,2]}</a:t>
            </a:r>
          </a:p>
          <a:p xmlns:a="http://schemas.openxmlformats.org/drawingml/2006/main">
            <a:r>
              <a:t>Повна функція міститься в little_tsp.py. На слайді збережено той самий вибір найбільшого штрафу та правило нічиїх.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Запуск навчальної реалізації повертає маршрут, вартість і трасу пошуку. Для цієї матриці отримано маршрут S–A–E–D–B–C–S за тридцять шість хвилин, створено двадцять один вузол і виконано десять розгалужень. Ці лічильники стосуються конкретної реалізації та її правил вибору підзадач.</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Навчальний приклад: та сама умовна матриця S,A,B,C,D,E. Числа з фактичного запуску little_tsp.py. </a:t>
            </a:r>
          </a:p>
          <a:p xmlns:a="http://schemas.openxmlformats.org/drawingml/2006/main">
            <a:r>
              <a:t>Самодостатній файл little_tsp.py у практикумі. Приклади launch_little.py та output_little_summary.txt запускають повний алгоритм. Це не журнал HiGHS та не виклик milp.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Алгоритм Літтла працює безпосередньо з матрицею та забороняє передчасне замикання ланцюгів. Інший підхід записує бінарну лінійну модель і додає обмеження проти знайдених підциклів. Обидва методи дають тут оптимум тридцять шість, але їхні проміжні кроки мають різний зміст.</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Порівняння з раніше виконаним tsp_examples.py. SciPy milp має власний внутрішній алгоритм HiGHS, зовнішній цикл додає SEC. Він не є реалізацією алгоритму Літтла.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Тепер починаємо лише з умов входу й виходу та розв’язуємо MILP. Якщо отримано кілька циклів, додаємо обмеження для одного з них і повторюємо розв’язання. Зупиняємося, коли план утворює один спільний обхід, після чого перевіряємо маршрут і його вартість.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Для ясності додаємо один виявлений підцикл за виклик. Кожен milp завершується з status=0 та gap=0. Це зовнішній алгоритм генерації обмежень, не внутрішня траса HiGHS і не лише 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Таблиця показує чотири розв’язання поступово уточнюваної моделі. Значення зростає від дванадцяти через тридцять і тридцять чотири до тридцяти шести. Перші плани ще містять підцикли й дають нижні оцінки, а останній є допустимим повним маршрутом.</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Фактична траса tsp_examples.py, SciPy 1.17.0. Мінімальна вартість кожної часткової MILP є нижньою межею вартості TSP, бо вона ще може допускати підцикли. Це не чотири внутрішні ітерації HiGHS.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Після заборони циклу S–A–S отримуємо великий цикл через S, A, D, E та окремий цикл B–C–B. Загальна вартість становить тридцять, але всі вузли ще не об’єднано. Для групи з чотирьох вузлів дозволяємо не більше трьох внутрішніх дуг, щоб заборонити її замкнення.</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Попереднє відсічення: x(S,A)+x(A,S)&lt;=1. План: S-A-D-E-S з вартістю 2+10+2+12=26 та B-C-B з вартістю 4. Разом 30. Нова умова: sum internal arcs in {S,A,D,E} &lt;=3.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Наступна модель обирає цикл S–A–B–C–S і окремий цикл D–E–D за тридцять чотири хвилини. Попередню заборону виконано, але з’явився інший підцикл. Додаємо для групи S, A, B, C таку саму вимогу: щонайбільше три внутрішні дуги.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План: S-A-B-C-S з вартістю 2+15+2+11=30 та D-E-D з вартістю 4. Разом 34. Відсічення першого циклу: sum internal arcs in {S,A,B,C}&lt;=3. Порядок канонічний для симетричної матриці, обратний обхід рівноцінний.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Тепер обрані переходи утворюють один замкнутий маршрут через усі шість вузлів. Пройдімо його від S та додаймо підписи дуг: отримуємо тридцять шість хвилин. Це вже допустимий план, який можна порівнювати з нижньою оцінкою уточненої моделі.</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Маршрут S-A-E-D-B-C-S: SA2, AE14, ED2, DB5, BC2, CS11. Один цикл через усі шість вузлів. Канонічний обернений маршрут має ту саму вартість.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Уточнена модель зберігає всі правильні TSP-маршрути, тому її доведений оптимум є нижньою межею для нашої задачі. Одночасно маємо допустимий тур за тридцять шість. Нижня й верхня межі збіглися, отже дешевшого правильного маршруту не існує.</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Часткова модель містить усі допустимі TSP-маршрути. Її доведений оптимум 36 є нижньою межею. Знайдений план є одним циклом через усі вузли з вартістю 36, тому також є верхньою межею. Точність для цього малого прикладу незалежно перевірена повним перебором і DP.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Перейдемо до реалізації моделі та перевірки в Python. Простежимо відповідність між дугами, змінними й рядками обмежень, а потім порівняємо результат з незалежними точними методами. Так перевіримо і математичну постановку, і правильність її перенесення в код.</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Послідовні фрагменти використовують ту саму матрицю. Повна програма та фактичний stdout є в практикумі.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масиві C зберігаємо ту саму матрицю часу, яку використовували для ручних кроків. Індекси від нуля до п’яти відповідають S, A, B, C, D, E. Нулі на діагоналі не є забороною переходів у той самий вузол: такі дуги окремо вилучимо з набору змінних.</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Початок tsp_examples.py. На слайдах Python далі подано послідовні фрагменти з відповідними залежностями. Повна самодостатня програма є в практикумі.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Між шістьма вузлами маємо тридцять напрямлених дуг без петель. Вектор вартостей і стовпці матриці обмежень використовують один порядок дуг. Перші шість рядків задають виходи, наступні шість задають входи; однакові нижні й верхні межі перетворюють ці умови на рівності.</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Продовження попереднього фрагмента. A має 12 рядків і 30 стовпців. Кожен рядок виходу відмічає дуги з певного i, кожен рядок входу — дуги до певного j. lo=hi=1 задає рівності.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Функція відновлює цикли з обраних дуг. Для кожного вузла зберігаємо його наступника, потім рухаємося переходами до повернення в початок і позначаємо відвідані вузли. Поріг 0,5 відокремлює значення, близькі до одиниці, від значень, близьких до нуля, у вже цілочисельному розв’язку.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Повна функція find_cycles з перевіреним бінарним x. Перед використанням перевіряємо відхилення від цілих значень, входи й виходи. Вибір value&gt;0.5 відновлює ознаку, але не перетворює дробовий LP-план на TSP-розв’язок.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Кожний виклик milp розв’язує поточну модель із бінарними змінними. Перевіряємо успішність завершення, відновлюємо цикли та друкуємо значення цілі. Перший запуск дає дванадцять і три окремі цикли, тому зовнішній навчальний цикл програми ще має додати обмеження зв’язності.</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Початок зовнішнього while True, продовження на наступному слайді з тим самим відступом. Два фрагменти разом утворюють повний цикл уточнення моделі. A,lo,hi,c,arcs визначені раніше. Показано перший рядок друку циклу. Повна програма додатково перевіряє матрицю, межі, статус 0 і бінарність.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Якщо знайдено один цикл, додаємо початковий вузол у кінець маршруту та завершуємо цикл програми. Інакше обираємо підцикл і будуємо рядок, який рахує його внутрішні дуги. Верхня межа дорівнює кількості вузлів мінус один; новий виклик milp врахує цю додаткову умову.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Друга частина того самого while True. Залежності задані на попередніх слайдах. break завершує цикл, коли отримано один маршрут. S як множина не залежить від напряму обходу. У практикумі маршрути друкуються в канонічному напрямі для симетричної матриці.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виводі видно чотири зовнішні кроки програми та обмеження, додане після кожного помилкового плану. Це повторні розв’язання різних уточнених моделей, а не внутрішні ітерації HiGHS. Останній запуск дає один маршрут із вартістю тридцять шість і нульовим розривом оптимальності.</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Дослівні рядки stdout запуску SciPy 1.17.0, від Крок 0 до MILP. Інший розв’язувач може вибрати інші рівноцінні проміжні плани. У коді кожна вартість перевірена перед форматуванням.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Для незалежної перевірки фіксуємо базу S та перебираємо всі перестановки п’яти інших вузлів. Отримуємо сто двадцять напрямлених обходів і для кожного рахуємо суму часу з поверненням на базу. Найменше значення знову тридцять шість; зі зростанням числа вузлів такий перебір швидко стає надто великим.</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Самодостатній фрагмент після визначення C і n. Перебір включає обидва напрями симетричного маршруту. Унікальних неорієнтованих обходів 60. У прикладі min із кортежами обирає канонічний лексикографічний маршрут за рівної вартості. Обчислення повного перебору має O(n·(n−1)!) часу за прямого підсумовування.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Динамічне програмування описує стан поточним вузлом і множиною ще не відвіданих майданчиків. Вартість завершення складається з наступного переходу та найкращого завершення з нового стану. Коли невідвіданих вузлів немає, залишається лише повернення до S; відповіді на повторювані підзадачі зберігаємо.</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Free University of Bozen-Bolzano, A. Artale: https://www.inf.unibz.it/~artale/ADP/Lectures/slide-6.2-TSP.pdf</a:t>
            </a:r>
          </a:p>
          <a:p xmlns:a="http://schemas.openxmlformats.org/drawingml/2006/main">
            <a:r>
              <a:t>Рекурсія Беллмана–Гелда–Карпа: f(i,R)=min_{j in R}[c(i,j)+f(j,R{j})]; f(i,empty)=c(i,S). Стан повертає найкращу вартість завершення і порядок вузлів. Кеш уникне повторних розрахунків однакових станів.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Із D потрібно ще відвідати B і C. Якщо спочатку їдемо до B, отримуємо п’ять хвилин переходу плюс тринадцять хвилин найкращого завершення. Через C маємо дванадцять плюс вісімнадцять, тому обираємо завершення D–B–C–S за вісімнадцять хвилин.</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Стан f(D,{B,C}). Варіант D-B: 5+f(B,{C})=5+13=18. Варіант D-C: 12+f(C,{B})=12+18=30. f(B,{C})=2+11=13, f(C,{B})=2+16=18. Ця підзадача є частиною повного TSP DP. Умовні дані із тієї самої матриці.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Функція dp перебирає наступний вузол і рекурсивно знаходить найкраще завершення. Декоратор lru_cache зберігає відповідь для пари поточний вузол і невідвідані вузли, щоб не обчислювати її повторно. Для цього запуску отримуємо оптимум тридцять шість і вісімдесят один збережений стан.</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Free University of Bozen-Bolzano, A. Artale: https://www.inf.unibz.it/~artale/ADP/Lectures/slide-6.2-TSP.pdf</a:t>
            </a:r>
          </a:p>
          <a:p xmlns:a="http://schemas.openxmlformats.org/drawingml/2006/main">
            <a:r>
              <a:t>Повна функція dp, відповідна програмі tsp_examples.py. Для заданої матриці відвідано 81 різний стан. Ця кількість стосується тільки цього прикладу. Метод точний, але має експоненційний ріст, класична оцінка O(n²2ⁿ).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Метод 2-opt поліпшує готовий маршрут, замінюючи два переходи та обертаючи частину порядку відвідування. Тут прибираємо переходи загальною вартістю вісімнадцять і додаємо переходи за сімнадцять. Отримуємо сорок три хвилини; повний пошук таких обмінів у цьому прикладі зупиняється вище за глобальний оптимум тридцять шість.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17: https://ocw.mit.edu/courses/15-053-optimization-methods-in-management-science-spring-2013/resources/mit15_053s13_lec17/</a:t>
            </a:r>
          </a:p>
          <a:p xmlns:a="http://schemas.openxmlformats.org/drawingml/2006/main">
            <a:r>
              <a:t>Від початкового маршруту S-A-D-E-C-B-S прибираємо D-E=2 та B-S=16. Додаємо D-B=5 та E-S=12, обертаючи фрагмент E-C-B. Новий S-A-D-B-C-E-S має вартість 43. Повний best-improvement 2-opt у програмі більше не знаходить поліпшення, але MILP знаходить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Порівняймо рисунки до й після обміну. Прибрано D–E і B–S, додано D–B та E–S, а фрагмент E–C–B обернено на B–C–E. Усі вузли залишилися в одному маршруті; його вартість зменшилася лише на одну хвилину, із сорока чотирьох до сорока трьох.</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Початковий S-A-D-E-C-B-S: 44. Прибираємо D-E=2 і B-S=16. Додаємо D-B=5 і E-S=12. Обертаємо фрагмент E-C-B до B-C-E. Для симетричної матриці внутрішні вартості зберігаються. Новий маршрут S-A-D-B-C-E-S: 43. Червоні пунктирні ребра прибираємо, зелені додаємо. Позиції вузлів схематичні й однакові на обох графах.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Код демонструє один конкретний обмін 2-opt: зріз списку обертає фрагмент E–C–B. Перевірка підтверджує збереження всіх вузлів, а функція вартості друкує сорок чотири та сорок три. Це демонстрація одного поліпшення; повний локальний пошук має перевіряти можливі обміни до зупинки.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17: https://ocw.mit.edu/courses/15-053-optimization-methods-in-management-science-spring-2013/resources/mit15_053s13_lec17/</a:t>
            </a:r>
          </a:p>
          <a:p xmlns:a="http://schemas.openxmlformats.org/drawingml/2006/main">
            <a:r>
              <a:t>Фрагмент одного конкретного обміну, а не повна реалізація пошуку 2-opt. Повний перебір обмінів і критерій зупинки наведені у two_opt в tsp_examples.py. Для асиметричного TSP потрібно перераховувати також напрям усіх внутрішніх дуг, як робить route_cost.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Механізми ЛП можна використовувати для нижніх оцінок дискретної задачі. Якщо прибрати вимогу цілочисельності, допустимих планів стане більше, тому мінімальна вартість не зросте. Тут ЛП з умовами підциклів випадково дає точний результат тридцять шість; для інших матриць розв’язок може бути дробовим.</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Обмеження підциклів можуть посилювати LP. Для цього прикладу LP з усіма 26 SEC для підмножин без S дає 36, але загалом LP TSP може мати дробовий оптимум. Гілки та межі використовують LP-оцінки. У базовому assignment-покритті з забороненими петлями структура має цілий оптимум, однак він може містити кілька циклів.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Функція linprog розв’язує неперервну версію вже уточненої моделі. Рівності входів і виходів передаємо окремо від нерівностей проти підциклів, а межі залишаємо від нуля до одного. Порівняння друкує однакову вартість ЛП і MILP, але загалом рівність значень потребує окремої перевірки структури плану.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Продовження після завершення while True. A[:2*n] — рівності входу й виходу, A[2*n:] — три додані відсічення, hi[2*n:] — їх праві частини. r залишається результатом MILP. Тут LP з трьома відсіченнями також має значення 36 і цілий план. Таблиця на попередньому слайді показувала окремий запуск із усіма 26 SEC. Обидва розрахунки перевірені, рівність не є загальною властивістю TSP. https://docs.scipy.org/doc/scipy-1.17.0/reference/generated/scipy.optimize.linprog.html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Перший аргумент milp задає коефіцієнти мінімізованої цілі, решта основних параметрів передаються за іменами. Integrality визначає тип змінних, bounds задає їх межі, constraints задає лінійні умови. Через options керуємо журналом і лімітами пошуку; без integrality змінні залишаються неперервними.</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Bounds задає допустимий діапазон кожної змінної. LinearConstraint задає нижню та верхню межі для лінійної комбінації; однакові межі означають рівність, нескінченна межа дозволяє односторонню нерівність. Бінарність отримуємо лише разом: цілочисельний тип і межі від нуля до одного.</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https://docs.scipy.org/doc/scipy-1.17.0/reference/generated/scipy.optimize.LinearConstraint.html</a:t>
            </a:r>
          </a:p>
          <a:p xmlns:a="http://schemas.openxmlformats.org/drawingml/2006/main">
            <a:r>
              <a:t>milp не враховує keep_feasible цих об’єктів. Типи integrality=2 та 3 означають напівнеперервні й напівцілі змінні, але в цих прикладах потрібні лише 0 та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Після запуску спочатку перевіряємо статус завершення, а потім читаємо план і значення цілі. Нижня межа та розрив показують, наскільки підтверджено оптимальність знайденого плану. Опція disp виводить журнал HiGHS; він описує роботу розв’язувача, тоді як наша навчальна траса пояснює зміни моделі.</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Для status=1 може бути допустимий план, але x може бути None. status=0 оцінюємо з урахуванням mip_rel_gap і числових допусків. У навчальній програмі встановлено mip_rel_gap=0 та перевірено план. output_tsp_solver_log.txt містить реальний stdout HiGHS за чотирьох послідовних викликів milp.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звіті останнього виклику HiGHS вартість знайденого плану та нижня межа дорівнюють тридцяти шести, а розрив становить нуль відсотків. Це доводить оптимальність поточної моделі. Один MIP-вузол і чотирнадцять ЛП-ітерацій є внутрішньою статистикою цього запуску; зв’язність маршруту перевіряємо окремо.</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Дослівно вибрані рядки останнього звіту output_tsp_solver_log.txt. Це один з чотирьох викликів HiGHS. Nodes=1 і LP iterations=14 — характеристики цього запуску, а не гарантія для інших задач або версій. Повний журнал збережений у практикумі.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Навіть після успішного завершення перевіряємо зміст результату. Маршрут повинен починатися й закінчуватися в S та містити кожен вузол рівно один раз до повернення. Окремо підсумовуємо час за початковою матрицею й порівнюємо його зі значенням цілі, яке повернув розв’язувач.</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Фрагмент після отримання route та r. У повній програмі окремо перевірено бінарність, Bounds і всі лінійні умови. Розміри route та повернення на базу не можна опускати: сам набір відвіданих вузлів не виявляє всі можливі помилки.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Найближчий сусід дає допустимий тур за сорок чотири, а локальний пошук 2-opt поліпшує його до сорока трьох. Точні методи підтверджують тридцять шість, але використовують різні способи пошуку й оцінювання. Якість маршруту, доказ оптимальності та витрати обчислень потрібно порівнювати окремо.</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14: https://ocw.mit.edu/courses/15-053-optimization-methods-in-management-science-spring-2013/resources/mit15_053s13_lec14/</a:t>
            </a:r>
          </a:p>
          <a:p xmlns:a="http://schemas.openxmlformats.org/drawingml/2006/main">
            <a:r>
              <a:t>Free University of Bozen-Bolzano, A. Artale: https://www.inf.unibz.it/~artale/ADP/Lectures/slide-6.2-TSP.pdf</a:t>
            </a:r>
          </a:p>
          <a:p xmlns:a="http://schemas.openxmlformats.org/drawingml/2006/main">
            <a:r>
              <a:t>MIT 15.053, Lecture 17: https://ocw.mit.edu/courses/15-053-optimization-methods-in-management-science-spring-2013/resources/mit15_053s13_lec17/</a:t>
            </a:r>
          </a:p>
          <a:p xmlns:a="http://schemas.openxmlformats.org/drawingml/2006/main">
            <a:r>
              <a:t>Оптимізаційна TSP є NP-складною, задача прийняття рішення — NP-повна. DP O(n²2ⁿ), перебір O(n·(n−1)!) за повного підсумовування, nearest neighbor O(n²) при прямому пошуку. Для MILP загального поліноміального часу не гарантуємо. Числові результати стосуються тільки навчальної матриці.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Графік порівнює вартості на одній матриці, тому різницю можна тлумачити безпосередньо. Найближчий сусід додає вісім хвилин до оптимального часу, а 2-opt додає сім. Для більшої задачі потрібно також оцінювати час пошуку: швидкість отримання плану й точність відповіді можуть вимагати компромісу.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Дані із фактичних запусків: nearest neighbor=44, best-improvement 2-opt=43, exact=36. Точність 36 незалежно підтверджено MILP, повним перебором та DP. Діаграма порівнює вартість, а не час роботи алгоритмів.</a:t>
            </a:r>
          </a:p>
          <a:p xmlns:a="http://schemas.openxmlformats.org/drawingml/2006/main">
            <a:r>
              <a:t>Алгоритм Літтла також дав C=36 у little_tsp.py.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Для великих дискретних задач застосовують випадковий пошук, відпал, генетичні та мурашині алгоритми. Відпал іноді приймає погіршення, генетичний алгоритм працює з популяцією, а мурашиний накопичує інформацію про переходи. Порівнюємо їх на однакових даних і бюджетах часу, у кількох запусках, щоразу перевіряючи допустимість маршруту.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MIT 15.053, Lecture 17: https://ocw.mit.edu/courses/15-053-optimization-methods-in-management-science-spring-2013/resources/mit15_053s13_lec17/</a:t>
            </a:r>
          </a:p>
          <a:p xmlns:a="http://schemas.openxmlformats.org/drawingml/2006/main">
            <a:r>
              <a:t>Генетичні оператори перестановок: https://deap.readthedocs.io/en/master/api/tools.html#deap.tools.cxOrdered</a:t>
            </a:r>
          </a:p>
          <a:p xmlns:a="http://schemas.openxmlformats.org/drawingml/2006/main">
            <a:r>
              <a:t>Відпал: Kirkpatrick, Gelatt, Vecchi, Science 220, 671–680 (1983), DOI 10.1126/science.220.4598.671, https://research.ibm.com/publications/optimization-by-simulated-annealing</a:t>
            </a:r>
          </a:p>
          <a:p xmlns:a="http://schemas.openxmlformats.org/drawingml/2006/main">
            <a:r>
              <a:t>Мурашиний метод: Dorigo, Gambardella (1997), Ant colony system: a cooperative learning approach to the traveling salesman problem, DOI 10.1109/4235.585892, https://ieeexplore.ieee.org/document/585892</a:t>
            </a:r>
          </a:p>
          <a:p xmlns:a="http://schemas.openxmlformats.org/drawingml/2006/main">
            <a:r>
              <a:t>Це огляд способів пошуку за суміжною лекцією, не приклад виконання цих алгоритмів у цьому практикумі. Для TSP представлення маршруту має бути перестановкою без повторень. Генетичні операції потребують спеціального кросоверу для перестановок або коректного ремонту. Мурахи не відвідують вузол вдруге за один обхід. Відпал використовує moves над допустимими маршрутами.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У практичній роботі обґрунтуйте власний сценарій обходу ІТ-майданчиків і змініть одну пару симетричних вартостей. Повторіть розв’язання та порівняйте евристику з точним методом. У звіті поясніть, які обмеження усунули підцикли, чому змінився маршрут і як перевірено його допустимість та вартість.</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Завдання не змінює наявних правил оцінювання курсу. Використовуйте малий приклад, для якого доступна незалежна точна перевірка. Синтетичні дані явно маркуйте. Для асиметричної матриці не можна канонізувати цикл шляхом довільного обернення, слід зберегти напрям.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Спробуйте відповісти без коду: чому три дешеві цикли не є розв’язком комівояжера і чому заборона S–A–S зберігає правильні тури? Поясніть різницю між локальним результатом сорок три та глобальним тридцять шість. Оптимальність тридцяти шести доводить збіг нижньої оцінки з вартістю допустимого маршруту.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Відповіді: 1) Вибрані переходи можуть утворити кілька циклів. 2) Збережено всі TSP-плани й виключено лише цикл із двох вузлів. 3) Порядок 2-opt локальний, краще поліпшення може потребувати більше змін. 4) Часткова модель має доведений мінімум 36 і допустимий TSP-маршрут також має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Після лекції ви маєте вміти обрати типи змінних, записати ціль і всі необхідні обмеження. Потрібно також пояснити хоча б один крок алгоритму, запустити програму й перевірити результат. У висновку розрізняйте допустимий план, евристичне поліпшення та розв’язок із доведеною оптимальністю.</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Критерії навчального результату без нових балів за домашні роботи.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Текст для виступу</a:t>
            </a:r>
          </a:p>
          <a:p xmlns:a="http://schemas.openxmlformats.org/drawingml/2006/main">
            <a:r>
              <a:t/>
            </a:r>
          </a:p>
          <a:p xmlns:a="http://schemas.openxmlformats.org/drawingml/2006/main">
            <a:r>
              <a:t>Для повторення використовуйте університетські матеріали з моделювання TSP, гілок і меж, евристик та динамічного програмування. Параметри бібліотечних функцій перевіряйте за документацією SciPy. У практичних програмах звіряйте той самий набір даних, відновлений маршрут, значення цілі й показники завершення пошуку.</a:t>
            </a:r>
          </a:p>
          <a:p xmlns:a="http://schemas.openxmlformats.org/drawingml/2006/main">
            <a:r>
              <a:t/>
            </a:r>
          </a:p>
          <a:p xmlns:a="http://schemas.openxmlformats.org/drawingml/2006/main">
            <a:r>
              <a:t>Пояснення та джерела</a:t>
            </a:r>
          </a:p>
          <a:p xmlns:a="http://schemas.openxmlformats.org/drawingml/2006/main">
            <a:r>
              <a:t/>
            </a:r>
          </a:p>
          <a:p xmlns:a="http://schemas.openxmlformats.org/drawingml/2006/main">
            <a:r>
              <a:t>SciPy 1.17.0: https://docs.scipy.org/doc/scipy-1.17.0/reference/generated/scipy.optimize.milp.html</a:t>
            </a:r>
          </a:p>
          <a:p xmlns:a="http://schemas.openxmlformats.org/drawingml/2006/main">
            <a:r>
              <a:t>https://docs.scipy.org/doc/scipy-1.17.0/reference/generated/scipy.optimize.LinearConstraint.html</a:t>
            </a:r>
          </a:p>
          <a:p xmlns:a="http://schemas.openxmlformats.org/drawingml/2006/main">
            <a:r>
              <a:t>MIT 15.053, Lecture 12: https://ocw.mit.edu/courses/15-053-optimization-methods-in-management-science-spring-2013/resources/mit15_053s13_lec12/</a:t>
            </a:r>
          </a:p>
          <a:p xmlns:a="http://schemas.openxmlformats.org/drawingml/2006/main">
            <a:r>
              <a:t>MIT 15.053, Lecture 14: https://ocw.mit.edu/courses/15-053-optimization-methods-in-management-science-spring-2013/resources/mit15_053s13_lec14/</a:t>
            </a:r>
          </a:p>
          <a:p xmlns:a="http://schemas.openxmlformats.org/drawingml/2006/main">
            <a:r>
              <a:t>MIT 15.053, Lecture 17: https://ocw.mit.edu/courses/15-053-optimization-methods-in-management-science-spring-2013/resources/mit15_053s13_lec17/</a:t>
            </a:r>
          </a:p>
          <a:p xmlns:a="http://schemas.openxmlformats.org/drawingml/2006/main">
            <a:r>
              <a:t>Free University of Bozen-Bolzano, A. Artale: https://www.inf.unibz.it/~artale/ADP/Lectures/slide-6.2-TSP.pdf</a:t>
            </a:r>
          </a:p>
          <a:p xmlns:a="http://schemas.openxmlformats.org/drawingml/2006/main">
            <a:r>
              <a:t>Матриця TSP та числові приклади VM/GPU створені для цього курсу й не запозичені з MIT. Програми використовують перевірений SciPy 1.17.0.</a:t>
            </a:r>
          </a:p>
          <a:p xmlns:a="http://schemas.openxmlformats.org/drawingml/2006/main">
            <a:r>
              <a:t>Little, Murty, Sweeney, Karel (1963). An Algorithm for the Traveling Salesman Problem. Operations Research 11(6), 972–989. DOI: 10.1287/opre.11.6.972. https://pubsonline.informs.org/doi/10.1287/opre.11.6.972</a:t>
            </a:r>
          </a:p>
          <a:p xmlns:a="http://schemas.openxmlformats.org/drawingml/2006/main">
            <a:r>
              <a:t>MIT working-paper record: https://dspace.mit.edu/entities/publication/44d534cb-a4fd-4a6e-bdd3-56b5064651e8</a:t>
            </a:r>
          </a:p>
          <a:p xmlns:a="http://schemas.openxmlformats.org/drawingml/2006/main">
            <a:r>
              <a:t>Original working-paper transcription: https://archive.org/download/algorithmfortrav00litt/algorithmfortrav00litt_djvu.txt</a:t>
            </a:r>
          </a:p>
          <a:p xmlns:a="http://schemas.openxmlformats.org/drawingml/2006/main">
            <a:r>
              <a:t>Land, A. H., Doig, A. G. (1960). An Automatic Method of Solving Discrete Programming Problems. Econometrica 28(3), 497–520. DOI: 10.2307/1910129. Original paper: https://jmvidal.cse.sc.edu/library/land60a.pdf</a:t>
            </a:r>
          </a:p>
          <a:p xmlns:a="http://schemas.openxmlformats.org/drawingml/2006/main">
            <a:r>
              <a:t>Додатковий практикум: little_tsp.py, output_little_steps.txt, little_trace.json.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b245c1441a4a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87f9793c7a49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6dcadc906c4b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1f8203714c40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36a50696ed4d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cd4ff0f55048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7AB05F-8302-4314-BFD1-B436E20CC5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E48B1E-E4BC-4F89-B1EC-5973DA86C9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6B0D53-F5C8-4216-B3B3-2AF287D23C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FC5C2-12BA-49B7-B34E-E912538525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DDA43A-9A03-4B89-8D18-5BC3AB86EC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50EEF1-61D0-4721-958B-8989FE48FC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C8A317-656A-4BEF-99B8-E547067244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F894F8-1AFE-4D81-A9D5-3B5477FDA4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04AD2F-DC6E-428D-8E4D-03FAECD766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C4A369-F20A-48A7-BA2A-8345134D97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a35e787ec3438b" /><Relationship Type="http://schemas.openxmlformats.org/officeDocument/2006/relationships/slideLayout" Target="/ppt/slideLayouts/slideLayout1.xml" Id="Rabed8f46173042b6" /><Relationship Type="http://schemas.openxmlformats.org/officeDocument/2006/relationships/slideLayout" Target="/ppt/slideLayouts/slideLayout2.xml" Id="R9ff68078f88f485d" /><Relationship Type="http://schemas.openxmlformats.org/officeDocument/2006/relationships/slideLayout" Target="/ppt/slideLayouts/slideLayout3.xml" Id="Ra0190e91bacd4f31" /><Relationship Type="http://schemas.openxmlformats.org/officeDocument/2006/relationships/slideLayout" Target="/ppt/slideLayouts/slideLayout4.xml" Id="Rb9dc21ca238146b5" /><Relationship Type="http://schemas.openxmlformats.org/officeDocument/2006/relationships/slideLayout" Target="/ppt/slideLayouts/slideLayout5.xml" Id="Rd0fce4da4c714bed" /><Relationship Type="http://schemas.openxmlformats.org/officeDocument/2006/relationships/slideLayout" Target="/ppt/slideLayouts/slideLayout6.xml" Id="Rb9dddff68e144e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ed8f46173042b6"/>
    <p:sldLayoutId xmlns:r="http://schemas.openxmlformats.org/officeDocument/2006/relationships" id="2147483650" r:id="R9ff68078f88f485d"/>
    <p:sldLayoutId xmlns:r="http://schemas.openxmlformats.org/officeDocument/2006/relationships" id="2147483651" r:id="Ra0190e91bacd4f31"/>
    <p:sldLayoutId xmlns:r="http://schemas.openxmlformats.org/officeDocument/2006/relationships" id="2147483652" r:id="Rb9dc21ca238146b5"/>
    <p:sldLayoutId xmlns:r="http://schemas.openxmlformats.org/officeDocument/2006/relationships" id="2147483653" r:id="Rd0fce4da4c714bed"/>
    <p:sldLayoutId xmlns:r="http://schemas.openxmlformats.org/officeDocument/2006/relationships" id="2147483654" r:id="Rb9dddff68e144e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7153cb1ce94c1e" /><Relationship Type="http://schemas.openxmlformats.org/officeDocument/2006/relationships/notesSlide" Target="/ppt/notesSlides/notesSlide1.xml" Id="R43cdd366616a4d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f8e04d105e404f" /><Relationship Type="http://schemas.openxmlformats.org/officeDocument/2006/relationships/notesSlide" Target="/ppt/notesSlides/notesSlide2.xml" Id="R50f4855be2aa4c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fabf50eef8490c" /><Relationship Type="http://schemas.openxmlformats.org/officeDocument/2006/relationships/notesSlide" Target="/ppt/notesSlides/notesSlide3.xml" Id="Rdebddd44145d43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95f462ade04038" /><Relationship Type="http://schemas.openxmlformats.org/officeDocument/2006/relationships/notesSlide" Target="/ppt/notesSlides/notesSlide4.xml" Id="R0e0fecf9f93446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6397588de448c3" /><Relationship Type="http://schemas.openxmlformats.org/officeDocument/2006/relationships/notesSlide" Target="/ppt/notesSlides/notesSlide5.xml" Id="R43ea28ea046646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87d9404ced4bc6" /><Relationship Type="http://schemas.openxmlformats.org/officeDocument/2006/relationships/notesSlide" Target="/ppt/notesSlides/notesSlide6.xml" Id="R9a2a7eec321b42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f9b59895ed491b" /><Relationship Type="http://schemas.openxmlformats.org/officeDocument/2006/relationships/notesSlide" Target="/ppt/notesSlides/notesSlide7.xml" Id="R06af39b477714e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807dcd859b4fd7" /><Relationship Type="http://schemas.openxmlformats.org/officeDocument/2006/relationships/notesSlide" Target="/ppt/notesSlides/notesSlide8.xml" Id="R339beee51b3a43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f553e21f0c347a6" /><Relationship Type="http://schemas.openxmlformats.org/officeDocument/2006/relationships/notesSlide" Target="/ppt/notesSlides/notesSlide9.xml" Id="Raef88a39cd2b44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09766e898f4dcb" /><Relationship Type="http://schemas.openxmlformats.org/officeDocument/2006/relationships/notesSlide" Target="/ppt/notesSlides/notesSlide10.xml" Id="R55e7c04d23f343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ddd0b82a5cc4fe2" /><Relationship Type="http://schemas.openxmlformats.org/officeDocument/2006/relationships/notesSlide" Target="/ppt/notesSlides/notesSlide11.xml" Id="R8fa7db5a18a84a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a9096e1d67644cd" /><Relationship Type="http://schemas.openxmlformats.org/officeDocument/2006/relationships/notesSlide" Target="/ppt/notesSlides/notesSlide12.xml" Id="Reaba8af953914d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c3557c4a2b14635" /><Relationship Type="http://schemas.openxmlformats.org/officeDocument/2006/relationships/notesSlide" Target="/ppt/notesSlides/notesSlide13.xml" Id="R5dc97cc9b4c34e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753281876c24d8e" /><Relationship Type="http://schemas.openxmlformats.org/officeDocument/2006/relationships/notesSlide" Target="/ppt/notesSlides/notesSlide14.xml" Id="Rb280131ff7fe4e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ba7f7922c864579" /><Relationship Type="http://schemas.openxmlformats.org/officeDocument/2006/relationships/notesSlide" Target="/ppt/notesSlides/notesSlide15.xml" Id="R472e230362e74c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00163ae57d643a3" /><Relationship Type="http://schemas.openxmlformats.org/officeDocument/2006/relationships/notesSlide" Target="/ppt/notesSlides/notesSlide16.xml" Id="R691ca42bebfc4f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5b320655c104f8e" /><Relationship Type="http://schemas.openxmlformats.org/officeDocument/2006/relationships/notesSlide" Target="/ppt/notesSlides/notesSlide17.xml" Id="Rcc8ba8981c3640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ed9d61815164186" /><Relationship Type="http://schemas.openxmlformats.org/officeDocument/2006/relationships/notesSlide" Target="/ppt/notesSlides/notesSlide18.xml" Id="Rc0776df9bb6b4c5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bc67d51cc284892" /><Relationship Type="http://schemas.openxmlformats.org/officeDocument/2006/relationships/chart" Target="/ppt/slides/charts/chart1.xml" Id="R3cfb576dbf884e82" /><Relationship Type="http://schemas.openxmlformats.org/officeDocument/2006/relationships/notesSlide" Target="/ppt/notesSlides/notesSlide19.xml" Id="R6ef3ec4dd38547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3b38f26d62f4ced" /><Relationship Type="http://schemas.openxmlformats.org/officeDocument/2006/relationships/notesSlide" Target="/ppt/notesSlides/notesSlide20.xml" Id="Re9410203f2924e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e9556b663d647d6" /><Relationship Type="http://schemas.openxmlformats.org/officeDocument/2006/relationships/notesSlide" Target="/ppt/notesSlides/notesSlide21.xml" Id="R30a1ce48af3740a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585797cd2104a59" /><Relationship Type="http://schemas.openxmlformats.org/officeDocument/2006/relationships/notesSlide" Target="/ppt/notesSlides/notesSlide22.xml" Id="Re79564a79cd846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d31f4cb73014b04" /><Relationship Type="http://schemas.openxmlformats.org/officeDocument/2006/relationships/chart" Target="/ppt/slides/charts/chart2.xml" Id="Rfff558fa033e45c6" /><Relationship Type="http://schemas.openxmlformats.org/officeDocument/2006/relationships/notesSlide" Target="/ppt/notesSlides/notesSlide23.xml" Id="Rdc0e7966360a430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1f8a1ec30054733" /><Relationship Type="http://schemas.openxmlformats.org/officeDocument/2006/relationships/notesSlide" Target="/ppt/notesSlides/notesSlide24.xml" Id="R77263511d3df46b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5808164e50548e3" /><Relationship Type="http://schemas.openxmlformats.org/officeDocument/2006/relationships/notesSlide" Target="/ppt/notesSlides/notesSlide25.xml" Id="Rc241383b2de445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1929f6d959f4001" /><Relationship Type="http://schemas.openxmlformats.org/officeDocument/2006/relationships/notesSlide" Target="/ppt/notesSlides/notesSlide26.xml" Id="R47742750a91d420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6fec25c73254ca9" /><Relationship Type="http://schemas.openxmlformats.org/officeDocument/2006/relationships/notesSlide" Target="/ppt/notesSlides/notesSlide27.xml" Id="Ra462f9c2fd234ec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9bb513dc4784ec4" /><Relationship Type="http://schemas.openxmlformats.org/officeDocument/2006/relationships/notesSlide" Target="/ppt/notesSlides/notesSlide28.xml" Id="R3e69c8848687408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f9f703d703d46f0" /><Relationship Type="http://schemas.openxmlformats.org/officeDocument/2006/relationships/notesSlide" Target="/ppt/notesSlides/notesSlide29.xml" Id="R53164cd4c2424b2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32e9958e8514a7d" /><Relationship Type="http://schemas.openxmlformats.org/officeDocument/2006/relationships/notesSlide" Target="/ppt/notesSlides/notesSlide30.xml" Id="R7509b8f4f164484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340d583f8dc4475" /><Relationship Type="http://schemas.openxmlformats.org/officeDocument/2006/relationships/notesSlide" Target="/ppt/notesSlides/notesSlide31.xml" Id="R778e00319f8042d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3bd8827900f4784" /><Relationship Type="http://schemas.openxmlformats.org/officeDocument/2006/relationships/notesSlide" Target="/ppt/notesSlides/notesSlide32.xml" Id="R5bfb254144ad408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20d6ededf5e4b2e" /><Relationship Type="http://schemas.openxmlformats.org/officeDocument/2006/relationships/notesSlide" Target="/ppt/notesSlides/notesSlide33.xml" Id="R92448c69113e4cf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80b73437c3e4970" /><Relationship Type="http://schemas.openxmlformats.org/officeDocument/2006/relationships/notesSlide" Target="/ppt/notesSlides/notesSlide34.xml" Id="R9583a41c07e04fc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5ab05a2a045492b" /><Relationship Type="http://schemas.openxmlformats.org/officeDocument/2006/relationships/notesSlide" Target="/ppt/notesSlides/notesSlide35.xml" Id="Rbacd4a350058425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e98aaaa5f0c4378" /><Relationship Type="http://schemas.openxmlformats.org/officeDocument/2006/relationships/notesSlide" Target="/ppt/notesSlides/notesSlide36.xml" Id="R3fda9b179d3e4df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b837b1768ba40f5" /><Relationship Type="http://schemas.openxmlformats.org/officeDocument/2006/relationships/notesSlide" Target="/ppt/notesSlides/notesSlide37.xml" Id="R64afb51a5b2746f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bae7821b14c47b1" /><Relationship Type="http://schemas.openxmlformats.org/officeDocument/2006/relationships/notesSlide" Target="/ppt/notesSlides/notesSlide38.xml" Id="R5f0e42b631c8409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f5ca1295a344ec4" /><Relationship Type="http://schemas.openxmlformats.org/officeDocument/2006/relationships/notesSlide" Target="/ppt/notesSlides/notesSlide39.xml" Id="Rd4436b605c6b4a5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ab64c6301dd4d7c" /><Relationship Type="http://schemas.openxmlformats.org/officeDocument/2006/relationships/notesSlide" Target="/ppt/notesSlides/notesSlide40.xml" Id="Radf496251b4647e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c0844c9f6ae44d8" /><Relationship Type="http://schemas.openxmlformats.org/officeDocument/2006/relationships/notesSlide" Target="/ppt/notesSlides/notesSlide41.xml" Id="R36459c53241449f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2056c6e15334c69" /><Relationship Type="http://schemas.openxmlformats.org/officeDocument/2006/relationships/notesSlide" Target="/ppt/notesSlides/notesSlide42.xml" Id="Rb330f9a861d24e8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e3d68376ef941d5" /><Relationship Type="http://schemas.openxmlformats.org/officeDocument/2006/relationships/notesSlide" Target="/ppt/notesSlides/notesSlide43.xml" Id="R97e122645bff4a7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b6c2ecd4dc643e0" /><Relationship Type="http://schemas.openxmlformats.org/officeDocument/2006/relationships/notesSlide" Target="/ppt/notesSlides/notesSlide44.xml" Id="Rba61f872fd27459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58738b97c844b73" /><Relationship Type="http://schemas.openxmlformats.org/officeDocument/2006/relationships/notesSlide" Target="/ppt/notesSlides/notesSlide45.xml" Id="R46ddabff7eba43b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2223da85ae5438a" /><Relationship Type="http://schemas.openxmlformats.org/officeDocument/2006/relationships/notesSlide" Target="/ppt/notesSlides/notesSlide46.xml" Id="R9c78815c51234ef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e20d1b7217634d4e" /><Relationship Type="http://schemas.openxmlformats.org/officeDocument/2006/relationships/notesSlide" Target="/ppt/notesSlides/notesSlide47.xml" Id="Red58de45c8f74f2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3bd96c82c4345be" /><Relationship Type="http://schemas.openxmlformats.org/officeDocument/2006/relationships/notesSlide" Target="/ppt/notesSlides/notesSlide48.xml" Id="R0bf9805f47d24e7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7e7fbce2f7c04c58" /><Relationship Type="http://schemas.openxmlformats.org/officeDocument/2006/relationships/notesSlide" Target="/ppt/notesSlides/notesSlide49.xml" Id="R974f9b9380fa45b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f754ef9505814b6d" /><Relationship Type="http://schemas.openxmlformats.org/officeDocument/2006/relationships/notesSlide" Target="/ppt/notesSlides/notesSlide50.xml" Id="R1856ab2343574e5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2f58f44018c4c6c" /><Relationship Type="http://schemas.openxmlformats.org/officeDocument/2006/relationships/notesSlide" Target="/ppt/notesSlides/notesSlide51.xml" Id="R26a08596cac1409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869f3953b0374a8b" /><Relationship Type="http://schemas.openxmlformats.org/officeDocument/2006/relationships/notesSlide" Target="/ppt/notesSlides/notesSlide52.xml" Id="R20178c44ecd343a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e2a73cf1d1c94289" /><Relationship Type="http://schemas.openxmlformats.org/officeDocument/2006/relationships/notesSlide" Target="/ppt/notesSlides/notesSlide53.xml" Id="Ra083760fb0334fd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a910871453874ef7" /><Relationship Type="http://schemas.openxmlformats.org/officeDocument/2006/relationships/notesSlide" Target="/ppt/notesSlides/notesSlide54.xml" Id="Rf05eb7ede16e46c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08f7ddc0e7204e5f" /><Relationship Type="http://schemas.openxmlformats.org/officeDocument/2006/relationships/notesSlide" Target="/ppt/notesSlides/notesSlide55.xml" Id="R584e6df525774e4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06370b79d0de4af0" /><Relationship Type="http://schemas.openxmlformats.org/officeDocument/2006/relationships/notesSlide" Target="/ppt/notesSlides/notesSlide56.xml" Id="R59c925ce4c7a47a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495054855b9f480b" /><Relationship Type="http://schemas.openxmlformats.org/officeDocument/2006/relationships/notesSlide" Target="/ppt/notesSlides/notesSlide57.xml" Id="R2e1ebc94d1ec4fe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6f81304bd7124fcf" /><Relationship Type="http://schemas.openxmlformats.org/officeDocument/2006/relationships/notesSlide" Target="/ppt/notesSlides/notesSlide58.xml" Id="R9f18854d948e4b2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26c7d0f0f28b4e73" /><Relationship Type="http://schemas.openxmlformats.org/officeDocument/2006/relationships/notesSlide" Target="/ppt/notesSlides/notesSlide59.xml" Id="R3c7adbec67604cf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329935c3755647dc" /><Relationship Type="http://schemas.openxmlformats.org/officeDocument/2006/relationships/notesSlide" Target="/ppt/notesSlides/notesSlide60.xml" Id="R391f3aa98546499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8177e3c4bb0445fe" /><Relationship Type="http://schemas.openxmlformats.org/officeDocument/2006/relationships/notesSlide" Target="/ppt/notesSlides/notesSlide61.xml" Id="R064d8f4bacb44ec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14832c13b5ae45da" /><Relationship Type="http://schemas.openxmlformats.org/officeDocument/2006/relationships/notesSlide" Target="/ppt/notesSlides/notesSlide62.xml" Id="R299fee70990b43e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1a6fcc8f4c194940" /><Relationship Type="http://schemas.openxmlformats.org/officeDocument/2006/relationships/notesSlide" Target="/ppt/notesSlides/notesSlide63.xml" Id="R87cbda34b2d24c1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6bf6817d4e484744" /><Relationship Type="http://schemas.openxmlformats.org/officeDocument/2006/relationships/notesSlide" Target="/ppt/notesSlides/notesSlide64.xml" Id="R8b0b8854084f466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face0c6116724d34" /><Relationship Type="http://schemas.openxmlformats.org/officeDocument/2006/relationships/notesSlide" Target="/ppt/notesSlides/notesSlide65.xml" Id="Rdc89fc6a33984ed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f123c5cf6d0e48a5" /><Relationship Type="http://schemas.openxmlformats.org/officeDocument/2006/relationships/notesSlide" Target="/ppt/notesSlides/notesSlide66.xml" Id="R18c62dd05829427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4ae1ab3e5924bfc" /><Relationship Type="http://schemas.openxmlformats.org/officeDocument/2006/relationships/notesSlide" Target="/ppt/notesSlides/notesSlide67.xml" Id="R479c3ef44a784c8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eea552d84b8445e2" /><Relationship Type="http://schemas.openxmlformats.org/officeDocument/2006/relationships/notesSlide" Target="/ppt/notesSlides/notesSlide68.xml" Id="Rf376cb4d3616412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88574a3364634610" /><Relationship Type="http://schemas.openxmlformats.org/officeDocument/2006/relationships/notesSlide" Target="/ppt/notesSlides/notesSlide69.xml" Id="Rdae7f55d218840f5"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395da46fa6e848a9" /><Relationship Type="http://schemas.openxmlformats.org/officeDocument/2006/relationships/notesSlide" Target="/ppt/notesSlides/notesSlide70.xml" Id="R7c5a1e33ad8d49a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0c99a785108c422d" /><Relationship Type="http://schemas.openxmlformats.org/officeDocument/2006/relationships/notesSlide" Target="/ppt/notesSlides/notesSlide71.xml" Id="R3a0634d96ff1431e"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3fbdff2bd84545a9" /><Relationship Type="http://schemas.openxmlformats.org/officeDocument/2006/relationships/notesSlide" Target="/ppt/notesSlides/notesSlide72.xml" Id="R9e15757df86e439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52daa51d6e6b48d6" /><Relationship Type="http://schemas.openxmlformats.org/officeDocument/2006/relationships/notesSlide" Target="/ppt/notesSlides/notesSlide73.xml" Id="R4615375cf3b44e7f"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37d7eb4ce6474a9b" /><Relationship Type="http://schemas.openxmlformats.org/officeDocument/2006/relationships/notesSlide" Target="/ppt/notesSlides/notesSlide74.xml" Id="Rcb8af0db32eb401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02a72c80c54244e9" /><Relationship Type="http://schemas.openxmlformats.org/officeDocument/2006/relationships/notesSlide" Target="/ppt/notesSlides/notesSlide75.xml" Id="R414cd7008d3e4a2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075703a97b524662" /><Relationship Type="http://schemas.openxmlformats.org/officeDocument/2006/relationships/notesSlide" Target="/ppt/notesSlides/notesSlide76.xml" Id="Rb05d96e2bdbd42cc"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663b64a02ee64e52" /><Relationship Type="http://schemas.openxmlformats.org/officeDocument/2006/relationships/notesSlide" Target="/ppt/notesSlides/notesSlide77.xml" Id="R0bffd77cb5ca442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c6508f66c1d947ca" /><Relationship Type="http://schemas.openxmlformats.org/officeDocument/2006/relationships/notesSlide" Target="/ppt/notesSlides/notesSlide78.xml" Id="R6aaa1c59f0b848a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642bddd88ab04c62" /><Relationship Type="http://schemas.openxmlformats.org/officeDocument/2006/relationships/notesSlide" Target="/ppt/notesSlides/notesSlide79.xml" Id="Rcf1536f06e3e48b8"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061652b04cb14c4b" /><Relationship Type="http://schemas.openxmlformats.org/officeDocument/2006/relationships/notesSlide" Target="/ppt/notesSlides/notesSlide80.xml" Id="R9a7a9aba6ec446d6"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a60d2c17bdfc4b3f" /><Relationship Type="http://schemas.openxmlformats.org/officeDocument/2006/relationships/notesSlide" Target="/ppt/notesSlides/notesSlide81.xml" Id="R76413e5fc32c4f44"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51153657a3954088" /><Relationship Type="http://schemas.openxmlformats.org/officeDocument/2006/relationships/notesSlide" Target="/ppt/notesSlides/notesSlide82.xml" Id="Rf7ac54705562418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d1ae523abd4d4f2b" /><Relationship Type="http://schemas.openxmlformats.org/officeDocument/2006/relationships/notesSlide" Target="/ppt/notesSlides/notesSlide83.xml" Id="R148738b7129a42b3"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8cea4569e38345ca" /><Relationship Type="http://schemas.openxmlformats.org/officeDocument/2006/relationships/notesSlide" Target="/ppt/notesSlides/notesSlide84.xml" Id="R325f0ff431de477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ccea48e049f04369" /><Relationship Type="http://schemas.openxmlformats.org/officeDocument/2006/relationships/notesSlide" Target="/ppt/notesSlides/notesSlide85.xml" Id="R740fb8fabbc841a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8e9f631961a540cb" /><Relationship Type="http://schemas.openxmlformats.org/officeDocument/2006/relationships/notesSlide" Target="/ppt/notesSlides/notesSlide86.xml" Id="R843b3885478843f7"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44552e78653a485f" /><Relationship Type="http://schemas.openxmlformats.org/officeDocument/2006/relationships/notesSlide" Target="/ppt/notesSlides/notesSlide87.xml" Id="R9439fa7d4dd247ac"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30241ca56f2c4c96" /><Relationship Type="http://schemas.openxmlformats.org/officeDocument/2006/relationships/notesSlide" Target="/ppt/notesSlides/notesSlide88.xml" Id="R23a8df47ad334215"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60936423b70944c3" /><Relationship Type="http://schemas.openxmlformats.org/officeDocument/2006/relationships/notesSlide" Target="/ppt/notesSlides/notesSlide89.xml" Id="R3e4332a39c0f4d7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5f36fa739f1944da" /><Relationship Type="http://schemas.openxmlformats.org/officeDocument/2006/relationships/notesSlide" Target="/ppt/notesSlides/notesSlide90.xml" Id="Ra11d144a250d4855"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67e55988bdf64d06" /><Relationship Type="http://schemas.openxmlformats.org/officeDocument/2006/relationships/notesSlide" Target="/ppt/notesSlides/notesSlide91.xml" Id="R4b95662a5c5f4884"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b8ee65baf1654bb7" /><Relationship Type="http://schemas.openxmlformats.org/officeDocument/2006/relationships/notesSlide" Target="/ppt/notesSlides/notesSlide92.xml" Id="R242ef7c2967343a2"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43d644a4f6814e75" /><Relationship Type="http://schemas.openxmlformats.org/officeDocument/2006/relationships/notesSlide" Target="/ppt/notesSlides/notesSlide93.xml" Id="R6b25d53af54d4ea6"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bc551814824b48df" /><Relationship Type="http://schemas.openxmlformats.org/officeDocument/2006/relationships/notesSlide" Target="/ppt/notesSlides/notesSlide94.xml" Id="R6727360b857049b2"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790255b539314191" /><Relationship Type="http://schemas.openxmlformats.org/officeDocument/2006/relationships/chart" Target="/ppt/slides/charts/chart3.xml" Id="R61f86e2d7f54415a" /><Relationship Type="http://schemas.openxmlformats.org/officeDocument/2006/relationships/notesSlide" Target="/ppt/notesSlides/notesSlide95.xml" Id="Ra3261cee82ac4ee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a845473275aa400b" /><Relationship Type="http://schemas.openxmlformats.org/officeDocument/2006/relationships/notesSlide" Target="/ppt/notesSlides/notesSlide96.xml" Id="R8e30f9312d2f4dfd"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aa6adae70ab845e1" /><Relationship Type="http://schemas.openxmlformats.org/officeDocument/2006/relationships/notesSlide" Target="/ppt/notesSlides/notesSlide97.xml" Id="Rdeb2699bb0dd433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0d8fe154ad014edc" /><Relationship Type="http://schemas.openxmlformats.org/officeDocument/2006/relationships/notesSlide" Target="/ppt/notesSlides/notesSlide98.xml" Id="Rad3bec8b95e24654"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a223f215c34b4387" /><Relationship Type="http://schemas.openxmlformats.org/officeDocument/2006/relationships/notesSlide" Target="/ppt/notesSlides/notesSlide99.xml" Id="R688cc5c485674e1c"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5406dc67786f4d18" /><Relationship Type="http://schemas.openxmlformats.org/officeDocument/2006/relationships/notesSlide" Target="/ppt/notesSlides/notesSlide100.xml" Id="Rf82a6155686844d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Relationships xmlns="http://schemas.openxmlformats.org/package/2006/relationships"><Relationship Id="rIdChartSnapshot1" Type="http://schemas.openxmlformats.org/officeDocument/2006/relationships/package" Target="../../embeddings/source-tsp-chart-1.xlsx"/></Relationships>
</file>

<file path=ppt/slides/charts/_rels/chart3.xml.rels><?xml version='1.0' encoding='UTF-8'?>
<Relationships xmlns="http://schemas.openxmlformats.org/package/2006/relationships"><Relationship Id="rIdChartSnapshot1" Type="http://schemas.openxmlformats.org/officeDocument/2006/relationships/package" Target="../../embeddings/source-tsp-chart-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Відрізки 6 м</c:v>
          </c:tx>
          <c:spPr>
            <a:solidFill xmlns:a="http://schemas.openxmlformats.org/drawingml/2006/main">
              <a:srgbClr val="00857D"/>
            </a:solidFill>
          </c:spPr>
          <c:dLbls>
            <c:dLbl>
              <c:idx val="1"/>
              <c:showVal val="0"/>
            </c:dLbl>
            <c:txPr>
              <a:bodyPr xmlns:a="http://schemas.openxmlformats.org/drawingml/2006/main" anchorCtr="1"/>
              <a:lstStyle xmlns:a="http://schemas.openxmlformats.org/drawingml/2006/main"/>
              <a:p xmlns:a="http://schemas.openxmlformats.org/drawingml/2006/main">
                <a:pPr>
                  <a:defRPr sz="202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'Chart Data'!$A$2:$A$4</c:f>
              <c:strCache>
                <c:ptCount val="3"/>
                <c:pt idx="0">
                  <c:v>P3: 6</c:v>
                </c:pt>
                <c:pt idx="1">
                  <c:v>P2: 4+4</c:v>
                </c:pt>
                <c:pt idx="2">
                  <c:v>P1: 6+4</c:v>
                </c:pt>
              </c:strCache>
            </c:strRef>
          </c:cat>
          <c:val>
            <c:numRef>
              <c:f>'Chart Data'!$B$2:$B$4</c:f>
              <c:numCache>
                <c:formatCode>General</c:formatCode>
                <c:ptCount val="3"/>
                <c:pt idx="0">
                  <c:v>6</c:v>
                </c:pt>
                <c:pt idx="1">
                  <c:v>0</c:v>
                </c:pt>
                <c:pt idx="2">
                  <c:v>6</c:v>
                </c:pt>
              </c:numCache>
            </c:numRef>
          </c:val>
        </c:ser>
        <c:ser>
          <c:idx val="1"/>
          <c:order val="1"/>
          <c:tx>
            <c:v>Відрізки 4 м</c:v>
          </c:tx>
          <c:spPr>
            <a:solidFill xmlns:a="http://schemas.openxmlformats.org/drawingml/2006/main">
              <a:srgbClr val="2868AF"/>
            </a:solidFill>
          </c:spPr>
          <c:dLbls>
            <c:dLbl>
              <c:idx val="0"/>
              <c:showVal val="0"/>
            </c:dLbl>
            <c:txPr>
              <a:bodyPr xmlns:a="http://schemas.openxmlformats.org/drawingml/2006/main" anchorCtr="1"/>
              <a:lstStyle xmlns:a="http://schemas.openxmlformats.org/drawingml/2006/main"/>
              <a:p xmlns:a="http://schemas.openxmlformats.org/drawingml/2006/main">
                <a:pPr>
                  <a:defRPr sz="202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'Chart Data'!$C$2:$C$4</c:f>
              <c:strCache>
                <c:ptCount val="3"/>
                <c:pt idx="0">
                  <c:v>P3: 6</c:v>
                </c:pt>
                <c:pt idx="1">
                  <c:v>P2: 4+4</c:v>
                </c:pt>
                <c:pt idx="2">
                  <c:v>P1: 6+4</c:v>
                </c:pt>
              </c:strCache>
            </c:strRef>
          </c:cat>
          <c:val>
            <c:numRef>
              <c:f>'Chart Data'!$D$2:$D$4</c:f>
              <c:numCache>
                <c:formatCode>General</c:formatCode>
                <c:ptCount val="3"/>
                <c:pt idx="0">
                  <c:v>0</c:v>
                </c:pt>
                <c:pt idx="1">
                  <c:v>8</c:v>
                </c:pt>
                <c:pt idx="2">
                  <c:v>4</c:v>
                </c:pt>
              </c:numCache>
            </c:numRef>
          </c:val>
        </c:ser>
        <c:ser>
          <c:idx val="2"/>
          <c:order val="2"/>
          <c:tx>
            <c:v>Залишок</c:v>
          </c:tx>
          <c:spPr>
            <a:solidFill xmlns:a="http://schemas.openxmlformats.org/drawingml/2006/main">
              <a:srgbClr val="DCE3E9"/>
            </a:solidFill>
          </c:spPr>
          <c:dLbls>
            <c:dLbl>
              <c:idx val="2"/>
              <c:showVal val="0"/>
            </c:dLbl>
            <c:txPr>
              <a:bodyPr xmlns:a="http://schemas.openxmlformats.org/drawingml/2006/main" anchorCtr="1"/>
              <a:lstStyle xmlns:a="http://schemas.openxmlformats.org/drawingml/2006/main"/>
              <a:p xmlns:a="http://schemas.openxmlformats.org/drawingml/2006/main">
                <a:pPr>
                  <a:defRPr sz="2025" b="1">
                    <a:solidFill>
                      <a:srgbClr val="173047"/>
                    </a:solidFill>
                    <a:latin typeface="Arial"/>
                    <a:ea typeface="Arial"/>
                    <a:cs typeface="Arial"/>
                  </a:defRPr>
                </a:pPr>
              </a:p>
            </c:txPr>
            <c:dLblPos val="ctr"/>
            <c:showLegendKey val="0"/>
            <c:showVal val="1"/>
            <c:showCatName val="0"/>
            <c:showSerName val="0"/>
            <c:showPercent val="0"/>
            <c:showBubbleSize val="0"/>
            <c:showLeaderLines val="0"/>
          </c:dLbls>
          <c:cat>
            <c:strRef>
              <c:f>'Chart Data'!$E$2:$E$4</c:f>
              <c:strCache>
                <c:ptCount val="3"/>
                <c:pt idx="0">
                  <c:v>P3: 6</c:v>
                </c:pt>
                <c:pt idx="1">
                  <c:v>P2: 4+4</c:v>
                </c:pt>
                <c:pt idx="2">
                  <c:v>P1: 6+4</c:v>
                </c:pt>
              </c:strCache>
            </c:strRef>
          </c:cat>
          <c:val>
            <c:numRef>
              <c:f>'Chart Data'!$F$2:$F$4</c:f>
              <c:numCache>
                <c:formatCode>General</c:formatCode>
                <c:ptCount val="3"/>
                <c:pt idx="0">
                  <c:v>4</c:v>
                </c:pt>
                <c:pt idx="1">
                  <c:v>2</c:v>
                </c:pt>
                <c:pt idx="2">
                  <c:v>0</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3047"/>
                  </a:solidFill>
                  <a:latin typeface="Arial"/>
                  <a:ea typeface="Arial"/>
                  <a:cs typeface="Arial"/>
                </a:defRPr>
              </a:pPr>
            </a:p>
          </c:txPr>
          <c:dLblPos val="ctr"/>
          <c:showLegendKey val="0"/>
          <c:showVal val="1"/>
          <c:showCatName val="0"/>
          <c:showSerName val="0"/>
          <c:showPercent val="0"/>
          <c:showBubbleSize val="0"/>
          <c:showLeaderLines val="0"/>
        </c:dLbls>
        <c:gapWidth val="6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173047"/>
                </a:solidFill>
                <a:latin typeface="Arial"/>
                <a:ea typeface="Arial"/>
                <a:cs typeface="Arial"/>
              </a:defRPr>
            </a:pPr>
          </a:p>
        </c:txPr>
        <c:crossAx val="48672768"/>
      </c:catAx>
      <c:valAx>
        <c:axId val="48672768"/>
        <c:scaling>
          <c:orientation val="minMax"/>
          <c:max val="10"/>
          <c:min val="0"/>
        </c:scaling>
        <c:delete val="0"/>
        <c:axPos val="b"/>
        <c:majorGridlines>
          <c:spPr>
            <a:ln xmlns:a="http://schemas.openxmlformats.org/drawingml/2006/main" w="9525">
              <a:solidFill>
                <a:srgbClr val="CDD8E1"/>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Довжина, 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66779"/>
                </a:solidFill>
                <a:latin typeface="Arial"/>
                <a:ea typeface="Arial"/>
                <a:cs typeface="Arial"/>
              </a:defRPr>
            </a:pPr>
          </a:p>
        </c:txPr>
        <c:crossAx val="48650112"/>
        <c:crossBetween val="between"/>
        <c:majorUnit val="2"/>
      </c:valAx>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73047"/>
              </a:solidFill>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Недопустимі цілі пари</c:v>
          </c:tx>
          <c:spPr>
            <a:ln xmlns:a="http://schemas.openxmlformats.org/drawingml/2006/main" w="0">
              <a:noFill/>
            </a:ln>
          </c:spPr>
          <c:marker>
            <c:symbol val="x"/>
            <c:size val="8"/>
            <c:spPr>
              <a:solidFill xmlns:a="http://schemas.openxmlformats.org/drawingml/2006/main">
                <a:srgbClr val="B1BDC6"/>
              </a:solidFill>
            </c:spPr>
          </c:marker>
          <c:xVal>
            <c:numRef>
              <c:f>'Chart Data'!$A$2:$A$8</c:f>
              <c:numCache>
                <c:formatCode>General</c:formatCode>
                <c:ptCount val="7"/>
                <c:pt idx="0">
                  <c:v>0</c:v>
                </c:pt>
                <c:pt idx="1">
                  <c:v>0</c:v>
                </c:pt>
                <c:pt idx="2">
                  <c:v>0</c:v>
                </c:pt>
                <c:pt idx="3">
                  <c:v>1</c:v>
                </c:pt>
                <c:pt idx="4">
                  <c:v>1</c:v>
                </c:pt>
                <c:pt idx="5">
                  <c:v>2</c:v>
                </c:pt>
                <c:pt idx="6">
                  <c:v>3</c:v>
                </c:pt>
              </c:numCache>
            </c:numRef>
          </c:xVal>
          <c:yVal>
            <c:numRef>
              <c:f>'Chart Data'!$B$2:$B$8</c:f>
              <c:numCache>
                <c:formatCode>0</c:formatCode>
                <c:ptCount val="7"/>
                <c:pt idx="0">
                  <c:v>0</c:v>
                </c:pt>
                <c:pt idx="1">
                  <c:v>1</c:v>
                </c:pt>
                <c:pt idx="2">
                  <c:v>2</c:v>
                </c:pt>
                <c:pt idx="3">
                  <c:v>0</c:v>
                </c:pt>
                <c:pt idx="4">
                  <c:v>1</c:v>
                </c:pt>
                <c:pt idx="5">
                  <c:v>0</c:v>
                </c:pt>
                <c:pt idx="6">
                  <c:v>0</c:v>
                </c:pt>
              </c:numCache>
            </c:numRef>
          </c:yVal>
        </c:ser>
        <c:ser>
          <c:idx val="1"/>
          <c:order val="1"/>
          <c:tx>
            <c:v>Допустимі цілі пари</c:v>
          </c:tx>
          <c:spPr>
            <a:ln xmlns:a="http://schemas.openxmlformats.org/drawingml/2006/main" w="0">
              <a:noFill/>
            </a:ln>
          </c:spPr>
          <c:marker>
            <c:symbol val="circle"/>
            <c:size val="9"/>
            <c:spPr>
              <a:solidFill xmlns:a="http://schemas.openxmlformats.org/drawingml/2006/main">
                <a:srgbClr val="00857D"/>
              </a:solidFill>
            </c:spPr>
          </c:marker>
          <c:xVal>
            <c:numRef>
              <c:f>'Chart Data'!$C$2:$C$14</c:f>
              <c:numCache>
                <c:formatCode>General</c:formatCode>
                <c:ptCount val="13"/>
                <c:pt idx="0">
                  <c:v>0</c:v>
                </c:pt>
                <c:pt idx="1">
                  <c:v>1</c:v>
                </c:pt>
                <c:pt idx="2">
                  <c:v>1</c:v>
                </c:pt>
                <c:pt idx="3">
                  <c:v>2</c:v>
                </c:pt>
                <c:pt idx="4">
                  <c:v>2</c:v>
                </c:pt>
                <c:pt idx="5">
                  <c:v>2</c:v>
                </c:pt>
                <c:pt idx="6">
                  <c:v>3</c:v>
                </c:pt>
                <c:pt idx="7">
                  <c:v>3</c:v>
                </c:pt>
                <c:pt idx="8">
                  <c:v>3</c:v>
                </c:pt>
                <c:pt idx="9">
                  <c:v>4</c:v>
                </c:pt>
                <c:pt idx="10">
                  <c:v>4</c:v>
                </c:pt>
                <c:pt idx="11">
                  <c:v>4</c:v>
                </c:pt>
                <c:pt idx="12">
                  <c:v>4</c:v>
                </c:pt>
              </c:numCache>
            </c:numRef>
          </c:xVal>
          <c:yVal>
            <c:numRef>
              <c:f>'Chart Data'!$D$2:$D$14</c:f>
              <c:numCache>
                <c:formatCode>0</c:formatCode>
                <c:ptCount val="13"/>
                <c:pt idx="0">
                  <c:v>3</c:v>
                </c:pt>
                <c:pt idx="1">
                  <c:v>2</c:v>
                </c:pt>
                <c:pt idx="2">
                  <c:v>3</c:v>
                </c:pt>
                <c:pt idx="3">
                  <c:v>1</c:v>
                </c:pt>
                <c:pt idx="4">
                  <c:v>2</c:v>
                </c:pt>
                <c:pt idx="5">
                  <c:v>3</c:v>
                </c:pt>
                <c:pt idx="6">
                  <c:v>1</c:v>
                </c:pt>
                <c:pt idx="7">
                  <c:v>2</c:v>
                </c:pt>
                <c:pt idx="8">
                  <c:v>3</c:v>
                </c:pt>
                <c:pt idx="9">
                  <c:v>0</c:v>
                </c:pt>
                <c:pt idx="10">
                  <c:v>1</c:v>
                </c:pt>
                <c:pt idx="11">
                  <c:v>2</c:v>
                </c:pt>
                <c:pt idx="12">
                  <c:v>3</c:v>
                </c:pt>
              </c:numCache>
            </c:numRef>
          </c:yVal>
        </c:ser>
        <c:ser>
          <c:idx val="2"/>
          <c:order val="2"/>
          <c:tx>
            <c:v>Границя 11 vCPU</c:v>
          </c:tx>
          <c:spPr>
            <a:ln xmlns:a="http://schemas.openxmlformats.org/drawingml/2006/main" w="28575">
              <a:solidFill>
                <a:srgbClr val="173047"/>
              </a:solidFill>
            </a:ln>
          </c:spPr>
          <c:marker>
            <c:symbol val="none"/>
          </c:marker>
          <c:xVal>
            <c:numRef>
              <c:f>'Chart Data'!$E$2:$E$3</c:f>
              <c:numCache>
                <c:formatCode>General</c:formatCode>
                <c:ptCount val="2"/>
                <c:pt idx="0">
                  <c:v>0</c:v>
                </c:pt>
                <c:pt idx="1">
                  <c:v>3.66666666666667</c:v>
                </c:pt>
              </c:numCache>
            </c:numRef>
          </c:xVal>
          <c:yVal>
            <c:numRef>
              <c:f>'Chart Data'!$F$2:$F$3</c:f>
              <c:numCache>
                <c:formatCode>0</c:formatCode>
                <c:ptCount val="2"/>
                <c:pt idx="0">
                  <c:v>2.2</c:v>
                </c:pt>
                <c:pt idx="1">
                  <c:v>0</c:v>
                </c:pt>
              </c:numCache>
            </c:numRef>
          </c:yVal>
        </c:ser>
        <c:ser>
          <c:idx val="3"/>
          <c:order val="3"/>
          <c:tx>
            <c:v>Межі доступних VM</c:v>
          </c:tx>
          <c:spPr>
            <a:ln xmlns:a="http://schemas.openxmlformats.org/drawingml/2006/main" w="12383">
              <a:solidFill>
                <a:srgbClr val="A9B8C6"/>
              </a:solidFill>
            </a:ln>
          </c:spPr>
          <c:marker>
            <c:symbol val="none"/>
          </c:marker>
          <c:xVal>
            <c:numRef>
              <c:f>'Chart Data'!$G$2:$G$6</c:f>
              <c:numCache>
                <c:formatCode>General</c:formatCode>
                <c:ptCount val="5"/>
                <c:pt idx="0">
                  <c:v>0</c:v>
                </c:pt>
                <c:pt idx="1">
                  <c:v>0</c:v>
                </c:pt>
                <c:pt idx="2">
                  <c:v>4</c:v>
                </c:pt>
                <c:pt idx="3">
                  <c:v>4</c:v>
                </c:pt>
                <c:pt idx="4">
                  <c:v>0</c:v>
                </c:pt>
              </c:numCache>
            </c:numRef>
          </c:xVal>
          <c:yVal>
            <c:numRef>
              <c:f>'Chart Data'!$H$2:$H$6</c:f>
              <c:numCache>
                <c:formatCode>0</c:formatCode>
                <c:ptCount val="5"/>
                <c:pt idx="0">
                  <c:v>0</c:v>
                </c:pt>
                <c:pt idx="1">
                  <c:v>3</c:v>
                </c:pt>
                <c:pt idx="2">
                  <c:v>3</c:v>
                </c:pt>
                <c:pt idx="3">
                  <c:v>0</c:v>
                </c:pt>
                <c:pt idx="4">
                  <c:v>0</c:v>
                </c:pt>
              </c:numCache>
            </c:numRef>
          </c:yVal>
        </c:ser>
        <c:ser>
          <c:idx val="4"/>
          <c:order val="4"/>
          <c:tx>
            <c:v>Дробовий LP-оптимум</c:v>
          </c:tx>
          <c:spPr>
            <a:ln xmlns:a="http://schemas.openxmlformats.org/drawingml/2006/main" w="0">
              <a:noFill/>
            </a:ln>
          </c:spPr>
          <c:marker>
            <c:symbol val="diamond"/>
            <c:size val="17"/>
            <c:spPr>
              <a:solidFill xmlns:a="http://schemas.openxmlformats.org/drawingml/2006/main">
                <a:srgbClr val="2868AF"/>
              </a:solidFill>
            </c:spPr>
          </c:marker>
          <c:xVal>
            <c:numRef>
              <c:f>'Chart Data'!$I$2:$I$2</c:f>
              <c:numCache>
                <c:formatCode>General</c:formatCode>
                <c:ptCount val="1"/>
                <c:pt idx="0">
                  <c:v>0</c:v>
                </c:pt>
              </c:numCache>
            </c:numRef>
          </c:xVal>
          <c:yVal>
            <c:numRef>
              <c:f>'Chart Data'!$J$2:$J$2</c:f>
              <c:numCache>
                <c:formatCode>0</c:formatCode>
                <c:ptCount val="1"/>
                <c:pt idx="0">
                  <c:v>2.2</c:v>
                </c:pt>
              </c:numCache>
            </c:numRef>
          </c:yVal>
        </c:ser>
        <c:ser>
          <c:idx val="5"/>
          <c:order val="5"/>
          <c:tx>
            <c:v>Округлення до найближчого</c:v>
          </c:tx>
          <c:spPr>
            <a:ln xmlns:a="http://schemas.openxmlformats.org/drawingml/2006/main" w="0">
              <a:noFill/>
            </a:ln>
          </c:spPr>
          <c:marker>
            <c:symbol val="x"/>
            <c:size val="16"/>
            <c:spPr>
              <a:solidFill xmlns:a="http://schemas.openxmlformats.org/drawingml/2006/main">
                <a:srgbClr val="B64436"/>
              </a:solidFill>
            </c:spPr>
          </c:marker>
          <c:xVal>
            <c:numRef>
              <c:f>'Chart Data'!$K$2:$K$2</c:f>
              <c:numCache>
                <c:formatCode>General</c:formatCode>
                <c:ptCount val="1"/>
                <c:pt idx="0">
                  <c:v>0</c:v>
                </c:pt>
              </c:numCache>
            </c:numRef>
          </c:xVal>
          <c:yVal>
            <c:numRef>
              <c:f>'Chart Data'!$L$2:$L$2</c:f>
              <c:numCache>
                <c:formatCode>0</c:formatCode>
                <c:ptCount val="1"/>
                <c:pt idx="0">
                  <c:v>2</c:v>
                </c:pt>
              </c:numCache>
            </c:numRef>
          </c:yVal>
        </c:ser>
        <c:ser>
          <c:idx val="6"/>
          <c:order val="6"/>
          <c:tx>
            <c:v>Округлення вгору</c:v>
          </c:tx>
          <c:spPr>
            <a:ln xmlns:a="http://schemas.openxmlformats.org/drawingml/2006/main" w="0">
              <a:noFill/>
            </a:ln>
          </c:spPr>
          <c:marker>
            <c:symbol val="square"/>
            <c:size val="15"/>
            <c:spPr>
              <a:solidFill xmlns:a="http://schemas.openxmlformats.org/drawingml/2006/main">
                <a:srgbClr val="A96B00"/>
              </a:solidFill>
            </c:spPr>
          </c:marker>
          <c:xVal>
            <c:numRef>
              <c:f>'Chart Data'!$M$2:$M$2</c:f>
              <c:numCache>
                <c:formatCode>General</c:formatCode>
                <c:ptCount val="1"/>
                <c:pt idx="0">
                  <c:v>0</c:v>
                </c:pt>
              </c:numCache>
            </c:numRef>
          </c:xVal>
          <c:yVal>
            <c:numRef>
              <c:f>'Chart Data'!$N$2:$N$2</c:f>
              <c:numCache>
                <c:formatCode>0</c:formatCode>
                <c:ptCount val="1"/>
                <c:pt idx="0">
                  <c:v>3</c:v>
                </c:pt>
              </c:numCache>
            </c:numRef>
          </c:yVal>
        </c:ser>
        <c:ser>
          <c:idx val="7"/>
          <c:order val="7"/>
          <c:tx>
            <c:v>Цілий оптимум</c:v>
          </c:tx>
          <c:spPr>
            <a:ln xmlns:a="http://schemas.openxmlformats.org/drawingml/2006/main" w="0">
              <a:noFill/>
            </a:ln>
          </c:spPr>
          <c:marker>
            <c:symbol val="star"/>
            <c:size val="21"/>
            <c:spPr>
              <a:solidFill xmlns:a="http://schemas.openxmlformats.org/drawingml/2006/main">
                <a:srgbClr val="00857D"/>
              </a:solidFill>
            </c:spPr>
          </c:marker>
          <c:xVal>
            <c:numRef>
              <c:f>'Chart Data'!$O$2:$O$2</c:f>
              <c:numCache>
                <c:formatCode>General</c:formatCode>
                <c:ptCount val="1"/>
                <c:pt idx="0">
                  <c:v>2</c:v>
                </c:pt>
              </c:numCache>
            </c:numRef>
          </c:xVal>
          <c:yVal>
            <c:numRef>
              <c:f>'Chart Data'!$P$2:$P$2</c:f>
              <c:numCache>
                <c:formatCode>0</c:formatCode>
                <c:ptCount val="1"/>
                <c:pt idx="0">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3"/>
          <c:min val="0"/>
        </c:scaling>
        <c:delete val="0"/>
        <c:axPos val="l"/>
        <c:majorGridlines>
          <c:spPr>
            <a:ln xmlns:a="http://schemas.openxmlformats.org/drawingml/2006/main" w="9525">
              <a:solidFill>
                <a:srgbClr val="CDD8E1"/>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xB: екземпляри 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3047"/>
                </a:solidFill>
                <a:latin typeface="Arial"/>
                <a:ea typeface="Arial"/>
                <a:cs typeface="Arial"/>
              </a:defRPr>
            </a:pPr>
          </a:p>
        </c:txPr>
        <c:crossAx val="48650112"/>
        <c:majorUnit val="1"/>
      </c:valAx>
      <c:valAx>
        <c:axId val="48650112"/>
        <c:scaling>
          <c:orientation val="minMax"/>
          <c:max val="4.3"/>
          <c:min val="0"/>
        </c:scaling>
        <c:delete val="0"/>
        <c:axPos val="b"/>
        <c:majorGridlines>
          <c:spPr>
            <a:ln xmlns:a="http://schemas.openxmlformats.org/drawingml/2006/main" w="9525">
              <a:solidFill>
                <a:srgbClr val="CDD8E1"/>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xA: екземпляри 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3047"/>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Час маршруту, хв</c:v>
          </c:tx>
          <c:spPr>
            <a:solidFill xmlns:a="http://schemas.openxmlformats.org/drawingml/2006/main">
              <a:srgbClr val="00857D"/>
            </a:solidFill>
          </c:spPr>
          <c:dPt>
            <c:idx val="0"/>
            <c:invertIfNegative val="0"/>
            <c:spPr>
              <a:solidFill xmlns:a="http://schemas.openxmlformats.org/drawingml/2006/main">
                <a:srgbClr val="A96B00"/>
              </a:solidFill>
            </c:spPr>
          </c:dPt>
          <c:dPt>
            <c:idx val="1"/>
            <c:invertIfNegative val="0"/>
            <c:spPr>
              <a:solidFill xmlns:a="http://schemas.openxmlformats.org/drawingml/2006/main">
                <a:srgbClr val="2868AF"/>
              </a:solidFill>
            </c:spPr>
          </c:dPt>
          <c:dPt>
            <c:idx val="2"/>
            <c:invertIfNegative val="0"/>
            <c:spPr>
              <a:solidFill xmlns:a="http://schemas.openxmlformats.org/drawingml/2006/main">
                <a:srgbClr val="00857D"/>
              </a:solidFill>
            </c:spPr>
          </c:dPt>
          <c:cat>
            <c:strRef>
              <c:f>'Chart Data'!$A$2:$A$4</c:f>
              <c:strCache>
                <c:ptCount val="3"/>
                <c:pt idx="0">
                  <c:v>Найближчий
сусід</c:v>
                </c:pt>
                <c:pt idx="1">
                  <c:v>2-opt</c:v>
                </c:pt>
                <c:pt idx="2">
                  <c:v>Точний
оптимум</c:v>
                </c:pt>
              </c:strCache>
            </c:strRef>
          </c:cat>
          <c:val>
            <c:numRef>
              <c:f>'Chart Data'!$B$2:$B$4</c:f>
              <c:numCache>
                <c:formatCode>General</c:formatCode>
                <c:ptCount val="3"/>
                <c:pt idx="0">
                  <c:v>44</c:v>
                </c:pt>
                <c:pt idx="1">
                  <c:v>43</c:v>
                </c:pt>
                <c:pt idx="2">
                  <c:v>36</c:v>
                </c:pt>
              </c:numCache>
            </c:numRef>
          </c:val>
        </c:ser>
        <c:dLbls>
          <c:txPr>
            <a:bodyPr xmlns:a="http://schemas.openxmlformats.org/drawingml/2006/main" anchorCtr="1"/>
            <a:lstStyle xmlns:a="http://schemas.openxmlformats.org/drawingml/2006/main"/>
            <a:p xmlns:a="http://schemas.openxmlformats.org/drawingml/2006/main">
              <a:pPr>
                <a:defRPr sz="2625" b="1">
                  <a:solidFill>
                    <a:srgbClr val="173047"/>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025">
                <a:solidFill>
                  <a:srgbClr val="173047"/>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CDD8E1"/>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Час маршруту, хв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566779"/>
                </a:solidFill>
                <a:latin typeface="Arial"/>
                <a:ea typeface="Arial"/>
                <a:cs typeface="Arial"/>
              </a:defRPr>
            </a:pPr>
          </a:p>
        </c:txPr>
        <c:crossAx val="48650112"/>
        <c:crossBetween val="between"/>
        <c:majorUnit val="1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04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36C8FC-E26F-40A2-B820-63D3E30DC430}"/>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buNone/>
              <a:defRPr sz="1350" b="0">
                <a:solidFill>
                  <a:srgbClr val="FFFFFF"/>
                </a:solidFill>
                <a:latin typeface="Arial"/>
                <a:ea typeface="Arial"/>
                <a:cs typeface="Arial"/>
              </a:defRPr>
            </a:pPr>
            <a:r>
              <a:rPr sz="1350" b="0">
                <a:solidFill>
                  <a:srgbClr val="FFFFFF"/>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8CF92F8E-4DED-4017-A917-6EDC1BAF0876}"/>
              </a:ext>
            </a:extLst>
          </p:cNvPr>
          <p:cNvSpPr>
            <a:spLocks xmlns:a="http://schemas.openxmlformats.org/drawingml/2006/main" noGrp="1"/>
          </p:cNvSpPr>
          <p:nvPr/>
        </p:nvSpPr>
        <p:spPr>
          <a:xfrm xmlns:a="http://schemas.openxmlformats.org/drawingml/2006/main">
            <a:off x="762000" y="142875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400" b="1">
                <a:solidFill>
                  <a:srgbClr val="FFFFFF"/>
                </a:solidFill>
                <a:latin typeface="Arial"/>
                <a:ea typeface="Arial"/>
                <a:cs typeface="Arial"/>
              </a:defRPr>
            </a:defPPr>
          </a:lstStyle>
          <a:p xmlns:a="http://schemas.openxmlformats.org/drawingml/2006/main">
            <a:pPr algn="l">
              <a:buNone/>
              <a:defRPr sz="5400" b="1">
                <a:solidFill>
                  <a:srgbClr val="FFFFFF"/>
                </a:solidFill>
                <a:latin typeface="Arial"/>
                <a:ea typeface="Arial"/>
                <a:cs typeface="Arial"/>
              </a:defRPr>
            </a:pPr>
            <a:r>
              <a:rPr sz="5400" b="1">
                <a:solidFill>
                  <a:srgbClr val="FFFFFF"/>
                </a:solidFill>
                <a:latin typeface="Arial"/>
                <a:ea typeface="Arial"/>
                <a:cs typeface="Arial"/>
              </a:rPr>
              <a:t>Дискретне</a:t>
            </a:r>
          </a:p>
          <a:p xmlns:a="http://schemas.openxmlformats.org/drawingml/2006/main">
            <a:pPr algn="l">
              <a:buNone/>
              <a:defRPr sz="5400" b="1">
                <a:solidFill>
                  <a:srgbClr val="FFFFFF"/>
                </a:solidFill>
                <a:latin typeface="Arial"/>
                <a:ea typeface="Arial"/>
                <a:cs typeface="Arial"/>
              </a:defRPr>
            </a:pPr>
            <a:r>
              <a:rPr sz="5400" b="1">
                <a:solidFill>
                  <a:srgbClr val="FFFFFF"/>
                </a:solidFill>
                <a:latin typeface="Arial"/>
                <a:ea typeface="Arial"/>
                <a:cs typeface="Arial"/>
              </a:rPr>
              <a:t>програмування</a:t>
            </a:r>
          </a:p>
        </p:txBody>
      </p:sp>
      <p:sp>
        <p:nvSpPr>
          <p:cNvPr id="3" name="">
            <a:extLst xmlns:a="http://schemas.openxmlformats.org/drawingml/2006/main">
              <a:ext uri="{FF2B5EF4-FFF2-40B4-BE49-F238E27FC236}">
                <a16:creationId xmlns:a16="http://schemas.microsoft.com/office/drawing/2014/main" id="{4137C1A5-B541-4B67-9201-3FAA5BAD6397}"/>
              </a:ext>
            </a:extLst>
          </p:cNvPr>
          <p:cNvSpPr>
            <a:spLocks xmlns:a="http://schemas.openxmlformats.org/drawingml/2006/main" noGrp="1"/>
          </p:cNvSpPr>
          <p:nvPr/>
        </p:nvSpPr>
        <p:spPr>
          <a:xfrm xmlns:a="http://schemas.openxmlformats.org/drawingml/2006/main">
            <a:off x="762000" y="3857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0">
                <a:solidFill>
                  <a:srgbClr val="FFFFFF"/>
                </a:solidFill>
                <a:latin typeface="Arial"/>
                <a:ea typeface="Arial"/>
                <a:cs typeface="Arial"/>
              </a:defRPr>
            </a:defPPr>
          </a:lstStyle>
          <a:p xmlns:a="http://schemas.openxmlformats.org/drawingml/2006/main">
            <a:pPr algn="l">
              <a:buNone/>
              <a:defRPr sz="2850" b="0">
                <a:solidFill>
                  <a:srgbClr val="FFFFFF"/>
                </a:solidFill>
                <a:latin typeface="Arial"/>
                <a:ea typeface="Arial"/>
                <a:cs typeface="Arial"/>
              </a:defRPr>
            </a:pPr>
            <a:r>
              <a:rPr sz="2850" b="0">
                <a:solidFill>
                  <a:srgbClr val="FFFFFF"/>
                </a:solidFill>
                <a:latin typeface="Arial"/>
                <a:ea typeface="Arial"/>
                <a:cs typeface="Arial"/>
              </a:rPr>
              <a:t>Основний приклад: задача комівояжера</a:t>
            </a:r>
          </a:p>
        </p:txBody>
      </p:sp>
      <p:sp>
        <p:nvSpPr>
          <p:cNvPr id="4" name="">
            <a:extLst xmlns:a="http://schemas.openxmlformats.org/drawingml/2006/main">
              <a:ext uri="{FF2B5EF4-FFF2-40B4-BE49-F238E27FC236}">
                <a16:creationId xmlns:a16="http://schemas.microsoft.com/office/drawing/2014/main" id="{D9D55D90-038A-4EDF-9DEA-1354463CF5A0}"/>
              </a:ext>
            </a:extLst>
          </p:cNvPr>
          <p:cNvSpPr>
            <a:spLocks xmlns:a="http://schemas.openxmlformats.org/drawingml/2006/main" noGrp="1"/>
          </p:cNvSpPr>
          <p:nvPr/>
        </p:nvSpPr>
        <p:spPr>
          <a:xfrm xmlns:a="http://schemas.openxmlformats.org/drawingml/2006/main">
            <a:off x="762000" y="4810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FFFFFF"/>
                </a:solidFill>
                <a:latin typeface="Arial"/>
                <a:ea typeface="Arial"/>
                <a:cs typeface="Arial"/>
              </a:defRPr>
            </a:defPPr>
          </a:lstStyle>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Обхід майданчиків із комп’ютерними системами</a:t>
            </a:r>
          </a:p>
        </p:txBody>
      </p:sp>
    </p:spTree>
    <p:extLst>
      <p:ext uri="{BB962C8B-B14F-4D97-AF65-F5344CB8AC3E}">
        <p14:creationId xmlns:p14="http://schemas.microsoft.com/office/powerpoint/2010/main" val="15029659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853021-2C5E-4161-A724-4C1B2DE0268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План і результат навчання</a:t>
            </a:r>
          </a:p>
        </p:txBody>
      </p:sp>
      <p:sp>
        <p:nvSpPr>
          <p:cNvPr id="2" name="">
            <a:extLst xmlns:a="http://schemas.openxmlformats.org/drawingml/2006/main">
              <a:ext uri="{FF2B5EF4-FFF2-40B4-BE49-F238E27FC236}">
                <a16:creationId xmlns:a16="http://schemas.microsoft.com/office/drawing/2014/main" id="{B8703B0E-C117-489A-9C42-1EDA2A8982D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Наприкінці ви поясните маршрут і перевірите його оптимальність.</a:t>
            </a:r>
          </a:p>
        </p:txBody>
      </p:sp>
      <p:sp>
        <p:nvSpPr>
          <p:cNvPr id="3" name="">
            <a:extLst xmlns:a="http://schemas.openxmlformats.org/drawingml/2006/main">
              <a:ext uri="{FF2B5EF4-FFF2-40B4-BE49-F238E27FC236}">
                <a16:creationId xmlns:a16="http://schemas.microsoft.com/office/drawing/2014/main" id="{B0CFD0C4-A74C-447D-9967-761BA336CD7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B8D7EC99-0FAC-4C06-AB52-D511AC11E784}"/>
              </a:ext>
            </a:extLst>
          </p:cNvPr>
          <p:cNvSpPr>
            <a:spLocks xmlns:a="http://schemas.openxmlformats.org/drawingml/2006/main" noGrp="1"/>
          </p:cNvSpPr>
          <p:nvPr/>
        </p:nvSpPr>
        <p:spPr>
          <a:xfrm xmlns:a="http://schemas.openxmlformats.org/drawingml/2006/main">
            <a:off x="762000" y="1428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1. Типові дискретні задачі в ІТ</a:t>
            </a:r>
          </a:p>
        </p:txBody>
      </p:sp>
      <p:sp>
        <p:nvSpPr>
          <p:cNvPr id="5" name="">
            <a:extLst xmlns:a="http://schemas.openxmlformats.org/drawingml/2006/main">
              <a:ext uri="{FF2B5EF4-FFF2-40B4-BE49-F238E27FC236}">
                <a16:creationId xmlns:a16="http://schemas.microsoft.com/office/drawing/2014/main" id="{9A725113-FE3E-455A-A7C6-B01C9DB4321D}"/>
              </a:ext>
            </a:extLst>
          </p:cNvPr>
          <p:cNvSpPr>
            <a:spLocks xmlns:a="http://schemas.openxmlformats.org/drawingml/2006/main" noGrp="1"/>
          </p:cNvSpPr>
          <p:nvPr/>
        </p:nvSpPr>
        <p:spPr>
          <a:xfrm xmlns:a="http://schemas.openxmlformats.org/drawingml/2006/main">
            <a:off x="762000" y="22669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2. Модель задачі комівояжера</a:t>
            </a:r>
          </a:p>
        </p:txBody>
      </p:sp>
      <p:sp>
        <p:nvSpPr>
          <p:cNvPr id="6" name="">
            <a:extLst xmlns:a="http://schemas.openxmlformats.org/drawingml/2006/main">
              <a:ext uri="{FF2B5EF4-FFF2-40B4-BE49-F238E27FC236}">
                <a16:creationId xmlns:a16="http://schemas.microsoft.com/office/drawing/2014/main" id="{598799C3-2FCA-4B1A-92E8-75E4E3A1B551}"/>
              </a:ext>
            </a:extLst>
          </p:cNvPr>
          <p:cNvSpPr>
            <a:spLocks xmlns:a="http://schemas.openxmlformats.org/drawingml/2006/main" noGrp="1"/>
          </p:cNvSpPr>
          <p:nvPr/>
        </p:nvSpPr>
        <p:spPr>
          <a:xfrm xmlns:a="http://schemas.openxmlformats.org/drawingml/2006/main">
            <a:off x="762000" y="31051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3. МГМ: алгоритм Літтла</a:t>
            </a:r>
          </a:p>
        </p:txBody>
      </p:sp>
      <p:sp>
        <p:nvSpPr>
          <p:cNvPr id="7" name="">
            <a:extLst xmlns:a="http://schemas.openxmlformats.org/drawingml/2006/main">
              <a:ext uri="{FF2B5EF4-FFF2-40B4-BE49-F238E27FC236}">
                <a16:creationId xmlns:a16="http://schemas.microsoft.com/office/drawing/2014/main" id="{91BC6177-2CA7-40D5-B1E9-3AEC5C6A8487}"/>
              </a:ext>
            </a:extLst>
          </p:cNvPr>
          <p:cNvSpPr>
            <a:spLocks xmlns:a="http://schemas.openxmlformats.org/drawingml/2006/main" noGrp="1"/>
          </p:cNvSpPr>
          <p:nvPr/>
        </p:nvSpPr>
        <p:spPr>
          <a:xfrm xmlns:a="http://schemas.openxmlformats.org/drawingml/2006/main">
            <a:off x="762000" y="39433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4. MILP, підцикли та Python</a:t>
            </a:r>
          </a:p>
        </p:txBody>
      </p:sp>
      <p:sp>
        <p:nvSpPr>
          <p:cNvPr id="8" name="">
            <a:extLst xmlns:a="http://schemas.openxmlformats.org/drawingml/2006/main">
              <a:ext uri="{FF2B5EF4-FFF2-40B4-BE49-F238E27FC236}">
                <a16:creationId xmlns:a16="http://schemas.microsoft.com/office/drawing/2014/main" id="{85EB0D79-1907-4F2C-BA16-408ED3B6045F}"/>
              </a:ext>
            </a:extLst>
          </p:cNvPr>
          <p:cNvSpPr>
            <a:spLocks xmlns:a="http://schemas.openxmlformats.org/drawingml/2006/main" noGrp="1"/>
          </p:cNvSpPr>
          <p:nvPr/>
        </p:nvSpPr>
        <p:spPr>
          <a:xfrm xmlns:a="http://schemas.openxmlformats.org/drawingml/2006/main">
            <a:off x="762000" y="47815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5. Перевірка точних методів і евристик</a:t>
            </a:r>
          </a:p>
        </p:txBody>
      </p:sp>
    </p:spTree>
    <p:extLst>
      <p:ext uri="{BB962C8B-B14F-4D97-AF65-F5344CB8AC3E}">
        <p14:creationId xmlns:p14="http://schemas.microsoft.com/office/powerpoint/2010/main" val="3147987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46E219-284D-488A-BC25-FF934C657665}"/>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Типи дискретних рішень</a:t>
            </a:r>
          </a:p>
        </p:txBody>
      </p:sp>
      <p:sp>
        <p:nvSpPr>
          <p:cNvPr id="2" name="">
            <a:extLst xmlns:a="http://schemas.openxmlformats.org/drawingml/2006/main">
              <a:ext uri="{FF2B5EF4-FFF2-40B4-BE49-F238E27FC236}">
                <a16:creationId xmlns:a16="http://schemas.microsoft.com/office/drawing/2014/main" id="{230E3C6A-0207-40C2-9E4F-30A760ED0BA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Неподільність об’єкта визначає тип змінної.</a:t>
            </a:r>
          </a:p>
        </p:txBody>
      </p:sp>
      <p:sp>
        <p:nvSpPr>
          <p:cNvPr id="3" name="">
            <a:extLst xmlns:a="http://schemas.openxmlformats.org/drawingml/2006/main">
              <a:ext uri="{FF2B5EF4-FFF2-40B4-BE49-F238E27FC236}">
                <a16:creationId xmlns:a16="http://schemas.microsoft.com/office/drawing/2014/main" id="{23B75AF5-57F1-471A-846B-A4619A7F2D69}"/>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a:t>
            </a:r>
          </a:p>
        </p:txBody>
      </p:sp>
      <p:graphicFrame>
        <p:nvGraphicFramePr>
          <p:cNvPr id="4" name="">
            <a:extLst xmlns:a="http://schemas.openxmlformats.org/drawingml/2006/main">
              <a:ext uri="{FF2B5EF4-FFF2-40B4-BE49-F238E27FC236}">
                <a16:creationId xmlns:a16="http://schemas.microsoft.com/office/drawing/2014/main" id="{FFB80B18-04EC-4963-8F69-82AC8634C15C}"/>
              </a:ext>
            </a:extLst>
          </p:cNvPr>
          <p:cNvGraphicFramePr/>
          <p:nvPr/>
        </p:nvGraphicFramePr>
        <p:xfrm>
          <a:off xmlns:a="http://schemas.openxmlformats.org/drawingml/2006/main" x="762000" y="1571625"/>
          <a:ext xmlns:a="http://schemas.openxmlformats.org/drawingml/2006/main" cx="10668000" cy="3810000"/>
        </p:xfrm>
        <a:graphic xmlns:a="http://schemas.openxmlformats.org/drawingml/2006/main">
          <a:graphicData uri="http://schemas.openxmlformats.org/drawingml/2006/table">
            <a:tbl>
              <a:tblPr/>
              <a:tblGrid>
                <a:gridCol w="3048000"/>
                <a:gridCol w="2476500"/>
                <a:gridCol w="5143500"/>
              </a:tblGrid>
              <a:tr h="762000">
                <a:tc>
                  <a:txBody>
                    <a:bodyPr/>
                    <a:lstStyle/>
                    <a:p>
                      <a:r>
                        <a:rPr sz="2325" b="1">
                          <a:solidFill>
                            <a:srgbClr val="FFFFFF"/>
                          </a:solidFill>
                          <a:latin typeface="Arial"/>
                          <a:ea typeface="Arial"/>
                          <a:cs typeface="Arial"/>
                        </a:rPr>
                        <a:t>Рішення</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Змінна</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Приклад</a:t>
                      </a:r>
                    </a:p>
                  </a:txBody>
                  <a:tcPr marL="114300" marR="114300" marT="66675" marB="66675" anchor="ctr">
                    <a:solidFill>
                      <a:srgbClr val="173047"/>
                    </a:solidFill>
                  </a:tcPr>
                </a:tc>
              </a:tr>
              <a:tr h="762000">
                <a:tc>
                  <a:txBody>
                    <a:bodyPr/>
                    <a:lstStyle/>
                    <a:p>
                      <a:r>
                        <a:rPr sz="2325">
                          <a:solidFill>
                            <a:srgbClr val="173047"/>
                          </a:solidFill>
                          <a:latin typeface="Arial"/>
                          <a:ea typeface="Arial"/>
                          <a:cs typeface="Arial"/>
                        </a:rPr>
                        <a:t>Кількість</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 1, 2, …</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Екземпляри VM</a:t>
                      </a:r>
                    </a:p>
                  </a:txBody>
                  <a:tcPr marL="114300" marR="114300" marT="66675" marB="66675" anchor="ctr">
                    <a:solidFill>
                      <a:srgbClr val="FFFFFF"/>
                    </a:solidFill>
                  </a:tcPr>
                </a:tc>
              </a:tr>
              <a:tr h="762000">
                <a:tc>
                  <a:txBody>
                    <a:bodyPr/>
                    <a:lstStyle/>
                    <a:p>
                      <a:r>
                        <a:rPr sz="2325">
                          <a:solidFill>
                            <a:srgbClr val="173047"/>
                          </a:solidFill>
                          <a:latin typeface="Arial"/>
                          <a:ea typeface="Arial"/>
                          <a:cs typeface="Arial"/>
                        </a:rPr>
                        <a:t>Вибір</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 або 1</a:t>
                      </a:r>
                    </a:p>
                  </a:txBody>
                  <a:tcPr marL="114300" marR="114300" marT="66675" marB="66675" anchor="ctr">
                    <a:solidFill>
                      <a:srgbClr val="F1F5F8"/>
                    </a:solidFill>
                  </a:tcPr>
                </a:tc>
                <a:tc>
                  <a:txBody>
                    <a:bodyPr/>
                    <a:lstStyle/>
                    <a:p>
                      <a:r>
                        <a:rPr sz="2325">
                          <a:solidFill>
                            <a:srgbClr val="173047"/>
                          </a:solidFill>
                          <a:latin typeface="Arial"/>
                          <a:ea typeface="Arial"/>
                          <a:cs typeface="Arial"/>
                        </a:rPr>
                        <a:t>Запустити GPU-завдання</a:t>
                      </a:r>
                    </a:p>
                  </a:txBody>
                  <a:tcPr marL="114300" marR="114300" marT="66675" marB="66675" anchor="ctr">
                    <a:solidFill>
                      <a:srgbClr val="F1F5F8"/>
                    </a:solidFill>
                  </a:tcPr>
                </a:tc>
              </a:tr>
              <a:tr h="762000">
                <a:tc>
                  <a:txBody>
                    <a:bodyPr/>
                    <a:lstStyle/>
                    <a:p>
                      <a:r>
                        <a:rPr sz="2325">
                          <a:solidFill>
                            <a:srgbClr val="173047"/>
                          </a:solidFill>
                          <a:latin typeface="Arial"/>
                          <a:ea typeface="Arial"/>
                          <a:cs typeface="Arial"/>
                        </a:rPr>
                        <a:t>Вибір переходу</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 або 1</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Їхати з вузла i до j</a:t>
                      </a:r>
                    </a:p>
                  </a:txBody>
                  <a:tcPr marL="114300" marR="114300" marT="66675" marB="66675" anchor="ctr">
                    <a:solidFill>
                      <a:srgbClr val="FFFFFF"/>
                    </a:solidFill>
                  </a:tcPr>
                </a:tc>
              </a:tr>
              <a:tr h="762000">
                <a:tc>
                  <a:txBody>
                    <a:bodyPr/>
                    <a:lstStyle/>
                    <a:p>
                      <a:r>
                        <a:rPr sz="2325">
                          <a:solidFill>
                            <a:srgbClr val="173047"/>
                          </a:solidFill>
                          <a:latin typeface="Arial"/>
                          <a:ea typeface="Arial"/>
                          <a:cs typeface="Arial"/>
                        </a:rPr>
                        <a:t>Змішане рішення</a:t>
                      </a:r>
                    </a:p>
                  </a:txBody>
                  <a:tcPr marL="114300" marR="114300" marT="66675" marB="66675" anchor="ctr">
                    <a:solidFill>
                      <a:srgbClr val="F1F5F8"/>
                    </a:solidFill>
                  </a:tcPr>
                </a:tc>
                <a:tc>
                  <a:txBody>
                    <a:bodyPr/>
                    <a:lstStyle/>
                    <a:p>
                      <a:r>
                        <a:rPr sz="2325">
                          <a:solidFill>
                            <a:srgbClr val="173047"/>
                          </a:solidFill>
                          <a:latin typeface="Arial"/>
                          <a:ea typeface="Arial"/>
                          <a:cs typeface="Arial"/>
                        </a:rPr>
                        <a:t>Цілі й неперервні</a:t>
                      </a:r>
                    </a:p>
                  </a:txBody>
                  <a:tcPr marL="114300" marR="114300" marT="66675" marB="66675" anchor="ctr">
                    <a:solidFill>
                      <a:srgbClr val="F1F5F8"/>
                    </a:solidFill>
                  </a:tcPr>
                </a:tc>
                <a:tc>
                  <a:txBody>
                    <a:bodyPr/>
                    <a:lstStyle/>
                    <a:p>
                      <a:r>
                        <a:rPr sz="2325">
                          <a:solidFill>
                            <a:srgbClr val="173047"/>
                          </a:solidFill>
                          <a:latin typeface="Arial"/>
                          <a:ea typeface="Arial"/>
                          <a:cs typeface="Arial"/>
                        </a:rPr>
                        <a:t>Запуск сервера та потік</a:t>
                      </a:r>
                    </a:p>
                  </a:txBody>
                  <a:tcPr marL="114300" marR="114300" marT="66675" marB="66675" anchor="ctr">
                    <a:solidFill>
                      <a:srgbClr val="F1F5F8"/>
                    </a:solidFill>
                  </a:tcPr>
                </a:tc>
              </a:tr>
            </a:tbl>
          </a:graphicData>
        </a:graphic>
      </p:graphicFrame>
    </p:spTree>
    <p:extLst>
      <p:ext uri="{BB962C8B-B14F-4D97-AF65-F5344CB8AC3E}">
        <p14:creationId xmlns:p14="http://schemas.microsoft.com/office/powerpoint/2010/main" val="6052610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787439-3319-470C-8F87-81C39A763BE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Типові задачі дискретного програмування</a:t>
            </a:r>
          </a:p>
        </p:txBody>
      </p:sp>
      <p:sp>
        <p:nvSpPr>
          <p:cNvPr id="2" name="">
            <a:extLst xmlns:a="http://schemas.openxmlformats.org/drawingml/2006/main">
              <a:ext uri="{FF2B5EF4-FFF2-40B4-BE49-F238E27FC236}">
                <a16:creationId xmlns:a16="http://schemas.microsoft.com/office/drawing/2014/main" id="{31A4724B-7F11-4A4D-96D0-4AB1CC2A9B5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Тип задачі визначає логіку обмежень, а не лише тип змінної.</a:t>
            </a:r>
          </a:p>
        </p:txBody>
      </p:sp>
      <p:sp>
        <p:nvSpPr>
          <p:cNvPr id="3" name="">
            <a:extLst xmlns:a="http://schemas.openxmlformats.org/drawingml/2006/main">
              <a:ext uri="{FF2B5EF4-FFF2-40B4-BE49-F238E27FC236}">
                <a16:creationId xmlns:a16="http://schemas.microsoft.com/office/drawing/2014/main" id="{719820FB-D35B-421D-85B8-704B952300C8}"/>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4</a:t>
            </a:r>
          </a:p>
        </p:txBody>
      </p:sp>
      <p:graphicFrame>
        <p:nvGraphicFramePr>
          <p:cNvPr id="4" name="">
            <a:extLst xmlns:a="http://schemas.openxmlformats.org/drawingml/2006/main">
              <a:ext uri="{FF2B5EF4-FFF2-40B4-BE49-F238E27FC236}">
                <a16:creationId xmlns:a16="http://schemas.microsoft.com/office/drawing/2014/main" id="{4139FB28-90E4-46FA-AB11-8A592507729F}"/>
              </a:ext>
            </a:extLst>
          </p:cNvPr>
          <p:cNvGraphicFramePr/>
          <p:nvPr/>
        </p:nvGraphicFramePr>
        <p:xfrm>
          <a:off xmlns:a="http://schemas.openxmlformats.org/drawingml/2006/main" x="762000" y="1562100"/>
          <a:ext xmlns:a="http://schemas.openxmlformats.org/drawingml/2006/main" cx="10668000" cy="3952875"/>
        </p:xfrm>
        <a:graphic xmlns:a="http://schemas.openxmlformats.org/drawingml/2006/main">
          <a:graphicData uri="http://schemas.openxmlformats.org/drawingml/2006/table">
            <a:tbl>
              <a:tblPr/>
              <a:tblGrid>
                <a:gridCol w="2762250"/>
                <a:gridCol w="3619500"/>
                <a:gridCol w="4286250"/>
              </a:tblGrid>
              <a:tr h="790575">
                <a:tc>
                  <a:txBody>
                    <a:bodyPr/>
                    <a:lstStyle/>
                    <a:p>
                      <a:r>
                        <a:rPr sz="2100" b="1">
                          <a:solidFill>
                            <a:srgbClr val="FFFFFF"/>
                          </a:solidFill>
                          <a:latin typeface="Arial"/>
                          <a:ea typeface="Arial"/>
                          <a:cs typeface="Arial"/>
                        </a:rPr>
                        <a:t>Задача</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Що обираємо</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ІТ-приклад</a:t>
                      </a:r>
                    </a:p>
                  </a:txBody>
                  <a:tcPr marL="114300" marR="114300" marT="66675" marB="66675" anchor="ctr">
                    <a:solidFill>
                      <a:srgbClr val="173047"/>
                    </a:solidFill>
                  </a:tcPr>
                </a:tc>
              </a:tr>
              <a:tr h="790575">
                <a:tc>
                  <a:txBody>
                    <a:bodyPr/>
                    <a:lstStyle/>
                    <a:p>
                      <a:r>
                        <a:rPr sz="2100">
                          <a:solidFill>
                            <a:srgbClr val="173047"/>
                          </a:solidFill>
                          <a:latin typeface="Arial"/>
                          <a:ea typeface="Arial"/>
                          <a:cs typeface="Arial"/>
                        </a:rPr>
                        <a:t>Покриття</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Набір, який охоплює всі вимоги</a:t>
                      </a:r>
                    </a:p>
                  </a:txBody>
                  <a:tcPr marL="114300" marR="114300" marT="66675" marB="66675" anchor="ctr">
                    <a:solidFill>
                      <a:srgbClr val="FFFFFF"/>
                    </a:solidFill>
                  </a:tcPr>
                </a:tc>
                <a:tc>
                  <a:txBody>
                    <a:bodyPr/>
                    <a:lstStyle/>
                    <a:p>
                      <a:r>
                        <a:rPr sz="2100">
                          <a:solidFill>
                            <a:srgbClr val="173047"/>
                          </a:solidFill>
                          <a:latin typeface="Arial"/>
                          <a:ea typeface="Arial"/>
                          <a:cs typeface="Arial"/>
                        </a:rPr>
                        <a:t>Тести для перевірки функцій</a:t>
                      </a:r>
                    </a:p>
                  </a:txBody>
                  <a:tcPr marL="114300" marR="114300" marT="66675" marB="66675" anchor="ctr">
                    <a:solidFill>
                      <a:srgbClr val="FFFFFF"/>
                    </a:solidFill>
                  </a:tcPr>
                </a:tc>
              </a:tr>
              <a:tr h="790575">
                <a:tc>
                  <a:txBody>
                    <a:bodyPr/>
                    <a:lstStyle/>
                    <a:p>
                      <a:r>
                        <a:rPr sz="2100">
                          <a:solidFill>
                            <a:srgbClr val="173047"/>
                          </a:solidFill>
                          <a:latin typeface="Arial"/>
                          <a:ea typeface="Arial"/>
                          <a:cs typeface="Arial"/>
                        </a:rPr>
                        <a:t>Призначення</a:t>
                      </a:r>
                    </a:p>
                  </a:txBody>
                  <a:tcPr marL="114300" marR="114300" marT="66675" marB="66675" anchor="ctr">
                    <a:solidFill>
                      <a:srgbClr val="F1F5F8"/>
                    </a:solidFill>
                  </a:tcPr>
                </a:tc>
                <a:tc>
                  <a:txBody>
                    <a:bodyPr/>
                    <a:lstStyle/>
                    <a:p>
                      <a:r>
                        <a:rPr sz="2100">
                          <a:solidFill>
                            <a:srgbClr val="173047"/>
                          </a:solidFill>
                          <a:latin typeface="Arial"/>
                          <a:ea typeface="Arial"/>
                          <a:cs typeface="Arial"/>
                        </a:rPr>
                        <a:t>Пару «виконавець, робота»</a:t>
                      </a:r>
                    </a:p>
                  </a:txBody>
                  <a:tcPr marL="114300" marR="114300" marT="66675" marB="66675" anchor="ctr">
                    <a:solidFill>
                      <a:srgbClr val="F1F5F8"/>
                    </a:solidFill>
                  </a:tcPr>
                </a:tc>
                <a:tc>
                  <a:txBody>
                    <a:bodyPr/>
                    <a:lstStyle/>
                    <a:p>
                      <a:r>
                        <a:rPr sz="2100">
                          <a:solidFill>
                            <a:srgbClr val="173047"/>
                          </a:solidFill>
                          <a:latin typeface="Arial"/>
                          <a:ea typeface="Arial"/>
                          <a:cs typeface="Arial"/>
                        </a:rPr>
                        <a:t>Завдання для обчислювальних вузлів</a:t>
                      </a:r>
                    </a:p>
                  </a:txBody>
                  <a:tcPr marL="114300" marR="114300" marT="66675" marB="66675" anchor="ctr">
                    <a:solidFill>
                      <a:srgbClr val="F1F5F8"/>
                    </a:solidFill>
                  </a:tcPr>
                </a:tc>
              </a:tr>
              <a:tr h="790575">
                <a:tc>
                  <a:txBody>
                    <a:bodyPr/>
                    <a:lstStyle/>
                    <a:p>
                      <a:r>
                        <a:rPr sz="2100">
                          <a:solidFill>
                            <a:srgbClr val="173047"/>
                          </a:solidFill>
                          <a:latin typeface="Arial"/>
                          <a:ea typeface="Arial"/>
                          <a:cs typeface="Arial"/>
                        </a:rPr>
                        <a:t>Розкрій матеріалу</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Кількість схем розрізання</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Кабель для обладнання</a:t>
                      </a:r>
                    </a:p>
                  </a:txBody>
                  <a:tcPr marL="114300" marR="114300" marT="66675" marB="66675" anchor="ctr">
                    <a:solidFill>
                      <a:srgbClr val="FFFFFF"/>
                    </a:solidFill>
                  </a:tcPr>
                </a:tc>
              </a:tr>
              <a:tr h="790575">
                <a:tc>
                  <a:txBody>
                    <a:bodyPr/>
                    <a:lstStyle/>
                    <a:p>
                      <a:r>
                        <a:rPr sz="2100">
                          <a:solidFill>
                            <a:srgbClr val="173047"/>
                          </a:solidFill>
                          <a:latin typeface="Arial"/>
                          <a:ea typeface="Arial"/>
                          <a:cs typeface="Arial"/>
                        </a:rPr>
                        <a:t>Комівояжер</a:t>
                      </a:r>
                    </a:p>
                  </a:txBody>
                  <a:tcPr marL="114300" marR="114300" marT="66675" marB="66675" anchor="ctr">
                    <a:solidFill>
                      <a:srgbClr val="F1F5F8"/>
                    </a:solidFill>
                  </a:tcPr>
                </a:tc>
                <a:tc>
                  <a:txBody>
                    <a:bodyPr/>
                    <a:lstStyle/>
                    <a:p>
                      <a:r>
                        <a:rPr sz="2100">
                          <a:solidFill>
                            <a:srgbClr val="173047"/>
                          </a:solidFill>
                          <a:latin typeface="Arial"/>
                          <a:ea typeface="Arial"/>
                          <a:cs typeface="Arial"/>
                        </a:rPr>
                        <a:t>Порядок повного обходу</a:t>
                      </a:r>
                    </a:p>
                  </a:txBody>
                  <a:tcPr marL="114300" marR="114300" marT="66675" marB="66675" anchor="ctr">
                    <a:solidFill>
                      <a:srgbClr val="F1F5F8"/>
                    </a:solidFill>
                  </a:tcPr>
                </a:tc>
                <a:tc>
                  <a:txBody>
                    <a:bodyPr/>
                    <a:lstStyle/>
                    <a:p>
                      <a:r>
                        <a:rPr sz="2100">
                          <a:solidFill>
                            <a:srgbClr val="173047"/>
                          </a:solidFill>
                          <a:latin typeface="Arial"/>
                          <a:ea typeface="Arial"/>
                          <a:cs typeface="Arial"/>
                        </a:rPr>
                        <a:t>Обслуговування ІТ-майданчиків</a:t>
                      </a:r>
                    </a:p>
                  </a:txBody>
                  <a:tcPr marL="114300" marR="114300" marT="66675" marB="66675" anchor="ctr">
                    <a:solidFill>
                      <a:srgbClr val="F1F5F8"/>
                    </a:solidFill>
                  </a:tcPr>
                </a:tc>
              </a:tr>
            </a:tbl>
          </a:graphicData>
        </a:graphic>
      </p:graphicFrame>
    </p:spTree>
    <p:extLst>
      <p:ext uri="{BB962C8B-B14F-4D97-AF65-F5344CB8AC3E}">
        <p14:creationId xmlns:p14="http://schemas.microsoft.com/office/powerpoint/2010/main" val="10775137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53CB32-13A7-4848-AF12-A67820FA8A7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Покриття та призначення: різні умови</a:t>
            </a:r>
          </a:p>
        </p:txBody>
      </p:sp>
      <p:sp>
        <p:nvSpPr>
          <p:cNvPr id="2" name="">
            <a:extLst xmlns:a="http://schemas.openxmlformats.org/drawingml/2006/main">
              <a:ext uri="{FF2B5EF4-FFF2-40B4-BE49-F238E27FC236}">
                <a16:creationId xmlns:a16="http://schemas.microsoft.com/office/drawing/2014/main" id="{468149AE-4B05-45CD-8CEC-3AA99805A93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Покриття: хоча б один. Призначення: рівно один.</a:t>
            </a:r>
          </a:p>
        </p:txBody>
      </p:sp>
      <p:sp>
        <p:nvSpPr>
          <p:cNvPr id="3" name="">
            <a:extLst xmlns:a="http://schemas.openxmlformats.org/drawingml/2006/main">
              <a:ext uri="{FF2B5EF4-FFF2-40B4-BE49-F238E27FC236}">
                <a16:creationId xmlns:a16="http://schemas.microsoft.com/office/drawing/2014/main" id="{775F3234-D1E7-4674-A626-FA766EB8144F}"/>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a:t>
            </a:r>
          </a:p>
        </p:txBody>
      </p:sp>
      <p:graphicFrame>
        <p:nvGraphicFramePr>
          <p:cNvPr id="4" name="">
            <a:extLst xmlns:a="http://schemas.openxmlformats.org/drawingml/2006/main">
              <a:ext uri="{FF2B5EF4-FFF2-40B4-BE49-F238E27FC236}">
                <a16:creationId xmlns:a16="http://schemas.microsoft.com/office/drawing/2014/main" id="{C3F6E362-B92C-47E8-94EB-824460586EB5}"/>
              </a:ext>
            </a:extLst>
          </p:cNvPr>
          <p:cNvGraphicFramePr/>
          <p:nvPr/>
        </p:nvGraphicFramePr>
        <p:xfrm>
          <a:off xmlns:a="http://schemas.openxmlformats.org/drawingml/2006/main" x="762000" y="1581150"/>
          <a:ext xmlns:a="http://schemas.openxmlformats.org/drawingml/2006/main" cx="7096125" cy="3124200"/>
        </p:xfrm>
        <a:graphic xmlns:a="http://schemas.openxmlformats.org/drawingml/2006/main">
          <a:graphicData uri="http://schemas.openxmlformats.org/drawingml/2006/table">
            <a:tbl>
              <a:tblPr/>
              <a:tblGrid>
                <a:gridCol w="1571625"/>
                <a:gridCol w="1381125"/>
                <a:gridCol w="1381125"/>
                <a:gridCol w="1381125"/>
                <a:gridCol w="1381125"/>
              </a:tblGrid>
              <a:tr h="624840">
                <a:tc>
                  <a:txBody>
                    <a:bodyPr/>
                    <a:lstStyle/>
                    <a:p>
                      <a:r>
                        <a:rPr sz="2175" b="1">
                          <a:solidFill>
                            <a:srgbClr val="FFFFFF"/>
                          </a:solidFill>
                          <a:latin typeface="Arial"/>
                          <a:ea typeface="Arial"/>
                          <a:cs typeface="Arial"/>
                        </a:rPr>
                        <a:t>Тест</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Вхід</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Пошук</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Оплата</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Звіт</a:t>
                      </a:r>
                    </a:p>
                  </a:txBody>
                  <a:tcPr marL="114300" marR="114300" marT="66675" marB="66675" anchor="ctr">
                    <a:solidFill>
                      <a:srgbClr val="173047"/>
                    </a:solidFill>
                  </a:tcPr>
                </a:tc>
              </a:tr>
              <a:tr h="624840">
                <a:tc>
                  <a:txBody>
                    <a:bodyPr/>
                    <a:lstStyle/>
                    <a:p>
                      <a:r>
                        <a:rPr sz="2175" b="1">
                          <a:solidFill>
                            <a:srgbClr val="00857D"/>
                          </a:solidFill>
                          <a:latin typeface="Arial"/>
                          <a:ea typeface="Arial"/>
                          <a:cs typeface="Arial"/>
                        </a:rPr>
                        <a:t>T1</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1</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1</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0</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0</a:t>
                      </a:r>
                    </a:p>
                  </a:txBody>
                  <a:tcPr marL="114300" marR="114300" marT="66675" marB="66675" anchor="ctr">
                    <a:solidFill>
                      <a:srgbClr val="DDF3EC"/>
                    </a:solidFill>
                  </a:tcPr>
                </a:tc>
              </a:tr>
              <a:tr h="624840">
                <a:tc>
                  <a:txBody>
                    <a:bodyPr/>
                    <a:lstStyle/>
                    <a:p>
                      <a:r>
                        <a:rPr sz="2175">
                          <a:solidFill>
                            <a:srgbClr val="173047"/>
                          </a:solidFill>
                          <a:latin typeface="Arial"/>
                          <a:ea typeface="Arial"/>
                          <a:cs typeface="Arial"/>
                        </a:rPr>
                        <a:t>T2</a:t>
                      </a:r>
                    </a:p>
                  </a:txBody>
                  <a:tcPr marL="114300" marR="114300" marT="66675" marB="66675" anchor="ctr">
                    <a:solidFill>
                      <a:srgbClr val="F1F5F8"/>
                    </a:solidFill>
                  </a:tcPr>
                </a:tc>
                <a:tc>
                  <a:txBody>
                    <a:bodyPr/>
                    <a:lstStyle/>
                    <a:p>
                      <a:r>
                        <a:rPr sz="2175">
                          <a:solidFill>
                            <a:srgbClr val="173047"/>
                          </a:solidFill>
                          <a:latin typeface="Arial"/>
                          <a:ea typeface="Arial"/>
                          <a:cs typeface="Arial"/>
                        </a:rPr>
                        <a:t>0</a:t>
                      </a:r>
                    </a:p>
                  </a:txBody>
                  <a:tcPr marL="114300" marR="114300" marT="66675" marB="66675" anchor="ctr">
                    <a:solidFill>
                      <a:srgbClr val="F1F5F8"/>
                    </a:solidFill>
                  </a:tcPr>
                </a:tc>
                <a:tc>
                  <a:txBody>
                    <a:bodyPr/>
                    <a:lstStyle/>
                    <a:p>
                      <a:r>
                        <a:rPr sz="2175">
                          <a:solidFill>
                            <a:srgbClr val="173047"/>
                          </a:solidFill>
                          <a:latin typeface="Arial"/>
                          <a:ea typeface="Arial"/>
                          <a:cs typeface="Arial"/>
                        </a:rPr>
                        <a:t>1</a:t>
                      </a:r>
                    </a:p>
                  </a:txBody>
                  <a:tcPr marL="114300" marR="114300" marT="66675" marB="66675" anchor="ctr">
                    <a:solidFill>
                      <a:srgbClr val="F1F5F8"/>
                    </a:solidFill>
                  </a:tcPr>
                </a:tc>
                <a:tc>
                  <a:txBody>
                    <a:bodyPr/>
                    <a:lstStyle/>
                    <a:p>
                      <a:r>
                        <a:rPr sz="2175">
                          <a:solidFill>
                            <a:srgbClr val="173047"/>
                          </a:solidFill>
                          <a:latin typeface="Arial"/>
                          <a:ea typeface="Arial"/>
                          <a:cs typeface="Arial"/>
                        </a:rPr>
                        <a:t>1</a:t>
                      </a:r>
                    </a:p>
                  </a:txBody>
                  <a:tcPr marL="114300" marR="114300" marT="66675" marB="66675" anchor="ctr">
                    <a:solidFill>
                      <a:srgbClr val="F1F5F8"/>
                    </a:solidFill>
                  </a:tcPr>
                </a:tc>
                <a:tc>
                  <a:txBody>
                    <a:bodyPr/>
                    <a:lstStyle/>
                    <a:p>
                      <a:r>
                        <a:rPr sz="2175">
                          <a:solidFill>
                            <a:srgbClr val="173047"/>
                          </a:solidFill>
                          <a:latin typeface="Arial"/>
                          <a:ea typeface="Arial"/>
                          <a:cs typeface="Arial"/>
                        </a:rPr>
                        <a:t>0</a:t>
                      </a:r>
                    </a:p>
                  </a:txBody>
                  <a:tcPr marL="114300" marR="114300" marT="66675" marB="66675" anchor="ctr">
                    <a:solidFill>
                      <a:srgbClr val="F1F5F8"/>
                    </a:solidFill>
                  </a:tcPr>
                </a:tc>
              </a:tr>
              <a:tr h="624840">
                <a:tc>
                  <a:txBody>
                    <a:bodyPr/>
                    <a:lstStyle/>
                    <a:p>
                      <a:r>
                        <a:rPr sz="2175" b="1">
                          <a:solidFill>
                            <a:srgbClr val="00857D"/>
                          </a:solidFill>
                          <a:latin typeface="Arial"/>
                          <a:ea typeface="Arial"/>
                          <a:cs typeface="Arial"/>
                        </a:rPr>
                        <a:t>T3</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0</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0</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1</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1</a:t>
                      </a:r>
                    </a:p>
                  </a:txBody>
                  <a:tcPr marL="114300" marR="114300" marT="66675" marB="66675" anchor="ctr">
                    <a:solidFill>
                      <a:srgbClr val="DDF3EC"/>
                    </a:solidFill>
                  </a:tcPr>
                </a:tc>
              </a:tr>
              <a:tr h="624840">
                <a:tc>
                  <a:txBody>
                    <a:bodyPr/>
                    <a:lstStyle/>
                    <a:p>
                      <a:r>
                        <a:rPr sz="2175">
                          <a:solidFill>
                            <a:srgbClr val="173047"/>
                          </a:solidFill>
                          <a:latin typeface="Arial"/>
                          <a:ea typeface="Arial"/>
                          <a:cs typeface="Arial"/>
                        </a:rPr>
                        <a:t>T4</a:t>
                      </a:r>
                    </a:p>
                  </a:txBody>
                  <a:tcPr marL="114300" marR="114300" marT="66675" marB="66675" anchor="ctr">
                    <a:solidFill>
                      <a:srgbClr val="F1F5F8"/>
                    </a:solidFill>
                  </a:tcPr>
                </a:tc>
                <a:tc>
                  <a:txBody>
                    <a:bodyPr/>
                    <a:lstStyle/>
                    <a:p>
                      <a:r>
                        <a:rPr sz="2175">
                          <a:solidFill>
                            <a:srgbClr val="173047"/>
                          </a:solidFill>
                          <a:latin typeface="Arial"/>
                          <a:ea typeface="Arial"/>
                          <a:cs typeface="Arial"/>
                        </a:rPr>
                        <a:t>1</a:t>
                      </a:r>
                    </a:p>
                  </a:txBody>
                  <a:tcPr marL="114300" marR="114300" marT="66675" marB="66675" anchor="ctr">
                    <a:solidFill>
                      <a:srgbClr val="F1F5F8"/>
                    </a:solidFill>
                  </a:tcPr>
                </a:tc>
                <a:tc>
                  <a:txBody>
                    <a:bodyPr/>
                    <a:lstStyle/>
                    <a:p>
                      <a:r>
                        <a:rPr sz="2175">
                          <a:solidFill>
                            <a:srgbClr val="173047"/>
                          </a:solidFill>
                          <a:latin typeface="Arial"/>
                          <a:ea typeface="Arial"/>
                          <a:cs typeface="Arial"/>
                        </a:rPr>
                        <a:t>0</a:t>
                      </a:r>
                    </a:p>
                  </a:txBody>
                  <a:tcPr marL="114300" marR="114300" marT="66675" marB="66675" anchor="ctr">
                    <a:solidFill>
                      <a:srgbClr val="F1F5F8"/>
                    </a:solidFill>
                  </a:tcPr>
                </a:tc>
                <a:tc>
                  <a:txBody>
                    <a:bodyPr/>
                    <a:lstStyle/>
                    <a:p>
                      <a:r>
                        <a:rPr sz="2175">
                          <a:solidFill>
                            <a:srgbClr val="173047"/>
                          </a:solidFill>
                          <a:latin typeface="Arial"/>
                          <a:ea typeface="Arial"/>
                          <a:cs typeface="Arial"/>
                        </a:rPr>
                        <a:t>0</a:t>
                      </a:r>
                    </a:p>
                  </a:txBody>
                  <a:tcPr marL="114300" marR="114300" marT="66675" marB="66675" anchor="ctr">
                    <a:solidFill>
                      <a:srgbClr val="F1F5F8"/>
                    </a:solidFill>
                  </a:tcPr>
                </a:tc>
                <a:tc>
                  <a:txBody>
                    <a:bodyPr/>
                    <a:lstStyle/>
                    <a:p>
                      <a:r>
                        <a:rPr sz="2175">
                          <a:solidFill>
                            <a:srgbClr val="173047"/>
                          </a:solidFill>
                          <a:latin typeface="Arial"/>
                          <a:ea typeface="Arial"/>
                          <a:cs typeface="Arial"/>
                        </a:rPr>
                        <a:t>1</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42686B5E-52CD-414D-92E6-896F58B09872}"/>
              </a:ext>
            </a:extLst>
          </p:cNvPr>
          <p:cNvSpPr>
            <a:spLocks xmlns:a="http://schemas.openxmlformats.org/drawingml/2006/main" noGrp="1"/>
          </p:cNvSpPr>
          <p:nvPr/>
        </p:nvSpPr>
        <p:spPr>
          <a:xfrm xmlns:a="http://schemas.openxmlformats.org/drawingml/2006/main">
            <a:off x="8239125" y="1571625"/>
            <a:ext cx="319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00857D"/>
                </a:solidFill>
                <a:latin typeface="Arial"/>
                <a:ea typeface="Arial"/>
                <a:cs typeface="Arial"/>
              </a:defRPr>
            </a:defPPr>
          </a:lstStyle>
          <a:p xmlns:a="http://schemas.openxmlformats.org/drawingml/2006/main">
            <a:pPr algn="l">
              <a:buNone/>
              <a:defRPr sz="2625" b="1">
                <a:solidFill>
                  <a:srgbClr val="00857D"/>
                </a:solidFill>
                <a:latin typeface="Arial"/>
                <a:ea typeface="Arial"/>
                <a:cs typeface="Arial"/>
              </a:defRPr>
            </a:pPr>
            <a:r>
              <a:rPr sz="2625" b="1">
                <a:solidFill>
                  <a:srgbClr val="00857D"/>
                </a:solidFill>
                <a:latin typeface="Arial"/>
                <a:ea typeface="Arial"/>
                <a:cs typeface="Arial"/>
              </a:rPr>
              <a:t>Покриття</a:t>
            </a:r>
          </a:p>
        </p:txBody>
      </p:sp>
      <p:sp>
        <p:nvSpPr>
          <p:cNvPr id="6" name="">
            <a:extLst xmlns:a="http://schemas.openxmlformats.org/drawingml/2006/main">
              <a:ext uri="{FF2B5EF4-FFF2-40B4-BE49-F238E27FC236}">
                <a16:creationId xmlns:a16="http://schemas.microsoft.com/office/drawing/2014/main" id="{12F68246-52B6-4E6B-8F17-BB99352265D4}"/>
              </a:ext>
            </a:extLst>
          </p:cNvPr>
          <p:cNvSpPr>
            <a:spLocks xmlns:a="http://schemas.openxmlformats.org/drawingml/2006/main" noGrp="1"/>
          </p:cNvSpPr>
          <p:nvPr/>
        </p:nvSpPr>
        <p:spPr>
          <a:xfrm xmlns:a="http://schemas.openxmlformats.org/drawingml/2006/main">
            <a:off x="8239125" y="2200275"/>
            <a:ext cx="3190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73047"/>
                </a:solidFill>
                <a:latin typeface="Arial"/>
                <a:ea typeface="Arial"/>
                <a:cs typeface="Arial"/>
              </a:defRPr>
            </a:defPPr>
          </a:lstStyle>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T1 і T3 перевіряють</a:t>
            </a:r>
          </a:p>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усі чотири функції</a:t>
            </a:r>
          </a:p>
        </p:txBody>
      </p:sp>
      <p:sp>
        <p:nvSpPr>
          <p:cNvPr id="7" name="">
            <a:extLst xmlns:a="http://schemas.openxmlformats.org/drawingml/2006/main">
              <a:ext uri="{FF2B5EF4-FFF2-40B4-BE49-F238E27FC236}">
                <a16:creationId xmlns:a16="http://schemas.microsoft.com/office/drawing/2014/main" id="{AFED1B7B-BE3F-412D-B3C2-C9563573B5D8}"/>
              </a:ext>
            </a:extLst>
          </p:cNvPr>
          <p:cNvSpPr>
            <a:spLocks xmlns:a="http://schemas.openxmlformats.org/drawingml/2006/main" noGrp="1"/>
          </p:cNvSpPr>
          <p:nvPr/>
        </p:nvSpPr>
        <p:spPr>
          <a:xfrm xmlns:a="http://schemas.openxmlformats.org/drawingml/2006/main">
            <a:off x="8239125" y="3800475"/>
            <a:ext cx="319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2868AF"/>
                </a:solidFill>
                <a:latin typeface="Arial"/>
                <a:ea typeface="Arial"/>
                <a:cs typeface="Arial"/>
              </a:defRPr>
            </a:defPPr>
          </a:lstStyle>
          <a:p xmlns:a="http://schemas.openxmlformats.org/drawingml/2006/main">
            <a:pPr algn="l">
              <a:buNone/>
              <a:defRPr sz="2475" b="1">
                <a:solidFill>
                  <a:srgbClr val="2868AF"/>
                </a:solidFill>
                <a:latin typeface="Arial"/>
                <a:ea typeface="Arial"/>
                <a:cs typeface="Arial"/>
              </a:defRPr>
            </a:pPr>
            <a:r>
              <a:rPr sz="2475" b="1">
                <a:solidFill>
                  <a:srgbClr val="2868AF"/>
                </a:solidFill>
                <a:latin typeface="Arial"/>
                <a:ea typeface="Arial"/>
                <a:cs typeface="Arial"/>
              </a:rPr>
              <a:t>Призначення</a:t>
            </a:r>
          </a:p>
        </p:txBody>
      </p:sp>
      <p:sp>
        <p:nvSpPr>
          <p:cNvPr id="8" name="">
            <a:extLst xmlns:a="http://schemas.openxmlformats.org/drawingml/2006/main">
              <a:ext uri="{FF2B5EF4-FFF2-40B4-BE49-F238E27FC236}">
                <a16:creationId xmlns:a16="http://schemas.microsoft.com/office/drawing/2014/main" id="{5FF35487-4C8D-4DE5-9831-FFE266A3740E}"/>
              </a:ext>
            </a:extLst>
          </p:cNvPr>
          <p:cNvSpPr>
            <a:spLocks xmlns:a="http://schemas.openxmlformats.org/drawingml/2006/main" noGrp="1"/>
          </p:cNvSpPr>
          <p:nvPr/>
        </p:nvSpPr>
        <p:spPr>
          <a:xfrm xmlns:a="http://schemas.openxmlformats.org/drawingml/2006/main">
            <a:off x="8239125" y="4324350"/>
            <a:ext cx="31908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73047"/>
                </a:solidFill>
                <a:latin typeface="Arial"/>
                <a:ea typeface="Arial"/>
                <a:cs typeface="Arial"/>
              </a:defRPr>
            </a:defPPr>
          </a:lstStyle>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Одна робота</a:t>
            </a:r>
          </a:p>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для одного вузла</a:t>
            </a:r>
          </a:p>
        </p:txBody>
      </p:sp>
      <p:sp>
        <p:nvSpPr>
          <p:cNvPr id="9" name="">
            <a:extLst xmlns:a="http://schemas.openxmlformats.org/drawingml/2006/main">
              <a:ext uri="{FF2B5EF4-FFF2-40B4-BE49-F238E27FC236}">
                <a16:creationId xmlns:a16="http://schemas.microsoft.com/office/drawing/2014/main" id="{AB1018B3-09C1-4A67-9D96-53D6A19E29A6}"/>
              </a:ext>
            </a:extLst>
          </p:cNvPr>
          <p:cNvSpPr>
            <a:spLocks xmlns:a="http://schemas.openxmlformats.org/drawingml/2006/main" noGrp="1"/>
          </p:cNvSpPr>
          <p:nvPr/>
        </p:nvSpPr>
        <p:spPr>
          <a:xfrm xmlns:a="http://schemas.openxmlformats.org/drawingml/2006/main">
            <a:off x="762000" y="5133975"/>
            <a:ext cx="709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00857D"/>
                </a:solidFill>
                <a:latin typeface="Arial"/>
                <a:ea typeface="Arial"/>
                <a:cs typeface="Arial"/>
              </a:defRPr>
            </a:defPPr>
          </a:lstStyle>
          <a:p xmlns:a="http://schemas.openxmlformats.org/drawingml/2006/main">
            <a:pPr algn="l">
              <a:buNone/>
              <a:defRPr sz="2475" b="1">
                <a:solidFill>
                  <a:srgbClr val="00857D"/>
                </a:solidFill>
                <a:latin typeface="Arial"/>
                <a:ea typeface="Arial"/>
                <a:cs typeface="Arial"/>
              </a:defRPr>
            </a:pPr>
            <a:r>
              <a:rPr sz="2475" b="1">
                <a:solidFill>
                  <a:srgbClr val="00857D"/>
                </a:solidFill>
                <a:latin typeface="Arial"/>
                <a:ea typeface="Arial"/>
                <a:cs typeface="Arial"/>
              </a:rPr>
              <a:t>Покриття функції «Вхід»: x1 + x4 ≥ 1</a:t>
            </a:r>
          </a:p>
        </p:txBody>
      </p:sp>
    </p:spTree>
    <p:extLst>
      <p:ext uri="{BB962C8B-B14F-4D97-AF65-F5344CB8AC3E}">
        <p14:creationId xmlns:p14="http://schemas.microsoft.com/office/powerpoint/2010/main" val="20234069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A0C55B-622A-4014-B9EA-097E775E377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Покриття: кількість чи час тестів?</a:t>
            </a:r>
          </a:p>
        </p:txBody>
      </p:sp>
      <p:sp>
        <p:nvSpPr>
          <p:cNvPr id="2" name="">
            <a:extLst xmlns:a="http://schemas.openxmlformats.org/drawingml/2006/main">
              <a:ext uri="{FF2B5EF4-FFF2-40B4-BE49-F238E27FC236}">
                <a16:creationId xmlns:a16="http://schemas.microsoft.com/office/drawing/2014/main" id="{F7454BB4-7D83-4E82-BFEE-71087B2120E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Два набори покривають усе. За часом вигідніші T2 + T4.</a:t>
            </a:r>
          </a:p>
        </p:txBody>
      </p:sp>
      <p:sp>
        <p:nvSpPr>
          <p:cNvPr id="3" name="">
            <a:extLst xmlns:a="http://schemas.openxmlformats.org/drawingml/2006/main">
              <a:ext uri="{FF2B5EF4-FFF2-40B4-BE49-F238E27FC236}">
                <a16:creationId xmlns:a16="http://schemas.microsoft.com/office/drawing/2014/main" id="{8F3EC7F3-B75D-410D-BB22-7846781671A9}"/>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6</a:t>
            </a:r>
          </a:p>
        </p:txBody>
      </p:sp>
      <p:graphicFrame>
        <p:nvGraphicFramePr>
          <p:cNvPr id="4" name="">
            <a:extLst xmlns:a="http://schemas.openxmlformats.org/drawingml/2006/main">
              <a:ext uri="{FF2B5EF4-FFF2-40B4-BE49-F238E27FC236}">
                <a16:creationId xmlns:a16="http://schemas.microsoft.com/office/drawing/2014/main" id="{1F35E384-3A80-4AD6-8A7E-862D582DF1B2}"/>
              </a:ext>
            </a:extLst>
          </p:cNvPr>
          <p:cNvGraphicFramePr/>
          <p:nvPr/>
        </p:nvGraphicFramePr>
        <p:xfrm>
          <a:off xmlns:a="http://schemas.openxmlformats.org/drawingml/2006/main" x="762000" y="1524000"/>
          <a:ext xmlns:a="http://schemas.openxmlformats.org/drawingml/2006/main" cx="10668000" cy="3095625"/>
        </p:xfrm>
        <a:graphic xmlns:a="http://schemas.openxmlformats.org/drawingml/2006/main">
          <a:graphicData uri="http://schemas.openxmlformats.org/drawingml/2006/table">
            <a:tbl>
              <a:tblPr/>
              <a:tblGrid>
                <a:gridCol w="3556000"/>
                <a:gridCol w="3556000"/>
                <a:gridCol w="3556000"/>
              </a:tblGrid>
              <a:tr h="619125">
                <a:tc>
                  <a:txBody>
                    <a:bodyPr/>
                    <a:lstStyle/>
                    <a:p>
                      <a:r>
                        <a:rPr sz="2250" b="1">
                          <a:solidFill>
                            <a:srgbClr val="FFFFFF"/>
                          </a:solidFill>
                          <a:latin typeface="Arial"/>
                          <a:ea typeface="Arial"/>
                          <a:cs typeface="Arial"/>
                        </a:rPr>
                        <a:t>Тест</a:t>
                      </a:r>
                    </a:p>
                  </a:txBody>
                  <a:tcPr marL="66675" marR="66675" marT="38100" marB="38100" anchor="ctr">
                    <a:solidFill>
                      <a:srgbClr val="173047"/>
                    </a:solidFill>
                  </a:tcPr>
                </a:tc>
                <a:tc>
                  <a:txBody>
                    <a:bodyPr/>
                    <a:lstStyle/>
                    <a:p>
                      <a:r>
                        <a:rPr sz="2250" b="1">
                          <a:solidFill>
                            <a:srgbClr val="FFFFFF"/>
                          </a:solidFill>
                          <a:latin typeface="Arial"/>
                          <a:ea typeface="Arial"/>
                          <a:cs typeface="Arial"/>
                        </a:rPr>
                        <a:t>Перевіряє</a:t>
                      </a:r>
                    </a:p>
                  </a:txBody>
                  <a:tcPr marL="66675" marR="66675" marT="38100" marB="38100" anchor="ctr">
                    <a:solidFill>
                      <a:srgbClr val="173047"/>
                    </a:solidFill>
                  </a:tcPr>
                </a:tc>
                <a:tc>
                  <a:txBody>
                    <a:bodyPr/>
                    <a:lstStyle/>
                    <a:p>
                      <a:r>
                        <a:rPr sz="2250" b="1">
                          <a:solidFill>
                            <a:srgbClr val="FFFFFF"/>
                          </a:solidFill>
                          <a:latin typeface="Arial"/>
                          <a:ea typeface="Arial"/>
                          <a:cs typeface="Arial"/>
                        </a:rPr>
                        <a:t>Час, хв</a:t>
                      </a:r>
                    </a:p>
                  </a:txBody>
                  <a:tcPr marL="66675" marR="66675" marT="38100" marB="38100" anchor="ctr">
                    <a:solidFill>
                      <a:srgbClr val="173047"/>
                    </a:solidFill>
                  </a:tcPr>
                </a:tc>
              </a:tr>
              <a:tr h="619125">
                <a:tc>
                  <a:txBody>
                    <a:bodyPr/>
                    <a:lstStyle/>
                    <a:p>
                      <a:r>
                        <a:rPr sz="2250">
                          <a:solidFill>
                            <a:srgbClr val="173047"/>
                          </a:solidFill>
                          <a:latin typeface="Arial"/>
                          <a:ea typeface="Arial"/>
                          <a:cs typeface="Arial"/>
                        </a:rPr>
                        <a:t>T1</a:t>
                      </a:r>
                    </a:p>
                  </a:txBody>
                  <a:tcPr marL="66675" marR="66675" marT="38100" marB="38100" anchor="ctr">
                    <a:solidFill>
                      <a:srgbClr val="FFFFFF"/>
                    </a:solidFill>
                  </a:tcPr>
                </a:tc>
                <a:tc>
                  <a:txBody>
                    <a:bodyPr/>
                    <a:lstStyle/>
                    <a:p>
                      <a:r>
                        <a:rPr sz="2250">
                          <a:solidFill>
                            <a:srgbClr val="173047"/>
                          </a:solidFill>
                          <a:latin typeface="Arial"/>
                          <a:ea typeface="Arial"/>
                          <a:cs typeface="Arial"/>
                        </a:rPr>
                        <a:t>Вхід, пошук</a:t>
                      </a:r>
                    </a:p>
                  </a:txBody>
                  <a:tcPr marL="66675" marR="66675" marT="38100" marB="38100" anchor="ctr">
                    <a:solidFill>
                      <a:srgbClr val="FFFFFF"/>
                    </a:solidFill>
                  </a:tcPr>
                </a:tc>
                <a:tc>
                  <a:txBody>
                    <a:bodyPr/>
                    <a:lstStyle/>
                    <a:p>
                      <a:r>
                        <a:rPr sz="2250">
                          <a:solidFill>
                            <a:srgbClr val="173047"/>
                          </a:solidFill>
                          <a:latin typeface="Arial"/>
                          <a:ea typeface="Arial"/>
                          <a:cs typeface="Arial"/>
                        </a:rPr>
                        <a:t>8</a:t>
                      </a:r>
                    </a:p>
                  </a:txBody>
                  <a:tcPr marL="66675" marR="66675" marT="38100" marB="38100" anchor="ctr">
                    <a:solidFill>
                      <a:srgbClr val="FFFFFF"/>
                    </a:solidFill>
                  </a:tcPr>
                </a:tc>
              </a:tr>
              <a:tr h="619125">
                <a:tc>
                  <a:txBody>
                    <a:bodyPr/>
                    <a:lstStyle/>
                    <a:p>
                      <a:r>
                        <a:rPr sz="2250">
                          <a:solidFill>
                            <a:srgbClr val="173047"/>
                          </a:solidFill>
                          <a:latin typeface="Arial"/>
                          <a:ea typeface="Arial"/>
                          <a:cs typeface="Arial"/>
                        </a:rPr>
                        <a:t>T2</a:t>
                      </a:r>
                    </a:p>
                  </a:txBody>
                  <a:tcPr marL="66675" marR="66675" marT="38100" marB="38100" anchor="ctr">
                    <a:solidFill>
                      <a:srgbClr val="F1F5F8"/>
                    </a:solidFill>
                  </a:tcPr>
                </a:tc>
                <a:tc>
                  <a:txBody>
                    <a:bodyPr/>
                    <a:lstStyle/>
                    <a:p>
                      <a:r>
                        <a:rPr sz="2250">
                          <a:solidFill>
                            <a:srgbClr val="173047"/>
                          </a:solidFill>
                          <a:latin typeface="Arial"/>
                          <a:ea typeface="Arial"/>
                          <a:cs typeface="Arial"/>
                        </a:rPr>
                        <a:t>Пошук, оплата</a:t>
                      </a:r>
                    </a:p>
                  </a:txBody>
                  <a:tcPr marL="66675" marR="66675" marT="38100" marB="38100" anchor="ctr">
                    <a:solidFill>
                      <a:srgbClr val="F1F5F8"/>
                    </a:solidFill>
                  </a:tcPr>
                </a:tc>
                <a:tc>
                  <a:txBody>
                    <a:bodyPr/>
                    <a:lstStyle/>
                    <a:p>
                      <a:r>
                        <a:rPr sz="2250">
                          <a:solidFill>
                            <a:srgbClr val="173047"/>
                          </a:solidFill>
                          <a:latin typeface="Arial"/>
                          <a:ea typeface="Arial"/>
                          <a:cs typeface="Arial"/>
                        </a:rPr>
                        <a:t>3</a:t>
                      </a:r>
                    </a:p>
                  </a:txBody>
                  <a:tcPr marL="66675" marR="66675" marT="38100" marB="38100" anchor="ctr">
                    <a:solidFill>
                      <a:srgbClr val="F1F5F8"/>
                    </a:solidFill>
                  </a:tcPr>
                </a:tc>
              </a:tr>
              <a:tr h="619125">
                <a:tc>
                  <a:txBody>
                    <a:bodyPr/>
                    <a:lstStyle/>
                    <a:p>
                      <a:r>
                        <a:rPr sz="2250">
                          <a:solidFill>
                            <a:srgbClr val="173047"/>
                          </a:solidFill>
                          <a:latin typeface="Arial"/>
                          <a:ea typeface="Arial"/>
                          <a:cs typeface="Arial"/>
                        </a:rPr>
                        <a:t>T3</a:t>
                      </a:r>
                    </a:p>
                  </a:txBody>
                  <a:tcPr marL="66675" marR="66675" marT="38100" marB="38100" anchor="ctr">
                    <a:solidFill>
                      <a:srgbClr val="FFFFFF"/>
                    </a:solidFill>
                  </a:tcPr>
                </a:tc>
                <a:tc>
                  <a:txBody>
                    <a:bodyPr/>
                    <a:lstStyle/>
                    <a:p>
                      <a:r>
                        <a:rPr sz="2250">
                          <a:solidFill>
                            <a:srgbClr val="173047"/>
                          </a:solidFill>
                          <a:latin typeface="Arial"/>
                          <a:ea typeface="Arial"/>
                          <a:cs typeface="Arial"/>
                        </a:rPr>
                        <a:t>Оплата, звіт</a:t>
                      </a:r>
                    </a:p>
                  </a:txBody>
                  <a:tcPr marL="66675" marR="66675" marT="38100" marB="38100" anchor="ctr">
                    <a:solidFill>
                      <a:srgbClr val="FFFFFF"/>
                    </a:solidFill>
                  </a:tcPr>
                </a:tc>
                <a:tc>
                  <a:txBody>
                    <a:bodyPr/>
                    <a:lstStyle/>
                    <a:p>
                      <a:r>
                        <a:rPr sz="2250">
                          <a:solidFill>
                            <a:srgbClr val="173047"/>
                          </a:solidFill>
                          <a:latin typeface="Arial"/>
                          <a:ea typeface="Arial"/>
                          <a:cs typeface="Arial"/>
                        </a:rPr>
                        <a:t>7</a:t>
                      </a:r>
                    </a:p>
                  </a:txBody>
                  <a:tcPr marL="66675" marR="66675" marT="38100" marB="38100" anchor="ctr">
                    <a:solidFill>
                      <a:srgbClr val="FFFFFF"/>
                    </a:solidFill>
                  </a:tcPr>
                </a:tc>
              </a:tr>
              <a:tr h="619125">
                <a:tc>
                  <a:txBody>
                    <a:bodyPr/>
                    <a:lstStyle/>
                    <a:p>
                      <a:r>
                        <a:rPr sz="2250">
                          <a:solidFill>
                            <a:srgbClr val="173047"/>
                          </a:solidFill>
                          <a:latin typeface="Arial"/>
                          <a:ea typeface="Arial"/>
                          <a:cs typeface="Arial"/>
                        </a:rPr>
                        <a:t>T4</a:t>
                      </a:r>
                    </a:p>
                  </a:txBody>
                  <a:tcPr marL="66675" marR="66675" marT="38100" marB="38100" anchor="ctr">
                    <a:solidFill>
                      <a:srgbClr val="F1F5F8"/>
                    </a:solidFill>
                  </a:tcPr>
                </a:tc>
                <a:tc>
                  <a:txBody>
                    <a:bodyPr/>
                    <a:lstStyle/>
                    <a:p>
                      <a:r>
                        <a:rPr sz="2250">
                          <a:solidFill>
                            <a:srgbClr val="173047"/>
                          </a:solidFill>
                          <a:latin typeface="Arial"/>
                          <a:ea typeface="Arial"/>
                          <a:cs typeface="Arial"/>
                        </a:rPr>
                        <a:t>Вхід, звіт</a:t>
                      </a:r>
                    </a:p>
                  </a:txBody>
                  <a:tcPr marL="66675" marR="66675" marT="38100" marB="38100" anchor="ctr">
                    <a:solidFill>
                      <a:srgbClr val="F1F5F8"/>
                    </a:solidFill>
                  </a:tcPr>
                </a:tc>
                <a:tc>
                  <a:txBody>
                    <a:bodyPr/>
                    <a:lstStyle/>
                    <a:p>
                      <a:r>
                        <a:rPr sz="2250">
                          <a:solidFill>
                            <a:srgbClr val="173047"/>
                          </a:solidFill>
                          <a:latin typeface="Arial"/>
                          <a:ea typeface="Arial"/>
                          <a:cs typeface="Arial"/>
                        </a:rPr>
                        <a:t>4</a:t>
                      </a:r>
                    </a:p>
                  </a:txBody>
                  <a:tcPr marL="66675" marR="66675" marT="38100" marB="38100"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383B14EE-0D46-4B75-9163-55C031955FF7}"/>
              </a:ext>
            </a:extLst>
          </p:cNvPr>
          <p:cNvSpPr>
            <a:spLocks xmlns:a="http://schemas.openxmlformats.org/drawingml/2006/main" noGrp="1"/>
          </p:cNvSpPr>
          <p:nvPr/>
        </p:nvSpPr>
        <p:spPr>
          <a:xfrm xmlns:a="http://schemas.openxmlformats.org/drawingml/2006/main">
            <a:off x="762000" y="4857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925" b="1">
                <a:solidFill>
                  <a:srgbClr val="00857D"/>
                </a:solidFill>
                <a:latin typeface="Arial"/>
                <a:ea typeface="Arial"/>
                <a:cs typeface="Arial"/>
              </a:defRPr>
            </a:defPPr>
          </a:lstStyle>
          <a:p xmlns:a="http://schemas.openxmlformats.org/drawingml/2006/main">
            <a:pPr>
              <a:defRPr sz="2925" b="1">
                <a:solidFill>
                  <a:srgbClr val="00857D"/>
                </a:solidFill>
                <a:latin typeface="Arial"/>
                <a:ea typeface="Arial"/>
                <a:cs typeface="Arial"/>
              </a:defRPr>
            </a:pPr>
            <a:r>
              <a:rPr sz="2925" b="1">
                <a:solidFill>
                  <a:srgbClr val="00857D"/>
                </a:solidFill>
                <a:latin typeface="Arial"/>
                <a:ea typeface="Arial"/>
                <a:cs typeface="Arial"/>
              </a:rPr>
              <a:t>T1 + T3: 15 хв     T2 + T4: 7 хв</a:t>
            </a:r>
          </a:p>
        </p:txBody>
      </p:sp>
    </p:spTree>
    <p:extLst>
      <p:ext uri="{BB962C8B-B14F-4D97-AF65-F5344CB8AC3E}">
        <p14:creationId xmlns:p14="http://schemas.microsoft.com/office/powerpoint/2010/main" val="12876897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D7BE3C-9EC1-4577-AB50-58C8B3DC967E}"/>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Регресія ІТ-сервісу: 8 властивостей</a:t>
            </a:r>
          </a:p>
        </p:txBody>
      </p:sp>
      <p:sp>
        <p:nvSpPr>
          <p:cNvPr id="2" name="">
            <a:extLst xmlns:a="http://schemas.openxmlformats.org/drawingml/2006/main">
              <a:ext uri="{FF2B5EF4-FFF2-40B4-BE49-F238E27FC236}">
                <a16:creationId xmlns:a16="http://schemas.microsoft.com/office/drawing/2014/main" id="{94CAC8E0-0F86-4647-BA09-82B1FB08E99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10 готових тестів. K=3 властивості, N=5 тестів, B=16 хв.</a:t>
            </a:r>
          </a:p>
        </p:txBody>
      </p:sp>
      <p:sp>
        <p:nvSpPr>
          <p:cNvPr id="3" name="">
            <a:extLst xmlns:a="http://schemas.openxmlformats.org/drawingml/2006/main">
              <a:ext uri="{FF2B5EF4-FFF2-40B4-BE49-F238E27FC236}">
                <a16:creationId xmlns:a16="http://schemas.microsoft.com/office/drawing/2014/main" id="{13D16AA0-7312-443D-9DFF-77406F4665A4}"/>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7</a:t>
            </a:r>
          </a:p>
        </p:txBody>
      </p:sp>
      <p:graphicFrame>
        <p:nvGraphicFramePr>
          <p:cNvPr id="4" name="">
            <a:extLst xmlns:a="http://schemas.openxmlformats.org/drawingml/2006/main">
              <a:ext uri="{FF2B5EF4-FFF2-40B4-BE49-F238E27FC236}">
                <a16:creationId xmlns:a16="http://schemas.microsoft.com/office/drawing/2014/main" id="{3BD54B3C-049A-43BC-9CAC-247565497A03}"/>
              </a:ext>
            </a:extLst>
          </p:cNvPr>
          <p:cNvGraphicFramePr/>
          <p:nvPr/>
        </p:nvGraphicFramePr>
        <p:xfrm>
          <a:off xmlns:a="http://schemas.openxmlformats.org/drawingml/2006/main" x="762000" y="1485900"/>
          <a:ext xmlns:a="http://schemas.openxmlformats.org/drawingml/2006/main" cx="10668000" cy="4048125"/>
        </p:xfrm>
        <a:graphic xmlns:a="http://schemas.openxmlformats.org/drawingml/2006/main">
          <a:graphicData uri="http://schemas.openxmlformats.org/drawingml/2006/table">
            <a:tbl>
              <a:tblPr/>
              <a:tblGrid>
                <a:gridCol w="3556000"/>
                <a:gridCol w="3556000"/>
                <a:gridCol w="3556000"/>
              </a:tblGrid>
              <a:tr h="449792">
                <a:tc>
                  <a:txBody>
                    <a:bodyPr/>
                    <a:lstStyle/>
                    <a:p>
                      <a:r>
                        <a:rPr sz="2100" b="1">
                          <a:solidFill>
                            <a:srgbClr val="FFFFFF"/>
                          </a:solidFill>
                          <a:latin typeface="Arial"/>
                          <a:ea typeface="Arial"/>
                          <a:cs typeface="Arial"/>
                        </a:rPr>
                        <a:t>Код</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Властивість</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Мінімум тестів</a:t>
                      </a:r>
                    </a:p>
                  </a:txBody>
                  <a:tcPr marL="66675" marR="66675" marT="38100" marB="38100" anchor="ctr">
                    <a:solidFill>
                      <a:srgbClr val="173047"/>
                    </a:solidFill>
                  </a:tcPr>
                </a:tc>
              </a:tr>
              <a:tr h="449792">
                <a:tc>
                  <a:txBody>
                    <a:bodyPr/>
                    <a:lstStyle/>
                    <a:p>
                      <a:r>
                        <a:rPr sz="2100">
                          <a:solidFill>
                            <a:srgbClr val="173047"/>
                          </a:solidFill>
                          <a:latin typeface="Arial"/>
                          <a:ea typeface="Arial"/>
                          <a:cs typeface="Arial"/>
                        </a:rPr>
                        <a:t>F1</a:t>
                      </a:r>
                    </a:p>
                  </a:txBody>
                  <a:tcPr marL="66675" marR="66675" marT="38100" marB="38100" anchor="ctr">
                    <a:solidFill>
                      <a:srgbClr val="FFFFFF"/>
                    </a:solidFill>
                  </a:tcPr>
                </a:tc>
                <a:tc>
                  <a:txBody>
                    <a:bodyPr/>
                    <a:lstStyle/>
                    <a:p>
                      <a:r>
                        <a:rPr sz="2100">
                          <a:solidFill>
                            <a:srgbClr val="173047"/>
                          </a:solidFill>
                          <a:latin typeface="Arial"/>
                          <a:ea typeface="Arial"/>
                          <a:cs typeface="Arial"/>
                        </a:rPr>
                        <a:t>Вхід до сервісу</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r>
              <a:tr h="449792">
                <a:tc>
                  <a:txBody>
                    <a:bodyPr/>
                    <a:lstStyle/>
                    <a:p>
                      <a:r>
                        <a:rPr sz="2100">
                          <a:solidFill>
                            <a:srgbClr val="173047"/>
                          </a:solidFill>
                          <a:latin typeface="Arial"/>
                          <a:ea typeface="Arial"/>
                          <a:cs typeface="Arial"/>
                        </a:rPr>
                        <a:t>F2</a:t>
                      </a:r>
                    </a:p>
                  </a:txBody>
                  <a:tcPr marL="66675" marR="66675" marT="38100" marB="38100" anchor="ctr">
                    <a:solidFill>
                      <a:srgbClr val="F1F5F8"/>
                    </a:solidFill>
                  </a:tcPr>
                </a:tc>
                <a:tc>
                  <a:txBody>
                    <a:bodyPr/>
                    <a:lstStyle/>
                    <a:p>
                      <a:r>
                        <a:rPr sz="2100">
                          <a:solidFill>
                            <a:srgbClr val="173047"/>
                          </a:solidFill>
                          <a:latin typeface="Arial"/>
                          <a:ea typeface="Arial"/>
                          <a:cs typeface="Arial"/>
                        </a:rPr>
                        <a:t>Права доступу</a:t>
                      </a:r>
                    </a:p>
                  </a:txBody>
                  <a:tcPr marL="66675" marR="66675" marT="38100" marB="38100" anchor="ctr">
                    <a:solidFill>
                      <a:srgbClr val="F1F5F8"/>
                    </a:solidFill>
                  </a:tcPr>
                </a:tc>
                <a:tc>
                  <a:txBody>
                    <a:bodyPr/>
                    <a:lstStyle/>
                    <a:p>
                      <a:r>
                        <a:rPr sz="2100">
                          <a:solidFill>
                            <a:srgbClr val="173047"/>
                          </a:solidFill>
                          <a:latin typeface="Arial"/>
                          <a:ea typeface="Arial"/>
                          <a:cs typeface="Arial"/>
                        </a:rPr>
                        <a:t>2</a:t>
                      </a:r>
                    </a:p>
                  </a:txBody>
                  <a:tcPr marL="66675" marR="66675" marT="38100" marB="38100" anchor="ctr">
                    <a:solidFill>
                      <a:srgbClr val="F1F5F8"/>
                    </a:solidFill>
                  </a:tcPr>
                </a:tc>
              </a:tr>
              <a:tr h="449792">
                <a:tc>
                  <a:txBody>
                    <a:bodyPr/>
                    <a:lstStyle/>
                    <a:p>
                      <a:r>
                        <a:rPr sz="2100">
                          <a:solidFill>
                            <a:srgbClr val="173047"/>
                          </a:solidFill>
                          <a:latin typeface="Arial"/>
                          <a:ea typeface="Arial"/>
                          <a:cs typeface="Arial"/>
                        </a:rPr>
                        <a:t>F3</a:t>
                      </a:r>
                    </a:p>
                  </a:txBody>
                  <a:tcPr marL="66675" marR="66675" marT="38100" marB="38100" anchor="ctr">
                    <a:solidFill>
                      <a:srgbClr val="FFFFFF"/>
                    </a:solidFill>
                  </a:tcPr>
                </a:tc>
                <a:tc>
                  <a:txBody>
                    <a:bodyPr/>
                    <a:lstStyle/>
                    <a:p>
                      <a:r>
                        <a:rPr sz="2100">
                          <a:solidFill>
                            <a:srgbClr val="173047"/>
                          </a:solidFill>
                          <a:latin typeface="Arial"/>
                          <a:ea typeface="Arial"/>
                          <a:cs typeface="Arial"/>
                        </a:rPr>
                        <a:t>Оновлення токена</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r>
              <a:tr h="449792">
                <a:tc>
                  <a:txBody>
                    <a:bodyPr/>
                    <a:lstStyle/>
                    <a:p>
                      <a:r>
                        <a:rPr sz="2100">
                          <a:solidFill>
                            <a:srgbClr val="173047"/>
                          </a:solidFill>
                          <a:latin typeface="Arial"/>
                          <a:ea typeface="Arial"/>
                          <a:cs typeface="Arial"/>
                        </a:rPr>
                        <a:t>F4</a:t>
                      </a:r>
                    </a:p>
                  </a:txBody>
                  <a:tcPr marL="66675" marR="66675" marT="38100" marB="38100" anchor="ctr">
                    <a:solidFill>
                      <a:srgbClr val="F1F5F8"/>
                    </a:solidFill>
                  </a:tcPr>
                </a:tc>
                <a:tc>
                  <a:txBody>
                    <a:bodyPr/>
                    <a:lstStyle/>
                    <a:p>
                      <a:r>
                        <a:rPr sz="2100">
                          <a:solidFill>
                            <a:srgbClr val="173047"/>
                          </a:solidFill>
                          <a:latin typeface="Arial"/>
                          <a:ea typeface="Arial"/>
                          <a:cs typeface="Arial"/>
                        </a:rPr>
                        <a:t>Зміна конфігурації</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r>
              <a:tr h="449792">
                <a:tc>
                  <a:txBody>
                    <a:bodyPr/>
                    <a:lstStyle/>
                    <a:p>
                      <a:r>
                        <a:rPr sz="2100">
                          <a:solidFill>
                            <a:srgbClr val="173047"/>
                          </a:solidFill>
                          <a:latin typeface="Arial"/>
                          <a:ea typeface="Arial"/>
                          <a:cs typeface="Arial"/>
                        </a:rPr>
                        <a:t>F5</a:t>
                      </a:r>
                    </a:p>
                  </a:txBody>
                  <a:tcPr marL="66675" marR="66675" marT="38100" marB="38100" anchor="ctr">
                    <a:solidFill>
                      <a:srgbClr val="FFFFFF"/>
                    </a:solidFill>
                  </a:tcPr>
                </a:tc>
                <a:tc>
                  <a:txBody>
                    <a:bodyPr/>
                    <a:lstStyle/>
                    <a:p>
                      <a:r>
                        <a:rPr sz="2100">
                          <a:solidFill>
                            <a:srgbClr val="173047"/>
                          </a:solidFill>
                          <a:latin typeface="Arial"/>
                          <a:ea typeface="Arial"/>
                          <a:cs typeface="Arial"/>
                        </a:rPr>
                        <a:t>Передавання телеметрії</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r>
              <a:tr h="449792">
                <a:tc>
                  <a:txBody>
                    <a:bodyPr/>
                    <a:lstStyle/>
                    <a:p>
                      <a:r>
                        <a:rPr sz="2100">
                          <a:solidFill>
                            <a:srgbClr val="173047"/>
                          </a:solidFill>
                          <a:latin typeface="Arial"/>
                          <a:ea typeface="Arial"/>
                          <a:cs typeface="Arial"/>
                        </a:rPr>
                        <a:t>F6</a:t>
                      </a:r>
                    </a:p>
                  </a:txBody>
                  <a:tcPr marL="66675" marR="66675" marT="38100" marB="38100" anchor="ctr">
                    <a:solidFill>
                      <a:srgbClr val="F1F5F8"/>
                    </a:solidFill>
                  </a:tcPr>
                </a:tc>
                <a:tc>
                  <a:txBody>
                    <a:bodyPr/>
                    <a:lstStyle/>
                    <a:p>
                      <a:r>
                        <a:rPr sz="2100">
                          <a:solidFill>
                            <a:srgbClr val="173047"/>
                          </a:solidFill>
                          <a:latin typeface="Arial"/>
                          <a:ea typeface="Arial"/>
                          <a:cs typeface="Arial"/>
                        </a:rPr>
                        <a:t>Повтор запиту</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r>
              <a:tr h="449792">
                <a:tc>
                  <a:txBody>
                    <a:bodyPr/>
                    <a:lstStyle/>
                    <a:p>
                      <a:r>
                        <a:rPr sz="2100">
                          <a:solidFill>
                            <a:srgbClr val="173047"/>
                          </a:solidFill>
                          <a:latin typeface="Arial"/>
                          <a:ea typeface="Arial"/>
                          <a:cs typeface="Arial"/>
                        </a:rPr>
                        <a:t>F7</a:t>
                      </a:r>
                    </a:p>
                  </a:txBody>
                  <a:tcPr marL="66675" marR="66675" marT="38100" marB="38100" anchor="ctr">
                    <a:solidFill>
                      <a:srgbClr val="FFFFFF"/>
                    </a:solidFill>
                  </a:tcPr>
                </a:tc>
                <a:tc>
                  <a:txBody>
                    <a:bodyPr/>
                    <a:lstStyle/>
                    <a:p>
                      <a:r>
                        <a:rPr sz="2100">
                          <a:solidFill>
                            <a:srgbClr val="173047"/>
                          </a:solidFill>
                          <a:latin typeface="Arial"/>
                          <a:ea typeface="Arial"/>
                          <a:cs typeface="Arial"/>
                        </a:rPr>
                        <a:t>Відновлення після збою</a:t>
                      </a:r>
                    </a:p>
                  </a:txBody>
                  <a:tcPr marL="66675" marR="66675" marT="38100" marB="38100" anchor="ctr">
                    <a:solidFill>
                      <a:srgbClr val="FFFFFF"/>
                    </a:solidFill>
                  </a:tcPr>
                </a:tc>
                <a:tc>
                  <a:txBody>
                    <a:bodyPr/>
                    <a:lstStyle/>
                    <a:p>
                      <a:r>
                        <a:rPr sz="2100">
                          <a:solidFill>
                            <a:srgbClr val="173047"/>
                          </a:solidFill>
                          <a:latin typeface="Arial"/>
                          <a:ea typeface="Arial"/>
                          <a:cs typeface="Arial"/>
                        </a:rPr>
                        <a:t>2</a:t>
                      </a:r>
                    </a:p>
                  </a:txBody>
                  <a:tcPr marL="66675" marR="66675" marT="38100" marB="38100" anchor="ctr">
                    <a:solidFill>
                      <a:srgbClr val="FFFFFF"/>
                    </a:solidFill>
                  </a:tcPr>
                </a:tc>
              </a:tr>
              <a:tr h="449792">
                <a:tc>
                  <a:txBody>
                    <a:bodyPr/>
                    <a:lstStyle/>
                    <a:p>
                      <a:r>
                        <a:rPr sz="2100">
                          <a:solidFill>
                            <a:srgbClr val="173047"/>
                          </a:solidFill>
                          <a:latin typeface="Arial"/>
                          <a:ea typeface="Arial"/>
                          <a:cs typeface="Arial"/>
                        </a:rPr>
                        <a:t>F8</a:t>
                      </a:r>
                    </a:p>
                  </a:txBody>
                  <a:tcPr marL="66675" marR="66675" marT="38100" marB="38100" anchor="ctr">
                    <a:solidFill>
                      <a:srgbClr val="F1F5F8"/>
                    </a:solidFill>
                  </a:tcPr>
                </a:tc>
                <a:tc>
                  <a:txBody>
                    <a:bodyPr/>
                    <a:lstStyle/>
                    <a:p>
                      <a:r>
                        <a:rPr sz="2100">
                          <a:solidFill>
                            <a:srgbClr val="173047"/>
                          </a:solidFill>
                          <a:latin typeface="Arial"/>
                          <a:ea typeface="Arial"/>
                          <a:cs typeface="Arial"/>
                        </a:rPr>
                        <a:t>Журнал аудиту</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r>
            </a:tbl>
          </a:graphicData>
        </a:graphic>
      </p:graphicFrame>
    </p:spTree>
    <p:extLst>
      <p:ext uri="{BB962C8B-B14F-4D97-AF65-F5344CB8AC3E}">
        <p14:creationId xmlns:p14="http://schemas.microsoft.com/office/powerpoint/2010/main" val="13497870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9E482B-78AA-4457-918D-84C53AB91C8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Матриця перевірок готових тестів</a:t>
            </a:r>
          </a:p>
        </p:txBody>
      </p:sp>
      <p:sp>
        <p:nvSpPr>
          <p:cNvPr id="2" name="">
            <a:extLst xmlns:a="http://schemas.openxmlformats.org/drawingml/2006/main">
              <a:ext uri="{FF2B5EF4-FFF2-40B4-BE49-F238E27FC236}">
                <a16:creationId xmlns:a16="http://schemas.microsoft.com/office/drawing/2014/main" id="{43BB08D5-15B3-4262-B978-61D9CA604A5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1 означає перевірку властивості. q — кількість одиниць у рядку.</a:t>
            </a:r>
          </a:p>
        </p:txBody>
      </p:sp>
      <p:sp>
        <p:nvSpPr>
          <p:cNvPr id="3" name="">
            <a:extLst xmlns:a="http://schemas.openxmlformats.org/drawingml/2006/main">
              <a:ext uri="{FF2B5EF4-FFF2-40B4-BE49-F238E27FC236}">
                <a16:creationId xmlns:a16="http://schemas.microsoft.com/office/drawing/2014/main" id="{29F171AE-9B1B-476C-AC4B-2B3F341A263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8</a:t>
            </a:r>
          </a:p>
        </p:txBody>
      </p:sp>
      <p:graphicFrame>
        <p:nvGraphicFramePr>
          <p:cNvPr id="4" name="">
            <a:extLst xmlns:a="http://schemas.openxmlformats.org/drawingml/2006/main">
              <a:ext uri="{FF2B5EF4-FFF2-40B4-BE49-F238E27FC236}">
                <a16:creationId xmlns:a16="http://schemas.microsoft.com/office/drawing/2014/main" id="{7A207B49-EA82-4284-A424-DF5F49118EDC}"/>
              </a:ext>
            </a:extLst>
          </p:cNvPr>
          <p:cNvGraphicFramePr/>
          <p:nvPr/>
        </p:nvGraphicFramePr>
        <p:xfrm>
          <a:off xmlns:a="http://schemas.openxmlformats.org/drawingml/2006/main" x="762000" y="1485900"/>
          <a:ext xmlns:a="http://schemas.openxmlformats.org/drawingml/2006/main" cx="10668000" cy="4095750"/>
        </p:xfrm>
        <a:graphic xmlns:a="http://schemas.openxmlformats.org/drawingml/2006/main">
          <a:graphicData uri="http://schemas.openxmlformats.org/drawingml/2006/table">
            <a:tbl>
              <a:tblPr/>
              <a:tblGrid>
                <a:gridCol w="969818"/>
                <a:gridCol w="969818"/>
                <a:gridCol w="969818"/>
                <a:gridCol w="969818"/>
                <a:gridCol w="969818"/>
                <a:gridCol w="969818"/>
                <a:gridCol w="969818"/>
                <a:gridCol w="969818"/>
                <a:gridCol w="969818"/>
                <a:gridCol w="969818"/>
                <a:gridCol w="969818"/>
              </a:tblGrid>
              <a:tr h="372341">
                <a:tc>
                  <a:txBody>
                    <a:bodyPr/>
                    <a:lstStyle/>
                    <a:p>
                      <a:r>
                        <a:rPr sz="1725" b="1">
                          <a:solidFill>
                            <a:srgbClr val="FFFFFF"/>
                          </a:solidFill>
                          <a:latin typeface="Arial"/>
                          <a:ea typeface="Arial"/>
                          <a:cs typeface="Arial"/>
                        </a:rPr>
                        <a:t>Тест</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F1</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F2</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F3</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F4</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F5</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F6</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F7</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F8</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Хв</a:t>
                      </a:r>
                    </a:p>
                  </a:txBody>
                  <a:tcPr marL="66675" marR="66675" marT="28575" marB="28575" anchor="ctr">
                    <a:solidFill>
                      <a:srgbClr val="173047"/>
                    </a:solidFill>
                  </a:tcPr>
                </a:tc>
                <a:tc>
                  <a:txBody>
                    <a:bodyPr/>
                    <a:lstStyle/>
                    <a:p>
                      <a:r>
                        <a:rPr sz="1725" b="1">
                          <a:solidFill>
                            <a:srgbClr val="FFFFFF"/>
                          </a:solidFill>
                          <a:latin typeface="Arial"/>
                          <a:ea typeface="Arial"/>
                          <a:cs typeface="Arial"/>
                        </a:rPr>
                        <a:t>q</a:t>
                      </a:r>
                    </a:p>
                  </a:txBody>
                  <a:tcPr marL="66675" marR="66675" marT="28575" marB="28575" anchor="ctr">
                    <a:solidFill>
                      <a:srgbClr val="173047"/>
                    </a:solidFill>
                  </a:tcPr>
                </a:tc>
              </a:tr>
              <a:tr h="372341">
                <a:tc>
                  <a:txBody>
                    <a:bodyPr/>
                    <a:lstStyle/>
                    <a:p>
                      <a:r>
                        <a:rPr sz="1725">
                          <a:solidFill>
                            <a:srgbClr val="173047"/>
                          </a:solidFill>
                          <a:latin typeface="Arial"/>
                          <a:ea typeface="Arial"/>
                          <a:cs typeface="Arial"/>
                        </a:rPr>
                        <a:t>T1</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5</a:t>
                      </a:r>
                    </a:p>
                  </a:txBody>
                  <a:tcPr marL="66675" marR="66675" marT="28575" marB="28575" anchor="ctr">
                    <a:solidFill>
                      <a:srgbClr val="FFFFFF"/>
                    </a:solidFill>
                  </a:tcPr>
                </a:tc>
                <a:tc>
                  <a:txBody>
                    <a:bodyPr/>
                    <a:lstStyle/>
                    <a:p>
                      <a:r>
                        <a:rPr sz="1725">
                          <a:solidFill>
                            <a:srgbClr val="173047"/>
                          </a:solidFill>
                          <a:latin typeface="Arial"/>
                          <a:ea typeface="Arial"/>
                          <a:cs typeface="Arial"/>
                        </a:rPr>
                        <a:t>3</a:t>
                      </a:r>
                    </a:p>
                  </a:txBody>
                  <a:tcPr marL="66675" marR="66675" marT="28575" marB="28575" anchor="ctr">
                    <a:solidFill>
                      <a:srgbClr val="FFFFFF"/>
                    </a:solidFill>
                  </a:tcPr>
                </a:tc>
              </a:tr>
              <a:tr h="372341">
                <a:tc>
                  <a:txBody>
                    <a:bodyPr/>
                    <a:lstStyle/>
                    <a:p>
                      <a:r>
                        <a:rPr sz="1725">
                          <a:solidFill>
                            <a:srgbClr val="173047"/>
                          </a:solidFill>
                          <a:latin typeface="Arial"/>
                          <a:ea typeface="Arial"/>
                          <a:cs typeface="Arial"/>
                        </a:rPr>
                        <a:t>T2</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4</a:t>
                      </a:r>
                    </a:p>
                  </a:txBody>
                  <a:tcPr marL="66675" marR="66675" marT="28575" marB="28575" anchor="ctr">
                    <a:solidFill>
                      <a:srgbClr val="F1F5F8"/>
                    </a:solidFill>
                  </a:tcPr>
                </a:tc>
                <a:tc>
                  <a:txBody>
                    <a:bodyPr/>
                    <a:lstStyle/>
                    <a:p>
                      <a:r>
                        <a:rPr sz="1725">
                          <a:solidFill>
                            <a:srgbClr val="173047"/>
                          </a:solidFill>
                          <a:latin typeface="Arial"/>
                          <a:ea typeface="Arial"/>
                          <a:cs typeface="Arial"/>
                        </a:rPr>
                        <a:t>3</a:t>
                      </a:r>
                    </a:p>
                  </a:txBody>
                  <a:tcPr marL="66675" marR="66675" marT="28575" marB="28575" anchor="ctr">
                    <a:solidFill>
                      <a:srgbClr val="F1F5F8"/>
                    </a:solidFill>
                  </a:tcPr>
                </a:tc>
              </a:tr>
              <a:tr h="372341">
                <a:tc>
                  <a:txBody>
                    <a:bodyPr/>
                    <a:lstStyle/>
                    <a:p>
                      <a:r>
                        <a:rPr sz="1725">
                          <a:solidFill>
                            <a:srgbClr val="173047"/>
                          </a:solidFill>
                          <a:latin typeface="Arial"/>
                          <a:ea typeface="Arial"/>
                          <a:cs typeface="Arial"/>
                        </a:rPr>
                        <a:t>T3</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4</a:t>
                      </a:r>
                    </a:p>
                  </a:txBody>
                  <a:tcPr marL="66675" marR="66675" marT="28575" marB="28575" anchor="ctr">
                    <a:solidFill>
                      <a:srgbClr val="FFFFFF"/>
                    </a:solidFill>
                  </a:tcPr>
                </a:tc>
                <a:tc>
                  <a:txBody>
                    <a:bodyPr/>
                    <a:lstStyle/>
                    <a:p>
                      <a:r>
                        <a:rPr sz="1725">
                          <a:solidFill>
                            <a:srgbClr val="173047"/>
                          </a:solidFill>
                          <a:latin typeface="Arial"/>
                          <a:ea typeface="Arial"/>
                          <a:cs typeface="Arial"/>
                        </a:rPr>
                        <a:t>3</a:t>
                      </a:r>
                    </a:p>
                  </a:txBody>
                  <a:tcPr marL="66675" marR="66675" marT="28575" marB="28575" anchor="ctr">
                    <a:solidFill>
                      <a:srgbClr val="FFFFFF"/>
                    </a:solidFill>
                  </a:tcPr>
                </a:tc>
              </a:tr>
              <a:tr h="372341">
                <a:tc>
                  <a:txBody>
                    <a:bodyPr/>
                    <a:lstStyle/>
                    <a:p>
                      <a:r>
                        <a:rPr sz="1725">
                          <a:solidFill>
                            <a:srgbClr val="173047"/>
                          </a:solidFill>
                          <a:latin typeface="Arial"/>
                          <a:ea typeface="Arial"/>
                          <a:cs typeface="Arial"/>
                        </a:rPr>
                        <a:t>T4</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3</a:t>
                      </a:r>
                    </a:p>
                  </a:txBody>
                  <a:tcPr marL="66675" marR="66675" marT="28575" marB="28575" anchor="ctr">
                    <a:solidFill>
                      <a:srgbClr val="F1F5F8"/>
                    </a:solidFill>
                  </a:tcPr>
                </a:tc>
                <a:tc>
                  <a:txBody>
                    <a:bodyPr/>
                    <a:lstStyle/>
                    <a:p>
                      <a:r>
                        <a:rPr sz="1725">
                          <a:solidFill>
                            <a:srgbClr val="173047"/>
                          </a:solidFill>
                          <a:latin typeface="Arial"/>
                          <a:ea typeface="Arial"/>
                          <a:cs typeface="Arial"/>
                        </a:rPr>
                        <a:t>3</a:t>
                      </a:r>
                    </a:p>
                  </a:txBody>
                  <a:tcPr marL="66675" marR="66675" marT="28575" marB="28575" anchor="ctr">
                    <a:solidFill>
                      <a:srgbClr val="F1F5F8"/>
                    </a:solidFill>
                  </a:tcPr>
                </a:tc>
              </a:tr>
              <a:tr h="372341">
                <a:tc>
                  <a:txBody>
                    <a:bodyPr/>
                    <a:lstStyle/>
                    <a:p>
                      <a:r>
                        <a:rPr sz="1725">
                          <a:solidFill>
                            <a:srgbClr val="173047"/>
                          </a:solidFill>
                          <a:latin typeface="Arial"/>
                          <a:ea typeface="Arial"/>
                          <a:cs typeface="Arial"/>
                        </a:rPr>
                        <a:t>T5</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4</a:t>
                      </a:r>
                    </a:p>
                  </a:txBody>
                  <a:tcPr marL="66675" marR="66675" marT="28575" marB="28575" anchor="ctr">
                    <a:solidFill>
                      <a:srgbClr val="FFFFFF"/>
                    </a:solidFill>
                  </a:tcPr>
                </a:tc>
                <a:tc>
                  <a:txBody>
                    <a:bodyPr/>
                    <a:lstStyle/>
                    <a:p>
                      <a:r>
                        <a:rPr sz="1725">
                          <a:solidFill>
                            <a:srgbClr val="173047"/>
                          </a:solidFill>
                          <a:latin typeface="Arial"/>
                          <a:ea typeface="Arial"/>
                          <a:cs typeface="Arial"/>
                        </a:rPr>
                        <a:t>3</a:t>
                      </a:r>
                    </a:p>
                  </a:txBody>
                  <a:tcPr marL="66675" marR="66675" marT="28575" marB="28575" anchor="ctr">
                    <a:solidFill>
                      <a:srgbClr val="FFFFFF"/>
                    </a:solidFill>
                  </a:tcPr>
                </a:tc>
              </a:tr>
              <a:tr h="372341">
                <a:tc>
                  <a:txBody>
                    <a:bodyPr/>
                    <a:lstStyle/>
                    <a:p>
                      <a:r>
                        <a:rPr sz="1725">
                          <a:solidFill>
                            <a:srgbClr val="173047"/>
                          </a:solidFill>
                          <a:latin typeface="Arial"/>
                          <a:ea typeface="Arial"/>
                          <a:cs typeface="Arial"/>
                        </a:rPr>
                        <a:t>T6</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5</a:t>
                      </a:r>
                    </a:p>
                  </a:txBody>
                  <a:tcPr marL="66675" marR="66675" marT="28575" marB="28575" anchor="ctr">
                    <a:solidFill>
                      <a:srgbClr val="F1F5F8"/>
                    </a:solidFill>
                  </a:tcPr>
                </a:tc>
                <a:tc>
                  <a:txBody>
                    <a:bodyPr/>
                    <a:lstStyle/>
                    <a:p>
                      <a:r>
                        <a:rPr sz="1725">
                          <a:solidFill>
                            <a:srgbClr val="173047"/>
                          </a:solidFill>
                          <a:latin typeface="Arial"/>
                          <a:ea typeface="Arial"/>
                          <a:cs typeface="Arial"/>
                        </a:rPr>
                        <a:t>3</a:t>
                      </a:r>
                    </a:p>
                  </a:txBody>
                  <a:tcPr marL="66675" marR="66675" marT="28575" marB="28575" anchor="ctr">
                    <a:solidFill>
                      <a:srgbClr val="F1F5F8"/>
                    </a:solidFill>
                  </a:tcPr>
                </a:tc>
              </a:tr>
              <a:tr h="372341">
                <a:tc>
                  <a:txBody>
                    <a:bodyPr/>
                    <a:lstStyle/>
                    <a:p>
                      <a:r>
                        <a:rPr sz="1725">
                          <a:solidFill>
                            <a:srgbClr val="173047"/>
                          </a:solidFill>
                          <a:latin typeface="Arial"/>
                          <a:ea typeface="Arial"/>
                          <a:cs typeface="Arial"/>
                        </a:rPr>
                        <a:t>T7</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1</a:t>
                      </a:r>
                    </a:p>
                  </a:txBody>
                  <a:tcPr marL="66675" marR="66675" marT="28575" marB="28575" anchor="ctr">
                    <a:solidFill>
                      <a:srgbClr val="FFFFFF"/>
                    </a:solidFill>
                  </a:tcPr>
                </a:tc>
                <a:tc>
                  <a:txBody>
                    <a:bodyPr/>
                    <a:lstStyle/>
                    <a:p>
                      <a:r>
                        <a:rPr sz="1725">
                          <a:solidFill>
                            <a:srgbClr val="173047"/>
                          </a:solidFill>
                          <a:latin typeface="Arial"/>
                          <a:ea typeface="Arial"/>
                          <a:cs typeface="Arial"/>
                        </a:rPr>
                        <a:t>—</a:t>
                      </a:r>
                    </a:p>
                  </a:txBody>
                  <a:tcPr marL="66675" marR="66675" marT="28575" marB="28575" anchor="ctr">
                    <a:solidFill>
                      <a:srgbClr val="FFFFFF"/>
                    </a:solidFill>
                  </a:tcPr>
                </a:tc>
                <a:tc>
                  <a:txBody>
                    <a:bodyPr/>
                    <a:lstStyle/>
                    <a:p>
                      <a:r>
                        <a:rPr sz="1725">
                          <a:solidFill>
                            <a:srgbClr val="173047"/>
                          </a:solidFill>
                          <a:latin typeface="Arial"/>
                          <a:ea typeface="Arial"/>
                          <a:cs typeface="Arial"/>
                        </a:rPr>
                        <a:t>4</a:t>
                      </a:r>
                    </a:p>
                  </a:txBody>
                  <a:tcPr marL="66675" marR="66675" marT="28575" marB="28575" anchor="ctr">
                    <a:solidFill>
                      <a:srgbClr val="FFFFFF"/>
                    </a:solidFill>
                  </a:tcPr>
                </a:tc>
                <a:tc>
                  <a:txBody>
                    <a:bodyPr/>
                    <a:lstStyle/>
                    <a:p>
                      <a:r>
                        <a:rPr sz="1725">
                          <a:solidFill>
                            <a:srgbClr val="173047"/>
                          </a:solidFill>
                          <a:latin typeface="Arial"/>
                          <a:ea typeface="Arial"/>
                          <a:cs typeface="Arial"/>
                        </a:rPr>
                        <a:t>3</a:t>
                      </a:r>
                    </a:p>
                  </a:txBody>
                  <a:tcPr marL="66675" marR="66675" marT="28575" marB="28575" anchor="ctr">
                    <a:solidFill>
                      <a:srgbClr val="FFFFFF"/>
                    </a:solidFill>
                  </a:tcPr>
                </a:tc>
              </a:tr>
              <a:tr h="372341">
                <a:tc>
                  <a:txBody>
                    <a:bodyPr/>
                    <a:lstStyle/>
                    <a:p>
                      <a:r>
                        <a:rPr sz="1725">
                          <a:solidFill>
                            <a:srgbClr val="173047"/>
                          </a:solidFill>
                          <a:latin typeface="Arial"/>
                          <a:ea typeface="Arial"/>
                          <a:cs typeface="Arial"/>
                        </a:rPr>
                        <a:t>T8</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4</a:t>
                      </a:r>
                    </a:p>
                  </a:txBody>
                  <a:tcPr marL="66675" marR="66675" marT="28575" marB="28575" anchor="ctr">
                    <a:solidFill>
                      <a:srgbClr val="F1F5F8"/>
                    </a:solidFill>
                  </a:tcPr>
                </a:tc>
                <a:tc>
                  <a:txBody>
                    <a:bodyPr/>
                    <a:lstStyle/>
                    <a:p>
                      <a:r>
                        <a:rPr sz="1725">
                          <a:solidFill>
                            <a:srgbClr val="173047"/>
                          </a:solidFill>
                          <a:latin typeface="Arial"/>
                          <a:ea typeface="Arial"/>
                          <a:cs typeface="Arial"/>
                        </a:rPr>
                        <a:t>3</a:t>
                      </a:r>
                    </a:p>
                  </a:txBody>
                  <a:tcPr marL="66675" marR="66675" marT="28575" marB="28575" anchor="ctr">
                    <a:solidFill>
                      <a:srgbClr val="F1F5F8"/>
                    </a:solidFill>
                  </a:tcPr>
                </a:tc>
              </a:tr>
              <a:tr h="372341">
                <a:tc>
                  <a:txBody>
                    <a:bodyPr/>
                    <a:lstStyle/>
                    <a:p>
                      <a:r>
                        <a:rPr sz="1725" b="1">
                          <a:solidFill>
                            <a:srgbClr val="B64436"/>
                          </a:solidFill>
                          <a:latin typeface="Arial"/>
                          <a:ea typeface="Arial"/>
                          <a:cs typeface="Arial"/>
                        </a:rPr>
                        <a:t>T9</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1</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1</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1</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1</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1</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2</a:t>
                      </a:r>
                    </a:p>
                  </a:txBody>
                  <a:tcPr marL="66675" marR="66675" marT="28575" marB="28575" anchor="ctr">
                    <a:solidFill>
                      <a:srgbClr val="FBECE8"/>
                    </a:solidFill>
                  </a:tcPr>
                </a:tc>
                <a:tc>
                  <a:txBody>
                    <a:bodyPr/>
                    <a:lstStyle/>
                    <a:p>
                      <a:r>
                        <a:rPr sz="1725" b="1">
                          <a:solidFill>
                            <a:srgbClr val="B64436"/>
                          </a:solidFill>
                          <a:latin typeface="Arial"/>
                          <a:ea typeface="Arial"/>
                          <a:cs typeface="Arial"/>
                        </a:rPr>
                        <a:t>5</a:t>
                      </a:r>
                    </a:p>
                  </a:txBody>
                  <a:tcPr marL="66675" marR="66675" marT="28575" marB="28575" anchor="ctr">
                    <a:solidFill>
                      <a:srgbClr val="FBECE8"/>
                    </a:solidFill>
                  </a:tcPr>
                </a:tc>
              </a:tr>
              <a:tr h="372341">
                <a:tc>
                  <a:txBody>
                    <a:bodyPr/>
                    <a:lstStyle/>
                    <a:p>
                      <a:r>
                        <a:rPr sz="1725">
                          <a:solidFill>
                            <a:srgbClr val="173047"/>
                          </a:solidFill>
                          <a:latin typeface="Arial"/>
                          <a:ea typeface="Arial"/>
                          <a:cs typeface="Arial"/>
                        </a:rPr>
                        <a:t>T10</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1</a:t>
                      </a:r>
                    </a:p>
                  </a:txBody>
                  <a:tcPr marL="66675" marR="66675" marT="28575" marB="28575" anchor="ctr">
                    <a:solidFill>
                      <a:srgbClr val="F1F5F8"/>
                    </a:solidFill>
                  </a:tcPr>
                </a:tc>
                <a:tc>
                  <a:txBody>
                    <a:bodyPr/>
                    <a:lstStyle/>
                    <a:p>
                      <a:r>
                        <a:rPr sz="1725">
                          <a:solidFill>
                            <a:srgbClr val="173047"/>
                          </a:solidFill>
                          <a:latin typeface="Arial"/>
                          <a:ea typeface="Arial"/>
                          <a:cs typeface="Arial"/>
                        </a:rPr>
                        <a:t>—</a:t>
                      </a:r>
                    </a:p>
                  </a:txBody>
                  <a:tcPr marL="66675" marR="66675" marT="28575" marB="28575" anchor="ctr">
                    <a:solidFill>
                      <a:srgbClr val="F1F5F8"/>
                    </a:solidFill>
                  </a:tcPr>
                </a:tc>
                <a:tc>
                  <a:txBody>
                    <a:bodyPr/>
                    <a:lstStyle/>
                    <a:p>
                      <a:r>
                        <a:rPr sz="1725">
                          <a:solidFill>
                            <a:srgbClr val="173047"/>
                          </a:solidFill>
                          <a:latin typeface="Arial"/>
                          <a:ea typeface="Arial"/>
                          <a:cs typeface="Arial"/>
                        </a:rPr>
                        <a:t>2</a:t>
                      </a:r>
                    </a:p>
                  </a:txBody>
                  <a:tcPr marL="66675" marR="66675" marT="28575" marB="28575" anchor="ctr">
                    <a:solidFill>
                      <a:srgbClr val="F1F5F8"/>
                    </a:solidFill>
                  </a:tcPr>
                </a:tc>
                <a:tc>
                  <a:txBody>
                    <a:bodyPr/>
                    <a:lstStyle/>
                    <a:p>
                      <a:r>
                        <a:rPr sz="1725">
                          <a:solidFill>
                            <a:srgbClr val="173047"/>
                          </a:solidFill>
                          <a:latin typeface="Arial"/>
                          <a:ea typeface="Arial"/>
                          <a:cs typeface="Arial"/>
                        </a:rPr>
                        <a:t>2</a:t>
                      </a:r>
                    </a:p>
                  </a:txBody>
                  <a:tcPr marL="66675" marR="66675" marT="28575" marB="28575" anchor="ctr">
                    <a:solidFill>
                      <a:srgbClr val="F1F5F8"/>
                    </a:solidFill>
                  </a:tcPr>
                </a:tc>
              </a:tr>
            </a:tbl>
          </a:graphicData>
        </a:graphic>
      </p:graphicFrame>
    </p:spTree>
    <p:extLst>
      <p:ext uri="{BB962C8B-B14F-4D97-AF65-F5344CB8AC3E}">
        <p14:creationId xmlns:p14="http://schemas.microsoft.com/office/powerpoint/2010/main" val="3259425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45AA86-51AE-4603-BD3A-494D0D01253A}"/>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Конкретна модель вибору тестів</a:t>
            </a:r>
          </a:p>
        </p:txBody>
      </p:sp>
      <p:sp>
        <p:nvSpPr>
          <p:cNvPr id="2" name="">
            <a:extLst xmlns:a="http://schemas.openxmlformats.org/drawingml/2006/main">
              <a:ext uri="{FF2B5EF4-FFF2-40B4-BE49-F238E27FC236}">
                <a16:creationId xmlns:a16="http://schemas.microsoft.com/office/drawing/2014/main" id="{2564C455-401D-4308-B65E-9933CDECB1A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Обираємо тести цілком. Усі перевірки обраного тесту виконуються.</a:t>
            </a:r>
          </a:p>
        </p:txBody>
      </p:sp>
      <p:sp>
        <p:nvSpPr>
          <p:cNvPr id="3" name="">
            <a:extLst xmlns:a="http://schemas.openxmlformats.org/drawingml/2006/main">
              <a:ext uri="{FF2B5EF4-FFF2-40B4-BE49-F238E27FC236}">
                <a16:creationId xmlns:a16="http://schemas.microsoft.com/office/drawing/2014/main" id="{88DA63E4-7B5C-4671-BF40-534A8D5E83E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9</a:t>
            </a:r>
          </a:p>
        </p:txBody>
      </p:sp>
      <p:graphicFrame>
        <p:nvGraphicFramePr>
          <p:cNvPr id="4" name="">
            <a:extLst xmlns:a="http://schemas.openxmlformats.org/drawingml/2006/main">
              <a:ext uri="{FF2B5EF4-FFF2-40B4-BE49-F238E27FC236}">
                <a16:creationId xmlns:a16="http://schemas.microsoft.com/office/drawing/2014/main" id="{0C7E1860-1A92-4D1A-80D4-AD12F869E166}"/>
              </a:ext>
            </a:extLst>
          </p:cNvPr>
          <p:cNvGraphicFramePr/>
          <p:nvPr/>
        </p:nvGraphicFramePr>
        <p:xfrm>
          <a:off xmlns:a="http://schemas.openxmlformats.org/drawingml/2006/main" x="762000" y="1552575"/>
          <a:ext xmlns:a="http://schemas.openxmlformats.org/drawingml/2006/main" cx="10668000" cy="4000500"/>
        </p:xfrm>
        <a:graphic xmlns:a="http://schemas.openxmlformats.org/drawingml/2006/main">
          <a:graphicData uri="http://schemas.openxmlformats.org/drawingml/2006/table">
            <a:tbl>
              <a:tblPr/>
              <a:tblGrid>
                <a:gridCol w="5334000"/>
                <a:gridCol w="5334000"/>
              </a:tblGrid>
              <a:tr h="571500">
                <a:tc>
                  <a:txBody>
                    <a:bodyPr/>
                    <a:lstStyle/>
                    <a:p>
                      <a:r>
                        <a:rPr sz="2175" b="1">
                          <a:solidFill>
                            <a:srgbClr val="FFFFFF"/>
                          </a:solidFill>
                          <a:latin typeface="Arial"/>
                          <a:ea typeface="Arial"/>
                          <a:cs typeface="Arial"/>
                        </a:rPr>
                        <a:t>Частина</a:t>
                      </a:r>
                    </a:p>
                  </a:txBody>
                  <a:tcPr marL="66675" marR="66675" marT="38100" marB="38100" anchor="ctr">
                    <a:solidFill>
                      <a:srgbClr val="173047"/>
                    </a:solidFill>
                  </a:tcPr>
                </a:tc>
                <a:tc>
                  <a:txBody>
                    <a:bodyPr/>
                    <a:lstStyle/>
                    <a:p>
                      <a:r>
                        <a:rPr sz="2175" b="1">
                          <a:solidFill>
                            <a:srgbClr val="FFFFFF"/>
                          </a:solidFill>
                          <a:latin typeface="Arial"/>
                          <a:ea typeface="Arial"/>
                          <a:cs typeface="Arial"/>
                        </a:rPr>
                        <a:t>Приклад умови</a:t>
                      </a:r>
                    </a:p>
                  </a:txBody>
                  <a:tcPr marL="66675" marR="66675" marT="38100" marB="38100" anchor="ctr">
                    <a:solidFill>
                      <a:srgbClr val="173047"/>
                    </a:solidFill>
                  </a:tcPr>
                </a:tc>
              </a:tr>
              <a:tr h="571500">
                <a:tc>
                  <a:txBody>
                    <a:bodyPr/>
                    <a:lstStyle/>
                    <a:p>
                      <a:r>
                        <a:rPr sz="2175">
                          <a:solidFill>
                            <a:srgbClr val="173047"/>
                          </a:solidFill>
                          <a:latin typeface="Arial"/>
                          <a:ea typeface="Arial"/>
                          <a:cs typeface="Arial"/>
                        </a:rPr>
                        <a:t>Рішення</a:t>
                      </a:r>
                    </a:p>
                  </a:txBody>
                  <a:tcPr marL="66675" marR="66675" marT="38100" marB="38100" anchor="ctr">
                    <a:solidFill>
                      <a:srgbClr val="FFFFFF"/>
                    </a:solidFill>
                  </a:tcPr>
                </a:tc>
                <a:tc>
                  <a:txBody>
                    <a:bodyPr/>
                    <a:lstStyle/>
                    <a:p>
                      <a:r>
                        <a:rPr sz="2175">
                          <a:solidFill>
                            <a:srgbClr val="173047"/>
                          </a:solidFill>
                          <a:latin typeface="Arial"/>
                          <a:ea typeface="Arial"/>
                          <a:cs typeface="Arial"/>
                        </a:rPr>
                        <a:t>x1,…,x10 ∈ {0,1}</a:t>
                      </a:r>
                    </a:p>
                  </a:txBody>
                  <a:tcPr marL="66675" marR="66675" marT="38100" marB="38100" anchor="ctr">
                    <a:solidFill>
                      <a:srgbClr val="FFFFFF"/>
                    </a:solidFill>
                  </a:tcPr>
                </a:tc>
              </a:tr>
              <a:tr h="571500">
                <a:tc>
                  <a:txBody>
                    <a:bodyPr/>
                    <a:lstStyle/>
                    <a:p>
                      <a:r>
                        <a:rPr sz="2175">
                          <a:solidFill>
                            <a:srgbClr val="173047"/>
                          </a:solidFill>
                          <a:latin typeface="Arial"/>
                          <a:ea typeface="Arial"/>
                          <a:cs typeface="Arial"/>
                        </a:rPr>
                        <a:t>Вхід F1</a:t>
                      </a:r>
                    </a:p>
                  </a:txBody>
                  <a:tcPr marL="66675" marR="66675" marT="38100" marB="38100" anchor="ctr">
                    <a:solidFill>
                      <a:srgbClr val="F1F5F8"/>
                    </a:solidFill>
                  </a:tcPr>
                </a:tc>
                <a:tc>
                  <a:txBody>
                    <a:bodyPr/>
                    <a:lstStyle/>
                    <a:p>
                      <a:r>
                        <a:rPr sz="2175">
                          <a:solidFill>
                            <a:srgbClr val="173047"/>
                          </a:solidFill>
                          <a:latin typeface="Arial"/>
                          <a:ea typeface="Arial"/>
                          <a:cs typeface="Arial"/>
                        </a:rPr>
                        <a:t>x1 + x2 + x7 + x9 ≥ 1</a:t>
                      </a:r>
                    </a:p>
                  </a:txBody>
                  <a:tcPr marL="66675" marR="66675" marT="38100" marB="38100" anchor="ctr">
                    <a:solidFill>
                      <a:srgbClr val="F1F5F8"/>
                    </a:solidFill>
                  </a:tcPr>
                </a:tc>
              </a:tr>
              <a:tr h="571500">
                <a:tc>
                  <a:txBody>
                    <a:bodyPr/>
                    <a:lstStyle/>
                    <a:p>
                      <a:r>
                        <a:rPr sz="2175">
                          <a:solidFill>
                            <a:srgbClr val="173047"/>
                          </a:solidFill>
                          <a:latin typeface="Arial"/>
                          <a:ea typeface="Arial"/>
                          <a:cs typeface="Arial"/>
                        </a:rPr>
                        <a:t>Доступ F2</a:t>
                      </a:r>
                    </a:p>
                  </a:txBody>
                  <a:tcPr marL="66675" marR="66675" marT="38100" marB="38100" anchor="ctr">
                    <a:solidFill>
                      <a:srgbClr val="FFFFFF"/>
                    </a:solidFill>
                  </a:tcPr>
                </a:tc>
                <a:tc>
                  <a:txBody>
                    <a:bodyPr/>
                    <a:lstStyle/>
                    <a:p>
                      <a:r>
                        <a:rPr sz="2175">
                          <a:solidFill>
                            <a:srgbClr val="173047"/>
                          </a:solidFill>
                          <a:latin typeface="Arial"/>
                          <a:ea typeface="Arial"/>
                          <a:cs typeface="Arial"/>
                        </a:rPr>
                        <a:t>x1 + x3 + x8 + x9 ≥ 2</a:t>
                      </a:r>
                    </a:p>
                  </a:txBody>
                  <a:tcPr marL="66675" marR="66675" marT="38100" marB="38100" anchor="ctr">
                    <a:solidFill>
                      <a:srgbClr val="FFFFFF"/>
                    </a:solidFill>
                  </a:tcPr>
                </a:tc>
              </a:tr>
              <a:tr h="571500">
                <a:tc>
                  <a:txBody>
                    <a:bodyPr/>
                    <a:lstStyle/>
                    <a:p>
                      <a:r>
                        <a:rPr sz="2175">
                          <a:solidFill>
                            <a:srgbClr val="173047"/>
                          </a:solidFill>
                          <a:latin typeface="Arial"/>
                          <a:ea typeface="Arial"/>
                          <a:cs typeface="Arial"/>
                        </a:rPr>
                        <a:t>Відновлення F7</a:t>
                      </a:r>
                    </a:p>
                  </a:txBody>
                  <a:tcPr marL="66675" marR="66675" marT="38100" marB="38100" anchor="ctr">
                    <a:solidFill>
                      <a:srgbClr val="F1F5F8"/>
                    </a:solidFill>
                  </a:tcPr>
                </a:tc>
                <a:tc>
                  <a:txBody>
                    <a:bodyPr/>
                    <a:lstStyle/>
                    <a:p>
                      <a:r>
                        <a:rPr sz="2175">
                          <a:solidFill>
                            <a:srgbClr val="173047"/>
                          </a:solidFill>
                          <a:latin typeface="Arial"/>
                          <a:ea typeface="Arial"/>
                          <a:cs typeface="Arial"/>
                        </a:rPr>
                        <a:t>x6 + x7 + x8 + x10 ≥ 2</a:t>
                      </a:r>
                    </a:p>
                  </a:txBody>
                  <a:tcPr marL="66675" marR="66675" marT="38100" marB="38100" anchor="ctr">
                    <a:solidFill>
                      <a:srgbClr val="F1F5F8"/>
                    </a:solidFill>
                  </a:tcPr>
                </a:tc>
              </a:tr>
              <a:tr h="571500">
                <a:tc>
                  <a:txBody>
                    <a:bodyPr/>
                    <a:lstStyle/>
                    <a:p>
                      <a:r>
                        <a:rPr sz="2175">
                          <a:solidFill>
                            <a:srgbClr val="173047"/>
                          </a:solidFill>
                          <a:latin typeface="Arial"/>
                          <a:ea typeface="Arial"/>
                          <a:cs typeface="Arial"/>
                        </a:rPr>
                        <a:t>Кількість</a:t>
                      </a:r>
                    </a:p>
                  </a:txBody>
                  <a:tcPr marL="66675" marR="66675" marT="38100" marB="38100" anchor="ctr">
                    <a:solidFill>
                      <a:srgbClr val="FFFFFF"/>
                    </a:solidFill>
                  </a:tcPr>
                </a:tc>
                <a:tc>
                  <a:txBody>
                    <a:bodyPr/>
                    <a:lstStyle/>
                    <a:p>
                      <a:r>
                        <a:rPr sz="2175">
                          <a:solidFill>
                            <a:srgbClr val="173047"/>
                          </a:solidFill>
                          <a:latin typeface="Arial"/>
                          <a:ea typeface="Arial"/>
                          <a:cs typeface="Arial"/>
                        </a:rPr>
                        <a:t>x1 + … + x10 ≤ 5</a:t>
                      </a:r>
                    </a:p>
                  </a:txBody>
                  <a:tcPr marL="66675" marR="66675" marT="38100" marB="38100" anchor="ctr">
                    <a:solidFill>
                      <a:srgbClr val="FFFFFF"/>
                    </a:solidFill>
                  </a:tcPr>
                </a:tc>
              </a:tr>
              <a:tr h="571500">
                <a:tc>
                  <a:txBody>
                    <a:bodyPr/>
                    <a:lstStyle/>
                    <a:p>
                      <a:r>
                        <a:rPr sz="2175">
                          <a:solidFill>
                            <a:srgbClr val="173047"/>
                          </a:solidFill>
                          <a:latin typeface="Arial"/>
                          <a:ea typeface="Arial"/>
                          <a:cs typeface="Arial"/>
                        </a:rPr>
                        <a:t>Час і мета</a:t>
                      </a:r>
                    </a:p>
                  </a:txBody>
                  <a:tcPr marL="66675" marR="66675" marT="38100" marB="38100" anchor="ctr">
                    <a:solidFill>
                      <a:srgbClr val="F1F5F8"/>
                    </a:solidFill>
                  </a:tcPr>
                </a:tc>
                <a:tc>
                  <a:txBody>
                    <a:bodyPr/>
                    <a:lstStyle/>
                    <a:p>
                      <a:r>
                        <a:rPr sz="2175">
                          <a:solidFill>
                            <a:srgbClr val="173047"/>
                          </a:solidFill>
                          <a:latin typeface="Arial"/>
                          <a:ea typeface="Arial"/>
                          <a:cs typeface="Arial"/>
                        </a:rPr>
                        <a:t>Сума часу ≤ 16 хв; мінімізувати цю суму</a:t>
                      </a:r>
                    </a:p>
                  </a:txBody>
                  <a:tcPr marL="66675" marR="66675" marT="38100" marB="38100" anchor="ctr">
                    <a:solidFill>
                      <a:srgbClr val="F1F5F8"/>
                    </a:solidFill>
                  </a:tcPr>
                </a:tc>
              </a:tr>
            </a:tbl>
          </a:graphicData>
        </a:graphic>
      </p:graphicFrame>
    </p:spTree>
    <p:extLst>
      <p:ext uri="{BB962C8B-B14F-4D97-AF65-F5344CB8AC3E}">
        <p14:creationId xmlns:p14="http://schemas.microsoft.com/office/powerpoint/2010/main" val="13083735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94B131-C641-41E3-BAE3-CF3D288C7D6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Ліміт властивостей в одному тесті</a:t>
            </a:r>
          </a:p>
        </p:txBody>
      </p:sp>
      <p:sp>
        <p:nvSpPr>
          <p:cNvPr id="2" name="">
            <a:extLst xmlns:a="http://schemas.openxmlformats.org/drawingml/2006/main">
              <a:ext uri="{FF2B5EF4-FFF2-40B4-BE49-F238E27FC236}">
                <a16:creationId xmlns:a16="http://schemas.microsoft.com/office/drawing/2014/main" id="{37718DBB-18CD-4E74-BDCF-4B3D414E2C0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qj · xj ≤ K. Для T9: 5x9 ≤ 3, отже x9 = 0.</a:t>
            </a:r>
          </a:p>
        </p:txBody>
      </p:sp>
      <p:sp>
        <p:nvSpPr>
          <p:cNvPr id="3" name="">
            <a:extLst xmlns:a="http://schemas.openxmlformats.org/drawingml/2006/main">
              <a:ext uri="{FF2B5EF4-FFF2-40B4-BE49-F238E27FC236}">
                <a16:creationId xmlns:a16="http://schemas.microsoft.com/office/drawing/2014/main" id="{6419FE24-16BD-4C3A-A2A5-F6769757CF83}"/>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10</a:t>
            </a:r>
          </a:p>
        </p:txBody>
      </p:sp>
      <p:graphicFrame>
        <p:nvGraphicFramePr>
          <p:cNvPr id="4" name="">
            <a:extLst xmlns:a="http://schemas.openxmlformats.org/drawingml/2006/main">
              <a:ext uri="{FF2B5EF4-FFF2-40B4-BE49-F238E27FC236}">
                <a16:creationId xmlns:a16="http://schemas.microsoft.com/office/drawing/2014/main" id="{33D0C76B-E6DC-4CA6-87DA-5F75AAA616DB}"/>
              </a:ext>
            </a:extLst>
          </p:cNvPr>
          <p:cNvGraphicFramePr/>
          <p:nvPr/>
        </p:nvGraphicFramePr>
        <p:xfrm>
          <a:off xmlns:a="http://schemas.openxmlformats.org/drawingml/2006/main" x="762000" y="1619250"/>
          <a:ext xmlns:a="http://schemas.openxmlformats.org/drawingml/2006/main" cx="10668000" cy="3048000"/>
        </p:xfrm>
        <a:graphic xmlns:a="http://schemas.openxmlformats.org/drawingml/2006/main">
          <a:graphicData uri="http://schemas.openxmlformats.org/drawingml/2006/table">
            <a:tbl>
              <a:tblPr/>
              <a:tblGrid>
                <a:gridCol w="2667000"/>
                <a:gridCol w="2667000"/>
                <a:gridCol w="2667000"/>
                <a:gridCol w="2667000"/>
              </a:tblGrid>
              <a:tr h="609600">
                <a:tc>
                  <a:txBody>
                    <a:bodyPr/>
                    <a:lstStyle/>
                    <a:p>
                      <a:r>
                        <a:rPr sz="2400" b="1">
                          <a:solidFill>
                            <a:srgbClr val="FFFFFF"/>
                          </a:solidFill>
                          <a:latin typeface="Arial"/>
                          <a:ea typeface="Arial"/>
                          <a:cs typeface="Arial"/>
                        </a:rPr>
                        <a:t>Тест</a:t>
                      </a:r>
                    </a:p>
                  </a:txBody>
                  <a:tcPr marL="66675" marR="66675" marT="38100" marB="38100" anchor="ctr">
                    <a:solidFill>
                      <a:srgbClr val="173047"/>
                    </a:solidFill>
                  </a:tcPr>
                </a:tc>
                <a:tc>
                  <a:txBody>
                    <a:bodyPr/>
                    <a:lstStyle/>
                    <a:p>
                      <a:r>
                        <a:rPr sz="2400" b="1">
                          <a:solidFill>
                            <a:srgbClr val="FFFFFF"/>
                          </a:solidFill>
                          <a:latin typeface="Arial"/>
                          <a:ea typeface="Arial"/>
                          <a:cs typeface="Arial"/>
                        </a:rPr>
                        <a:t>q</a:t>
                      </a:r>
                    </a:p>
                  </a:txBody>
                  <a:tcPr marL="66675" marR="66675" marT="38100" marB="38100" anchor="ctr">
                    <a:solidFill>
                      <a:srgbClr val="173047"/>
                    </a:solidFill>
                  </a:tcPr>
                </a:tc>
                <a:tc>
                  <a:txBody>
                    <a:bodyPr/>
                    <a:lstStyle/>
                    <a:p>
                      <a:r>
                        <a:rPr sz="2400" b="1">
                          <a:solidFill>
                            <a:srgbClr val="FFFFFF"/>
                          </a:solidFill>
                          <a:latin typeface="Arial"/>
                          <a:ea typeface="Arial"/>
                          <a:cs typeface="Arial"/>
                        </a:rPr>
                        <a:t>K</a:t>
                      </a:r>
                    </a:p>
                  </a:txBody>
                  <a:tcPr marL="66675" marR="66675" marT="38100" marB="38100" anchor="ctr">
                    <a:solidFill>
                      <a:srgbClr val="173047"/>
                    </a:solidFill>
                  </a:tcPr>
                </a:tc>
                <a:tc>
                  <a:txBody>
                    <a:bodyPr/>
                    <a:lstStyle/>
                    <a:p>
                      <a:r>
                        <a:rPr sz="2400" b="1">
                          <a:solidFill>
                            <a:srgbClr val="FFFFFF"/>
                          </a:solidFill>
                          <a:latin typeface="Arial"/>
                          <a:ea typeface="Arial"/>
                          <a:cs typeface="Arial"/>
                        </a:rPr>
                        <a:t>Дозволено?</a:t>
                      </a:r>
                    </a:p>
                  </a:txBody>
                  <a:tcPr marL="66675" marR="66675" marT="38100" marB="38100" anchor="ctr">
                    <a:solidFill>
                      <a:srgbClr val="173047"/>
                    </a:solidFill>
                  </a:tcPr>
                </a:tc>
              </a:tr>
              <a:tr h="609600">
                <a:tc>
                  <a:txBody>
                    <a:bodyPr/>
                    <a:lstStyle/>
                    <a:p>
                      <a:r>
                        <a:rPr sz="2400">
                          <a:solidFill>
                            <a:srgbClr val="173047"/>
                          </a:solidFill>
                          <a:latin typeface="Arial"/>
                          <a:ea typeface="Arial"/>
                          <a:cs typeface="Arial"/>
                        </a:rPr>
                        <a:t>T3</a:t>
                      </a:r>
                    </a:p>
                  </a:txBody>
                  <a:tcPr marL="66675" marR="66675" marT="38100" marB="38100" anchor="ctr">
                    <a:solidFill>
                      <a:srgbClr val="FFFFFF"/>
                    </a:solidFill>
                  </a:tcPr>
                </a:tc>
                <a:tc>
                  <a:txBody>
                    <a:bodyPr/>
                    <a:lstStyle/>
                    <a:p>
                      <a:r>
                        <a:rPr sz="2400">
                          <a:solidFill>
                            <a:srgbClr val="173047"/>
                          </a:solidFill>
                          <a:latin typeface="Arial"/>
                          <a:ea typeface="Arial"/>
                          <a:cs typeface="Arial"/>
                        </a:rPr>
                        <a:t>3</a:t>
                      </a:r>
                    </a:p>
                  </a:txBody>
                  <a:tcPr marL="66675" marR="66675" marT="38100" marB="38100" anchor="ctr">
                    <a:solidFill>
                      <a:srgbClr val="FFFFFF"/>
                    </a:solidFill>
                  </a:tcPr>
                </a:tc>
                <a:tc>
                  <a:txBody>
                    <a:bodyPr/>
                    <a:lstStyle/>
                    <a:p>
                      <a:r>
                        <a:rPr sz="2400">
                          <a:solidFill>
                            <a:srgbClr val="173047"/>
                          </a:solidFill>
                          <a:latin typeface="Arial"/>
                          <a:ea typeface="Arial"/>
                          <a:cs typeface="Arial"/>
                        </a:rPr>
                        <a:t>3</a:t>
                      </a:r>
                    </a:p>
                  </a:txBody>
                  <a:tcPr marL="66675" marR="66675" marT="38100" marB="38100" anchor="ctr">
                    <a:solidFill>
                      <a:srgbClr val="FFFFFF"/>
                    </a:solidFill>
                  </a:tcPr>
                </a:tc>
                <a:tc>
                  <a:txBody>
                    <a:bodyPr/>
                    <a:lstStyle/>
                    <a:p>
                      <a:r>
                        <a:rPr sz="2400">
                          <a:solidFill>
                            <a:srgbClr val="173047"/>
                          </a:solidFill>
                          <a:latin typeface="Arial"/>
                          <a:ea typeface="Arial"/>
                          <a:cs typeface="Arial"/>
                        </a:rPr>
                        <a:t>Так</a:t>
                      </a:r>
                    </a:p>
                  </a:txBody>
                  <a:tcPr marL="66675" marR="66675" marT="38100" marB="38100" anchor="ctr">
                    <a:solidFill>
                      <a:srgbClr val="FFFFFF"/>
                    </a:solidFill>
                  </a:tcPr>
                </a:tc>
              </a:tr>
              <a:tr h="609600">
                <a:tc>
                  <a:txBody>
                    <a:bodyPr/>
                    <a:lstStyle/>
                    <a:p>
                      <a:r>
                        <a:rPr sz="2400">
                          <a:solidFill>
                            <a:srgbClr val="173047"/>
                          </a:solidFill>
                          <a:latin typeface="Arial"/>
                          <a:ea typeface="Arial"/>
                          <a:cs typeface="Arial"/>
                        </a:rPr>
                        <a:t>T7</a:t>
                      </a:r>
                    </a:p>
                  </a:txBody>
                  <a:tcPr marL="66675" marR="66675" marT="38100" marB="38100" anchor="ctr">
                    <a:solidFill>
                      <a:srgbClr val="F1F5F8"/>
                    </a:solidFill>
                  </a:tcPr>
                </a:tc>
                <a:tc>
                  <a:txBody>
                    <a:bodyPr/>
                    <a:lstStyle/>
                    <a:p>
                      <a:r>
                        <a:rPr sz="2400">
                          <a:solidFill>
                            <a:srgbClr val="173047"/>
                          </a:solidFill>
                          <a:latin typeface="Arial"/>
                          <a:ea typeface="Arial"/>
                          <a:cs typeface="Arial"/>
                        </a:rPr>
                        <a:t>3</a:t>
                      </a:r>
                    </a:p>
                  </a:txBody>
                  <a:tcPr marL="66675" marR="66675" marT="38100" marB="38100" anchor="ctr">
                    <a:solidFill>
                      <a:srgbClr val="F1F5F8"/>
                    </a:solidFill>
                  </a:tcPr>
                </a:tc>
                <a:tc>
                  <a:txBody>
                    <a:bodyPr/>
                    <a:lstStyle/>
                    <a:p>
                      <a:r>
                        <a:rPr sz="2400">
                          <a:solidFill>
                            <a:srgbClr val="173047"/>
                          </a:solidFill>
                          <a:latin typeface="Arial"/>
                          <a:ea typeface="Arial"/>
                          <a:cs typeface="Arial"/>
                        </a:rPr>
                        <a:t>3</a:t>
                      </a:r>
                    </a:p>
                  </a:txBody>
                  <a:tcPr marL="66675" marR="66675" marT="38100" marB="38100" anchor="ctr">
                    <a:solidFill>
                      <a:srgbClr val="F1F5F8"/>
                    </a:solidFill>
                  </a:tcPr>
                </a:tc>
                <a:tc>
                  <a:txBody>
                    <a:bodyPr/>
                    <a:lstStyle/>
                    <a:p>
                      <a:r>
                        <a:rPr sz="2400">
                          <a:solidFill>
                            <a:srgbClr val="173047"/>
                          </a:solidFill>
                          <a:latin typeface="Arial"/>
                          <a:ea typeface="Arial"/>
                          <a:cs typeface="Arial"/>
                        </a:rPr>
                        <a:t>Так</a:t>
                      </a:r>
                    </a:p>
                  </a:txBody>
                  <a:tcPr marL="66675" marR="66675" marT="38100" marB="38100" anchor="ctr">
                    <a:solidFill>
                      <a:srgbClr val="F1F5F8"/>
                    </a:solidFill>
                  </a:tcPr>
                </a:tc>
              </a:tr>
              <a:tr h="609600">
                <a:tc>
                  <a:txBody>
                    <a:bodyPr/>
                    <a:lstStyle/>
                    <a:p>
                      <a:r>
                        <a:rPr sz="2400">
                          <a:solidFill>
                            <a:srgbClr val="173047"/>
                          </a:solidFill>
                          <a:latin typeface="Arial"/>
                          <a:ea typeface="Arial"/>
                          <a:cs typeface="Arial"/>
                        </a:rPr>
                        <a:t>T10</a:t>
                      </a:r>
                    </a:p>
                  </a:txBody>
                  <a:tcPr marL="66675" marR="66675" marT="38100" marB="38100" anchor="ctr">
                    <a:solidFill>
                      <a:srgbClr val="FFFFFF"/>
                    </a:solidFill>
                  </a:tcPr>
                </a:tc>
                <a:tc>
                  <a:txBody>
                    <a:bodyPr/>
                    <a:lstStyle/>
                    <a:p>
                      <a:r>
                        <a:rPr sz="2400">
                          <a:solidFill>
                            <a:srgbClr val="173047"/>
                          </a:solidFill>
                          <a:latin typeface="Arial"/>
                          <a:ea typeface="Arial"/>
                          <a:cs typeface="Arial"/>
                        </a:rPr>
                        <a:t>2</a:t>
                      </a:r>
                    </a:p>
                  </a:txBody>
                  <a:tcPr marL="66675" marR="66675" marT="38100" marB="38100" anchor="ctr">
                    <a:solidFill>
                      <a:srgbClr val="FFFFFF"/>
                    </a:solidFill>
                  </a:tcPr>
                </a:tc>
                <a:tc>
                  <a:txBody>
                    <a:bodyPr/>
                    <a:lstStyle/>
                    <a:p>
                      <a:r>
                        <a:rPr sz="2400">
                          <a:solidFill>
                            <a:srgbClr val="173047"/>
                          </a:solidFill>
                          <a:latin typeface="Arial"/>
                          <a:ea typeface="Arial"/>
                          <a:cs typeface="Arial"/>
                        </a:rPr>
                        <a:t>3</a:t>
                      </a:r>
                    </a:p>
                  </a:txBody>
                  <a:tcPr marL="66675" marR="66675" marT="38100" marB="38100" anchor="ctr">
                    <a:solidFill>
                      <a:srgbClr val="FFFFFF"/>
                    </a:solidFill>
                  </a:tcPr>
                </a:tc>
                <a:tc>
                  <a:txBody>
                    <a:bodyPr/>
                    <a:lstStyle/>
                    <a:p>
                      <a:r>
                        <a:rPr sz="2400">
                          <a:solidFill>
                            <a:srgbClr val="173047"/>
                          </a:solidFill>
                          <a:latin typeface="Arial"/>
                          <a:ea typeface="Arial"/>
                          <a:cs typeface="Arial"/>
                        </a:rPr>
                        <a:t>Так</a:t>
                      </a:r>
                    </a:p>
                  </a:txBody>
                  <a:tcPr marL="66675" marR="66675" marT="38100" marB="38100" anchor="ctr">
                    <a:solidFill>
                      <a:srgbClr val="FFFFFF"/>
                    </a:solidFill>
                  </a:tcPr>
                </a:tc>
              </a:tr>
              <a:tr h="609600">
                <a:tc>
                  <a:txBody>
                    <a:bodyPr/>
                    <a:lstStyle/>
                    <a:p>
                      <a:r>
                        <a:rPr sz="2400">
                          <a:solidFill>
                            <a:srgbClr val="173047"/>
                          </a:solidFill>
                          <a:latin typeface="Arial"/>
                          <a:ea typeface="Arial"/>
                          <a:cs typeface="Arial"/>
                        </a:rPr>
                        <a:t>T9</a:t>
                      </a:r>
                    </a:p>
                  </a:txBody>
                  <a:tcPr marL="66675" marR="66675" marT="38100" marB="38100" anchor="ctr">
                    <a:solidFill>
                      <a:srgbClr val="F1F5F8"/>
                    </a:solidFill>
                  </a:tcPr>
                </a:tc>
                <a:tc>
                  <a:txBody>
                    <a:bodyPr/>
                    <a:lstStyle/>
                    <a:p>
                      <a:r>
                        <a:rPr sz="2400">
                          <a:solidFill>
                            <a:srgbClr val="173047"/>
                          </a:solidFill>
                          <a:latin typeface="Arial"/>
                          <a:ea typeface="Arial"/>
                          <a:cs typeface="Arial"/>
                        </a:rPr>
                        <a:t>5</a:t>
                      </a:r>
                    </a:p>
                  </a:txBody>
                  <a:tcPr marL="66675" marR="66675" marT="38100" marB="38100" anchor="ctr">
                    <a:solidFill>
                      <a:srgbClr val="F1F5F8"/>
                    </a:solidFill>
                  </a:tcPr>
                </a:tc>
                <a:tc>
                  <a:txBody>
                    <a:bodyPr/>
                    <a:lstStyle/>
                    <a:p>
                      <a:r>
                        <a:rPr sz="2400">
                          <a:solidFill>
                            <a:srgbClr val="173047"/>
                          </a:solidFill>
                          <a:latin typeface="Arial"/>
                          <a:ea typeface="Arial"/>
                          <a:cs typeface="Arial"/>
                        </a:rPr>
                        <a:t>3</a:t>
                      </a:r>
                    </a:p>
                  </a:txBody>
                  <a:tcPr marL="66675" marR="66675" marT="38100" marB="38100" anchor="ctr">
                    <a:solidFill>
                      <a:srgbClr val="F1F5F8"/>
                    </a:solidFill>
                  </a:tcPr>
                </a:tc>
                <a:tc>
                  <a:txBody>
                    <a:bodyPr/>
                    <a:lstStyle/>
                    <a:p>
                      <a:r>
                        <a:rPr sz="2400">
                          <a:solidFill>
                            <a:srgbClr val="173047"/>
                          </a:solidFill>
                          <a:latin typeface="Arial"/>
                          <a:ea typeface="Arial"/>
                          <a:cs typeface="Arial"/>
                        </a:rPr>
                        <a:t>Ні: x9=0</a:t>
                      </a:r>
                    </a:p>
                  </a:txBody>
                  <a:tcPr marL="66675" marR="66675" marT="38100" marB="38100"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6FA04FD2-ED66-478B-8662-52176E5D8F28}"/>
              </a:ext>
            </a:extLst>
          </p:cNvPr>
          <p:cNvSpPr>
            <a:spLocks xmlns:a="http://schemas.openxmlformats.org/drawingml/2006/main" noGrp="1"/>
          </p:cNvSpPr>
          <p:nvPr/>
        </p:nvSpPr>
        <p:spPr>
          <a:xfrm xmlns:a="http://schemas.openxmlformats.org/drawingml/2006/main">
            <a:off x="762000" y="49530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625" b="1">
                <a:solidFill>
                  <a:srgbClr val="B64436"/>
                </a:solidFill>
                <a:latin typeface="Arial"/>
                <a:ea typeface="Arial"/>
                <a:cs typeface="Arial"/>
              </a:defRPr>
            </a:defPPr>
          </a:lstStyle>
          <a:p xmlns:a="http://schemas.openxmlformats.org/drawingml/2006/main">
            <a:pPr>
              <a:defRPr sz="2625" b="1">
                <a:solidFill>
                  <a:srgbClr val="B64436"/>
                </a:solidFill>
                <a:latin typeface="Arial"/>
                <a:ea typeface="Arial"/>
                <a:cs typeface="Arial"/>
              </a:defRPr>
            </a:pPr>
            <a:r>
              <a:rPr sz="2625" b="1">
                <a:solidFill>
                  <a:srgbClr val="B64436"/>
                </a:solidFill>
                <a:latin typeface="Arial"/>
                <a:ea typeface="Arial"/>
                <a:cs typeface="Arial"/>
              </a:rPr>
              <a:t>Ліміт 3 на один тест ≠ ліміт 3 на весь набір</a:t>
            </a:r>
          </a:p>
        </p:txBody>
      </p:sp>
    </p:spTree>
    <p:extLst>
      <p:ext uri="{BB962C8B-B14F-4D97-AF65-F5344CB8AC3E}">
        <p14:creationId xmlns:p14="http://schemas.microsoft.com/office/powerpoint/2010/main" val="3804599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AAA657-D7E4-4A1C-987C-5A9709DFD47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Загальна модель покриття тестами</a:t>
            </a:r>
          </a:p>
        </p:txBody>
      </p:sp>
      <p:sp>
        <p:nvSpPr>
          <p:cNvPr id="2" name="">
            <a:extLst xmlns:a="http://schemas.openxmlformats.org/drawingml/2006/main">
              <a:ext uri="{FF2B5EF4-FFF2-40B4-BE49-F238E27FC236}">
                <a16:creationId xmlns:a16="http://schemas.microsoft.com/office/drawing/2014/main" id="{4F0B96B0-89FA-4143-9F5A-1E563469FB8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Параметри: aij, tj, di, K, N і B. Рішення: бінарні xj.</a:t>
            </a:r>
          </a:p>
        </p:txBody>
      </p:sp>
      <p:sp>
        <p:nvSpPr>
          <p:cNvPr id="3" name="">
            <a:extLst xmlns:a="http://schemas.openxmlformats.org/drawingml/2006/main">
              <a:ext uri="{FF2B5EF4-FFF2-40B4-BE49-F238E27FC236}">
                <a16:creationId xmlns:a16="http://schemas.microsoft.com/office/drawing/2014/main" id="{DB10C6B5-2B70-424E-96AA-468F970757E4}"/>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11</a:t>
            </a:r>
          </a:p>
        </p:txBody>
      </p:sp>
      <p:graphicFrame>
        <p:nvGraphicFramePr>
          <p:cNvPr id="4" name="">
            <a:extLst xmlns:a="http://schemas.openxmlformats.org/drawingml/2006/main">
              <a:ext uri="{FF2B5EF4-FFF2-40B4-BE49-F238E27FC236}">
                <a16:creationId xmlns:a16="http://schemas.microsoft.com/office/drawing/2014/main" id="{35FB7BBA-A175-4C0D-9A1A-CDF4777F914F}"/>
              </a:ext>
            </a:extLst>
          </p:cNvPr>
          <p:cNvGraphicFramePr/>
          <p:nvPr/>
        </p:nvGraphicFramePr>
        <p:xfrm>
          <a:off xmlns:a="http://schemas.openxmlformats.org/drawingml/2006/main" x="762000" y="1552575"/>
          <a:ext xmlns:a="http://schemas.openxmlformats.org/drawingml/2006/main" cx="10668000" cy="4000500"/>
        </p:xfrm>
        <a:graphic xmlns:a="http://schemas.openxmlformats.org/drawingml/2006/main">
          <a:graphicData uri="http://schemas.openxmlformats.org/drawingml/2006/table">
            <a:tbl>
              <a:tblPr/>
              <a:tblGrid>
                <a:gridCol w="5334000"/>
                <a:gridCol w="5334000"/>
              </a:tblGrid>
              <a:tr h="571500">
                <a:tc>
                  <a:txBody>
                    <a:bodyPr/>
                    <a:lstStyle/>
                    <a:p>
                      <a:r>
                        <a:rPr sz="2100" b="1">
                          <a:solidFill>
                            <a:srgbClr val="FFFFFF"/>
                          </a:solidFill>
                          <a:latin typeface="Arial"/>
                          <a:ea typeface="Arial"/>
                          <a:cs typeface="Arial"/>
                        </a:rPr>
                        <a:t>Умова</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Зміст</a:t>
                      </a:r>
                    </a:p>
                  </a:txBody>
                  <a:tcPr marL="66675" marR="66675" marT="38100" marB="38100" anchor="ctr">
                    <a:solidFill>
                      <a:srgbClr val="173047"/>
                    </a:solidFill>
                  </a:tcPr>
                </a:tc>
              </a:tr>
              <a:tr h="571500">
                <a:tc>
                  <a:txBody>
                    <a:bodyPr/>
                    <a:lstStyle/>
                    <a:p>
                      <a:r>
                        <a:rPr sz="2100">
                          <a:solidFill>
                            <a:srgbClr val="173047"/>
                          </a:solidFill>
                          <a:latin typeface="Arial"/>
                          <a:ea typeface="Arial"/>
                          <a:cs typeface="Arial"/>
                        </a:rPr>
                        <a:t>Мета: min сума tj·xj</a:t>
                      </a:r>
                    </a:p>
                  </a:txBody>
                  <a:tcPr marL="66675" marR="66675" marT="38100" marB="38100" anchor="ctr">
                    <a:solidFill>
                      <a:srgbClr val="FFFFFF"/>
                    </a:solidFill>
                  </a:tcPr>
                </a:tc>
                <a:tc>
                  <a:txBody>
                    <a:bodyPr/>
                    <a:lstStyle/>
                    <a:p>
                      <a:r>
                        <a:rPr sz="2100">
                          <a:solidFill>
                            <a:srgbClr val="173047"/>
                          </a:solidFill>
                          <a:latin typeface="Arial"/>
                          <a:ea typeface="Arial"/>
                          <a:cs typeface="Arial"/>
                        </a:rPr>
                        <a:t>Найменший час послідовного запуску</a:t>
                      </a:r>
                    </a:p>
                  </a:txBody>
                  <a:tcPr marL="66675" marR="66675" marT="38100" marB="38100" anchor="ctr">
                    <a:solidFill>
                      <a:srgbClr val="FFFFFF"/>
                    </a:solidFill>
                  </a:tcPr>
                </a:tc>
              </a:tr>
              <a:tr h="571500">
                <a:tc>
                  <a:txBody>
                    <a:bodyPr/>
                    <a:lstStyle/>
                    <a:p>
                      <a:r>
                        <a:rPr sz="2100">
                          <a:solidFill>
                            <a:srgbClr val="173047"/>
                          </a:solidFill>
                          <a:latin typeface="Arial"/>
                          <a:ea typeface="Arial"/>
                          <a:cs typeface="Arial"/>
                        </a:rPr>
                        <a:t>Для кожного i: сума aij·xj ≥ di</a:t>
                      </a:r>
                    </a:p>
                  </a:txBody>
                  <a:tcPr marL="66675" marR="66675" marT="38100" marB="38100" anchor="ctr">
                    <a:solidFill>
                      <a:srgbClr val="F1F5F8"/>
                    </a:solidFill>
                  </a:tcPr>
                </a:tc>
                <a:tc>
                  <a:txBody>
                    <a:bodyPr/>
                    <a:lstStyle/>
                    <a:p>
                      <a:r>
                        <a:rPr sz="2100">
                          <a:solidFill>
                            <a:srgbClr val="173047"/>
                          </a:solidFill>
                          <a:latin typeface="Arial"/>
                          <a:ea typeface="Arial"/>
                          <a:cs typeface="Arial"/>
                        </a:rPr>
                        <a:t>Покриття кожної властивості</a:t>
                      </a:r>
                    </a:p>
                  </a:txBody>
                  <a:tcPr marL="66675" marR="66675" marT="38100" marB="38100" anchor="ctr">
                    <a:solidFill>
                      <a:srgbClr val="F1F5F8"/>
                    </a:solidFill>
                  </a:tcPr>
                </a:tc>
              </a:tr>
              <a:tr h="571500">
                <a:tc>
                  <a:txBody>
                    <a:bodyPr/>
                    <a:lstStyle/>
                    <a:p>
                      <a:r>
                        <a:rPr sz="2100">
                          <a:solidFill>
                            <a:srgbClr val="173047"/>
                          </a:solidFill>
                          <a:latin typeface="Arial"/>
                          <a:ea typeface="Arial"/>
                          <a:cs typeface="Arial"/>
                        </a:rPr>
                        <a:t>Для кожного j: qj·xj ≤ K</a:t>
                      </a:r>
                    </a:p>
                  </a:txBody>
                  <a:tcPr marL="66675" marR="66675" marT="38100" marB="38100" anchor="ctr">
                    <a:solidFill>
                      <a:srgbClr val="FFFFFF"/>
                    </a:solidFill>
                  </a:tcPr>
                </a:tc>
                <a:tc>
                  <a:txBody>
                    <a:bodyPr/>
                    <a:lstStyle/>
                    <a:p>
                      <a:r>
                        <a:rPr sz="2100">
                          <a:solidFill>
                            <a:srgbClr val="173047"/>
                          </a:solidFill>
                          <a:latin typeface="Arial"/>
                          <a:ea typeface="Arial"/>
                          <a:cs typeface="Arial"/>
                        </a:rPr>
                        <a:t>Не більше K властивостей у тесті</a:t>
                      </a:r>
                    </a:p>
                  </a:txBody>
                  <a:tcPr marL="66675" marR="66675" marT="38100" marB="38100" anchor="ctr">
                    <a:solidFill>
                      <a:srgbClr val="FFFFFF"/>
                    </a:solidFill>
                  </a:tcPr>
                </a:tc>
              </a:tr>
              <a:tr h="571500">
                <a:tc>
                  <a:txBody>
                    <a:bodyPr/>
                    <a:lstStyle/>
                    <a:p>
                      <a:r>
                        <a:rPr sz="2100">
                          <a:solidFill>
                            <a:srgbClr val="173047"/>
                          </a:solidFill>
                          <a:latin typeface="Arial"/>
                          <a:ea typeface="Arial"/>
                          <a:cs typeface="Arial"/>
                        </a:rPr>
                        <a:t>Сума xj ≤ N</a:t>
                      </a:r>
                    </a:p>
                  </a:txBody>
                  <a:tcPr marL="66675" marR="66675" marT="38100" marB="38100" anchor="ctr">
                    <a:solidFill>
                      <a:srgbClr val="F1F5F8"/>
                    </a:solidFill>
                  </a:tcPr>
                </a:tc>
                <a:tc>
                  <a:txBody>
                    <a:bodyPr/>
                    <a:lstStyle/>
                    <a:p>
                      <a:r>
                        <a:rPr sz="2100">
                          <a:solidFill>
                            <a:srgbClr val="173047"/>
                          </a:solidFill>
                          <a:latin typeface="Arial"/>
                          <a:ea typeface="Arial"/>
                          <a:cs typeface="Arial"/>
                        </a:rPr>
                        <a:t>Не більше N тестів у наборі</a:t>
                      </a:r>
                    </a:p>
                  </a:txBody>
                  <a:tcPr marL="66675" marR="66675" marT="38100" marB="38100" anchor="ctr">
                    <a:solidFill>
                      <a:srgbClr val="F1F5F8"/>
                    </a:solidFill>
                  </a:tcPr>
                </a:tc>
              </a:tr>
              <a:tr h="571500">
                <a:tc>
                  <a:txBody>
                    <a:bodyPr/>
                    <a:lstStyle/>
                    <a:p>
                      <a:r>
                        <a:rPr sz="2100">
                          <a:solidFill>
                            <a:srgbClr val="173047"/>
                          </a:solidFill>
                          <a:latin typeface="Arial"/>
                          <a:ea typeface="Arial"/>
                          <a:cs typeface="Arial"/>
                        </a:rPr>
                        <a:t>Сума tj·xj ≤ B</a:t>
                      </a:r>
                    </a:p>
                  </a:txBody>
                  <a:tcPr marL="66675" marR="66675" marT="38100" marB="38100" anchor="ctr">
                    <a:solidFill>
                      <a:srgbClr val="FFFFFF"/>
                    </a:solidFill>
                  </a:tcPr>
                </a:tc>
                <a:tc>
                  <a:txBody>
                    <a:bodyPr/>
                    <a:lstStyle/>
                    <a:p>
                      <a:r>
                        <a:rPr sz="2100">
                          <a:solidFill>
                            <a:srgbClr val="173047"/>
                          </a:solidFill>
                          <a:latin typeface="Arial"/>
                          <a:ea typeface="Arial"/>
                          <a:cs typeface="Arial"/>
                        </a:rPr>
                        <a:t>Бюджет часу B</a:t>
                      </a:r>
                    </a:p>
                  </a:txBody>
                  <a:tcPr marL="66675" marR="66675" marT="38100" marB="38100" anchor="ctr">
                    <a:solidFill>
                      <a:srgbClr val="FFFFFF"/>
                    </a:solidFill>
                  </a:tcPr>
                </a:tc>
              </a:tr>
              <a:tr h="571500">
                <a:tc>
                  <a:txBody>
                    <a:bodyPr/>
                    <a:lstStyle/>
                    <a:p>
                      <a:r>
                        <a:rPr sz="2100">
                          <a:solidFill>
                            <a:srgbClr val="173047"/>
                          </a:solidFill>
                          <a:latin typeface="Arial"/>
                          <a:ea typeface="Arial"/>
                          <a:cs typeface="Arial"/>
                        </a:rPr>
                        <a:t>xj ∈ {0,1}</a:t>
                      </a:r>
                    </a:p>
                  </a:txBody>
                  <a:tcPr marL="66675" marR="66675" marT="38100" marB="38100" anchor="ctr">
                    <a:solidFill>
                      <a:srgbClr val="F1F5F8"/>
                    </a:solidFill>
                  </a:tcPr>
                </a:tc>
                <a:tc>
                  <a:txBody>
                    <a:bodyPr/>
                    <a:lstStyle/>
                    <a:p>
                      <a:r>
                        <a:rPr sz="2100">
                          <a:solidFill>
                            <a:srgbClr val="173047"/>
                          </a:solidFill>
                          <a:latin typeface="Arial"/>
                          <a:ea typeface="Arial"/>
                          <a:cs typeface="Arial"/>
                        </a:rPr>
                        <a:t>Запустити або пропустити тест</a:t>
                      </a:r>
                    </a:p>
                  </a:txBody>
                  <a:tcPr marL="66675" marR="66675" marT="38100" marB="38100" anchor="ctr">
                    <a:solidFill>
                      <a:srgbClr val="F1F5F8"/>
                    </a:solidFill>
                  </a:tcPr>
                </a:tc>
              </a:tr>
            </a:tbl>
          </a:graphicData>
        </a:graphic>
      </p:graphicFrame>
    </p:spTree>
    <p:extLst>
      <p:ext uri="{BB962C8B-B14F-4D97-AF65-F5344CB8AC3E}">
        <p14:creationId xmlns:p14="http://schemas.microsoft.com/office/powerpoint/2010/main" val="6140764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CACEC5-5567-41C2-81E9-8394A5DBDC5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Алгоритм вибору регресійного набору</a:t>
            </a:r>
          </a:p>
        </p:txBody>
      </p:sp>
      <p:sp>
        <p:nvSpPr>
          <p:cNvPr id="2" name="">
            <a:extLst xmlns:a="http://schemas.openxmlformats.org/drawingml/2006/main">
              <a:ext uri="{FF2B5EF4-FFF2-40B4-BE49-F238E27FC236}">
                <a16:creationId xmlns:a16="http://schemas.microsoft.com/office/drawing/2014/main" id="{888CCA2D-3780-425A-9E77-E0C9049ADFA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Після розв’язання повторно перевіряємо всі обмеження.</a:t>
            </a:r>
          </a:p>
        </p:txBody>
      </p:sp>
      <p:sp>
        <p:nvSpPr>
          <p:cNvPr id="3" name="">
            <a:extLst xmlns:a="http://schemas.openxmlformats.org/drawingml/2006/main">
              <a:ext uri="{FF2B5EF4-FFF2-40B4-BE49-F238E27FC236}">
                <a16:creationId xmlns:a16="http://schemas.microsoft.com/office/drawing/2014/main" id="{44A7276F-CCA0-4E0A-8A9D-6AED7A86E450}"/>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12</a:t>
            </a:r>
          </a:p>
        </p:txBody>
      </p:sp>
      <p:graphicFrame>
        <p:nvGraphicFramePr>
          <p:cNvPr id="4" name="">
            <a:extLst xmlns:a="http://schemas.openxmlformats.org/drawingml/2006/main">
              <a:ext uri="{FF2B5EF4-FFF2-40B4-BE49-F238E27FC236}">
                <a16:creationId xmlns:a16="http://schemas.microsoft.com/office/drawing/2014/main" id="{7C3F76CF-071A-48CE-BACF-989D6F7A28FF}"/>
              </a:ext>
            </a:extLst>
          </p:cNvPr>
          <p:cNvGraphicFramePr/>
          <p:nvPr/>
        </p:nvGraphicFramePr>
        <p:xfrm>
          <a:off xmlns:a="http://schemas.openxmlformats.org/drawingml/2006/main" x="762000" y="1600200"/>
          <a:ext xmlns:a="http://schemas.openxmlformats.org/drawingml/2006/main" cx="10668000" cy="3857625"/>
        </p:xfrm>
        <a:graphic xmlns:a="http://schemas.openxmlformats.org/drawingml/2006/main">
          <a:graphicData uri="http://schemas.openxmlformats.org/drawingml/2006/table">
            <a:tbl>
              <a:tblPr/>
              <a:tblGrid>
                <a:gridCol w="2667000"/>
                <a:gridCol w="8001000"/>
              </a:tblGrid>
              <a:tr h="642938">
                <a:tc>
                  <a:txBody>
                    <a:bodyPr/>
                    <a:lstStyle/>
                    <a:p>
                      <a:r>
                        <a:rPr sz="2250" b="1">
                          <a:solidFill>
                            <a:srgbClr val="FFFFFF"/>
                          </a:solidFill>
                          <a:latin typeface="Arial"/>
                          <a:ea typeface="Arial"/>
                          <a:cs typeface="Arial"/>
                        </a:rPr>
                        <a:t>Крок</a:t>
                      </a:r>
                    </a:p>
                  </a:txBody>
                  <a:tcPr marL="66675" marR="66675" marT="38100" marB="38100" anchor="ctr">
                    <a:solidFill>
                      <a:srgbClr val="173047"/>
                    </a:solidFill>
                  </a:tcPr>
                </a:tc>
                <a:tc>
                  <a:txBody>
                    <a:bodyPr/>
                    <a:lstStyle/>
                    <a:p>
                      <a:r>
                        <a:rPr sz="2250" b="1">
                          <a:solidFill>
                            <a:srgbClr val="FFFFFF"/>
                          </a:solidFill>
                          <a:latin typeface="Arial"/>
                          <a:ea typeface="Arial"/>
                          <a:cs typeface="Arial"/>
                        </a:rPr>
                        <a:t>Дія</a:t>
                      </a:r>
                    </a:p>
                  </a:txBody>
                  <a:tcPr marL="66675" marR="66675" marT="38100" marB="38100" anchor="ctr">
                    <a:solidFill>
                      <a:srgbClr val="173047"/>
                    </a:solidFill>
                  </a:tcPr>
                </a:tc>
              </a:tr>
              <a:tr h="642938">
                <a:tc>
                  <a:txBody>
                    <a:bodyPr/>
                    <a:lstStyle/>
                    <a:p>
                      <a:r>
                        <a:rPr sz="2250">
                          <a:solidFill>
                            <a:srgbClr val="173047"/>
                          </a:solidFill>
                          <a:latin typeface="Arial"/>
                          <a:ea typeface="Arial"/>
                          <a:cs typeface="Arial"/>
                        </a:rPr>
                        <a:t>1. Дані</a:t>
                      </a:r>
                    </a:p>
                  </a:txBody>
                  <a:tcPr marL="66675" marR="66675" marT="38100" marB="38100" anchor="ctr">
                    <a:solidFill>
                      <a:srgbClr val="FFFFFF"/>
                    </a:solidFill>
                  </a:tcPr>
                </a:tc>
                <a:tc>
                  <a:txBody>
                    <a:bodyPr/>
                    <a:lstStyle/>
                    <a:p>
                      <a:r>
                        <a:rPr sz="2250">
                          <a:solidFill>
                            <a:srgbClr val="173047"/>
                          </a:solidFill>
                          <a:latin typeface="Arial"/>
                          <a:ea typeface="Arial"/>
                          <a:cs typeface="Arial"/>
                        </a:rPr>
                        <a:t>Властивості, тести, матриця, тривалості</a:t>
                      </a:r>
                    </a:p>
                  </a:txBody>
                  <a:tcPr marL="66675" marR="66675" marT="38100" marB="38100" anchor="ctr">
                    <a:solidFill>
                      <a:srgbClr val="FFFFFF"/>
                    </a:solidFill>
                  </a:tcPr>
                </a:tc>
              </a:tr>
              <a:tr h="642938">
                <a:tc>
                  <a:txBody>
                    <a:bodyPr/>
                    <a:lstStyle/>
                    <a:p>
                      <a:r>
                        <a:rPr sz="2250">
                          <a:solidFill>
                            <a:srgbClr val="173047"/>
                          </a:solidFill>
                          <a:latin typeface="Arial"/>
                          <a:ea typeface="Arial"/>
                          <a:cs typeface="Arial"/>
                        </a:rPr>
                        <a:t>2. Допуск тестів</a:t>
                      </a:r>
                    </a:p>
                  </a:txBody>
                  <a:tcPr marL="66675" marR="66675" marT="38100" marB="38100" anchor="ctr">
                    <a:solidFill>
                      <a:srgbClr val="F1F5F8"/>
                    </a:solidFill>
                  </a:tcPr>
                </a:tc>
                <a:tc>
                  <a:txBody>
                    <a:bodyPr/>
                    <a:lstStyle/>
                    <a:p>
                      <a:r>
                        <a:rPr sz="2250">
                          <a:solidFill>
                            <a:srgbClr val="173047"/>
                          </a:solidFill>
                          <a:latin typeface="Arial"/>
                          <a:ea typeface="Arial"/>
                          <a:cs typeface="Arial"/>
                        </a:rPr>
                        <a:t>Порахувати q та заборонити q&gt;K</a:t>
                      </a:r>
                    </a:p>
                  </a:txBody>
                  <a:tcPr marL="66675" marR="66675" marT="38100" marB="38100" anchor="ctr">
                    <a:solidFill>
                      <a:srgbClr val="F1F5F8"/>
                    </a:solidFill>
                  </a:tcPr>
                </a:tc>
              </a:tr>
              <a:tr h="642938">
                <a:tc>
                  <a:txBody>
                    <a:bodyPr/>
                    <a:lstStyle/>
                    <a:p>
                      <a:r>
                        <a:rPr sz="2250">
                          <a:solidFill>
                            <a:srgbClr val="173047"/>
                          </a:solidFill>
                          <a:latin typeface="Arial"/>
                          <a:ea typeface="Arial"/>
                          <a:cs typeface="Arial"/>
                        </a:rPr>
                        <a:t>3. Модель</a:t>
                      </a:r>
                    </a:p>
                  </a:txBody>
                  <a:tcPr marL="66675" marR="66675" marT="38100" marB="38100" anchor="ctr">
                    <a:solidFill>
                      <a:srgbClr val="FFFFFF"/>
                    </a:solidFill>
                  </a:tcPr>
                </a:tc>
                <a:tc>
                  <a:txBody>
                    <a:bodyPr/>
                    <a:lstStyle/>
                    <a:p>
                      <a:r>
                        <a:rPr sz="2250">
                          <a:solidFill>
                            <a:srgbClr val="173047"/>
                          </a:solidFill>
                          <a:latin typeface="Arial"/>
                          <a:ea typeface="Arial"/>
                          <a:cs typeface="Arial"/>
                        </a:rPr>
                        <a:t>Покриття, кратність, число тестів, час</a:t>
                      </a:r>
                    </a:p>
                  </a:txBody>
                  <a:tcPr marL="66675" marR="66675" marT="38100" marB="38100" anchor="ctr">
                    <a:solidFill>
                      <a:srgbClr val="FFFFFF"/>
                    </a:solidFill>
                  </a:tcPr>
                </a:tc>
              </a:tr>
              <a:tr h="642938">
                <a:tc>
                  <a:txBody>
                    <a:bodyPr/>
                    <a:lstStyle/>
                    <a:p>
                      <a:r>
                        <a:rPr sz="2250">
                          <a:solidFill>
                            <a:srgbClr val="173047"/>
                          </a:solidFill>
                          <a:latin typeface="Arial"/>
                          <a:ea typeface="Arial"/>
                          <a:cs typeface="Arial"/>
                        </a:rPr>
                        <a:t>4. Розв’язання</a:t>
                      </a:r>
                    </a:p>
                  </a:txBody>
                  <a:tcPr marL="66675" marR="66675" marT="38100" marB="38100" anchor="ctr">
                    <a:solidFill>
                      <a:srgbClr val="F1F5F8"/>
                    </a:solidFill>
                  </a:tcPr>
                </a:tc>
                <a:tc>
                  <a:txBody>
                    <a:bodyPr/>
                    <a:lstStyle/>
                    <a:p>
                      <a:r>
                        <a:rPr sz="2250">
                          <a:solidFill>
                            <a:srgbClr val="173047"/>
                          </a:solidFill>
                          <a:latin typeface="Arial"/>
                          <a:ea typeface="Arial"/>
                          <a:cs typeface="Arial"/>
                        </a:rPr>
                        <a:t>milp: цілі змінні з межами 0…1</a:t>
                      </a:r>
                    </a:p>
                  </a:txBody>
                  <a:tcPr marL="66675" marR="66675" marT="38100" marB="38100" anchor="ctr">
                    <a:solidFill>
                      <a:srgbClr val="F1F5F8"/>
                    </a:solidFill>
                  </a:tcPr>
                </a:tc>
              </a:tr>
              <a:tr h="642938">
                <a:tc>
                  <a:txBody>
                    <a:bodyPr/>
                    <a:lstStyle/>
                    <a:p>
                      <a:r>
                        <a:rPr sz="2250">
                          <a:solidFill>
                            <a:srgbClr val="173047"/>
                          </a:solidFill>
                          <a:latin typeface="Arial"/>
                          <a:ea typeface="Arial"/>
                          <a:cs typeface="Arial"/>
                        </a:rPr>
                        <a:t>5. Перевірка</a:t>
                      </a:r>
                    </a:p>
                  </a:txBody>
                  <a:tcPr marL="66675" marR="66675" marT="38100" marB="38100" anchor="ctr">
                    <a:solidFill>
                      <a:srgbClr val="FFFFFF"/>
                    </a:solidFill>
                  </a:tcPr>
                </a:tc>
                <a:tc>
                  <a:txBody>
                    <a:bodyPr/>
                    <a:lstStyle/>
                    <a:p>
                      <a:r>
                        <a:rPr sz="2250">
                          <a:solidFill>
                            <a:srgbClr val="173047"/>
                          </a:solidFill>
                          <a:latin typeface="Arial"/>
                          <a:ea typeface="Arial"/>
                          <a:cs typeface="Arial"/>
                        </a:rPr>
                        <a:t>Покриття, час, кількість, q та статус</a:t>
                      </a:r>
                    </a:p>
                  </a:txBody>
                  <a:tcPr marL="66675" marR="66675" marT="38100" marB="38100" anchor="ctr">
                    <a:solidFill>
                      <a:srgbClr val="FFFFFF"/>
                    </a:solidFill>
                  </a:tcPr>
                </a:tc>
              </a:tr>
            </a:tbl>
          </a:graphicData>
        </a:graphic>
      </p:graphicFrame>
    </p:spTree>
    <p:extLst>
      <p:ext uri="{BB962C8B-B14F-4D97-AF65-F5344CB8AC3E}">
        <p14:creationId xmlns:p14="http://schemas.microsoft.com/office/powerpoint/2010/main" val="14399170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30D091-BADA-4E7C-8AC0-C87B7A3C1534}"/>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Python 1: матриця та параметри</a:t>
            </a:r>
          </a:p>
        </p:txBody>
      </p:sp>
      <p:sp>
        <p:nvSpPr>
          <p:cNvPr id="2" name="">
            <a:extLst xmlns:a="http://schemas.openxmlformats.org/drawingml/2006/main">
              <a:ext uri="{FF2B5EF4-FFF2-40B4-BE49-F238E27FC236}">
                <a16:creationId xmlns:a16="http://schemas.microsoft.com/office/drawing/2014/main" id="{65B9C5F2-9226-4CAF-B935-D2408D4CB4F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У A рядки — F1–F8, стовпці — T1–T10.</a:t>
            </a:r>
          </a:p>
        </p:txBody>
      </p:sp>
      <p:sp>
        <p:nvSpPr>
          <p:cNvPr id="3" name="">
            <a:extLst xmlns:a="http://schemas.openxmlformats.org/drawingml/2006/main">
              <a:ext uri="{FF2B5EF4-FFF2-40B4-BE49-F238E27FC236}">
                <a16:creationId xmlns:a16="http://schemas.microsoft.com/office/drawing/2014/main" id="{8C2BB271-26B0-48B1-A758-46982F8977E1}"/>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13</a:t>
            </a:r>
          </a:p>
        </p:txBody>
      </p:sp>
      <p:sp>
        <p:nvSpPr>
          <p:cNvPr id="4" name="">
            <a:extLst xmlns:a="http://schemas.openxmlformats.org/drawingml/2006/main">
              <a:ext uri="{FF2B5EF4-FFF2-40B4-BE49-F238E27FC236}">
                <a16:creationId xmlns:a16="http://schemas.microsoft.com/office/drawing/2014/main" id="{9A0BBBE8-7A61-497E-BDC4-09165DD6B49A}"/>
              </a:ext>
            </a:extLst>
          </p:cNvPr>
          <p:cNvSpPr>
            <a:spLocks xmlns:a="http://schemas.openxmlformats.org/drawingml/2006/main" noGrp="1"/>
          </p:cNvSpPr>
          <p:nvPr/>
        </p:nvSpPr>
        <p:spPr>
          <a:xfrm xmlns:a="http://schemas.openxmlformats.org/drawingml/2006/main">
            <a:off x="762000" y="1495425"/>
            <a:ext cx="10668000" cy="39624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5F1C2C-7808-4186-BE2C-A0D7B4605FF6}"/>
              </a:ext>
            </a:extLst>
          </p:cNvPr>
          <p:cNvSpPr>
            <a:spLocks xmlns:a="http://schemas.openxmlformats.org/drawingml/2006/main" noGrp="1"/>
          </p:cNvSpPr>
          <p:nvPr/>
        </p:nvSpPr>
        <p:spPr>
          <a:xfrm xmlns:a="http://schemas.openxmlformats.org/drawingml/2006/main">
            <a:off x="923925" y="1571625"/>
            <a:ext cx="103441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173047"/>
                </a:solidFill>
                <a:latin typeface="Courier New"/>
                <a:ea typeface="Courier New"/>
                <a:cs typeface="Courier New"/>
              </a:defRPr>
            </a:defPPr>
          </a:lstStyle>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import numpy as np</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from scipy.optimize import milp, Bounds, LinearConstraint</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 = np.array([</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[1,1,0,0,0,0,1,0,1,0],  # F1</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[1,0,1,0,0,0,0,1,1,0],  # F2</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[1,0,0,1,0,0,0,1,1,0],  # F3</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[0,1,0,0,1,0,0,0,1,1],  # F4</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[0,0,1,0,1,1,0,0,1,0],  # F5</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[0,0,0,1,1,0,1,0,0,0],  # F6</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[0,0,0,0,0,1,1,1,0,1],  # F7</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[0,1,1,1,0,1,0,0,0,0]]) # F8</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time = np.array([5,4,4,3,4,5,4,4,2,2])</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need = np.array([1,2,1,1,1,1,2,1])</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K, N, B = 3, 5, 16</a:t>
            </a:r>
          </a:p>
        </p:txBody>
      </p:sp>
    </p:spTree>
    <p:extLst>
      <p:ext uri="{BB962C8B-B14F-4D97-AF65-F5344CB8AC3E}">
        <p14:creationId xmlns:p14="http://schemas.microsoft.com/office/powerpoint/2010/main" val="1967631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934526-DB23-4BCC-B78F-8E9178B7B1E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Python 2: обмеження та допуск</a:t>
            </a:r>
          </a:p>
        </p:txBody>
      </p:sp>
      <p:sp>
        <p:nvSpPr>
          <p:cNvPr id="2" name="">
            <a:extLst xmlns:a="http://schemas.openxmlformats.org/drawingml/2006/main">
              <a:ext uri="{FF2B5EF4-FFF2-40B4-BE49-F238E27FC236}">
                <a16:creationId xmlns:a16="http://schemas.microsoft.com/office/drawing/2014/main" id="{3C2CF86B-FDA4-48A5-AAA3-4BAC1DC4F57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Для T9 allowed[8]=0. Bounds змушує x9 дорівнювати 0.</a:t>
            </a:r>
          </a:p>
        </p:txBody>
      </p:sp>
      <p:sp>
        <p:nvSpPr>
          <p:cNvPr id="3" name="">
            <a:extLst xmlns:a="http://schemas.openxmlformats.org/drawingml/2006/main">
              <a:ext uri="{FF2B5EF4-FFF2-40B4-BE49-F238E27FC236}">
                <a16:creationId xmlns:a16="http://schemas.microsoft.com/office/drawing/2014/main" id="{710FE66C-FC82-43A9-9636-23FA16320D3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14</a:t>
            </a:r>
          </a:p>
        </p:txBody>
      </p:sp>
      <p:sp>
        <p:nvSpPr>
          <p:cNvPr id="4" name="">
            <a:extLst xmlns:a="http://schemas.openxmlformats.org/drawingml/2006/main">
              <a:ext uri="{FF2B5EF4-FFF2-40B4-BE49-F238E27FC236}">
                <a16:creationId xmlns:a16="http://schemas.microsoft.com/office/drawing/2014/main" id="{8CEE4306-2923-44B4-A1B4-9FB9D0594FFE}"/>
              </a:ext>
            </a:extLst>
          </p:cNvPr>
          <p:cNvSpPr>
            <a:spLocks xmlns:a="http://schemas.openxmlformats.org/drawingml/2006/main" noGrp="1"/>
          </p:cNvSpPr>
          <p:nvPr/>
        </p:nvSpPr>
        <p:spPr>
          <a:xfrm xmlns:a="http://schemas.openxmlformats.org/drawingml/2006/main">
            <a:off x="762000" y="1581150"/>
            <a:ext cx="10668000" cy="282092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34627F-812D-4DFD-9503-4A0BC1E878F1}"/>
              </a:ext>
            </a:extLst>
          </p:cNvPr>
          <p:cNvSpPr>
            <a:spLocks xmlns:a="http://schemas.openxmlformats.org/drawingml/2006/main" noGrp="1"/>
          </p:cNvSpPr>
          <p:nvPr/>
        </p:nvSpPr>
        <p:spPr>
          <a:xfrm xmlns:a="http://schemas.openxmlformats.org/drawingml/2006/main">
            <a:off x="923925" y="1657350"/>
            <a:ext cx="10344150" cy="2668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173047"/>
                </a:solidFill>
                <a:latin typeface="Courier New"/>
                <a:ea typeface="Courier New"/>
                <a:cs typeface="Courier New"/>
              </a:defRPr>
            </a:defPPr>
          </a:lstStyle>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q = A.sum(axis=0)  # властивостей у кожному тесті</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allowed = (q &lt;= K).astype(int)</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constraints = [</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LinearConstraint(A, need, np.inf),  # покриття</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LinearConstraint(np.ones((1,10)), -np.inf, N),</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LinearConstraint(time.reshape(1,-1), -np.inf, B),</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print("q:", q.tolist())</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print("allowed:", allowed.tolist())</a:t>
            </a:r>
          </a:p>
        </p:txBody>
      </p:sp>
      <p:sp>
        <p:nvSpPr>
          <p:cNvPr id="6" name="">
            <a:extLst xmlns:a="http://schemas.openxmlformats.org/drawingml/2006/main">
              <a:ext uri="{FF2B5EF4-FFF2-40B4-BE49-F238E27FC236}">
                <a16:creationId xmlns:a16="http://schemas.microsoft.com/office/drawing/2014/main" id="{539DA96E-C492-43E5-A107-90892BB9FC7B}"/>
              </a:ext>
            </a:extLst>
          </p:cNvPr>
          <p:cNvSpPr>
            <a:spLocks xmlns:a="http://schemas.openxmlformats.org/drawingml/2006/main" noGrp="1"/>
          </p:cNvSpPr>
          <p:nvPr/>
        </p:nvSpPr>
        <p:spPr>
          <a:xfrm xmlns:a="http://schemas.openxmlformats.org/drawingml/2006/main">
            <a:off x="762000" y="4619625"/>
            <a:ext cx="10668000" cy="804672"/>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5195A4-E847-4371-9A9E-F24F368C1720}"/>
              </a:ext>
            </a:extLst>
          </p:cNvPr>
          <p:cNvSpPr>
            <a:spLocks xmlns:a="http://schemas.openxmlformats.org/drawingml/2006/main" noGrp="1"/>
          </p:cNvSpPr>
          <p:nvPr/>
        </p:nvSpPr>
        <p:spPr>
          <a:xfrm xmlns:a="http://schemas.openxmlformats.org/drawingml/2006/main">
            <a:off x="923925" y="4695825"/>
            <a:ext cx="10344150" cy="6522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173047"/>
                </a:solidFill>
                <a:latin typeface="Courier New"/>
                <a:ea typeface="Courier New"/>
                <a:cs typeface="Courier New"/>
              </a:defRPr>
            </a:defPPr>
          </a:lstStyle>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q: [3, 3, 3, 3, 3, 3, 3, 3, 5, 2]</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allowed: [1, 1, 1, 1, 1, 1, 1, 1, 0, 1]</a:t>
            </a:r>
          </a:p>
        </p:txBody>
      </p:sp>
    </p:spTree>
    <p:extLst>
      <p:ext uri="{BB962C8B-B14F-4D97-AF65-F5344CB8AC3E}">
        <p14:creationId xmlns:p14="http://schemas.microsoft.com/office/powerpoint/2010/main" val="18366459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C3B5E1-491C-405E-A9EA-166C0C3F6E2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Python 3: пошук і перевірка набору</a:t>
            </a:r>
          </a:p>
        </p:txBody>
      </p:sp>
      <p:sp>
        <p:nvSpPr>
          <p:cNvPr id="2" name="">
            <a:extLst xmlns:a="http://schemas.openxmlformats.org/drawingml/2006/main">
              <a:ext uri="{FF2B5EF4-FFF2-40B4-BE49-F238E27FC236}">
                <a16:creationId xmlns:a16="http://schemas.microsoft.com/office/drawing/2014/main" id="{AC38A884-5AD8-4A09-B75A-247C3D8ACEC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A @ x рахує покриття; q * x перевіряє ліміт кожного тесту.</a:t>
            </a:r>
          </a:p>
        </p:txBody>
      </p:sp>
      <p:sp>
        <p:nvSpPr>
          <p:cNvPr id="3" name="">
            <a:extLst xmlns:a="http://schemas.openxmlformats.org/drawingml/2006/main">
              <a:ext uri="{FF2B5EF4-FFF2-40B4-BE49-F238E27FC236}">
                <a16:creationId xmlns:a16="http://schemas.microsoft.com/office/drawing/2014/main" id="{3617DF7A-B60B-4FA2-AC8B-9854702A4A62}"/>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15</a:t>
            </a:r>
          </a:p>
        </p:txBody>
      </p:sp>
      <p:sp>
        <p:nvSpPr>
          <p:cNvPr id="4" name="">
            <a:extLst xmlns:a="http://schemas.openxmlformats.org/drawingml/2006/main">
              <a:ext uri="{FF2B5EF4-FFF2-40B4-BE49-F238E27FC236}">
                <a16:creationId xmlns:a16="http://schemas.microsoft.com/office/drawing/2014/main" id="{9162B378-475E-4328-B48F-8AEFDFB28B02}"/>
              </a:ext>
            </a:extLst>
          </p:cNvPr>
          <p:cNvSpPr>
            <a:spLocks xmlns:a="http://schemas.openxmlformats.org/drawingml/2006/main" noGrp="1"/>
          </p:cNvSpPr>
          <p:nvPr/>
        </p:nvSpPr>
        <p:spPr>
          <a:xfrm xmlns:a="http://schemas.openxmlformats.org/drawingml/2006/main">
            <a:off x="762000" y="1571625"/>
            <a:ext cx="10668000" cy="42291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699EC3-BF13-4884-BB65-A5D293CBA57C}"/>
              </a:ext>
            </a:extLst>
          </p:cNvPr>
          <p:cNvSpPr>
            <a:spLocks xmlns:a="http://schemas.openxmlformats.org/drawingml/2006/main" noGrp="1"/>
          </p:cNvSpPr>
          <p:nvPr/>
        </p:nvSpPr>
        <p:spPr>
          <a:xfrm xmlns:a="http://schemas.openxmlformats.org/drawingml/2006/main">
            <a:off x="923925" y="1647825"/>
            <a:ext cx="10344150" cy="407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173047"/>
                </a:solidFill>
                <a:latin typeface="Courier New"/>
                <a:ea typeface="Courier New"/>
                <a:cs typeface="Courier New"/>
              </a:defRPr>
            </a:defPPr>
          </a:lstStyle>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r = milp(c=time, integrality=np.ones(10),</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bounds=Bounds(np.zeros(10), allowed),</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constraints=constraints, options={"mip_rel_gap": 0.0})</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if not r.success or r.x is None:</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raise RuntimeError(r.message)</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x = (r.x &gt; 0.5).astype(int)</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coverage = A @ x</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np.allclose(r.x, x)</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(coverage &gt;= need).all()</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(q*x &lt;= K).all() and x.sum() &lt;= N</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time @ x &lt;= B</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print("Тести:", [f"T{i+1}" for i in np.flatnonzero(x)])</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print("Час:", int(time @ x), "хв; кількість:", int(x.sum()))</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print("Властивостей у тестах:", q[x==1].tolist())</a:t>
            </a:r>
          </a:p>
          <a:p xmlns:a="http://schemas.openxmlformats.org/drawingml/2006/main">
            <a:pPr>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print("Статус:", r.status, "; gap:", r.mip_gap)</a:t>
            </a:r>
          </a:p>
        </p:txBody>
      </p:sp>
    </p:spTree>
    <p:extLst>
      <p:ext uri="{BB962C8B-B14F-4D97-AF65-F5344CB8AC3E}">
        <p14:creationId xmlns:p14="http://schemas.microsoft.com/office/powerpoint/2010/main" val="10946773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0B0753-D1AB-41AD-B935-390CBF777238}"/>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Фактичний результат: 4 тести, 14 хв</a:t>
            </a:r>
          </a:p>
        </p:txBody>
      </p:sp>
      <p:sp>
        <p:nvSpPr>
          <p:cNvPr id="2" name="">
            <a:extLst xmlns:a="http://schemas.openxmlformats.org/drawingml/2006/main">
              <a:ext uri="{FF2B5EF4-FFF2-40B4-BE49-F238E27FC236}">
                <a16:creationId xmlns:a16="http://schemas.microsoft.com/office/drawing/2014/main" id="{515979CF-3C82-4D4C-B4D1-D3AB9DAA89E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Усі 8 властивостей покрито. F2 та F7 перевірено щонайменше двічі.</a:t>
            </a:r>
          </a:p>
        </p:txBody>
      </p:sp>
      <p:sp>
        <p:nvSpPr>
          <p:cNvPr id="3" name="">
            <a:extLst xmlns:a="http://schemas.openxmlformats.org/drawingml/2006/main">
              <a:ext uri="{FF2B5EF4-FFF2-40B4-BE49-F238E27FC236}">
                <a16:creationId xmlns:a16="http://schemas.microsoft.com/office/drawing/2014/main" id="{0AFE3D95-3C57-4842-8503-7F8D552976E5}"/>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16</a:t>
            </a:r>
          </a:p>
        </p:txBody>
      </p:sp>
      <p:sp>
        <p:nvSpPr>
          <p:cNvPr id="4" name="">
            <a:extLst xmlns:a="http://schemas.openxmlformats.org/drawingml/2006/main">
              <a:ext uri="{FF2B5EF4-FFF2-40B4-BE49-F238E27FC236}">
                <a16:creationId xmlns:a16="http://schemas.microsoft.com/office/drawing/2014/main" id="{B294FEC7-3D11-4F87-8B37-D175581B06AA}"/>
              </a:ext>
            </a:extLst>
          </p:cNvPr>
          <p:cNvSpPr>
            <a:spLocks xmlns:a="http://schemas.openxmlformats.org/drawingml/2006/main" noGrp="1"/>
          </p:cNvSpPr>
          <p:nvPr/>
        </p:nvSpPr>
        <p:spPr>
          <a:xfrm xmlns:a="http://schemas.openxmlformats.org/drawingml/2006/main">
            <a:off x="762000" y="1476375"/>
            <a:ext cx="10668000" cy="13807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09708A-08DF-4A1A-963C-AF16D0D8A1BF}"/>
              </a:ext>
            </a:extLst>
          </p:cNvPr>
          <p:cNvSpPr>
            <a:spLocks xmlns:a="http://schemas.openxmlformats.org/drawingml/2006/main" noGrp="1"/>
          </p:cNvSpPr>
          <p:nvPr/>
        </p:nvSpPr>
        <p:spPr>
          <a:xfrm xmlns:a="http://schemas.openxmlformats.org/drawingml/2006/main">
            <a:off x="923925" y="1552575"/>
            <a:ext cx="10344150" cy="1228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173047"/>
                </a:solidFill>
                <a:latin typeface="Courier New"/>
                <a:ea typeface="Courier New"/>
                <a:cs typeface="Courier New"/>
              </a:defRPr>
            </a:defPPr>
          </a:lstStyle>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Тести: ['T3', 'T7', 'T8', 'T10']</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Час: 14 хв; кількість: 4</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Властивостей у тестах: [3, 3, 3, 2]</a:t>
            </a:r>
          </a:p>
          <a:p xmlns:a="http://schemas.openxmlformats.org/drawingml/2006/main">
            <a:pPr>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Статус: 0; gap: 0.0</a:t>
            </a:r>
          </a:p>
        </p:txBody>
      </p:sp>
      <p:graphicFrame>
        <p:nvGraphicFramePr>
          <p:cNvPr id="6" name="">
            <a:extLst xmlns:a="http://schemas.openxmlformats.org/drawingml/2006/main">
              <a:ext uri="{FF2B5EF4-FFF2-40B4-BE49-F238E27FC236}">
                <a16:creationId xmlns:a16="http://schemas.microsoft.com/office/drawing/2014/main" id="{DB68AAE8-2462-41CE-A07C-3D6BCDC22DCB}"/>
              </a:ext>
            </a:extLst>
          </p:cNvPr>
          <p:cNvGraphicFramePr/>
          <p:nvPr/>
        </p:nvGraphicFramePr>
        <p:xfrm>
          <a:off xmlns:a="http://schemas.openxmlformats.org/drawingml/2006/main" x="762000" y="3248025"/>
          <a:ext xmlns:a="http://schemas.openxmlformats.org/drawingml/2006/main" cx="10668000" cy="1714500"/>
        </p:xfrm>
        <a:graphic xmlns:a="http://schemas.openxmlformats.org/drawingml/2006/main">
          <a:graphicData uri="http://schemas.openxmlformats.org/drawingml/2006/table">
            <a:tbl>
              <a:tblPr/>
              <a:tblGrid>
                <a:gridCol w="2286000"/>
                <a:gridCol w="1047750"/>
                <a:gridCol w="1047750"/>
                <a:gridCol w="1047750"/>
                <a:gridCol w="1047750"/>
                <a:gridCol w="1047750"/>
                <a:gridCol w="1047750"/>
                <a:gridCol w="1047750"/>
                <a:gridCol w="1047750"/>
              </a:tblGrid>
              <a:tr h="571500">
                <a:tc>
                  <a:txBody>
                    <a:bodyPr/>
                    <a:lstStyle/>
                    <a:p>
                      <a:r>
                        <a:rPr sz="2100" b="1">
                          <a:solidFill>
                            <a:srgbClr val="FFFFFF"/>
                          </a:solidFill>
                          <a:latin typeface="Arial"/>
                          <a:ea typeface="Arial"/>
                          <a:cs typeface="Arial"/>
                        </a:rPr>
                        <a:t>Властивість</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F1</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F2</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F3</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F4</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F5</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F6</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F7</a:t>
                      </a:r>
                    </a:p>
                  </a:txBody>
                  <a:tcPr marL="66675" marR="66675" marT="38100" marB="38100" anchor="ctr">
                    <a:solidFill>
                      <a:srgbClr val="173047"/>
                    </a:solidFill>
                  </a:tcPr>
                </a:tc>
                <a:tc>
                  <a:txBody>
                    <a:bodyPr/>
                    <a:lstStyle/>
                    <a:p>
                      <a:r>
                        <a:rPr sz="2100" b="1">
                          <a:solidFill>
                            <a:srgbClr val="FFFFFF"/>
                          </a:solidFill>
                          <a:latin typeface="Arial"/>
                          <a:ea typeface="Arial"/>
                          <a:cs typeface="Arial"/>
                        </a:rPr>
                        <a:t>F8</a:t>
                      </a:r>
                    </a:p>
                  </a:txBody>
                  <a:tcPr marL="66675" marR="66675" marT="38100" marB="38100" anchor="ctr">
                    <a:solidFill>
                      <a:srgbClr val="173047"/>
                    </a:solidFill>
                  </a:tcPr>
                </a:tc>
              </a:tr>
              <a:tr h="571500">
                <a:tc>
                  <a:txBody>
                    <a:bodyPr/>
                    <a:lstStyle/>
                    <a:p>
                      <a:r>
                        <a:rPr sz="2100">
                          <a:solidFill>
                            <a:srgbClr val="173047"/>
                          </a:solidFill>
                          <a:latin typeface="Arial"/>
                          <a:ea typeface="Arial"/>
                          <a:cs typeface="Arial"/>
                        </a:rPr>
                        <a:t>Потрібно</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c>
                  <a:txBody>
                    <a:bodyPr/>
                    <a:lstStyle/>
                    <a:p>
                      <a:r>
                        <a:rPr sz="2100">
                          <a:solidFill>
                            <a:srgbClr val="173047"/>
                          </a:solidFill>
                          <a:latin typeface="Arial"/>
                          <a:ea typeface="Arial"/>
                          <a:cs typeface="Arial"/>
                        </a:rPr>
                        <a:t>2</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c>
                  <a:txBody>
                    <a:bodyPr/>
                    <a:lstStyle/>
                    <a:p>
                      <a:r>
                        <a:rPr sz="2100">
                          <a:solidFill>
                            <a:srgbClr val="173047"/>
                          </a:solidFill>
                          <a:latin typeface="Arial"/>
                          <a:ea typeface="Arial"/>
                          <a:cs typeface="Arial"/>
                        </a:rPr>
                        <a:t>2</a:t>
                      </a:r>
                    </a:p>
                  </a:txBody>
                  <a:tcPr marL="66675" marR="66675" marT="38100" marB="38100" anchor="ctr">
                    <a:solidFill>
                      <a:srgbClr val="FFFFFF"/>
                    </a:solidFill>
                  </a:tcPr>
                </a:tc>
                <a:tc>
                  <a:txBody>
                    <a:bodyPr/>
                    <a:lstStyle/>
                    <a:p>
                      <a:r>
                        <a:rPr sz="2100">
                          <a:solidFill>
                            <a:srgbClr val="173047"/>
                          </a:solidFill>
                          <a:latin typeface="Arial"/>
                          <a:ea typeface="Arial"/>
                          <a:cs typeface="Arial"/>
                        </a:rPr>
                        <a:t>1</a:t>
                      </a:r>
                    </a:p>
                  </a:txBody>
                  <a:tcPr marL="66675" marR="66675" marT="38100" marB="38100" anchor="ctr">
                    <a:solidFill>
                      <a:srgbClr val="FFFFFF"/>
                    </a:solidFill>
                  </a:tcPr>
                </a:tc>
              </a:tr>
              <a:tr h="571500">
                <a:tc>
                  <a:txBody>
                    <a:bodyPr/>
                    <a:lstStyle/>
                    <a:p>
                      <a:r>
                        <a:rPr sz="2100">
                          <a:solidFill>
                            <a:srgbClr val="173047"/>
                          </a:solidFill>
                          <a:latin typeface="Arial"/>
                          <a:ea typeface="Arial"/>
                          <a:cs typeface="Arial"/>
                        </a:rPr>
                        <a:t>Отримано</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c>
                  <a:txBody>
                    <a:bodyPr/>
                    <a:lstStyle/>
                    <a:p>
                      <a:r>
                        <a:rPr sz="2100">
                          <a:solidFill>
                            <a:srgbClr val="173047"/>
                          </a:solidFill>
                          <a:latin typeface="Arial"/>
                          <a:ea typeface="Arial"/>
                          <a:cs typeface="Arial"/>
                        </a:rPr>
                        <a:t>2</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c>
                  <a:txBody>
                    <a:bodyPr/>
                    <a:lstStyle/>
                    <a:p>
                      <a:r>
                        <a:rPr sz="2100">
                          <a:solidFill>
                            <a:srgbClr val="173047"/>
                          </a:solidFill>
                          <a:latin typeface="Arial"/>
                          <a:ea typeface="Arial"/>
                          <a:cs typeface="Arial"/>
                        </a:rPr>
                        <a:t>3</a:t>
                      </a:r>
                    </a:p>
                  </a:txBody>
                  <a:tcPr marL="66675" marR="66675" marT="38100" marB="38100" anchor="ctr">
                    <a:solidFill>
                      <a:srgbClr val="F1F5F8"/>
                    </a:solidFill>
                  </a:tcPr>
                </a:tc>
                <a:tc>
                  <a:txBody>
                    <a:bodyPr/>
                    <a:lstStyle/>
                    <a:p>
                      <a:r>
                        <a:rPr sz="2100">
                          <a:solidFill>
                            <a:srgbClr val="173047"/>
                          </a:solidFill>
                          <a:latin typeface="Arial"/>
                          <a:ea typeface="Arial"/>
                          <a:cs typeface="Arial"/>
                        </a:rPr>
                        <a:t>1</a:t>
                      </a:r>
                    </a:p>
                  </a:txBody>
                  <a:tcPr marL="66675" marR="66675" marT="38100" marB="38100" anchor="ctr">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7E1A346D-A071-4850-8017-EE41CB4C7936}"/>
              </a:ext>
            </a:extLst>
          </p:cNvPr>
          <p:cNvSpPr>
            <a:spLocks xmlns:a="http://schemas.openxmlformats.org/drawingml/2006/main" noGrp="1"/>
          </p:cNvSpPr>
          <p:nvPr/>
        </p:nvSpPr>
        <p:spPr>
          <a:xfrm xmlns:a="http://schemas.openxmlformats.org/drawingml/2006/main">
            <a:off x="762000" y="51625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700" b="1">
                <a:solidFill>
                  <a:srgbClr val="00857D"/>
                </a:solidFill>
                <a:latin typeface="Arial"/>
                <a:ea typeface="Arial"/>
                <a:cs typeface="Arial"/>
              </a:defRPr>
            </a:defPPr>
          </a:lstStyle>
          <a:p xmlns:a="http://schemas.openxmlformats.org/drawingml/2006/main">
            <a:pPr>
              <a:defRPr sz="2700" b="1">
                <a:solidFill>
                  <a:srgbClr val="00857D"/>
                </a:solidFill>
                <a:latin typeface="Arial"/>
                <a:ea typeface="Arial"/>
                <a:cs typeface="Arial"/>
              </a:defRPr>
            </a:pPr>
            <a:r>
              <a:rPr sz="2700" b="1">
                <a:solidFill>
                  <a:srgbClr val="00857D"/>
                </a:solidFill>
                <a:latin typeface="Arial"/>
                <a:ea typeface="Arial"/>
                <a:cs typeface="Arial"/>
              </a:rPr>
              <a:t>4 + 4 + 4 + 2 = 14 хв ≤ 16 хв</a:t>
            </a:r>
          </a:p>
        </p:txBody>
      </p:sp>
    </p:spTree>
    <p:extLst>
      <p:ext uri="{BB962C8B-B14F-4D97-AF65-F5344CB8AC3E}">
        <p14:creationId xmlns:p14="http://schemas.microsoft.com/office/powerpoint/2010/main" val="95617002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39B9EC-C0AC-4209-BEF8-DC0C88A34E3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Як ліміти змінюють результат</a:t>
            </a:r>
          </a:p>
        </p:txBody>
      </p:sp>
      <p:sp>
        <p:nvSpPr>
          <p:cNvPr id="2" name="">
            <a:extLst xmlns:a="http://schemas.openxmlformats.org/drawingml/2006/main">
              <a:ext uri="{FF2B5EF4-FFF2-40B4-BE49-F238E27FC236}">
                <a16:creationId xmlns:a16="http://schemas.microsoft.com/office/drawing/2014/main" id="{1604A5BA-16BE-46AA-801E-ACB9A7BFDF9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Жорсткіші вимоги можуть збільшити час або зробити модель несумісною.</a:t>
            </a:r>
          </a:p>
        </p:txBody>
      </p:sp>
      <p:sp>
        <p:nvSpPr>
          <p:cNvPr id="3" name="">
            <a:extLst xmlns:a="http://schemas.openxmlformats.org/drawingml/2006/main">
              <a:ext uri="{FF2B5EF4-FFF2-40B4-BE49-F238E27FC236}">
                <a16:creationId xmlns:a16="http://schemas.microsoft.com/office/drawing/2014/main" id="{12B892F1-E611-4259-AC8D-B3061DD3A15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17</a:t>
            </a:r>
          </a:p>
        </p:txBody>
      </p:sp>
      <p:graphicFrame>
        <p:nvGraphicFramePr>
          <p:cNvPr id="4" name="">
            <a:extLst xmlns:a="http://schemas.openxmlformats.org/drawingml/2006/main">
              <a:ext uri="{FF2B5EF4-FFF2-40B4-BE49-F238E27FC236}">
                <a16:creationId xmlns:a16="http://schemas.microsoft.com/office/drawing/2014/main" id="{D70E9C70-3217-46FB-8D66-34998626BF66}"/>
              </a:ext>
            </a:extLst>
          </p:cNvPr>
          <p:cNvGraphicFramePr/>
          <p:nvPr/>
        </p:nvGraphicFramePr>
        <p:xfrm>
          <a:off xmlns:a="http://schemas.openxmlformats.org/drawingml/2006/main" x="762000" y="1628775"/>
          <a:ext xmlns:a="http://schemas.openxmlformats.org/drawingml/2006/main" cx="10668000" cy="3781425"/>
        </p:xfrm>
        <a:graphic xmlns:a="http://schemas.openxmlformats.org/drawingml/2006/main">
          <a:graphicData uri="http://schemas.openxmlformats.org/drawingml/2006/table">
            <a:tbl>
              <a:tblPr/>
              <a:tblGrid>
                <a:gridCol w="857250"/>
                <a:gridCol w="857250"/>
                <a:gridCol w="1524000"/>
                <a:gridCol w="7429500"/>
              </a:tblGrid>
              <a:tr h="630238">
                <a:tc>
                  <a:txBody>
                    <a:bodyPr/>
                    <a:lstStyle/>
                    <a:p>
                      <a:r>
                        <a:rPr sz="2250" b="1">
                          <a:solidFill>
                            <a:srgbClr val="FFFFFF"/>
                          </a:solidFill>
                          <a:latin typeface="Arial"/>
                          <a:ea typeface="Arial"/>
                          <a:cs typeface="Arial"/>
                        </a:rPr>
                        <a:t>K</a:t>
                      </a:r>
                    </a:p>
                  </a:txBody>
                  <a:tcPr marL="66675" marR="66675" marT="38100" marB="38100" anchor="ctr">
                    <a:solidFill>
                      <a:srgbClr val="173047"/>
                    </a:solidFill>
                  </a:tcPr>
                </a:tc>
                <a:tc>
                  <a:txBody>
                    <a:bodyPr/>
                    <a:lstStyle/>
                    <a:p>
                      <a:r>
                        <a:rPr sz="2250" b="1">
                          <a:solidFill>
                            <a:srgbClr val="FFFFFF"/>
                          </a:solidFill>
                          <a:latin typeface="Arial"/>
                          <a:ea typeface="Arial"/>
                          <a:cs typeface="Arial"/>
                        </a:rPr>
                        <a:t>N</a:t>
                      </a:r>
                    </a:p>
                  </a:txBody>
                  <a:tcPr marL="66675" marR="66675" marT="38100" marB="38100" anchor="ctr">
                    <a:solidFill>
                      <a:srgbClr val="173047"/>
                    </a:solidFill>
                  </a:tcPr>
                </a:tc>
                <a:tc>
                  <a:txBody>
                    <a:bodyPr/>
                    <a:lstStyle/>
                    <a:p>
                      <a:r>
                        <a:rPr sz="2250" b="1">
                          <a:solidFill>
                            <a:srgbClr val="FFFFFF"/>
                          </a:solidFill>
                          <a:latin typeface="Arial"/>
                          <a:ea typeface="Arial"/>
                          <a:cs typeface="Arial"/>
                        </a:rPr>
                        <a:t>B, хв</a:t>
                      </a:r>
                    </a:p>
                  </a:txBody>
                  <a:tcPr marL="66675" marR="66675" marT="38100" marB="38100" anchor="ctr">
                    <a:solidFill>
                      <a:srgbClr val="173047"/>
                    </a:solidFill>
                  </a:tcPr>
                </a:tc>
                <a:tc>
                  <a:txBody>
                    <a:bodyPr/>
                    <a:lstStyle/>
                    <a:p>
                      <a:r>
                        <a:rPr sz="2250" b="1">
                          <a:solidFill>
                            <a:srgbClr val="FFFFFF"/>
                          </a:solidFill>
                          <a:latin typeface="Arial"/>
                          <a:ea typeface="Arial"/>
                          <a:cs typeface="Arial"/>
                        </a:rPr>
                        <a:t>Результат</a:t>
                      </a:r>
                    </a:p>
                  </a:txBody>
                  <a:tcPr marL="66675" marR="66675" marT="38100" marB="38100" anchor="ctr">
                    <a:solidFill>
                      <a:srgbClr val="173047"/>
                    </a:solidFill>
                  </a:tcPr>
                </a:tc>
              </a:tr>
              <a:tr h="630238">
                <a:tc>
                  <a:txBody>
                    <a:bodyPr/>
                    <a:lstStyle/>
                    <a:p>
                      <a:r>
                        <a:rPr sz="2250">
                          <a:solidFill>
                            <a:srgbClr val="173047"/>
                          </a:solidFill>
                          <a:latin typeface="Arial"/>
                          <a:ea typeface="Arial"/>
                          <a:cs typeface="Arial"/>
                        </a:rPr>
                        <a:t>5</a:t>
                      </a:r>
                    </a:p>
                  </a:txBody>
                  <a:tcPr marL="66675" marR="66675" marT="38100" marB="38100" anchor="ctr">
                    <a:solidFill>
                      <a:srgbClr val="FFFFFF"/>
                    </a:solidFill>
                  </a:tcPr>
                </a:tc>
                <a:tc>
                  <a:txBody>
                    <a:bodyPr/>
                    <a:lstStyle/>
                    <a:p>
                      <a:r>
                        <a:rPr sz="2250">
                          <a:solidFill>
                            <a:srgbClr val="173047"/>
                          </a:solidFill>
                          <a:latin typeface="Arial"/>
                          <a:ea typeface="Arial"/>
                          <a:cs typeface="Arial"/>
                        </a:rPr>
                        <a:t>5</a:t>
                      </a:r>
                    </a:p>
                  </a:txBody>
                  <a:tcPr marL="66675" marR="66675" marT="38100" marB="38100" anchor="ctr">
                    <a:solidFill>
                      <a:srgbClr val="FFFFFF"/>
                    </a:solidFill>
                  </a:tcPr>
                </a:tc>
                <a:tc>
                  <a:txBody>
                    <a:bodyPr/>
                    <a:lstStyle/>
                    <a:p>
                      <a:r>
                        <a:rPr sz="2250">
                          <a:solidFill>
                            <a:srgbClr val="173047"/>
                          </a:solidFill>
                          <a:latin typeface="Arial"/>
                          <a:ea typeface="Arial"/>
                          <a:cs typeface="Arial"/>
                        </a:rPr>
                        <a:t>16</a:t>
                      </a:r>
                    </a:p>
                  </a:txBody>
                  <a:tcPr marL="66675" marR="66675" marT="38100" marB="38100" anchor="ctr">
                    <a:solidFill>
                      <a:srgbClr val="FFFFFF"/>
                    </a:solidFill>
                  </a:tcPr>
                </a:tc>
                <a:tc>
                  <a:txBody>
                    <a:bodyPr/>
                    <a:lstStyle/>
                    <a:p>
                      <a:r>
                        <a:rPr sz="2250">
                          <a:solidFill>
                            <a:srgbClr val="173047"/>
                          </a:solidFill>
                          <a:latin typeface="Arial"/>
                          <a:ea typeface="Arial"/>
                          <a:cs typeface="Arial"/>
                        </a:rPr>
                        <a:t>11 хв: T4, T8, T9, T10</a:t>
                      </a:r>
                    </a:p>
                  </a:txBody>
                  <a:tcPr marL="66675" marR="66675" marT="38100" marB="38100" anchor="ctr">
                    <a:solidFill>
                      <a:srgbClr val="FFFFFF"/>
                    </a:solidFill>
                  </a:tcPr>
                </a:tc>
              </a:tr>
              <a:tr h="630238">
                <a:tc>
                  <a:txBody>
                    <a:bodyPr/>
                    <a:lstStyle/>
                    <a:p>
                      <a:r>
                        <a:rPr sz="2250">
                          <a:solidFill>
                            <a:srgbClr val="173047"/>
                          </a:solidFill>
                          <a:latin typeface="Arial"/>
                          <a:ea typeface="Arial"/>
                          <a:cs typeface="Arial"/>
                        </a:rPr>
                        <a:t>3</a:t>
                      </a:r>
                    </a:p>
                  </a:txBody>
                  <a:tcPr marL="66675" marR="66675" marT="38100" marB="38100" anchor="ctr">
                    <a:solidFill>
                      <a:srgbClr val="F1F5F8"/>
                    </a:solidFill>
                  </a:tcPr>
                </a:tc>
                <a:tc>
                  <a:txBody>
                    <a:bodyPr/>
                    <a:lstStyle/>
                    <a:p>
                      <a:r>
                        <a:rPr sz="2250">
                          <a:solidFill>
                            <a:srgbClr val="173047"/>
                          </a:solidFill>
                          <a:latin typeface="Arial"/>
                          <a:ea typeface="Arial"/>
                          <a:cs typeface="Arial"/>
                        </a:rPr>
                        <a:t>5</a:t>
                      </a:r>
                    </a:p>
                  </a:txBody>
                  <a:tcPr marL="66675" marR="66675" marT="38100" marB="38100" anchor="ctr">
                    <a:solidFill>
                      <a:srgbClr val="F1F5F8"/>
                    </a:solidFill>
                  </a:tcPr>
                </a:tc>
                <a:tc>
                  <a:txBody>
                    <a:bodyPr/>
                    <a:lstStyle/>
                    <a:p>
                      <a:r>
                        <a:rPr sz="2250">
                          <a:solidFill>
                            <a:srgbClr val="173047"/>
                          </a:solidFill>
                          <a:latin typeface="Arial"/>
                          <a:ea typeface="Arial"/>
                          <a:cs typeface="Arial"/>
                        </a:rPr>
                        <a:t>16</a:t>
                      </a:r>
                    </a:p>
                  </a:txBody>
                  <a:tcPr marL="66675" marR="66675" marT="38100" marB="38100" anchor="ctr">
                    <a:solidFill>
                      <a:srgbClr val="F1F5F8"/>
                    </a:solidFill>
                  </a:tcPr>
                </a:tc>
                <a:tc>
                  <a:txBody>
                    <a:bodyPr/>
                    <a:lstStyle/>
                    <a:p>
                      <a:r>
                        <a:rPr sz="2250">
                          <a:solidFill>
                            <a:srgbClr val="173047"/>
                          </a:solidFill>
                          <a:latin typeface="Arial"/>
                          <a:ea typeface="Arial"/>
                          <a:cs typeface="Arial"/>
                        </a:rPr>
                        <a:t>14 хв: T3, T7, T8, T10</a:t>
                      </a:r>
                    </a:p>
                  </a:txBody>
                  <a:tcPr marL="66675" marR="66675" marT="38100" marB="38100" anchor="ctr">
                    <a:solidFill>
                      <a:srgbClr val="F1F5F8"/>
                    </a:solidFill>
                  </a:tcPr>
                </a:tc>
              </a:tr>
              <a:tr h="630238">
                <a:tc>
                  <a:txBody>
                    <a:bodyPr/>
                    <a:lstStyle/>
                    <a:p>
                      <a:r>
                        <a:rPr sz="2250">
                          <a:solidFill>
                            <a:srgbClr val="173047"/>
                          </a:solidFill>
                          <a:latin typeface="Arial"/>
                          <a:ea typeface="Arial"/>
                          <a:cs typeface="Arial"/>
                        </a:rPr>
                        <a:t>2</a:t>
                      </a:r>
                    </a:p>
                  </a:txBody>
                  <a:tcPr marL="66675" marR="66675" marT="38100" marB="38100" anchor="ctr">
                    <a:solidFill>
                      <a:srgbClr val="FFFFFF"/>
                    </a:solidFill>
                  </a:tcPr>
                </a:tc>
                <a:tc>
                  <a:txBody>
                    <a:bodyPr/>
                    <a:lstStyle/>
                    <a:p>
                      <a:r>
                        <a:rPr sz="2250">
                          <a:solidFill>
                            <a:srgbClr val="173047"/>
                          </a:solidFill>
                          <a:latin typeface="Arial"/>
                          <a:ea typeface="Arial"/>
                          <a:cs typeface="Arial"/>
                        </a:rPr>
                        <a:t>5</a:t>
                      </a:r>
                    </a:p>
                  </a:txBody>
                  <a:tcPr marL="66675" marR="66675" marT="38100" marB="38100" anchor="ctr">
                    <a:solidFill>
                      <a:srgbClr val="FFFFFF"/>
                    </a:solidFill>
                  </a:tcPr>
                </a:tc>
                <a:tc>
                  <a:txBody>
                    <a:bodyPr/>
                    <a:lstStyle/>
                    <a:p>
                      <a:r>
                        <a:rPr sz="2250">
                          <a:solidFill>
                            <a:srgbClr val="173047"/>
                          </a:solidFill>
                          <a:latin typeface="Arial"/>
                          <a:ea typeface="Arial"/>
                          <a:cs typeface="Arial"/>
                        </a:rPr>
                        <a:t>16</a:t>
                      </a:r>
                    </a:p>
                  </a:txBody>
                  <a:tcPr marL="66675" marR="66675" marT="38100" marB="38100" anchor="ctr">
                    <a:solidFill>
                      <a:srgbClr val="FFFFFF"/>
                    </a:solidFill>
                  </a:tcPr>
                </a:tc>
                <a:tc>
                  <a:txBody>
                    <a:bodyPr/>
                    <a:lstStyle/>
                    <a:p>
                      <a:r>
                        <a:rPr sz="2250">
                          <a:solidFill>
                            <a:srgbClr val="173047"/>
                          </a:solidFill>
                          <a:latin typeface="Arial"/>
                          <a:ea typeface="Arial"/>
                          <a:cs typeface="Arial"/>
                        </a:rPr>
                        <a:t>Немає допустимого набору</a:t>
                      </a:r>
                    </a:p>
                  </a:txBody>
                  <a:tcPr marL="66675" marR="66675" marT="38100" marB="38100" anchor="ctr">
                    <a:solidFill>
                      <a:srgbClr val="FFFFFF"/>
                    </a:solidFill>
                  </a:tcPr>
                </a:tc>
              </a:tr>
              <a:tr h="630238">
                <a:tc>
                  <a:txBody>
                    <a:bodyPr/>
                    <a:lstStyle/>
                    <a:p>
                      <a:r>
                        <a:rPr sz="2250">
                          <a:solidFill>
                            <a:srgbClr val="173047"/>
                          </a:solidFill>
                          <a:latin typeface="Arial"/>
                          <a:ea typeface="Arial"/>
                          <a:cs typeface="Arial"/>
                        </a:rPr>
                        <a:t>3</a:t>
                      </a:r>
                    </a:p>
                  </a:txBody>
                  <a:tcPr marL="66675" marR="66675" marT="38100" marB="38100" anchor="ctr">
                    <a:solidFill>
                      <a:srgbClr val="F1F5F8"/>
                    </a:solidFill>
                  </a:tcPr>
                </a:tc>
                <a:tc>
                  <a:txBody>
                    <a:bodyPr/>
                    <a:lstStyle/>
                    <a:p>
                      <a:r>
                        <a:rPr sz="2250">
                          <a:solidFill>
                            <a:srgbClr val="173047"/>
                          </a:solidFill>
                          <a:latin typeface="Arial"/>
                          <a:ea typeface="Arial"/>
                          <a:cs typeface="Arial"/>
                        </a:rPr>
                        <a:t>3</a:t>
                      </a:r>
                    </a:p>
                  </a:txBody>
                  <a:tcPr marL="66675" marR="66675" marT="38100" marB="38100" anchor="ctr">
                    <a:solidFill>
                      <a:srgbClr val="F1F5F8"/>
                    </a:solidFill>
                  </a:tcPr>
                </a:tc>
                <a:tc>
                  <a:txBody>
                    <a:bodyPr/>
                    <a:lstStyle/>
                    <a:p>
                      <a:r>
                        <a:rPr sz="2250">
                          <a:solidFill>
                            <a:srgbClr val="173047"/>
                          </a:solidFill>
                          <a:latin typeface="Arial"/>
                          <a:ea typeface="Arial"/>
                          <a:cs typeface="Arial"/>
                        </a:rPr>
                        <a:t>16</a:t>
                      </a:r>
                    </a:p>
                  </a:txBody>
                  <a:tcPr marL="66675" marR="66675" marT="38100" marB="38100" anchor="ctr">
                    <a:solidFill>
                      <a:srgbClr val="F1F5F8"/>
                    </a:solidFill>
                  </a:tcPr>
                </a:tc>
                <a:tc>
                  <a:txBody>
                    <a:bodyPr/>
                    <a:lstStyle/>
                    <a:p>
                      <a:r>
                        <a:rPr sz="2250">
                          <a:solidFill>
                            <a:srgbClr val="173047"/>
                          </a:solidFill>
                          <a:latin typeface="Arial"/>
                          <a:ea typeface="Arial"/>
                          <a:cs typeface="Arial"/>
                        </a:rPr>
                        <a:t>Немає допустимого набору</a:t>
                      </a:r>
                    </a:p>
                  </a:txBody>
                  <a:tcPr marL="66675" marR="66675" marT="38100" marB="38100" anchor="ctr">
                    <a:solidFill>
                      <a:srgbClr val="F1F5F8"/>
                    </a:solidFill>
                  </a:tcPr>
                </a:tc>
              </a:tr>
              <a:tr h="630238">
                <a:tc>
                  <a:txBody>
                    <a:bodyPr/>
                    <a:lstStyle/>
                    <a:p>
                      <a:r>
                        <a:rPr sz="2250">
                          <a:solidFill>
                            <a:srgbClr val="173047"/>
                          </a:solidFill>
                          <a:latin typeface="Arial"/>
                          <a:ea typeface="Arial"/>
                          <a:cs typeface="Arial"/>
                        </a:rPr>
                        <a:t>3</a:t>
                      </a:r>
                    </a:p>
                  </a:txBody>
                  <a:tcPr marL="66675" marR="66675" marT="38100" marB="38100" anchor="ctr">
                    <a:solidFill>
                      <a:srgbClr val="FFFFFF"/>
                    </a:solidFill>
                  </a:tcPr>
                </a:tc>
                <a:tc>
                  <a:txBody>
                    <a:bodyPr/>
                    <a:lstStyle/>
                    <a:p>
                      <a:r>
                        <a:rPr sz="2250">
                          <a:solidFill>
                            <a:srgbClr val="173047"/>
                          </a:solidFill>
                          <a:latin typeface="Arial"/>
                          <a:ea typeface="Arial"/>
                          <a:cs typeface="Arial"/>
                        </a:rPr>
                        <a:t>5</a:t>
                      </a:r>
                    </a:p>
                  </a:txBody>
                  <a:tcPr marL="66675" marR="66675" marT="38100" marB="38100" anchor="ctr">
                    <a:solidFill>
                      <a:srgbClr val="FFFFFF"/>
                    </a:solidFill>
                  </a:tcPr>
                </a:tc>
                <a:tc>
                  <a:txBody>
                    <a:bodyPr/>
                    <a:lstStyle/>
                    <a:p>
                      <a:r>
                        <a:rPr sz="2250">
                          <a:solidFill>
                            <a:srgbClr val="173047"/>
                          </a:solidFill>
                          <a:latin typeface="Arial"/>
                          <a:ea typeface="Arial"/>
                          <a:cs typeface="Arial"/>
                        </a:rPr>
                        <a:t>13</a:t>
                      </a:r>
                    </a:p>
                  </a:txBody>
                  <a:tcPr marL="66675" marR="66675" marT="38100" marB="38100" anchor="ctr">
                    <a:solidFill>
                      <a:srgbClr val="FFFFFF"/>
                    </a:solidFill>
                  </a:tcPr>
                </a:tc>
                <a:tc>
                  <a:txBody>
                    <a:bodyPr/>
                    <a:lstStyle/>
                    <a:p>
                      <a:r>
                        <a:rPr sz="2250">
                          <a:solidFill>
                            <a:srgbClr val="173047"/>
                          </a:solidFill>
                          <a:latin typeface="Arial"/>
                          <a:ea typeface="Arial"/>
                          <a:cs typeface="Arial"/>
                        </a:rPr>
                        <a:t>Немає допустимого набору</a:t>
                      </a:r>
                    </a:p>
                  </a:txBody>
                  <a:tcPr marL="66675" marR="66675" marT="38100" marB="38100" anchor="ctr">
                    <a:solidFill>
                      <a:srgbClr val="FFFFFF"/>
                    </a:solidFill>
                  </a:tcPr>
                </a:tc>
              </a:tr>
            </a:tbl>
          </a:graphicData>
        </a:graphic>
      </p:graphicFrame>
    </p:spTree>
    <p:extLst>
      <p:ext uri="{BB962C8B-B14F-4D97-AF65-F5344CB8AC3E}">
        <p14:creationId xmlns:p14="http://schemas.microsoft.com/office/powerpoint/2010/main" val="9418860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073286-0A50-49BF-B8AE-E1C77CDE1F1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000" b="1">
                <a:solidFill>
                  <a:srgbClr val="173047"/>
                </a:solidFill>
                <a:latin typeface="Arial"/>
                <a:ea typeface="Arial"/>
                <a:cs typeface="Arial"/>
              </a:defRPr>
            </a:defPPr>
          </a:lstStyle>
          <a:p xmlns:a="http://schemas.openxmlformats.org/drawingml/2006/main">
            <a:pPr>
              <a:defRPr sz="3000" b="1">
                <a:solidFill>
                  <a:srgbClr val="173047"/>
                </a:solidFill>
                <a:latin typeface="Arial"/>
                <a:ea typeface="Arial"/>
                <a:cs typeface="Arial"/>
              </a:defRPr>
            </a:pPr>
            <a:r>
              <a:rPr sz="3000" b="1">
                <a:solidFill>
                  <a:srgbClr val="173047"/>
                </a:solidFill>
                <a:latin typeface="Arial"/>
                <a:ea typeface="Arial"/>
                <a:cs typeface="Arial"/>
              </a:rPr>
              <a:t>Що означає покриття в реальному QA</a:t>
            </a:r>
          </a:p>
        </p:txBody>
      </p:sp>
      <p:sp>
        <p:nvSpPr>
          <p:cNvPr id="2" name="">
            <a:extLst xmlns:a="http://schemas.openxmlformats.org/drawingml/2006/main">
              <a:ext uri="{FF2B5EF4-FFF2-40B4-BE49-F238E27FC236}">
                <a16:creationId xmlns:a16="http://schemas.microsoft.com/office/drawing/2014/main" id="{CEFADB06-ED6F-4B38-8934-E1AE09E4A20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1">
                <a:solidFill>
                  <a:srgbClr val="00857D"/>
                </a:solidFill>
                <a:latin typeface="Arial"/>
                <a:ea typeface="Arial"/>
                <a:cs typeface="Arial"/>
              </a:defRPr>
            </a:defPPr>
          </a:lstStyle>
          <a:p xmlns:a="http://schemas.openxmlformats.org/drawingml/2006/main">
            <a:pPr>
              <a:defRPr sz="1950" b="1">
                <a:solidFill>
                  <a:srgbClr val="00857D"/>
                </a:solidFill>
                <a:latin typeface="Arial"/>
                <a:ea typeface="Arial"/>
                <a:cs typeface="Arial"/>
              </a:defRPr>
            </a:pPr>
            <a:r>
              <a:rPr sz="1950" b="1">
                <a:solidFill>
                  <a:srgbClr val="00857D"/>
                </a:solidFill>
                <a:latin typeface="Arial"/>
                <a:ea typeface="Arial"/>
                <a:cs typeface="Arial"/>
              </a:rPr>
              <a:t>Галочка підтверджує конкретну перевірку очікуваного результату.</a:t>
            </a:r>
          </a:p>
        </p:txBody>
      </p:sp>
      <p:sp>
        <p:nvSpPr>
          <p:cNvPr id="3" name="">
            <a:extLst xmlns:a="http://schemas.openxmlformats.org/drawingml/2006/main">
              <a:ext uri="{FF2B5EF4-FFF2-40B4-BE49-F238E27FC236}">
                <a16:creationId xmlns:a16="http://schemas.microsoft.com/office/drawing/2014/main" id="{06B3D176-D502-44FB-A876-387F3A4FE457}"/>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566779"/>
                </a:solidFill>
                <a:latin typeface="Arial"/>
                <a:ea typeface="Arial"/>
                <a:cs typeface="Arial"/>
              </a:defRPr>
            </a:defPPr>
          </a:lstStyle>
          <a:p xmlns:a="http://schemas.openxmlformats.org/drawingml/2006/main">
            <a:pPr>
              <a:defRPr sz="1350" b="0">
                <a:solidFill>
                  <a:srgbClr val="566779"/>
                </a:solidFill>
                <a:latin typeface="Arial"/>
                <a:ea typeface="Arial"/>
                <a:cs typeface="Arial"/>
              </a:defRPr>
            </a:pPr>
            <a:r>
              <a:t>18</a:t>
            </a:r>
          </a:p>
        </p:txBody>
      </p:sp>
      <p:sp>
        <p:nvSpPr>
          <p:cNvPr id="4" name="">
            <a:extLst xmlns:a="http://schemas.openxmlformats.org/drawingml/2006/main">
              <a:ext uri="{FF2B5EF4-FFF2-40B4-BE49-F238E27FC236}">
                <a16:creationId xmlns:a16="http://schemas.microsoft.com/office/drawing/2014/main" id="{C30A50B1-7139-4529-8C56-F130EFC5E4B3}"/>
              </a:ext>
            </a:extLst>
          </p:cNvPr>
          <p:cNvSpPr>
            <a:spLocks xmlns:a="http://schemas.openxmlformats.org/drawingml/2006/main" noGrp="1"/>
          </p:cNvSpPr>
          <p:nvPr/>
        </p:nvSpPr>
        <p:spPr>
          <a:xfrm xmlns:a="http://schemas.openxmlformats.org/drawingml/2006/main">
            <a:off x="762000" y="1571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775" b="1">
                <a:solidFill>
                  <a:srgbClr val="00857D"/>
                </a:solidFill>
                <a:latin typeface="Arial"/>
                <a:ea typeface="Arial"/>
                <a:cs typeface="Arial"/>
              </a:defRPr>
            </a:defPPr>
          </a:lstStyle>
          <a:p xmlns:a="http://schemas.openxmlformats.org/drawingml/2006/main">
            <a:pPr>
              <a:defRPr sz="2775" b="1">
                <a:solidFill>
                  <a:srgbClr val="00857D"/>
                </a:solidFill>
                <a:latin typeface="Arial"/>
                <a:ea typeface="Arial"/>
                <a:cs typeface="Arial"/>
              </a:defRPr>
            </a:pPr>
            <a:r>
              <a:rPr sz="2775" b="1">
                <a:solidFill>
                  <a:srgbClr val="00857D"/>
                </a:solidFill>
                <a:latin typeface="Arial"/>
                <a:ea typeface="Arial"/>
                <a:cs typeface="Arial"/>
              </a:rPr>
              <a:t>Властивість: відновлення після збою</a:t>
            </a:r>
          </a:p>
        </p:txBody>
      </p:sp>
      <p:sp>
        <p:nvSpPr>
          <p:cNvPr id="5" name="">
            <a:extLst xmlns:a="http://schemas.openxmlformats.org/drawingml/2006/main">
              <a:ext uri="{FF2B5EF4-FFF2-40B4-BE49-F238E27FC236}">
                <a16:creationId xmlns:a16="http://schemas.microsoft.com/office/drawing/2014/main" id="{EFC3A9E0-46DA-4307-A4A6-2BE4E8992523}"/>
              </a:ext>
            </a:extLst>
          </p:cNvPr>
          <p:cNvSpPr>
            <a:spLocks xmlns:a="http://schemas.openxmlformats.org/drawingml/2006/main" noGrp="1"/>
          </p:cNvSpPr>
          <p:nvPr/>
        </p:nvSpPr>
        <p:spPr>
          <a:xfrm xmlns:a="http://schemas.openxmlformats.org/drawingml/2006/main">
            <a:off x="762000" y="2514600"/>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173047"/>
                </a:solidFill>
                <a:latin typeface="Arial"/>
                <a:ea typeface="Arial"/>
                <a:cs typeface="Arial"/>
              </a:defRPr>
            </a:defPPr>
          </a:lstStyle>
          <a:p xmlns:a="http://schemas.openxmlformats.org/drawingml/2006/main">
            <a:pPr>
              <a:defRPr sz="2550" b="0">
                <a:solidFill>
                  <a:srgbClr val="173047"/>
                </a:solidFill>
                <a:latin typeface="Arial"/>
                <a:ea typeface="Arial"/>
                <a:cs typeface="Arial"/>
              </a:defRPr>
            </a:pPr>
            <a:r>
              <a:rPr sz="2550" b="0">
                <a:solidFill>
                  <a:srgbClr val="173047"/>
                </a:solidFill>
                <a:latin typeface="Arial"/>
                <a:ea typeface="Arial"/>
                <a:cs typeface="Arial"/>
              </a:rPr>
              <a:t>Перевірка: сервіс відновлено, дані збережено,</a:t>
            </a:r>
          </a:p>
          <a:p xmlns:a="http://schemas.openxmlformats.org/drawingml/2006/main">
            <a:pPr>
              <a:defRPr sz="2550" b="0">
                <a:solidFill>
                  <a:srgbClr val="173047"/>
                </a:solidFill>
                <a:latin typeface="Arial"/>
                <a:ea typeface="Arial"/>
                <a:cs typeface="Arial"/>
              </a:defRPr>
            </a:pPr>
            <a:r>
              <a:rPr sz="2550" b="0">
                <a:solidFill>
                  <a:srgbClr val="173047"/>
                </a:solidFill>
                <a:latin typeface="Arial"/>
                <a:ea typeface="Arial"/>
                <a:cs typeface="Arial"/>
              </a:rPr>
              <a:t>час відновлення відповідає вимозі.</a:t>
            </a:r>
          </a:p>
        </p:txBody>
      </p:sp>
      <p:sp>
        <p:nvSpPr>
          <p:cNvPr id="6" name="">
            <a:extLst xmlns:a="http://schemas.openxmlformats.org/drawingml/2006/main">
              <a:ext uri="{FF2B5EF4-FFF2-40B4-BE49-F238E27FC236}">
                <a16:creationId xmlns:a16="http://schemas.microsoft.com/office/drawing/2014/main" id="{CC524246-DCDC-4FD5-AEE2-0697B7D68830}"/>
              </a:ext>
            </a:extLst>
          </p:cNvPr>
          <p:cNvSpPr>
            <a:spLocks xmlns:a="http://schemas.openxmlformats.org/drawingml/2006/main" noGrp="1"/>
          </p:cNvSpPr>
          <p:nvPr/>
        </p:nvSpPr>
        <p:spPr>
          <a:xfrm xmlns:a="http://schemas.openxmlformats.org/drawingml/2006/main">
            <a:off x="762000" y="4257675"/>
            <a:ext cx="1066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173047"/>
                </a:solidFill>
                <a:latin typeface="Arial"/>
                <a:ea typeface="Arial"/>
                <a:cs typeface="Arial"/>
              </a:defRPr>
            </a:defPPr>
          </a:lstStyle>
          <a:p xmlns:a="http://schemas.openxmlformats.org/drawingml/2006/main">
            <a:pPr>
              <a:defRPr sz="2550" b="0">
                <a:solidFill>
                  <a:srgbClr val="173047"/>
                </a:solidFill>
                <a:latin typeface="Arial"/>
                <a:ea typeface="Arial"/>
                <a:cs typeface="Arial"/>
              </a:defRPr>
            </a:pPr>
            <a:r>
              <a:rPr sz="2550" b="0">
                <a:solidFill>
                  <a:srgbClr val="173047"/>
                </a:solidFill>
                <a:latin typeface="Arial"/>
                <a:ea typeface="Arial"/>
                <a:cs typeface="Arial"/>
              </a:rPr>
              <a:t>Практикум: змініть K або need для F7.</a:t>
            </a:r>
          </a:p>
          <a:p xmlns:a="http://schemas.openxmlformats.org/drawingml/2006/main">
            <a:pPr>
              <a:defRPr sz="2550" b="0">
                <a:solidFill>
                  <a:srgbClr val="173047"/>
                </a:solidFill>
                <a:latin typeface="Arial"/>
                <a:ea typeface="Arial"/>
                <a:cs typeface="Arial"/>
              </a:defRPr>
            </a:pPr>
            <a:r>
              <a:rPr sz="2550" b="0">
                <a:solidFill>
                  <a:srgbClr val="173047"/>
                </a:solidFill>
                <a:latin typeface="Arial"/>
                <a:ea typeface="Arial"/>
                <a:cs typeface="Arial"/>
              </a:rPr>
              <a:t>Поясніть новий набір, час і статус моделі.</a:t>
            </a:r>
          </a:p>
        </p:txBody>
      </p:sp>
    </p:spTree>
    <p:extLst>
      <p:ext uri="{BB962C8B-B14F-4D97-AF65-F5344CB8AC3E}">
        <p14:creationId xmlns:p14="http://schemas.microsoft.com/office/powerpoint/2010/main" val="14941370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02CA9F-E55E-46C2-BB5C-B80AC3ABAA8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Розкрій кабелю: схеми та цілі кількості</a:t>
            </a:r>
          </a:p>
        </p:txBody>
      </p:sp>
      <p:sp>
        <p:nvSpPr>
          <p:cNvPr id="2" name="">
            <a:extLst xmlns:a="http://schemas.openxmlformats.org/drawingml/2006/main">
              <a:ext uri="{FF2B5EF4-FFF2-40B4-BE49-F238E27FC236}">
                <a16:creationId xmlns:a16="http://schemas.microsoft.com/office/drawing/2014/main" id="{10DDAA81-E431-4004-93B5-200BE58EFA7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Три заготовки по 10 м забезпечують заявку 3×6 м та 2×4 м.</a:t>
            </a:r>
          </a:p>
        </p:txBody>
      </p:sp>
      <p:sp>
        <p:nvSpPr>
          <p:cNvPr id="3" name="">
            <a:extLst xmlns:a="http://schemas.openxmlformats.org/drawingml/2006/main">
              <a:ext uri="{FF2B5EF4-FFF2-40B4-BE49-F238E27FC236}">
                <a16:creationId xmlns:a16="http://schemas.microsoft.com/office/drawing/2014/main" id="{D9328104-6D94-44BA-A839-3919688EBA8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19</a:t>
            </a:r>
          </a:p>
        </p:txBody>
      </p:sp>
      <p:graphicFrame>
        <p:nvGraphicFramePr>
          <p:cNvPr id="4" name="Chart">
            <a:extLst xmlns:a="http://schemas.openxmlformats.org/drawingml/2006/main">
              <a:ext uri="{FF2B5EF4-FFF2-40B4-BE49-F238E27FC236}">
                <a16:creationId xmlns:a16="http://schemas.microsoft.com/office/drawing/2014/main" id="{15B77E7E-3E19-4351-B0F6-BEF39C3AAFF7}"/>
              </a:ext>
            </a:extLst>
          </p:cNvPr>
          <p:cNvGraphicFramePr/>
          <p:nvPr/>
        </p:nvGraphicFramePr>
        <p:xfrm>
          <a:off xmlns:a="http://schemas.openxmlformats.org/drawingml/2006/main" x="762000" y="1619250"/>
          <a:ext xmlns:a="http://schemas.openxmlformats.org/drawingml/2006/main" cx="7000875" cy="3209925"/>
        </p:xfrm>
        <a:graphic xmlns:a="http://schemas.openxmlformats.org/drawingml/2006/main">
          <a:graphicData uri="http://schemas.openxmlformats.org/drawingml/2006/chart">
            <c:chart xmlns:r="http://schemas.openxmlformats.org/officeDocument/2006/relationships" xmlns:c="http://schemas.openxmlformats.org/drawingml/2006/chart" r:id="R3cfb576dbf884e82"/>
          </a:graphicData>
        </a:graphic>
      </p:graphicFrame>
      <p:sp>
        <p:nvSpPr>
          <p:cNvPr id="5" name="">
            <a:extLst xmlns:a="http://schemas.openxmlformats.org/drawingml/2006/main">
              <a:ext uri="{FF2B5EF4-FFF2-40B4-BE49-F238E27FC236}">
                <a16:creationId xmlns:a16="http://schemas.microsoft.com/office/drawing/2014/main" id="{A65140C6-0C92-4764-B005-B61C7F6D1518}"/>
              </a:ext>
            </a:extLst>
          </p:cNvPr>
          <p:cNvSpPr>
            <a:spLocks xmlns:a="http://schemas.openxmlformats.org/drawingml/2006/main" noGrp="1"/>
          </p:cNvSpPr>
          <p:nvPr/>
        </p:nvSpPr>
        <p:spPr>
          <a:xfrm xmlns:a="http://schemas.openxmlformats.org/drawingml/2006/main">
            <a:off x="8239125" y="1619250"/>
            <a:ext cx="3190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73047"/>
                </a:solidFill>
                <a:latin typeface="Arial"/>
                <a:ea typeface="Arial"/>
                <a:cs typeface="Arial"/>
              </a:defRPr>
            </a:defPPr>
          </a:lstStyle>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y: скільки заготовок</a:t>
            </a:r>
          </a:p>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розрізати за схемою</a:t>
            </a:r>
          </a:p>
        </p:txBody>
      </p:sp>
      <p:sp>
        <p:nvSpPr>
          <p:cNvPr id="6" name="">
            <a:extLst xmlns:a="http://schemas.openxmlformats.org/drawingml/2006/main">
              <a:ext uri="{FF2B5EF4-FFF2-40B4-BE49-F238E27FC236}">
                <a16:creationId xmlns:a16="http://schemas.microsoft.com/office/drawing/2014/main" id="{A0BE6109-DB47-4C1F-8C18-C4B1042AEBE2}"/>
              </a:ext>
            </a:extLst>
          </p:cNvPr>
          <p:cNvSpPr>
            <a:spLocks xmlns:a="http://schemas.openxmlformats.org/drawingml/2006/main" noGrp="1"/>
          </p:cNvSpPr>
          <p:nvPr/>
        </p:nvSpPr>
        <p:spPr>
          <a:xfrm xmlns:a="http://schemas.openxmlformats.org/drawingml/2006/main">
            <a:off x="8239125" y="2905125"/>
            <a:ext cx="319087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75" b="1">
                <a:solidFill>
                  <a:srgbClr val="00857D"/>
                </a:solidFill>
                <a:latin typeface="Arial"/>
                <a:ea typeface="Arial"/>
                <a:cs typeface="Arial"/>
              </a:defRPr>
            </a:defPPr>
          </a:lstStyle>
          <a:p xmlns:a="http://schemas.openxmlformats.org/drawingml/2006/main">
            <a:pPr algn="l">
              <a:buNone/>
              <a:defRPr sz="3075" b="1">
                <a:solidFill>
                  <a:srgbClr val="00857D"/>
                </a:solidFill>
                <a:latin typeface="Arial"/>
                <a:ea typeface="Arial"/>
                <a:cs typeface="Arial"/>
              </a:defRPr>
            </a:pPr>
            <a:r>
              <a:rPr sz="3075" b="1">
                <a:solidFill>
                  <a:srgbClr val="00857D"/>
                </a:solidFill>
                <a:latin typeface="Arial"/>
                <a:ea typeface="Arial"/>
                <a:cs typeface="Arial"/>
              </a:rPr>
              <a:t>y1 = 2</a:t>
            </a:r>
          </a:p>
          <a:p xmlns:a="http://schemas.openxmlformats.org/drawingml/2006/main">
            <a:pPr algn="l">
              <a:buNone/>
              <a:defRPr sz="3075" b="1">
                <a:solidFill>
                  <a:srgbClr val="00857D"/>
                </a:solidFill>
                <a:latin typeface="Arial"/>
                <a:ea typeface="Arial"/>
                <a:cs typeface="Arial"/>
              </a:defRPr>
            </a:pPr>
            <a:r>
              <a:rPr sz="3075" b="1">
                <a:solidFill>
                  <a:srgbClr val="00857D"/>
                </a:solidFill>
                <a:latin typeface="Arial"/>
                <a:ea typeface="Arial"/>
                <a:cs typeface="Arial"/>
              </a:rPr>
              <a:t>y2 = 0</a:t>
            </a:r>
          </a:p>
          <a:p xmlns:a="http://schemas.openxmlformats.org/drawingml/2006/main">
            <a:pPr algn="l">
              <a:buNone/>
              <a:defRPr sz="3075" b="1">
                <a:solidFill>
                  <a:srgbClr val="00857D"/>
                </a:solidFill>
                <a:latin typeface="Arial"/>
                <a:ea typeface="Arial"/>
                <a:cs typeface="Arial"/>
              </a:defRPr>
            </a:pPr>
            <a:r>
              <a:rPr sz="3075" b="1">
                <a:solidFill>
                  <a:srgbClr val="00857D"/>
                </a:solidFill>
                <a:latin typeface="Arial"/>
                <a:ea typeface="Arial"/>
                <a:cs typeface="Arial"/>
              </a:rPr>
              <a:t>y3 = 1</a:t>
            </a:r>
          </a:p>
        </p:txBody>
      </p:sp>
      <p:sp>
        <p:nvSpPr>
          <p:cNvPr id="7" name="">
            <a:extLst xmlns:a="http://schemas.openxmlformats.org/drawingml/2006/main">
              <a:ext uri="{FF2B5EF4-FFF2-40B4-BE49-F238E27FC236}">
                <a16:creationId xmlns:a16="http://schemas.microsoft.com/office/drawing/2014/main" id="{D16B2195-4BFB-4494-ABD0-00BF9DAF6E64}"/>
              </a:ext>
            </a:extLst>
          </p:cNvPr>
          <p:cNvSpPr>
            <a:spLocks xmlns:a="http://schemas.openxmlformats.org/drawingml/2006/main" noGrp="1"/>
          </p:cNvSpPr>
          <p:nvPr/>
        </p:nvSpPr>
        <p:spPr>
          <a:xfrm xmlns:a="http://schemas.openxmlformats.org/drawingml/2006/main">
            <a:off x="762000" y="5143500"/>
            <a:ext cx="1066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73047"/>
                </a:solidFill>
                <a:latin typeface="Arial"/>
                <a:ea typeface="Arial"/>
                <a:cs typeface="Arial"/>
              </a:defRPr>
            </a:defPPr>
          </a:lstStyle>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Заявка: y1 + y3 = 3,  y1 + 2y2 = 2</a:t>
            </a:r>
          </a:p>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Мета: min(y1 + y2 + y3), y ≥ 0 та цілі</a:t>
            </a:r>
          </a:p>
        </p:txBody>
      </p:sp>
    </p:spTree>
    <p:extLst>
      <p:ext uri="{BB962C8B-B14F-4D97-AF65-F5344CB8AC3E}">
        <p14:creationId xmlns:p14="http://schemas.microsoft.com/office/powerpoint/2010/main" val="5714534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56C7F3-DC71-4674-97BB-29EF23ED17C6}"/>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Клас моделі та метод розв’язання</a:t>
            </a:r>
          </a:p>
        </p:txBody>
      </p:sp>
      <p:sp>
        <p:nvSpPr>
          <p:cNvPr id="2" name="">
            <a:extLst xmlns:a="http://schemas.openxmlformats.org/drawingml/2006/main">
              <a:ext uri="{FF2B5EF4-FFF2-40B4-BE49-F238E27FC236}">
                <a16:creationId xmlns:a16="http://schemas.microsoft.com/office/drawing/2014/main" id="{3793C231-F4C3-485C-82CC-C339E832480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Динамічне програмування також може розв’язувати дискретні задачі.</a:t>
            </a:r>
          </a:p>
        </p:txBody>
      </p:sp>
      <p:sp>
        <p:nvSpPr>
          <p:cNvPr id="3" name="">
            <a:extLst xmlns:a="http://schemas.openxmlformats.org/drawingml/2006/main">
              <a:ext uri="{FF2B5EF4-FFF2-40B4-BE49-F238E27FC236}">
                <a16:creationId xmlns:a16="http://schemas.microsoft.com/office/drawing/2014/main" id="{8E071042-2726-4A1B-A5B4-3629C5BC0C4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BECA7EA0-5896-468C-B19D-4CE0F8D4A8B4}"/>
              </a:ext>
            </a:extLst>
          </p:cNvPr>
          <p:cNvGraphicFramePr/>
          <p:nvPr/>
        </p:nvGraphicFramePr>
        <p:xfrm>
          <a:off xmlns:a="http://schemas.openxmlformats.org/drawingml/2006/main" x="762000" y="1571625"/>
          <a:ext xmlns:a="http://schemas.openxmlformats.org/drawingml/2006/main" cx="10668000" cy="3905250"/>
        </p:xfrm>
        <a:graphic xmlns:a="http://schemas.openxmlformats.org/drawingml/2006/main">
          <a:graphicData uri="http://schemas.openxmlformats.org/drawingml/2006/table">
            <a:tbl>
              <a:tblPr/>
              <a:tblGrid>
                <a:gridCol w="4000500"/>
                <a:gridCol w="6667500"/>
              </a:tblGrid>
              <a:tr h="781050">
                <a:tc>
                  <a:txBody>
                    <a:bodyPr/>
                    <a:lstStyle/>
                    <a:p>
                      <a:r>
                        <a:rPr sz="2250" b="1">
                          <a:solidFill>
                            <a:srgbClr val="FFFFFF"/>
                          </a:solidFill>
                          <a:latin typeface="Arial"/>
                          <a:ea typeface="Arial"/>
                          <a:cs typeface="Arial"/>
                        </a:rPr>
                        <a:t>Назва</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Що означає</a:t>
                      </a:r>
                    </a:p>
                  </a:txBody>
                  <a:tcPr marL="114300" marR="114300" marT="66675" marB="66675" anchor="ctr">
                    <a:solidFill>
                      <a:srgbClr val="173047"/>
                    </a:solidFill>
                  </a:tcPr>
                </a:tc>
              </a:tr>
              <a:tr h="781050">
                <a:tc>
                  <a:txBody>
                    <a:bodyPr/>
                    <a:lstStyle/>
                    <a:p>
                      <a:r>
                        <a:rPr sz="2250">
                          <a:solidFill>
                            <a:srgbClr val="173047"/>
                          </a:solidFill>
                          <a:latin typeface="Arial"/>
                          <a:ea typeface="Arial"/>
                          <a:cs typeface="Arial"/>
                        </a:rPr>
                        <a:t>Дискретне програмування</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Клас задач з окремими варіантами рішень</a:t>
                      </a:r>
                    </a:p>
                  </a:txBody>
                  <a:tcPr marL="114300" marR="114300" marT="66675" marB="66675" anchor="ctr">
                    <a:solidFill>
                      <a:srgbClr val="FFFFFF"/>
                    </a:solidFill>
                  </a:tcPr>
                </a:tc>
              </a:tr>
              <a:tr h="781050">
                <a:tc>
                  <a:txBody>
                    <a:bodyPr/>
                    <a:lstStyle/>
                    <a:p>
                      <a:r>
                        <a:rPr sz="2250">
                          <a:solidFill>
                            <a:srgbClr val="173047"/>
                          </a:solidFill>
                          <a:latin typeface="Arial"/>
                          <a:ea typeface="Arial"/>
                          <a:cs typeface="Arial"/>
                        </a:rPr>
                        <a:t>Цілочисельне ЛП</a:t>
                      </a:r>
                    </a:p>
                  </a:txBody>
                  <a:tcPr marL="114300" marR="114300" marT="66675" marB="66675" anchor="ctr">
                    <a:solidFill>
                      <a:srgbClr val="F1F5F8"/>
                    </a:solidFill>
                  </a:tcPr>
                </a:tc>
                <a:tc>
                  <a:txBody>
                    <a:bodyPr/>
                    <a:lstStyle/>
                    <a:p>
                      <a:r>
                        <a:rPr sz="2250">
                          <a:solidFill>
                            <a:srgbClr val="173047"/>
                          </a:solidFill>
                          <a:latin typeface="Arial"/>
                          <a:ea typeface="Arial"/>
                          <a:cs typeface="Arial"/>
                        </a:rPr>
                        <a:t>Лінійна модель, усі змінні цілі</a:t>
                      </a:r>
                    </a:p>
                  </a:txBody>
                  <a:tcPr marL="114300" marR="114300" marT="66675" marB="66675" anchor="ctr">
                    <a:solidFill>
                      <a:srgbClr val="F1F5F8"/>
                    </a:solidFill>
                  </a:tcPr>
                </a:tc>
              </a:tr>
              <a:tr h="781050">
                <a:tc>
                  <a:txBody>
                    <a:bodyPr/>
                    <a:lstStyle/>
                    <a:p>
                      <a:r>
                        <a:rPr sz="2250">
                          <a:solidFill>
                            <a:srgbClr val="173047"/>
                          </a:solidFill>
                          <a:latin typeface="Arial"/>
                          <a:ea typeface="Arial"/>
                          <a:cs typeface="Arial"/>
                        </a:rPr>
                        <a:t>Змішане цілочисельне ЛП</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Лінійна модель, частина змінних ціла</a:t>
                      </a:r>
                    </a:p>
                  </a:txBody>
                  <a:tcPr marL="114300" marR="114300" marT="66675" marB="66675" anchor="ctr">
                    <a:solidFill>
                      <a:srgbClr val="FFFFFF"/>
                    </a:solidFill>
                  </a:tcPr>
                </a:tc>
              </a:tr>
              <a:tr h="781050">
                <a:tc>
                  <a:txBody>
                    <a:bodyPr/>
                    <a:lstStyle/>
                    <a:p>
                      <a:r>
                        <a:rPr sz="2250">
                          <a:solidFill>
                            <a:srgbClr val="173047"/>
                          </a:solidFill>
                          <a:latin typeface="Arial"/>
                          <a:ea typeface="Arial"/>
                          <a:cs typeface="Arial"/>
                        </a:rPr>
                        <a:t>Динамічне програмування</a:t>
                      </a:r>
                    </a:p>
                  </a:txBody>
                  <a:tcPr marL="114300" marR="114300" marT="66675" marB="66675" anchor="ctr">
                    <a:solidFill>
                      <a:srgbClr val="F1F5F8"/>
                    </a:solidFill>
                  </a:tcPr>
                </a:tc>
                <a:tc>
                  <a:txBody>
                    <a:bodyPr/>
                    <a:lstStyle/>
                    <a:p>
                      <a:r>
                        <a:rPr sz="2250">
                          <a:solidFill>
                            <a:srgbClr val="173047"/>
                          </a:solidFill>
                          <a:latin typeface="Arial"/>
                          <a:ea typeface="Arial"/>
                          <a:cs typeface="Arial"/>
                        </a:rPr>
                        <a:t>Метод зі станами та збереженням підзадач</a:t>
                      </a:r>
                    </a:p>
                  </a:txBody>
                  <a:tcPr marL="114300" marR="114300" marT="66675" marB="66675" anchor="ctr">
                    <a:solidFill>
                      <a:srgbClr val="F1F5F8"/>
                    </a:solidFill>
                  </a:tcPr>
                </a:tc>
              </a:tr>
            </a:tbl>
          </a:graphicData>
        </a:graphic>
      </p:graphicFrame>
    </p:spTree>
    <p:extLst>
      <p:ext uri="{BB962C8B-B14F-4D97-AF65-F5344CB8AC3E}">
        <p14:creationId xmlns:p14="http://schemas.microsoft.com/office/powerpoint/2010/main" val="4894116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7969EE-1F36-4F9A-B02A-BEF4882CB5FB}"/>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Приклад 1. Кількість екземплярів VM</a:t>
            </a:r>
          </a:p>
        </p:txBody>
      </p:sp>
      <p:sp>
        <p:nvSpPr>
          <p:cNvPr id="2" name="">
            <a:extLst xmlns:a="http://schemas.openxmlformats.org/drawingml/2006/main">
              <a:ext uri="{FF2B5EF4-FFF2-40B4-BE49-F238E27FC236}">
                <a16:creationId xmlns:a16="http://schemas.microsoft.com/office/drawing/2014/main" id="{7EF301C4-B7C3-43E9-9F30-EA208466EDD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Потрібно щонайменше 11 vCPU. Частину VM придбати не можна.</a:t>
            </a:r>
          </a:p>
        </p:txBody>
      </p:sp>
      <p:sp>
        <p:nvSpPr>
          <p:cNvPr id="3" name="">
            <a:extLst xmlns:a="http://schemas.openxmlformats.org/drawingml/2006/main">
              <a:ext uri="{FF2B5EF4-FFF2-40B4-BE49-F238E27FC236}">
                <a16:creationId xmlns:a16="http://schemas.microsoft.com/office/drawing/2014/main" id="{2957EC1C-D18A-4F6B-9CA9-1483F00271A3}"/>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21</a:t>
            </a:r>
          </a:p>
        </p:txBody>
      </p:sp>
      <p:graphicFrame>
        <p:nvGraphicFramePr>
          <p:cNvPr id="4" name="">
            <a:extLst xmlns:a="http://schemas.openxmlformats.org/drawingml/2006/main">
              <a:ext uri="{FF2B5EF4-FFF2-40B4-BE49-F238E27FC236}">
                <a16:creationId xmlns:a16="http://schemas.microsoft.com/office/drawing/2014/main" id="{776820FC-C9E5-4CEF-A1B0-2005CDE39010}"/>
              </a:ext>
            </a:extLst>
          </p:cNvPr>
          <p:cNvGraphicFramePr/>
          <p:nvPr/>
        </p:nvGraphicFramePr>
        <p:xfrm>
          <a:off xmlns:a="http://schemas.openxmlformats.org/drawingml/2006/main" x="762000" y="1714500"/>
          <a:ext xmlns:a="http://schemas.openxmlformats.org/drawingml/2006/main" cx="10668000" cy="2571750"/>
        </p:xfrm>
        <a:graphic xmlns:a="http://schemas.openxmlformats.org/drawingml/2006/main">
          <a:graphicData uri="http://schemas.openxmlformats.org/drawingml/2006/table">
            <a:tbl>
              <a:tblPr/>
              <a:tblGrid>
                <a:gridCol w="2381250"/>
                <a:gridCol w="2381250"/>
                <a:gridCol w="3524250"/>
                <a:gridCol w="2381250"/>
              </a:tblGrid>
              <a:tr h="857250">
                <a:tc>
                  <a:txBody>
                    <a:bodyPr/>
                    <a:lstStyle/>
                    <a:p>
                      <a:r>
                        <a:rPr sz="2550" b="1">
                          <a:solidFill>
                            <a:srgbClr val="FFFFFF"/>
                          </a:solidFill>
                          <a:latin typeface="Arial"/>
                          <a:ea typeface="Arial"/>
                          <a:cs typeface="Arial"/>
                        </a:rPr>
                        <a:t>Тип</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vCPU</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Вартість / год</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Доступно</a:t>
                      </a:r>
                    </a:p>
                  </a:txBody>
                  <a:tcPr marL="114300" marR="114300" marT="66675" marB="66675" anchor="ctr">
                    <a:solidFill>
                      <a:srgbClr val="173047"/>
                    </a:solidFill>
                  </a:tcPr>
                </a:tc>
              </a:tr>
              <a:tr h="857250">
                <a:tc>
                  <a:txBody>
                    <a:bodyPr/>
                    <a:lstStyle/>
                    <a:p>
                      <a:r>
                        <a:rPr sz="2550">
                          <a:solidFill>
                            <a:srgbClr val="173047"/>
                          </a:solidFill>
                          <a:latin typeface="Arial"/>
                          <a:ea typeface="Arial"/>
                          <a:cs typeface="Arial"/>
                        </a:rPr>
                        <a:t>A</a:t>
                      </a:r>
                    </a:p>
                  </a:txBody>
                  <a:tcPr marL="114300" marR="114300" marT="66675" marB="66675" anchor="ctr">
                    <a:solidFill>
                      <a:srgbClr val="FFFFFF"/>
                    </a:solidFill>
                  </a:tcPr>
                </a:tc>
                <a:tc>
                  <a:txBody>
                    <a:bodyPr/>
                    <a:lstStyle/>
                    <a:p>
                      <a:r>
                        <a:rPr sz="2550">
                          <a:solidFill>
                            <a:srgbClr val="173047"/>
                          </a:solidFill>
                          <a:latin typeface="Arial"/>
                          <a:ea typeface="Arial"/>
                          <a:cs typeface="Arial"/>
                        </a:rPr>
                        <a:t>3</a:t>
                      </a:r>
                    </a:p>
                  </a:txBody>
                  <a:tcPr marL="114300" marR="114300" marT="66675" marB="66675" anchor="ctr">
                    <a:solidFill>
                      <a:srgbClr val="FFFFFF"/>
                    </a:solidFill>
                  </a:tcPr>
                </a:tc>
                <a:tc>
                  <a:txBody>
                    <a:bodyPr/>
                    <a:lstStyle/>
                    <a:p>
                      <a:r>
                        <a:rPr sz="2550">
                          <a:solidFill>
                            <a:srgbClr val="173047"/>
                          </a:solidFill>
                          <a:latin typeface="Arial"/>
                          <a:ea typeface="Arial"/>
                          <a:cs typeface="Arial"/>
                        </a:rPr>
                        <a:t>5</a:t>
                      </a:r>
                    </a:p>
                  </a:txBody>
                  <a:tcPr marL="114300" marR="114300" marT="66675" marB="66675" anchor="ctr">
                    <a:solidFill>
                      <a:srgbClr val="FFFFFF"/>
                    </a:solidFill>
                  </a:tcPr>
                </a:tc>
                <a:tc>
                  <a:txBody>
                    <a:bodyPr/>
                    <a:lstStyle/>
                    <a:p>
                      <a:r>
                        <a:rPr sz="2550">
                          <a:solidFill>
                            <a:srgbClr val="173047"/>
                          </a:solidFill>
                          <a:latin typeface="Arial"/>
                          <a:ea typeface="Arial"/>
                          <a:cs typeface="Arial"/>
                        </a:rPr>
                        <a:t>До 4</a:t>
                      </a:r>
                    </a:p>
                  </a:txBody>
                  <a:tcPr marL="114300" marR="114300" marT="66675" marB="66675" anchor="ctr">
                    <a:solidFill>
                      <a:srgbClr val="FFFFFF"/>
                    </a:solidFill>
                  </a:tcPr>
                </a:tc>
              </a:tr>
              <a:tr h="857250">
                <a:tc>
                  <a:txBody>
                    <a:bodyPr/>
                    <a:lstStyle/>
                    <a:p>
                      <a:r>
                        <a:rPr sz="2550">
                          <a:solidFill>
                            <a:srgbClr val="173047"/>
                          </a:solidFill>
                          <a:latin typeface="Arial"/>
                          <a:ea typeface="Arial"/>
                          <a:cs typeface="Arial"/>
                        </a:rPr>
                        <a:t>B</a:t>
                      </a:r>
                    </a:p>
                  </a:txBody>
                  <a:tcPr marL="114300" marR="114300" marT="66675" marB="66675" anchor="ctr">
                    <a:solidFill>
                      <a:srgbClr val="F1F5F8"/>
                    </a:solidFill>
                  </a:tcPr>
                </a:tc>
                <a:tc>
                  <a:txBody>
                    <a:bodyPr/>
                    <a:lstStyle/>
                    <a:p>
                      <a:r>
                        <a:rPr sz="2550">
                          <a:solidFill>
                            <a:srgbClr val="173047"/>
                          </a:solidFill>
                          <a:latin typeface="Arial"/>
                          <a:ea typeface="Arial"/>
                          <a:cs typeface="Arial"/>
                        </a:rPr>
                        <a:t>5</a:t>
                      </a:r>
                    </a:p>
                  </a:txBody>
                  <a:tcPr marL="114300" marR="114300" marT="66675" marB="66675" anchor="ctr">
                    <a:solidFill>
                      <a:srgbClr val="F1F5F8"/>
                    </a:solidFill>
                  </a:tcPr>
                </a:tc>
                <a:tc>
                  <a:txBody>
                    <a:bodyPr/>
                    <a:lstStyle/>
                    <a:p>
                      <a:r>
                        <a:rPr sz="2550">
                          <a:solidFill>
                            <a:srgbClr val="173047"/>
                          </a:solidFill>
                          <a:latin typeface="Arial"/>
                          <a:ea typeface="Arial"/>
                          <a:cs typeface="Arial"/>
                        </a:rPr>
                        <a:t>8</a:t>
                      </a:r>
                    </a:p>
                  </a:txBody>
                  <a:tcPr marL="114300" marR="114300" marT="66675" marB="66675" anchor="ctr">
                    <a:solidFill>
                      <a:srgbClr val="F1F5F8"/>
                    </a:solidFill>
                  </a:tcPr>
                </a:tc>
                <a:tc>
                  <a:txBody>
                    <a:bodyPr/>
                    <a:lstStyle/>
                    <a:p>
                      <a:r>
                        <a:rPr sz="2550">
                          <a:solidFill>
                            <a:srgbClr val="173047"/>
                          </a:solidFill>
                          <a:latin typeface="Arial"/>
                          <a:ea typeface="Arial"/>
                          <a:cs typeface="Arial"/>
                        </a:rPr>
                        <a:t>До 3</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DE3DF682-048B-4C76-A149-0EBE3FBF086B}"/>
              </a:ext>
            </a:extLst>
          </p:cNvPr>
          <p:cNvSpPr>
            <a:spLocks xmlns:a="http://schemas.openxmlformats.org/drawingml/2006/main" noGrp="1"/>
          </p:cNvSpPr>
          <p:nvPr/>
        </p:nvSpPr>
        <p:spPr>
          <a:xfrm xmlns:a="http://schemas.openxmlformats.org/drawingml/2006/main">
            <a:off x="762000" y="46863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Рішення: скільки екземплярів A і B запустити?</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Критерій: найменша сумарна вартість.</a:t>
            </a:r>
          </a:p>
        </p:txBody>
      </p:sp>
    </p:spTree>
    <p:extLst>
      <p:ext uri="{BB962C8B-B14F-4D97-AF65-F5344CB8AC3E}">
        <p14:creationId xmlns:p14="http://schemas.microsoft.com/office/powerpoint/2010/main" val="3144500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DE1E81-3AE0-41C3-A562-5651A288390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VM: конкретна математична модель</a:t>
            </a:r>
          </a:p>
        </p:txBody>
      </p:sp>
      <p:sp>
        <p:nvSpPr>
          <p:cNvPr id="2" name="">
            <a:extLst xmlns:a="http://schemas.openxmlformats.org/drawingml/2006/main">
              <a:ext uri="{FF2B5EF4-FFF2-40B4-BE49-F238E27FC236}">
                <a16:creationId xmlns:a16="http://schemas.microsoft.com/office/drawing/2014/main" id="{CD349349-9923-44A5-819D-487E1372876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Кожне обмеження має фізичний зміст.</a:t>
            </a:r>
          </a:p>
        </p:txBody>
      </p:sp>
      <p:sp>
        <p:nvSpPr>
          <p:cNvPr id="3" name="">
            <a:extLst xmlns:a="http://schemas.openxmlformats.org/drawingml/2006/main">
              <a:ext uri="{FF2B5EF4-FFF2-40B4-BE49-F238E27FC236}">
                <a16:creationId xmlns:a16="http://schemas.microsoft.com/office/drawing/2014/main" id="{C193F978-5198-42A2-92BD-965E23611B01}"/>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22</a:t>
            </a:r>
          </a:p>
        </p:txBody>
      </p:sp>
      <p:sp>
        <p:nvSpPr>
          <p:cNvPr id="10" name="">
            <a:extLst xmlns:a="http://schemas.openxmlformats.org/drawingml/2006/main">
              <a:ext uri="{FF2B5EF4-FFF2-40B4-BE49-F238E27FC236}">
                <a16:creationId xmlns:a16="http://schemas.microsoft.com/office/drawing/2014/main" id="{71829C00-4461-4A28-A9E5-6E6B5CFE719B}"/>
              </a:ext>
            </a:extLst>
          </p:cNvPr>
          <p:cNvSpPr>
            <a:spLocks xmlns:a="http://schemas.openxmlformats.org/drawingml/2006/main" noGrp="1"/>
          </p:cNvSpPr>
          <p:nvPr/>
        </p:nvSpPr>
        <p:spPr>
          <a:xfrm xmlns:a="http://schemas.openxmlformats.org/drawingml/2006/main">
            <a:off x="762000" y="14573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xA, xB: кількості екземплярів A та B</a:t>
            </a:r>
          </a:p>
        </p:txBody>
      </p:sp>
      <p:sp>
        <p:nvSpPr>
          <p:cNvPr id="11" name="">
            <a:extLst xmlns:a="http://schemas.openxmlformats.org/drawingml/2006/main">
              <a:ext uri="{FF2B5EF4-FFF2-40B4-BE49-F238E27FC236}">
                <a16:creationId xmlns:a16="http://schemas.microsoft.com/office/drawing/2014/main" id="{27CE2DFA-D933-4F1A-A9AF-42B2C91B8688}"/>
              </a:ext>
            </a:extLst>
          </p:cNvPr>
          <p:cNvSpPr>
            <a:spLocks xmlns:a="http://schemas.openxmlformats.org/drawingml/2006/main" noGrp="1"/>
          </p:cNvSpPr>
          <p:nvPr/>
        </p:nvSpPr>
        <p:spPr>
          <a:xfrm xmlns:a="http://schemas.openxmlformats.org/drawingml/2006/main">
            <a:off x="762000" y="2314575"/>
            <a:ext cx="5476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00857D"/>
                </a:solidFill>
                <a:latin typeface="Arial"/>
                <a:ea typeface="Arial"/>
                <a:cs typeface="Arial"/>
              </a:defRPr>
            </a:defPPr>
          </a:lstStyle>
          <a:p xmlns:a="http://schemas.openxmlformats.org/drawingml/2006/main">
            <a:pPr algn="l">
              <a:buNone/>
              <a:defRPr sz="3225" b="1">
                <a:solidFill>
                  <a:srgbClr val="00857D"/>
                </a:solidFill>
                <a:latin typeface="Arial"/>
                <a:ea typeface="Arial"/>
                <a:cs typeface="Arial"/>
              </a:defRPr>
            </a:pPr>
            <a:r>
              <a:rPr sz="3225" b="1">
                <a:solidFill>
                  <a:srgbClr val="00857D"/>
                </a:solidFill>
                <a:latin typeface="Arial"/>
                <a:ea typeface="Arial"/>
                <a:cs typeface="Arial"/>
              </a:rPr>
              <a:t>min C = 5xA + 8xB</a:t>
            </a:r>
          </a:p>
        </p:txBody>
      </p:sp>
      <p:sp>
        <p:nvSpPr>
          <p:cNvPr id="12" name="">
            <a:extLst xmlns:a="http://schemas.openxmlformats.org/drawingml/2006/main">
              <a:ext uri="{FF2B5EF4-FFF2-40B4-BE49-F238E27FC236}">
                <a16:creationId xmlns:a16="http://schemas.microsoft.com/office/drawing/2014/main" id="{3185F61B-F24A-4908-8E11-F717C26554C8}"/>
              </a:ext>
            </a:extLst>
          </p:cNvPr>
          <p:cNvSpPr>
            <a:spLocks xmlns:a="http://schemas.openxmlformats.org/drawingml/2006/main" noGrp="1"/>
          </p:cNvSpPr>
          <p:nvPr/>
        </p:nvSpPr>
        <p:spPr>
          <a:xfrm xmlns:a="http://schemas.openxmlformats.org/drawingml/2006/main">
            <a:off x="6715125" y="23812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Найменша вартість за годину</a:t>
            </a:r>
          </a:p>
        </p:txBody>
      </p:sp>
      <p:sp>
        <p:nvSpPr>
          <p:cNvPr id="13" name="">
            <a:extLst xmlns:a="http://schemas.openxmlformats.org/drawingml/2006/main">
              <a:ext uri="{FF2B5EF4-FFF2-40B4-BE49-F238E27FC236}">
                <a16:creationId xmlns:a16="http://schemas.microsoft.com/office/drawing/2014/main" id="{B0676075-3DE9-4BC7-8B2B-4BF17E0FD132}"/>
              </a:ext>
            </a:extLst>
          </p:cNvPr>
          <p:cNvSpPr>
            <a:spLocks xmlns:a="http://schemas.openxmlformats.org/drawingml/2006/main" noGrp="1"/>
          </p:cNvSpPr>
          <p:nvPr/>
        </p:nvSpPr>
        <p:spPr>
          <a:xfrm xmlns:a="http://schemas.openxmlformats.org/drawingml/2006/main">
            <a:off x="762000" y="3276600"/>
            <a:ext cx="5476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225" b="1">
                <a:solidFill>
                  <a:srgbClr val="173047"/>
                </a:solidFill>
                <a:latin typeface="Arial"/>
                <a:ea typeface="Arial"/>
                <a:cs typeface="Arial"/>
              </a:defRPr>
            </a:defPPr>
          </a:lstStyle>
          <a:p xmlns:a="http://schemas.openxmlformats.org/drawingml/2006/main">
            <a:pPr algn="l">
              <a:buNone/>
              <a:defRPr sz="3225" b="1">
                <a:solidFill>
                  <a:srgbClr val="173047"/>
                </a:solidFill>
                <a:latin typeface="Arial"/>
                <a:ea typeface="Arial"/>
                <a:cs typeface="Arial"/>
              </a:defRPr>
            </a:pPr>
            <a:r>
              <a:rPr sz="3225" b="1">
                <a:solidFill>
                  <a:srgbClr val="173047"/>
                </a:solidFill>
                <a:latin typeface="Arial"/>
                <a:ea typeface="Arial"/>
                <a:cs typeface="Arial"/>
              </a:rPr>
              <a:t>3xA + 5xB ≥ 11</a:t>
            </a:r>
          </a:p>
        </p:txBody>
      </p:sp>
      <p:sp>
        <p:nvSpPr>
          <p:cNvPr id="14" name="">
            <a:extLst xmlns:a="http://schemas.openxmlformats.org/drawingml/2006/main">
              <a:ext uri="{FF2B5EF4-FFF2-40B4-BE49-F238E27FC236}">
                <a16:creationId xmlns:a16="http://schemas.microsoft.com/office/drawing/2014/main" id="{F90261AD-2A1B-4CFF-A0CF-5B155E216B3F}"/>
              </a:ext>
            </a:extLst>
          </p:cNvPr>
          <p:cNvSpPr>
            <a:spLocks xmlns:a="http://schemas.openxmlformats.org/drawingml/2006/main" noGrp="1"/>
          </p:cNvSpPr>
          <p:nvPr/>
        </p:nvSpPr>
        <p:spPr>
          <a:xfrm xmlns:a="http://schemas.openxmlformats.org/drawingml/2006/main">
            <a:off x="6715125" y="33528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566779"/>
                </a:solidFill>
                <a:latin typeface="Arial"/>
                <a:ea typeface="Arial"/>
                <a:cs typeface="Arial"/>
              </a:defRPr>
            </a:defPPr>
          </a:lstStyle>
          <a:p xmlns:a="http://schemas.openxmlformats.org/drawingml/2006/main">
            <a:pPr algn="l">
              <a:buNone/>
              <a:defRPr sz="2400" b="0">
                <a:solidFill>
                  <a:srgbClr val="566779"/>
                </a:solidFill>
                <a:latin typeface="Arial"/>
                <a:ea typeface="Arial"/>
                <a:cs typeface="Arial"/>
              </a:defRPr>
            </a:pPr>
            <a:r>
              <a:rPr sz="2400" b="0">
                <a:solidFill>
                  <a:srgbClr val="566779"/>
                </a:solidFill>
                <a:latin typeface="Arial"/>
                <a:ea typeface="Arial"/>
                <a:cs typeface="Arial"/>
              </a:rPr>
              <a:t>Щонайменше 11 vCPU</a:t>
            </a:r>
          </a:p>
        </p:txBody>
      </p:sp>
      <p:sp>
        <p:nvSpPr>
          <p:cNvPr id="15" name="">
            <a:extLst xmlns:a="http://schemas.openxmlformats.org/drawingml/2006/main">
              <a:ext uri="{FF2B5EF4-FFF2-40B4-BE49-F238E27FC236}">
                <a16:creationId xmlns:a16="http://schemas.microsoft.com/office/drawing/2014/main" id="{1811D642-92DE-421E-BD02-F0A6C82EA307}"/>
              </a:ext>
            </a:extLst>
          </p:cNvPr>
          <p:cNvSpPr>
            <a:spLocks xmlns:a="http://schemas.openxmlformats.org/drawingml/2006/main" noGrp="1"/>
          </p:cNvSpPr>
          <p:nvPr/>
        </p:nvSpPr>
        <p:spPr>
          <a:xfrm xmlns:a="http://schemas.openxmlformats.org/drawingml/2006/main">
            <a:off x="762000" y="4276725"/>
            <a:ext cx="576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173047"/>
                </a:solidFill>
                <a:latin typeface="Arial"/>
                <a:ea typeface="Arial"/>
                <a:cs typeface="Arial"/>
              </a:defRPr>
            </a:defPPr>
          </a:lstStyle>
          <a:p xmlns:a="http://schemas.openxmlformats.org/drawingml/2006/main">
            <a:pPr algn="l">
              <a:buNone/>
              <a:defRPr sz="2625" b="0">
                <a:solidFill>
                  <a:srgbClr val="173047"/>
                </a:solidFill>
                <a:latin typeface="Arial"/>
                <a:ea typeface="Arial"/>
                <a:cs typeface="Arial"/>
              </a:defRPr>
            </a:pPr>
            <a:r>
              <a:rPr sz="2625" b="0">
                <a:solidFill>
                  <a:srgbClr val="173047"/>
                </a:solidFill>
                <a:latin typeface="Arial"/>
                <a:ea typeface="Arial"/>
                <a:cs typeface="Arial"/>
              </a:rPr>
              <a:t>0 ≤ xA ≤ 4,  0 ≤ xB ≤ 3</a:t>
            </a:r>
          </a:p>
        </p:txBody>
      </p:sp>
      <p:sp>
        <p:nvSpPr>
          <p:cNvPr id="16" name="">
            <a:extLst xmlns:a="http://schemas.openxmlformats.org/drawingml/2006/main">
              <a:ext uri="{FF2B5EF4-FFF2-40B4-BE49-F238E27FC236}">
                <a16:creationId xmlns:a16="http://schemas.microsoft.com/office/drawing/2014/main" id="{39DE0A1B-A8CC-4280-AE2A-8982C793064C}"/>
              </a:ext>
            </a:extLst>
          </p:cNvPr>
          <p:cNvSpPr>
            <a:spLocks xmlns:a="http://schemas.openxmlformats.org/drawingml/2006/main" noGrp="1"/>
          </p:cNvSpPr>
          <p:nvPr/>
        </p:nvSpPr>
        <p:spPr>
          <a:xfrm xmlns:a="http://schemas.openxmlformats.org/drawingml/2006/main">
            <a:off x="6715125" y="42862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Ліміти доступних VM</a:t>
            </a:r>
          </a:p>
        </p:txBody>
      </p:sp>
      <p:sp>
        <p:nvSpPr>
          <p:cNvPr id="17" name="">
            <a:extLst xmlns:a="http://schemas.openxmlformats.org/drawingml/2006/main">
              <a:ext uri="{FF2B5EF4-FFF2-40B4-BE49-F238E27FC236}">
                <a16:creationId xmlns:a16="http://schemas.microsoft.com/office/drawing/2014/main" id="{7178FBFB-E1C9-4693-8E49-BF1FD07626E6}"/>
              </a:ext>
            </a:extLst>
          </p:cNvPr>
          <p:cNvSpPr>
            <a:spLocks xmlns:a="http://schemas.openxmlformats.org/drawingml/2006/main" noGrp="1"/>
          </p:cNvSpPr>
          <p:nvPr/>
        </p:nvSpPr>
        <p:spPr>
          <a:xfrm xmlns:a="http://schemas.openxmlformats.org/drawingml/2006/main">
            <a:off x="762000" y="5172075"/>
            <a:ext cx="5762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2868AF"/>
                </a:solidFill>
                <a:latin typeface="Arial"/>
                <a:ea typeface="Arial"/>
                <a:cs typeface="Arial"/>
              </a:defRPr>
            </a:defPPr>
          </a:lstStyle>
          <a:p xmlns:a="http://schemas.openxmlformats.org/drawingml/2006/main">
            <a:pPr algn="l">
              <a:buNone/>
              <a:defRPr sz="2625" b="1">
                <a:solidFill>
                  <a:srgbClr val="2868AF"/>
                </a:solidFill>
                <a:latin typeface="Arial"/>
                <a:ea typeface="Arial"/>
                <a:cs typeface="Arial"/>
              </a:defRPr>
            </a:pPr>
            <a:r>
              <a:rPr sz="2625" b="1">
                <a:solidFill>
                  <a:srgbClr val="2868AF"/>
                </a:solidFill>
                <a:latin typeface="Arial"/>
                <a:ea typeface="Arial"/>
                <a:cs typeface="Arial"/>
              </a:rPr>
              <a:t>xA, xB ∈ {0, 1, 2, …}</a:t>
            </a:r>
          </a:p>
        </p:txBody>
      </p:sp>
      <p:sp>
        <p:nvSpPr>
          <p:cNvPr id="18" name="">
            <a:extLst xmlns:a="http://schemas.openxmlformats.org/drawingml/2006/main">
              <a:ext uri="{FF2B5EF4-FFF2-40B4-BE49-F238E27FC236}">
                <a16:creationId xmlns:a16="http://schemas.microsoft.com/office/drawing/2014/main" id="{306F547F-7961-4EF0-9312-A5F843D53C9B}"/>
              </a:ext>
            </a:extLst>
          </p:cNvPr>
          <p:cNvSpPr>
            <a:spLocks xmlns:a="http://schemas.openxmlformats.org/drawingml/2006/main" noGrp="1"/>
          </p:cNvSpPr>
          <p:nvPr/>
        </p:nvSpPr>
        <p:spPr>
          <a:xfrm xmlns:a="http://schemas.openxmlformats.org/drawingml/2006/main">
            <a:off x="6715125" y="5172075"/>
            <a:ext cx="4714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2868AF"/>
                </a:solidFill>
                <a:latin typeface="Arial"/>
                <a:ea typeface="Arial"/>
                <a:cs typeface="Arial"/>
              </a:defRPr>
            </a:defPPr>
          </a:lstStyle>
          <a:p xmlns:a="http://schemas.openxmlformats.org/drawingml/2006/main">
            <a:pPr algn="l">
              <a:buNone/>
              <a:defRPr sz="2250" b="0">
                <a:solidFill>
                  <a:srgbClr val="2868AF"/>
                </a:solidFill>
                <a:latin typeface="Arial"/>
                <a:ea typeface="Arial"/>
                <a:cs typeface="Arial"/>
              </a:defRPr>
            </a:pPr>
            <a:r>
              <a:rPr sz="2250" b="0">
                <a:solidFill>
                  <a:srgbClr val="2868AF"/>
                </a:solidFill>
                <a:latin typeface="Arial"/>
                <a:ea typeface="Arial"/>
                <a:cs typeface="Arial"/>
              </a:rPr>
              <a:t>Лише цілі екземпляри</a:t>
            </a:r>
          </a:p>
        </p:txBody>
      </p:sp>
    </p:spTree>
    <p:extLst>
      <p:ext uri="{BB962C8B-B14F-4D97-AF65-F5344CB8AC3E}">
        <p14:creationId xmlns:p14="http://schemas.microsoft.com/office/powerpoint/2010/main" val="9530453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E61E51-3A00-4757-A8AD-456263BBED8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VM: допустимі плани на графіку</a:t>
            </a:r>
          </a:p>
        </p:txBody>
      </p:sp>
      <p:sp>
        <p:nvSpPr>
          <p:cNvPr id="2" name="">
            <a:extLst xmlns:a="http://schemas.openxmlformats.org/drawingml/2006/main">
              <a:ext uri="{FF2B5EF4-FFF2-40B4-BE49-F238E27FC236}">
                <a16:creationId xmlns:a16="http://schemas.microsoft.com/office/drawing/2014/main" id="{5DD57545-65B9-4C5E-929B-2A0FF4FECBF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Цілі плани лежать на сітці. Найдешевший із них: (2,1), C = 18.</a:t>
            </a:r>
          </a:p>
        </p:txBody>
      </p:sp>
      <p:sp>
        <p:nvSpPr>
          <p:cNvPr id="3" name="">
            <a:extLst xmlns:a="http://schemas.openxmlformats.org/drawingml/2006/main">
              <a:ext uri="{FF2B5EF4-FFF2-40B4-BE49-F238E27FC236}">
                <a16:creationId xmlns:a16="http://schemas.microsoft.com/office/drawing/2014/main" id="{3DCC004F-5766-4C89-B891-3F6236708F6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23</a:t>
            </a:r>
          </a:p>
        </p:txBody>
      </p:sp>
      <p:graphicFrame>
        <p:nvGraphicFramePr>
          <p:cNvPr id="4" name="Chart">
            <a:extLst xmlns:a="http://schemas.openxmlformats.org/drawingml/2006/main">
              <a:ext uri="{FF2B5EF4-FFF2-40B4-BE49-F238E27FC236}">
                <a16:creationId xmlns:a16="http://schemas.microsoft.com/office/drawing/2014/main" id="{F4431602-AC05-44A7-AD35-B0C420336A8A}"/>
              </a:ext>
            </a:extLst>
          </p:cNvPr>
          <p:cNvGraphicFramePr/>
          <p:nvPr/>
        </p:nvGraphicFramePr>
        <p:xfrm>
          <a:off xmlns:a="http://schemas.openxmlformats.org/drawingml/2006/main" x="619125" y="1466850"/>
          <a:ext xmlns:a="http://schemas.openxmlformats.org/drawingml/2006/main" cx="7381875" cy="4286250"/>
        </p:xfrm>
        <a:graphic xmlns:a="http://schemas.openxmlformats.org/drawingml/2006/main">
          <a:graphicData uri="http://schemas.openxmlformats.org/drawingml/2006/chart">
            <c:chart xmlns:r="http://schemas.openxmlformats.org/officeDocument/2006/relationships" xmlns:c="http://schemas.openxmlformats.org/drawingml/2006/chart" r:id="Rfff558fa033e45c6"/>
          </a:graphicData>
        </a:graphic>
      </p:graphicFrame>
      <p:sp>
        <p:nvSpPr>
          <p:cNvPr id="5" name="">
            <a:extLst xmlns:a="http://schemas.openxmlformats.org/drawingml/2006/main">
              <a:ext uri="{FF2B5EF4-FFF2-40B4-BE49-F238E27FC236}">
                <a16:creationId xmlns:a16="http://schemas.microsoft.com/office/drawing/2014/main" id="{B41CE859-BB27-401E-BBE0-5C6BF032B82C}"/>
              </a:ext>
            </a:extLst>
          </p:cNvPr>
          <p:cNvSpPr>
            <a:spLocks xmlns:a="http://schemas.openxmlformats.org/drawingml/2006/main" noGrp="1"/>
          </p:cNvSpPr>
          <p:nvPr/>
        </p:nvSpPr>
        <p:spPr>
          <a:xfrm xmlns:a="http://schemas.openxmlformats.org/drawingml/2006/main">
            <a:off x="4000500" y="4238625"/>
            <a:ext cx="319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73047"/>
                </a:solidFill>
                <a:latin typeface="Arial"/>
                <a:ea typeface="Arial"/>
                <a:cs typeface="Arial"/>
              </a:defRPr>
            </a:defPPr>
          </a:lstStyle>
          <a:p xmlns:a="http://schemas.openxmlformats.org/drawingml/2006/main">
            <a:pPr algn="l">
              <a:buNone/>
              <a:defRPr sz="2025" b="1">
                <a:solidFill>
                  <a:srgbClr val="173047"/>
                </a:solidFill>
                <a:latin typeface="Arial"/>
                <a:ea typeface="Arial"/>
                <a:cs typeface="Arial"/>
              </a:defRPr>
            </a:pPr>
            <a:r>
              <a:rPr sz="2025" b="1">
                <a:solidFill>
                  <a:srgbClr val="173047"/>
                </a:solidFill>
                <a:latin typeface="Arial"/>
                <a:ea typeface="Arial"/>
                <a:cs typeface="Arial"/>
              </a:rPr>
              <a:t>3xA + 5xB = 11</a:t>
            </a:r>
          </a:p>
        </p:txBody>
      </p:sp>
      <p:sp>
        <p:nvSpPr>
          <p:cNvPr id="6" name="">
            <a:extLst xmlns:a="http://schemas.openxmlformats.org/drawingml/2006/main">
              <a:ext uri="{FF2B5EF4-FFF2-40B4-BE49-F238E27FC236}">
                <a16:creationId xmlns:a16="http://schemas.microsoft.com/office/drawing/2014/main" id="{050042E2-1072-48C9-80D3-FC0D3E82BB84}"/>
              </a:ext>
            </a:extLst>
          </p:cNvPr>
          <p:cNvSpPr>
            <a:spLocks xmlns:a="http://schemas.openxmlformats.org/drawingml/2006/main" noGrp="1"/>
          </p:cNvSpPr>
          <p:nvPr/>
        </p:nvSpPr>
        <p:spPr>
          <a:xfrm xmlns:a="http://schemas.openxmlformats.org/drawingml/2006/main">
            <a:off x="4495800" y="2047875"/>
            <a:ext cx="319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857D"/>
                </a:solidFill>
                <a:latin typeface="Arial"/>
                <a:ea typeface="Arial"/>
                <a:cs typeface="Arial"/>
              </a:defRPr>
            </a:defPPr>
          </a:lstStyle>
          <a:p xmlns:a="http://schemas.openxmlformats.org/drawingml/2006/main">
            <a:pPr algn="l">
              <a:buNone/>
              <a:defRPr sz="2025" b="1">
                <a:solidFill>
                  <a:srgbClr val="00857D"/>
                </a:solidFill>
                <a:latin typeface="Arial"/>
                <a:ea typeface="Arial"/>
                <a:cs typeface="Arial"/>
              </a:defRPr>
            </a:pPr>
            <a:r>
              <a:rPr sz="2025" b="1">
                <a:solidFill>
                  <a:srgbClr val="00857D"/>
                </a:solidFill>
                <a:latin typeface="Arial"/>
                <a:ea typeface="Arial"/>
                <a:cs typeface="Arial"/>
              </a:rPr>
              <a:t>Допустимі цілі пари</a:t>
            </a:r>
          </a:p>
        </p:txBody>
      </p:sp>
      <p:sp>
        <p:nvSpPr>
          <p:cNvPr id="7" name="">
            <a:extLst xmlns:a="http://schemas.openxmlformats.org/drawingml/2006/main">
              <a:ext uri="{FF2B5EF4-FFF2-40B4-BE49-F238E27FC236}">
                <a16:creationId xmlns:a16="http://schemas.microsoft.com/office/drawing/2014/main" id="{A9609D1F-C930-4393-AF19-4FFC3A741424}"/>
              </a:ext>
            </a:extLst>
          </p:cNvPr>
          <p:cNvSpPr>
            <a:spLocks xmlns:a="http://schemas.openxmlformats.org/drawingml/2006/main" noGrp="1"/>
          </p:cNvSpPr>
          <p:nvPr/>
        </p:nvSpPr>
        <p:spPr>
          <a:xfrm xmlns:a="http://schemas.openxmlformats.org/drawingml/2006/main">
            <a:off x="8239125" y="15716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868AF"/>
                </a:solidFill>
                <a:latin typeface="Arial"/>
                <a:ea typeface="Arial"/>
                <a:cs typeface="Arial"/>
              </a:defRPr>
            </a:defPPr>
          </a:lstStyle>
          <a:p xmlns:a="http://schemas.openxmlformats.org/drawingml/2006/main">
            <a:pPr algn="l">
              <a:buNone/>
              <a:defRPr sz="2250" b="1">
                <a:solidFill>
                  <a:srgbClr val="2868AF"/>
                </a:solidFill>
                <a:latin typeface="Arial"/>
                <a:ea typeface="Arial"/>
                <a:cs typeface="Arial"/>
              </a:defRPr>
            </a:pPr>
            <a:r>
              <a:rPr sz="2250" b="1">
                <a:solidFill>
                  <a:srgbClr val="2868AF"/>
                </a:solidFill>
                <a:latin typeface="Arial"/>
                <a:ea typeface="Arial"/>
                <a:cs typeface="Arial"/>
              </a:rPr>
              <a:t>ЛП: (0,2.2)</a:t>
            </a:r>
          </a:p>
        </p:txBody>
      </p:sp>
      <p:sp>
        <p:nvSpPr>
          <p:cNvPr id="8" name="">
            <a:extLst xmlns:a="http://schemas.openxmlformats.org/drawingml/2006/main">
              <a:ext uri="{FF2B5EF4-FFF2-40B4-BE49-F238E27FC236}">
                <a16:creationId xmlns:a16="http://schemas.microsoft.com/office/drawing/2014/main" id="{5E50BB07-8ACB-4094-BB8D-C6DE6CB1FE4B}"/>
              </a:ext>
            </a:extLst>
          </p:cNvPr>
          <p:cNvSpPr>
            <a:spLocks xmlns:a="http://schemas.openxmlformats.org/drawingml/2006/main" noGrp="1"/>
          </p:cNvSpPr>
          <p:nvPr/>
        </p:nvSpPr>
        <p:spPr>
          <a:xfrm xmlns:a="http://schemas.openxmlformats.org/drawingml/2006/main">
            <a:off x="8239125" y="203835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66779"/>
                </a:solidFill>
                <a:latin typeface="Arial"/>
                <a:ea typeface="Arial"/>
                <a:cs typeface="Arial"/>
              </a:defRPr>
            </a:defPPr>
          </a:lstStyle>
          <a:p xmlns:a="http://schemas.openxmlformats.org/drawingml/2006/main">
            <a:pPr algn="l">
              <a:buNone/>
              <a:defRPr sz="2025" b="0">
                <a:solidFill>
                  <a:srgbClr val="566779"/>
                </a:solidFill>
                <a:latin typeface="Arial"/>
                <a:ea typeface="Arial"/>
                <a:cs typeface="Arial"/>
              </a:defRPr>
            </a:pPr>
            <a:r>
              <a:rPr sz="2025" b="0">
                <a:solidFill>
                  <a:srgbClr val="566779"/>
                </a:solidFill>
                <a:latin typeface="Arial"/>
                <a:ea typeface="Arial"/>
                <a:cs typeface="Arial"/>
              </a:rPr>
              <a:t>C = 17.6, дробова VM</a:t>
            </a:r>
          </a:p>
        </p:txBody>
      </p:sp>
      <p:sp>
        <p:nvSpPr>
          <p:cNvPr id="9" name="">
            <a:extLst xmlns:a="http://schemas.openxmlformats.org/drawingml/2006/main">
              <a:ext uri="{FF2B5EF4-FFF2-40B4-BE49-F238E27FC236}">
                <a16:creationId xmlns:a16="http://schemas.microsoft.com/office/drawing/2014/main" id="{71AF6507-36F6-45CE-B1A3-3A20EFC47357}"/>
              </a:ext>
            </a:extLst>
          </p:cNvPr>
          <p:cNvSpPr>
            <a:spLocks xmlns:a="http://schemas.openxmlformats.org/drawingml/2006/main" noGrp="1"/>
          </p:cNvSpPr>
          <p:nvPr/>
        </p:nvSpPr>
        <p:spPr>
          <a:xfrm xmlns:a="http://schemas.openxmlformats.org/drawingml/2006/main">
            <a:off x="8239125" y="26670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B64436"/>
                </a:solidFill>
                <a:latin typeface="Arial"/>
                <a:ea typeface="Arial"/>
                <a:cs typeface="Arial"/>
              </a:defRPr>
            </a:defPPr>
          </a:lstStyle>
          <a:p xmlns:a="http://schemas.openxmlformats.org/drawingml/2006/main">
            <a:pPr algn="l">
              <a:buNone/>
              <a:defRPr sz="2100" b="1">
                <a:solidFill>
                  <a:srgbClr val="B64436"/>
                </a:solidFill>
                <a:latin typeface="Arial"/>
                <a:ea typeface="Arial"/>
                <a:cs typeface="Arial"/>
              </a:defRPr>
            </a:pPr>
            <a:r>
              <a:rPr sz="2100" b="1">
                <a:solidFill>
                  <a:srgbClr val="B64436"/>
                </a:solidFill>
                <a:latin typeface="Arial"/>
                <a:ea typeface="Arial"/>
                <a:cs typeface="Arial"/>
              </a:rPr>
              <a:t>До найближчого: (0,2)</a:t>
            </a:r>
          </a:p>
        </p:txBody>
      </p:sp>
      <p:sp>
        <p:nvSpPr>
          <p:cNvPr id="10" name="">
            <a:extLst xmlns:a="http://schemas.openxmlformats.org/drawingml/2006/main">
              <a:ext uri="{FF2B5EF4-FFF2-40B4-BE49-F238E27FC236}">
                <a16:creationId xmlns:a16="http://schemas.microsoft.com/office/drawing/2014/main" id="{5FEA171E-1B4C-4915-BBB4-0ED938A25B21}"/>
              </a:ext>
            </a:extLst>
          </p:cNvPr>
          <p:cNvSpPr>
            <a:spLocks xmlns:a="http://schemas.openxmlformats.org/drawingml/2006/main" noGrp="1"/>
          </p:cNvSpPr>
          <p:nvPr/>
        </p:nvSpPr>
        <p:spPr>
          <a:xfrm xmlns:a="http://schemas.openxmlformats.org/drawingml/2006/main">
            <a:off x="8239125" y="33432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B64436"/>
                </a:solidFill>
                <a:latin typeface="Arial"/>
                <a:ea typeface="Arial"/>
                <a:cs typeface="Arial"/>
              </a:defRPr>
            </a:defPPr>
          </a:lstStyle>
          <a:p xmlns:a="http://schemas.openxmlformats.org/drawingml/2006/main">
            <a:pPr algn="l">
              <a:buNone/>
              <a:defRPr sz="2100" b="0">
                <a:solidFill>
                  <a:srgbClr val="B64436"/>
                </a:solidFill>
                <a:latin typeface="Arial"/>
                <a:ea typeface="Arial"/>
                <a:cs typeface="Arial"/>
              </a:defRPr>
            </a:pPr>
            <a:r>
              <a:rPr sz="2100" b="0">
                <a:solidFill>
                  <a:srgbClr val="B64436"/>
                </a:solidFill>
                <a:latin typeface="Arial"/>
                <a:ea typeface="Arial"/>
                <a:cs typeface="Arial"/>
              </a:rPr>
              <a:t>10 vCPU &lt; 11</a:t>
            </a:r>
          </a:p>
        </p:txBody>
      </p:sp>
      <p:sp>
        <p:nvSpPr>
          <p:cNvPr id="11" name="">
            <a:extLst xmlns:a="http://schemas.openxmlformats.org/drawingml/2006/main">
              <a:ext uri="{FF2B5EF4-FFF2-40B4-BE49-F238E27FC236}">
                <a16:creationId xmlns:a16="http://schemas.microsoft.com/office/drawing/2014/main" id="{B8E04470-4F36-4F69-8487-D88B8C463C87}"/>
              </a:ext>
            </a:extLst>
          </p:cNvPr>
          <p:cNvSpPr>
            <a:spLocks xmlns:a="http://schemas.openxmlformats.org/drawingml/2006/main" noGrp="1"/>
          </p:cNvSpPr>
          <p:nvPr/>
        </p:nvSpPr>
        <p:spPr>
          <a:xfrm xmlns:a="http://schemas.openxmlformats.org/drawingml/2006/main">
            <a:off x="8239125" y="400050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A96B00"/>
                </a:solidFill>
                <a:latin typeface="Arial"/>
                <a:ea typeface="Arial"/>
                <a:cs typeface="Arial"/>
              </a:defRPr>
            </a:defPPr>
          </a:lstStyle>
          <a:p xmlns:a="http://schemas.openxmlformats.org/drawingml/2006/main">
            <a:pPr algn="l">
              <a:buNone/>
              <a:defRPr sz="2100" b="1">
                <a:solidFill>
                  <a:srgbClr val="A96B00"/>
                </a:solidFill>
                <a:latin typeface="Arial"/>
                <a:ea typeface="Arial"/>
                <a:cs typeface="Arial"/>
              </a:defRPr>
            </a:pPr>
            <a:r>
              <a:rPr sz="2100" b="1">
                <a:solidFill>
                  <a:srgbClr val="A96B00"/>
                </a:solidFill>
                <a:latin typeface="Arial"/>
                <a:ea typeface="Arial"/>
                <a:cs typeface="Arial"/>
              </a:rPr>
              <a:t>Вгору: (0,3), C = 24</a:t>
            </a:r>
          </a:p>
        </p:txBody>
      </p:sp>
      <p:sp>
        <p:nvSpPr>
          <p:cNvPr id="12" name="">
            <a:extLst xmlns:a="http://schemas.openxmlformats.org/drawingml/2006/main">
              <a:ext uri="{FF2B5EF4-FFF2-40B4-BE49-F238E27FC236}">
                <a16:creationId xmlns:a16="http://schemas.microsoft.com/office/drawing/2014/main" id="{583AC182-A7D7-443A-9DC5-D0DF730C74AD}"/>
              </a:ext>
            </a:extLst>
          </p:cNvPr>
          <p:cNvSpPr>
            <a:spLocks xmlns:a="http://schemas.openxmlformats.org/drawingml/2006/main" noGrp="1"/>
          </p:cNvSpPr>
          <p:nvPr/>
        </p:nvSpPr>
        <p:spPr>
          <a:xfrm xmlns:a="http://schemas.openxmlformats.org/drawingml/2006/main">
            <a:off x="8239125" y="48768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Arial"/>
                <a:ea typeface="Arial"/>
                <a:cs typeface="Arial"/>
              </a:defRPr>
            </a:defPPr>
          </a:lstStyle>
          <a:p xmlns:a="http://schemas.openxmlformats.org/drawingml/2006/main">
            <a:pPr algn="l">
              <a:buNone/>
              <a:defRPr sz="2175" b="1">
                <a:solidFill>
                  <a:srgbClr val="00857D"/>
                </a:solidFill>
                <a:latin typeface="Arial"/>
                <a:ea typeface="Arial"/>
                <a:cs typeface="Arial"/>
              </a:defRPr>
            </a:pPr>
            <a:r>
              <a:rPr sz="2175" b="1">
                <a:solidFill>
                  <a:srgbClr val="00857D"/>
                </a:solidFill>
                <a:latin typeface="Arial"/>
                <a:ea typeface="Arial"/>
                <a:cs typeface="Arial"/>
              </a:rPr>
              <a:t>Цілий: (2,1), C = 18</a:t>
            </a:r>
          </a:p>
        </p:txBody>
      </p:sp>
    </p:spTree>
    <p:extLst>
      <p:ext uri="{BB962C8B-B14F-4D97-AF65-F5344CB8AC3E}">
        <p14:creationId xmlns:p14="http://schemas.microsoft.com/office/powerpoint/2010/main" val="2078689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9593B7-9920-4815-867B-3252A8FBE677}"/>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VM: чому округлення LP-плану не допомагає</a:t>
            </a:r>
          </a:p>
        </p:txBody>
      </p:sp>
      <p:sp>
        <p:nvSpPr>
          <p:cNvPr id="2" name="">
            <a:extLst xmlns:a="http://schemas.openxmlformats.org/drawingml/2006/main">
              <a:ext uri="{FF2B5EF4-FFF2-40B4-BE49-F238E27FC236}">
                <a16:creationId xmlns:a16="http://schemas.microsoft.com/office/drawing/2014/main" id="{27DB8507-6FE4-4EBC-8AE6-553893AA691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Точний цілий план: 2 екземпляри A та 1 екземпляр B.</a:t>
            </a:r>
          </a:p>
        </p:txBody>
      </p:sp>
      <p:sp>
        <p:nvSpPr>
          <p:cNvPr id="3" name="">
            <a:extLst xmlns:a="http://schemas.openxmlformats.org/drawingml/2006/main">
              <a:ext uri="{FF2B5EF4-FFF2-40B4-BE49-F238E27FC236}">
                <a16:creationId xmlns:a16="http://schemas.microsoft.com/office/drawing/2014/main" id="{8B404F02-D140-4754-AF26-5766F45084F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24</a:t>
            </a:r>
          </a:p>
        </p:txBody>
      </p:sp>
      <p:graphicFrame>
        <p:nvGraphicFramePr>
          <p:cNvPr id="4" name="">
            <a:extLst xmlns:a="http://schemas.openxmlformats.org/drawingml/2006/main">
              <a:ext uri="{FF2B5EF4-FFF2-40B4-BE49-F238E27FC236}">
                <a16:creationId xmlns:a16="http://schemas.microsoft.com/office/drawing/2014/main" id="{A551FBA2-B829-41CB-AA3A-B77F4A64AA19}"/>
              </a:ext>
            </a:extLst>
          </p:cNvPr>
          <p:cNvGraphicFramePr/>
          <p:nvPr/>
        </p:nvGraphicFramePr>
        <p:xfrm>
          <a:off xmlns:a="http://schemas.openxmlformats.org/drawingml/2006/main" x="762000" y="1552575"/>
          <a:ext xmlns:a="http://schemas.openxmlformats.org/drawingml/2006/main" cx="10668000" cy="3990975"/>
        </p:xfrm>
        <a:graphic xmlns:a="http://schemas.openxmlformats.org/drawingml/2006/main">
          <a:graphicData uri="http://schemas.openxmlformats.org/drawingml/2006/table">
            <a:tbl>
              <a:tblPr/>
              <a:tblGrid>
                <a:gridCol w="3143250"/>
                <a:gridCol w="2286000"/>
                <a:gridCol w="1428750"/>
                <a:gridCol w="1714500"/>
                <a:gridCol w="2095500"/>
              </a:tblGrid>
              <a:tr h="798195">
                <a:tc>
                  <a:txBody>
                    <a:bodyPr/>
                    <a:lstStyle/>
                    <a:p>
                      <a:r>
                        <a:rPr sz="2100" b="1">
                          <a:solidFill>
                            <a:srgbClr val="FFFFFF"/>
                          </a:solidFill>
                          <a:latin typeface="Arial"/>
                          <a:ea typeface="Arial"/>
                          <a:cs typeface="Arial"/>
                        </a:rPr>
                        <a:t>План</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(xA,xB)</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vCPU</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Вартість</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Виконано?</a:t>
                      </a:r>
                    </a:p>
                  </a:txBody>
                  <a:tcPr marL="114300" marR="114300" marT="66675" marB="66675" anchor="ctr">
                    <a:solidFill>
                      <a:srgbClr val="173047"/>
                    </a:solidFill>
                  </a:tcPr>
                </a:tc>
              </a:tr>
              <a:tr h="798195">
                <a:tc>
                  <a:txBody>
                    <a:bodyPr/>
                    <a:lstStyle/>
                    <a:p>
                      <a:r>
                        <a:rPr sz="2100" b="0">
                          <a:solidFill>
                            <a:srgbClr val="173047"/>
                          </a:solidFill>
                          <a:latin typeface="Arial"/>
                          <a:ea typeface="Arial"/>
                          <a:cs typeface="Arial"/>
                        </a:rPr>
                        <a:t>LP</a:t>
                      </a:r>
                    </a:p>
                  </a:txBody>
                  <a:tcPr marL="114300" marR="114300" marT="66675" marB="66675" anchor="ctr">
                    <a:solidFill>
                      <a:srgbClr val="E9F1FB"/>
                    </a:solidFill>
                  </a:tcPr>
                </a:tc>
                <a:tc>
                  <a:txBody>
                    <a:bodyPr/>
                    <a:lstStyle/>
                    <a:p>
                      <a:r>
                        <a:rPr sz="2100" b="0">
                          <a:solidFill>
                            <a:srgbClr val="173047"/>
                          </a:solidFill>
                          <a:latin typeface="Arial"/>
                          <a:ea typeface="Arial"/>
                          <a:cs typeface="Arial"/>
                        </a:rPr>
                        <a:t>(0,2.2)</a:t>
                      </a:r>
                    </a:p>
                  </a:txBody>
                  <a:tcPr marL="114300" marR="114300" marT="66675" marB="66675" anchor="ctr">
                    <a:solidFill>
                      <a:srgbClr val="E9F1FB"/>
                    </a:solidFill>
                  </a:tcPr>
                </a:tc>
                <a:tc>
                  <a:txBody>
                    <a:bodyPr/>
                    <a:lstStyle/>
                    <a:p>
                      <a:r>
                        <a:rPr sz="2100" b="0">
                          <a:solidFill>
                            <a:srgbClr val="173047"/>
                          </a:solidFill>
                          <a:latin typeface="Arial"/>
                          <a:ea typeface="Arial"/>
                          <a:cs typeface="Arial"/>
                        </a:rPr>
                        <a:t>11</a:t>
                      </a:r>
                    </a:p>
                  </a:txBody>
                  <a:tcPr marL="114300" marR="114300" marT="66675" marB="66675" anchor="ctr">
                    <a:solidFill>
                      <a:srgbClr val="E9F1FB"/>
                    </a:solidFill>
                  </a:tcPr>
                </a:tc>
                <a:tc>
                  <a:txBody>
                    <a:bodyPr/>
                    <a:lstStyle/>
                    <a:p>
                      <a:r>
                        <a:rPr sz="2100" b="0">
                          <a:solidFill>
                            <a:srgbClr val="173047"/>
                          </a:solidFill>
                          <a:latin typeface="Arial"/>
                          <a:ea typeface="Arial"/>
                          <a:cs typeface="Arial"/>
                        </a:rPr>
                        <a:t>17.6</a:t>
                      </a:r>
                    </a:p>
                  </a:txBody>
                  <a:tcPr marL="114300" marR="114300" marT="66675" marB="66675" anchor="ctr">
                    <a:solidFill>
                      <a:srgbClr val="E9F1FB"/>
                    </a:solidFill>
                  </a:tcPr>
                </a:tc>
                <a:tc>
                  <a:txBody>
                    <a:bodyPr/>
                    <a:lstStyle/>
                    <a:p>
                      <a:r>
                        <a:rPr sz="2100" b="0">
                          <a:solidFill>
                            <a:srgbClr val="173047"/>
                          </a:solidFill>
                          <a:latin typeface="Arial"/>
                          <a:ea typeface="Arial"/>
                          <a:cs typeface="Arial"/>
                        </a:rPr>
                        <a:t>Дробова VM</a:t>
                      </a:r>
                    </a:p>
                  </a:txBody>
                  <a:tcPr marL="114300" marR="114300" marT="66675" marB="66675" anchor="ctr">
                    <a:solidFill>
                      <a:srgbClr val="E9F1FB"/>
                    </a:solidFill>
                  </a:tcPr>
                </a:tc>
              </a:tr>
              <a:tr h="798195">
                <a:tc>
                  <a:txBody>
                    <a:bodyPr/>
                    <a:lstStyle/>
                    <a:p>
                      <a:r>
                        <a:rPr sz="2100" b="0">
                          <a:solidFill>
                            <a:srgbClr val="173047"/>
                          </a:solidFill>
                          <a:latin typeface="Arial"/>
                          <a:ea typeface="Arial"/>
                          <a:cs typeface="Arial"/>
                        </a:rPr>
                        <a:t>До найближчого</a:t>
                      </a:r>
                    </a:p>
                  </a:txBody>
                  <a:tcPr marL="114300" marR="114300" marT="66675" marB="66675" anchor="ctr">
                    <a:solidFill>
                      <a:srgbClr val="FBECE8"/>
                    </a:solidFill>
                  </a:tcPr>
                </a:tc>
                <a:tc>
                  <a:txBody>
                    <a:bodyPr/>
                    <a:lstStyle/>
                    <a:p>
                      <a:r>
                        <a:rPr sz="2100" b="0">
                          <a:solidFill>
                            <a:srgbClr val="173047"/>
                          </a:solidFill>
                          <a:latin typeface="Arial"/>
                          <a:ea typeface="Arial"/>
                          <a:cs typeface="Arial"/>
                        </a:rPr>
                        <a:t>(0,2)</a:t>
                      </a:r>
                    </a:p>
                  </a:txBody>
                  <a:tcPr marL="114300" marR="114300" marT="66675" marB="66675" anchor="ctr">
                    <a:solidFill>
                      <a:srgbClr val="FBECE8"/>
                    </a:solidFill>
                  </a:tcPr>
                </a:tc>
                <a:tc>
                  <a:txBody>
                    <a:bodyPr/>
                    <a:lstStyle/>
                    <a:p>
                      <a:r>
                        <a:rPr sz="2100" b="0">
                          <a:solidFill>
                            <a:srgbClr val="173047"/>
                          </a:solidFill>
                          <a:latin typeface="Arial"/>
                          <a:ea typeface="Arial"/>
                          <a:cs typeface="Arial"/>
                        </a:rPr>
                        <a:t>10</a:t>
                      </a:r>
                    </a:p>
                  </a:txBody>
                  <a:tcPr marL="114300" marR="114300" marT="66675" marB="66675" anchor="ctr">
                    <a:solidFill>
                      <a:srgbClr val="FBECE8"/>
                    </a:solidFill>
                  </a:tcPr>
                </a:tc>
                <a:tc>
                  <a:txBody>
                    <a:bodyPr/>
                    <a:lstStyle/>
                    <a:p>
                      <a:r>
                        <a:rPr sz="2100" b="0">
                          <a:solidFill>
                            <a:srgbClr val="173047"/>
                          </a:solidFill>
                          <a:latin typeface="Arial"/>
                          <a:ea typeface="Arial"/>
                          <a:cs typeface="Arial"/>
                        </a:rPr>
                        <a:t>16</a:t>
                      </a:r>
                    </a:p>
                  </a:txBody>
                  <a:tcPr marL="114300" marR="114300" marT="66675" marB="66675" anchor="ctr">
                    <a:solidFill>
                      <a:srgbClr val="FBECE8"/>
                    </a:solidFill>
                  </a:tcPr>
                </a:tc>
                <a:tc>
                  <a:txBody>
                    <a:bodyPr/>
                    <a:lstStyle/>
                    <a:p>
                      <a:r>
                        <a:rPr sz="2100" b="0">
                          <a:solidFill>
                            <a:srgbClr val="173047"/>
                          </a:solidFill>
                          <a:latin typeface="Arial"/>
                          <a:ea typeface="Arial"/>
                          <a:cs typeface="Arial"/>
                        </a:rPr>
                        <a:t>Ні</a:t>
                      </a:r>
                    </a:p>
                  </a:txBody>
                  <a:tcPr marL="114300" marR="114300" marT="66675" marB="66675" anchor="ctr">
                    <a:solidFill>
                      <a:srgbClr val="FBECE8"/>
                    </a:solidFill>
                  </a:tcPr>
                </a:tc>
              </a:tr>
              <a:tr h="798195">
                <a:tc>
                  <a:txBody>
                    <a:bodyPr/>
                    <a:lstStyle/>
                    <a:p>
                      <a:r>
                        <a:rPr sz="2100" b="0">
                          <a:solidFill>
                            <a:srgbClr val="173047"/>
                          </a:solidFill>
                          <a:latin typeface="Arial"/>
                          <a:ea typeface="Arial"/>
                          <a:cs typeface="Arial"/>
                        </a:rPr>
                        <a:t>Вгору</a:t>
                      </a:r>
                    </a:p>
                  </a:txBody>
                  <a:tcPr marL="114300" marR="114300" marT="66675" marB="66675" anchor="ctr">
                    <a:solidFill>
                      <a:srgbClr val="FFF2D8"/>
                    </a:solidFill>
                  </a:tcPr>
                </a:tc>
                <a:tc>
                  <a:txBody>
                    <a:bodyPr/>
                    <a:lstStyle/>
                    <a:p>
                      <a:r>
                        <a:rPr sz="2100" b="0">
                          <a:solidFill>
                            <a:srgbClr val="173047"/>
                          </a:solidFill>
                          <a:latin typeface="Arial"/>
                          <a:ea typeface="Arial"/>
                          <a:cs typeface="Arial"/>
                        </a:rPr>
                        <a:t>(0,3)</a:t>
                      </a:r>
                    </a:p>
                  </a:txBody>
                  <a:tcPr marL="114300" marR="114300" marT="66675" marB="66675" anchor="ctr">
                    <a:solidFill>
                      <a:srgbClr val="FFF2D8"/>
                    </a:solidFill>
                  </a:tcPr>
                </a:tc>
                <a:tc>
                  <a:txBody>
                    <a:bodyPr/>
                    <a:lstStyle/>
                    <a:p>
                      <a:r>
                        <a:rPr sz="2100" b="0">
                          <a:solidFill>
                            <a:srgbClr val="173047"/>
                          </a:solidFill>
                          <a:latin typeface="Arial"/>
                          <a:ea typeface="Arial"/>
                          <a:cs typeface="Arial"/>
                        </a:rPr>
                        <a:t>15</a:t>
                      </a:r>
                    </a:p>
                  </a:txBody>
                  <a:tcPr marL="114300" marR="114300" marT="66675" marB="66675" anchor="ctr">
                    <a:solidFill>
                      <a:srgbClr val="FFF2D8"/>
                    </a:solidFill>
                  </a:tcPr>
                </a:tc>
                <a:tc>
                  <a:txBody>
                    <a:bodyPr/>
                    <a:lstStyle/>
                    <a:p>
                      <a:r>
                        <a:rPr sz="2100" b="0">
                          <a:solidFill>
                            <a:srgbClr val="173047"/>
                          </a:solidFill>
                          <a:latin typeface="Arial"/>
                          <a:ea typeface="Arial"/>
                          <a:cs typeface="Arial"/>
                        </a:rPr>
                        <a:t>24</a:t>
                      </a:r>
                    </a:p>
                  </a:txBody>
                  <a:tcPr marL="114300" marR="114300" marT="66675" marB="66675" anchor="ctr">
                    <a:solidFill>
                      <a:srgbClr val="FFF2D8"/>
                    </a:solidFill>
                  </a:tcPr>
                </a:tc>
                <a:tc>
                  <a:txBody>
                    <a:bodyPr/>
                    <a:lstStyle/>
                    <a:p>
                      <a:r>
                        <a:rPr sz="2100" b="0">
                          <a:solidFill>
                            <a:srgbClr val="173047"/>
                          </a:solidFill>
                          <a:latin typeface="Arial"/>
                          <a:ea typeface="Arial"/>
                          <a:cs typeface="Arial"/>
                        </a:rPr>
                        <a:t>Так</a:t>
                      </a:r>
                    </a:p>
                  </a:txBody>
                  <a:tcPr marL="114300" marR="114300" marT="66675" marB="66675" anchor="ctr">
                    <a:solidFill>
                      <a:srgbClr val="FFF2D8"/>
                    </a:solidFill>
                  </a:tcPr>
                </a:tc>
              </a:tr>
              <a:tr h="798195">
                <a:tc>
                  <a:txBody>
                    <a:bodyPr/>
                    <a:lstStyle/>
                    <a:p>
                      <a:r>
                        <a:rPr sz="2100" b="1">
                          <a:solidFill>
                            <a:srgbClr val="173047"/>
                          </a:solidFill>
                          <a:latin typeface="Arial"/>
                          <a:ea typeface="Arial"/>
                          <a:cs typeface="Arial"/>
                        </a:rPr>
                        <a:t>Цілий оптимум</a:t>
                      </a:r>
                    </a:p>
                  </a:txBody>
                  <a:tcPr marL="114300" marR="114300" marT="66675" marB="66675" anchor="ctr">
                    <a:solidFill>
                      <a:srgbClr val="DDF3EC"/>
                    </a:solidFill>
                  </a:tcPr>
                </a:tc>
                <a:tc>
                  <a:txBody>
                    <a:bodyPr/>
                    <a:lstStyle/>
                    <a:p>
                      <a:r>
                        <a:rPr sz="2100" b="1">
                          <a:solidFill>
                            <a:srgbClr val="173047"/>
                          </a:solidFill>
                          <a:latin typeface="Arial"/>
                          <a:ea typeface="Arial"/>
                          <a:cs typeface="Arial"/>
                        </a:rPr>
                        <a:t>(2,1)</a:t>
                      </a:r>
                    </a:p>
                  </a:txBody>
                  <a:tcPr marL="114300" marR="114300" marT="66675" marB="66675" anchor="ctr">
                    <a:solidFill>
                      <a:srgbClr val="DDF3EC"/>
                    </a:solidFill>
                  </a:tcPr>
                </a:tc>
                <a:tc>
                  <a:txBody>
                    <a:bodyPr/>
                    <a:lstStyle/>
                    <a:p>
                      <a:r>
                        <a:rPr sz="2100" b="1">
                          <a:solidFill>
                            <a:srgbClr val="173047"/>
                          </a:solidFill>
                          <a:latin typeface="Arial"/>
                          <a:ea typeface="Arial"/>
                          <a:cs typeface="Arial"/>
                        </a:rPr>
                        <a:t>11</a:t>
                      </a:r>
                    </a:p>
                  </a:txBody>
                  <a:tcPr marL="114300" marR="114300" marT="66675" marB="66675" anchor="ctr">
                    <a:solidFill>
                      <a:srgbClr val="DDF3EC"/>
                    </a:solidFill>
                  </a:tcPr>
                </a:tc>
                <a:tc>
                  <a:txBody>
                    <a:bodyPr/>
                    <a:lstStyle/>
                    <a:p>
                      <a:r>
                        <a:rPr sz="2100" b="1">
                          <a:solidFill>
                            <a:srgbClr val="173047"/>
                          </a:solidFill>
                          <a:latin typeface="Arial"/>
                          <a:ea typeface="Arial"/>
                          <a:cs typeface="Arial"/>
                        </a:rPr>
                        <a:t>18</a:t>
                      </a:r>
                    </a:p>
                  </a:txBody>
                  <a:tcPr marL="114300" marR="114300" marT="66675" marB="66675" anchor="ctr">
                    <a:solidFill>
                      <a:srgbClr val="DDF3EC"/>
                    </a:solidFill>
                  </a:tcPr>
                </a:tc>
                <a:tc>
                  <a:txBody>
                    <a:bodyPr/>
                    <a:lstStyle/>
                    <a:p>
                      <a:r>
                        <a:rPr sz="2100" b="1">
                          <a:solidFill>
                            <a:srgbClr val="173047"/>
                          </a:solidFill>
                          <a:latin typeface="Arial"/>
                          <a:ea typeface="Arial"/>
                          <a:cs typeface="Arial"/>
                        </a:rPr>
                        <a:t>Так</a:t>
                      </a:r>
                    </a:p>
                  </a:txBody>
                  <a:tcPr marL="114300" marR="114300" marT="66675" marB="66675" anchor="ctr">
                    <a:solidFill>
                      <a:srgbClr val="DDF3EC"/>
                    </a:solidFill>
                  </a:tcPr>
                </a:tc>
              </a:tr>
            </a:tbl>
          </a:graphicData>
        </a:graphic>
      </p:graphicFrame>
    </p:spTree>
    <p:extLst>
      <p:ext uri="{BB962C8B-B14F-4D97-AF65-F5344CB8AC3E}">
        <p14:creationId xmlns:p14="http://schemas.microsoft.com/office/powerpoint/2010/main" val="104887376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CE3D8C-621D-4F8F-9EA2-7A95DB1EE7DB}"/>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VM: Python і результат</a:t>
            </a:r>
          </a:p>
        </p:txBody>
      </p:sp>
      <p:sp>
        <p:nvSpPr>
          <p:cNvPr id="2" name="">
            <a:extLst xmlns:a="http://schemas.openxmlformats.org/drawingml/2006/main">
              <a:ext uri="{FF2B5EF4-FFF2-40B4-BE49-F238E27FC236}">
                <a16:creationId xmlns:a16="http://schemas.microsoft.com/office/drawing/2014/main" id="{4B308127-52C9-48BB-B4B8-E8E4183FBC1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integrality=[1,1] задає цілі кількості екземплярів.</a:t>
            </a:r>
          </a:p>
        </p:txBody>
      </p:sp>
      <p:sp>
        <p:nvSpPr>
          <p:cNvPr id="3" name="">
            <a:extLst xmlns:a="http://schemas.openxmlformats.org/drawingml/2006/main">
              <a:ext uri="{FF2B5EF4-FFF2-40B4-BE49-F238E27FC236}">
                <a16:creationId xmlns:a16="http://schemas.microsoft.com/office/drawing/2014/main" id="{0E4CB8DF-1248-4AD1-B511-51824F3CCF0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D2D37AB7-4292-4CDD-9DCB-100369363F4D}"/>
              </a:ext>
            </a:extLst>
          </p:cNvPr>
          <p:cNvSpPr>
            <a:spLocks xmlns:a="http://schemas.openxmlformats.org/drawingml/2006/main" noGrp="1"/>
          </p:cNvSpPr>
          <p:nvPr/>
        </p:nvSpPr>
        <p:spPr>
          <a:xfrm xmlns:a="http://schemas.openxmlformats.org/drawingml/2006/main">
            <a:off x="762000" y="1504950"/>
            <a:ext cx="10668000" cy="24475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F55933-A1F4-49CF-9C8F-5A959AB949C0}"/>
              </a:ext>
            </a:extLst>
          </p:cNvPr>
          <p:cNvSpPr>
            <a:spLocks xmlns:a="http://schemas.openxmlformats.org/drawingml/2006/main" noGrp="1"/>
          </p:cNvSpPr>
          <p:nvPr/>
        </p:nvSpPr>
        <p:spPr>
          <a:xfrm xmlns:a="http://schemas.openxmlformats.org/drawingml/2006/main">
            <a:off x="933450" y="1581150"/>
            <a:ext cx="10325100" cy="2295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A87C6694-AF01-4C13-8383-A0020BF4C585}"/>
              </a:ext>
            </a:extLst>
          </p:cNvPr>
          <p:cNvSpPr>
            <a:spLocks xmlns:a="http://schemas.openxmlformats.org/drawingml/2006/main" noGrp="1"/>
          </p:cNvSpPr>
          <p:nvPr/>
        </p:nvSpPr>
        <p:spPr>
          <a:xfrm xmlns:a="http://schemas.openxmlformats.org/drawingml/2006/main">
            <a:off x="762000" y="4200144"/>
            <a:ext cx="10668000" cy="100965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F9B1A2-C3EA-40BF-A360-9BCBF7822254}"/>
              </a:ext>
            </a:extLst>
          </p:cNvPr>
          <p:cNvSpPr>
            <a:spLocks xmlns:a="http://schemas.openxmlformats.org/drawingml/2006/main" noGrp="1"/>
          </p:cNvSpPr>
          <p:nvPr/>
        </p:nvSpPr>
        <p:spPr>
          <a:xfrm xmlns:a="http://schemas.openxmlformats.org/drawingml/2006/main">
            <a:off x="933450" y="4257294"/>
            <a:ext cx="1032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00857D"/>
                </a:solidFill>
                <a:latin typeface="Courier New"/>
                <a:ea typeface="Courier New"/>
                <a:cs typeface="Courier New"/>
              </a:defRPr>
            </a:defPPr>
          </a:lstStyle>
          <a:p xmlns:a="http://schemas.openxmlformats.org/drawingml/2006/main">
            <a:pPr algn="l">
              <a:buNone/>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[2. 1.] C = 18.0</a:t>
            </a:r>
          </a:p>
          <a:p xmlns:a="http://schemas.openxmlformats.org/drawingml/2006/main">
            <a:pPr algn="l">
              <a:buNone/>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CPU = 11.0</a:t>
            </a:r>
          </a:p>
        </p:txBody>
      </p:sp>
      <p:sp>
        <p:nvSpPr>
          <p:cNvPr id="9" name="">
            <a:extLst xmlns:a="http://schemas.openxmlformats.org/drawingml/2006/main">
              <a:ext uri="{FF2B5EF4-FFF2-40B4-BE49-F238E27FC236}">
                <a16:creationId xmlns:a16="http://schemas.microsoft.com/office/drawing/2014/main" id="{454C9E90-5ED1-4F9A-A9DB-80D77D68F8AB}"/>
              </a:ext>
            </a:extLst>
          </p:cNvPr>
          <p:cNvSpPr>
            <a:spLocks xmlns:a="http://schemas.openxmlformats.org/drawingml/2006/main" noGrp="1"/>
          </p:cNvSpPr>
          <p:nvPr/>
        </p:nvSpPr>
        <p:spPr>
          <a:xfrm xmlns:a="http://schemas.openxmlformats.org/drawingml/2006/main">
            <a:off x="933450" y="158115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import numpy as np</a:t>
            </a:r>
          </a:p>
        </p:txBody>
      </p:sp>
      <p:sp>
        <p:nvSpPr>
          <p:cNvPr id="10" name="">
            <a:extLst xmlns:a="http://schemas.openxmlformats.org/drawingml/2006/main">
              <a:ext uri="{FF2B5EF4-FFF2-40B4-BE49-F238E27FC236}">
                <a16:creationId xmlns:a16="http://schemas.microsoft.com/office/drawing/2014/main" id="{7E93F678-3A71-4956-8A44-17F2EF37FC08}"/>
              </a:ext>
            </a:extLst>
          </p:cNvPr>
          <p:cNvSpPr>
            <a:spLocks xmlns:a="http://schemas.openxmlformats.org/drawingml/2006/main" noGrp="1"/>
          </p:cNvSpPr>
          <p:nvPr/>
        </p:nvSpPr>
        <p:spPr>
          <a:xfrm xmlns:a="http://schemas.openxmlformats.org/drawingml/2006/main">
            <a:off x="933450" y="185851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scipy.optimize import milp, Bounds, LinearConstraint</a:t>
            </a:r>
          </a:p>
        </p:txBody>
      </p:sp>
      <p:sp>
        <p:nvSpPr>
          <p:cNvPr id="11" name="">
            <a:extLst xmlns:a="http://schemas.openxmlformats.org/drawingml/2006/main">
              <a:ext uri="{FF2B5EF4-FFF2-40B4-BE49-F238E27FC236}">
                <a16:creationId xmlns:a16="http://schemas.microsoft.com/office/drawing/2014/main" id="{45C82167-31E5-49C9-AB32-D88BD96FBE34}"/>
              </a:ext>
            </a:extLst>
          </p:cNvPr>
          <p:cNvSpPr>
            <a:spLocks xmlns:a="http://schemas.openxmlformats.org/drawingml/2006/main" noGrp="1"/>
          </p:cNvSpPr>
          <p:nvPr/>
        </p:nvSpPr>
        <p:spPr>
          <a:xfrm xmlns:a="http://schemas.openxmlformats.org/drawingml/2006/main">
            <a:off x="933450" y="213588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con = LinearConstraint([[3, 5]], [11], [np.inf])</a:t>
            </a:r>
          </a:p>
        </p:txBody>
      </p:sp>
      <p:sp>
        <p:nvSpPr>
          <p:cNvPr id="12" name="">
            <a:extLst xmlns:a="http://schemas.openxmlformats.org/drawingml/2006/main">
              <a:ext uri="{FF2B5EF4-FFF2-40B4-BE49-F238E27FC236}">
                <a16:creationId xmlns:a16="http://schemas.microsoft.com/office/drawing/2014/main" id="{A77A06D3-EE34-41BE-BD84-17258B3E6914}"/>
              </a:ext>
            </a:extLst>
          </p:cNvPr>
          <p:cNvSpPr>
            <a:spLocks xmlns:a="http://schemas.openxmlformats.org/drawingml/2006/main" noGrp="1"/>
          </p:cNvSpPr>
          <p:nvPr/>
        </p:nvSpPr>
        <p:spPr>
          <a:xfrm xmlns:a="http://schemas.openxmlformats.org/drawingml/2006/main">
            <a:off x="933450" y="2413254"/>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 = milp([5, 8], integrality=[1, 1],</a:t>
            </a:r>
          </a:p>
        </p:txBody>
      </p:sp>
      <p:sp>
        <p:nvSpPr>
          <p:cNvPr id="13" name="">
            <a:extLst xmlns:a="http://schemas.openxmlformats.org/drawingml/2006/main">
              <a:ext uri="{FF2B5EF4-FFF2-40B4-BE49-F238E27FC236}">
                <a16:creationId xmlns:a16="http://schemas.microsoft.com/office/drawing/2014/main" id="{AEE7F9E2-A401-4246-B7C0-B93467E69AF4}"/>
              </a:ext>
            </a:extLst>
          </p:cNvPr>
          <p:cNvSpPr>
            <a:spLocks xmlns:a="http://schemas.openxmlformats.org/drawingml/2006/main" noGrp="1"/>
          </p:cNvSpPr>
          <p:nvPr/>
        </p:nvSpPr>
        <p:spPr>
          <a:xfrm xmlns:a="http://schemas.openxmlformats.org/drawingml/2006/main">
            <a:off x="933450" y="2690622"/>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bounds=Bounds([0, 0], [4, 3]), constraints=con)</a:t>
            </a:r>
          </a:p>
        </p:txBody>
      </p:sp>
      <p:sp>
        <p:nvSpPr>
          <p:cNvPr id="14" name="">
            <a:extLst xmlns:a="http://schemas.openxmlformats.org/drawingml/2006/main">
              <a:ext uri="{FF2B5EF4-FFF2-40B4-BE49-F238E27FC236}">
                <a16:creationId xmlns:a16="http://schemas.microsoft.com/office/drawing/2014/main" id="{DFA795CD-EF8A-470B-A03C-9850B2C6F49E}"/>
              </a:ext>
            </a:extLst>
          </p:cNvPr>
          <p:cNvSpPr>
            <a:spLocks xmlns:a="http://schemas.openxmlformats.org/drawingml/2006/main" noGrp="1"/>
          </p:cNvSpPr>
          <p:nvPr/>
        </p:nvSpPr>
        <p:spPr>
          <a:xfrm xmlns:a="http://schemas.openxmlformats.org/drawingml/2006/main">
            <a:off x="933450" y="296799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r.success, r.message</a:t>
            </a:r>
          </a:p>
        </p:txBody>
      </p:sp>
      <p:sp>
        <p:nvSpPr>
          <p:cNvPr id="15" name="">
            <a:extLst xmlns:a="http://schemas.openxmlformats.org/drawingml/2006/main">
              <a:ext uri="{FF2B5EF4-FFF2-40B4-BE49-F238E27FC236}">
                <a16:creationId xmlns:a16="http://schemas.microsoft.com/office/drawing/2014/main" id="{48129094-5F19-40E7-AFD5-C1B2960157FD}"/>
              </a:ext>
            </a:extLst>
          </p:cNvPr>
          <p:cNvSpPr>
            <a:spLocks xmlns:a="http://schemas.openxmlformats.org/drawingml/2006/main" noGrp="1"/>
          </p:cNvSpPr>
          <p:nvPr/>
        </p:nvSpPr>
        <p:spPr>
          <a:xfrm xmlns:a="http://schemas.openxmlformats.org/drawingml/2006/main">
            <a:off x="933450" y="324535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print(r.x, "C =", r.fun)</a:t>
            </a:r>
          </a:p>
        </p:txBody>
      </p:sp>
      <p:sp>
        <p:nvSpPr>
          <p:cNvPr id="16" name="">
            <a:extLst xmlns:a="http://schemas.openxmlformats.org/drawingml/2006/main">
              <a:ext uri="{FF2B5EF4-FFF2-40B4-BE49-F238E27FC236}">
                <a16:creationId xmlns:a16="http://schemas.microsoft.com/office/drawing/2014/main" id="{2455F78C-D552-4897-BA2E-D790E660B154}"/>
              </a:ext>
            </a:extLst>
          </p:cNvPr>
          <p:cNvSpPr>
            <a:spLocks xmlns:a="http://schemas.openxmlformats.org/drawingml/2006/main" noGrp="1"/>
          </p:cNvSpPr>
          <p:nvPr/>
        </p:nvSpPr>
        <p:spPr>
          <a:xfrm xmlns:a="http://schemas.openxmlformats.org/drawingml/2006/main">
            <a:off x="933450" y="352272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print("CPU =", np.dot([3, 5], r.x))</a:t>
            </a:r>
          </a:p>
        </p:txBody>
      </p:sp>
    </p:spTree>
    <p:extLst>
      <p:ext uri="{BB962C8B-B14F-4D97-AF65-F5344CB8AC3E}">
        <p14:creationId xmlns:p14="http://schemas.microsoft.com/office/powerpoint/2010/main" val="193515492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9F2077-011E-4D04-9CD6-88532B77A124}"/>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Загальна лінійна дискретна модель</a:t>
            </a:r>
          </a:p>
        </p:txBody>
      </p:sp>
      <p:sp>
        <p:nvSpPr>
          <p:cNvPr id="2" name="">
            <a:extLst xmlns:a="http://schemas.openxmlformats.org/drawingml/2006/main">
              <a:ext uri="{FF2B5EF4-FFF2-40B4-BE49-F238E27FC236}">
                <a16:creationId xmlns:a16="http://schemas.microsoft.com/office/drawing/2014/main" id="{CA274B61-57BF-4168-9A99-D6A75F4FD936}"/>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Для max F бібліотека milp мінімізує −F.</a:t>
            </a:r>
          </a:p>
        </p:txBody>
      </p:sp>
      <p:sp>
        <p:nvSpPr>
          <p:cNvPr id="3" name="">
            <a:extLst xmlns:a="http://schemas.openxmlformats.org/drawingml/2006/main">
              <a:ext uri="{FF2B5EF4-FFF2-40B4-BE49-F238E27FC236}">
                <a16:creationId xmlns:a16="http://schemas.microsoft.com/office/drawing/2014/main" id="{E69717A7-84AC-4226-B9A7-9BD2810F6040}"/>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C5CA8AD3-2963-4DE8-BAA0-8458D3B44DB0}"/>
              </a:ext>
            </a:extLst>
          </p:cNvPr>
          <p:cNvSpPr>
            <a:spLocks xmlns:a="http://schemas.openxmlformats.org/drawingml/2006/main" noGrp="1"/>
          </p:cNvSpPr>
          <p:nvPr/>
        </p:nvSpPr>
        <p:spPr>
          <a:xfrm xmlns:a="http://schemas.openxmlformats.org/drawingml/2006/main">
            <a:off x="762000" y="1562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525" b="1">
                <a:solidFill>
                  <a:srgbClr val="00857D"/>
                </a:solidFill>
                <a:latin typeface="Arial"/>
                <a:ea typeface="Arial"/>
                <a:cs typeface="Arial"/>
              </a:defRPr>
            </a:defPPr>
          </a:lstStyle>
          <a:p xmlns:a="http://schemas.openxmlformats.org/drawingml/2006/main">
            <a:pPr algn="l">
              <a:buNone/>
              <a:defRPr sz="3525" b="1">
                <a:solidFill>
                  <a:srgbClr val="00857D"/>
                </a:solidFill>
                <a:latin typeface="Arial"/>
                <a:ea typeface="Arial"/>
                <a:cs typeface="Arial"/>
              </a:defRPr>
            </a:pPr>
            <a:r>
              <a:rPr sz="3525" b="1">
                <a:solidFill>
                  <a:srgbClr val="00857D"/>
                </a:solidFill>
                <a:latin typeface="Arial"/>
                <a:ea typeface="Arial"/>
                <a:cs typeface="Arial"/>
              </a:rPr>
              <a:t>min C = cᵀx</a:t>
            </a:r>
          </a:p>
        </p:txBody>
      </p:sp>
      <p:graphicFrame>
        <p:nvGraphicFramePr>
          <p:cNvPr id="5" name="">
            <a:extLst xmlns:a="http://schemas.openxmlformats.org/drawingml/2006/main">
              <a:ext uri="{FF2B5EF4-FFF2-40B4-BE49-F238E27FC236}">
                <a16:creationId xmlns:a16="http://schemas.microsoft.com/office/drawing/2014/main" id="{658AD0D9-10F7-4124-81B2-BEC2C1357EA1}"/>
              </a:ext>
            </a:extLst>
          </p:cNvPr>
          <p:cNvGraphicFramePr/>
          <p:nvPr/>
        </p:nvGraphicFramePr>
        <p:xfrm>
          <a:off xmlns:a="http://schemas.openxmlformats.org/drawingml/2006/main" x="762000" y="2524125"/>
          <a:ext xmlns:a="http://schemas.openxmlformats.org/drawingml/2006/main" cx="10668000" cy="3095625"/>
        </p:xfrm>
        <a:graphic xmlns:a="http://schemas.openxmlformats.org/drawingml/2006/main">
          <a:graphicData uri="http://schemas.openxmlformats.org/drawingml/2006/table">
            <a:tbl>
              <a:tblPr/>
              <a:tblGrid>
                <a:gridCol w="3190875"/>
                <a:gridCol w="3381375"/>
                <a:gridCol w="4095750"/>
              </a:tblGrid>
              <a:tr h="619125">
                <a:tc>
                  <a:txBody>
                    <a:bodyPr/>
                    <a:lstStyle/>
                    <a:p>
                      <a:r>
                        <a:rPr sz="2175" b="1">
                          <a:solidFill>
                            <a:srgbClr val="FFFFFF"/>
                          </a:solidFill>
                          <a:latin typeface="Arial"/>
                          <a:ea typeface="Arial"/>
                          <a:cs typeface="Arial"/>
                        </a:rPr>
                        <a:t>Частина моделі</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Запис</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Зміст</a:t>
                      </a:r>
                    </a:p>
                  </a:txBody>
                  <a:tcPr marL="114300" marR="114300" marT="66675" marB="66675" anchor="ctr">
                    <a:solidFill>
                      <a:srgbClr val="173047"/>
                    </a:solidFill>
                  </a:tcPr>
                </a:tc>
              </a:tr>
              <a:tr h="619125">
                <a:tc>
                  <a:txBody>
                    <a:bodyPr/>
                    <a:lstStyle/>
                    <a:p>
                      <a:r>
                        <a:rPr sz="2175">
                          <a:solidFill>
                            <a:srgbClr val="173047"/>
                          </a:solidFill>
                          <a:latin typeface="Arial"/>
                          <a:ea typeface="Arial"/>
                          <a:cs typeface="Arial"/>
                        </a:rPr>
                        <a:t>Лінійні умови</a:t>
                      </a:r>
                    </a:p>
                  </a:txBody>
                  <a:tcPr marL="114300" marR="114300" marT="66675" marB="66675" anchor="ctr">
                    <a:solidFill>
                      <a:srgbClr val="FFFFFF"/>
                    </a:solidFill>
                  </a:tcPr>
                </a:tc>
                <a:tc>
                  <a:txBody>
                    <a:bodyPr/>
                    <a:lstStyle/>
                    <a:p>
                      <a:r>
                        <a:rPr sz="2175">
                          <a:solidFill>
                            <a:srgbClr val="173047"/>
                          </a:solidFill>
                          <a:latin typeface="Arial"/>
                          <a:ea typeface="Arial"/>
                          <a:cs typeface="Arial"/>
                        </a:rPr>
                        <a:t>bL ≤ Ax ≤ bU</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Баланс, ресурси, логіка</a:t>
                      </a:r>
                    </a:p>
                  </a:txBody>
                  <a:tcPr marL="114300" marR="114300" marT="66675" marB="66675" anchor="ctr">
                    <a:solidFill>
                      <a:srgbClr val="FFFFFF"/>
                    </a:solidFill>
                  </a:tcPr>
                </a:tc>
              </a:tr>
              <a:tr h="619125">
                <a:tc>
                  <a:txBody>
                    <a:bodyPr/>
                    <a:lstStyle/>
                    <a:p>
                      <a:r>
                        <a:rPr sz="2175">
                          <a:solidFill>
                            <a:srgbClr val="173047"/>
                          </a:solidFill>
                          <a:latin typeface="Arial"/>
                          <a:ea typeface="Arial"/>
                          <a:cs typeface="Arial"/>
                        </a:rPr>
                        <a:t>Межі змінних</a:t>
                      </a:r>
                    </a:p>
                  </a:txBody>
                  <a:tcPr marL="114300" marR="114300" marT="66675" marB="66675" anchor="ctr">
                    <a:solidFill>
                      <a:srgbClr val="F1F5F8"/>
                    </a:solidFill>
                  </a:tcPr>
                </a:tc>
                <a:tc>
                  <a:txBody>
                    <a:bodyPr/>
                    <a:lstStyle/>
                    <a:p>
                      <a:r>
                        <a:rPr sz="2175">
                          <a:solidFill>
                            <a:srgbClr val="173047"/>
                          </a:solidFill>
                          <a:latin typeface="Arial"/>
                          <a:ea typeface="Arial"/>
                          <a:cs typeface="Arial"/>
                        </a:rPr>
                        <a:t>l ≤ x ≤ u</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Дозволений діапазон</a:t>
                      </a:r>
                    </a:p>
                  </a:txBody>
                  <a:tcPr marL="114300" marR="114300" marT="66675" marB="66675" anchor="ctr">
                    <a:solidFill>
                      <a:srgbClr val="F1F5F8"/>
                    </a:solidFill>
                  </a:tcPr>
                </a:tc>
              </a:tr>
              <a:tr h="619125">
                <a:tc>
                  <a:txBody>
                    <a:bodyPr/>
                    <a:lstStyle/>
                    <a:p>
                      <a:r>
                        <a:rPr sz="2175">
                          <a:solidFill>
                            <a:srgbClr val="173047"/>
                          </a:solidFill>
                          <a:latin typeface="Arial"/>
                          <a:ea typeface="Arial"/>
                          <a:cs typeface="Arial"/>
                        </a:rPr>
                        <a:t>Тип змінних</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Обрані x цілі</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Кількість або вибір</a:t>
                      </a:r>
                    </a:p>
                  </a:txBody>
                  <a:tcPr marL="114300" marR="114300" marT="66675" marB="66675" anchor="ctr">
                    <a:solidFill>
                      <a:srgbClr val="FFFFFF"/>
                    </a:solidFill>
                  </a:tcPr>
                </a:tc>
              </a:tr>
              <a:tr h="619125">
                <a:tc>
                  <a:txBody>
                    <a:bodyPr/>
                    <a:lstStyle/>
                    <a:p>
                      <a:r>
                        <a:rPr sz="2175">
                          <a:solidFill>
                            <a:srgbClr val="173047"/>
                          </a:solidFill>
                          <a:latin typeface="Arial"/>
                          <a:ea typeface="Arial"/>
                          <a:cs typeface="Arial"/>
                        </a:rPr>
                        <a:t>Бінарний випадок</a:t>
                      </a:r>
                    </a:p>
                  </a:txBody>
                  <a:tcPr marL="114300" marR="114300" marT="66675" marB="66675" anchor="ctr">
                    <a:solidFill>
                      <a:srgbClr val="F1F5F8"/>
                    </a:solidFill>
                  </a:tcPr>
                </a:tc>
                <a:tc>
                  <a:txBody>
                    <a:bodyPr/>
                    <a:lstStyle/>
                    <a:p>
                      <a:r>
                        <a:rPr sz="2175">
                          <a:solidFill>
                            <a:srgbClr val="173047"/>
                          </a:solidFill>
                          <a:latin typeface="Arial"/>
                          <a:ea typeface="Arial"/>
                          <a:cs typeface="Arial"/>
                        </a:rPr>
                        <a:t>x ціле, 0 ≤ x ≤ 1</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Лише 0 або 1</a:t>
                      </a:r>
                    </a:p>
                  </a:txBody>
                  <a:tcPr marL="114300" marR="114300" marT="66675" marB="66675" anchor="ctr">
                    <a:solidFill>
                      <a:srgbClr val="F1F5F8"/>
                    </a:solidFill>
                  </a:tcPr>
                </a:tc>
              </a:tr>
            </a:tbl>
          </a:graphicData>
        </a:graphic>
      </p:graphicFrame>
    </p:spTree>
    <p:extLst>
      <p:ext uri="{BB962C8B-B14F-4D97-AF65-F5344CB8AC3E}">
        <p14:creationId xmlns:p14="http://schemas.microsoft.com/office/powerpoint/2010/main" val="11296082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393524-F2D5-4AD5-8737-216AF782948A}"/>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Метод гілок і меж (МГМ)</a:t>
            </a:r>
          </a:p>
        </p:txBody>
      </p:sp>
      <p:sp>
        <p:nvSpPr>
          <p:cNvPr id="2" name="">
            <a:extLst xmlns:a="http://schemas.openxmlformats.org/drawingml/2006/main">
              <a:ext uri="{FF2B5EF4-FFF2-40B4-BE49-F238E27FC236}">
                <a16:creationId xmlns:a16="http://schemas.microsoft.com/office/drawing/2014/main" id="{F3FD87EF-D50E-46E1-A6FF-EA8291369D1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Гілку відсіваємо, коли її оцінка не допускає поліпшення.</a:t>
            </a:r>
          </a:p>
        </p:txBody>
      </p:sp>
      <p:sp>
        <p:nvSpPr>
          <p:cNvPr id="3" name="">
            <a:extLst xmlns:a="http://schemas.openxmlformats.org/drawingml/2006/main">
              <a:ext uri="{FF2B5EF4-FFF2-40B4-BE49-F238E27FC236}">
                <a16:creationId xmlns:a16="http://schemas.microsoft.com/office/drawing/2014/main" id="{890E47F5-B10B-4357-9A7C-E600B35E04F7}"/>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27</a:t>
            </a:r>
          </a:p>
        </p:txBody>
      </p:sp>
      <p:sp>
        <p:nvSpPr>
          <p:cNvPr id="4" name="">
            <a:extLst xmlns:a="http://schemas.openxmlformats.org/drawingml/2006/main">
              <a:ext uri="{FF2B5EF4-FFF2-40B4-BE49-F238E27FC236}">
                <a16:creationId xmlns:a16="http://schemas.microsoft.com/office/drawing/2014/main" id="{A7F89B3B-22D5-4725-B294-C7A2E42C258D}"/>
              </a:ext>
            </a:extLst>
          </p:cNvPr>
          <p:cNvSpPr>
            <a:spLocks xmlns:a="http://schemas.openxmlformats.org/drawingml/2006/main" noGrp="1"/>
          </p:cNvSpPr>
          <p:nvPr/>
        </p:nvSpPr>
        <p:spPr>
          <a:xfrm xmlns:a="http://schemas.openxmlformats.org/drawingml/2006/main">
            <a:off x="762000" y="1381125"/>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Точний комбінаторний метод послідовного аналізу.</a:t>
            </a:r>
          </a:p>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Гілки ділять усі варіанти на підзадачі.</a:t>
            </a:r>
          </a:p>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Межі допомагають відсіяти неперспективні підзадачі.</a:t>
            </a:r>
          </a:p>
        </p:txBody>
      </p:sp>
      <p:graphicFrame>
        <p:nvGraphicFramePr>
          <p:cNvPr id="5" name="">
            <a:extLst xmlns:a="http://schemas.openxmlformats.org/drawingml/2006/main">
              <a:ext uri="{FF2B5EF4-FFF2-40B4-BE49-F238E27FC236}">
                <a16:creationId xmlns:a16="http://schemas.microsoft.com/office/drawing/2014/main" id="{A562B860-D274-46D6-979E-EF2714487041}"/>
              </a:ext>
            </a:extLst>
          </p:cNvPr>
          <p:cNvGraphicFramePr/>
          <p:nvPr/>
        </p:nvGraphicFramePr>
        <p:xfrm>
          <a:off xmlns:a="http://schemas.openxmlformats.org/drawingml/2006/main" x="762000" y="2962275"/>
          <a:ext xmlns:a="http://schemas.openxmlformats.org/drawingml/2006/main" cx="10668000" cy="2333625"/>
        </p:xfrm>
        <a:graphic xmlns:a="http://schemas.openxmlformats.org/drawingml/2006/main">
          <a:graphicData uri="http://schemas.openxmlformats.org/drawingml/2006/table">
            <a:tbl>
              <a:tblPr/>
              <a:tblGrid>
                <a:gridCol w="2190750"/>
                <a:gridCol w="3571875"/>
                <a:gridCol w="3000375"/>
                <a:gridCol w="1905000"/>
              </a:tblGrid>
              <a:tr h="777875">
                <a:tc>
                  <a:txBody>
                    <a:bodyPr/>
                    <a:lstStyle/>
                    <a:p>
                      <a:r>
                        <a:rPr sz="2325" b="1">
                          <a:solidFill>
                            <a:srgbClr val="FFFFFF"/>
                          </a:solidFill>
                          <a:latin typeface="Arial"/>
                          <a:ea typeface="Arial"/>
                          <a:cs typeface="Arial"/>
                        </a:rPr>
                        <a:t>Мета</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Оцінка підзадачі</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Рекорд</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Відсів</a:t>
                      </a:r>
                    </a:p>
                  </a:txBody>
                  <a:tcPr marL="114300" marR="114300" marT="66675" marB="66675" anchor="ctr">
                    <a:solidFill>
                      <a:srgbClr val="173047"/>
                    </a:solidFill>
                  </a:tcPr>
                </a:tc>
              </a:tr>
              <a:tr h="777875">
                <a:tc>
                  <a:txBody>
                    <a:bodyPr/>
                    <a:lstStyle/>
                    <a:p>
                      <a:r>
                        <a:rPr sz="2325">
                          <a:solidFill>
                            <a:srgbClr val="173047"/>
                          </a:solidFill>
                          <a:latin typeface="Arial"/>
                          <a:ea typeface="Arial"/>
                          <a:cs typeface="Arial"/>
                        </a:rPr>
                        <a:t>Мінімум</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Нижня межа L</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Найкраща вартість U</a:t>
                      </a:r>
                    </a:p>
                  </a:txBody>
                  <a:tcPr marL="114300" marR="114300" marT="66675" marB="66675" anchor="ctr">
                    <a:solidFill>
                      <a:srgbClr val="FFFFFF"/>
                    </a:solidFill>
                  </a:tcPr>
                </a:tc>
                <a:tc>
                  <a:txBody>
                    <a:bodyPr/>
                    <a:lstStyle/>
                    <a:p>
                      <a:r>
                        <a:rPr sz="2325">
                          <a:solidFill>
                            <a:srgbClr val="173047"/>
                          </a:solidFill>
                          <a:latin typeface="Arial"/>
                          <a:ea typeface="Arial"/>
                          <a:cs typeface="Arial"/>
                        </a:rPr>
                        <a:t>L ≥ U</a:t>
                      </a:r>
                    </a:p>
                  </a:txBody>
                  <a:tcPr marL="114300" marR="114300" marT="66675" marB="66675" anchor="ctr">
                    <a:solidFill>
                      <a:srgbClr val="FFFFFF"/>
                    </a:solidFill>
                  </a:tcPr>
                </a:tc>
              </a:tr>
              <a:tr h="777875">
                <a:tc>
                  <a:txBody>
                    <a:bodyPr/>
                    <a:lstStyle/>
                    <a:p>
                      <a:r>
                        <a:rPr sz="2325">
                          <a:solidFill>
                            <a:srgbClr val="173047"/>
                          </a:solidFill>
                          <a:latin typeface="Arial"/>
                          <a:ea typeface="Arial"/>
                          <a:cs typeface="Arial"/>
                        </a:rPr>
                        <a:t>Максимум</a:t>
                      </a:r>
                    </a:p>
                  </a:txBody>
                  <a:tcPr marL="114300" marR="114300" marT="66675" marB="66675" anchor="ctr">
                    <a:solidFill>
                      <a:srgbClr val="F1F5F8"/>
                    </a:solidFill>
                  </a:tcPr>
                </a:tc>
                <a:tc>
                  <a:txBody>
                    <a:bodyPr/>
                    <a:lstStyle/>
                    <a:p>
                      <a:r>
                        <a:rPr sz="2325">
                          <a:solidFill>
                            <a:srgbClr val="173047"/>
                          </a:solidFill>
                          <a:latin typeface="Arial"/>
                          <a:ea typeface="Arial"/>
                          <a:cs typeface="Arial"/>
                        </a:rPr>
                        <a:t>Верхня межа H</a:t>
                      </a:r>
                    </a:p>
                  </a:txBody>
                  <a:tcPr marL="114300" marR="114300" marT="66675" marB="66675" anchor="ctr">
                    <a:solidFill>
                      <a:srgbClr val="F1F5F8"/>
                    </a:solidFill>
                  </a:tcPr>
                </a:tc>
                <a:tc>
                  <a:txBody>
                    <a:bodyPr/>
                    <a:lstStyle/>
                    <a:p>
                      <a:r>
                        <a:rPr sz="2325">
                          <a:solidFill>
                            <a:srgbClr val="173047"/>
                          </a:solidFill>
                          <a:latin typeface="Arial"/>
                          <a:ea typeface="Arial"/>
                          <a:cs typeface="Arial"/>
                        </a:rPr>
                        <a:t>Найкраща користь F</a:t>
                      </a:r>
                    </a:p>
                  </a:txBody>
                  <a:tcPr marL="114300" marR="114300" marT="66675" marB="66675" anchor="ctr">
                    <a:solidFill>
                      <a:srgbClr val="F1F5F8"/>
                    </a:solidFill>
                  </a:tcPr>
                </a:tc>
                <a:tc>
                  <a:txBody>
                    <a:bodyPr/>
                    <a:lstStyle/>
                    <a:p>
                      <a:r>
                        <a:rPr sz="2325">
                          <a:solidFill>
                            <a:srgbClr val="173047"/>
                          </a:solidFill>
                          <a:latin typeface="Arial"/>
                          <a:ea typeface="Arial"/>
                          <a:cs typeface="Arial"/>
                        </a:rPr>
                        <a:t>H ≤ F</a:t>
                      </a:r>
                    </a:p>
                  </a:txBody>
                  <a:tcPr marL="114300" marR="114300" marT="66675" marB="66675" anchor="ctr">
                    <a:solidFill>
                      <a:srgbClr val="F1F5F8"/>
                    </a:solidFill>
                  </a:tcPr>
                </a:tc>
              </a:tr>
            </a:tbl>
          </a:graphicData>
        </a:graphic>
      </p:graphicFrame>
    </p:spTree>
    <p:extLst>
      <p:ext uri="{BB962C8B-B14F-4D97-AF65-F5344CB8AC3E}">
        <p14:creationId xmlns:p14="http://schemas.microsoft.com/office/powerpoint/2010/main" val="172618994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3888A7-6913-4BE2-956C-AFE194B6E70E}"/>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Два класичні застосування МГМ</a:t>
            </a:r>
          </a:p>
        </p:txBody>
      </p:sp>
      <p:sp>
        <p:nvSpPr>
          <p:cNvPr id="2" name="">
            <a:extLst xmlns:a="http://schemas.openxmlformats.org/drawingml/2006/main">
              <a:ext uri="{FF2B5EF4-FFF2-40B4-BE49-F238E27FC236}">
                <a16:creationId xmlns:a16="http://schemas.microsoft.com/office/drawing/2014/main" id="{A27E9A00-463A-46EB-A5B3-825F0493B9F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Спільний принцип. Різні способи побудови оцінок.</a:t>
            </a:r>
          </a:p>
        </p:txBody>
      </p:sp>
      <p:sp>
        <p:nvSpPr>
          <p:cNvPr id="3" name="">
            <a:extLst xmlns:a="http://schemas.openxmlformats.org/drawingml/2006/main">
              <a:ext uri="{FF2B5EF4-FFF2-40B4-BE49-F238E27FC236}">
                <a16:creationId xmlns:a16="http://schemas.microsoft.com/office/drawing/2014/main" id="{F0BDE73D-045D-458C-8CB7-C0C42BC3161F}"/>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28</a:t>
            </a:r>
          </a:p>
        </p:txBody>
      </p:sp>
      <p:sp>
        <p:nvSpPr>
          <p:cNvPr id="4" name="">
            <a:extLst xmlns:a="http://schemas.openxmlformats.org/drawingml/2006/main">
              <a:ext uri="{FF2B5EF4-FFF2-40B4-BE49-F238E27FC236}">
                <a16:creationId xmlns:a16="http://schemas.microsoft.com/office/drawing/2014/main" id="{B85E3C43-B113-43B5-8FB2-48F0039B9703}"/>
              </a:ext>
            </a:extLst>
          </p:cNvPr>
          <p:cNvSpPr>
            <a:spLocks xmlns:a="http://schemas.openxmlformats.org/drawingml/2006/main" noGrp="1"/>
          </p:cNvSpPr>
          <p:nvPr/>
        </p:nvSpPr>
        <p:spPr>
          <a:xfrm xmlns:a="http://schemas.openxmlformats.org/drawingml/2006/main">
            <a:off x="762000" y="1543050"/>
            <a:ext cx="2428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100" b="1">
                <a:solidFill>
                  <a:srgbClr val="2868AF"/>
                </a:solidFill>
                <a:latin typeface="Arial"/>
                <a:ea typeface="Arial"/>
                <a:cs typeface="Arial"/>
              </a:defRPr>
            </a:defPPr>
          </a:lstStyle>
          <a:p xmlns:a="http://schemas.openxmlformats.org/drawingml/2006/main">
            <a:pPr algn="l">
              <a:buNone/>
              <a:defRPr sz="5100" b="1">
                <a:solidFill>
                  <a:srgbClr val="2868AF"/>
                </a:solidFill>
                <a:latin typeface="Arial"/>
                <a:ea typeface="Arial"/>
                <a:cs typeface="Arial"/>
              </a:defRPr>
            </a:pPr>
            <a:r>
              <a:rPr sz="5100" b="1">
                <a:solidFill>
                  <a:srgbClr val="2868AF"/>
                </a:solidFill>
                <a:latin typeface="Arial"/>
                <a:ea typeface="Arial"/>
                <a:cs typeface="Arial"/>
              </a:rPr>
              <a:t>1960</a:t>
            </a:r>
          </a:p>
        </p:txBody>
      </p:sp>
      <p:sp>
        <p:nvSpPr>
          <p:cNvPr id="5" name="">
            <a:extLst xmlns:a="http://schemas.openxmlformats.org/drawingml/2006/main">
              <a:ext uri="{FF2B5EF4-FFF2-40B4-BE49-F238E27FC236}">
                <a16:creationId xmlns:a16="http://schemas.microsoft.com/office/drawing/2014/main" id="{A6F973EF-19D6-4768-A396-28CA5DF4BBAA}"/>
              </a:ext>
            </a:extLst>
          </p:cNvPr>
          <p:cNvSpPr>
            <a:spLocks xmlns:a="http://schemas.openxmlformats.org/drawingml/2006/main" noGrp="1"/>
          </p:cNvSpPr>
          <p:nvPr/>
        </p:nvSpPr>
        <p:spPr>
          <a:xfrm xmlns:a="http://schemas.openxmlformats.org/drawingml/2006/main">
            <a:off x="3714750" y="1524000"/>
            <a:ext cx="771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173047"/>
                </a:solidFill>
                <a:latin typeface="Arial"/>
                <a:ea typeface="Arial"/>
                <a:cs typeface="Arial"/>
              </a:defRPr>
            </a:defPPr>
          </a:lstStyle>
          <a:p xmlns:a="http://schemas.openxmlformats.org/drawingml/2006/main">
            <a:pPr algn="l">
              <a:buNone/>
              <a:defRPr sz="2925" b="1">
                <a:solidFill>
                  <a:srgbClr val="173047"/>
                </a:solidFill>
                <a:latin typeface="Arial"/>
                <a:ea typeface="Arial"/>
                <a:cs typeface="Arial"/>
              </a:defRPr>
            </a:pPr>
            <a:r>
              <a:rPr sz="2925" b="1">
                <a:solidFill>
                  <a:srgbClr val="173047"/>
                </a:solidFill>
                <a:latin typeface="Arial"/>
                <a:ea typeface="Arial"/>
                <a:cs typeface="Arial"/>
              </a:rPr>
              <a:t>Ленд–Дойг: цілочисельне ЛП</a:t>
            </a:r>
          </a:p>
        </p:txBody>
      </p:sp>
      <p:sp>
        <p:nvSpPr>
          <p:cNvPr id="6" name="">
            <a:extLst xmlns:a="http://schemas.openxmlformats.org/drawingml/2006/main">
              <a:ext uri="{FF2B5EF4-FFF2-40B4-BE49-F238E27FC236}">
                <a16:creationId xmlns:a16="http://schemas.microsoft.com/office/drawing/2014/main" id="{E4D2B435-2461-483A-9856-1499F159B472}"/>
              </a:ext>
            </a:extLst>
          </p:cNvPr>
          <p:cNvSpPr>
            <a:spLocks xmlns:a="http://schemas.openxmlformats.org/drawingml/2006/main" noGrp="1"/>
          </p:cNvSpPr>
          <p:nvPr/>
        </p:nvSpPr>
        <p:spPr>
          <a:xfrm xmlns:a="http://schemas.openxmlformats.org/drawingml/2006/main">
            <a:off x="3714750" y="2200275"/>
            <a:ext cx="7715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Оцінки через ЛП-релаксації</a:t>
            </a:r>
          </a:p>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Гілки обмежують значення цілої змінної</a:t>
            </a:r>
          </a:p>
        </p:txBody>
      </p:sp>
      <p:sp>
        <p:nvSpPr>
          <p:cNvPr id="7" name="">
            <a:extLst xmlns:a="http://schemas.openxmlformats.org/drawingml/2006/main">
              <a:ext uri="{FF2B5EF4-FFF2-40B4-BE49-F238E27FC236}">
                <a16:creationId xmlns:a16="http://schemas.microsoft.com/office/drawing/2014/main" id="{41964204-A29D-4E8D-B49C-A3BF25B89236}"/>
              </a:ext>
            </a:extLst>
          </p:cNvPr>
          <p:cNvSpPr>
            <a:spLocks xmlns:a="http://schemas.openxmlformats.org/drawingml/2006/main" noGrp="1"/>
          </p:cNvSpPr>
          <p:nvPr/>
        </p:nvSpPr>
        <p:spPr>
          <a:xfrm xmlns:a="http://schemas.openxmlformats.org/drawingml/2006/main">
            <a:off x="762000" y="3695700"/>
            <a:ext cx="2428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100" b="1">
                <a:solidFill>
                  <a:srgbClr val="00857D"/>
                </a:solidFill>
                <a:latin typeface="Arial"/>
                <a:ea typeface="Arial"/>
                <a:cs typeface="Arial"/>
              </a:defRPr>
            </a:defPPr>
          </a:lstStyle>
          <a:p xmlns:a="http://schemas.openxmlformats.org/drawingml/2006/main">
            <a:pPr algn="l">
              <a:buNone/>
              <a:defRPr sz="5100" b="1">
                <a:solidFill>
                  <a:srgbClr val="00857D"/>
                </a:solidFill>
                <a:latin typeface="Arial"/>
                <a:ea typeface="Arial"/>
                <a:cs typeface="Arial"/>
              </a:defRPr>
            </a:pPr>
            <a:r>
              <a:rPr sz="5100" b="1">
                <a:solidFill>
                  <a:srgbClr val="00857D"/>
                </a:solidFill>
                <a:latin typeface="Arial"/>
                <a:ea typeface="Arial"/>
                <a:cs typeface="Arial"/>
              </a:rPr>
              <a:t>1963</a:t>
            </a:r>
          </a:p>
        </p:txBody>
      </p:sp>
      <p:sp>
        <p:nvSpPr>
          <p:cNvPr id="8" name="">
            <a:extLst xmlns:a="http://schemas.openxmlformats.org/drawingml/2006/main">
              <a:ext uri="{FF2B5EF4-FFF2-40B4-BE49-F238E27FC236}">
                <a16:creationId xmlns:a16="http://schemas.microsoft.com/office/drawing/2014/main" id="{6E8E968F-B99C-4D25-AFDD-56243446CF44}"/>
              </a:ext>
            </a:extLst>
          </p:cNvPr>
          <p:cNvSpPr>
            <a:spLocks xmlns:a="http://schemas.openxmlformats.org/drawingml/2006/main" noGrp="1"/>
          </p:cNvSpPr>
          <p:nvPr/>
        </p:nvSpPr>
        <p:spPr>
          <a:xfrm xmlns:a="http://schemas.openxmlformats.org/drawingml/2006/main">
            <a:off x="3714750" y="3676650"/>
            <a:ext cx="771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173047"/>
                </a:solidFill>
                <a:latin typeface="Arial"/>
                <a:ea typeface="Arial"/>
                <a:cs typeface="Arial"/>
              </a:defRPr>
            </a:defPPr>
          </a:lstStyle>
          <a:p xmlns:a="http://schemas.openxmlformats.org/drawingml/2006/main">
            <a:pPr algn="l">
              <a:buNone/>
              <a:defRPr sz="2850" b="1">
                <a:solidFill>
                  <a:srgbClr val="173047"/>
                </a:solidFill>
                <a:latin typeface="Arial"/>
                <a:ea typeface="Arial"/>
                <a:cs typeface="Arial"/>
              </a:defRPr>
            </a:pPr>
            <a:r>
              <a:rPr sz="2850" b="1">
                <a:solidFill>
                  <a:srgbClr val="173047"/>
                </a:solidFill>
                <a:latin typeface="Arial"/>
                <a:ea typeface="Arial"/>
                <a:cs typeface="Arial"/>
              </a:rPr>
              <a:t>Літтл та співавтори: комівояжер</a:t>
            </a:r>
          </a:p>
        </p:txBody>
      </p:sp>
      <p:sp>
        <p:nvSpPr>
          <p:cNvPr id="9" name="">
            <a:extLst xmlns:a="http://schemas.openxmlformats.org/drawingml/2006/main">
              <a:ext uri="{FF2B5EF4-FFF2-40B4-BE49-F238E27FC236}">
                <a16:creationId xmlns:a16="http://schemas.microsoft.com/office/drawing/2014/main" id="{D0277ED3-DE16-4732-8025-6AA9960DED66}"/>
              </a:ext>
            </a:extLst>
          </p:cNvPr>
          <p:cNvSpPr>
            <a:spLocks xmlns:a="http://schemas.openxmlformats.org/drawingml/2006/main" noGrp="1"/>
          </p:cNvSpPr>
          <p:nvPr/>
        </p:nvSpPr>
        <p:spPr>
          <a:xfrm xmlns:a="http://schemas.openxmlformats.org/drawingml/2006/main">
            <a:off x="3714750" y="4362450"/>
            <a:ext cx="7715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Оцінки через редукцію матриці</a:t>
            </a:r>
          </a:p>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Гілки включають або виключають дугу</a:t>
            </a:r>
          </a:p>
        </p:txBody>
      </p:sp>
    </p:spTree>
    <p:extLst>
      <p:ext uri="{BB962C8B-B14F-4D97-AF65-F5344CB8AC3E}">
        <p14:creationId xmlns:p14="http://schemas.microsoft.com/office/powerpoint/2010/main" val="134165813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5A080B-A38C-40A4-A35A-E6B3549F3AA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Приклад 2. Вибір GPU-завдань</a:t>
            </a:r>
          </a:p>
        </p:txBody>
      </p:sp>
      <p:sp>
        <p:nvSpPr>
          <p:cNvPr id="2" name="">
            <a:extLst xmlns:a="http://schemas.openxmlformats.org/drawingml/2006/main">
              <a:ext uri="{FF2B5EF4-FFF2-40B4-BE49-F238E27FC236}">
                <a16:creationId xmlns:a16="http://schemas.microsoft.com/office/drawing/2014/main" id="{42A1385B-B99A-4D9C-A6A0-E874C0E8DDB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Завдання виконуються повністю. Бюджет становить 8 GPU-годин.</a:t>
            </a:r>
          </a:p>
        </p:txBody>
      </p:sp>
      <p:sp>
        <p:nvSpPr>
          <p:cNvPr id="3" name="">
            <a:extLst xmlns:a="http://schemas.openxmlformats.org/drawingml/2006/main">
              <a:ext uri="{FF2B5EF4-FFF2-40B4-BE49-F238E27FC236}">
                <a16:creationId xmlns:a16="http://schemas.microsoft.com/office/drawing/2014/main" id="{9C727611-73D3-442C-92CA-78CF27D94573}"/>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5F335B07-5FB7-4D86-9C63-F0CEFB775762}"/>
              </a:ext>
            </a:extLst>
          </p:cNvPr>
          <p:cNvGraphicFramePr/>
          <p:nvPr/>
        </p:nvGraphicFramePr>
        <p:xfrm>
          <a:off xmlns:a="http://schemas.openxmlformats.org/drawingml/2006/main" x="762000" y="1524000"/>
          <a:ext xmlns:a="http://schemas.openxmlformats.org/drawingml/2006/main" cx="10668000" cy="2857500"/>
        </p:xfrm>
        <a:graphic xmlns:a="http://schemas.openxmlformats.org/drawingml/2006/main">
          <a:graphicData uri="http://schemas.openxmlformats.org/drawingml/2006/table">
            <a:tbl>
              <a:tblPr/>
              <a:tblGrid>
                <a:gridCol w="3857625"/>
                <a:gridCol w="3476625"/>
                <a:gridCol w="3333750"/>
              </a:tblGrid>
              <a:tr h="571500">
                <a:tc>
                  <a:txBody>
                    <a:bodyPr/>
                    <a:lstStyle/>
                    <a:p>
                      <a:r>
                        <a:rPr sz="2400" b="1">
                          <a:solidFill>
                            <a:srgbClr val="FFFFFF"/>
                          </a:solidFill>
                          <a:latin typeface="Arial"/>
                          <a:ea typeface="Arial"/>
                          <a:cs typeface="Arial"/>
                        </a:rPr>
                        <a:t>Завдання</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GPU-години</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Користь</a:t>
                      </a:r>
                    </a:p>
                  </a:txBody>
                  <a:tcPr marL="114300" marR="114300" marT="66675" marB="66675" anchor="ctr">
                    <a:solidFill>
                      <a:srgbClr val="173047"/>
                    </a:solidFill>
                  </a:tcPr>
                </a:tc>
              </a:tr>
              <a:tr h="571500">
                <a:tc>
                  <a:txBody>
                    <a:bodyPr/>
                    <a:lstStyle/>
                    <a:p>
                      <a:r>
                        <a:rPr sz="2400">
                          <a:solidFill>
                            <a:srgbClr val="173047"/>
                          </a:solidFill>
                          <a:latin typeface="Arial"/>
                          <a:ea typeface="Arial"/>
                          <a:cs typeface="Arial"/>
                        </a:rPr>
                        <a:t>A</a:t>
                      </a:r>
                    </a:p>
                  </a:txBody>
                  <a:tcPr marL="114300" marR="114300" marT="66675" marB="66675" anchor="ctr">
                    <a:solidFill>
                      <a:srgbClr val="FFFFFF"/>
                    </a:solidFill>
                  </a:tcPr>
                </a:tc>
                <a:tc>
                  <a:txBody>
                    <a:bodyPr/>
                    <a:lstStyle/>
                    <a:p>
                      <a:r>
                        <a:rPr sz="2400">
                          <a:solidFill>
                            <a:srgbClr val="173047"/>
                          </a:solidFill>
                          <a:latin typeface="Arial"/>
                          <a:ea typeface="Arial"/>
                          <a:cs typeface="Arial"/>
                        </a:rPr>
                        <a:t>5</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10</a:t>
                      </a:r>
                    </a:p>
                  </a:txBody>
                  <a:tcPr marL="114300" marR="114300" marT="66675" marB="66675" anchor="ctr">
                    <a:solidFill>
                      <a:srgbClr val="FFFFFF"/>
                    </a:solidFill>
                  </a:tcPr>
                </a:tc>
              </a:tr>
              <a:tr h="571500">
                <a:tc>
                  <a:txBody>
                    <a:bodyPr/>
                    <a:lstStyle/>
                    <a:p>
                      <a:r>
                        <a:rPr sz="2400">
                          <a:solidFill>
                            <a:srgbClr val="173047"/>
                          </a:solidFill>
                          <a:latin typeface="Arial"/>
                          <a:ea typeface="Arial"/>
                          <a:cs typeface="Arial"/>
                        </a:rPr>
                        <a:t>B</a:t>
                      </a:r>
                    </a:p>
                  </a:txBody>
                  <a:tcPr marL="114300" marR="114300" marT="66675" marB="66675" anchor="ctr">
                    <a:solidFill>
                      <a:srgbClr val="F1F5F8"/>
                    </a:solidFill>
                  </a:tcPr>
                </a:tc>
                <a:tc>
                  <a:txBody>
                    <a:bodyPr/>
                    <a:lstStyle/>
                    <a:p>
                      <a:r>
                        <a:rPr sz="2400">
                          <a:solidFill>
                            <a:srgbClr val="173047"/>
                          </a:solidFill>
                          <a:latin typeface="Arial"/>
                          <a:ea typeface="Arial"/>
                          <a:cs typeface="Arial"/>
                        </a:rPr>
                        <a:t>4</a:t>
                      </a:r>
                    </a:p>
                  </a:txBody>
                  <a:tcPr marL="114300" marR="114300" marT="66675" marB="66675" anchor="ctr">
                    <a:solidFill>
                      <a:srgbClr val="F1F5F8"/>
                    </a:solidFill>
                  </a:tcPr>
                </a:tc>
                <a:tc>
                  <a:txBody>
                    <a:bodyPr/>
                    <a:lstStyle/>
                    <a:p>
                      <a:r>
                        <a:rPr sz="2400">
                          <a:solidFill>
                            <a:srgbClr val="173047"/>
                          </a:solidFill>
                          <a:latin typeface="Arial"/>
                          <a:ea typeface="Arial"/>
                          <a:cs typeface="Arial"/>
                        </a:rPr>
                        <a:t>7</a:t>
                      </a:r>
                    </a:p>
                  </a:txBody>
                  <a:tcPr marL="114300" marR="114300" marT="66675" marB="66675" anchor="ctr">
                    <a:solidFill>
                      <a:srgbClr val="F1F5F8"/>
                    </a:solidFill>
                  </a:tcPr>
                </a:tc>
              </a:tr>
              <a:tr h="571500">
                <a:tc>
                  <a:txBody>
                    <a:bodyPr/>
                    <a:lstStyle/>
                    <a:p>
                      <a:r>
                        <a:rPr sz="2400">
                          <a:solidFill>
                            <a:srgbClr val="173047"/>
                          </a:solidFill>
                          <a:latin typeface="Arial"/>
                          <a:ea typeface="Arial"/>
                          <a:cs typeface="Arial"/>
                        </a:rPr>
                        <a:t>C</a:t>
                      </a:r>
                    </a:p>
                  </a:txBody>
                  <a:tcPr marL="114300" marR="114300" marT="66675" marB="66675" anchor="ctr">
                    <a:solidFill>
                      <a:srgbClr val="FFFFFF"/>
                    </a:solidFill>
                  </a:tcPr>
                </a:tc>
                <a:tc>
                  <a:txBody>
                    <a:bodyPr/>
                    <a:lstStyle/>
                    <a:p>
                      <a:r>
                        <a:rPr sz="2400">
                          <a:solidFill>
                            <a:srgbClr val="173047"/>
                          </a:solidFill>
                          <a:latin typeface="Arial"/>
                          <a:ea typeface="Arial"/>
                          <a:cs typeface="Arial"/>
                        </a:rPr>
                        <a:t>3</a:t>
                      </a:r>
                    </a:p>
                  </a:txBody>
                  <a:tcPr marL="114300" marR="114300" marT="66675" marB="66675" anchor="ctr">
                    <a:solidFill>
                      <a:srgbClr val="FFFFFF"/>
                    </a:solidFill>
                  </a:tcPr>
                </a:tc>
                <a:tc>
                  <a:txBody>
                    <a:bodyPr/>
                    <a:lstStyle/>
                    <a:p>
                      <a:r>
                        <a:rPr sz="2400">
                          <a:solidFill>
                            <a:srgbClr val="173047"/>
                          </a:solidFill>
                          <a:latin typeface="Arial"/>
                          <a:ea typeface="Arial"/>
                          <a:cs typeface="Arial"/>
                        </a:rPr>
                        <a:t>5</a:t>
                      </a:r>
                    </a:p>
                  </a:txBody>
                  <a:tcPr marL="114300" marR="114300" marT="66675" marB="66675" anchor="ctr">
                    <a:solidFill>
                      <a:srgbClr val="FFFFFF"/>
                    </a:solidFill>
                  </a:tcPr>
                </a:tc>
              </a:tr>
              <a:tr h="571500">
                <a:tc>
                  <a:txBody>
                    <a:bodyPr/>
                    <a:lstStyle/>
                    <a:p>
                      <a:r>
                        <a:rPr sz="2400">
                          <a:solidFill>
                            <a:srgbClr val="173047"/>
                          </a:solidFill>
                          <a:latin typeface="Arial"/>
                          <a:ea typeface="Arial"/>
                          <a:cs typeface="Arial"/>
                        </a:rPr>
                        <a:t>D</a:t>
                      </a:r>
                    </a:p>
                  </a:txBody>
                  <a:tcPr marL="114300" marR="114300" marT="66675" marB="66675" anchor="ctr">
                    <a:solidFill>
                      <a:srgbClr val="F1F5F8"/>
                    </a:solidFill>
                  </a:tcPr>
                </a:tc>
                <a:tc>
                  <a:txBody>
                    <a:bodyPr/>
                    <a:lstStyle/>
                    <a:p>
                      <a:r>
                        <a:rPr sz="2400">
                          <a:solidFill>
                            <a:srgbClr val="173047"/>
                          </a:solidFill>
                          <a:latin typeface="Arial"/>
                          <a:ea typeface="Arial"/>
                          <a:cs typeface="Arial"/>
                        </a:rPr>
                        <a:t>2</a:t>
                      </a:r>
                    </a:p>
                  </a:txBody>
                  <a:tcPr marL="114300" marR="114300" marT="66675" marB="66675" anchor="ctr">
                    <a:solidFill>
                      <a:srgbClr val="F1F5F8"/>
                    </a:solidFill>
                  </a:tcPr>
                </a:tc>
                <a:tc>
                  <a:txBody>
                    <a:bodyPr/>
                    <a:lstStyle/>
                    <a:p>
                      <a:r>
                        <a:rPr sz="2400">
                          <a:solidFill>
                            <a:srgbClr val="173047"/>
                          </a:solidFill>
                          <a:latin typeface="Arial"/>
                          <a:ea typeface="Arial"/>
                          <a:cs typeface="Arial"/>
                        </a:rPr>
                        <a:t>3</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DC1B81E5-5169-4FE4-9CC4-80A3839485C2}"/>
              </a:ext>
            </a:extLst>
          </p:cNvPr>
          <p:cNvSpPr>
            <a:spLocks xmlns:a="http://schemas.openxmlformats.org/drawingml/2006/main" noGrp="1"/>
          </p:cNvSpPr>
          <p:nvPr/>
        </p:nvSpPr>
        <p:spPr>
          <a:xfrm xmlns:a="http://schemas.openxmlformats.org/drawingml/2006/main">
            <a:off x="762000" y="457200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73047"/>
                </a:solidFill>
                <a:latin typeface="Arial"/>
                <a:ea typeface="Arial"/>
                <a:cs typeface="Arial"/>
              </a:defRPr>
            </a:defPPr>
          </a:lstStyle>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xA=1: обираємо A,  xA=0: пропускаємо A</a:t>
            </a:r>
          </a:p>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max F = 10xA + 7xB + 5xC + 3xD</a:t>
            </a:r>
          </a:p>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5xA + 4xB + 3xC + 2xD ≤ 8,  x ∈ {0,1}⁴</a:t>
            </a:r>
          </a:p>
        </p:txBody>
      </p:sp>
    </p:spTree>
    <p:extLst>
      <p:ext uri="{BB962C8B-B14F-4D97-AF65-F5344CB8AC3E}">
        <p14:creationId xmlns:p14="http://schemas.microsoft.com/office/powerpoint/2010/main" val="187581356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E792BE-6B5A-41C1-B576-B86ECB9279DB}"/>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Гілки і межі: фактичні LP-вузли</a:t>
            </a:r>
          </a:p>
        </p:txBody>
      </p:sp>
      <p:sp>
        <p:nvSpPr>
          <p:cNvPr id="2" name="">
            <a:extLst xmlns:a="http://schemas.openxmlformats.org/drawingml/2006/main">
              <a:ext uri="{FF2B5EF4-FFF2-40B4-BE49-F238E27FC236}">
                <a16:creationId xmlns:a16="http://schemas.microsoft.com/office/drawing/2014/main" id="{CD79B0A8-A1A1-4956-9BC0-00547911CAD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У max-задачі LP дає верхню межу користі.</a:t>
            </a:r>
          </a:p>
        </p:txBody>
      </p:sp>
      <p:sp>
        <p:nvSpPr>
          <p:cNvPr id="3" name="">
            <a:extLst xmlns:a="http://schemas.openxmlformats.org/drawingml/2006/main">
              <a:ext uri="{FF2B5EF4-FFF2-40B4-BE49-F238E27FC236}">
                <a16:creationId xmlns:a16="http://schemas.microsoft.com/office/drawing/2014/main" id="{3BBF4F74-594D-455D-B93A-5968F313F802}"/>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30</a:t>
            </a:r>
          </a:p>
        </p:txBody>
      </p:sp>
      <p:graphicFrame>
        <p:nvGraphicFramePr>
          <p:cNvPr id="4" name="">
            <a:extLst xmlns:a="http://schemas.openxmlformats.org/drawingml/2006/main">
              <a:ext uri="{FF2B5EF4-FFF2-40B4-BE49-F238E27FC236}">
                <a16:creationId xmlns:a16="http://schemas.microsoft.com/office/drawing/2014/main" id="{841EA600-376C-4685-BB65-3076DA91111F}"/>
              </a:ext>
            </a:extLst>
          </p:cNvPr>
          <p:cNvGraphicFramePr/>
          <p:nvPr/>
        </p:nvGraphicFramePr>
        <p:xfrm>
          <a:off xmlns:a="http://schemas.openxmlformats.org/drawingml/2006/main" x="762000" y="1600200"/>
          <a:ext xmlns:a="http://schemas.openxmlformats.org/drawingml/2006/main" cx="10668000" cy="3248025"/>
        </p:xfrm>
        <a:graphic xmlns:a="http://schemas.openxmlformats.org/drawingml/2006/main">
          <a:graphicData uri="http://schemas.openxmlformats.org/drawingml/2006/table">
            <a:tbl>
              <a:tblPr/>
              <a:tblGrid>
                <a:gridCol w="952500"/>
                <a:gridCol w="1619250"/>
                <a:gridCol w="2714625"/>
                <a:gridCol w="2286000"/>
                <a:gridCol w="3095625"/>
              </a:tblGrid>
              <a:tr h="812006">
                <a:tc>
                  <a:txBody>
                    <a:bodyPr/>
                    <a:lstStyle/>
                    <a:p>
                      <a:r>
                        <a:rPr sz="2025" b="1">
                          <a:solidFill>
                            <a:srgbClr val="FFFFFF"/>
                          </a:solidFill>
                          <a:latin typeface="Arial"/>
                          <a:ea typeface="Arial"/>
                          <a:cs typeface="Arial"/>
                        </a:rPr>
                        <a:t>Крок</a:t>
                      </a:r>
                    </a:p>
                  </a:txBody>
                  <a:tcPr marL="114300" marR="114300" marT="66675" marB="66675" anchor="ctr">
                    <a:solidFill>
                      <a:srgbClr val="173047"/>
                    </a:solidFill>
                  </a:tcPr>
                </a:tc>
                <a:tc>
                  <a:txBody>
                    <a:bodyPr/>
                    <a:lstStyle/>
                    <a:p>
                      <a:r>
                        <a:rPr sz="2025" b="1">
                          <a:solidFill>
                            <a:srgbClr val="FFFFFF"/>
                          </a:solidFill>
                          <a:latin typeface="Arial"/>
                          <a:ea typeface="Arial"/>
                          <a:cs typeface="Arial"/>
                        </a:rPr>
                        <a:t>Умова</a:t>
                      </a:r>
                    </a:p>
                  </a:txBody>
                  <a:tcPr marL="114300" marR="114300" marT="66675" marB="66675" anchor="ctr">
                    <a:solidFill>
                      <a:srgbClr val="173047"/>
                    </a:solidFill>
                  </a:tcPr>
                </a:tc>
                <a:tc>
                  <a:txBody>
                    <a:bodyPr/>
                    <a:lstStyle/>
                    <a:p>
                      <a:r>
                        <a:rPr sz="2025" b="1">
                          <a:solidFill>
                            <a:srgbClr val="FFFFFF"/>
                          </a:solidFill>
                          <a:latin typeface="Arial"/>
                          <a:ea typeface="Arial"/>
                          <a:cs typeface="Arial"/>
                        </a:rPr>
                        <a:t>LP-план</a:t>
                      </a:r>
                    </a:p>
                  </a:txBody>
                  <a:tcPr marL="114300" marR="114300" marT="66675" marB="66675" anchor="ctr">
                    <a:solidFill>
                      <a:srgbClr val="173047"/>
                    </a:solidFill>
                  </a:tcPr>
                </a:tc>
                <a:tc>
                  <a:txBody>
                    <a:bodyPr/>
                    <a:lstStyle/>
                    <a:p>
                      <a:r>
                        <a:rPr sz="2025" b="1">
                          <a:solidFill>
                            <a:srgbClr val="FFFFFF"/>
                          </a:solidFill>
                          <a:latin typeface="Arial"/>
                          <a:ea typeface="Arial"/>
                          <a:cs typeface="Arial"/>
                        </a:rPr>
                        <a:t>Верхня межа</a:t>
                      </a:r>
                    </a:p>
                  </a:txBody>
                  <a:tcPr marL="114300" marR="114300" marT="66675" marB="66675" anchor="ctr">
                    <a:solidFill>
                      <a:srgbClr val="173047"/>
                    </a:solidFill>
                  </a:tcPr>
                </a:tc>
                <a:tc>
                  <a:txBody>
                    <a:bodyPr/>
                    <a:lstStyle/>
                    <a:p>
                      <a:r>
                        <a:rPr sz="2025" b="1">
                          <a:solidFill>
                            <a:srgbClr val="FFFFFF"/>
                          </a:solidFill>
                          <a:latin typeface="Arial"/>
                          <a:ea typeface="Arial"/>
                          <a:cs typeface="Arial"/>
                        </a:rPr>
                        <a:t>Дія</a:t>
                      </a:r>
                    </a:p>
                  </a:txBody>
                  <a:tcPr marL="114300" marR="114300" marT="66675" marB="66675" anchor="ctr">
                    <a:solidFill>
                      <a:srgbClr val="173047"/>
                    </a:solidFill>
                  </a:tcPr>
                </a:tc>
              </a:tr>
              <a:tr h="812006">
                <a:tc>
                  <a:txBody>
                    <a:bodyPr/>
                    <a:lstStyle/>
                    <a:p>
                      <a:r>
                        <a:rPr sz="2025">
                          <a:solidFill>
                            <a:srgbClr val="173047"/>
                          </a:solidFill>
                          <a:latin typeface="Arial"/>
                          <a:ea typeface="Arial"/>
                          <a:cs typeface="Arial"/>
                        </a:rPr>
                        <a:t>0</a:t>
                      </a:r>
                    </a:p>
                  </a:txBody>
                  <a:tcPr marL="114300" marR="114300" marT="66675" marB="66675" anchor="ctr">
                    <a:solidFill>
                      <a:srgbClr val="FFFFFF"/>
                    </a:solidFill>
                  </a:tcPr>
                </a:tc>
                <a:tc>
                  <a:txBody>
                    <a:bodyPr/>
                    <a:lstStyle/>
                    <a:p>
                      <a:r>
                        <a:rPr sz="2025">
                          <a:solidFill>
                            <a:srgbClr val="173047"/>
                          </a:solidFill>
                          <a:latin typeface="Arial"/>
                          <a:ea typeface="Arial"/>
                          <a:cs typeface="Arial"/>
                        </a:rPr>
                        <a:t>Корінь</a:t>
                      </a:r>
                    </a:p>
                  </a:txBody>
                  <a:tcPr marL="114300" marR="114300" marT="66675" marB="66675" anchor="ctr">
                    <a:solidFill>
                      <a:srgbClr val="FFFFFF"/>
                    </a:solidFill>
                  </a:tcPr>
                </a:tc>
                <a:tc>
                  <a:txBody>
                    <a:bodyPr/>
                    <a:lstStyle/>
                    <a:p>
                      <a:r>
                        <a:rPr sz="2025">
                          <a:solidFill>
                            <a:srgbClr val="173047"/>
                          </a:solidFill>
                          <a:latin typeface="Arial"/>
                          <a:ea typeface="Arial"/>
                          <a:cs typeface="Arial"/>
                        </a:rPr>
                        <a:t>(1,0.75,0,0)</a:t>
                      </a:r>
                    </a:p>
                  </a:txBody>
                  <a:tcPr marL="114300" marR="114300" marT="66675" marB="66675" anchor="ctr">
                    <a:solidFill>
                      <a:srgbClr val="FFFFFF"/>
                    </a:solidFill>
                  </a:tcPr>
                </a:tc>
                <a:tc>
                  <a:txBody>
                    <a:bodyPr/>
                    <a:lstStyle/>
                    <a:p>
                      <a:r>
                        <a:rPr sz="2025">
                          <a:solidFill>
                            <a:srgbClr val="173047"/>
                          </a:solidFill>
                          <a:latin typeface="Arial"/>
                          <a:ea typeface="Arial"/>
                          <a:cs typeface="Arial"/>
                        </a:rPr>
                        <a:t>15.25</a:t>
                      </a:r>
                    </a:p>
                  </a:txBody>
                  <a:tcPr marL="114300" marR="114300" marT="66675" marB="66675" anchor="ctr">
                    <a:solidFill>
                      <a:srgbClr val="FFFFFF"/>
                    </a:solidFill>
                  </a:tcPr>
                </a:tc>
                <a:tc>
                  <a:txBody>
                    <a:bodyPr/>
                    <a:lstStyle/>
                    <a:p>
                      <a:r>
                        <a:rPr sz="2025">
                          <a:solidFill>
                            <a:srgbClr val="173047"/>
                          </a:solidFill>
                          <a:latin typeface="Arial"/>
                          <a:ea typeface="Arial"/>
                          <a:cs typeface="Arial"/>
                        </a:rPr>
                        <a:t>Гілкувати xB</a:t>
                      </a:r>
                    </a:p>
                  </a:txBody>
                  <a:tcPr marL="114300" marR="114300" marT="66675" marB="66675" anchor="ctr">
                    <a:solidFill>
                      <a:srgbClr val="FFFFFF"/>
                    </a:solidFill>
                  </a:tcPr>
                </a:tc>
              </a:tr>
              <a:tr h="812006">
                <a:tc>
                  <a:txBody>
                    <a:bodyPr/>
                    <a:lstStyle/>
                    <a:p>
                      <a:r>
                        <a:rPr sz="2025" b="1">
                          <a:solidFill>
                            <a:srgbClr val="173047"/>
                          </a:solidFill>
                          <a:latin typeface="Arial"/>
                          <a:ea typeface="Arial"/>
                          <a:cs typeface="Arial"/>
                        </a:rPr>
                        <a:t>1</a:t>
                      </a:r>
                    </a:p>
                  </a:txBody>
                  <a:tcPr marL="114300" marR="114300" marT="66675" marB="66675" anchor="ctr">
                    <a:solidFill>
                      <a:srgbClr val="DDF3EC"/>
                    </a:solidFill>
                  </a:tcPr>
                </a:tc>
                <a:tc>
                  <a:txBody>
                    <a:bodyPr/>
                    <a:lstStyle/>
                    <a:p>
                      <a:r>
                        <a:rPr sz="2025" b="1">
                          <a:solidFill>
                            <a:srgbClr val="173047"/>
                          </a:solidFill>
                          <a:latin typeface="Arial"/>
                          <a:ea typeface="Arial"/>
                          <a:cs typeface="Arial"/>
                        </a:rPr>
                        <a:t>xB=0</a:t>
                      </a:r>
                    </a:p>
                  </a:txBody>
                  <a:tcPr marL="114300" marR="114300" marT="66675" marB="66675" anchor="ctr">
                    <a:solidFill>
                      <a:srgbClr val="DDF3EC"/>
                    </a:solidFill>
                  </a:tcPr>
                </a:tc>
                <a:tc>
                  <a:txBody>
                    <a:bodyPr/>
                    <a:lstStyle/>
                    <a:p>
                      <a:r>
                        <a:rPr sz="2025" b="1">
                          <a:solidFill>
                            <a:srgbClr val="173047"/>
                          </a:solidFill>
                          <a:latin typeface="Arial"/>
                          <a:ea typeface="Arial"/>
                          <a:cs typeface="Arial"/>
                        </a:rPr>
                        <a:t>(1,0,1,0)</a:t>
                      </a:r>
                    </a:p>
                  </a:txBody>
                  <a:tcPr marL="114300" marR="114300" marT="66675" marB="66675" anchor="ctr">
                    <a:solidFill>
                      <a:srgbClr val="DDF3EC"/>
                    </a:solidFill>
                  </a:tcPr>
                </a:tc>
                <a:tc>
                  <a:txBody>
                    <a:bodyPr/>
                    <a:lstStyle/>
                    <a:p>
                      <a:r>
                        <a:rPr sz="2025" b="1">
                          <a:solidFill>
                            <a:srgbClr val="173047"/>
                          </a:solidFill>
                          <a:latin typeface="Arial"/>
                          <a:ea typeface="Arial"/>
                          <a:cs typeface="Arial"/>
                        </a:rPr>
                        <a:t>15</a:t>
                      </a:r>
                    </a:p>
                  </a:txBody>
                  <a:tcPr marL="114300" marR="114300" marT="66675" marB="66675" anchor="ctr">
                    <a:solidFill>
                      <a:srgbClr val="DDF3EC"/>
                    </a:solidFill>
                  </a:tcPr>
                </a:tc>
                <a:tc>
                  <a:txBody>
                    <a:bodyPr/>
                    <a:lstStyle/>
                    <a:p>
                      <a:r>
                        <a:rPr sz="2025" b="1">
                          <a:solidFill>
                            <a:srgbClr val="173047"/>
                          </a:solidFill>
                          <a:latin typeface="Arial"/>
                          <a:ea typeface="Arial"/>
                          <a:cs typeface="Arial"/>
                        </a:rPr>
                        <a:t>Запам’ятати план</a:t>
                      </a:r>
                    </a:p>
                  </a:txBody>
                  <a:tcPr marL="114300" marR="114300" marT="66675" marB="66675" anchor="ctr">
                    <a:solidFill>
                      <a:srgbClr val="DDF3EC"/>
                    </a:solidFill>
                  </a:tcPr>
                </a:tc>
              </a:tr>
              <a:tr h="812006">
                <a:tc>
                  <a:txBody>
                    <a:bodyPr/>
                    <a:lstStyle/>
                    <a:p>
                      <a:r>
                        <a:rPr sz="2025" b="0">
                          <a:solidFill>
                            <a:srgbClr val="173047"/>
                          </a:solidFill>
                          <a:latin typeface="Arial"/>
                          <a:ea typeface="Arial"/>
                          <a:cs typeface="Arial"/>
                        </a:rPr>
                        <a:t>2</a:t>
                      </a:r>
                    </a:p>
                  </a:txBody>
                  <a:tcPr marL="114300" marR="114300" marT="66675" marB="66675" anchor="ctr">
                    <a:solidFill>
                      <a:srgbClr val="FBECE8"/>
                    </a:solidFill>
                  </a:tcPr>
                </a:tc>
                <a:tc>
                  <a:txBody>
                    <a:bodyPr/>
                    <a:lstStyle/>
                    <a:p>
                      <a:r>
                        <a:rPr sz="2025" b="0">
                          <a:solidFill>
                            <a:srgbClr val="173047"/>
                          </a:solidFill>
                          <a:latin typeface="Arial"/>
                          <a:ea typeface="Arial"/>
                          <a:cs typeface="Arial"/>
                        </a:rPr>
                        <a:t>xB=1</a:t>
                      </a:r>
                    </a:p>
                  </a:txBody>
                  <a:tcPr marL="114300" marR="114300" marT="66675" marB="66675" anchor="ctr">
                    <a:solidFill>
                      <a:srgbClr val="FBECE8"/>
                    </a:solidFill>
                  </a:tcPr>
                </a:tc>
                <a:tc>
                  <a:txBody>
                    <a:bodyPr/>
                    <a:lstStyle/>
                    <a:p>
                      <a:r>
                        <a:rPr sz="2025" b="0">
                          <a:solidFill>
                            <a:srgbClr val="173047"/>
                          </a:solidFill>
                          <a:latin typeface="Arial"/>
                          <a:ea typeface="Arial"/>
                          <a:cs typeface="Arial"/>
                        </a:rPr>
                        <a:t>(0.8,1,0,0)</a:t>
                      </a:r>
                    </a:p>
                  </a:txBody>
                  <a:tcPr marL="114300" marR="114300" marT="66675" marB="66675" anchor="ctr">
                    <a:solidFill>
                      <a:srgbClr val="FBECE8"/>
                    </a:solidFill>
                  </a:tcPr>
                </a:tc>
                <a:tc>
                  <a:txBody>
                    <a:bodyPr/>
                    <a:lstStyle/>
                    <a:p>
                      <a:r>
                        <a:rPr sz="2025" b="0">
                          <a:solidFill>
                            <a:srgbClr val="173047"/>
                          </a:solidFill>
                          <a:latin typeface="Arial"/>
                          <a:ea typeface="Arial"/>
                          <a:cs typeface="Arial"/>
                        </a:rPr>
                        <a:t>15</a:t>
                      </a:r>
                    </a:p>
                  </a:txBody>
                  <a:tcPr marL="114300" marR="114300" marT="66675" marB="66675" anchor="ctr">
                    <a:solidFill>
                      <a:srgbClr val="FBECE8"/>
                    </a:solidFill>
                  </a:tcPr>
                </a:tc>
                <a:tc>
                  <a:txBody>
                    <a:bodyPr/>
                    <a:lstStyle/>
                    <a:p>
                      <a:r>
                        <a:rPr sz="2025" b="0">
                          <a:solidFill>
                            <a:srgbClr val="173047"/>
                          </a:solidFill>
                          <a:latin typeface="Arial"/>
                          <a:ea typeface="Arial"/>
                          <a:cs typeface="Arial"/>
                        </a:rPr>
                        <a:t>Відсів за межею</a:t>
                      </a:r>
                    </a:p>
                  </a:txBody>
                  <a:tcPr marL="114300" marR="114300" marT="66675" marB="66675" anchor="ctr">
                    <a:solidFill>
                      <a:srgbClr val="FBECE8"/>
                    </a:solidFill>
                  </a:tcPr>
                </a:tc>
              </a:tr>
            </a:tbl>
          </a:graphicData>
        </a:graphic>
      </p:graphicFrame>
      <p:sp>
        <p:nvSpPr>
          <p:cNvPr id="5" name="">
            <a:extLst xmlns:a="http://schemas.openxmlformats.org/drawingml/2006/main">
              <a:ext uri="{FF2B5EF4-FFF2-40B4-BE49-F238E27FC236}">
                <a16:creationId xmlns:a16="http://schemas.microsoft.com/office/drawing/2014/main" id="{E9C135EB-2275-4F72-8F5A-8797C9BACC69}"/>
              </a:ext>
            </a:extLst>
          </p:cNvPr>
          <p:cNvSpPr>
            <a:spLocks xmlns:a="http://schemas.openxmlformats.org/drawingml/2006/main" noGrp="1"/>
          </p:cNvSpPr>
          <p:nvPr/>
        </p:nvSpPr>
        <p:spPr>
          <a:xfrm xmlns:a="http://schemas.openxmlformats.org/drawingml/2006/main">
            <a:off x="762000" y="52101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00857D"/>
                </a:solidFill>
                <a:latin typeface="Arial"/>
                <a:ea typeface="Arial"/>
                <a:cs typeface="Arial"/>
              </a:defRPr>
            </a:defPPr>
          </a:lstStyle>
          <a:p xmlns:a="http://schemas.openxmlformats.org/drawingml/2006/main">
            <a:pPr algn="l">
              <a:buNone/>
              <a:defRPr sz="2400" b="1">
                <a:solidFill>
                  <a:srgbClr val="00857D"/>
                </a:solidFill>
                <a:latin typeface="Arial"/>
                <a:ea typeface="Arial"/>
                <a:cs typeface="Arial"/>
              </a:defRPr>
            </a:pPr>
            <a:r>
              <a:rPr sz="2400" b="1">
                <a:solidFill>
                  <a:srgbClr val="00857D"/>
                </a:solidFill>
                <a:latin typeface="Arial"/>
                <a:ea typeface="Arial"/>
                <a:cs typeface="Arial"/>
              </a:rPr>
              <a:t>Дві гілки охоплюють усі значення бінарної xB.</a:t>
            </a:r>
          </a:p>
        </p:txBody>
      </p:sp>
    </p:spTree>
    <p:extLst>
      <p:ext uri="{BB962C8B-B14F-4D97-AF65-F5344CB8AC3E}">
        <p14:creationId xmlns:p14="http://schemas.microsoft.com/office/powerpoint/2010/main" val="62030593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42F93F9F-3032-41FD-9950-612B8AF98C2E}"/>
              </a:ext>
            </a:extLst>
          </p:cNvPr>
          <p:cNvCxnSpPr>
            <a:stCxn xmlns:a="http://schemas.openxmlformats.org/drawingml/2006/main" id="15" idx="2"/>
            <a:endCxn xmlns:a="http://schemas.openxmlformats.org/drawingml/2006/main" id="19" idx="0"/>
          </p:cNvCxnSpPr>
          <p:nvPr/>
        </p:nvCxnSpPr>
        <p:spPr>
          <a:xfrm xmlns:a="http://schemas.openxmlformats.org/drawingml/2006/main">
            <a:off x="6096000" y="2581275"/>
            <a:ext cx="2976563" cy="1133475"/>
          </a:xfrm>
          <a:prstGeom xmlns:a="http://schemas.openxmlformats.org/drawingml/2006/main" prst="straightConnector1">
            <a:avLst/>
          </a:prstGeom>
          <a:ln xmlns:a="http://schemas.openxmlformats.org/drawingml/2006/main" w="28575">
            <a:solidFill>
              <a:srgbClr val="B64436"/>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CC871899-DB53-46E7-97CE-5E2A3A01BA0D}"/>
              </a:ext>
            </a:extLst>
          </p:cNvPr>
          <p:cNvCxnSpPr>
            <a:stCxn xmlns:a="http://schemas.openxmlformats.org/drawingml/2006/main" id="15" idx="2"/>
            <a:endCxn xmlns:a="http://schemas.openxmlformats.org/drawingml/2006/main" id="17" idx="0"/>
          </p:cNvCxnSpPr>
          <p:nvPr/>
        </p:nvCxnSpPr>
        <p:spPr>
          <a:xfrm xmlns:a="http://schemas.openxmlformats.org/drawingml/2006/main" flipH="1">
            <a:off x="3071813" y="2581275"/>
            <a:ext cx="3024188" cy="1133475"/>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A33E16AA-BBD4-427F-B171-7B23D7B84066}"/>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Гілки і межі: дерево GPU-прикладу</a:t>
            </a:r>
          </a:p>
        </p:txBody>
      </p:sp>
      <p:sp>
        <p:nvSpPr>
          <p:cNvPr id="2" name="">
            <a:extLst xmlns:a="http://schemas.openxmlformats.org/drawingml/2006/main">
              <a:ext uri="{FF2B5EF4-FFF2-40B4-BE49-F238E27FC236}">
                <a16:creationId xmlns:a16="http://schemas.microsoft.com/office/drawing/2014/main" id="{78D2A9C3-A795-4FDC-9E90-C3C3AA18682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Найкраща допустима користь 15. Черга підзадач порожня.</a:t>
            </a:r>
          </a:p>
        </p:txBody>
      </p:sp>
      <p:sp>
        <p:nvSpPr>
          <p:cNvPr id="3" name="">
            <a:extLst xmlns:a="http://schemas.openxmlformats.org/drawingml/2006/main">
              <a:ext uri="{FF2B5EF4-FFF2-40B4-BE49-F238E27FC236}">
                <a16:creationId xmlns:a16="http://schemas.microsoft.com/office/drawing/2014/main" id="{7CB3981E-6001-4FDC-9CFA-C12C2F98AFF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31</a:t>
            </a:r>
          </a:p>
        </p:txBody>
      </p:sp>
      <p:sp>
        <p:nvSpPr>
          <p:cNvPr id="15" name="">
            <a:extLst xmlns:a="http://schemas.openxmlformats.org/drawingml/2006/main">
              <a:ext uri="{FF2B5EF4-FFF2-40B4-BE49-F238E27FC236}">
                <a16:creationId xmlns:a16="http://schemas.microsoft.com/office/drawing/2014/main" id="{DB69A0A7-219A-4DD3-A54C-240298299658}"/>
              </a:ext>
            </a:extLst>
          </p:cNvPr>
          <p:cNvSpPr>
            <a:spLocks xmlns:a="http://schemas.openxmlformats.org/drawingml/2006/main" noGrp="1"/>
          </p:cNvSpPr>
          <p:nvPr/>
        </p:nvSpPr>
        <p:spPr>
          <a:xfrm xmlns:a="http://schemas.openxmlformats.org/drawingml/2006/main">
            <a:off x="3476625" y="1495425"/>
            <a:ext cx="5238750" cy="108585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16" name="">
            <a:extLst xmlns:a="http://schemas.openxmlformats.org/drawingml/2006/main">
              <a:ext uri="{FF2B5EF4-FFF2-40B4-BE49-F238E27FC236}">
                <a16:creationId xmlns:a16="http://schemas.microsoft.com/office/drawing/2014/main" id="{FB423E36-4AB8-447A-8E22-3CEE918400C4}"/>
              </a:ext>
            </a:extLst>
          </p:cNvPr>
          <p:cNvSpPr>
            <a:spLocks xmlns:a="http://schemas.openxmlformats.org/drawingml/2006/main" noGrp="1"/>
          </p:cNvSpPr>
          <p:nvPr/>
        </p:nvSpPr>
        <p:spPr>
          <a:xfrm xmlns:a="http://schemas.openxmlformats.org/drawingml/2006/main">
            <a:off x="3629025" y="1571625"/>
            <a:ext cx="4933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1">
                <a:solidFill>
                  <a:srgbClr val="173047"/>
                </a:solidFill>
                <a:latin typeface="Arial"/>
                <a:ea typeface="Arial"/>
                <a:cs typeface="Arial"/>
              </a:defRPr>
            </a:defPPr>
          </a:lstStyle>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LP: xB = 0.75</a:t>
            </a:r>
          </a:p>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Верхня межа F = 15.25</a:t>
            </a:r>
          </a:p>
        </p:txBody>
      </p:sp>
      <p:sp>
        <p:nvSpPr>
          <p:cNvPr id="17" name="">
            <a:extLst xmlns:a="http://schemas.openxmlformats.org/drawingml/2006/main">
              <a:ext uri="{FF2B5EF4-FFF2-40B4-BE49-F238E27FC236}">
                <a16:creationId xmlns:a16="http://schemas.microsoft.com/office/drawing/2014/main" id="{BBE968D1-620C-490C-A2AF-D99C56BD1CB8}"/>
              </a:ext>
            </a:extLst>
          </p:cNvPr>
          <p:cNvSpPr>
            <a:spLocks xmlns:a="http://schemas.openxmlformats.org/drawingml/2006/main" noGrp="1"/>
          </p:cNvSpPr>
          <p:nvPr/>
        </p:nvSpPr>
        <p:spPr>
          <a:xfrm xmlns:a="http://schemas.openxmlformats.org/drawingml/2006/main">
            <a:off x="762000" y="3714750"/>
            <a:ext cx="4619625" cy="1495425"/>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18" name="">
            <a:extLst xmlns:a="http://schemas.openxmlformats.org/drawingml/2006/main">
              <a:ext uri="{FF2B5EF4-FFF2-40B4-BE49-F238E27FC236}">
                <a16:creationId xmlns:a16="http://schemas.microsoft.com/office/drawing/2014/main" id="{628C232E-9707-4A5C-8F4A-FDC2A460AFAD}"/>
              </a:ext>
            </a:extLst>
          </p:cNvPr>
          <p:cNvSpPr>
            <a:spLocks xmlns:a="http://schemas.openxmlformats.org/drawingml/2006/main" noGrp="1"/>
          </p:cNvSpPr>
          <p:nvPr/>
        </p:nvSpPr>
        <p:spPr>
          <a:xfrm xmlns:a="http://schemas.openxmlformats.org/drawingml/2006/main">
            <a:off x="914400" y="3790950"/>
            <a:ext cx="43148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75" b="1">
                <a:solidFill>
                  <a:srgbClr val="173047"/>
                </a:solidFill>
                <a:latin typeface="Arial"/>
                <a:ea typeface="Arial"/>
                <a:cs typeface="Arial"/>
              </a:defRPr>
            </a:defPPr>
          </a:lstStyle>
          <a:p xmlns:a="http://schemas.openxmlformats.org/drawingml/2006/main">
            <a:pPr algn="ctr">
              <a:buNone/>
              <a:defRPr sz="2475" b="1">
                <a:solidFill>
                  <a:srgbClr val="173047"/>
                </a:solidFill>
                <a:latin typeface="Arial"/>
                <a:ea typeface="Arial"/>
                <a:cs typeface="Arial"/>
              </a:defRPr>
            </a:pPr>
            <a:r>
              <a:rPr sz="2475" b="1">
                <a:solidFill>
                  <a:srgbClr val="173047"/>
                </a:solidFill>
                <a:latin typeface="Arial"/>
                <a:ea typeface="Arial"/>
                <a:cs typeface="Arial"/>
              </a:rPr>
              <a:t>xB = 0</a:t>
            </a:r>
          </a:p>
          <a:p xmlns:a="http://schemas.openxmlformats.org/drawingml/2006/main">
            <a:pPr algn="ctr">
              <a:buNone/>
              <a:defRPr sz="2475" b="1">
                <a:solidFill>
                  <a:srgbClr val="173047"/>
                </a:solidFill>
                <a:latin typeface="Arial"/>
                <a:ea typeface="Arial"/>
                <a:cs typeface="Arial"/>
              </a:defRPr>
            </a:pPr>
            <a:r>
              <a:rPr sz="2475" b="1">
                <a:solidFill>
                  <a:srgbClr val="173047"/>
                </a:solidFill>
                <a:latin typeface="Arial"/>
                <a:ea typeface="Arial"/>
                <a:cs typeface="Arial"/>
              </a:rPr>
              <a:t>Цілий план A + C</a:t>
            </a:r>
          </a:p>
          <a:p xmlns:a="http://schemas.openxmlformats.org/drawingml/2006/main">
            <a:pPr algn="ctr">
              <a:buNone/>
              <a:defRPr sz="2475" b="1">
                <a:solidFill>
                  <a:srgbClr val="173047"/>
                </a:solidFill>
                <a:latin typeface="Arial"/>
                <a:ea typeface="Arial"/>
                <a:cs typeface="Arial"/>
              </a:defRPr>
            </a:pPr>
            <a:r>
              <a:rPr sz="2475" b="1">
                <a:solidFill>
                  <a:srgbClr val="173047"/>
                </a:solidFill>
                <a:latin typeface="Arial"/>
                <a:ea typeface="Arial"/>
                <a:cs typeface="Arial"/>
              </a:rPr>
              <a:t>F = 15</a:t>
            </a:r>
          </a:p>
        </p:txBody>
      </p:sp>
      <p:sp>
        <p:nvSpPr>
          <p:cNvPr id="19" name="">
            <a:extLst xmlns:a="http://schemas.openxmlformats.org/drawingml/2006/main">
              <a:ext uri="{FF2B5EF4-FFF2-40B4-BE49-F238E27FC236}">
                <a16:creationId xmlns:a16="http://schemas.microsoft.com/office/drawing/2014/main" id="{B90AD7BE-86A0-4027-8F26-ED3CE5B717D6}"/>
              </a:ext>
            </a:extLst>
          </p:cNvPr>
          <p:cNvSpPr>
            <a:spLocks xmlns:a="http://schemas.openxmlformats.org/drawingml/2006/main" noGrp="1"/>
          </p:cNvSpPr>
          <p:nvPr/>
        </p:nvSpPr>
        <p:spPr>
          <a:xfrm xmlns:a="http://schemas.openxmlformats.org/drawingml/2006/main">
            <a:off x="6715125" y="3714750"/>
            <a:ext cx="4714875" cy="1495425"/>
          </a:xfrm>
          <a:prstGeom xmlns:a="http://schemas.openxmlformats.org/drawingml/2006/main" prst="rect">
            <a:avLst/>
          </a:prstGeom>
          <a:solidFill xmlns:a="http://schemas.openxmlformats.org/drawingml/2006/main">
            <a:srgbClr val="FBECE8"/>
          </a:solidFill>
          <a:ln xmlns:a="http://schemas.openxmlformats.org/drawingml/2006/main" w="19050">
            <a:solidFill>
              <a:srgbClr val="CDD8E1"/>
            </a:solidFill>
          </a:ln>
        </p:spPr>
      </p:sp>
      <p:sp>
        <p:nvSpPr>
          <p:cNvPr id="20" name="">
            <a:extLst xmlns:a="http://schemas.openxmlformats.org/drawingml/2006/main">
              <a:ext uri="{FF2B5EF4-FFF2-40B4-BE49-F238E27FC236}">
                <a16:creationId xmlns:a16="http://schemas.microsoft.com/office/drawing/2014/main" id="{A96E7307-9092-42C9-AA42-20ADACDC4833}"/>
              </a:ext>
            </a:extLst>
          </p:cNvPr>
          <p:cNvSpPr>
            <a:spLocks xmlns:a="http://schemas.openxmlformats.org/drawingml/2006/main" noGrp="1"/>
          </p:cNvSpPr>
          <p:nvPr/>
        </p:nvSpPr>
        <p:spPr>
          <a:xfrm xmlns:a="http://schemas.openxmlformats.org/drawingml/2006/main">
            <a:off x="6867525" y="3790950"/>
            <a:ext cx="44100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xB = 1</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LP-межа F = 15</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Кращого плану тут немає</a:t>
            </a:r>
          </a:p>
        </p:txBody>
      </p:sp>
      <p:sp>
        <p:nvSpPr>
          <p:cNvPr id="23" name="">
            <a:extLst xmlns:a="http://schemas.openxmlformats.org/drawingml/2006/main">
              <a:ext uri="{FF2B5EF4-FFF2-40B4-BE49-F238E27FC236}">
                <a16:creationId xmlns:a16="http://schemas.microsoft.com/office/drawing/2014/main" id="{35319E43-FE2A-449C-A325-0E54B7905918}"/>
              </a:ext>
            </a:extLst>
          </p:cNvPr>
          <p:cNvSpPr>
            <a:spLocks xmlns:a="http://schemas.openxmlformats.org/drawingml/2006/main" noGrp="1"/>
          </p:cNvSpPr>
          <p:nvPr/>
        </p:nvSpPr>
        <p:spPr>
          <a:xfrm xmlns:a="http://schemas.openxmlformats.org/drawingml/2006/main">
            <a:off x="809625" y="5238750"/>
            <a:ext cx="4810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857D"/>
                </a:solidFill>
                <a:latin typeface="Arial"/>
                <a:ea typeface="Arial"/>
                <a:cs typeface="Arial"/>
              </a:defRPr>
            </a:defPPr>
          </a:lstStyle>
          <a:p xmlns:a="http://schemas.openxmlformats.org/drawingml/2006/main">
            <a:pPr algn="l">
              <a:buNone/>
              <a:defRPr sz="2025" b="1">
                <a:solidFill>
                  <a:srgbClr val="00857D"/>
                </a:solidFill>
                <a:latin typeface="Arial"/>
                <a:ea typeface="Arial"/>
                <a:cs typeface="Arial"/>
              </a:defRPr>
            </a:pPr>
            <a:r>
              <a:rPr sz="2025" b="1">
                <a:solidFill>
                  <a:srgbClr val="00857D"/>
                </a:solidFill>
                <a:latin typeface="Arial"/>
                <a:ea typeface="Arial"/>
                <a:cs typeface="Arial"/>
              </a:rPr>
              <a:t>1. Знайдено допустимий план</a:t>
            </a:r>
          </a:p>
        </p:txBody>
      </p:sp>
      <p:sp>
        <p:nvSpPr>
          <p:cNvPr id="24" name="">
            <a:extLst xmlns:a="http://schemas.openxmlformats.org/drawingml/2006/main">
              <a:ext uri="{FF2B5EF4-FFF2-40B4-BE49-F238E27FC236}">
                <a16:creationId xmlns:a16="http://schemas.microsoft.com/office/drawing/2014/main" id="{5E246543-7381-4F61-929F-9007F504E34E}"/>
              </a:ext>
            </a:extLst>
          </p:cNvPr>
          <p:cNvSpPr>
            <a:spLocks xmlns:a="http://schemas.openxmlformats.org/drawingml/2006/main" noGrp="1"/>
          </p:cNvSpPr>
          <p:nvPr/>
        </p:nvSpPr>
        <p:spPr>
          <a:xfrm xmlns:a="http://schemas.openxmlformats.org/drawingml/2006/main">
            <a:off x="6715125" y="523875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B64436"/>
                </a:solidFill>
                <a:latin typeface="Arial"/>
                <a:ea typeface="Arial"/>
                <a:cs typeface="Arial"/>
              </a:defRPr>
            </a:defPPr>
          </a:lstStyle>
          <a:p xmlns:a="http://schemas.openxmlformats.org/drawingml/2006/main">
            <a:pPr algn="l">
              <a:buNone/>
              <a:defRPr sz="1950" b="1">
                <a:solidFill>
                  <a:srgbClr val="B64436"/>
                </a:solidFill>
                <a:latin typeface="Arial"/>
                <a:ea typeface="Arial"/>
                <a:cs typeface="Arial"/>
              </a:defRPr>
            </a:pPr>
            <a:r>
              <a:rPr sz="1950" b="1">
                <a:solidFill>
                  <a:srgbClr val="B64436"/>
                </a:solidFill>
                <a:latin typeface="Arial"/>
                <a:ea typeface="Arial"/>
                <a:cs typeface="Arial"/>
              </a:rPr>
              <a:t>2. Відсів: межа 15 ≤ відомих 15</a:t>
            </a:r>
          </a:p>
        </p:txBody>
      </p:sp>
    </p:spTree>
    <p:extLst>
      <p:ext uri="{BB962C8B-B14F-4D97-AF65-F5344CB8AC3E}">
        <p14:creationId xmlns:p14="http://schemas.microsoft.com/office/powerpoint/2010/main" val="160785130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4A3382-A51D-4F31-BB1F-1202944AA1E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GPU: Python і результат</a:t>
            </a:r>
          </a:p>
        </p:txBody>
      </p:sp>
      <p:sp>
        <p:nvSpPr>
          <p:cNvPr id="2" name="">
            <a:extLst xmlns:a="http://schemas.openxmlformats.org/drawingml/2006/main">
              <a:ext uri="{FF2B5EF4-FFF2-40B4-BE49-F238E27FC236}">
                <a16:creationId xmlns:a16="http://schemas.microsoft.com/office/drawing/2014/main" id="{FE166F35-5190-4CC1-8D5B-6792A5D10B7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−v перетворює максимум користі на мінімум.</a:t>
            </a:r>
          </a:p>
        </p:txBody>
      </p:sp>
      <p:sp>
        <p:nvSpPr>
          <p:cNvPr id="3" name="">
            <a:extLst xmlns:a="http://schemas.openxmlformats.org/drawingml/2006/main">
              <a:ext uri="{FF2B5EF4-FFF2-40B4-BE49-F238E27FC236}">
                <a16:creationId xmlns:a16="http://schemas.microsoft.com/office/drawing/2014/main" id="{26FD2D09-CF1C-4267-973C-A4677B1ED550}"/>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08CABBC3-C3B8-4499-977A-B40656D65D74}"/>
              </a:ext>
            </a:extLst>
          </p:cNvPr>
          <p:cNvSpPr>
            <a:spLocks xmlns:a="http://schemas.openxmlformats.org/drawingml/2006/main" noGrp="1"/>
          </p:cNvSpPr>
          <p:nvPr/>
        </p:nvSpPr>
        <p:spPr>
          <a:xfrm xmlns:a="http://schemas.openxmlformats.org/drawingml/2006/main">
            <a:off x="762000" y="1504950"/>
            <a:ext cx="10668000" cy="24475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37DD35-8DD5-4A00-8949-36695E2B555F}"/>
              </a:ext>
            </a:extLst>
          </p:cNvPr>
          <p:cNvSpPr>
            <a:spLocks xmlns:a="http://schemas.openxmlformats.org/drawingml/2006/main" noGrp="1"/>
          </p:cNvSpPr>
          <p:nvPr/>
        </p:nvSpPr>
        <p:spPr>
          <a:xfrm xmlns:a="http://schemas.openxmlformats.org/drawingml/2006/main">
            <a:off x="933450" y="1581150"/>
            <a:ext cx="10325100" cy="2295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CB7070AD-D11A-4BD3-8E8F-E9A173495D3F}"/>
              </a:ext>
            </a:extLst>
          </p:cNvPr>
          <p:cNvSpPr>
            <a:spLocks xmlns:a="http://schemas.openxmlformats.org/drawingml/2006/main" noGrp="1"/>
          </p:cNvSpPr>
          <p:nvPr/>
        </p:nvSpPr>
        <p:spPr>
          <a:xfrm xmlns:a="http://schemas.openxmlformats.org/drawingml/2006/main">
            <a:off x="762000" y="4200144"/>
            <a:ext cx="10668000" cy="100965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ABFB0CA-AC3C-4069-B2DB-3F4B0E6A7C14}"/>
              </a:ext>
            </a:extLst>
          </p:cNvPr>
          <p:cNvSpPr>
            <a:spLocks xmlns:a="http://schemas.openxmlformats.org/drawingml/2006/main" noGrp="1"/>
          </p:cNvSpPr>
          <p:nvPr/>
        </p:nvSpPr>
        <p:spPr>
          <a:xfrm xmlns:a="http://schemas.openxmlformats.org/drawingml/2006/main">
            <a:off x="933450" y="4257294"/>
            <a:ext cx="10325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Courier New"/>
                <a:ea typeface="Courier New"/>
                <a:cs typeface="Courier New"/>
              </a:defRPr>
            </a:defPPr>
          </a:lstStyle>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[ 1.  0.  1. -0.] F = 15.0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GPU hours = 8.0</a:t>
            </a:r>
          </a:p>
        </p:txBody>
      </p:sp>
      <p:sp>
        <p:nvSpPr>
          <p:cNvPr id="9" name="">
            <a:extLst xmlns:a="http://schemas.openxmlformats.org/drawingml/2006/main">
              <a:ext uri="{FF2B5EF4-FFF2-40B4-BE49-F238E27FC236}">
                <a16:creationId xmlns:a16="http://schemas.microsoft.com/office/drawing/2014/main" id="{4E5CFB40-44F7-41E3-9F83-E8506FA2D742}"/>
              </a:ext>
            </a:extLst>
          </p:cNvPr>
          <p:cNvSpPr>
            <a:spLocks xmlns:a="http://schemas.openxmlformats.org/drawingml/2006/main" noGrp="1"/>
          </p:cNvSpPr>
          <p:nvPr/>
        </p:nvSpPr>
        <p:spPr>
          <a:xfrm xmlns:a="http://schemas.openxmlformats.org/drawingml/2006/main">
            <a:off x="933450" y="158115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import numpy as np</a:t>
            </a:r>
          </a:p>
        </p:txBody>
      </p:sp>
      <p:sp>
        <p:nvSpPr>
          <p:cNvPr id="10" name="">
            <a:extLst xmlns:a="http://schemas.openxmlformats.org/drawingml/2006/main">
              <a:ext uri="{FF2B5EF4-FFF2-40B4-BE49-F238E27FC236}">
                <a16:creationId xmlns:a16="http://schemas.microsoft.com/office/drawing/2014/main" id="{2A785228-2235-4528-BDC0-8B2BFE8D2EAF}"/>
              </a:ext>
            </a:extLst>
          </p:cNvPr>
          <p:cNvSpPr>
            <a:spLocks xmlns:a="http://schemas.openxmlformats.org/drawingml/2006/main" noGrp="1"/>
          </p:cNvSpPr>
          <p:nvPr/>
        </p:nvSpPr>
        <p:spPr>
          <a:xfrm xmlns:a="http://schemas.openxmlformats.org/drawingml/2006/main">
            <a:off x="933450" y="185851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scipy.optimize import milp, Bounds, LinearConstraint</a:t>
            </a:r>
          </a:p>
        </p:txBody>
      </p:sp>
      <p:sp>
        <p:nvSpPr>
          <p:cNvPr id="11" name="">
            <a:extLst xmlns:a="http://schemas.openxmlformats.org/drawingml/2006/main">
              <a:ext uri="{FF2B5EF4-FFF2-40B4-BE49-F238E27FC236}">
                <a16:creationId xmlns:a16="http://schemas.microsoft.com/office/drawing/2014/main" id="{FA171CA3-F02D-40CE-803B-41987F7C37D9}"/>
              </a:ext>
            </a:extLst>
          </p:cNvPr>
          <p:cNvSpPr>
            <a:spLocks xmlns:a="http://schemas.openxmlformats.org/drawingml/2006/main" noGrp="1"/>
          </p:cNvSpPr>
          <p:nvPr/>
        </p:nvSpPr>
        <p:spPr>
          <a:xfrm xmlns:a="http://schemas.openxmlformats.org/drawingml/2006/main">
            <a:off x="933450" y="213588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w = np.array([5, 4, 3, 2]); v = np.array([10, 7, 5, 3])</a:t>
            </a:r>
          </a:p>
        </p:txBody>
      </p:sp>
      <p:sp>
        <p:nvSpPr>
          <p:cNvPr id="12" name="">
            <a:extLst xmlns:a="http://schemas.openxmlformats.org/drawingml/2006/main">
              <a:ext uri="{FF2B5EF4-FFF2-40B4-BE49-F238E27FC236}">
                <a16:creationId xmlns:a16="http://schemas.microsoft.com/office/drawing/2014/main" id="{952ED53B-5831-4767-9BED-B07C244513D3}"/>
              </a:ext>
            </a:extLst>
          </p:cNvPr>
          <p:cNvSpPr>
            <a:spLocks xmlns:a="http://schemas.openxmlformats.org/drawingml/2006/main" noGrp="1"/>
          </p:cNvSpPr>
          <p:nvPr/>
        </p:nvSpPr>
        <p:spPr>
          <a:xfrm xmlns:a="http://schemas.openxmlformats.org/drawingml/2006/main">
            <a:off x="933450" y="2413254"/>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 = milp(-v, integrality=np.ones(4), bounds=Bounds(0, 1),</a:t>
            </a:r>
          </a:p>
        </p:txBody>
      </p:sp>
      <p:sp>
        <p:nvSpPr>
          <p:cNvPr id="13" name="">
            <a:extLst xmlns:a="http://schemas.openxmlformats.org/drawingml/2006/main">
              <a:ext uri="{FF2B5EF4-FFF2-40B4-BE49-F238E27FC236}">
                <a16:creationId xmlns:a16="http://schemas.microsoft.com/office/drawing/2014/main" id="{3F668B52-D16E-4CAF-9520-551A9757A027}"/>
              </a:ext>
            </a:extLst>
          </p:cNvPr>
          <p:cNvSpPr>
            <a:spLocks xmlns:a="http://schemas.openxmlformats.org/drawingml/2006/main" noGrp="1"/>
          </p:cNvSpPr>
          <p:nvPr/>
        </p:nvSpPr>
        <p:spPr>
          <a:xfrm xmlns:a="http://schemas.openxmlformats.org/drawingml/2006/main">
            <a:off x="933450" y="2690622"/>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constraints=LinearConstraint([w], [-np.inf], [8]))</a:t>
            </a:r>
          </a:p>
        </p:txBody>
      </p:sp>
      <p:sp>
        <p:nvSpPr>
          <p:cNvPr id="14" name="">
            <a:extLst xmlns:a="http://schemas.openxmlformats.org/drawingml/2006/main">
              <a:ext uri="{FF2B5EF4-FFF2-40B4-BE49-F238E27FC236}">
                <a16:creationId xmlns:a16="http://schemas.microsoft.com/office/drawing/2014/main" id="{3BD4C745-A541-482D-8E9F-F015357F0A67}"/>
              </a:ext>
            </a:extLst>
          </p:cNvPr>
          <p:cNvSpPr>
            <a:spLocks xmlns:a="http://schemas.openxmlformats.org/drawingml/2006/main" noGrp="1"/>
          </p:cNvSpPr>
          <p:nvPr/>
        </p:nvSpPr>
        <p:spPr>
          <a:xfrm xmlns:a="http://schemas.openxmlformats.org/drawingml/2006/main">
            <a:off x="933450" y="296799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r.success, r.message</a:t>
            </a:r>
          </a:p>
        </p:txBody>
      </p:sp>
      <p:sp>
        <p:nvSpPr>
          <p:cNvPr id="15" name="">
            <a:extLst xmlns:a="http://schemas.openxmlformats.org/drawingml/2006/main">
              <a:ext uri="{FF2B5EF4-FFF2-40B4-BE49-F238E27FC236}">
                <a16:creationId xmlns:a16="http://schemas.microsoft.com/office/drawing/2014/main" id="{5AE1D1D0-45A4-4298-BFB1-9C50A03897E8}"/>
              </a:ext>
            </a:extLst>
          </p:cNvPr>
          <p:cNvSpPr>
            <a:spLocks xmlns:a="http://schemas.openxmlformats.org/drawingml/2006/main" noGrp="1"/>
          </p:cNvSpPr>
          <p:nvPr/>
        </p:nvSpPr>
        <p:spPr>
          <a:xfrm xmlns:a="http://schemas.openxmlformats.org/drawingml/2006/main">
            <a:off x="933450" y="324535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print(r.x, "F =", -r.fun)</a:t>
            </a:r>
          </a:p>
        </p:txBody>
      </p:sp>
      <p:sp>
        <p:nvSpPr>
          <p:cNvPr id="16" name="">
            <a:extLst xmlns:a="http://schemas.openxmlformats.org/drawingml/2006/main">
              <a:ext uri="{FF2B5EF4-FFF2-40B4-BE49-F238E27FC236}">
                <a16:creationId xmlns:a16="http://schemas.microsoft.com/office/drawing/2014/main" id="{4CACF350-3477-4EBA-85F7-E33A8A37A115}"/>
              </a:ext>
            </a:extLst>
          </p:cNvPr>
          <p:cNvSpPr>
            <a:spLocks xmlns:a="http://schemas.openxmlformats.org/drawingml/2006/main" noGrp="1"/>
          </p:cNvSpPr>
          <p:nvPr/>
        </p:nvSpPr>
        <p:spPr>
          <a:xfrm xmlns:a="http://schemas.openxmlformats.org/drawingml/2006/main">
            <a:off x="933450" y="352272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print("GPU hours =", w @ r.x)</a:t>
            </a:r>
          </a:p>
        </p:txBody>
      </p:sp>
    </p:spTree>
    <p:extLst>
      <p:ext uri="{BB962C8B-B14F-4D97-AF65-F5344CB8AC3E}">
        <p14:creationId xmlns:p14="http://schemas.microsoft.com/office/powerpoint/2010/main" val="479064527"/>
      </p:ext>
    </p:extLst>
  </p:cSld>
</p:sld>
</file>

<file path=ppt/slides/slide33.xml><?xml version="1.0" encoding="utf-8"?>
<p:sld xmlns:p="http://schemas.openxmlformats.org/presentationml/2006/main">
  <p:cSld>
    <p:bg>
      <p:bgPr>
        <a:solidFill xmlns:a="http://schemas.openxmlformats.org/drawingml/2006/main">
          <a:srgbClr val="17304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1EA4152-DD27-4E87-9EF1-32BAFC3F031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buNone/>
              <a:defRPr sz="1350" b="0">
                <a:solidFill>
                  <a:srgbClr val="FFFFFF"/>
                </a:solidFill>
                <a:latin typeface="Arial"/>
                <a:ea typeface="Arial"/>
                <a:cs typeface="Arial"/>
              </a:defRPr>
            </a:pPr>
            <a:r>
              <a:rPr sz="1350" b="0">
                <a:solidFill>
                  <a:srgbClr val="FFFFFF"/>
                </a:solidFill>
                <a:latin typeface="Arial"/>
                <a:ea typeface="Arial"/>
                <a:cs typeface="Arial"/>
              </a:rPr>
              <a:t>33</a:t>
            </a:r>
          </a:p>
        </p:txBody>
      </p:sp>
      <p:sp>
        <p:nvSpPr>
          <p:cNvPr id="2" name="">
            <a:extLst xmlns:a="http://schemas.openxmlformats.org/drawingml/2006/main">
              <a:ext uri="{FF2B5EF4-FFF2-40B4-BE49-F238E27FC236}">
                <a16:creationId xmlns:a16="http://schemas.microsoft.com/office/drawing/2014/main" id="{7466869E-2A4D-4FB2-A9AC-382D81AC3FFD}"/>
              </a:ext>
            </a:extLst>
          </p:cNvPr>
          <p:cNvSpPr>
            <a:spLocks xmlns:a="http://schemas.openxmlformats.org/drawingml/2006/main" noGrp="1"/>
          </p:cNvSpPr>
          <p:nvPr/>
        </p:nvSpPr>
        <p:spPr>
          <a:xfrm xmlns:a="http://schemas.openxmlformats.org/drawingml/2006/main">
            <a:off x="762000" y="142875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400" b="1">
                <a:solidFill>
                  <a:srgbClr val="FFFFFF"/>
                </a:solidFill>
                <a:latin typeface="Arial"/>
                <a:ea typeface="Arial"/>
                <a:cs typeface="Arial"/>
              </a:defRPr>
            </a:defPPr>
          </a:lstStyle>
          <a:p xmlns:a="http://schemas.openxmlformats.org/drawingml/2006/main">
            <a:pPr algn="l">
              <a:buNone/>
              <a:defRPr sz="5400" b="1">
                <a:solidFill>
                  <a:srgbClr val="FFFFFF"/>
                </a:solidFill>
                <a:latin typeface="Arial"/>
                <a:ea typeface="Arial"/>
                <a:cs typeface="Arial"/>
              </a:defRPr>
            </a:pPr>
            <a:r>
              <a:rPr sz="5400" b="1">
                <a:solidFill>
                  <a:srgbClr val="FFFFFF"/>
                </a:solidFill>
                <a:latin typeface="Arial"/>
                <a:ea typeface="Arial"/>
                <a:cs typeface="Arial"/>
              </a:rPr>
              <a:t>Задача</a:t>
            </a:r>
          </a:p>
          <a:p xmlns:a="http://schemas.openxmlformats.org/drawingml/2006/main">
            <a:pPr algn="l">
              <a:buNone/>
              <a:defRPr sz="5400" b="1">
                <a:solidFill>
                  <a:srgbClr val="FFFFFF"/>
                </a:solidFill>
                <a:latin typeface="Arial"/>
                <a:ea typeface="Arial"/>
                <a:cs typeface="Arial"/>
              </a:defRPr>
            </a:pPr>
            <a:r>
              <a:rPr sz="5400" b="1">
                <a:solidFill>
                  <a:srgbClr val="FFFFFF"/>
                </a:solidFill>
                <a:latin typeface="Arial"/>
                <a:ea typeface="Arial"/>
                <a:cs typeface="Arial"/>
              </a:rPr>
              <a:t>комівояжера</a:t>
            </a:r>
          </a:p>
        </p:txBody>
      </p:sp>
      <p:sp>
        <p:nvSpPr>
          <p:cNvPr id="3" name="">
            <a:extLst xmlns:a="http://schemas.openxmlformats.org/drawingml/2006/main">
              <a:ext uri="{FF2B5EF4-FFF2-40B4-BE49-F238E27FC236}">
                <a16:creationId xmlns:a16="http://schemas.microsoft.com/office/drawing/2014/main" id="{D58199AF-2BEA-4367-B6A3-4CF5021D43AD}"/>
              </a:ext>
            </a:extLst>
          </p:cNvPr>
          <p:cNvSpPr>
            <a:spLocks xmlns:a="http://schemas.openxmlformats.org/drawingml/2006/main" noGrp="1"/>
          </p:cNvSpPr>
          <p:nvPr/>
        </p:nvSpPr>
        <p:spPr>
          <a:xfrm xmlns:a="http://schemas.openxmlformats.org/drawingml/2006/main">
            <a:off x="762000" y="414337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0">
                <a:solidFill>
                  <a:srgbClr val="FFFFFF"/>
                </a:solidFill>
                <a:latin typeface="Arial"/>
                <a:ea typeface="Arial"/>
                <a:cs typeface="Arial"/>
              </a:defRPr>
            </a:defPPr>
          </a:lstStyle>
          <a:p xmlns:a="http://schemas.openxmlformats.org/drawingml/2006/main">
            <a:pPr algn="l">
              <a:buNone/>
              <a:defRPr sz="2850" b="0">
                <a:solidFill>
                  <a:srgbClr val="FFFFFF"/>
                </a:solidFill>
                <a:latin typeface="Arial"/>
                <a:ea typeface="Arial"/>
                <a:cs typeface="Arial"/>
              </a:defRPr>
            </a:pPr>
            <a:r>
              <a:rPr sz="2850" b="0">
                <a:solidFill>
                  <a:srgbClr val="FFFFFF"/>
                </a:solidFill>
                <a:latin typeface="Arial"/>
                <a:ea typeface="Arial"/>
                <a:cs typeface="Arial"/>
              </a:rPr>
              <a:t>Один маршрут через усі майданчики</a:t>
            </a:r>
          </a:p>
          <a:p xmlns:a="http://schemas.openxmlformats.org/drawingml/2006/main">
            <a:pPr algn="l">
              <a:buNone/>
              <a:defRPr sz="2850" b="0">
                <a:solidFill>
                  <a:srgbClr val="FFFFFF"/>
                </a:solidFill>
                <a:latin typeface="Arial"/>
                <a:ea typeface="Arial"/>
                <a:cs typeface="Arial"/>
              </a:defRPr>
            </a:pPr>
            <a:r>
              <a:rPr sz="2850" b="0">
                <a:solidFill>
                  <a:srgbClr val="FFFFFF"/>
                </a:solidFill>
                <a:latin typeface="Arial"/>
                <a:ea typeface="Arial"/>
                <a:cs typeface="Arial"/>
              </a:rPr>
              <a:t>з поверненням на базу</a:t>
            </a:r>
          </a:p>
        </p:txBody>
      </p:sp>
    </p:spTree>
    <p:extLst>
      <p:ext uri="{BB962C8B-B14F-4D97-AF65-F5344CB8AC3E}">
        <p14:creationId xmlns:p14="http://schemas.microsoft.com/office/powerpoint/2010/main" val="209372300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9CCBFD-65F6-49B8-9FF0-782680AE1C6A}"/>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ІТ-постановка: обслуговування майданчиків</a:t>
            </a:r>
          </a:p>
        </p:txBody>
      </p:sp>
      <p:sp>
        <p:nvSpPr>
          <p:cNvPr id="2" name="">
            <a:extLst xmlns:a="http://schemas.openxmlformats.org/drawingml/2006/main">
              <a:ext uri="{FF2B5EF4-FFF2-40B4-BE49-F238E27FC236}">
                <a16:creationId xmlns:a16="http://schemas.microsoft.com/office/drawing/2014/main" id="{3AC6E387-945E-4BA2-A987-C73F6A26010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Інженер починає на базі S, відвідує A–E і повертається в S.</a:t>
            </a:r>
          </a:p>
        </p:txBody>
      </p:sp>
      <p:sp>
        <p:nvSpPr>
          <p:cNvPr id="3" name="">
            <a:extLst xmlns:a="http://schemas.openxmlformats.org/drawingml/2006/main">
              <a:ext uri="{FF2B5EF4-FFF2-40B4-BE49-F238E27FC236}">
                <a16:creationId xmlns:a16="http://schemas.microsoft.com/office/drawing/2014/main" id="{333679FC-B1EC-4C00-AC41-9AE3C6BCA21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34</a:t>
            </a:r>
          </a:p>
        </p:txBody>
      </p:sp>
      <p:sp>
        <p:nvSpPr>
          <p:cNvPr id="4" name="">
            <a:extLst xmlns:a="http://schemas.openxmlformats.org/drawingml/2006/main">
              <a:ext uri="{FF2B5EF4-FFF2-40B4-BE49-F238E27FC236}">
                <a16:creationId xmlns:a16="http://schemas.microsoft.com/office/drawing/2014/main" id="{FE53F3DB-DC3F-45D0-9632-FC692524322D}"/>
              </a:ext>
            </a:extLst>
          </p:cNvPr>
          <p:cNvSpPr>
            <a:spLocks xmlns:a="http://schemas.openxmlformats.org/drawingml/2006/main" noGrp="1"/>
          </p:cNvSpPr>
          <p:nvPr/>
        </p:nvSpPr>
        <p:spPr>
          <a:xfrm xmlns:a="http://schemas.openxmlformats.org/drawingml/2006/main">
            <a:off x="1314450" y="2743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5" name="">
            <a:extLst xmlns:a="http://schemas.openxmlformats.org/drawingml/2006/main">
              <a:ext uri="{FF2B5EF4-FFF2-40B4-BE49-F238E27FC236}">
                <a16:creationId xmlns:a16="http://schemas.microsoft.com/office/drawing/2014/main" id="{AC0A5855-B57F-4E47-A2ED-2ADE28E007D4}"/>
              </a:ext>
            </a:extLst>
          </p:cNvPr>
          <p:cNvSpPr>
            <a:spLocks xmlns:a="http://schemas.openxmlformats.org/drawingml/2006/main" noGrp="1"/>
          </p:cNvSpPr>
          <p:nvPr/>
        </p:nvSpPr>
        <p:spPr>
          <a:xfrm xmlns:a="http://schemas.openxmlformats.org/drawingml/2006/main">
            <a:off x="1409700" y="2819400"/>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S</a:t>
            </a:r>
          </a:p>
        </p:txBody>
      </p:sp>
      <p:sp>
        <p:nvSpPr>
          <p:cNvPr id="6" name="">
            <a:extLst xmlns:a="http://schemas.openxmlformats.org/drawingml/2006/main">
              <a:ext uri="{FF2B5EF4-FFF2-40B4-BE49-F238E27FC236}">
                <a16:creationId xmlns:a16="http://schemas.microsoft.com/office/drawing/2014/main" id="{EE605970-0D59-4E34-ABC2-BD95CAB2B1A2}"/>
              </a:ext>
            </a:extLst>
          </p:cNvPr>
          <p:cNvSpPr>
            <a:spLocks xmlns:a="http://schemas.openxmlformats.org/drawingml/2006/main" noGrp="1"/>
          </p:cNvSpPr>
          <p:nvPr/>
        </p:nvSpPr>
        <p:spPr>
          <a:xfrm xmlns:a="http://schemas.openxmlformats.org/drawingml/2006/main">
            <a:off x="3886200" y="1600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7" name="">
            <a:extLst xmlns:a="http://schemas.openxmlformats.org/drawingml/2006/main">
              <a:ext uri="{FF2B5EF4-FFF2-40B4-BE49-F238E27FC236}">
                <a16:creationId xmlns:a16="http://schemas.microsoft.com/office/drawing/2014/main" id="{3A6DC287-3F48-43E2-8831-3766FD33B8C3}"/>
              </a:ext>
            </a:extLst>
          </p:cNvPr>
          <p:cNvSpPr>
            <a:spLocks xmlns:a="http://schemas.openxmlformats.org/drawingml/2006/main" noGrp="1"/>
          </p:cNvSpPr>
          <p:nvPr/>
        </p:nvSpPr>
        <p:spPr>
          <a:xfrm xmlns:a="http://schemas.openxmlformats.org/drawingml/2006/main">
            <a:off x="3981450" y="1676400"/>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A</a:t>
            </a:r>
          </a:p>
        </p:txBody>
      </p:sp>
      <p:sp>
        <p:nvSpPr>
          <p:cNvPr id="8" name="">
            <a:extLst xmlns:a="http://schemas.openxmlformats.org/drawingml/2006/main">
              <a:ext uri="{FF2B5EF4-FFF2-40B4-BE49-F238E27FC236}">
                <a16:creationId xmlns:a16="http://schemas.microsoft.com/office/drawing/2014/main" id="{9978885F-F337-4396-A1BB-48B96398227A}"/>
              </a:ext>
            </a:extLst>
          </p:cNvPr>
          <p:cNvSpPr>
            <a:spLocks xmlns:a="http://schemas.openxmlformats.org/drawingml/2006/main" noGrp="1"/>
          </p:cNvSpPr>
          <p:nvPr/>
        </p:nvSpPr>
        <p:spPr>
          <a:xfrm xmlns:a="http://schemas.openxmlformats.org/drawingml/2006/main">
            <a:off x="7696200" y="4219575"/>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9" name="">
            <a:extLst xmlns:a="http://schemas.openxmlformats.org/drawingml/2006/main">
              <a:ext uri="{FF2B5EF4-FFF2-40B4-BE49-F238E27FC236}">
                <a16:creationId xmlns:a16="http://schemas.microsoft.com/office/drawing/2014/main" id="{A52C02DC-13FF-43B8-9895-C87825A0A1E6}"/>
              </a:ext>
            </a:extLst>
          </p:cNvPr>
          <p:cNvSpPr>
            <a:spLocks xmlns:a="http://schemas.openxmlformats.org/drawingml/2006/main" noGrp="1"/>
          </p:cNvSpPr>
          <p:nvPr/>
        </p:nvSpPr>
        <p:spPr>
          <a:xfrm xmlns:a="http://schemas.openxmlformats.org/drawingml/2006/main">
            <a:off x="7791450" y="4295775"/>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B</a:t>
            </a:r>
          </a:p>
        </p:txBody>
      </p:sp>
      <p:sp>
        <p:nvSpPr>
          <p:cNvPr id="10" name="">
            <a:extLst xmlns:a="http://schemas.openxmlformats.org/drawingml/2006/main">
              <a:ext uri="{FF2B5EF4-FFF2-40B4-BE49-F238E27FC236}">
                <a16:creationId xmlns:a16="http://schemas.microsoft.com/office/drawing/2014/main" id="{EC780ECC-FCB2-4F09-87D0-65B95C759C83}"/>
              </a:ext>
            </a:extLst>
          </p:cNvPr>
          <p:cNvSpPr>
            <a:spLocks xmlns:a="http://schemas.openxmlformats.org/drawingml/2006/main" noGrp="1"/>
          </p:cNvSpPr>
          <p:nvPr/>
        </p:nvSpPr>
        <p:spPr>
          <a:xfrm xmlns:a="http://schemas.openxmlformats.org/drawingml/2006/main">
            <a:off x="3886200" y="4219575"/>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1" name="">
            <a:extLst xmlns:a="http://schemas.openxmlformats.org/drawingml/2006/main">
              <a:ext uri="{FF2B5EF4-FFF2-40B4-BE49-F238E27FC236}">
                <a16:creationId xmlns:a16="http://schemas.microsoft.com/office/drawing/2014/main" id="{023F4F7B-6CFC-4942-9CEC-91A411DC8394}"/>
              </a:ext>
            </a:extLst>
          </p:cNvPr>
          <p:cNvSpPr>
            <a:spLocks xmlns:a="http://schemas.openxmlformats.org/drawingml/2006/main" noGrp="1"/>
          </p:cNvSpPr>
          <p:nvPr/>
        </p:nvSpPr>
        <p:spPr>
          <a:xfrm xmlns:a="http://schemas.openxmlformats.org/drawingml/2006/main">
            <a:off x="3981450" y="4295775"/>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C</a:t>
            </a:r>
          </a:p>
        </p:txBody>
      </p:sp>
      <p:sp>
        <p:nvSpPr>
          <p:cNvPr id="12" name="">
            <a:extLst xmlns:a="http://schemas.openxmlformats.org/drawingml/2006/main">
              <a:ext uri="{FF2B5EF4-FFF2-40B4-BE49-F238E27FC236}">
                <a16:creationId xmlns:a16="http://schemas.microsoft.com/office/drawing/2014/main" id="{D12A9534-5BA1-4B4C-A62B-F6F4E72376B1}"/>
              </a:ext>
            </a:extLst>
          </p:cNvPr>
          <p:cNvSpPr>
            <a:spLocks xmlns:a="http://schemas.openxmlformats.org/drawingml/2006/main" noGrp="1"/>
          </p:cNvSpPr>
          <p:nvPr/>
        </p:nvSpPr>
        <p:spPr>
          <a:xfrm xmlns:a="http://schemas.openxmlformats.org/drawingml/2006/main">
            <a:off x="10172700" y="2743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3" name="">
            <a:extLst xmlns:a="http://schemas.openxmlformats.org/drawingml/2006/main">
              <a:ext uri="{FF2B5EF4-FFF2-40B4-BE49-F238E27FC236}">
                <a16:creationId xmlns:a16="http://schemas.microsoft.com/office/drawing/2014/main" id="{7E96208F-8D3E-436F-9319-8203FAD11C09}"/>
              </a:ext>
            </a:extLst>
          </p:cNvPr>
          <p:cNvSpPr>
            <a:spLocks xmlns:a="http://schemas.openxmlformats.org/drawingml/2006/main" noGrp="1"/>
          </p:cNvSpPr>
          <p:nvPr/>
        </p:nvSpPr>
        <p:spPr>
          <a:xfrm xmlns:a="http://schemas.openxmlformats.org/drawingml/2006/main">
            <a:off x="10267950" y="2819400"/>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D</a:t>
            </a:r>
          </a:p>
        </p:txBody>
      </p:sp>
      <p:sp>
        <p:nvSpPr>
          <p:cNvPr id="14" name="">
            <a:extLst xmlns:a="http://schemas.openxmlformats.org/drawingml/2006/main">
              <a:ext uri="{FF2B5EF4-FFF2-40B4-BE49-F238E27FC236}">
                <a16:creationId xmlns:a16="http://schemas.microsoft.com/office/drawing/2014/main" id="{DDFE6FDA-B2A5-435B-BCAA-AA61B8881DD6}"/>
              </a:ext>
            </a:extLst>
          </p:cNvPr>
          <p:cNvSpPr>
            <a:spLocks xmlns:a="http://schemas.openxmlformats.org/drawingml/2006/main" noGrp="1"/>
          </p:cNvSpPr>
          <p:nvPr/>
        </p:nvSpPr>
        <p:spPr>
          <a:xfrm xmlns:a="http://schemas.openxmlformats.org/drawingml/2006/main">
            <a:off x="7696200" y="1600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5" name="">
            <a:extLst xmlns:a="http://schemas.openxmlformats.org/drawingml/2006/main">
              <a:ext uri="{FF2B5EF4-FFF2-40B4-BE49-F238E27FC236}">
                <a16:creationId xmlns:a16="http://schemas.microsoft.com/office/drawing/2014/main" id="{B6FBBE58-EE01-459E-9719-31430F904066}"/>
              </a:ext>
            </a:extLst>
          </p:cNvPr>
          <p:cNvSpPr>
            <a:spLocks xmlns:a="http://schemas.openxmlformats.org/drawingml/2006/main" noGrp="1"/>
          </p:cNvSpPr>
          <p:nvPr/>
        </p:nvSpPr>
        <p:spPr>
          <a:xfrm xmlns:a="http://schemas.openxmlformats.org/drawingml/2006/main">
            <a:off x="7791450" y="1676400"/>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E</a:t>
            </a:r>
          </a:p>
        </p:txBody>
      </p:sp>
      <p:sp>
        <p:nvSpPr>
          <p:cNvPr id="16" name="">
            <a:extLst xmlns:a="http://schemas.openxmlformats.org/drawingml/2006/main">
              <a:ext uri="{FF2B5EF4-FFF2-40B4-BE49-F238E27FC236}">
                <a16:creationId xmlns:a16="http://schemas.microsoft.com/office/drawing/2014/main" id="{0A574F90-5579-48D6-BE6D-BFE93F69873C}"/>
              </a:ext>
            </a:extLst>
          </p:cNvPr>
          <p:cNvSpPr>
            <a:spLocks xmlns:a="http://schemas.openxmlformats.org/drawingml/2006/main" noGrp="1"/>
          </p:cNvSpPr>
          <p:nvPr/>
        </p:nvSpPr>
        <p:spPr>
          <a:xfrm xmlns:a="http://schemas.openxmlformats.org/drawingml/2006/main">
            <a:off x="762000" y="53054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66779"/>
                </a:solidFill>
                <a:latin typeface="Arial"/>
                <a:ea typeface="Arial"/>
                <a:cs typeface="Arial"/>
              </a:defRPr>
            </a:defPPr>
          </a:lstStyle>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S — база. A–E — майданчики з обчислювальними вузлами.</a:t>
            </a:r>
          </a:p>
        </p:txBody>
      </p:sp>
      <p:sp>
        <p:nvSpPr>
          <p:cNvPr id="17" name="">
            <a:extLst xmlns:a="http://schemas.openxmlformats.org/drawingml/2006/main">
              <a:ext uri="{FF2B5EF4-FFF2-40B4-BE49-F238E27FC236}">
                <a16:creationId xmlns:a16="http://schemas.microsoft.com/office/drawing/2014/main" id="{429F7B86-1FFA-4B4C-9460-1F3886737DB6}"/>
              </a:ext>
            </a:extLst>
          </p:cNvPr>
          <p:cNvSpPr>
            <a:spLocks xmlns:a="http://schemas.openxmlformats.org/drawingml/2006/main" noGrp="1"/>
          </p:cNvSpPr>
          <p:nvPr/>
        </p:nvSpPr>
        <p:spPr>
          <a:xfrm xmlns:a="http://schemas.openxmlformats.org/drawingml/2006/main">
            <a:off x="3333750" y="2809875"/>
            <a:ext cx="5429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625" b="1">
                <a:solidFill>
                  <a:srgbClr val="00857D"/>
                </a:solidFill>
                <a:latin typeface="Arial"/>
                <a:ea typeface="Arial"/>
                <a:cs typeface="Arial"/>
              </a:defRPr>
            </a:defPPr>
          </a:lstStyle>
          <a:p xmlns:a="http://schemas.openxmlformats.org/drawingml/2006/main">
            <a:pPr algn="ctr">
              <a:buNone/>
              <a:defRPr sz="2625" b="1">
                <a:solidFill>
                  <a:srgbClr val="00857D"/>
                </a:solidFill>
                <a:latin typeface="Arial"/>
                <a:ea typeface="Arial"/>
                <a:cs typeface="Arial"/>
              </a:defRPr>
            </a:pPr>
            <a:r>
              <a:rPr sz="2625" b="1">
                <a:solidFill>
                  <a:srgbClr val="00857D"/>
                </a:solidFill>
                <a:latin typeface="Arial"/>
                <a:ea typeface="Arial"/>
                <a:cs typeface="Arial"/>
              </a:rPr>
              <a:t>Який порядок відвідування</a:t>
            </a:r>
          </a:p>
          <a:p xmlns:a="http://schemas.openxmlformats.org/drawingml/2006/main">
            <a:pPr algn="ctr">
              <a:buNone/>
              <a:defRPr sz="2625" b="1">
                <a:solidFill>
                  <a:srgbClr val="00857D"/>
                </a:solidFill>
                <a:latin typeface="Arial"/>
                <a:ea typeface="Arial"/>
                <a:cs typeface="Arial"/>
              </a:defRPr>
            </a:pPr>
            <a:r>
              <a:rPr sz="2625" b="1">
                <a:solidFill>
                  <a:srgbClr val="00857D"/>
                </a:solidFill>
                <a:latin typeface="Arial"/>
                <a:ea typeface="Arial"/>
                <a:cs typeface="Arial"/>
              </a:rPr>
              <a:t>має найменшу вартість?</a:t>
            </a:r>
          </a:p>
        </p:txBody>
      </p:sp>
    </p:spTree>
    <p:extLst>
      <p:ext uri="{BB962C8B-B14F-4D97-AF65-F5344CB8AC3E}">
        <p14:creationId xmlns:p14="http://schemas.microsoft.com/office/powerpoint/2010/main" val="159574156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EB74E8-3EF7-4F73-8784-8F1FB1DFB85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Умови навчального TSP</a:t>
            </a:r>
          </a:p>
        </p:txBody>
      </p:sp>
      <p:sp>
        <p:nvSpPr>
          <p:cNvPr id="2" name="">
            <a:extLst xmlns:a="http://schemas.openxmlformats.org/drawingml/2006/main">
              <a:ext uri="{FF2B5EF4-FFF2-40B4-BE49-F238E27FC236}">
                <a16:creationId xmlns:a16="http://schemas.microsoft.com/office/drawing/2014/main" id="{46B1C89A-EBE3-4D67-8F88-FD3E2A7A4ED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Вартість визначає матриця, а не довжина стрілки на схемі.</a:t>
            </a:r>
          </a:p>
        </p:txBody>
      </p:sp>
      <p:sp>
        <p:nvSpPr>
          <p:cNvPr id="3" name="">
            <a:extLst xmlns:a="http://schemas.openxmlformats.org/drawingml/2006/main">
              <a:ext uri="{FF2B5EF4-FFF2-40B4-BE49-F238E27FC236}">
                <a16:creationId xmlns:a16="http://schemas.microsoft.com/office/drawing/2014/main" id="{E7915A35-AEA0-4ADD-8FC2-7E8937CF86F7}"/>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35</a:t>
            </a:r>
          </a:p>
        </p:txBody>
      </p:sp>
      <p:sp>
        <p:nvSpPr>
          <p:cNvPr id="4" name="">
            <a:extLst xmlns:a="http://schemas.openxmlformats.org/drawingml/2006/main">
              <a:ext uri="{FF2B5EF4-FFF2-40B4-BE49-F238E27FC236}">
                <a16:creationId xmlns:a16="http://schemas.microsoft.com/office/drawing/2014/main" id="{3215B74B-E72B-45BE-A1A4-AB53B2A05B57}"/>
              </a:ext>
            </a:extLst>
          </p:cNvPr>
          <p:cNvSpPr>
            <a:spLocks xmlns:a="http://schemas.openxmlformats.org/drawingml/2006/main" noGrp="1"/>
          </p:cNvSpPr>
          <p:nvPr/>
        </p:nvSpPr>
        <p:spPr>
          <a:xfrm xmlns:a="http://schemas.openxmlformats.org/drawingml/2006/main">
            <a:off x="762000" y="14763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Усі шість вузлів входять до одного замкнутого обходу</a:t>
            </a:r>
          </a:p>
        </p:txBody>
      </p:sp>
      <p:sp>
        <p:nvSpPr>
          <p:cNvPr id="5" name="">
            <a:extLst xmlns:a="http://schemas.openxmlformats.org/drawingml/2006/main">
              <a:ext uri="{FF2B5EF4-FFF2-40B4-BE49-F238E27FC236}">
                <a16:creationId xmlns:a16="http://schemas.microsoft.com/office/drawing/2014/main" id="{51079693-C841-4347-ABE2-A9DD20014222}"/>
              </a:ext>
            </a:extLst>
          </p:cNvPr>
          <p:cNvSpPr>
            <a:spLocks xmlns:a="http://schemas.openxmlformats.org/drawingml/2006/main" noGrp="1"/>
          </p:cNvSpPr>
          <p:nvPr/>
        </p:nvSpPr>
        <p:spPr>
          <a:xfrm xmlns:a="http://schemas.openxmlformats.org/drawingml/2006/main">
            <a:off x="762000" y="25050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Кожен майданчик відвідуємо один раз</a:t>
            </a:r>
          </a:p>
        </p:txBody>
      </p:sp>
      <p:sp>
        <p:nvSpPr>
          <p:cNvPr id="6" name="">
            <a:extLst xmlns:a="http://schemas.openxmlformats.org/drawingml/2006/main">
              <a:ext uri="{FF2B5EF4-FFF2-40B4-BE49-F238E27FC236}">
                <a16:creationId xmlns:a16="http://schemas.microsoft.com/office/drawing/2014/main" id="{3706A7B2-A5FA-4335-A78B-498DCB719C45}"/>
              </a:ext>
            </a:extLst>
          </p:cNvPr>
          <p:cNvSpPr>
            <a:spLocks xmlns:a="http://schemas.openxmlformats.org/drawingml/2006/main" noGrp="1"/>
          </p:cNvSpPr>
          <p:nvPr/>
        </p:nvSpPr>
        <p:spPr>
          <a:xfrm xmlns:a="http://schemas.openxmlformats.org/drawingml/2006/main">
            <a:off x="762000" y="35337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З S виходимо на початку та повертаємося в кінці</a:t>
            </a:r>
          </a:p>
        </p:txBody>
      </p:sp>
      <p:sp>
        <p:nvSpPr>
          <p:cNvPr id="7" name="">
            <a:extLst xmlns:a="http://schemas.openxmlformats.org/drawingml/2006/main">
              <a:ext uri="{FF2B5EF4-FFF2-40B4-BE49-F238E27FC236}">
                <a16:creationId xmlns:a16="http://schemas.microsoft.com/office/drawing/2014/main" id="{771C32B0-42EA-45C3-8566-0826CB88B011}"/>
              </a:ext>
            </a:extLst>
          </p:cNvPr>
          <p:cNvSpPr>
            <a:spLocks xmlns:a="http://schemas.openxmlformats.org/drawingml/2006/main" noGrp="1"/>
          </p:cNvSpPr>
          <p:nvPr/>
        </p:nvSpPr>
        <p:spPr>
          <a:xfrm xmlns:a="http://schemas.openxmlformats.org/drawingml/2006/main">
            <a:off x="762000" y="456247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Часи прямих переїздів сталі й симетричні</a:t>
            </a:r>
          </a:p>
        </p:txBody>
      </p:sp>
    </p:spTree>
    <p:extLst>
      <p:ext uri="{BB962C8B-B14F-4D97-AF65-F5344CB8AC3E}">
        <p14:creationId xmlns:p14="http://schemas.microsoft.com/office/powerpoint/2010/main" val="29685538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DA8F5B-DE21-4E68-B84D-D87786961FA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TSP: матриця часу прямих переходів</a:t>
            </a:r>
          </a:p>
        </p:txBody>
      </p:sp>
      <p:sp>
        <p:nvSpPr>
          <p:cNvPr id="2" name="">
            <a:extLst xmlns:a="http://schemas.openxmlformats.org/drawingml/2006/main">
              <a:ext uri="{FF2B5EF4-FFF2-40B4-BE49-F238E27FC236}">
                <a16:creationId xmlns:a16="http://schemas.microsoft.com/office/drawing/2014/main" id="{31D50C2D-8BCF-4927-AC9B-C6645845F27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Числа умовні, одиниця вимірювання — хвилина.</a:t>
            </a:r>
          </a:p>
        </p:txBody>
      </p:sp>
      <p:sp>
        <p:nvSpPr>
          <p:cNvPr id="3" name="">
            <a:extLst xmlns:a="http://schemas.openxmlformats.org/drawingml/2006/main">
              <a:ext uri="{FF2B5EF4-FFF2-40B4-BE49-F238E27FC236}">
                <a16:creationId xmlns:a16="http://schemas.microsoft.com/office/drawing/2014/main" id="{BD31FF1F-88A0-4A25-991E-877DF2795A4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741D2B84-F5C9-4F8E-901C-9DF4C48ACEA8}"/>
              </a:ext>
            </a:extLst>
          </p:cNvPr>
          <p:cNvGraphicFramePr/>
          <p:nvPr/>
        </p:nvGraphicFramePr>
        <p:xfrm>
          <a:off xmlns:a="http://schemas.openxmlformats.org/drawingml/2006/main" x="762000" y="1476375"/>
          <a:ext xmlns:a="http://schemas.openxmlformats.org/drawingml/2006/main" cx="10668000" cy="4114800"/>
        </p:xfrm>
        <a:graphic xmlns:a="http://schemas.openxmlformats.org/drawingml/2006/main">
          <a:graphicData uri="http://schemas.openxmlformats.org/drawingml/2006/table">
            <a:tbl>
              <a:tblPr/>
              <a:tblGrid>
                <a:gridCol w="2095500"/>
                <a:gridCol w="1428750"/>
                <a:gridCol w="1428750"/>
                <a:gridCol w="1428750"/>
                <a:gridCol w="1428750"/>
                <a:gridCol w="1428750"/>
                <a:gridCol w="1428750"/>
              </a:tblGrid>
              <a:tr h="587829">
                <a:tc>
                  <a:txBody>
                    <a:bodyPr/>
                    <a:lstStyle/>
                    <a:p>
                      <a:r>
                        <a:rPr sz="2400" b="1">
                          <a:solidFill>
                            <a:srgbClr val="FFFFFF"/>
                          </a:solidFill>
                          <a:latin typeface="Arial"/>
                          <a:ea typeface="Arial"/>
                          <a:cs typeface="Arial"/>
                        </a:rPr>
                        <a:t>З / До</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S</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B</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C</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E</a:t>
                      </a:r>
                    </a:p>
                  </a:txBody>
                  <a:tcPr marL="114300" marR="114300" marT="66675" marB="66675" anchor="ctr">
                    <a:solidFill>
                      <a:srgbClr val="173047"/>
                    </a:solidFill>
                  </a:tcPr>
                </a:tc>
              </a:tr>
              <a:tr h="587829">
                <a:tc>
                  <a:txBody>
                    <a:bodyPr/>
                    <a:lstStyle/>
                    <a:p>
                      <a:r>
                        <a:rPr sz="2400" b="1">
                          <a:solidFill>
                            <a:srgbClr val="173047"/>
                          </a:solidFill>
                          <a:latin typeface="Arial"/>
                          <a:ea typeface="Arial"/>
                          <a:cs typeface="Arial"/>
                        </a:rPr>
                        <a:t>S</a:t>
                      </a:r>
                    </a:p>
                  </a:txBody>
                  <a:tcPr marL="114300" marR="114300" marT="66675" marB="66675" anchor="ctr">
                    <a:solidFill>
                      <a:srgbClr val="E9F1FB"/>
                    </a:solidFill>
                  </a:tcPr>
                </a:tc>
                <a:tc>
                  <a:txBody>
                    <a:bodyPr/>
                    <a:lstStyle/>
                    <a:p>
                      <a:r>
                        <a:rPr sz="2400">
                          <a:solidFill>
                            <a:srgbClr val="A4AFB8"/>
                          </a:solidFill>
                          <a:latin typeface="Arial"/>
                          <a:ea typeface="Arial"/>
                          <a:cs typeface="Arial"/>
                        </a:rPr>
                        <a:t>—</a:t>
                      </a:r>
                    </a:p>
                  </a:txBody>
                  <a:tcPr marL="114300" marR="114300" marT="66675" marB="66675" anchor="ctr">
                    <a:solidFill>
                      <a:srgbClr val="F1F5F8"/>
                    </a:solidFill>
                  </a:tcPr>
                </a:tc>
                <a:tc>
                  <a:txBody>
                    <a:bodyPr/>
                    <a:lstStyle/>
                    <a:p>
                      <a:r>
                        <a:rPr sz="2400" b="1">
                          <a:solidFill>
                            <a:srgbClr val="00857D"/>
                          </a:solidFill>
                          <a:latin typeface="Arial"/>
                          <a:ea typeface="Arial"/>
                          <a:cs typeface="Arial"/>
                        </a:rPr>
                        <a:t>2</a:t>
                      </a:r>
                    </a:p>
                  </a:txBody>
                  <a:tcPr marL="114300" marR="114300" marT="66675" marB="66675" anchor="ctr">
                    <a:solidFill>
                      <a:srgbClr val="DDF3EC"/>
                    </a:solidFill>
                  </a:tcPr>
                </a:tc>
                <a:tc>
                  <a:txBody>
                    <a:bodyPr/>
                    <a:lstStyle/>
                    <a:p>
                      <a:r>
                        <a:rPr sz="2400">
                          <a:solidFill>
                            <a:srgbClr val="173047"/>
                          </a:solidFill>
                          <a:latin typeface="Arial"/>
                          <a:ea typeface="Arial"/>
                          <a:cs typeface="Arial"/>
                        </a:rPr>
                        <a:t>16</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19</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12</a:t>
                      </a:r>
                    </a:p>
                  </a:txBody>
                  <a:tcPr marL="114300" marR="114300" marT="66675" marB="66675" anchor="ctr">
                    <a:solidFill>
                      <a:srgbClr val="FFFFFF"/>
                    </a:solidFill>
                  </a:tcPr>
                </a:tc>
              </a:tr>
              <a:tr h="587829">
                <a:tc>
                  <a:txBody>
                    <a:bodyPr/>
                    <a:lstStyle/>
                    <a:p>
                      <a:r>
                        <a:rPr sz="2400" b="1">
                          <a:solidFill>
                            <a:srgbClr val="173047"/>
                          </a:solidFill>
                          <a:latin typeface="Arial"/>
                          <a:ea typeface="Arial"/>
                          <a:cs typeface="Arial"/>
                        </a:rPr>
                        <a:t>A</a:t>
                      </a:r>
                    </a:p>
                  </a:txBody>
                  <a:tcPr marL="114300" marR="114300" marT="66675" marB="66675" anchor="ctr">
                    <a:solidFill>
                      <a:srgbClr val="E9F1FB"/>
                    </a:solidFill>
                  </a:tcPr>
                </a:tc>
                <a:tc>
                  <a:txBody>
                    <a:bodyPr/>
                    <a:lstStyle/>
                    <a:p>
                      <a:r>
                        <a:rPr sz="2400" b="1">
                          <a:solidFill>
                            <a:srgbClr val="00857D"/>
                          </a:solidFill>
                          <a:latin typeface="Arial"/>
                          <a:ea typeface="Arial"/>
                          <a:cs typeface="Arial"/>
                        </a:rPr>
                        <a:t>2</a:t>
                      </a:r>
                    </a:p>
                  </a:txBody>
                  <a:tcPr marL="114300" marR="114300" marT="66675" marB="66675" anchor="ctr">
                    <a:solidFill>
                      <a:srgbClr val="DDF3EC"/>
                    </a:solidFill>
                  </a:tcPr>
                </a:tc>
                <a:tc>
                  <a:txBody>
                    <a:bodyPr/>
                    <a:lstStyle/>
                    <a:p>
                      <a:r>
                        <a:rPr sz="2400">
                          <a:solidFill>
                            <a:srgbClr val="A4AFB8"/>
                          </a:solidFill>
                          <a:latin typeface="Arial"/>
                          <a:ea typeface="Arial"/>
                          <a:cs typeface="Arial"/>
                        </a:rPr>
                        <a:t>—</a:t>
                      </a:r>
                    </a:p>
                  </a:txBody>
                  <a:tcPr marL="114300" marR="114300" marT="66675" marB="66675" anchor="ctr">
                    <a:solidFill>
                      <a:srgbClr val="F1F5F8"/>
                    </a:solidFill>
                  </a:tcPr>
                </a:tc>
                <a:tc>
                  <a:txBody>
                    <a:bodyPr/>
                    <a:lstStyle/>
                    <a:p>
                      <a:r>
                        <a:rPr sz="2400">
                          <a:solidFill>
                            <a:srgbClr val="173047"/>
                          </a:solidFill>
                          <a:latin typeface="Arial"/>
                          <a:ea typeface="Arial"/>
                          <a:cs typeface="Arial"/>
                        </a:rPr>
                        <a:t>15</a:t>
                      </a:r>
                    </a:p>
                  </a:txBody>
                  <a:tcPr marL="114300" marR="114300" marT="66675" marB="66675" anchor="ctr">
                    <a:solidFill>
                      <a:srgbClr val="F1F5F8"/>
                    </a:solidFill>
                  </a:tcPr>
                </a:tc>
                <a:tc>
                  <a:txBody>
                    <a:bodyPr/>
                    <a:lstStyle/>
                    <a:p>
                      <a:r>
                        <a:rPr sz="2400">
                          <a:solidFill>
                            <a:srgbClr val="173047"/>
                          </a:solidFill>
                          <a:latin typeface="Arial"/>
                          <a:ea typeface="Arial"/>
                          <a:cs typeface="Arial"/>
                        </a:rPr>
                        <a:t>21</a:t>
                      </a:r>
                    </a:p>
                  </a:txBody>
                  <a:tcPr marL="114300" marR="114300" marT="66675" marB="66675" anchor="ctr">
                    <a:solidFill>
                      <a:srgbClr val="F1F5F8"/>
                    </a:solidFill>
                  </a:tcPr>
                </a:tc>
                <a:tc>
                  <a:txBody>
                    <a:bodyPr/>
                    <a:lstStyle/>
                    <a:p>
                      <a:r>
                        <a:rPr sz="2400">
                          <a:solidFill>
                            <a:srgbClr val="173047"/>
                          </a:solidFill>
                          <a:latin typeface="Arial"/>
                          <a:ea typeface="Arial"/>
                          <a:cs typeface="Arial"/>
                        </a:rPr>
                        <a:t>10</a:t>
                      </a:r>
                    </a:p>
                  </a:txBody>
                  <a:tcPr marL="114300" marR="114300" marT="66675" marB="66675" anchor="ctr">
                    <a:solidFill>
                      <a:srgbClr val="F1F5F8"/>
                    </a:solidFill>
                  </a:tcPr>
                </a:tc>
                <a:tc>
                  <a:txBody>
                    <a:bodyPr/>
                    <a:lstStyle/>
                    <a:p>
                      <a:r>
                        <a:rPr sz="2400">
                          <a:solidFill>
                            <a:srgbClr val="173047"/>
                          </a:solidFill>
                          <a:latin typeface="Arial"/>
                          <a:ea typeface="Arial"/>
                          <a:cs typeface="Arial"/>
                        </a:rPr>
                        <a:t>14</a:t>
                      </a:r>
                    </a:p>
                  </a:txBody>
                  <a:tcPr marL="114300" marR="114300" marT="66675" marB="66675" anchor="ctr">
                    <a:solidFill>
                      <a:srgbClr val="F1F5F8"/>
                    </a:solidFill>
                  </a:tcPr>
                </a:tc>
              </a:tr>
              <a:tr h="587829">
                <a:tc>
                  <a:txBody>
                    <a:bodyPr/>
                    <a:lstStyle/>
                    <a:p>
                      <a:r>
                        <a:rPr sz="2400" b="1">
                          <a:solidFill>
                            <a:srgbClr val="173047"/>
                          </a:solidFill>
                          <a:latin typeface="Arial"/>
                          <a:ea typeface="Arial"/>
                          <a:cs typeface="Arial"/>
                        </a:rPr>
                        <a:t>B</a:t>
                      </a:r>
                    </a:p>
                  </a:txBody>
                  <a:tcPr marL="114300" marR="114300" marT="66675" marB="66675" anchor="ctr">
                    <a:solidFill>
                      <a:srgbClr val="E9F1FB"/>
                    </a:solidFill>
                  </a:tcPr>
                </a:tc>
                <a:tc>
                  <a:txBody>
                    <a:bodyPr/>
                    <a:lstStyle/>
                    <a:p>
                      <a:r>
                        <a:rPr sz="2400">
                          <a:solidFill>
                            <a:srgbClr val="173047"/>
                          </a:solidFill>
                          <a:latin typeface="Arial"/>
                          <a:ea typeface="Arial"/>
                          <a:cs typeface="Arial"/>
                        </a:rPr>
                        <a:t>16</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15</a:t>
                      </a:r>
                    </a:p>
                  </a:txBody>
                  <a:tcPr marL="114300" marR="114300" marT="66675" marB="66675" anchor="ctr">
                    <a:solidFill>
                      <a:srgbClr val="FFFFFF"/>
                    </a:solidFill>
                  </a:tcPr>
                </a:tc>
                <a:tc>
                  <a:txBody>
                    <a:bodyPr/>
                    <a:lstStyle/>
                    <a:p>
                      <a:r>
                        <a:rPr sz="2400">
                          <a:solidFill>
                            <a:srgbClr val="A4AFB8"/>
                          </a:solidFill>
                          <a:latin typeface="Arial"/>
                          <a:ea typeface="Arial"/>
                          <a:cs typeface="Arial"/>
                        </a:rPr>
                        <a:t>—</a:t>
                      </a:r>
                    </a:p>
                  </a:txBody>
                  <a:tcPr marL="114300" marR="114300" marT="66675" marB="66675" anchor="ctr">
                    <a:solidFill>
                      <a:srgbClr val="F1F5F8"/>
                    </a:solidFill>
                  </a:tcPr>
                </a:tc>
                <a:tc>
                  <a:txBody>
                    <a:bodyPr/>
                    <a:lstStyle/>
                    <a:p>
                      <a:r>
                        <a:rPr sz="2400" b="1">
                          <a:solidFill>
                            <a:srgbClr val="00857D"/>
                          </a:solidFill>
                          <a:latin typeface="Arial"/>
                          <a:ea typeface="Arial"/>
                          <a:cs typeface="Arial"/>
                        </a:rPr>
                        <a:t>2</a:t>
                      </a:r>
                    </a:p>
                  </a:txBody>
                  <a:tcPr marL="114300" marR="114300" marT="66675" marB="66675" anchor="ctr">
                    <a:solidFill>
                      <a:srgbClr val="DDF3EC"/>
                    </a:solidFill>
                  </a:tcPr>
                </a:tc>
                <a:tc>
                  <a:txBody>
                    <a:bodyPr/>
                    <a:lstStyle/>
                    <a:p>
                      <a:r>
                        <a:rPr sz="2400">
                          <a:solidFill>
                            <a:srgbClr val="173047"/>
                          </a:solidFill>
                          <a:latin typeface="Arial"/>
                          <a:ea typeface="Arial"/>
                          <a:cs typeface="Arial"/>
                        </a:rPr>
                        <a:t>5</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18</a:t>
                      </a:r>
                    </a:p>
                  </a:txBody>
                  <a:tcPr marL="114300" marR="114300" marT="66675" marB="66675" anchor="ctr">
                    <a:solidFill>
                      <a:srgbClr val="FFFFFF"/>
                    </a:solidFill>
                  </a:tcPr>
                </a:tc>
              </a:tr>
              <a:tr h="587829">
                <a:tc>
                  <a:txBody>
                    <a:bodyPr/>
                    <a:lstStyle/>
                    <a:p>
                      <a:r>
                        <a:rPr sz="2400" b="1">
                          <a:solidFill>
                            <a:srgbClr val="173047"/>
                          </a:solidFill>
                          <a:latin typeface="Arial"/>
                          <a:ea typeface="Arial"/>
                          <a:cs typeface="Arial"/>
                        </a:rPr>
                        <a:t>C</a:t>
                      </a:r>
                    </a:p>
                  </a:txBody>
                  <a:tcPr marL="114300" marR="114300" marT="66675" marB="66675" anchor="ctr">
                    <a:solidFill>
                      <a:srgbClr val="E9F1FB"/>
                    </a:solidFill>
                  </a:tcPr>
                </a:tc>
                <a:tc>
                  <a:txBody>
                    <a:bodyPr/>
                    <a:lstStyle/>
                    <a:p>
                      <a:r>
                        <a:rPr sz="2400">
                          <a:solidFill>
                            <a:srgbClr val="173047"/>
                          </a:solidFill>
                          <a:latin typeface="Arial"/>
                          <a:ea typeface="Arial"/>
                          <a:cs typeface="Arial"/>
                        </a:rPr>
                        <a:t>11</a:t>
                      </a:r>
                    </a:p>
                  </a:txBody>
                  <a:tcPr marL="114300" marR="114300" marT="66675" marB="66675" anchor="ctr">
                    <a:solidFill>
                      <a:srgbClr val="F1F5F8"/>
                    </a:solidFill>
                  </a:tcPr>
                </a:tc>
                <a:tc>
                  <a:txBody>
                    <a:bodyPr/>
                    <a:lstStyle/>
                    <a:p>
                      <a:r>
                        <a:rPr sz="2400">
                          <a:solidFill>
                            <a:srgbClr val="173047"/>
                          </a:solidFill>
                          <a:latin typeface="Arial"/>
                          <a:ea typeface="Arial"/>
                          <a:cs typeface="Arial"/>
                        </a:rPr>
                        <a:t>21</a:t>
                      </a:r>
                    </a:p>
                  </a:txBody>
                  <a:tcPr marL="114300" marR="114300" marT="66675" marB="66675" anchor="ctr">
                    <a:solidFill>
                      <a:srgbClr val="F1F5F8"/>
                    </a:solidFill>
                  </a:tcPr>
                </a:tc>
                <a:tc>
                  <a:txBody>
                    <a:bodyPr/>
                    <a:lstStyle/>
                    <a:p>
                      <a:r>
                        <a:rPr sz="2400" b="1">
                          <a:solidFill>
                            <a:srgbClr val="00857D"/>
                          </a:solidFill>
                          <a:latin typeface="Arial"/>
                          <a:ea typeface="Arial"/>
                          <a:cs typeface="Arial"/>
                        </a:rPr>
                        <a:t>2</a:t>
                      </a:r>
                    </a:p>
                  </a:txBody>
                  <a:tcPr marL="114300" marR="114300" marT="66675" marB="66675" anchor="ctr">
                    <a:solidFill>
                      <a:srgbClr val="DDF3EC"/>
                    </a:solidFill>
                  </a:tcPr>
                </a:tc>
                <a:tc>
                  <a:txBody>
                    <a:bodyPr/>
                    <a:lstStyle/>
                    <a:p>
                      <a:r>
                        <a:rPr sz="2400">
                          <a:solidFill>
                            <a:srgbClr val="A4AFB8"/>
                          </a:solidFill>
                          <a:latin typeface="Arial"/>
                          <a:ea typeface="Arial"/>
                          <a:cs typeface="Arial"/>
                        </a:rPr>
                        <a:t>—</a:t>
                      </a:r>
                    </a:p>
                  </a:txBody>
                  <a:tcPr marL="114300" marR="114300" marT="66675" marB="66675" anchor="ctr">
                    <a:solidFill>
                      <a:srgbClr val="F1F5F8"/>
                    </a:solidFill>
                  </a:tcPr>
                </a:tc>
                <a:tc>
                  <a:txBody>
                    <a:bodyPr/>
                    <a:lstStyle/>
                    <a:p>
                      <a:r>
                        <a:rPr sz="2400">
                          <a:solidFill>
                            <a:srgbClr val="173047"/>
                          </a:solidFill>
                          <a:latin typeface="Arial"/>
                          <a:ea typeface="Arial"/>
                          <a:cs typeface="Arial"/>
                        </a:rPr>
                        <a:t>12</a:t>
                      </a:r>
                    </a:p>
                  </a:txBody>
                  <a:tcPr marL="114300" marR="114300" marT="66675" marB="66675" anchor="ctr">
                    <a:solidFill>
                      <a:srgbClr val="F1F5F8"/>
                    </a:solidFill>
                  </a:tcPr>
                </a:tc>
                <a:tc>
                  <a:txBody>
                    <a:bodyPr/>
                    <a:lstStyle/>
                    <a:p>
                      <a:r>
                        <a:rPr sz="2400">
                          <a:solidFill>
                            <a:srgbClr val="173047"/>
                          </a:solidFill>
                          <a:latin typeface="Arial"/>
                          <a:ea typeface="Arial"/>
                          <a:cs typeface="Arial"/>
                        </a:rPr>
                        <a:t>12</a:t>
                      </a:r>
                    </a:p>
                  </a:txBody>
                  <a:tcPr marL="114300" marR="114300" marT="66675" marB="66675" anchor="ctr">
                    <a:solidFill>
                      <a:srgbClr val="F1F5F8"/>
                    </a:solidFill>
                  </a:tcPr>
                </a:tc>
              </a:tr>
              <a:tr h="587829">
                <a:tc>
                  <a:txBody>
                    <a:bodyPr/>
                    <a:lstStyle/>
                    <a:p>
                      <a:r>
                        <a:rPr sz="2400" b="1">
                          <a:solidFill>
                            <a:srgbClr val="173047"/>
                          </a:solidFill>
                          <a:latin typeface="Arial"/>
                          <a:ea typeface="Arial"/>
                          <a:cs typeface="Arial"/>
                        </a:rPr>
                        <a:t>D</a:t>
                      </a:r>
                    </a:p>
                  </a:txBody>
                  <a:tcPr marL="114300" marR="114300" marT="66675" marB="66675" anchor="ctr">
                    <a:solidFill>
                      <a:srgbClr val="E9F1FB"/>
                    </a:solidFill>
                  </a:tcPr>
                </a:tc>
                <a:tc>
                  <a:txBody>
                    <a:bodyPr/>
                    <a:lstStyle/>
                    <a:p>
                      <a:r>
                        <a:rPr sz="2400">
                          <a:solidFill>
                            <a:srgbClr val="173047"/>
                          </a:solidFill>
                          <a:latin typeface="Arial"/>
                          <a:ea typeface="Arial"/>
                          <a:cs typeface="Arial"/>
                        </a:rPr>
                        <a:t>19</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5</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12</a:t>
                      </a:r>
                    </a:p>
                  </a:txBody>
                  <a:tcPr marL="114300" marR="114300" marT="66675" marB="66675" anchor="ctr">
                    <a:solidFill>
                      <a:srgbClr val="FFFFFF"/>
                    </a:solidFill>
                  </a:tcPr>
                </a:tc>
                <a:tc>
                  <a:txBody>
                    <a:bodyPr/>
                    <a:lstStyle/>
                    <a:p>
                      <a:r>
                        <a:rPr sz="2400">
                          <a:solidFill>
                            <a:srgbClr val="A4AFB8"/>
                          </a:solidFill>
                          <a:latin typeface="Arial"/>
                          <a:ea typeface="Arial"/>
                          <a:cs typeface="Arial"/>
                        </a:rPr>
                        <a:t>—</a:t>
                      </a:r>
                    </a:p>
                  </a:txBody>
                  <a:tcPr marL="114300" marR="114300" marT="66675" marB="66675" anchor="ctr">
                    <a:solidFill>
                      <a:srgbClr val="F1F5F8"/>
                    </a:solidFill>
                  </a:tcPr>
                </a:tc>
                <a:tc>
                  <a:txBody>
                    <a:bodyPr/>
                    <a:lstStyle/>
                    <a:p>
                      <a:r>
                        <a:rPr sz="2400" b="1">
                          <a:solidFill>
                            <a:srgbClr val="00857D"/>
                          </a:solidFill>
                          <a:latin typeface="Arial"/>
                          <a:ea typeface="Arial"/>
                          <a:cs typeface="Arial"/>
                        </a:rPr>
                        <a:t>2</a:t>
                      </a:r>
                    </a:p>
                  </a:txBody>
                  <a:tcPr marL="114300" marR="114300" marT="66675" marB="66675" anchor="ctr">
                    <a:solidFill>
                      <a:srgbClr val="DDF3EC"/>
                    </a:solidFill>
                  </a:tcPr>
                </a:tc>
              </a:tr>
              <a:tr h="587829">
                <a:tc>
                  <a:txBody>
                    <a:bodyPr/>
                    <a:lstStyle/>
                    <a:p>
                      <a:r>
                        <a:rPr sz="2400" b="1">
                          <a:solidFill>
                            <a:srgbClr val="173047"/>
                          </a:solidFill>
                          <a:latin typeface="Arial"/>
                          <a:ea typeface="Arial"/>
                          <a:cs typeface="Arial"/>
                        </a:rPr>
                        <a:t>E</a:t>
                      </a:r>
                    </a:p>
                  </a:txBody>
                  <a:tcPr marL="114300" marR="114300" marT="66675" marB="66675" anchor="ctr">
                    <a:solidFill>
                      <a:srgbClr val="E9F1FB"/>
                    </a:solidFill>
                  </a:tcPr>
                </a:tc>
                <a:tc>
                  <a:txBody>
                    <a:bodyPr/>
                    <a:lstStyle/>
                    <a:p>
                      <a:r>
                        <a:rPr sz="2400">
                          <a:solidFill>
                            <a:srgbClr val="173047"/>
                          </a:solidFill>
                          <a:latin typeface="Arial"/>
                          <a:ea typeface="Arial"/>
                          <a:cs typeface="Arial"/>
                        </a:rPr>
                        <a:t>12</a:t>
                      </a:r>
                    </a:p>
                  </a:txBody>
                  <a:tcPr marL="114300" marR="114300" marT="66675" marB="66675" anchor="ctr">
                    <a:solidFill>
                      <a:srgbClr val="F1F5F8"/>
                    </a:solidFill>
                  </a:tcPr>
                </a:tc>
                <a:tc>
                  <a:txBody>
                    <a:bodyPr/>
                    <a:lstStyle/>
                    <a:p>
                      <a:r>
                        <a:rPr sz="2400">
                          <a:solidFill>
                            <a:srgbClr val="173047"/>
                          </a:solidFill>
                          <a:latin typeface="Arial"/>
                          <a:ea typeface="Arial"/>
                          <a:cs typeface="Arial"/>
                        </a:rPr>
                        <a:t>14</a:t>
                      </a:r>
                    </a:p>
                  </a:txBody>
                  <a:tcPr marL="114300" marR="114300" marT="66675" marB="66675" anchor="ctr">
                    <a:solidFill>
                      <a:srgbClr val="F1F5F8"/>
                    </a:solidFill>
                  </a:tcPr>
                </a:tc>
                <a:tc>
                  <a:txBody>
                    <a:bodyPr/>
                    <a:lstStyle/>
                    <a:p>
                      <a:r>
                        <a:rPr sz="2400">
                          <a:solidFill>
                            <a:srgbClr val="173047"/>
                          </a:solidFill>
                          <a:latin typeface="Arial"/>
                          <a:ea typeface="Arial"/>
                          <a:cs typeface="Arial"/>
                        </a:rPr>
                        <a:t>18</a:t>
                      </a:r>
                    </a:p>
                  </a:txBody>
                  <a:tcPr marL="114300" marR="114300" marT="66675" marB="66675" anchor="ctr">
                    <a:solidFill>
                      <a:srgbClr val="F1F5F8"/>
                    </a:solidFill>
                  </a:tcPr>
                </a:tc>
                <a:tc>
                  <a:txBody>
                    <a:bodyPr/>
                    <a:lstStyle/>
                    <a:p>
                      <a:r>
                        <a:rPr sz="2400">
                          <a:solidFill>
                            <a:srgbClr val="173047"/>
                          </a:solidFill>
                          <a:latin typeface="Arial"/>
                          <a:ea typeface="Arial"/>
                          <a:cs typeface="Arial"/>
                        </a:rPr>
                        <a:t>12</a:t>
                      </a:r>
                    </a:p>
                  </a:txBody>
                  <a:tcPr marL="114300" marR="114300" marT="66675" marB="66675" anchor="ctr">
                    <a:solidFill>
                      <a:srgbClr val="F1F5F8"/>
                    </a:solidFill>
                  </a:tcPr>
                </a:tc>
                <a:tc>
                  <a:txBody>
                    <a:bodyPr/>
                    <a:lstStyle/>
                    <a:p>
                      <a:r>
                        <a:rPr sz="2400" b="1">
                          <a:solidFill>
                            <a:srgbClr val="00857D"/>
                          </a:solidFill>
                          <a:latin typeface="Arial"/>
                          <a:ea typeface="Arial"/>
                          <a:cs typeface="Arial"/>
                        </a:rPr>
                        <a:t>2</a:t>
                      </a:r>
                    </a:p>
                  </a:txBody>
                  <a:tcPr marL="114300" marR="114300" marT="66675" marB="66675" anchor="ctr">
                    <a:solidFill>
                      <a:srgbClr val="DDF3EC"/>
                    </a:solidFill>
                  </a:tcPr>
                </a:tc>
                <a:tc>
                  <a:txBody>
                    <a:bodyPr/>
                    <a:lstStyle/>
                    <a:p>
                      <a:r>
                        <a:rPr sz="2400">
                          <a:solidFill>
                            <a:srgbClr val="A4AFB8"/>
                          </a:solidFill>
                          <a:latin typeface="Arial"/>
                          <a:ea typeface="Arial"/>
                          <a:cs typeface="Arial"/>
                        </a:rPr>
                        <a:t>—</a:t>
                      </a:r>
                    </a:p>
                  </a:txBody>
                  <a:tcPr marL="114300" marR="114300" marT="66675" marB="66675" anchor="ctr">
                    <a:solidFill>
                      <a:srgbClr val="F1F5F8"/>
                    </a:solidFill>
                  </a:tcPr>
                </a:tc>
              </a:tr>
            </a:tbl>
          </a:graphicData>
        </a:graphic>
      </p:graphicFrame>
      <p:sp>
        <p:nvSpPr>
          <p:cNvPr id="6" name="">
            <a:extLst xmlns:a="http://schemas.openxmlformats.org/drawingml/2006/main">
              <a:ext uri="{FF2B5EF4-FFF2-40B4-BE49-F238E27FC236}">
                <a16:creationId xmlns:a16="http://schemas.microsoft.com/office/drawing/2014/main" id="{BBA88B14-256D-4241-A9E9-A0D003963369}"/>
              </a:ext>
            </a:extLst>
          </p:cNvPr>
          <p:cNvSpPr>
            <a:spLocks xmlns:a="http://schemas.openxmlformats.org/drawingml/2006/main" noGrp="1"/>
          </p:cNvSpPr>
          <p:nvPr/>
        </p:nvSpPr>
        <p:spPr>
          <a:xfrm xmlns:a="http://schemas.openxmlformats.org/drawingml/2006/main">
            <a:off x="762000" y="5657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00857D"/>
                </a:solidFill>
                <a:latin typeface="Arial"/>
                <a:ea typeface="Arial"/>
                <a:cs typeface="Arial"/>
              </a:defRPr>
            </a:defPPr>
          </a:lstStyle>
          <a:p xmlns:a="http://schemas.openxmlformats.org/drawingml/2006/main">
            <a:pPr algn="l">
              <a:buNone/>
              <a:defRPr sz="1800" b="0">
                <a:solidFill>
                  <a:srgbClr val="00857D"/>
                </a:solidFill>
                <a:latin typeface="Arial"/>
                <a:ea typeface="Arial"/>
                <a:cs typeface="Arial"/>
              </a:defRPr>
            </a:pPr>
            <a:r>
              <a:rPr sz="1800" b="0">
                <a:solidFill>
                  <a:srgbClr val="00857D"/>
                </a:solidFill>
                <a:latin typeface="Arial"/>
                <a:ea typeface="Arial"/>
                <a:cs typeface="Arial"/>
              </a:rPr>
              <a:t>Зеленим: переходи тривалістю 2 хв</a:t>
            </a:r>
          </a:p>
        </p:txBody>
      </p:sp>
    </p:spTree>
    <p:extLst>
      <p:ext uri="{BB962C8B-B14F-4D97-AF65-F5344CB8AC3E}">
        <p14:creationId xmlns:p14="http://schemas.microsoft.com/office/powerpoint/2010/main" val="186083771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C5EA8C9E-EB77-4B3E-8286-C0BF95550A90}"/>
              </a:ext>
            </a:extLst>
          </p:cNvPr>
          <p:cNvCxnSpPr>
            <a:stCxn xmlns:a="http://schemas.openxmlformats.org/drawingml/2006/main" id="24" idx="2"/>
            <a:endCxn xmlns:a="http://schemas.openxmlformats.org/drawingml/2006/main" id="30" idx="0"/>
          </p:cNvCxnSpPr>
          <p:nvPr/>
        </p:nvCxnSpPr>
        <p:spPr>
          <a:xfrm xmlns:a="http://schemas.openxmlformats.org/drawingml/2006/main">
            <a:off x="2786063" y="4476750"/>
            <a:ext cx="0" cy="485775"/>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cxnSp>
        <p:nvCxnSpPr>
          <p:cNvPr id="35" name="">
            <a:extLst xmlns:a="http://schemas.openxmlformats.org/drawingml/2006/main">
              <a:ext uri="{FF2B5EF4-FFF2-40B4-BE49-F238E27FC236}">
                <a16:creationId xmlns:a16="http://schemas.microsoft.com/office/drawing/2014/main" id="{A1BCE568-E7F3-417E-9C7B-311DEB1A7D7D}"/>
              </a:ext>
            </a:extLst>
          </p:cNvPr>
          <p:cNvCxnSpPr>
            <a:stCxn xmlns:a="http://schemas.openxmlformats.org/drawingml/2006/main" id="28" idx="1"/>
            <a:endCxn xmlns:a="http://schemas.openxmlformats.org/drawingml/2006/main" id="24" idx="3"/>
          </p:cNvCxnSpPr>
          <p:nvPr/>
        </p:nvCxnSpPr>
        <p:spPr>
          <a:xfrm xmlns:a="http://schemas.openxmlformats.org/drawingml/2006/main" flipH="1" flipV="1">
            <a:off x="4429125" y="3714750"/>
            <a:ext cx="2667000" cy="1490663"/>
          </a:xfrm>
          <a:prstGeom xmlns:a="http://schemas.openxmlformats.org/drawingml/2006/main" prst="bentConnector3">
            <a:avLst>
              <a:gd name="adj1" fmla="val 50000"/>
            </a:avLst>
          </a:prstGeom>
          <a:ln xmlns:a="http://schemas.openxmlformats.org/drawingml/2006/main" w="28575">
            <a:solidFill>
              <a:srgbClr val="00857D"/>
            </a:solidFill>
            <a:prstDash val="solid"/>
            <a:tailEnd type="triangle" w="med" len="med"/>
          </a:ln>
        </p:spPr>
      </p:cxnSp>
      <p:cxnSp>
        <p:nvCxnSpPr>
          <p:cNvPr id="34" name="">
            <a:extLst xmlns:a="http://schemas.openxmlformats.org/drawingml/2006/main">
              <a:ext uri="{FF2B5EF4-FFF2-40B4-BE49-F238E27FC236}">
                <a16:creationId xmlns:a16="http://schemas.microsoft.com/office/drawing/2014/main" id="{E1A2E56A-5ED4-44B9-A0FA-6398E5F8107C}"/>
              </a:ext>
            </a:extLst>
          </p:cNvPr>
          <p:cNvCxnSpPr>
            <a:stCxn xmlns:a="http://schemas.openxmlformats.org/drawingml/2006/main" id="26" idx="2"/>
            <a:endCxn xmlns:a="http://schemas.openxmlformats.org/drawingml/2006/main" id="28" idx="0"/>
          </p:cNvCxnSpPr>
          <p:nvPr/>
        </p:nvCxnSpPr>
        <p:spPr>
          <a:xfrm xmlns:a="http://schemas.openxmlformats.org/drawingml/2006/main">
            <a:off x="9144000" y="4076700"/>
            <a:ext cx="0" cy="619125"/>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98F1CC48-492D-4796-A4BE-9C91335BCC4B}"/>
              </a:ext>
            </a:extLst>
          </p:cNvPr>
          <p:cNvCxnSpPr>
            <a:stCxn xmlns:a="http://schemas.openxmlformats.org/drawingml/2006/main" id="24" idx="3"/>
            <a:endCxn xmlns:a="http://schemas.openxmlformats.org/drawingml/2006/main" id="26" idx="1"/>
          </p:cNvCxnSpPr>
          <p:nvPr/>
        </p:nvCxnSpPr>
        <p:spPr>
          <a:xfrm xmlns:a="http://schemas.openxmlformats.org/drawingml/2006/main" flipV="1">
            <a:off x="4429125" y="3529013"/>
            <a:ext cx="2667000" cy="185738"/>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cxnSp>
        <p:nvCxnSpPr>
          <p:cNvPr id="32" name="">
            <a:extLst xmlns:a="http://schemas.openxmlformats.org/drawingml/2006/main">
              <a:ext uri="{FF2B5EF4-FFF2-40B4-BE49-F238E27FC236}">
                <a16:creationId xmlns:a16="http://schemas.microsoft.com/office/drawing/2014/main" id="{55F50187-67ED-41E2-A31E-8BEBDDAA736D}"/>
              </a:ext>
            </a:extLst>
          </p:cNvPr>
          <p:cNvCxnSpPr>
            <a:stCxn xmlns:a="http://schemas.openxmlformats.org/drawingml/2006/main" id="22" idx="2"/>
            <a:endCxn xmlns:a="http://schemas.openxmlformats.org/drawingml/2006/main" id="24" idx="0"/>
          </p:cNvCxnSpPr>
          <p:nvPr/>
        </p:nvCxnSpPr>
        <p:spPr>
          <a:xfrm xmlns:a="http://schemas.openxmlformats.org/drawingml/2006/main">
            <a:off x="2786063" y="2486025"/>
            <a:ext cx="0" cy="466725"/>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sp>
        <p:nvSpPr>
          <p:cNvPr id="21" name="">
            <a:extLst xmlns:a="http://schemas.openxmlformats.org/drawingml/2006/main">
              <a:ext uri="{FF2B5EF4-FFF2-40B4-BE49-F238E27FC236}">
                <a16:creationId xmlns:a16="http://schemas.microsoft.com/office/drawing/2014/main" id="{EB03A43F-0F3F-4FE2-B4C7-AC317B1A5E15}"/>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Евристика найближчого сусіда</a:t>
            </a:r>
          </a:p>
        </p:txBody>
      </p:sp>
      <p:sp>
        <p:nvSpPr>
          <p:cNvPr id="2" name="">
            <a:extLst xmlns:a="http://schemas.openxmlformats.org/drawingml/2006/main">
              <a:ext uri="{FF2B5EF4-FFF2-40B4-BE49-F238E27FC236}">
                <a16:creationId xmlns:a16="http://schemas.microsoft.com/office/drawing/2014/main" id="{AE3EF654-5A8F-4335-B46A-44B9A1C4BA1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 кожному кроці обираємо найдешевший невідвіданий вузол.</a:t>
            </a:r>
          </a:p>
        </p:txBody>
      </p:sp>
      <p:sp>
        <p:nvSpPr>
          <p:cNvPr id="3" name="">
            <a:extLst xmlns:a="http://schemas.openxmlformats.org/drawingml/2006/main">
              <a:ext uri="{FF2B5EF4-FFF2-40B4-BE49-F238E27FC236}">
                <a16:creationId xmlns:a16="http://schemas.microsoft.com/office/drawing/2014/main" id="{B98FF2E8-8221-461F-94E0-0D922568A47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37</a:t>
            </a:r>
          </a:p>
        </p:txBody>
      </p:sp>
      <p:sp>
        <p:nvSpPr>
          <p:cNvPr id="22" name="">
            <a:extLst xmlns:a="http://schemas.openxmlformats.org/drawingml/2006/main">
              <a:ext uri="{FF2B5EF4-FFF2-40B4-BE49-F238E27FC236}">
                <a16:creationId xmlns:a16="http://schemas.microsoft.com/office/drawing/2014/main" id="{63010011-C903-4120-8433-6E2788440384}"/>
              </a:ext>
            </a:extLst>
          </p:cNvPr>
          <p:cNvSpPr>
            <a:spLocks xmlns:a="http://schemas.openxmlformats.org/drawingml/2006/main" noGrp="1"/>
          </p:cNvSpPr>
          <p:nvPr/>
        </p:nvSpPr>
        <p:spPr>
          <a:xfrm xmlns:a="http://schemas.openxmlformats.org/drawingml/2006/main">
            <a:off x="952500" y="1495425"/>
            <a:ext cx="3667125" cy="99060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23" name="">
            <a:extLst xmlns:a="http://schemas.openxmlformats.org/drawingml/2006/main">
              <a:ext uri="{FF2B5EF4-FFF2-40B4-BE49-F238E27FC236}">
                <a16:creationId xmlns:a16="http://schemas.microsoft.com/office/drawing/2014/main" id="{65B1D73E-15FC-418E-9B27-2A756120185E}"/>
              </a:ext>
            </a:extLst>
          </p:cNvPr>
          <p:cNvSpPr>
            <a:spLocks xmlns:a="http://schemas.openxmlformats.org/drawingml/2006/main" noGrp="1"/>
          </p:cNvSpPr>
          <p:nvPr/>
        </p:nvSpPr>
        <p:spPr>
          <a:xfrm xmlns:a="http://schemas.openxmlformats.org/drawingml/2006/main">
            <a:off x="1104900" y="1571625"/>
            <a:ext cx="3362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Початок у S</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Список A, B, C, D, E</a:t>
            </a:r>
          </a:p>
        </p:txBody>
      </p:sp>
      <p:sp>
        <p:nvSpPr>
          <p:cNvPr id="24" name="">
            <a:extLst xmlns:a="http://schemas.openxmlformats.org/drawingml/2006/main">
              <a:ext uri="{FF2B5EF4-FFF2-40B4-BE49-F238E27FC236}">
                <a16:creationId xmlns:a16="http://schemas.microsoft.com/office/drawing/2014/main" id="{0951DF34-EEBD-4F57-832D-F9C7D84A31EA}"/>
              </a:ext>
            </a:extLst>
          </p:cNvPr>
          <p:cNvSpPr>
            <a:spLocks xmlns:a="http://schemas.openxmlformats.org/drawingml/2006/main" noGrp="1"/>
          </p:cNvSpPr>
          <p:nvPr/>
        </p:nvSpPr>
        <p:spPr>
          <a:xfrm xmlns:a="http://schemas.openxmlformats.org/drawingml/2006/main">
            <a:off x="1143000" y="2952750"/>
            <a:ext cx="3286125" cy="1524000"/>
          </a:xfrm>
          <a:prstGeom xmlns:a="http://schemas.openxmlformats.org/drawingml/2006/main" prst="diamond">
            <a:avLst/>
          </a:prstGeom>
          <a:solidFill xmlns:a="http://schemas.openxmlformats.org/drawingml/2006/main">
            <a:srgbClr val="DDF3EC"/>
          </a:solidFill>
          <a:ln xmlns:a="http://schemas.openxmlformats.org/drawingml/2006/main" w="19050">
            <a:solidFill>
              <a:srgbClr val="CDD8E1"/>
            </a:solidFill>
          </a:ln>
        </p:spPr>
      </p:sp>
      <p:sp>
        <p:nvSpPr>
          <p:cNvPr id="25" name="">
            <a:extLst xmlns:a="http://schemas.openxmlformats.org/drawingml/2006/main">
              <a:ext uri="{FF2B5EF4-FFF2-40B4-BE49-F238E27FC236}">
                <a16:creationId xmlns:a16="http://schemas.microsoft.com/office/drawing/2014/main" id="{2B66E94A-461C-4317-856E-83952A6E6B1F}"/>
              </a:ext>
            </a:extLst>
          </p:cNvPr>
          <p:cNvSpPr>
            <a:spLocks xmlns:a="http://schemas.openxmlformats.org/drawingml/2006/main" noGrp="1"/>
          </p:cNvSpPr>
          <p:nvPr/>
        </p:nvSpPr>
        <p:spPr>
          <a:xfrm xmlns:a="http://schemas.openxmlformats.org/drawingml/2006/main">
            <a:off x="1295400" y="3028950"/>
            <a:ext cx="29813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047"/>
                </a:solidFill>
                <a:latin typeface="Arial"/>
                <a:ea typeface="Arial"/>
                <a:cs typeface="Arial"/>
              </a:defRPr>
            </a:defPPr>
          </a:lstStyle>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Залишилися</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невідвідані вузли?</a:t>
            </a:r>
          </a:p>
        </p:txBody>
      </p:sp>
      <p:sp>
        <p:nvSpPr>
          <p:cNvPr id="26" name="">
            <a:extLst xmlns:a="http://schemas.openxmlformats.org/drawingml/2006/main">
              <a:ext uri="{FF2B5EF4-FFF2-40B4-BE49-F238E27FC236}">
                <a16:creationId xmlns:a16="http://schemas.microsoft.com/office/drawing/2014/main" id="{73CD22D1-D443-4AE4-97AC-8967544DBFE0}"/>
              </a:ext>
            </a:extLst>
          </p:cNvPr>
          <p:cNvSpPr>
            <a:spLocks xmlns:a="http://schemas.openxmlformats.org/drawingml/2006/main" noGrp="1"/>
          </p:cNvSpPr>
          <p:nvPr/>
        </p:nvSpPr>
        <p:spPr>
          <a:xfrm xmlns:a="http://schemas.openxmlformats.org/drawingml/2006/main">
            <a:off x="7096125" y="2981325"/>
            <a:ext cx="4095750" cy="1095375"/>
          </a:xfrm>
          <a:prstGeom xmlns:a="http://schemas.openxmlformats.org/drawingml/2006/main" prst="rect">
            <a:avLst/>
          </a:prstGeom>
          <a:solidFill xmlns:a="http://schemas.openxmlformats.org/drawingml/2006/main">
            <a:srgbClr val="F1F5F8"/>
          </a:solidFill>
          <a:ln xmlns:a="http://schemas.openxmlformats.org/drawingml/2006/main" w="19050">
            <a:solidFill>
              <a:srgbClr val="CDD8E1"/>
            </a:solidFill>
          </a:ln>
        </p:spPr>
      </p:sp>
      <p:sp>
        <p:nvSpPr>
          <p:cNvPr id="27" name="">
            <a:extLst xmlns:a="http://schemas.openxmlformats.org/drawingml/2006/main">
              <a:ext uri="{FF2B5EF4-FFF2-40B4-BE49-F238E27FC236}">
                <a16:creationId xmlns:a16="http://schemas.microsoft.com/office/drawing/2014/main" id="{B862B3C7-CD46-4E01-A2B7-069EB2EA2E6E}"/>
              </a:ext>
            </a:extLst>
          </p:cNvPr>
          <p:cNvSpPr>
            <a:spLocks xmlns:a="http://schemas.openxmlformats.org/drawingml/2006/main" noGrp="1"/>
          </p:cNvSpPr>
          <p:nvPr/>
        </p:nvSpPr>
        <p:spPr>
          <a:xfrm xmlns:a="http://schemas.openxmlformats.org/drawingml/2006/main">
            <a:off x="7248525" y="3057525"/>
            <a:ext cx="37909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Вибір найближчого</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невідвіданого вузла</a:t>
            </a:r>
          </a:p>
        </p:txBody>
      </p:sp>
      <p:sp>
        <p:nvSpPr>
          <p:cNvPr id="28" name="">
            <a:extLst xmlns:a="http://schemas.openxmlformats.org/drawingml/2006/main">
              <a:ext uri="{FF2B5EF4-FFF2-40B4-BE49-F238E27FC236}">
                <a16:creationId xmlns:a16="http://schemas.microsoft.com/office/drawing/2014/main" id="{8B3608C6-8C1E-4832-8209-64024EEFCF1B}"/>
              </a:ext>
            </a:extLst>
          </p:cNvPr>
          <p:cNvSpPr>
            <a:spLocks xmlns:a="http://schemas.openxmlformats.org/drawingml/2006/main" noGrp="1"/>
          </p:cNvSpPr>
          <p:nvPr/>
        </p:nvSpPr>
        <p:spPr>
          <a:xfrm xmlns:a="http://schemas.openxmlformats.org/drawingml/2006/main">
            <a:off x="7096125" y="4695825"/>
            <a:ext cx="4095750" cy="1019175"/>
          </a:xfrm>
          <a:prstGeom xmlns:a="http://schemas.openxmlformats.org/drawingml/2006/main" prst="rect">
            <a:avLst/>
          </a:prstGeom>
          <a:solidFill xmlns:a="http://schemas.openxmlformats.org/drawingml/2006/main">
            <a:srgbClr val="F1F5F8"/>
          </a:solidFill>
          <a:ln xmlns:a="http://schemas.openxmlformats.org/drawingml/2006/main" w="19050">
            <a:solidFill>
              <a:srgbClr val="CDD8E1"/>
            </a:solidFill>
          </a:ln>
        </p:spPr>
      </p:sp>
      <p:sp>
        <p:nvSpPr>
          <p:cNvPr id="29" name="">
            <a:extLst xmlns:a="http://schemas.openxmlformats.org/drawingml/2006/main">
              <a:ext uri="{FF2B5EF4-FFF2-40B4-BE49-F238E27FC236}">
                <a16:creationId xmlns:a16="http://schemas.microsoft.com/office/drawing/2014/main" id="{5DC852FF-6088-48F5-9C2C-C0298B5B1798}"/>
              </a:ext>
            </a:extLst>
          </p:cNvPr>
          <p:cNvSpPr>
            <a:spLocks xmlns:a="http://schemas.openxmlformats.org/drawingml/2006/main" noGrp="1"/>
          </p:cNvSpPr>
          <p:nvPr/>
        </p:nvSpPr>
        <p:spPr>
          <a:xfrm xmlns:a="http://schemas.openxmlformats.org/drawingml/2006/main">
            <a:off x="7248525" y="4772025"/>
            <a:ext cx="3790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Перехід у вузол</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Вилучення зі списку</a:t>
            </a:r>
          </a:p>
        </p:txBody>
      </p:sp>
      <p:sp>
        <p:nvSpPr>
          <p:cNvPr id="30" name="">
            <a:extLst xmlns:a="http://schemas.openxmlformats.org/drawingml/2006/main">
              <a:ext uri="{FF2B5EF4-FFF2-40B4-BE49-F238E27FC236}">
                <a16:creationId xmlns:a16="http://schemas.microsoft.com/office/drawing/2014/main" id="{AA728D19-CFEF-4679-8D73-8BD21318E558}"/>
              </a:ext>
            </a:extLst>
          </p:cNvPr>
          <p:cNvSpPr>
            <a:spLocks xmlns:a="http://schemas.openxmlformats.org/drawingml/2006/main" noGrp="1"/>
          </p:cNvSpPr>
          <p:nvPr/>
        </p:nvSpPr>
        <p:spPr>
          <a:xfrm xmlns:a="http://schemas.openxmlformats.org/drawingml/2006/main">
            <a:off x="952500" y="4962525"/>
            <a:ext cx="3667125" cy="800100"/>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31" name="">
            <a:extLst xmlns:a="http://schemas.openxmlformats.org/drawingml/2006/main">
              <a:ext uri="{FF2B5EF4-FFF2-40B4-BE49-F238E27FC236}">
                <a16:creationId xmlns:a16="http://schemas.microsoft.com/office/drawing/2014/main" id="{F4AAABEB-74F6-4316-95FB-6E5653EBED51}"/>
              </a:ext>
            </a:extLst>
          </p:cNvPr>
          <p:cNvSpPr>
            <a:spLocks xmlns:a="http://schemas.openxmlformats.org/drawingml/2006/main" noGrp="1"/>
          </p:cNvSpPr>
          <p:nvPr/>
        </p:nvSpPr>
        <p:spPr>
          <a:xfrm xmlns:a="http://schemas.openxmlformats.org/drawingml/2006/main">
            <a:off x="1104900" y="5038725"/>
            <a:ext cx="33623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047"/>
                </a:solidFill>
                <a:latin typeface="Arial"/>
                <a:ea typeface="Arial"/>
                <a:cs typeface="Arial"/>
              </a:defRPr>
            </a:defPPr>
          </a:lstStyle>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Повернення в S</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Готовий маршрут</a:t>
            </a:r>
          </a:p>
        </p:txBody>
      </p:sp>
      <p:sp>
        <p:nvSpPr>
          <p:cNvPr id="37" name="">
            <a:extLst xmlns:a="http://schemas.openxmlformats.org/drawingml/2006/main">
              <a:ext uri="{FF2B5EF4-FFF2-40B4-BE49-F238E27FC236}">
                <a16:creationId xmlns:a16="http://schemas.microsoft.com/office/drawing/2014/main" id="{04433595-8377-4BFF-9B10-7FA85B583C3A}"/>
              </a:ext>
            </a:extLst>
          </p:cNvPr>
          <p:cNvSpPr>
            <a:spLocks xmlns:a="http://schemas.openxmlformats.org/drawingml/2006/main" noGrp="1"/>
          </p:cNvSpPr>
          <p:nvPr/>
        </p:nvSpPr>
        <p:spPr>
          <a:xfrm xmlns:a="http://schemas.openxmlformats.org/drawingml/2006/main">
            <a:off x="4762500" y="3333750"/>
            <a:ext cx="104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Arial"/>
                <a:ea typeface="Arial"/>
                <a:cs typeface="Arial"/>
              </a:defRPr>
            </a:defPPr>
          </a:lstStyle>
          <a:p xmlns:a="http://schemas.openxmlformats.org/drawingml/2006/main">
            <a:pPr algn="l">
              <a:buNone/>
              <a:defRPr sz="2175" b="1">
                <a:solidFill>
                  <a:srgbClr val="00857D"/>
                </a:solidFill>
                <a:latin typeface="Arial"/>
                <a:ea typeface="Arial"/>
                <a:cs typeface="Arial"/>
              </a:defRPr>
            </a:pPr>
            <a:r>
              <a:rPr sz="2175" b="1">
                <a:solidFill>
                  <a:srgbClr val="00857D"/>
                </a:solidFill>
                <a:latin typeface="Arial"/>
                <a:ea typeface="Arial"/>
                <a:cs typeface="Arial"/>
              </a:rPr>
              <a:t>Так</a:t>
            </a:r>
          </a:p>
        </p:txBody>
      </p:sp>
      <p:sp>
        <p:nvSpPr>
          <p:cNvPr id="38" name="">
            <a:extLst xmlns:a="http://schemas.openxmlformats.org/drawingml/2006/main">
              <a:ext uri="{FF2B5EF4-FFF2-40B4-BE49-F238E27FC236}">
                <a16:creationId xmlns:a16="http://schemas.microsoft.com/office/drawing/2014/main" id="{07ABB5A8-2D54-453B-B9CB-7B1597158F77}"/>
              </a:ext>
            </a:extLst>
          </p:cNvPr>
          <p:cNvSpPr>
            <a:spLocks xmlns:a="http://schemas.openxmlformats.org/drawingml/2006/main" noGrp="1"/>
          </p:cNvSpPr>
          <p:nvPr/>
        </p:nvSpPr>
        <p:spPr>
          <a:xfrm xmlns:a="http://schemas.openxmlformats.org/drawingml/2006/main">
            <a:off x="2952750" y="4495800"/>
            <a:ext cx="76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B64436"/>
                </a:solidFill>
                <a:latin typeface="Arial"/>
                <a:ea typeface="Arial"/>
                <a:cs typeface="Arial"/>
              </a:defRPr>
            </a:defPPr>
          </a:lstStyle>
          <a:p xmlns:a="http://schemas.openxmlformats.org/drawingml/2006/main">
            <a:pPr algn="l">
              <a:buNone/>
              <a:defRPr sz="2175" b="1">
                <a:solidFill>
                  <a:srgbClr val="B64436"/>
                </a:solidFill>
                <a:latin typeface="Arial"/>
                <a:ea typeface="Arial"/>
                <a:cs typeface="Arial"/>
              </a:defRPr>
            </a:pPr>
            <a:r>
              <a:rPr sz="2175" b="1">
                <a:solidFill>
                  <a:srgbClr val="B64436"/>
                </a:solidFill>
                <a:latin typeface="Arial"/>
                <a:ea typeface="Arial"/>
                <a:cs typeface="Arial"/>
              </a:rPr>
              <a:t>Ні</a:t>
            </a:r>
          </a:p>
        </p:txBody>
      </p:sp>
    </p:spTree>
    <p:extLst>
      <p:ext uri="{BB962C8B-B14F-4D97-AF65-F5344CB8AC3E}">
        <p14:creationId xmlns:p14="http://schemas.microsoft.com/office/powerpoint/2010/main" val="175456183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1F3EB6-5A1C-4473-8174-3B451D200C1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Найближчий сусід: кроки</a:t>
            </a:r>
          </a:p>
        </p:txBody>
      </p:sp>
      <p:sp>
        <p:nvSpPr>
          <p:cNvPr id="2" name="">
            <a:extLst xmlns:a="http://schemas.openxmlformats.org/drawingml/2006/main">
              <a:ext uri="{FF2B5EF4-FFF2-40B4-BE49-F238E27FC236}">
                <a16:creationId xmlns:a16="http://schemas.microsoft.com/office/drawing/2014/main" id="{6EB165F8-61D4-4267-A960-6BF876F53E3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Маршрут S-A-D-E-C-B-S коштує 44 хвилини.</a:t>
            </a:r>
          </a:p>
        </p:txBody>
      </p:sp>
      <p:sp>
        <p:nvSpPr>
          <p:cNvPr id="3" name="">
            <a:extLst xmlns:a="http://schemas.openxmlformats.org/drawingml/2006/main">
              <a:ext uri="{FF2B5EF4-FFF2-40B4-BE49-F238E27FC236}">
                <a16:creationId xmlns:a16="http://schemas.microsoft.com/office/drawing/2014/main" id="{7DE3B518-1275-400E-BA91-AD9EF38B2249}"/>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38</a:t>
            </a:r>
          </a:p>
        </p:txBody>
      </p:sp>
      <p:graphicFrame>
        <p:nvGraphicFramePr>
          <p:cNvPr id="4" name="">
            <a:extLst xmlns:a="http://schemas.openxmlformats.org/drawingml/2006/main">
              <a:ext uri="{FF2B5EF4-FFF2-40B4-BE49-F238E27FC236}">
                <a16:creationId xmlns:a16="http://schemas.microsoft.com/office/drawing/2014/main" id="{B0FEB57D-7F88-44BD-B7A3-3DD8CF0D2FC0}"/>
              </a:ext>
            </a:extLst>
          </p:cNvPr>
          <p:cNvGraphicFramePr/>
          <p:nvPr/>
        </p:nvGraphicFramePr>
        <p:xfrm>
          <a:off xmlns:a="http://schemas.openxmlformats.org/drawingml/2006/main" x="762000" y="1476375"/>
          <a:ext xmlns:a="http://schemas.openxmlformats.org/drawingml/2006/main" cx="10668000" cy="4143375"/>
        </p:xfrm>
        <a:graphic xmlns:a="http://schemas.openxmlformats.org/drawingml/2006/main">
          <a:graphicData uri="http://schemas.openxmlformats.org/drawingml/2006/table">
            <a:tbl>
              <a:tblPr/>
              <a:tblGrid>
                <a:gridCol w="1571625"/>
                <a:gridCol w="2095500"/>
                <a:gridCol w="2095500"/>
                <a:gridCol w="2143125"/>
                <a:gridCol w="2762250"/>
              </a:tblGrid>
              <a:tr h="591911">
                <a:tc>
                  <a:txBody>
                    <a:bodyPr/>
                    <a:lstStyle/>
                    <a:p>
                      <a:r>
                        <a:rPr sz="2250" b="1">
                          <a:solidFill>
                            <a:srgbClr val="FFFFFF"/>
                          </a:solidFill>
                          <a:latin typeface="Arial"/>
                          <a:ea typeface="Arial"/>
                          <a:cs typeface="Arial"/>
                        </a:rPr>
                        <a:t>Крок</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Звідки</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Куди</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Час</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Накопичено</a:t>
                      </a:r>
                    </a:p>
                  </a:txBody>
                  <a:tcPr marL="114300" marR="114300" marT="66675" marB="66675" anchor="ctr">
                    <a:solidFill>
                      <a:srgbClr val="173047"/>
                    </a:solidFill>
                  </a:tcPr>
                </a:tc>
              </a:tr>
              <a:tr h="591911">
                <a:tc>
                  <a:txBody>
                    <a:bodyPr/>
                    <a:lstStyle/>
                    <a:p>
                      <a:r>
                        <a:rPr sz="2250" b="1">
                          <a:solidFill>
                            <a:srgbClr val="173047"/>
                          </a:solidFill>
                          <a:latin typeface="Arial"/>
                          <a:ea typeface="Arial"/>
                          <a:cs typeface="Arial"/>
                        </a:rPr>
                        <a:t>1</a:t>
                      </a:r>
                    </a:p>
                  </a:txBody>
                  <a:tcPr marL="114300" marR="114300" marT="66675" marB="66675" anchor="ctr">
                    <a:solidFill>
                      <a:srgbClr val="DDF3EC"/>
                    </a:solidFill>
                  </a:tcPr>
                </a:tc>
                <a:tc>
                  <a:txBody>
                    <a:bodyPr/>
                    <a:lstStyle/>
                    <a:p>
                      <a:r>
                        <a:rPr sz="2250" b="1">
                          <a:solidFill>
                            <a:srgbClr val="173047"/>
                          </a:solidFill>
                          <a:latin typeface="Arial"/>
                          <a:ea typeface="Arial"/>
                          <a:cs typeface="Arial"/>
                        </a:rPr>
                        <a:t>S</a:t>
                      </a:r>
                    </a:p>
                  </a:txBody>
                  <a:tcPr marL="114300" marR="114300" marT="66675" marB="66675" anchor="ctr">
                    <a:solidFill>
                      <a:srgbClr val="DDF3EC"/>
                    </a:solidFill>
                  </a:tcPr>
                </a:tc>
                <a:tc>
                  <a:txBody>
                    <a:bodyPr/>
                    <a:lstStyle/>
                    <a:p>
                      <a:r>
                        <a:rPr sz="2250" b="1">
                          <a:solidFill>
                            <a:srgbClr val="173047"/>
                          </a:solidFill>
                          <a:latin typeface="Arial"/>
                          <a:ea typeface="Arial"/>
                          <a:cs typeface="Arial"/>
                        </a:rPr>
                        <a:t>A</a:t>
                      </a:r>
                    </a:p>
                  </a:txBody>
                  <a:tcPr marL="114300" marR="114300" marT="66675" marB="66675" anchor="ctr">
                    <a:solidFill>
                      <a:srgbClr val="DDF3EC"/>
                    </a:solidFill>
                  </a:tcPr>
                </a:tc>
                <a:tc>
                  <a:txBody>
                    <a:bodyPr/>
                    <a:lstStyle/>
                    <a:p>
                      <a:r>
                        <a:rPr sz="2250" b="1">
                          <a:solidFill>
                            <a:srgbClr val="173047"/>
                          </a:solidFill>
                          <a:latin typeface="Arial"/>
                          <a:ea typeface="Arial"/>
                          <a:cs typeface="Arial"/>
                        </a:rPr>
                        <a:t>2</a:t>
                      </a:r>
                    </a:p>
                  </a:txBody>
                  <a:tcPr marL="114300" marR="114300" marT="66675" marB="66675" anchor="ctr">
                    <a:solidFill>
                      <a:srgbClr val="DDF3EC"/>
                    </a:solidFill>
                  </a:tcPr>
                </a:tc>
                <a:tc>
                  <a:txBody>
                    <a:bodyPr/>
                    <a:lstStyle/>
                    <a:p>
                      <a:r>
                        <a:rPr sz="2250" b="1">
                          <a:solidFill>
                            <a:srgbClr val="173047"/>
                          </a:solidFill>
                          <a:latin typeface="Arial"/>
                          <a:ea typeface="Arial"/>
                          <a:cs typeface="Arial"/>
                        </a:rPr>
                        <a:t>2</a:t>
                      </a:r>
                    </a:p>
                  </a:txBody>
                  <a:tcPr marL="114300" marR="114300" marT="66675" marB="66675" anchor="ctr">
                    <a:solidFill>
                      <a:srgbClr val="DDF3EC"/>
                    </a:solidFill>
                  </a:tcPr>
                </a:tc>
              </a:tr>
              <a:tr h="591911">
                <a:tc>
                  <a:txBody>
                    <a:bodyPr/>
                    <a:lstStyle/>
                    <a:p>
                      <a:r>
                        <a:rPr sz="2250">
                          <a:solidFill>
                            <a:srgbClr val="173047"/>
                          </a:solidFill>
                          <a:latin typeface="Arial"/>
                          <a:ea typeface="Arial"/>
                          <a:cs typeface="Arial"/>
                        </a:rPr>
                        <a:t>2</a:t>
                      </a:r>
                    </a:p>
                  </a:txBody>
                  <a:tcPr marL="114300" marR="114300" marT="66675" marB="66675" anchor="ctr">
                    <a:solidFill>
                      <a:srgbClr val="F1F5F8"/>
                    </a:solidFill>
                  </a:tcPr>
                </a:tc>
                <a:tc>
                  <a:txBody>
                    <a:bodyPr/>
                    <a:lstStyle/>
                    <a:p>
                      <a:r>
                        <a:rPr sz="2250">
                          <a:solidFill>
                            <a:srgbClr val="173047"/>
                          </a:solidFill>
                          <a:latin typeface="Arial"/>
                          <a:ea typeface="Arial"/>
                          <a:cs typeface="Arial"/>
                        </a:rPr>
                        <a:t>A</a:t>
                      </a:r>
                    </a:p>
                  </a:txBody>
                  <a:tcPr marL="114300" marR="114300" marT="66675" marB="66675" anchor="ctr">
                    <a:solidFill>
                      <a:srgbClr val="F1F5F8"/>
                    </a:solidFill>
                  </a:tcPr>
                </a:tc>
                <a:tc>
                  <a:txBody>
                    <a:bodyPr/>
                    <a:lstStyle/>
                    <a:p>
                      <a:r>
                        <a:rPr sz="2250">
                          <a:solidFill>
                            <a:srgbClr val="173047"/>
                          </a:solidFill>
                          <a:latin typeface="Arial"/>
                          <a:ea typeface="Arial"/>
                          <a:cs typeface="Arial"/>
                        </a:rPr>
                        <a:t>D</a:t>
                      </a:r>
                    </a:p>
                  </a:txBody>
                  <a:tcPr marL="114300" marR="114300" marT="66675" marB="66675" anchor="ctr">
                    <a:solidFill>
                      <a:srgbClr val="F1F5F8"/>
                    </a:solidFill>
                  </a:tcPr>
                </a:tc>
                <a:tc>
                  <a:txBody>
                    <a:bodyPr/>
                    <a:lstStyle/>
                    <a:p>
                      <a:r>
                        <a:rPr sz="2250">
                          <a:solidFill>
                            <a:srgbClr val="173047"/>
                          </a:solidFill>
                          <a:latin typeface="Arial"/>
                          <a:ea typeface="Arial"/>
                          <a:cs typeface="Arial"/>
                        </a:rPr>
                        <a:t>10</a:t>
                      </a:r>
                    </a:p>
                  </a:txBody>
                  <a:tcPr marL="114300" marR="114300" marT="66675" marB="66675" anchor="ctr">
                    <a:solidFill>
                      <a:srgbClr val="F1F5F8"/>
                    </a:solidFill>
                  </a:tcPr>
                </a:tc>
                <a:tc>
                  <a:txBody>
                    <a:bodyPr/>
                    <a:lstStyle/>
                    <a:p>
                      <a:r>
                        <a:rPr sz="2250">
                          <a:solidFill>
                            <a:srgbClr val="173047"/>
                          </a:solidFill>
                          <a:latin typeface="Arial"/>
                          <a:ea typeface="Arial"/>
                          <a:cs typeface="Arial"/>
                        </a:rPr>
                        <a:t>12</a:t>
                      </a:r>
                    </a:p>
                  </a:txBody>
                  <a:tcPr marL="114300" marR="114300" marT="66675" marB="66675" anchor="ctr">
                    <a:solidFill>
                      <a:srgbClr val="F1F5F8"/>
                    </a:solidFill>
                  </a:tcPr>
                </a:tc>
              </a:tr>
              <a:tr h="591911">
                <a:tc>
                  <a:txBody>
                    <a:bodyPr/>
                    <a:lstStyle/>
                    <a:p>
                      <a:r>
                        <a:rPr sz="2250">
                          <a:solidFill>
                            <a:srgbClr val="173047"/>
                          </a:solidFill>
                          <a:latin typeface="Arial"/>
                          <a:ea typeface="Arial"/>
                          <a:cs typeface="Arial"/>
                        </a:rPr>
                        <a:t>3</a:t>
                      </a:r>
                    </a:p>
                  </a:txBody>
                  <a:tcPr marL="114300" marR="114300" marT="66675" marB="66675" anchor="ctr">
                    <a:solidFill>
                      <a:srgbClr val="FFFFFF"/>
                    </a:solidFill>
                  </a:tcPr>
                </a:tc>
                <a:tc>
                  <a:txBody>
                    <a:bodyPr/>
                    <a:lstStyle/>
                    <a:p>
                      <a:r>
                        <a:rPr sz="2250">
                          <a:solidFill>
                            <a:srgbClr val="173047"/>
                          </a:solidFill>
                          <a:latin typeface="Arial"/>
                          <a:ea typeface="Arial"/>
                          <a:cs typeface="Arial"/>
                        </a:rPr>
                        <a:t>D</a:t>
                      </a:r>
                    </a:p>
                  </a:txBody>
                  <a:tcPr marL="114300" marR="114300" marT="66675" marB="66675" anchor="ctr">
                    <a:solidFill>
                      <a:srgbClr val="FFFFFF"/>
                    </a:solidFill>
                  </a:tcPr>
                </a:tc>
                <a:tc>
                  <a:txBody>
                    <a:bodyPr/>
                    <a:lstStyle/>
                    <a:p>
                      <a:r>
                        <a:rPr sz="2250">
                          <a:solidFill>
                            <a:srgbClr val="173047"/>
                          </a:solidFill>
                          <a:latin typeface="Arial"/>
                          <a:ea typeface="Arial"/>
                          <a:cs typeface="Arial"/>
                        </a:rPr>
                        <a:t>E</a:t>
                      </a:r>
                    </a:p>
                  </a:txBody>
                  <a:tcPr marL="114300" marR="114300" marT="66675" marB="66675" anchor="ctr">
                    <a:solidFill>
                      <a:srgbClr val="FFFFFF"/>
                    </a:solidFill>
                  </a:tcPr>
                </a:tc>
                <a:tc>
                  <a:txBody>
                    <a:bodyPr/>
                    <a:lstStyle/>
                    <a:p>
                      <a:r>
                        <a:rPr sz="2250">
                          <a:solidFill>
                            <a:srgbClr val="173047"/>
                          </a:solidFill>
                          <a:latin typeface="Arial"/>
                          <a:ea typeface="Arial"/>
                          <a:cs typeface="Arial"/>
                        </a:rPr>
                        <a:t>2</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14</a:t>
                      </a:r>
                    </a:p>
                  </a:txBody>
                  <a:tcPr marL="114300" marR="114300" marT="66675" marB="66675" anchor="ctr">
                    <a:solidFill>
                      <a:srgbClr val="FFFFFF"/>
                    </a:solidFill>
                  </a:tcPr>
                </a:tc>
              </a:tr>
              <a:tr h="591911">
                <a:tc>
                  <a:txBody>
                    <a:bodyPr/>
                    <a:lstStyle/>
                    <a:p>
                      <a:r>
                        <a:rPr sz="2250">
                          <a:solidFill>
                            <a:srgbClr val="173047"/>
                          </a:solidFill>
                          <a:latin typeface="Arial"/>
                          <a:ea typeface="Arial"/>
                          <a:cs typeface="Arial"/>
                        </a:rPr>
                        <a:t>4</a:t>
                      </a:r>
                    </a:p>
                  </a:txBody>
                  <a:tcPr marL="114300" marR="114300" marT="66675" marB="66675" anchor="ctr">
                    <a:solidFill>
                      <a:srgbClr val="F1F5F8"/>
                    </a:solidFill>
                  </a:tcPr>
                </a:tc>
                <a:tc>
                  <a:txBody>
                    <a:bodyPr/>
                    <a:lstStyle/>
                    <a:p>
                      <a:r>
                        <a:rPr sz="2250">
                          <a:solidFill>
                            <a:srgbClr val="173047"/>
                          </a:solidFill>
                          <a:latin typeface="Arial"/>
                          <a:ea typeface="Arial"/>
                          <a:cs typeface="Arial"/>
                        </a:rPr>
                        <a:t>E</a:t>
                      </a:r>
                    </a:p>
                  </a:txBody>
                  <a:tcPr marL="114300" marR="114300" marT="66675" marB="66675" anchor="ctr">
                    <a:solidFill>
                      <a:srgbClr val="F1F5F8"/>
                    </a:solidFill>
                  </a:tcPr>
                </a:tc>
                <a:tc>
                  <a:txBody>
                    <a:bodyPr/>
                    <a:lstStyle/>
                    <a:p>
                      <a:r>
                        <a:rPr sz="2250">
                          <a:solidFill>
                            <a:srgbClr val="173047"/>
                          </a:solidFill>
                          <a:latin typeface="Arial"/>
                          <a:ea typeface="Arial"/>
                          <a:cs typeface="Arial"/>
                        </a:rPr>
                        <a:t>C</a:t>
                      </a:r>
                    </a:p>
                  </a:txBody>
                  <a:tcPr marL="114300" marR="114300" marT="66675" marB="66675" anchor="ctr">
                    <a:solidFill>
                      <a:srgbClr val="F1F5F8"/>
                    </a:solidFill>
                  </a:tcPr>
                </a:tc>
                <a:tc>
                  <a:txBody>
                    <a:bodyPr/>
                    <a:lstStyle/>
                    <a:p>
                      <a:r>
                        <a:rPr sz="2250">
                          <a:solidFill>
                            <a:srgbClr val="173047"/>
                          </a:solidFill>
                          <a:latin typeface="Arial"/>
                          <a:ea typeface="Arial"/>
                          <a:cs typeface="Arial"/>
                        </a:rPr>
                        <a:t>12</a:t>
                      </a:r>
                    </a:p>
                  </a:txBody>
                  <a:tcPr marL="114300" marR="114300" marT="66675" marB="66675" anchor="ctr">
                    <a:solidFill>
                      <a:srgbClr val="F1F5F8"/>
                    </a:solidFill>
                  </a:tcPr>
                </a:tc>
                <a:tc>
                  <a:txBody>
                    <a:bodyPr/>
                    <a:lstStyle/>
                    <a:p>
                      <a:r>
                        <a:rPr sz="2250">
                          <a:solidFill>
                            <a:srgbClr val="173047"/>
                          </a:solidFill>
                          <a:latin typeface="Arial"/>
                          <a:ea typeface="Arial"/>
                          <a:cs typeface="Arial"/>
                        </a:rPr>
                        <a:t>26</a:t>
                      </a:r>
                    </a:p>
                  </a:txBody>
                  <a:tcPr marL="114300" marR="114300" marT="66675" marB="66675" anchor="ctr">
                    <a:solidFill>
                      <a:srgbClr val="F1F5F8"/>
                    </a:solidFill>
                  </a:tcPr>
                </a:tc>
              </a:tr>
              <a:tr h="591911">
                <a:tc>
                  <a:txBody>
                    <a:bodyPr/>
                    <a:lstStyle/>
                    <a:p>
                      <a:r>
                        <a:rPr sz="2250">
                          <a:solidFill>
                            <a:srgbClr val="173047"/>
                          </a:solidFill>
                          <a:latin typeface="Arial"/>
                          <a:ea typeface="Arial"/>
                          <a:cs typeface="Arial"/>
                        </a:rPr>
                        <a:t>5</a:t>
                      </a:r>
                    </a:p>
                  </a:txBody>
                  <a:tcPr marL="114300" marR="114300" marT="66675" marB="66675" anchor="ctr">
                    <a:solidFill>
                      <a:srgbClr val="FFFFFF"/>
                    </a:solidFill>
                  </a:tcPr>
                </a:tc>
                <a:tc>
                  <a:txBody>
                    <a:bodyPr/>
                    <a:lstStyle/>
                    <a:p>
                      <a:r>
                        <a:rPr sz="2250">
                          <a:solidFill>
                            <a:srgbClr val="173047"/>
                          </a:solidFill>
                          <a:latin typeface="Arial"/>
                          <a:ea typeface="Arial"/>
                          <a:cs typeface="Arial"/>
                        </a:rPr>
                        <a:t>C</a:t>
                      </a:r>
                    </a:p>
                  </a:txBody>
                  <a:tcPr marL="114300" marR="114300" marT="66675" marB="66675" anchor="ctr">
                    <a:solidFill>
                      <a:srgbClr val="FFFFFF"/>
                    </a:solidFill>
                  </a:tcPr>
                </a:tc>
                <a:tc>
                  <a:txBody>
                    <a:bodyPr/>
                    <a:lstStyle/>
                    <a:p>
                      <a:r>
                        <a:rPr sz="2250">
                          <a:solidFill>
                            <a:srgbClr val="173047"/>
                          </a:solidFill>
                          <a:latin typeface="Arial"/>
                          <a:ea typeface="Arial"/>
                          <a:cs typeface="Arial"/>
                        </a:rPr>
                        <a:t>B</a:t>
                      </a:r>
                    </a:p>
                  </a:txBody>
                  <a:tcPr marL="114300" marR="114300" marT="66675" marB="66675" anchor="ctr">
                    <a:solidFill>
                      <a:srgbClr val="FFFFFF"/>
                    </a:solidFill>
                  </a:tcPr>
                </a:tc>
                <a:tc>
                  <a:txBody>
                    <a:bodyPr/>
                    <a:lstStyle/>
                    <a:p>
                      <a:r>
                        <a:rPr sz="2250">
                          <a:solidFill>
                            <a:srgbClr val="173047"/>
                          </a:solidFill>
                          <a:latin typeface="Arial"/>
                          <a:ea typeface="Arial"/>
                          <a:cs typeface="Arial"/>
                        </a:rPr>
                        <a:t>2</a:t>
                      </a:r>
                    </a:p>
                  </a:txBody>
                  <a:tcPr marL="114300" marR="114300" marT="66675" marB="66675" anchor="ctr">
                    <a:solidFill>
                      <a:srgbClr val="FFFFFF"/>
                    </a:solidFill>
                  </a:tcPr>
                </a:tc>
                <a:tc>
                  <a:txBody>
                    <a:bodyPr/>
                    <a:lstStyle/>
                    <a:p>
                      <a:r>
                        <a:rPr sz="2250">
                          <a:solidFill>
                            <a:srgbClr val="173047"/>
                          </a:solidFill>
                          <a:latin typeface="Arial"/>
                          <a:ea typeface="Arial"/>
                          <a:cs typeface="Arial"/>
                        </a:rPr>
                        <a:t>28</a:t>
                      </a:r>
                    </a:p>
                  </a:txBody>
                  <a:tcPr marL="114300" marR="114300" marT="66675" marB="66675" anchor="ctr">
                    <a:solidFill>
                      <a:srgbClr val="FFFFFF"/>
                    </a:solidFill>
                  </a:tcPr>
                </a:tc>
              </a:tr>
              <a:tr h="591911">
                <a:tc>
                  <a:txBody>
                    <a:bodyPr/>
                    <a:lstStyle/>
                    <a:p>
                      <a:r>
                        <a:rPr sz="2250" b="1">
                          <a:solidFill>
                            <a:srgbClr val="173047"/>
                          </a:solidFill>
                          <a:latin typeface="Arial"/>
                          <a:ea typeface="Arial"/>
                          <a:cs typeface="Arial"/>
                        </a:rPr>
                        <a:t>6</a:t>
                      </a:r>
                    </a:p>
                  </a:txBody>
                  <a:tcPr marL="114300" marR="114300" marT="66675" marB="66675" anchor="ctr">
                    <a:solidFill>
                      <a:srgbClr val="FFF2D8"/>
                    </a:solidFill>
                  </a:tcPr>
                </a:tc>
                <a:tc>
                  <a:txBody>
                    <a:bodyPr/>
                    <a:lstStyle/>
                    <a:p>
                      <a:r>
                        <a:rPr sz="2250" b="1">
                          <a:solidFill>
                            <a:srgbClr val="173047"/>
                          </a:solidFill>
                          <a:latin typeface="Arial"/>
                          <a:ea typeface="Arial"/>
                          <a:cs typeface="Arial"/>
                        </a:rPr>
                        <a:t>B</a:t>
                      </a:r>
                    </a:p>
                  </a:txBody>
                  <a:tcPr marL="114300" marR="114300" marT="66675" marB="66675" anchor="ctr">
                    <a:solidFill>
                      <a:srgbClr val="FFF2D8"/>
                    </a:solidFill>
                  </a:tcPr>
                </a:tc>
                <a:tc>
                  <a:txBody>
                    <a:bodyPr/>
                    <a:lstStyle/>
                    <a:p>
                      <a:r>
                        <a:rPr sz="2250" b="1">
                          <a:solidFill>
                            <a:srgbClr val="173047"/>
                          </a:solidFill>
                          <a:latin typeface="Arial"/>
                          <a:ea typeface="Arial"/>
                          <a:cs typeface="Arial"/>
                        </a:rPr>
                        <a:t>S</a:t>
                      </a:r>
                    </a:p>
                  </a:txBody>
                  <a:tcPr marL="114300" marR="114300" marT="66675" marB="66675" anchor="ctr">
                    <a:solidFill>
                      <a:srgbClr val="FFF2D8"/>
                    </a:solidFill>
                  </a:tcPr>
                </a:tc>
                <a:tc>
                  <a:txBody>
                    <a:bodyPr/>
                    <a:lstStyle/>
                    <a:p>
                      <a:r>
                        <a:rPr sz="2250" b="1">
                          <a:solidFill>
                            <a:srgbClr val="173047"/>
                          </a:solidFill>
                          <a:latin typeface="Arial"/>
                          <a:ea typeface="Arial"/>
                          <a:cs typeface="Arial"/>
                        </a:rPr>
                        <a:t>16</a:t>
                      </a:r>
                    </a:p>
                  </a:txBody>
                  <a:tcPr marL="114300" marR="114300" marT="66675" marB="66675" anchor="ctr">
                    <a:solidFill>
                      <a:srgbClr val="FFF2D8"/>
                    </a:solidFill>
                  </a:tcPr>
                </a:tc>
                <a:tc>
                  <a:txBody>
                    <a:bodyPr/>
                    <a:lstStyle/>
                    <a:p>
                      <a:r>
                        <a:rPr sz="2250" b="1">
                          <a:solidFill>
                            <a:srgbClr val="173047"/>
                          </a:solidFill>
                          <a:latin typeface="Arial"/>
                          <a:ea typeface="Arial"/>
                          <a:cs typeface="Arial"/>
                        </a:rPr>
                        <a:t>44</a:t>
                      </a:r>
                    </a:p>
                  </a:txBody>
                  <a:tcPr marL="114300" marR="114300" marT="66675" marB="66675" anchor="ctr">
                    <a:solidFill>
                      <a:srgbClr val="FFF2D8"/>
                    </a:solidFill>
                  </a:tcPr>
                </a:tc>
              </a:tr>
            </a:tbl>
          </a:graphicData>
        </a:graphic>
      </p:graphicFrame>
    </p:spTree>
    <p:extLst>
      <p:ext uri="{BB962C8B-B14F-4D97-AF65-F5344CB8AC3E}">
        <p14:creationId xmlns:p14="http://schemas.microsoft.com/office/powerpoint/2010/main" val="100847166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3" name="">
            <a:extLst xmlns:a="http://schemas.openxmlformats.org/drawingml/2006/main">
              <a:ext uri="{FF2B5EF4-FFF2-40B4-BE49-F238E27FC236}">
                <a16:creationId xmlns:a16="http://schemas.microsoft.com/office/drawing/2014/main" id="{69D1EB42-E935-42BD-B03E-34A972372A30}"/>
              </a:ext>
            </a:extLst>
          </p:cNvPr>
          <p:cNvCxnSpPr>
            <a:stCxn xmlns:a="http://schemas.openxmlformats.org/drawingml/2006/main" id="35" idx="2"/>
            <a:endCxn xmlns:a="http://schemas.openxmlformats.org/drawingml/2006/main" id="31" idx="6"/>
          </p:cNvCxnSpPr>
          <p:nvPr/>
        </p:nvCxnSpPr>
        <p:spPr>
          <a:xfrm xmlns:a="http://schemas.openxmlformats.org/drawingml/2006/main" flipH="1" flipV="1">
            <a:off x="2114550" y="3143250"/>
            <a:ext cx="5581650" cy="1476375"/>
          </a:xfrm>
          <a:prstGeom xmlns:a="http://schemas.openxmlformats.org/drawingml/2006/main" prst="straightConnector1">
            <a:avLst/>
          </a:prstGeom>
          <a:ln xmlns:a="http://schemas.openxmlformats.org/drawingml/2006/main" w="38100">
            <a:solidFill>
              <a:srgbClr val="A96B00"/>
            </a:solidFill>
            <a:prstDash val="solid"/>
            <a:tailEnd type="triangle" w="med" len="med"/>
          </a:ln>
        </p:spPr>
      </p:cxnSp>
      <p:cxnSp>
        <p:nvCxnSpPr>
          <p:cNvPr id="51" name="">
            <a:extLst xmlns:a="http://schemas.openxmlformats.org/drawingml/2006/main">
              <a:ext uri="{FF2B5EF4-FFF2-40B4-BE49-F238E27FC236}">
                <a16:creationId xmlns:a16="http://schemas.microsoft.com/office/drawing/2014/main" id="{E23BDDC5-0913-4F88-AE3E-4C8611815EEA}"/>
              </a:ext>
            </a:extLst>
          </p:cNvPr>
          <p:cNvCxnSpPr>
            <a:stCxn xmlns:a="http://schemas.openxmlformats.org/drawingml/2006/main" id="37" idx="6"/>
            <a:endCxn xmlns:a="http://schemas.openxmlformats.org/drawingml/2006/main" id="35" idx="2"/>
          </p:cNvCxnSpPr>
          <p:nvPr/>
        </p:nvCxnSpPr>
        <p:spPr>
          <a:xfrm xmlns:a="http://schemas.openxmlformats.org/drawingml/2006/main">
            <a:off x="4686300" y="4619625"/>
            <a:ext cx="3009900" cy="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9" name="">
            <a:extLst xmlns:a="http://schemas.openxmlformats.org/drawingml/2006/main">
              <a:ext uri="{FF2B5EF4-FFF2-40B4-BE49-F238E27FC236}">
                <a16:creationId xmlns:a16="http://schemas.microsoft.com/office/drawing/2014/main" id="{B2905AE3-28F9-4B3C-B078-BCBFCEEA4BFC}"/>
              </a:ext>
            </a:extLst>
          </p:cNvPr>
          <p:cNvCxnSpPr>
            <a:stCxn xmlns:a="http://schemas.openxmlformats.org/drawingml/2006/main" id="41" idx="2"/>
            <a:endCxn xmlns:a="http://schemas.openxmlformats.org/drawingml/2006/main" id="37" idx="6"/>
          </p:cNvCxnSpPr>
          <p:nvPr/>
        </p:nvCxnSpPr>
        <p:spPr>
          <a:xfrm xmlns:a="http://schemas.openxmlformats.org/drawingml/2006/main" flipH="1">
            <a:off x="4686300" y="2000250"/>
            <a:ext cx="3009900" cy="2619375"/>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7" name="">
            <a:extLst xmlns:a="http://schemas.openxmlformats.org/drawingml/2006/main">
              <a:ext uri="{FF2B5EF4-FFF2-40B4-BE49-F238E27FC236}">
                <a16:creationId xmlns:a16="http://schemas.microsoft.com/office/drawing/2014/main" id="{1DD67D78-83E5-418B-9ABA-53E38730B460}"/>
              </a:ext>
            </a:extLst>
          </p:cNvPr>
          <p:cNvCxnSpPr>
            <a:stCxn xmlns:a="http://schemas.openxmlformats.org/drawingml/2006/main" id="39" idx="2"/>
            <a:endCxn xmlns:a="http://schemas.openxmlformats.org/drawingml/2006/main" id="41" idx="6"/>
          </p:cNvCxnSpPr>
          <p:nvPr/>
        </p:nvCxnSpPr>
        <p:spPr>
          <a:xfrm xmlns:a="http://schemas.openxmlformats.org/drawingml/2006/main" flipH="1" flipV="1">
            <a:off x="8496300" y="2000250"/>
            <a:ext cx="167640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5" name="">
            <a:extLst xmlns:a="http://schemas.openxmlformats.org/drawingml/2006/main">
              <a:ext uri="{FF2B5EF4-FFF2-40B4-BE49-F238E27FC236}">
                <a16:creationId xmlns:a16="http://schemas.microsoft.com/office/drawing/2014/main" id="{F63B2919-811C-4B52-B604-4B7CBA7A266B}"/>
              </a:ext>
            </a:extLst>
          </p:cNvPr>
          <p:cNvCxnSpPr>
            <a:stCxn xmlns:a="http://schemas.openxmlformats.org/drawingml/2006/main" id="33" idx="6"/>
            <a:endCxn xmlns:a="http://schemas.openxmlformats.org/drawingml/2006/main" id="39" idx="2"/>
          </p:cNvCxnSpPr>
          <p:nvPr/>
        </p:nvCxnSpPr>
        <p:spPr>
          <a:xfrm xmlns:a="http://schemas.openxmlformats.org/drawingml/2006/main">
            <a:off x="4686300" y="2000250"/>
            <a:ext cx="548640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3" name="">
            <a:extLst xmlns:a="http://schemas.openxmlformats.org/drawingml/2006/main">
              <a:ext uri="{FF2B5EF4-FFF2-40B4-BE49-F238E27FC236}">
                <a16:creationId xmlns:a16="http://schemas.microsoft.com/office/drawing/2014/main" id="{D60A29DA-0B51-4D95-B27A-6219E3FF3CB2}"/>
              </a:ext>
            </a:extLst>
          </p:cNvPr>
          <p:cNvCxnSpPr>
            <a:stCxn xmlns:a="http://schemas.openxmlformats.org/drawingml/2006/main" id="31" idx="6"/>
            <a:endCxn xmlns:a="http://schemas.openxmlformats.org/drawingml/2006/main" id="33" idx="2"/>
          </p:cNvCxnSpPr>
          <p:nvPr/>
        </p:nvCxnSpPr>
        <p:spPr>
          <a:xfrm xmlns:a="http://schemas.openxmlformats.org/drawingml/2006/main" flipV="1">
            <a:off x="2114550" y="2000250"/>
            <a:ext cx="177165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sp>
        <p:nvSpPr>
          <p:cNvPr id="30" name="">
            <a:extLst xmlns:a="http://schemas.openxmlformats.org/drawingml/2006/main">
              <a:ext uri="{FF2B5EF4-FFF2-40B4-BE49-F238E27FC236}">
                <a16:creationId xmlns:a16="http://schemas.microsoft.com/office/drawing/2014/main" id="{4BAF63F4-5A6C-44A9-8C43-90756260A668}"/>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Найближчий сусід: отриманий маршрут</a:t>
            </a:r>
          </a:p>
        </p:txBody>
      </p:sp>
      <p:sp>
        <p:nvSpPr>
          <p:cNvPr id="2" name="">
            <a:extLst xmlns:a="http://schemas.openxmlformats.org/drawingml/2006/main">
              <a:ext uri="{FF2B5EF4-FFF2-40B4-BE49-F238E27FC236}">
                <a16:creationId xmlns:a16="http://schemas.microsoft.com/office/drawing/2014/main" id="{62F17F56-E170-46D0-BE37-DCD534550DF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Дешевий локальний вибір може залишити дороге повернення.</a:t>
            </a:r>
          </a:p>
        </p:txBody>
      </p:sp>
      <p:sp>
        <p:nvSpPr>
          <p:cNvPr id="3" name="">
            <a:extLst xmlns:a="http://schemas.openxmlformats.org/drawingml/2006/main">
              <a:ext uri="{FF2B5EF4-FFF2-40B4-BE49-F238E27FC236}">
                <a16:creationId xmlns:a16="http://schemas.microsoft.com/office/drawing/2014/main" id="{6F60F2C7-5B33-40C5-9B78-81FF5193CAC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39</a:t>
            </a:r>
          </a:p>
        </p:txBody>
      </p:sp>
      <p:sp>
        <p:nvSpPr>
          <p:cNvPr id="31" name="">
            <a:extLst xmlns:a="http://schemas.openxmlformats.org/drawingml/2006/main">
              <a:ext uri="{FF2B5EF4-FFF2-40B4-BE49-F238E27FC236}">
                <a16:creationId xmlns:a16="http://schemas.microsoft.com/office/drawing/2014/main" id="{065E067A-93AF-407C-8CB5-91FE6C11A855}"/>
              </a:ext>
            </a:extLst>
          </p:cNvPr>
          <p:cNvSpPr>
            <a:spLocks xmlns:a="http://schemas.openxmlformats.org/drawingml/2006/main" noGrp="1"/>
          </p:cNvSpPr>
          <p:nvPr/>
        </p:nvSpPr>
        <p:spPr>
          <a:xfrm xmlns:a="http://schemas.openxmlformats.org/drawingml/2006/main">
            <a:off x="1314450" y="2743200"/>
            <a:ext cx="800100" cy="800100"/>
          </a:xfrm>
          <a:prstGeom xmlns:a="http://schemas.openxmlformats.org/drawingml/2006/main" prst="ellipse">
            <a:avLst/>
          </a:prstGeom>
          <a:solidFill xmlns:a="http://schemas.openxmlformats.org/drawingml/2006/main">
            <a:srgbClr val="E9F1FB"/>
          </a:solidFill>
          <a:ln xmlns:a="http://schemas.openxmlformats.org/drawingml/2006/main" w="19050">
            <a:solidFill>
              <a:srgbClr val="173047"/>
            </a:solidFill>
          </a:ln>
        </p:spPr>
      </p:sp>
      <p:sp>
        <p:nvSpPr>
          <p:cNvPr id="32" name="">
            <a:extLst xmlns:a="http://schemas.openxmlformats.org/drawingml/2006/main">
              <a:ext uri="{FF2B5EF4-FFF2-40B4-BE49-F238E27FC236}">
                <a16:creationId xmlns:a16="http://schemas.microsoft.com/office/drawing/2014/main" id="{3E1C62AF-BE95-4E88-9249-C34301FBDDEB}"/>
              </a:ext>
            </a:extLst>
          </p:cNvPr>
          <p:cNvSpPr>
            <a:spLocks xmlns:a="http://schemas.openxmlformats.org/drawingml/2006/main" noGrp="1"/>
          </p:cNvSpPr>
          <p:nvPr/>
        </p:nvSpPr>
        <p:spPr>
          <a:xfrm xmlns:a="http://schemas.openxmlformats.org/drawingml/2006/main">
            <a:off x="135255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S</a:t>
            </a:r>
          </a:p>
        </p:txBody>
      </p:sp>
      <p:sp>
        <p:nvSpPr>
          <p:cNvPr id="33" name="">
            <a:extLst xmlns:a="http://schemas.openxmlformats.org/drawingml/2006/main">
              <a:ext uri="{FF2B5EF4-FFF2-40B4-BE49-F238E27FC236}">
                <a16:creationId xmlns:a16="http://schemas.microsoft.com/office/drawing/2014/main" id="{1114D93B-568F-43A6-B9D1-BB65A23CCFC1}"/>
              </a:ext>
            </a:extLst>
          </p:cNvPr>
          <p:cNvSpPr>
            <a:spLocks xmlns:a="http://schemas.openxmlformats.org/drawingml/2006/main" noGrp="1"/>
          </p:cNvSpPr>
          <p:nvPr/>
        </p:nvSpPr>
        <p:spPr>
          <a:xfrm xmlns:a="http://schemas.openxmlformats.org/drawingml/2006/main">
            <a:off x="3886200" y="1600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4" name="">
            <a:extLst xmlns:a="http://schemas.openxmlformats.org/drawingml/2006/main">
              <a:ext uri="{FF2B5EF4-FFF2-40B4-BE49-F238E27FC236}">
                <a16:creationId xmlns:a16="http://schemas.microsoft.com/office/drawing/2014/main" id="{19423BA0-7524-45EA-86D3-A8EF7386B7DB}"/>
              </a:ext>
            </a:extLst>
          </p:cNvPr>
          <p:cNvSpPr>
            <a:spLocks xmlns:a="http://schemas.openxmlformats.org/drawingml/2006/main" noGrp="1"/>
          </p:cNvSpPr>
          <p:nvPr/>
        </p:nvSpPr>
        <p:spPr>
          <a:xfrm xmlns:a="http://schemas.openxmlformats.org/drawingml/2006/main">
            <a:off x="392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A</a:t>
            </a:r>
          </a:p>
        </p:txBody>
      </p:sp>
      <p:sp>
        <p:nvSpPr>
          <p:cNvPr id="35" name="">
            <a:extLst xmlns:a="http://schemas.openxmlformats.org/drawingml/2006/main">
              <a:ext uri="{FF2B5EF4-FFF2-40B4-BE49-F238E27FC236}">
                <a16:creationId xmlns:a16="http://schemas.microsoft.com/office/drawing/2014/main" id="{501EBB15-3191-45E1-87E6-06BDB8521235}"/>
              </a:ext>
            </a:extLst>
          </p:cNvPr>
          <p:cNvSpPr>
            <a:spLocks xmlns:a="http://schemas.openxmlformats.org/drawingml/2006/main" noGrp="1"/>
          </p:cNvSpPr>
          <p:nvPr/>
        </p:nvSpPr>
        <p:spPr>
          <a:xfrm xmlns:a="http://schemas.openxmlformats.org/drawingml/2006/main">
            <a:off x="7696200" y="4219575"/>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6" name="">
            <a:extLst xmlns:a="http://schemas.openxmlformats.org/drawingml/2006/main">
              <a:ext uri="{FF2B5EF4-FFF2-40B4-BE49-F238E27FC236}">
                <a16:creationId xmlns:a16="http://schemas.microsoft.com/office/drawing/2014/main" id="{4CEED12D-82C5-4883-A2B2-4A77A6FA4BAD}"/>
              </a:ext>
            </a:extLst>
          </p:cNvPr>
          <p:cNvSpPr>
            <a:spLocks xmlns:a="http://schemas.openxmlformats.org/drawingml/2006/main" noGrp="1"/>
          </p:cNvSpPr>
          <p:nvPr/>
        </p:nvSpPr>
        <p:spPr>
          <a:xfrm xmlns:a="http://schemas.openxmlformats.org/drawingml/2006/main">
            <a:off x="773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B</a:t>
            </a:r>
          </a:p>
        </p:txBody>
      </p:sp>
      <p:sp>
        <p:nvSpPr>
          <p:cNvPr id="37" name="">
            <a:extLst xmlns:a="http://schemas.openxmlformats.org/drawingml/2006/main">
              <a:ext uri="{FF2B5EF4-FFF2-40B4-BE49-F238E27FC236}">
                <a16:creationId xmlns:a16="http://schemas.microsoft.com/office/drawing/2014/main" id="{F22ACCCE-E8F8-40DF-9E04-57F9BC38593B}"/>
              </a:ext>
            </a:extLst>
          </p:cNvPr>
          <p:cNvSpPr>
            <a:spLocks xmlns:a="http://schemas.openxmlformats.org/drawingml/2006/main" noGrp="1"/>
          </p:cNvSpPr>
          <p:nvPr/>
        </p:nvSpPr>
        <p:spPr>
          <a:xfrm xmlns:a="http://schemas.openxmlformats.org/drawingml/2006/main">
            <a:off x="3886200" y="4219575"/>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8" name="">
            <a:extLst xmlns:a="http://schemas.openxmlformats.org/drawingml/2006/main">
              <a:ext uri="{FF2B5EF4-FFF2-40B4-BE49-F238E27FC236}">
                <a16:creationId xmlns:a16="http://schemas.microsoft.com/office/drawing/2014/main" id="{C31F8172-104B-4E65-B16A-11460FF132A9}"/>
              </a:ext>
            </a:extLst>
          </p:cNvPr>
          <p:cNvSpPr>
            <a:spLocks xmlns:a="http://schemas.openxmlformats.org/drawingml/2006/main" noGrp="1"/>
          </p:cNvSpPr>
          <p:nvPr/>
        </p:nvSpPr>
        <p:spPr>
          <a:xfrm xmlns:a="http://schemas.openxmlformats.org/drawingml/2006/main">
            <a:off x="392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C</a:t>
            </a:r>
          </a:p>
        </p:txBody>
      </p:sp>
      <p:sp>
        <p:nvSpPr>
          <p:cNvPr id="39" name="">
            <a:extLst xmlns:a="http://schemas.openxmlformats.org/drawingml/2006/main">
              <a:ext uri="{FF2B5EF4-FFF2-40B4-BE49-F238E27FC236}">
                <a16:creationId xmlns:a16="http://schemas.microsoft.com/office/drawing/2014/main" id="{8FFECC9E-E584-4706-8AF6-7D8813FD9637}"/>
              </a:ext>
            </a:extLst>
          </p:cNvPr>
          <p:cNvSpPr>
            <a:spLocks xmlns:a="http://schemas.openxmlformats.org/drawingml/2006/main" noGrp="1"/>
          </p:cNvSpPr>
          <p:nvPr/>
        </p:nvSpPr>
        <p:spPr>
          <a:xfrm xmlns:a="http://schemas.openxmlformats.org/drawingml/2006/main">
            <a:off x="10172700" y="2743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40" name="">
            <a:extLst xmlns:a="http://schemas.openxmlformats.org/drawingml/2006/main">
              <a:ext uri="{FF2B5EF4-FFF2-40B4-BE49-F238E27FC236}">
                <a16:creationId xmlns:a16="http://schemas.microsoft.com/office/drawing/2014/main" id="{9065DB28-979B-4295-B347-723353FC05A8}"/>
              </a:ext>
            </a:extLst>
          </p:cNvPr>
          <p:cNvSpPr>
            <a:spLocks xmlns:a="http://schemas.openxmlformats.org/drawingml/2006/main" noGrp="1"/>
          </p:cNvSpPr>
          <p:nvPr/>
        </p:nvSpPr>
        <p:spPr>
          <a:xfrm xmlns:a="http://schemas.openxmlformats.org/drawingml/2006/main">
            <a:off x="1021080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D</a:t>
            </a:r>
          </a:p>
        </p:txBody>
      </p:sp>
      <p:sp>
        <p:nvSpPr>
          <p:cNvPr id="41" name="">
            <a:extLst xmlns:a="http://schemas.openxmlformats.org/drawingml/2006/main">
              <a:ext uri="{FF2B5EF4-FFF2-40B4-BE49-F238E27FC236}">
                <a16:creationId xmlns:a16="http://schemas.microsoft.com/office/drawing/2014/main" id="{D62816DA-7D6D-4BD7-B236-E7408F5D8D86}"/>
              </a:ext>
            </a:extLst>
          </p:cNvPr>
          <p:cNvSpPr>
            <a:spLocks xmlns:a="http://schemas.openxmlformats.org/drawingml/2006/main" noGrp="1"/>
          </p:cNvSpPr>
          <p:nvPr/>
        </p:nvSpPr>
        <p:spPr>
          <a:xfrm xmlns:a="http://schemas.openxmlformats.org/drawingml/2006/main">
            <a:off x="7696200" y="1600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42" name="">
            <a:extLst xmlns:a="http://schemas.openxmlformats.org/drawingml/2006/main">
              <a:ext uri="{FF2B5EF4-FFF2-40B4-BE49-F238E27FC236}">
                <a16:creationId xmlns:a16="http://schemas.microsoft.com/office/drawing/2014/main" id="{10816B73-3D4D-45D1-8709-C9FD918D97B1}"/>
              </a:ext>
            </a:extLst>
          </p:cNvPr>
          <p:cNvSpPr>
            <a:spLocks xmlns:a="http://schemas.openxmlformats.org/drawingml/2006/main" noGrp="1"/>
          </p:cNvSpPr>
          <p:nvPr/>
        </p:nvSpPr>
        <p:spPr>
          <a:xfrm xmlns:a="http://schemas.openxmlformats.org/drawingml/2006/main">
            <a:off x="773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E</a:t>
            </a:r>
          </a:p>
        </p:txBody>
      </p:sp>
      <p:sp>
        <p:nvSpPr>
          <p:cNvPr id="44" name="">
            <a:extLst xmlns:a="http://schemas.openxmlformats.org/drawingml/2006/main">
              <a:ext uri="{FF2B5EF4-FFF2-40B4-BE49-F238E27FC236}">
                <a16:creationId xmlns:a16="http://schemas.microsoft.com/office/drawing/2014/main" id="{3C417C6F-9276-4638-879B-D5740BCC9722}"/>
              </a:ext>
            </a:extLst>
          </p:cNvPr>
          <p:cNvSpPr>
            <a:spLocks xmlns:a="http://schemas.openxmlformats.org/drawingml/2006/main" noGrp="1"/>
          </p:cNvSpPr>
          <p:nvPr/>
        </p:nvSpPr>
        <p:spPr>
          <a:xfrm xmlns:a="http://schemas.openxmlformats.org/drawingml/2006/main">
            <a:off x="2695575"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46" name="">
            <a:extLst xmlns:a="http://schemas.openxmlformats.org/drawingml/2006/main">
              <a:ext uri="{FF2B5EF4-FFF2-40B4-BE49-F238E27FC236}">
                <a16:creationId xmlns:a16="http://schemas.microsoft.com/office/drawing/2014/main" id="{A457AE3B-12A8-42CB-8336-EE46CE9CC12D}"/>
              </a:ext>
            </a:extLst>
          </p:cNvPr>
          <p:cNvSpPr>
            <a:spLocks xmlns:a="http://schemas.openxmlformats.org/drawingml/2006/main" noGrp="1"/>
          </p:cNvSpPr>
          <p:nvPr/>
        </p:nvSpPr>
        <p:spPr>
          <a:xfrm xmlns:a="http://schemas.openxmlformats.org/drawingml/2006/main">
            <a:off x="7124700"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10</a:t>
            </a:r>
          </a:p>
        </p:txBody>
      </p:sp>
      <p:sp>
        <p:nvSpPr>
          <p:cNvPr id="48" name="">
            <a:extLst xmlns:a="http://schemas.openxmlformats.org/drawingml/2006/main">
              <a:ext uri="{FF2B5EF4-FFF2-40B4-BE49-F238E27FC236}">
                <a16:creationId xmlns:a16="http://schemas.microsoft.com/office/drawing/2014/main" id="{F4293466-D25E-41BA-9862-0BBADDD8AB11}"/>
              </a:ext>
            </a:extLst>
          </p:cNvPr>
          <p:cNvSpPr>
            <a:spLocks xmlns:a="http://schemas.openxmlformats.org/drawingml/2006/main" noGrp="1"/>
          </p:cNvSpPr>
          <p:nvPr/>
        </p:nvSpPr>
        <p:spPr>
          <a:xfrm xmlns:a="http://schemas.openxmlformats.org/drawingml/2006/main">
            <a:off x="9029700"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50" name="">
            <a:extLst xmlns:a="http://schemas.openxmlformats.org/drawingml/2006/main">
              <a:ext uri="{FF2B5EF4-FFF2-40B4-BE49-F238E27FC236}">
                <a16:creationId xmlns:a16="http://schemas.microsoft.com/office/drawing/2014/main" id="{DD0C30C1-F5AB-4F03-BB9E-31E5D2FA5232}"/>
              </a:ext>
            </a:extLst>
          </p:cNvPr>
          <p:cNvSpPr>
            <a:spLocks xmlns:a="http://schemas.openxmlformats.org/drawingml/2006/main" noGrp="1"/>
          </p:cNvSpPr>
          <p:nvPr/>
        </p:nvSpPr>
        <p:spPr>
          <a:xfrm xmlns:a="http://schemas.openxmlformats.org/drawingml/2006/main">
            <a:off x="5886450" y="3081338"/>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12</a:t>
            </a:r>
          </a:p>
        </p:txBody>
      </p:sp>
      <p:sp>
        <p:nvSpPr>
          <p:cNvPr id="52" name="">
            <a:extLst xmlns:a="http://schemas.openxmlformats.org/drawingml/2006/main">
              <a:ext uri="{FF2B5EF4-FFF2-40B4-BE49-F238E27FC236}">
                <a16:creationId xmlns:a16="http://schemas.microsoft.com/office/drawing/2014/main" id="{AFB3A64F-1ABB-429B-A08D-D7DF82565169}"/>
              </a:ext>
            </a:extLst>
          </p:cNvPr>
          <p:cNvSpPr>
            <a:spLocks xmlns:a="http://schemas.openxmlformats.org/drawingml/2006/main" noGrp="1"/>
          </p:cNvSpPr>
          <p:nvPr/>
        </p:nvSpPr>
        <p:spPr>
          <a:xfrm xmlns:a="http://schemas.openxmlformats.org/drawingml/2006/main">
            <a:off x="5886450" y="4391025"/>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54" name="">
            <a:extLst xmlns:a="http://schemas.openxmlformats.org/drawingml/2006/main">
              <a:ext uri="{FF2B5EF4-FFF2-40B4-BE49-F238E27FC236}">
                <a16:creationId xmlns:a16="http://schemas.microsoft.com/office/drawing/2014/main" id="{E60515B6-E6BE-449E-AD6D-6FD318107E9D}"/>
              </a:ext>
            </a:extLst>
          </p:cNvPr>
          <p:cNvSpPr>
            <a:spLocks xmlns:a="http://schemas.openxmlformats.org/drawingml/2006/main" noGrp="1"/>
          </p:cNvSpPr>
          <p:nvPr/>
        </p:nvSpPr>
        <p:spPr>
          <a:xfrm xmlns:a="http://schemas.openxmlformats.org/drawingml/2006/main">
            <a:off x="4600575" y="3652838"/>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A96B00"/>
                </a:solidFill>
                <a:latin typeface="Arial"/>
                <a:ea typeface="Arial"/>
                <a:cs typeface="Arial"/>
              </a:defRPr>
            </a:defPPr>
          </a:lstStyle>
          <a:p xmlns:a="http://schemas.openxmlformats.org/drawingml/2006/main">
            <a:pPr algn="ctr">
              <a:buNone/>
              <a:defRPr sz="2250" b="1">
                <a:solidFill>
                  <a:srgbClr val="A96B00"/>
                </a:solidFill>
                <a:latin typeface="Arial"/>
                <a:ea typeface="Arial"/>
                <a:cs typeface="Arial"/>
              </a:defRPr>
            </a:pPr>
            <a:r>
              <a:rPr sz="2250" b="1">
                <a:solidFill>
                  <a:srgbClr val="A96B00"/>
                </a:solidFill>
                <a:latin typeface="Arial"/>
                <a:ea typeface="Arial"/>
                <a:cs typeface="Arial"/>
              </a:rPr>
              <a:t>16</a:t>
            </a:r>
          </a:p>
        </p:txBody>
      </p:sp>
      <p:sp>
        <p:nvSpPr>
          <p:cNvPr id="55" name="">
            <a:extLst xmlns:a="http://schemas.openxmlformats.org/drawingml/2006/main">
              <a:ext uri="{FF2B5EF4-FFF2-40B4-BE49-F238E27FC236}">
                <a16:creationId xmlns:a16="http://schemas.microsoft.com/office/drawing/2014/main" id="{59F46F44-1DD7-4EF5-A5FA-3BA4B8D29872}"/>
              </a:ext>
            </a:extLst>
          </p:cNvPr>
          <p:cNvSpPr>
            <a:spLocks xmlns:a="http://schemas.openxmlformats.org/drawingml/2006/main" noGrp="1"/>
          </p:cNvSpPr>
          <p:nvPr/>
        </p:nvSpPr>
        <p:spPr>
          <a:xfrm xmlns:a="http://schemas.openxmlformats.org/drawingml/2006/main">
            <a:off x="8096250" y="5238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750" b="1">
                <a:solidFill>
                  <a:srgbClr val="A96B00"/>
                </a:solidFill>
                <a:latin typeface="Arial"/>
                <a:ea typeface="Arial"/>
                <a:cs typeface="Arial"/>
              </a:defRPr>
            </a:defPPr>
          </a:lstStyle>
          <a:p xmlns:a="http://schemas.openxmlformats.org/drawingml/2006/main">
            <a:pPr algn="r">
              <a:buNone/>
              <a:defRPr sz="3750" b="1">
                <a:solidFill>
                  <a:srgbClr val="A96B00"/>
                </a:solidFill>
                <a:latin typeface="Arial"/>
                <a:ea typeface="Arial"/>
                <a:cs typeface="Arial"/>
              </a:defRPr>
            </a:pPr>
            <a:r>
              <a:rPr sz="3750" b="1">
                <a:solidFill>
                  <a:srgbClr val="A96B00"/>
                </a:solidFill>
                <a:latin typeface="Arial"/>
                <a:ea typeface="Arial"/>
                <a:cs typeface="Arial"/>
              </a:rPr>
              <a:t>C = 44</a:t>
            </a:r>
          </a:p>
        </p:txBody>
      </p:sp>
      <p:sp>
        <p:nvSpPr>
          <p:cNvPr id="56" name="">
            <a:extLst xmlns:a="http://schemas.openxmlformats.org/drawingml/2006/main">
              <a:ext uri="{FF2B5EF4-FFF2-40B4-BE49-F238E27FC236}">
                <a16:creationId xmlns:a16="http://schemas.microsoft.com/office/drawing/2014/main" id="{4692025C-4E79-4FE7-B97E-71C9A4186FC4}"/>
              </a:ext>
            </a:extLst>
          </p:cNvPr>
          <p:cNvSpPr>
            <a:spLocks xmlns:a="http://schemas.openxmlformats.org/drawingml/2006/main" noGrp="1"/>
          </p:cNvSpPr>
          <p:nvPr/>
        </p:nvSpPr>
        <p:spPr>
          <a:xfrm xmlns:a="http://schemas.openxmlformats.org/drawingml/2006/main">
            <a:off x="762000" y="5305425"/>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66779"/>
                </a:solidFill>
                <a:latin typeface="Arial"/>
                <a:ea typeface="Arial"/>
                <a:cs typeface="Arial"/>
              </a:defRPr>
            </a:defPPr>
          </a:lstStyle>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S-A-D-E-C-B-S</a:t>
            </a:r>
          </a:p>
        </p:txBody>
      </p:sp>
      <p:sp>
        <p:nvSpPr>
          <p:cNvPr id="57" name="">
            <a:extLst xmlns:a="http://schemas.openxmlformats.org/drawingml/2006/main">
              <a:ext uri="{FF2B5EF4-FFF2-40B4-BE49-F238E27FC236}">
                <a16:creationId xmlns:a16="http://schemas.microsoft.com/office/drawing/2014/main" id="{E3043FF2-D59F-4459-A708-2AE67244F8E1}"/>
              </a:ext>
            </a:extLst>
          </p:cNvPr>
          <p:cNvSpPr>
            <a:spLocks xmlns:a="http://schemas.openxmlformats.org/drawingml/2006/main" noGrp="1"/>
          </p:cNvSpPr>
          <p:nvPr/>
        </p:nvSpPr>
        <p:spPr>
          <a:xfrm xmlns:a="http://schemas.openxmlformats.org/drawingml/2006/main">
            <a:off x="762000" y="12763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A96B00"/>
                </a:solidFill>
                <a:latin typeface="Arial"/>
                <a:ea typeface="Arial"/>
                <a:cs typeface="Arial"/>
              </a:defRPr>
            </a:defPPr>
          </a:lstStyle>
          <a:p xmlns:a="http://schemas.openxmlformats.org/drawingml/2006/main">
            <a:pPr algn="l">
              <a:buNone/>
              <a:defRPr sz="1875" b="1">
                <a:solidFill>
                  <a:srgbClr val="A96B00"/>
                </a:solidFill>
                <a:latin typeface="Arial"/>
                <a:ea typeface="Arial"/>
                <a:cs typeface="Arial"/>
              </a:defRPr>
            </a:pPr>
            <a:r>
              <a:rPr sz="1875" b="1">
                <a:solidFill>
                  <a:srgbClr val="A96B00"/>
                </a:solidFill>
                <a:latin typeface="Arial"/>
                <a:ea typeface="Arial"/>
                <a:cs typeface="Arial"/>
              </a:rPr>
              <a:t>Повернення B-S: 16 хв</a:t>
            </a:r>
          </a:p>
        </p:txBody>
      </p:sp>
    </p:spTree>
    <p:extLst>
      <p:ext uri="{BB962C8B-B14F-4D97-AF65-F5344CB8AC3E}">
        <p14:creationId xmlns:p14="http://schemas.microsoft.com/office/powerpoint/2010/main" val="174897804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2483D2E9-AF9B-4A2B-8A16-31B002C0D9E1}"/>
              </a:ext>
            </a:extLst>
          </p:cNvPr>
          <p:cNvCxnSpPr>
            <a:stCxn xmlns:a="http://schemas.openxmlformats.org/drawingml/2006/main" id="9" idx="6"/>
            <a:endCxn xmlns:a="http://schemas.openxmlformats.org/drawingml/2006/main" id="13" idx="2"/>
          </p:cNvCxnSpPr>
          <p:nvPr/>
        </p:nvCxnSpPr>
        <p:spPr>
          <a:xfrm xmlns:a="http://schemas.openxmlformats.org/drawingml/2006/main">
            <a:off x="2152650" y="3133725"/>
            <a:ext cx="2171700" cy="1133475"/>
          </a:xfrm>
          <a:prstGeom xmlns:a="http://schemas.openxmlformats.org/drawingml/2006/main" prst="straightConnector1">
            <a:avLst/>
          </a:prstGeom>
          <a:ln xmlns:a="http://schemas.openxmlformats.org/drawingml/2006/main" w="28575">
            <a:solidFill>
              <a:srgbClr val="566779"/>
            </a:solidFill>
            <a:prstDash val="dash"/>
            <a:tailEnd type="triangle" w="med" len="med"/>
          </a:ln>
        </p:spPr>
      </p:cxnSp>
      <p:cxnSp>
        <p:nvCxnSpPr>
          <p:cNvPr id="15" name="">
            <a:extLst xmlns:a="http://schemas.openxmlformats.org/drawingml/2006/main">
              <a:ext uri="{FF2B5EF4-FFF2-40B4-BE49-F238E27FC236}">
                <a16:creationId xmlns:a16="http://schemas.microsoft.com/office/drawing/2014/main" id="{5FA50CC9-E25E-476B-B55F-EE3CA9E15D6D}"/>
              </a:ext>
            </a:extLst>
          </p:cNvPr>
          <p:cNvCxnSpPr>
            <a:stCxn xmlns:a="http://schemas.openxmlformats.org/drawingml/2006/main" id="9" idx="6"/>
            <a:endCxn xmlns:a="http://schemas.openxmlformats.org/drawingml/2006/main" id="11" idx="2"/>
          </p:cNvCxnSpPr>
          <p:nvPr/>
        </p:nvCxnSpPr>
        <p:spPr>
          <a:xfrm xmlns:a="http://schemas.openxmlformats.org/drawingml/2006/main" flipV="1">
            <a:off x="2152650" y="2190750"/>
            <a:ext cx="2171700" cy="942975"/>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92715EEA-0DCF-41A3-983B-E80F33945994}"/>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TSP: змінні й функція вартості</a:t>
            </a:r>
          </a:p>
        </p:txBody>
      </p:sp>
      <p:sp>
        <p:nvSpPr>
          <p:cNvPr id="2" name="">
            <a:extLst xmlns:a="http://schemas.openxmlformats.org/drawingml/2006/main">
              <a:ext uri="{FF2B5EF4-FFF2-40B4-BE49-F238E27FC236}">
                <a16:creationId xmlns:a16="http://schemas.microsoft.com/office/drawing/2014/main" id="{C573BCAB-205F-45D2-9BFB-7A5E289F395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Бінарна змінна x(i,j) означає вибір прямого переходу.</a:t>
            </a:r>
          </a:p>
        </p:txBody>
      </p:sp>
      <p:sp>
        <p:nvSpPr>
          <p:cNvPr id="3" name="">
            <a:extLst xmlns:a="http://schemas.openxmlformats.org/drawingml/2006/main">
              <a:ext uri="{FF2B5EF4-FFF2-40B4-BE49-F238E27FC236}">
                <a16:creationId xmlns:a16="http://schemas.microsoft.com/office/drawing/2014/main" id="{A94DE62C-1FF5-4086-B1F5-944C3537CA4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40</a:t>
            </a:r>
          </a:p>
        </p:txBody>
      </p:sp>
      <p:sp>
        <p:nvSpPr>
          <p:cNvPr id="9" name="">
            <a:extLst xmlns:a="http://schemas.openxmlformats.org/drawingml/2006/main">
              <a:ext uri="{FF2B5EF4-FFF2-40B4-BE49-F238E27FC236}">
                <a16:creationId xmlns:a16="http://schemas.microsoft.com/office/drawing/2014/main" id="{41751727-5D28-444F-92C4-2A0FD7880B6F}"/>
              </a:ext>
            </a:extLst>
          </p:cNvPr>
          <p:cNvSpPr>
            <a:spLocks xmlns:a="http://schemas.openxmlformats.org/drawingml/2006/main" noGrp="1"/>
          </p:cNvSpPr>
          <p:nvPr/>
        </p:nvSpPr>
        <p:spPr>
          <a:xfrm xmlns:a="http://schemas.openxmlformats.org/drawingml/2006/main">
            <a:off x="1276350" y="2695575"/>
            <a:ext cx="876300" cy="876300"/>
          </a:xfrm>
          <a:prstGeom xmlns:a="http://schemas.openxmlformats.org/drawingml/2006/main" prst="ellipse">
            <a:avLst/>
          </a:prstGeom>
          <a:solidFill xmlns:a="http://schemas.openxmlformats.org/drawingml/2006/main">
            <a:srgbClr val="E9F1FB"/>
          </a:solidFill>
          <a:ln xmlns:a="http://schemas.openxmlformats.org/drawingml/2006/main" w="19050">
            <a:solidFill>
              <a:srgbClr val="173047"/>
            </a:solidFill>
          </a:ln>
        </p:spPr>
      </p:sp>
      <p:sp>
        <p:nvSpPr>
          <p:cNvPr id="10" name="">
            <a:extLst xmlns:a="http://schemas.openxmlformats.org/drawingml/2006/main">
              <a:ext uri="{FF2B5EF4-FFF2-40B4-BE49-F238E27FC236}">
                <a16:creationId xmlns:a16="http://schemas.microsoft.com/office/drawing/2014/main" id="{2725BA10-B175-47C5-8509-FAA92CE7B980}"/>
              </a:ext>
            </a:extLst>
          </p:cNvPr>
          <p:cNvSpPr>
            <a:spLocks xmlns:a="http://schemas.openxmlformats.org/drawingml/2006/main" noGrp="1"/>
          </p:cNvSpPr>
          <p:nvPr/>
        </p:nvSpPr>
        <p:spPr>
          <a:xfrm xmlns:a="http://schemas.openxmlformats.org/drawingml/2006/main">
            <a:off x="1314450" y="2733675"/>
            <a:ext cx="800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S</a:t>
            </a:r>
          </a:p>
        </p:txBody>
      </p:sp>
      <p:sp>
        <p:nvSpPr>
          <p:cNvPr id="11" name="">
            <a:extLst xmlns:a="http://schemas.openxmlformats.org/drawingml/2006/main">
              <a:ext uri="{FF2B5EF4-FFF2-40B4-BE49-F238E27FC236}">
                <a16:creationId xmlns:a16="http://schemas.microsoft.com/office/drawing/2014/main" id="{BA2B68CA-D45A-44C7-B983-37B24D8AF856}"/>
              </a:ext>
            </a:extLst>
          </p:cNvPr>
          <p:cNvSpPr>
            <a:spLocks xmlns:a="http://schemas.openxmlformats.org/drawingml/2006/main" noGrp="1"/>
          </p:cNvSpPr>
          <p:nvPr/>
        </p:nvSpPr>
        <p:spPr>
          <a:xfrm xmlns:a="http://schemas.openxmlformats.org/drawingml/2006/main">
            <a:off x="4324350" y="1752600"/>
            <a:ext cx="876300" cy="8763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12" name="">
            <a:extLst xmlns:a="http://schemas.openxmlformats.org/drawingml/2006/main">
              <a:ext uri="{FF2B5EF4-FFF2-40B4-BE49-F238E27FC236}">
                <a16:creationId xmlns:a16="http://schemas.microsoft.com/office/drawing/2014/main" id="{0DA06BD4-2F15-4283-AAC3-62F4BE942B88}"/>
              </a:ext>
            </a:extLst>
          </p:cNvPr>
          <p:cNvSpPr>
            <a:spLocks xmlns:a="http://schemas.openxmlformats.org/drawingml/2006/main" noGrp="1"/>
          </p:cNvSpPr>
          <p:nvPr/>
        </p:nvSpPr>
        <p:spPr>
          <a:xfrm xmlns:a="http://schemas.openxmlformats.org/drawingml/2006/main">
            <a:off x="4362450" y="1790700"/>
            <a:ext cx="800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A</a:t>
            </a:r>
          </a:p>
        </p:txBody>
      </p:sp>
      <p:sp>
        <p:nvSpPr>
          <p:cNvPr id="13" name="">
            <a:extLst xmlns:a="http://schemas.openxmlformats.org/drawingml/2006/main">
              <a:ext uri="{FF2B5EF4-FFF2-40B4-BE49-F238E27FC236}">
                <a16:creationId xmlns:a16="http://schemas.microsoft.com/office/drawing/2014/main" id="{8A2146B3-6B27-4BE6-ADCF-FFC543EFCAF2}"/>
              </a:ext>
            </a:extLst>
          </p:cNvPr>
          <p:cNvSpPr>
            <a:spLocks xmlns:a="http://schemas.openxmlformats.org/drawingml/2006/main" noGrp="1"/>
          </p:cNvSpPr>
          <p:nvPr/>
        </p:nvSpPr>
        <p:spPr>
          <a:xfrm xmlns:a="http://schemas.openxmlformats.org/drawingml/2006/main">
            <a:off x="4324350" y="3829050"/>
            <a:ext cx="876300" cy="8763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4" name="">
            <a:extLst xmlns:a="http://schemas.openxmlformats.org/drawingml/2006/main">
              <a:ext uri="{FF2B5EF4-FFF2-40B4-BE49-F238E27FC236}">
                <a16:creationId xmlns:a16="http://schemas.microsoft.com/office/drawing/2014/main" id="{4013E902-B74E-403B-B245-0BFAF7BF8A7E}"/>
              </a:ext>
            </a:extLst>
          </p:cNvPr>
          <p:cNvSpPr>
            <a:spLocks xmlns:a="http://schemas.openxmlformats.org/drawingml/2006/main" noGrp="1"/>
          </p:cNvSpPr>
          <p:nvPr/>
        </p:nvSpPr>
        <p:spPr>
          <a:xfrm xmlns:a="http://schemas.openxmlformats.org/drawingml/2006/main">
            <a:off x="4362450" y="3867150"/>
            <a:ext cx="8001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B</a:t>
            </a:r>
          </a:p>
        </p:txBody>
      </p:sp>
      <p:sp>
        <p:nvSpPr>
          <p:cNvPr id="17" name="">
            <a:extLst xmlns:a="http://schemas.openxmlformats.org/drawingml/2006/main">
              <a:ext uri="{FF2B5EF4-FFF2-40B4-BE49-F238E27FC236}">
                <a16:creationId xmlns:a16="http://schemas.microsoft.com/office/drawing/2014/main" id="{9B664490-6991-41BE-8F93-7F4F5C972A0E}"/>
              </a:ext>
            </a:extLst>
          </p:cNvPr>
          <p:cNvSpPr>
            <a:spLocks xmlns:a="http://schemas.openxmlformats.org/drawingml/2006/main" noGrp="1"/>
          </p:cNvSpPr>
          <p:nvPr/>
        </p:nvSpPr>
        <p:spPr>
          <a:xfrm xmlns:a="http://schemas.openxmlformats.org/drawingml/2006/main">
            <a:off x="2714625" y="2009775"/>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00857D"/>
                </a:solidFill>
                <a:latin typeface="Arial"/>
                <a:ea typeface="Arial"/>
                <a:cs typeface="Arial"/>
              </a:defRPr>
            </a:defPPr>
          </a:lstStyle>
          <a:p xmlns:a="http://schemas.openxmlformats.org/drawingml/2006/main">
            <a:pPr algn="l">
              <a:buNone/>
              <a:defRPr sz="2325" b="1">
                <a:solidFill>
                  <a:srgbClr val="00857D"/>
                </a:solidFill>
                <a:latin typeface="Arial"/>
                <a:ea typeface="Arial"/>
                <a:cs typeface="Arial"/>
              </a:defRPr>
            </a:pPr>
            <a:r>
              <a:rPr sz="2325" b="1">
                <a:solidFill>
                  <a:srgbClr val="00857D"/>
                </a:solidFill>
                <a:latin typeface="Arial"/>
                <a:ea typeface="Arial"/>
                <a:cs typeface="Arial"/>
              </a:rPr>
              <a:t>2 хв</a:t>
            </a:r>
          </a:p>
        </p:txBody>
      </p:sp>
      <p:sp>
        <p:nvSpPr>
          <p:cNvPr id="18" name="">
            <a:extLst xmlns:a="http://schemas.openxmlformats.org/drawingml/2006/main">
              <a:ext uri="{FF2B5EF4-FFF2-40B4-BE49-F238E27FC236}">
                <a16:creationId xmlns:a16="http://schemas.microsoft.com/office/drawing/2014/main" id="{ABA2119F-5011-4EFD-B221-7E0897CE0C24}"/>
              </a:ext>
            </a:extLst>
          </p:cNvPr>
          <p:cNvSpPr>
            <a:spLocks xmlns:a="http://schemas.openxmlformats.org/drawingml/2006/main" noGrp="1"/>
          </p:cNvSpPr>
          <p:nvPr/>
        </p:nvSpPr>
        <p:spPr>
          <a:xfrm xmlns:a="http://schemas.openxmlformats.org/drawingml/2006/main">
            <a:off x="2714625" y="413385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566779"/>
                </a:solidFill>
                <a:latin typeface="Arial"/>
                <a:ea typeface="Arial"/>
                <a:cs typeface="Arial"/>
              </a:defRPr>
            </a:defPPr>
          </a:lstStyle>
          <a:p xmlns:a="http://schemas.openxmlformats.org/drawingml/2006/main">
            <a:pPr algn="l">
              <a:buNone/>
              <a:defRPr sz="2325" b="0">
                <a:solidFill>
                  <a:srgbClr val="566779"/>
                </a:solidFill>
                <a:latin typeface="Arial"/>
                <a:ea typeface="Arial"/>
                <a:cs typeface="Arial"/>
              </a:defRPr>
            </a:pPr>
            <a:r>
              <a:rPr sz="2325" b="0">
                <a:solidFill>
                  <a:srgbClr val="566779"/>
                </a:solidFill>
                <a:latin typeface="Arial"/>
                <a:ea typeface="Arial"/>
                <a:cs typeface="Arial"/>
              </a:rPr>
              <a:t>16 хв</a:t>
            </a:r>
          </a:p>
        </p:txBody>
      </p:sp>
      <p:sp>
        <p:nvSpPr>
          <p:cNvPr id="19" name="">
            <a:extLst xmlns:a="http://schemas.openxmlformats.org/drawingml/2006/main">
              <a:ext uri="{FF2B5EF4-FFF2-40B4-BE49-F238E27FC236}">
                <a16:creationId xmlns:a16="http://schemas.microsoft.com/office/drawing/2014/main" id="{0CC55C31-9BCD-4B72-876D-05FF6493FC6D}"/>
              </a:ext>
            </a:extLst>
          </p:cNvPr>
          <p:cNvSpPr>
            <a:spLocks xmlns:a="http://schemas.openxmlformats.org/drawingml/2006/main" noGrp="1"/>
          </p:cNvSpPr>
          <p:nvPr/>
        </p:nvSpPr>
        <p:spPr>
          <a:xfrm xmlns:a="http://schemas.openxmlformats.org/drawingml/2006/main">
            <a:off x="6762750" y="17145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00857D"/>
                </a:solidFill>
                <a:latin typeface="Arial"/>
                <a:ea typeface="Arial"/>
                <a:cs typeface="Arial"/>
              </a:defRPr>
            </a:defPPr>
          </a:lstStyle>
          <a:p xmlns:a="http://schemas.openxmlformats.org/drawingml/2006/main">
            <a:pPr algn="l">
              <a:buNone/>
              <a:defRPr sz="3450" b="1">
                <a:solidFill>
                  <a:srgbClr val="00857D"/>
                </a:solidFill>
                <a:latin typeface="Arial"/>
                <a:ea typeface="Arial"/>
                <a:cs typeface="Arial"/>
              </a:defRPr>
            </a:pPr>
            <a:r>
              <a:rPr sz="3450" b="1">
                <a:solidFill>
                  <a:srgbClr val="00857D"/>
                </a:solidFill>
                <a:latin typeface="Arial"/>
                <a:ea typeface="Arial"/>
                <a:cs typeface="Arial"/>
              </a:rPr>
              <a:t>x(S,A) = 1</a:t>
            </a:r>
          </a:p>
        </p:txBody>
      </p:sp>
      <p:sp>
        <p:nvSpPr>
          <p:cNvPr id="20" name="">
            <a:extLst xmlns:a="http://schemas.openxmlformats.org/drawingml/2006/main">
              <a:ext uri="{FF2B5EF4-FFF2-40B4-BE49-F238E27FC236}">
                <a16:creationId xmlns:a16="http://schemas.microsoft.com/office/drawing/2014/main" id="{DA2C5BAB-9965-4980-805E-B7F8B59174A1}"/>
              </a:ext>
            </a:extLst>
          </p:cNvPr>
          <p:cNvSpPr>
            <a:spLocks xmlns:a="http://schemas.openxmlformats.org/drawingml/2006/main" noGrp="1"/>
          </p:cNvSpPr>
          <p:nvPr/>
        </p:nvSpPr>
        <p:spPr>
          <a:xfrm xmlns:a="http://schemas.openxmlformats.org/drawingml/2006/main">
            <a:off x="6762750" y="242887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73047"/>
                </a:solidFill>
                <a:latin typeface="Arial"/>
                <a:ea typeface="Arial"/>
                <a:cs typeface="Arial"/>
              </a:defRPr>
            </a:defPPr>
          </a:lstStyle>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Обраний перехід додає 2 хв</a:t>
            </a:r>
          </a:p>
        </p:txBody>
      </p:sp>
      <p:sp>
        <p:nvSpPr>
          <p:cNvPr id="21" name="">
            <a:extLst xmlns:a="http://schemas.openxmlformats.org/drawingml/2006/main">
              <a:ext uri="{FF2B5EF4-FFF2-40B4-BE49-F238E27FC236}">
                <a16:creationId xmlns:a16="http://schemas.microsoft.com/office/drawing/2014/main" id="{A93DA8AB-91ED-494B-83BD-38720D9D1E8E}"/>
              </a:ext>
            </a:extLst>
          </p:cNvPr>
          <p:cNvSpPr>
            <a:spLocks xmlns:a="http://schemas.openxmlformats.org/drawingml/2006/main" noGrp="1"/>
          </p:cNvSpPr>
          <p:nvPr/>
        </p:nvSpPr>
        <p:spPr>
          <a:xfrm xmlns:a="http://schemas.openxmlformats.org/drawingml/2006/main">
            <a:off x="6762750" y="338137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566779"/>
                </a:solidFill>
                <a:latin typeface="Arial"/>
                <a:ea typeface="Arial"/>
                <a:cs typeface="Arial"/>
              </a:defRPr>
            </a:defPPr>
          </a:lstStyle>
          <a:p xmlns:a="http://schemas.openxmlformats.org/drawingml/2006/main">
            <a:pPr algn="l">
              <a:buNone/>
              <a:defRPr sz="3450" b="1">
                <a:solidFill>
                  <a:srgbClr val="566779"/>
                </a:solidFill>
                <a:latin typeface="Arial"/>
                <a:ea typeface="Arial"/>
                <a:cs typeface="Arial"/>
              </a:defRPr>
            </a:pPr>
            <a:r>
              <a:rPr sz="3450" b="1">
                <a:solidFill>
                  <a:srgbClr val="566779"/>
                </a:solidFill>
                <a:latin typeface="Arial"/>
                <a:ea typeface="Arial"/>
                <a:cs typeface="Arial"/>
              </a:rPr>
              <a:t>x(S,B) = 0</a:t>
            </a:r>
          </a:p>
        </p:txBody>
      </p:sp>
      <p:sp>
        <p:nvSpPr>
          <p:cNvPr id="22" name="">
            <a:extLst xmlns:a="http://schemas.openxmlformats.org/drawingml/2006/main">
              <a:ext uri="{FF2B5EF4-FFF2-40B4-BE49-F238E27FC236}">
                <a16:creationId xmlns:a16="http://schemas.microsoft.com/office/drawing/2014/main" id="{F0F5B72A-8DE4-4D13-A187-E78BAF56D44F}"/>
              </a:ext>
            </a:extLst>
          </p:cNvPr>
          <p:cNvSpPr>
            <a:spLocks xmlns:a="http://schemas.openxmlformats.org/drawingml/2006/main" noGrp="1"/>
          </p:cNvSpPr>
          <p:nvPr/>
        </p:nvSpPr>
        <p:spPr>
          <a:xfrm xmlns:a="http://schemas.openxmlformats.org/drawingml/2006/main">
            <a:off x="6762750" y="410527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Цей перехід не додає вартості</a:t>
            </a:r>
          </a:p>
        </p:txBody>
      </p:sp>
      <p:sp>
        <p:nvSpPr>
          <p:cNvPr id="23" name="">
            <a:extLst xmlns:a="http://schemas.openxmlformats.org/drawingml/2006/main">
              <a:ext uri="{FF2B5EF4-FFF2-40B4-BE49-F238E27FC236}">
                <a16:creationId xmlns:a16="http://schemas.microsoft.com/office/drawing/2014/main" id="{F007BA48-1747-47C1-9D32-5B1A6A61D892}"/>
              </a:ext>
            </a:extLst>
          </p:cNvPr>
          <p:cNvSpPr>
            <a:spLocks xmlns:a="http://schemas.openxmlformats.org/drawingml/2006/main" noGrp="1"/>
          </p:cNvSpPr>
          <p:nvPr/>
        </p:nvSpPr>
        <p:spPr>
          <a:xfrm xmlns:a="http://schemas.openxmlformats.org/drawingml/2006/main">
            <a:off x="762000" y="51720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173047"/>
                </a:solidFill>
                <a:latin typeface="Arial"/>
                <a:ea typeface="Arial"/>
                <a:cs typeface="Arial"/>
              </a:defRPr>
            </a:defPPr>
          </a:lstStyle>
          <a:p xmlns:a="http://schemas.openxmlformats.org/drawingml/2006/main">
            <a:pPr algn="l">
              <a:buNone/>
              <a:defRPr sz="2850" b="1">
                <a:solidFill>
                  <a:srgbClr val="173047"/>
                </a:solidFill>
                <a:latin typeface="Arial"/>
                <a:ea typeface="Arial"/>
                <a:cs typeface="Arial"/>
              </a:defRPr>
            </a:pPr>
            <a:r>
              <a:rPr sz="2850" b="1">
                <a:solidFill>
                  <a:srgbClr val="173047"/>
                </a:solidFill>
                <a:latin typeface="Arial"/>
                <a:ea typeface="Arial"/>
                <a:cs typeface="Arial"/>
              </a:rPr>
              <a:t>min C = 2x(S,A) + 16x(S,B) + …</a:t>
            </a:r>
          </a:p>
        </p:txBody>
      </p:sp>
    </p:spTree>
    <p:extLst>
      <p:ext uri="{BB962C8B-B14F-4D97-AF65-F5344CB8AC3E}">
        <p14:creationId xmlns:p14="http://schemas.microsoft.com/office/powerpoint/2010/main" val="57272036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4" name="">
            <a:extLst xmlns:a="http://schemas.openxmlformats.org/drawingml/2006/main">
              <a:ext uri="{FF2B5EF4-FFF2-40B4-BE49-F238E27FC236}">
                <a16:creationId xmlns:a16="http://schemas.microsoft.com/office/drawing/2014/main" id="{1688FAFF-2E53-44E4-B630-DAF01CDEED7A}"/>
              </a:ext>
            </a:extLst>
          </p:cNvPr>
          <p:cNvCxnSpPr>
            <a:stCxn xmlns:a="http://schemas.openxmlformats.org/drawingml/2006/main" id="41" idx="6"/>
            <a:endCxn xmlns:a="http://schemas.openxmlformats.org/drawingml/2006/main" id="13" idx="2"/>
          </p:cNvCxnSpPr>
          <p:nvPr/>
        </p:nvCxnSpPr>
        <p:spPr>
          <a:xfrm xmlns:a="http://schemas.openxmlformats.org/drawingml/2006/main" flipV="1">
            <a:off x="7839075" y="3057525"/>
            <a:ext cx="2571750" cy="723900"/>
          </a:xfrm>
          <a:prstGeom xmlns:a="http://schemas.openxmlformats.org/drawingml/2006/main" prst="straightConnector1">
            <a:avLst/>
          </a:prstGeom>
          <a:ln xmlns:a="http://schemas.openxmlformats.org/drawingml/2006/main" w="28575">
            <a:solidFill>
              <a:srgbClr val="B3C0CA"/>
            </a:solidFill>
            <a:prstDash val="dash"/>
            <a:tailEnd type="triangle" w="med" len="med"/>
          </a:ln>
        </p:spPr>
      </p:cxnSp>
      <p:cxnSp>
        <p:nvCxnSpPr>
          <p:cNvPr id="43" name="">
            <a:extLst xmlns:a="http://schemas.openxmlformats.org/drawingml/2006/main">
              <a:ext uri="{FF2B5EF4-FFF2-40B4-BE49-F238E27FC236}">
                <a16:creationId xmlns:a16="http://schemas.microsoft.com/office/drawing/2014/main" id="{0BF9899E-6EA3-48E0-A4A4-1EFB999A2753}"/>
              </a:ext>
            </a:extLst>
          </p:cNvPr>
          <p:cNvCxnSpPr>
            <a:stCxn xmlns:a="http://schemas.openxmlformats.org/drawingml/2006/main" id="11" idx="6"/>
            <a:endCxn xmlns:a="http://schemas.openxmlformats.org/drawingml/2006/main" id="39" idx="2"/>
          </p:cNvCxnSpPr>
          <p:nvPr/>
        </p:nvCxnSpPr>
        <p:spPr>
          <a:xfrm xmlns:a="http://schemas.openxmlformats.org/drawingml/2006/main">
            <a:off x="2066925" y="3057525"/>
            <a:ext cx="2543175" cy="723900"/>
          </a:xfrm>
          <a:prstGeom xmlns:a="http://schemas.openxmlformats.org/drawingml/2006/main" prst="straightConnector1">
            <a:avLst/>
          </a:prstGeom>
          <a:ln xmlns:a="http://schemas.openxmlformats.org/drawingml/2006/main" w="28575">
            <a:solidFill>
              <a:srgbClr val="B3C0CA"/>
            </a:solidFill>
            <a:prstDash val="dash"/>
            <a:tailEnd type="triangle" w="med" len="med"/>
          </a:ln>
        </p:spPr>
      </p:cxnSp>
      <p:cxnSp>
        <p:nvCxnSpPr>
          <p:cNvPr id="38" name="">
            <a:extLst xmlns:a="http://schemas.openxmlformats.org/drawingml/2006/main">
              <a:ext uri="{FF2B5EF4-FFF2-40B4-BE49-F238E27FC236}">
                <a16:creationId xmlns:a16="http://schemas.microsoft.com/office/drawing/2014/main" id="{7A4A57CD-1D47-4A12-8362-675E8104E4F3}"/>
              </a:ext>
            </a:extLst>
          </p:cNvPr>
          <p:cNvCxnSpPr>
            <a:stCxn xmlns:a="http://schemas.openxmlformats.org/drawingml/2006/main" id="35" idx="6"/>
            <a:endCxn xmlns:a="http://schemas.openxmlformats.org/drawingml/2006/main" id="13" idx="2"/>
          </p:cNvCxnSpPr>
          <p:nvPr/>
        </p:nvCxnSpPr>
        <p:spPr>
          <a:xfrm xmlns:a="http://schemas.openxmlformats.org/drawingml/2006/main" flipV="1">
            <a:off x="7839075" y="3057525"/>
            <a:ext cx="2571750" cy="266700"/>
          </a:xfrm>
          <a:prstGeom xmlns:a="http://schemas.openxmlformats.org/drawingml/2006/main" prst="straightConnector1">
            <a:avLst/>
          </a:prstGeom>
          <a:ln xmlns:a="http://schemas.openxmlformats.org/drawingml/2006/main" w="28575">
            <a:solidFill>
              <a:srgbClr val="B3C0CA"/>
            </a:solidFill>
            <a:prstDash val="dash"/>
            <a:tailEnd type="triangle" w="med" len="med"/>
          </a:ln>
        </p:spPr>
      </p:cxnSp>
      <p:cxnSp>
        <p:nvCxnSpPr>
          <p:cNvPr id="37" name="">
            <a:extLst xmlns:a="http://schemas.openxmlformats.org/drawingml/2006/main">
              <a:ext uri="{FF2B5EF4-FFF2-40B4-BE49-F238E27FC236}">
                <a16:creationId xmlns:a16="http://schemas.microsoft.com/office/drawing/2014/main" id="{1D4172D0-11C7-4FBA-BE54-0982809E3E89}"/>
              </a:ext>
            </a:extLst>
          </p:cNvPr>
          <p:cNvCxnSpPr>
            <a:stCxn xmlns:a="http://schemas.openxmlformats.org/drawingml/2006/main" id="11" idx="6"/>
            <a:endCxn xmlns:a="http://schemas.openxmlformats.org/drawingml/2006/main" id="33" idx="2"/>
          </p:cNvCxnSpPr>
          <p:nvPr/>
        </p:nvCxnSpPr>
        <p:spPr>
          <a:xfrm xmlns:a="http://schemas.openxmlformats.org/drawingml/2006/main">
            <a:off x="2066925" y="3057525"/>
            <a:ext cx="2543175" cy="266700"/>
          </a:xfrm>
          <a:prstGeom xmlns:a="http://schemas.openxmlformats.org/drawingml/2006/main" prst="straightConnector1">
            <a:avLst/>
          </a:prstGeom>
          <a:ln xmlns:a="http://schemas.openxmlformats.org/drawingml/2006/main" w="28575">
            <a:solidFill>
              <a:srgbClr val="B3C0CA"/>
            </a:solidFill>
            <a:prstDash val="dash"/>
            <a:tailEnd type="triangle" w="med" len="med"/>
          </a:ln>
        </p:spPr>
      </p:cxnSp>
      <p:cxnSp>
        <p:nvCxnSpPr>
          <p:cNvPr id="32" name="">
            <a:extLst xmlns:a="http://schemas.openxmlformats.org/drawingml/2006/main">
              <a:ext uri="{FF2B5EF4-FFF2-40B4-BE49-F238E27FC236}">
                <a16:creationId xmlns:a16="http://schemas.microsoft.com/office/drawing/2014/main" id="{484AEFB5-294E-473D-A0BB-A6D1E9FD72DE}"/>
              </a:ext>
            </a:extLst>
          </p:cNvPr>
          <p:cNvCxnSpPr>
            <a:stCxn xmlns:a="http://schemas.openxmlformats.org/drawingml/2006/main" id="29" idx="6"/>
            <a:endCxn xmlns:a="http://schemas.openxmlformats.org/drawingml/2006/main" id="13" idx="2"/>
          </p:cNvCxnSpPr>
          <p:nvPr/>
        </p:nvCxnSpPr>
        <p:spPr>
          <a:xfrm xmlns:a="http://schemas.openxmlformats.org/drawingml/2006/main">
            <a:off x="7839075" y="2867025"/>
            <a:ext cx="2571750" cy="190500"/>
          </a:xfrm>
          <a:prstGeom xmlns:a="http://schemas.openxmlformats.org/drawingml/2006/main" prst="straightConnector1">
            <a:avLst/>
          </a:prstGeom>
          <a:ln xmlns:a="http://schemas.openxmlformats.org/drawingml/2006/main" w="28575">
            <a:solidFill>
              <a:srgbClr val="2868AF"/>
            </a:solidFill>
            <a:prstDash val="solid"/>
            <a:tailEnd type="triangle" w="med" len="med"/>
          </a:ln>
        </p:spPr>
      </p:cxnSp>
      <p:cxnSp>
        <p:nvCxnSpPr>
          <p:cNvPr id="31" name="">
            <a:extLst xmlns:a="http://schemas.openxmlformats.org/drawingml/2006/main">
              <a:ext uri="{FF2B5EF4-FFF2-40B4-BE49-F238E27FC236}">
                <a16:creationId xmlns:a16="http://schemas.microsoft.com/office/drawing/2014/main" id="{4696FCE7-E20D-43DB-9556-E06EC8D53683}"/>
              </a:ext>
            </a:extLst>
          </p:cNvPr>
          <p:cNvCxnSpPr>
            <a:stCxn xmlns:a="http://schemas.openxmlformats.org/drawingml/2006/main" id="11" idx="6"/>
            <a:endCxn xmlns:a="http://schemas.openxmlformats.org/drawingml/2006/main" id="27" idx="2"/>
          </p:cNvCxnSpPr>
          <p:nvPr/>
        </p:nvCxnSpPr>
        <p:spPr>
          <a:xfrm xmlns:a="http://schemas.openxmlformats.org/drawingml/2006/main" flipV="1">
            <a:off x="2066925" y="2867025"/>
            <a:ext cx="2543175" cy="190500"/>
          </a:xfrm>
          <a:prstGeom xmlns:a="http://schemas.openxmlformats.org/drawingml/2006/main" prst="straightConnector1">
            <a:avLst/>
          </a:prstGeom>
          <a:ln xmlns:a="http://schemas.openxmlformats.org/drawingml/2006/main" w="28575">
            <a:solidFill>
              <a:srgbClr val="B3C0CA"/>
            </a:solidFill>
            <a:prstDash val="dash"/>
            <a:tailEnd type="triangle" w="med" len="med"/>
          </a:ln>
        </p:spPr>
      </p:cxnSp>
      <p:cxnSp>
        <p:nvCxnSpPr>
          <p:cNvPr id="26" name="">
            <a:extLst xmlns:a="http://schemas.openxmlformats.org/drawingml/2006/main">
              <a:ext uri="{FF2B5EF4-FFF2-40B4-BE49-F238E27FC236}">
                <a16:creationId xmlns:a16="http://schemas.microsoft.com/office/drawing/2014/main" id="{FC93057C-EE5F-4C91-BAF1-F8E6B209F4EB}"/>
              </a:ext>
            </a:extLst>
          </p:cNvPr>
          <p:cNvCxnSpPr>
            <a:stCxn xmlns:a="http://schemas.openxmlformats.org/drawingml/2006/main" id="23" idx="6"/>
            <a:endCxn xmlns:a="http://schemas.openxmlformats.org/drawingml/2006/main" id="13" idx="2"/>
          </p:cNvCxnSpPr>
          <p:nvPr/>
        </p:nvCxnSpPr>
        <p:spPr>
          <a:xfrm xmlns:a="http://schemas.openxmlformats.org/drawingml/2006/main">
            <a:off x="7839075" y="2409825"/>
            <a:ext cx="2571750" cy="647700"/>
          </a:xfrm>
          <a:prstGeom xmlns:a="http://schemas.openxmlformats.org/drawingml/2006/main" prst="straightConnector1">
            <a:avLst/>
          </a:prstGeom>
          <a:ln xmlns:a="http://schemas.openxmlformats.org/drawingml/2006/main" w="28575">
            <a:solidFill>
              <a:srgbClr val="B3C0CA"/>
            </a:solidFill>
            <a:prstDash val="dash"/>
            <a:tailEnd type="triangle" w="med" len="med"/>
          </a:ln>
        </p:spPr>
      </p:cxnSp>
      <p:cxnSp>
        <p:nvCxnSpPr>
          <p:cNvPr id="25" name="">
            <a:extLst xmlns:a="http://schemas.openxmlformats.org/drawingml/2006/main">
              <a:ext uri="{FF2B5EF4-FFF2-40B4-BE49-F238E27FC236}">
                <a16:creationId xmlns:a16="http://schemas.microsoft.com/office/drawing/2014/main" id="{E308D234-98E7-4F49-BB86-A4ACA3499C5F}"/>
              </a:ext>
            </a:extLst>
          </p:cNvPr>
          <p:cNvCxnSpPr>
            <a:stCxn xmlns:a="http://schemas.openxmlformats.org/drawingml/2006/main" id="11" idx="6"/>
            <a:endCxn xmlns:a="http://schemas.openxmlformats.org/drawingml/2006/main" id="21" idx="2"/>
          </p:cNvCxnSpPr>
          <p:nvPr/>
        </p:nvCxnSpPr>
        <p:spPr>
          <a:xfrm xmlns:a="http://schemas.openxmlformats.org/drawingml/2006/main" flipV="1">
            <a:off x="2066925" y="2409825"/>
            <a:ext cx="2543175" cy="647700"/>
          </a:xfrm>
          <a:prstGeom xmlns:a="http://schemas.openxmlformats.org/drawingml/2006/main" prst="straightConnector1">
            <a:avLst/>
          </a:prstGeom>
          <a:ln xmlns:a="http://schemas.openxmlformats.org/drawingml/2006/main" w="28575">
            <a:solidFill>
              <a:srgbClr val="B3C0CA"/>
            </a:solidFill>
            <a:prstDash val="dash"/>
            <a:tailEnd type="triangle" w="med" len="med"/>
          </a:ln>
        </p:spPr>
      </p:cxnSp>
      <p:cxnSp>
        <p:nvCxnSpPr>
          <p:cNvPr id="20" name="">
            <a:extLst xmlns:a="http://schemas.openxmlformats.org/drawingml/2006/main">
              <a:ext uri="{FF2B5EF4-FFF2-40B4-BE49-F238E27FC236}">
                <a16:creationId xmlns:a16="http://schemas.microsoft.com/office/drawing/2014/main" id="{E162230A-52A1-4422-BBED-F354C5C953FB}"/>
              </a:ext>
            </a:extLst>
          </p:cNvPr>
          <p:cNvCxnSpPr>
            <a:stCxn xmlns:a="http://schemas.openxmlformats.org/drawingml/2006/main" id="17" idx="6"/>
            <a:endCxn xmlns:a="http://schemas.openxmlformats.org/drawingml/2006/main" id="13" idx="2"/>
          </p:cNvCxnSpPr>
          <p:nvPr/>
        </p:nvCxnSpPr>
        <p:spPr>
          <a:xfrm xmlns:a="http://schemas.openxmlformats.org/drawingml/2006/main">
            <a:off x="7839075" y="1952625"/>
            <a:ext cx="2571750" cy="1104900"/>
          </a:xfrm>
          <a:prstGeom xmlns:a="http://schemas.openxmlformats.org/drawingml/2006/main" prst="straightConnector1">
            <a:avLst/>
          </a:prstGeom>
          <a:ln xmlns:a="http://schemas.openxmlformats.org/drawingml/2006/main" w="28575">
            <a:solidFill>
              <a:srgbClr val="B3C0CA"/>
            </a:solidFill>
            <a:prstDash val="dash"/>
            <a:tailEnd type="triangle" w="med" len="med"/>
          </a:ln>
        </p:spPr>
      </p:cxnSp>
      <p:cxnSp>
        <p:nvCxnSpPr>
          <p:cNvPr id="19" name="">
            <a:extLst xmlns:a="http://schemas.openxmlformats.org/drawingml/2006/main">
              <a:ext uri="{FF2B5EF4-FFF2-40B4-BE49-F238E27FC236}">
                <a16:creationId xmlns:a16="http://schemas.microsoft.com/office/drawing/2014/main" id="{685E3826-988A-483C-8D56-2D6473B9E4E8}"/>
              </a:ext>
            </a:extLst>
          </p:cNvPr>
          <p:cNvCxnSpPr>
            <a:stCxn xmlns:a="http://schemas.openxmlformats.org/drawingml/2006/main" id="11" idx="6"/>
            <a:endCxn xmlns:a="http://schemas.openxmlformats.org/drawingml/2006/main" id="15" idx="2"/>
          </p:cNvCxnSpPr>
          <p:nvPr/>
        </p:nvCxnSpPr>
        <p:spPr>
          <a:xfrm xmlns:a="http://schemas.openxmlformats.org/drawingml/2006/main" flipV="1">
            <a:off x="2066925" y="1952625"/>
            <a:ext cx="2543175" cy="1104900"/>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12FC06E8-2615-4D8C-8B24-9436DB533FB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TSP: один вихід і один вхід</a:t>
            </a:r>
          </a:p>
        </p:txBody>
      </p:sp>
      <p:sp>
        <p:nvSpPr>
          <p:cNvPr id="2" name="">
            <a:extLst xmlns:a="http://schemas.openxmlformats.org/drawingml/2006/main">
              <a:ext uri="{FF2B5EF4-FFF2-40B4-BE49-F238E27FC236}">
                <a16:creationId xmlns:a16="http://schemas.microsoft.com/office/drawing/2014/main" id="{1AE3B710-F563-49A2-8B28-3D384784430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Такі рівняння потрібно записати для кожного з шести вузлів.</a:t>
            </a:r>
          </a:p>
        </p:txBody>
      </p:sp>
      <p:sp>
        <p:nvSpPr>
          <p:cNvPr id="3" name="">
            <a:extLst xmlns:a="http://schemas.openxmlformats.org/drawingml/2006/main">
              <a:ext uri="{FF2B5EF4-FFF2-40B4-BE49-F238E27FC236}">
                <a16:creationId xmlns:a16="http://schemas.microsoft.com/office/drawing/2014/main" id="{A2DF666D-728F-4617-A79C-519AF6182039}"/>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41</a:t>
            </a:r>
          </a:p>
        </p:txBody>
      </p:sp>
      <p:sp>
        <p:nvSpPr>
          <p:cNvPr id="9" name="">
            <a:extLst xmlns:a="http://schemas.openxmlformats.org/drawingml/2006/main">
              <a:ext uri="{FF2B5EF4-FFF2-40B4-BE49-F238E27FC236}">
                <a16:creationId xmlns:a16="http://schemas.microsoft.com/office/drawing/2014/main" id="{E8405C0A-7AE2-45EB-9C73-11D2333B32CD}"/>
              </a:ext>
            </a:extLst>
          </p:cNvPr>
          <p:cNvSpPr>
            <a:spLocks xmlns:a="http://schemas.openxmlformats.org/drawingml/2006/main" noGrp="1"/>
          </p:cNvSpPr>
          <p:nvPr/>
        </p:nvSpPr>
        <p:spPr>
          <a:xfrm xmlns:a="http://schemas.openxmlformats.org/drawingml/2006/main">
            <a:off x="952500" y="139065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00857D"/>
                </a:solidFill>
                <a:latin typeface="Arial"/>
                <a:ea typeface="Arial"/>
                <a:cs typeface="Arial"/>
              </a:defRPr>
            </a:defPPr>
          </a:lstStyle>
          <a:p xmlns:a="http://schemas.openxmlformats.org/drawingml/2006/main">
            <a:pPr algn="l">
              <a:buNone/>
              <a:defRPr sz="2325" b="1">
                <a:solidFill>
                  <a:srgbClr val="00857D"/>
                </a:solidFill>
                <a:latin typeface="Arial"/>
                <a:ea typeface="Arial"/>
                <a:cs typeface="Arial"/>
              </a:defRPr>
            </a:pPr>
            <a:r>
              <a:rPr sz="2325" b="1">
                <a:solidFill>
                  <a:srgbClr val="00857D"/>
                </a:solidFill>
                <a:latin typeface="Arial"/>
                <a:ea typeface="Arial"/>
                <a:cs typeface="Arial"/>
              </a:rPr>
              <a:t>Один вихід із S</a:t>
            </a:r>
          </a:p>
        </p:txBody>
      </p:sp>
      <p:sp>
        <p:nvSpPr>
          <p:cNvPr id="10" name="">
            <a:extLst xmlns:a="http://schemas.openxmlformats.org/drawingml/2006/main">
              <a:ext uri="{FF2B5EF4-FFF2-40B4-BE49-F238E27FC236}">
                <a16:creationId xmlns:a16="http://schemas.microsoft.com/office/drawing/2014/main" id="{C34FCF95-1F0C-4ACA-AB31-2ED99ED8CB5D}"/>
              </a:ext>
            </a:extLst>
          </p:cNvPr>
          <p:cNvSpPr>
            <a:spLocks xmlns:a="http://schemas.openxmlformats.org/drawingml/2006/main" noGrp="1"/>
          </p:cNvSpPr>
          <p:nvPr/>
        </p:nvSpPr>
        <p:spPr>
          <a:xfrm xmlns:a="http://schemas.openxmlformats.org/drawingml/2006/main">
            <a:off x="7048500" y="1390650"/>
            <a:ext cx="4286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2868AF"/>
                </a:solidFill>
                <a:latin typeface="Arial"/>
                <a:ea typeface="Arial"/>
                <a:cs typeface="Arial"/>
              </a:defRPr>
            </a:defPPr>
          </a:lstStyle>
          <a:p xmlns:a="http://schemas.openxmlformats.org/drawingml/2006/main">
            <a:pPr algn="l">
              <a:buNone/>
              <a:defRPr sz="2325" b="1">
                <a:solidFill>
                  <a:srgbClr val="2868AF"/>
                </a:solidFill>
                <a:latin typeface="Arial"/>
                <a:ea typeface="Arial"/>
                <a:cs typeface="Arial"/>
              </a:defRPr>
            </a:pPr>
            <a:r>
              <a:rPr sz="2325" b="1">
                <a:solidFill>
                  <a:srgbClr val="2868AF"/>
                </a:solidFill>
                <a:latin typeface="Arial"/>
                <a:ea typeface="Arial"/>
                <a:cs typeface="Arial"/>
              </a:rPr>
              <a:t>Один вхід у S</a:t>
            </a:r>
          </a:p>
        </p:txBody>
      </p:sp>
      <p:sp>
        <p:nvSpPr>
          <p:cNvPr id="11" name="">
            <a:extLst xmlns:a="http://schemas.openxmlformats.org/drawingml/2006/main">
              <a:ext uri="{FF2B5EF4-FFF2-40B4-BE49-F238E27FC236}">
                <a16:creationId xmlns:a16="http://schemas.microsoft.com/office/drawing/2014/main" id="{689E38C8-E16E-4A3A-8318-E512F180A098}"/>
              </a:ext>
            </a:extLst>
          </p:cNvPr>
          <p:cNvSpPr>
            <a:spLocks xmlns:a="http://schemas.openxmlformats.org/drawingml/2006/main" noGrp="1"/>
          </p:cNvSpPr>
          <p:nvPr/>
        </p:nvSpPr>
        <p:spPr>
          <a:xfrm xmlns:a="http://schemas.openxmlformats.org/drawingml/2006/main">
            <a:off x="1362075" y="2705100"/>
            <a:ext cx="704850" cy="704850"/>
          </a:xfrm>
          <a:prstGeom xmlns:a="http://schemas.openxmlformats.org/drawingml/2006/main" prst="ellipse">
            <a:avLst/>
          </a:prstGeom>
          <a:solidFill xmlns:a="http://schemas.openxmlformats.org/drawingml/2006/main">
            <a:srgbClr val="E9F1FB"/>
          </a:solidFill>
          <a:ln xmlns:a="http://schemas.openxmlformats.org/drawingml/2006/main" w="19050">
            <a:solidFill>
              <a:srgbClr val="173047"/>
            </a:solidFill>
          </a:ln>
        </p:spPr>
      </p:sp>
      <p:sp>
        <p:nvSpPr>
          <p:cNvPr id="12" name="">
            <a:extLst xmlns:a="http://schemas.openxmlformats.org/drawingml/2006/main">
              <a:ext uri="{FF2B5EF4-FFF2-40B4-BE49-F238E27FC236}">
                <a16:creationId xmlns:a16="http://schemas.microsoft.com/office/drawing/2014/main" id="{6EC8FC88-6AD3-4562-9DA7-D169E00391E3}"/>
              </a:ext>
            </a:extLst>
          </p:cNvPr>
          <p:cNvSpPr>
            <a:spLocks xmlns:a="http://schemas.openxmlformats.org/drawingml/2006/main" noGrp="1"/>
          </p:cNvSpPr>
          <p:nvPr/>
        </p:nvSpPr>
        <p:spPr>
          <a:xfrm xmlns:a="http://schemas.openxmlformats.org/drawingml/2006/main">
            <a:off x="1400175" y="274320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S</a:t>
            </a:r>
          </a:p>
        </p:txBody>
      </p:sp>
      <p:sp>
        <p:nvSpPr>
          <p:cNvPr id="13" name="">
            <a:extLst xmlns:a="http://schemas.openxmlformats.org/drawingml/2006/main">
              <a:ext uri="{FF2B5EF4-FFF2-40B4-BE49-F238E27FC236}">
                <a16:creationId xmlns:a16="http://schemas.microsoft.com/office/drawing/2014/main" id="{5B976E1A-F9D4-461D-9442-F3AF16E7745A}"/>
              </a:ext>
            </a:extLst>
          </p:cNvPr>
          <p:cNvSpPr>
            <a:spLocks xmlns:a="http://schemas.openxmlformats.org/drawingml/2006/main" noGrp="1"/>
          </p:cNvSpPr>
          <p:nvPr/>
        </p:nvSpPr>
        <p:spPr>
          <a:xfrm xmlns:a="http://schemas.openxmlformats.org/drawingml/2006/main">
            <a:off x="10410825" y="2705100"/>
            <a:ext cx="704850" cy="704850"/>
          </a:xfrm>
          <a:prstGeom xmlns:a="http://schemas.openxmlformats.org/drawingml/2006/main" prst="ellipse">
            <a:avLst/>
          </a:prstGeom>
          <a:solidFill xmlns:a="http://schemas.openxmlformats.org/drawingml/2006/main">
            <a:srgbClr val="E9F1FB"/>
          </a:solidFill>
          <a:ln xmlns:a="http://schemas.openxmlformats.org/drawingml/2006/main" w="19050">
            <a:solidFill>
              <a:srgbClr val="173047"/>
            </a:solidFill>
          </a:ln>
        </p:spPr>
      </p:sp>
      <p:sp>
        <p:nvSpPr>
          <p:cNvPr id="14" name="">
            <a:extLst xmlns:a="http://schemas.openxmlformats.org/drawingml/2006/main">
              <a:ext uri="{FF2B5EF4-FFF2-40B4-BE49-F238E27FC236}">
                <a16:creationId xmlns:a16="http://schemas.microsoft.com/office/drawing/2014/main" id="{E95641F9-1734-437F-80E1-DF7F8E426DC0}"/>
              </a:ext>
            </a:extLst>
          </p:cNvPr>
          <p:cNvSpPr>
            <a:spLocks xmlns:a="http://schemas.openxmlformats.org/drawingml/2006/main" noGrp="1"/>
          </p:cNvSpPr>
          <p:nvPr/>
        </p:nvSpPr>
        <p:spPr>
          <a:xfrm xmlns:a="http://schemas.openxmlformats.org/drawingml/2006/main">
            <a:off x="10448925" y="274320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S</a:t>
            </a:r>
          </a:p>
        </p:txBody>
      </p:sp>
      <p:sp>
        <p:nvSpPr>
          <p:cNvPr id="15" name="">
            <a:extLst xmlns:a="http://schemas.openxmlformats.org/drawingml/2006/main">
              <a:ext uri="{FF2B5EF4-FFF2-40B4-BE49-F238E27FC236}">
                <a16:creationId xmlns:a16="http://schemas.microsoft.com/office/drawing/2014/main" id="{706D8AD9-F7E6-4F91-B4F4-F53897FC857B}"/>
              </a:ext>
            </a:extLst>
          </p:cNvPr>
          <p:cNvSpPr>
            <a:spLocks xmlns:a="http://schemas.openxmlformats.org/drawingml/2006/main" noGrp="1"/>
          </p:cNvSpPr>
          <p:nvPr/>
        </p:nvSpPr>
        <p:spPr>
          <a:xfrm xmlns:a="http://schemas.openxmlformats.org/drawingml/2006/main">
            <a:off x="4610100" y="1752600"/>
            <a:ext cx="400050" cy="40005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16" name="">
            <a:extLst xmlns:a="http://schemas.openxmlformats.org/drawingml/2006/main">
              <a:ext uri="{FF2B5EF4-FFF2-40B4-BE49-F238E27FC236}">
                <a16:creationId xmlns:a16="http://schemas.microsoft.com/office/drawing/2014/main" id="{B3288D70-75AA-4ED8-BCDA-9A6BF5F01E21}"/>
              </a:ext>
            </a:extLst>
          </p:cNvPr>
          <p:cNvSpPr>
            <a:spLocks xmlns:a="http://schemas.openxmlformats.org/drawingml/2006/main" noGrp="1"/>
          </p:cNvSpPr>
          <p:nvPr/>
        </p:nvSpPr>
        <p:spPr>
          <a:xfrm xmlns:a="http://schemas.openxmlformats.org/drawingml/2006/main">
            <a:off x="4648200" y="17907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A</a:t>
            </a:r>
          </a:p>
        </p:txBody>
      </p:sp>
      <p:sp>
        <p:nvSpPr>
          <p:cNvPr id="17" name="">
            <a:extLst xmlns:a="http://schemas.openxmlformats.org/drawingml/2006/main">
              <a:ext uri="{FF2B5EF4-FFF2-40B4-BE49-F238E27FC236}">
                <a16:creationId xmlns:a16="http://schemas.microsoft.com/office/drawing/2014/main" id="{8494F12F-BCCD-4E08-95D2-9CB74935C65F}"/>
              </a:ext>
            </a:extLst>
          </p:cNvPr>
          <p:cNvSpPr>
            <a:spLocks xmlns:a="http://schemas.openxmlformats.org/drawingml/2006/main" noGrp="1"/>
          </p:cNvSpPr>
          <p:nvPr/>
        </p:nvSpPr>
        <p:spPr>
          <a:xfrm xmlns:a="http://schemas.openxmlformats.org/drawingml/2006/main">
            <a:off x="7439025" y="17526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8" name="">
            <a:extLst xmlns:a="http://schemas.openxmlformats.org/drawingml/2006/main">
              <a:ext uri="{FF2B5EF4-FFF2-40B4-BE49-F238E27FC236}">
                <a16:creationId xmlns:a16="http://schemas.microsoft.com/office/drawing/2014/main" id="{FB7500B7-E103-4A3D-9481-D46F26132D28}"/>
              </a:ext>
            </a:extLst>
          </p:cNvPr>
          <p:cNvSpPr>
            <a:spLocks xmlns:a="http://schemas.openxmlformats.org/drawingml/2006/main" noGrp="1"/>
          </p:cNvSpPr>
          <p:nvPr/>
        </p:nvSpPr>
        <p:spPr>
          <a:xfrm xmlns:a="http://schemas.openxmlformats.org/drawingml/2006/main">
            <a:off x="7477125" y="17907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A</a:t>
            </a:r>
          </a:p>
        </p:txBody>
      </p:sp>
      <p:sp>
        <p:nvSpPr>
          <p:cNvPr id="21" name="">
            <a:extLst xmlns:a="http://schemas.openxmlformats.org/drawingml/2006/main">
              <a:ext uri="{FF2B5EF4-FFF2-40B4-BE49-F238E27FC236}">
                <a16:creationId xmlns:a16="http://schemas.microsoft.com/office/drawing/2014/main" id="{264D7C4F-6DEA-4796-8071-F9B38463DAED}"/>
              </a:ext>
            </a:extLst>
          </p:cNvPr>
          <p:cNvSpPr>
            <a:spLocks xmlns:a="http://schemas.openxmlformats.org/drawingml/2006/main" noGrp="1"/>
          </p:cNvSpPr>
          <p:nvPr/>
        </p:nvSpPr>
        <p:spPr>
          <a:xfrm xmlns:a="http://schemas.openxmlformats.org/drawingml/2006/main">
            <a:off x="4610100" y="22098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22" name="">
            <a:extLst xmlns:a="http://schemas.openxmlformats.org/drawingml/2006/main">
              <a:ext uri="{FF2B5EF4-FFF2-40B4-BE49-F238E27FC236}">
                <a16:creationId xmlns:a16="http://schemas.microsoft.com/office/drawing/2014/main" id="{76FF64EF-137A-4730-8E0D-865361F06448}"/>
              </a:ext>
            </a:extLst>
          </p:cNvPr>
          <p:cNvSpPr>
            <a:spLocks xmlns:a="http://schemas.openxmlformats.org/drawingml/2006/main" noGrp="1"/>
          </p:cNvSpPr>
          <p:nvPr/>
        </p:nvSpPr>
        <p:spPr>
          <a:xfrm xmlns:a="http://schemas.openxmlformats.org/drawingml/2006/main">
            <a:off x="4648200" y="2247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B</a:t>
            </a:r>
          </a:p>
        </p:txBody>
      </p:sp>
      <p:sp>
        <p:nvSpPr>
          <p:cNvPr id="23" name="">
            <a:extLst xmlns:a="http://schemas.openxmlformats.org/drawingml/2006/main">
              <a:ext uri="{FF2B5EF4-FFF2-40B4-BE49-F238E27FC236}">
                <a16:creationId xmlns:a16="http://schemas.microsoft.com/office/drawing/2014/main" id="{EBBAD90D-559E-4394-BDB2-25E24CADB874}"/>
              </a:ext>
            </a:extLst>
          </p:cNvPr>
          <p:cNvSpPr>
            <a:spLocks xmlns:a="http://schemas.openxmlformats.org/drawingml/2006/main" noGrp="1"/>
          </p:cNvSpPr>
          <p:nvPr/>
        </p:nvSpPr>
        <p:spPr>
          <a:xfrm xmlns:a="http://schemas.openxmlformats.org/drawingml/2006/main">
            <a:off x="7439025" y="22098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24" name="">
            <a:extLst xmlns:a="http://schemas.openxmlformats.org/drawingml/2006/main">
              <a:ext uri="{FF2B5EF4-FFF2-40B4-BE49-F238E27FC236}">
                <a16:creationId xmlns:a16="http://schemas.microsoft.com/office/drawing/2014/main" id="{D0D78BA7-A04E-407E-8AA5-C34E6A5FCB0C}"/>
              </a:ext>
            </a:extLst>
          </p:cNvPr>
          <p:cNvSpPr>
            <a:spLocks xmlns:a="http://schemas.openxmlformats.org/drawingml/2006/main" noGrp="1"/>
          </p:cNvSpPr>
          <p:nvPr/>
        </p:nvSpPr>
        <p:spPr>
          <a:xfrm xmlns:a="http://schemas.openxmlformats.org/drawingml/2006/main">
            <a:off x="7477125" y="2247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B</a:t>
            </a:r>
          </a:p>
        </p:txBody>
      </p:sp>
      <p:sp>
        <p:nvSpPr>
          <p:cNvPr id="27" name="">
            <a:extLst xmlns:a="http://schemas.openxmlformats.org/drawingml/2006/main">
              <a:ext uri="{FF2B5EF4-FFF2-40B4-BE49-F238E27FC236}">
                <a16:creationId xmlns:a16="http://schemas.microsoft.com/office/drawing/2014/main" id="{AA03E0B2-F324-4BEA-827C-BF9FD34FE757}"/>
              </a:ext>
            </a:extLst>
          </p:cNvPr>
          <p:cNvSpPr>
            <a:spLocks xmlns:a="http://schemas.openxmlformats.org/drawingml/2006/main" noGrp="1"/>
          </p:cNvSpPr>
          <p:nvPr/>
        </p:nvSpPr>
        <p:spPr>
          <a:xfrm xmlns:a="http://schemas.openxmlformats.org/drawingml/2006/main">
            <a:off x="4610100" y="26670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28" name="">
            <a:extLst xmlns:a="http://schemas.openxmlformats.org/drawingml/2006/main">
              <a:ext uri="{FF2B5EF4-FFF2-40B4-BE49-F238E27FC236}">
                <a16:creationId xmlns:a16="http://schemas.microsoft.com/office/drawing/2014/main" id="{C58E5C76-66EC-421F-B31F-E07EBA3502FF}"/>
              </a:ext>
            </a:extLst>
          </p:cNvPr>
          <p:cNvSpPr>
            <a:spLocks xmlns:a="http://schemas.openxmlformats.org/drawingml/2006/main" noGrp="1"/>
          </p:cNvSpPr>
          <p:nvPr/>
        </p:nvSpPr>
        <p:spPr>
          <a:xfrm xmlns:a="http://schemas.openxmlformats.org/drawingml/2006/main">
            <a:off x="4648200" y="27051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C</a:t>
            </a:r>
          </a:p>
        </p:txBody>
      </p:sp>
      <p:sp>
        <p:nvSpPr>
          <p:cNvPr id="29" name="">
            <a:extLst xmlns:a="http://schemas.openxmlformats.org/drawingml/2006/main">
              <a:ext uri="{FF2B5EF4-FFF2-40B4-BE49-F238E27FC236}">
                <a16:creationId xmlns:a16="http://schemas.microsoft.com/office/drawing/2014/main" id="{E81C55F9-E468-4DAC-86C4-30BD1E320DED}"/>
              </a:ext>
            </a:extLst>
          </p:cNvPr>
          <p:cNvSpPr>
            <a:spLocks xmlns:a="http://schemas.openxmlformats.org/drawingml/2006/main" noGrp="1"/>
          </p:cNvSpPr>
          <p:nvPr/>
        </p:nvSpPr>
        <p:spPr>
          <a:xfrm xmlns:a="http://schemas.openxmlformats.org/drawingml/2006/main">
            <a:off x="7439025" y="2667000"/>
            <a:ext cx="400050" cy="400050"/>
          </a:xfrm>
          <a:prstGeom xmlns:a="http://schemas.openxmlformats.org/drawingml/2006/main" prst="ellipse">
            <a:avLst/>
          </a:prstGeom>
          <a:solidFill xmlns:a="http://schemas.openxmlformats.org/drawingml/2006/main">
            <a:srgbClr val="E9F1FB"/>
          </a:solidFill>
          <a:ln xmlns:a="http://schemas.openxmlformats.org/drawingml/2006/main" w="19050">
            <a:solidFill>
              <a:srgbClr val="173047"/>
            </a:solidFill>
          </a:ln>
        </p:spPr>
      </p:sp>
      <p:sp>
        <p:nvSpPr>
          <p:cNvPr id="30" name="">
            <a:extLst xmlns:a="http://schemas.openxmlformats.org/drawingml/2006/main">
              <a:ext uri="{FF2B5EF4-FFF2-40B4-BE49-F238E27FC236}">
                <a16:creationId xmlns:a16="http://schemas.microsoft.com/office/drawing/2014/main" id="{2AFF4744-13F4-4BD0-87D9-B8016D33B103}"/>
              </a:ext>
            </a:extLst>
          </p:cNvPr>
          <p:cNvSpPr>
            <a:spLocks xmlns:a="http://schemas.openxmlformats.org/drawingml/2006/main" noGrp="1"/>
          </p:cNvSpPr>
          <p:nvPr/>
        </p:nvSpPr>
        <p:spPr>
          <a:xfrm xmlns:a="http://schemas.openxmlformats.org/drawingml/2006/main">
            <a:off x="7477125" y="27051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C</a:t>
            </a:r>
          </a:p>
        </p:txBody>
      </p:sp>
      <p:sp>
        <p:nvSpPr>
          <p:cNvPr id="33" name="">
            <a:extLst xmlns:a="http://schemas.openxmlformats.org/drawingml/2006/main">
              <a:ext uri="{FF2B5EF4-FFF2-40B4-BE49-F238E27FC236}">
                <a16:creationId xmlns:a16="http://schemas.microsoft.com/office/drawing/2014/main" id="{C1336F10-BC48-4DAB-9927-A8FF46C576D9}"/>
              </a:ext>
            </a:extLst>
          </p:cNvPr>
          <p:cNvSpPr>
            <a:spLocks xmlns:a="http://schemas.openxmlformats.org/drawingml/2006/main" noGrp="1"/>
          </p:cNvSpPr>
          <p:nvPr/>
        </p:nvSpPr>
        <p:spPr>
          <a:xfrm xmlns:a="http://schemas.openxmlformats.org/drawingml/2006/main">
            <a:off x="4610100" y="31242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4" name="">
            <a:extLst xmlns:a="http://schemas.openxmlformats.org/drawingml/2006/main">
              <a:ext uri="{FF2B5EF4-FFF2-40B4-BE49-F238E27FC236}">
                <a16:creationId xmlns:a16="http://schemas.microsoft.com/office/drawing/2014/main" id="{9E9FADE8-A683-471A-985C-A29941CD1EC0}"/>
              </a:ext>
            </a:extLst>
          </p:cNvPr>
          <p:cNvSpPr>
            <a:spLocks xmlns:a="http://schemas.openxmlformats.org/drawingml/2006/main" noGrp="1"/>
          </p:cNvSpPr>
          <p:nvPr/>
        </p:nvSpPr>
        <p:spPr>
          <a:xfrm xmlns:a="http://schemas.openxmlformats.org/drawingml/2006/main">
            <a:off x="4648200" y="31623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D</a:t>
            </a:r>
          </a:p>
        </p:txBody>
      </p:sp>
      <p:sp>
        <p:nvSpPr>
          <p:cNvPr id="35" name="">
            <a:extLst xmlns:a="http://schemas.openxmlformats.org/drawingml/2006/main">
              <a:ext uri="{FF2B5EF4-FFF2-40B4-BE49-F238E27FC236}">
                <a16:creationId xmlns:a16="http://schemas.microsoft.com/office/drawing/2014/main" id="{D02D92D9-0B08-41BA-B4A9-8ED8501D2FA0}"/>
              </a:ext>
            </a:extLst>
          </p:cNvPr>
          <p:cNvSpPr>
            <a:spLocks xmlns:a="http://schemas.openxmlformats.org/drawingml/2006/main" noGrp="1"/>
          </p:cNvSpPr>
          <p:nvPr/>
        </p:nvSpPr>
        <p:spPr>
          <a:xfrm xmlns:a="http://schemas.openxmlformats.org/drawingml/2006/main">
            <a:off x="7439025" y="31242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6" name="">
            <a:extLst xmlns:a="http://schemas.openxmlformats.org/drawingml/2006/main">
              <a:ext uri="{FF2B5EF4-FFF2-40B4-BE49-F238E27FC236}">
                <a16:creationId xmlns:a16="http://schemas.microsoft.com/office/drawing/2014/main" id="{752A90AB-5270-4F70-8061-9AA076B7A57B}"/>
              </a:ext>
            </a:extLst>
          </p:cNvPr>
          <p:cNvSpPr>
            <a:spLocks xmlns:a="http://schemas.openxmlformats.org/drawingml/2006/main" noGrp="1"/>
          </p:cNvSpPr>
          <p:nvPr/>
        </p:nvSpPr>
        <p:spPr>
          <a:xfrm xmlns:a="http://schemas.openxmlformats.org/drawingml/2006/main">
            <a:off x="7477125" y="31623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D</a:t>
            </a:r>
          </a:p>
        </p:txBody>
      </p:sp>
      <p:sp>
        <p:nvSpPr>
          <p:cNvPr id="39" name="">
            <a:extLst xmlns:a="http://schemas.openxmlformats.org/drawingml/2006/main">
              <a:ext uri="{FF2B5EF4-FFF2-40B4-BE49-F238E27FC236}">
                <a16:creationId xmlns:a16="http://schemas.microsoft.com/office/drawing/2014/main" id="{9B7E490E-6F0A-4215-B8A4-8F037E767CCC}"/>
              </a:ext>
            </a:extLst>
          </p:cNvPr>
          <p:cNvSpPr>
            <a:spLocks xmlns:a="http://schemas.openxmlformats.org/drawingml/2006/main" noGrp="1"/>
          </p:cNvSpPr>
          <p:nvPr/>
        </p:nvSpPr>
        <p:spPr>
          <a:xfrm xmlns:a="http://schemas.openxmlformats.org/drawingml/2006/main">
            <a:off x="4610100" y="35814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40" name="">
            <a:extLst xmlns:a="http://schemas.openxmlformats.org/drawingml/2006/main">
              <a:ext uri="{FF2B5EF4-FFF2-40B4-BE49-F238E27FC236}">
                <a16:creationId xmlns:a16="http://schemas.microsoft.com/office/drawing/2014/main" id="{568C0315-873C-4700-9EC1-19888366484C}"/>
              </a:ext>
            </a:extLst>
          </p:cNvPr>
          <p:cNvSpPr>
            <a:spLocks xmlns:a="http://schemas.openxmlformats.org/drawingml/2006/main" noGrp="1"/>
          </p:cNvSpPr>
          <p:nvPr/>
        </p:nvSpPr>
        <p:spPr>
          <a:xfrm xmlns:a="http://schemas.openxmlformats.org/drawingml/2006/main">
            <a:off x="4648200" y="36195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E</a:t>
            </a:r>
          </a:p>
        </p:txBody>
      </p:sp>
      <p:sp>
        <p:nvSpPr>
          <p:cNvPr id="41" name="">
            <a:extLst xmlns:a="http://schemas.openxmlformats.org/drawingml/2006/main">
              <a:ext uri="{FF2B5EF4-FFF2-40B4-BE49-F238E27FC236}">
                <a16:creationId xmlns:a16="http://schemas.microsoft.com/office/drawing/2014/main" id="{35ED5864-D07B-47AD-A433-41A8FB599F9F}"/>
              </a:ext>
            </a:extLst>
          </p:cNvPr>
          <p:cNvSpPr>
            <a:spLocks xmlns:a="http://schemas.openxmlformats.org/drawingml/2006/main" noGrp="1"/>
          </p:cNvSpPr>
          <p:nvPr/>
        </p:nvSpPr>
        <p:spPr>
          <a:xfrm xmlns:a="http://schemas.openxmlformats.org/drawingml/2006/main">
            <a:off x="7439025" y="35814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42" name="">
            <a:extLst xmlns:a="http://schemas.openxmlformats.org/drawingml/2006/main">
              <a:ext uri="{FF2B5EF4-FFF2-40B4-BE49-F238E27FC236}">
                <a16:creationId xmlns:a16="http://schemas.microsoft.com/office/drawing/2014/main" id="{669AA21F-F473-4046-A268-77DA20ACEA38}"/>
              </a:ext>
            </a:extLst>
          </p:cNvPr>
          <p:cNvSpPr>
            <a:spLocks xmlns:a="http://schemas.openxmlformats.org/drawingml/2006/main" noGrp="1"/>
          </p:cNvSpPr>
          <p:nvPr/>
        </p:nvSpPr>
        <p:spPr>
          <a:xfrm xmlns:a="http://schemas.openxmlformats.org/drawingml/2006/main">
            <a:off x="7477125" y="36195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047"/>
                </a:solidFill>
                <a:latin typeface="Arial"/>
                <a:ea typeface="Arial"/>
                <a:cs typeface="Arial"/>
              </a:defRPr>
            </a:defPPr>
          </a:lstStyle>
          <a:p xmlns:a="http://schemas.openxmlformats.org/drawingml/2006/main">
            <a:pPr algn="ctr">
              <a:buNone/>
              <a:defRPr sz="1875" b="1">
                <a:solidFill>
                  <a:srgbClr val="173047"/>
                </a:solidFill>
                <a:latin typeface="Arial"/>
                <a:ea typeface="Arial"/>
                <a:cs typeface="Arial"/>
              </a:defRPr>
            </a:pPr>
            <a:r>
              <a:rPr sz="1875" b="1">
                <a:solidFill>
                  <a:srgbClr val="173047"/>
                </a:solidFill>
                <a:latin typeface="Arial"/>
                <a:ea typeface="Arial"/>
                <a:cs typeface="Arial"/>
              </a:rPr>
              <a:t>E</a:t>
            </a:r>
          </a:p>
        </p:txBody>
      </p:sp>
      <p:sp>
        <p:nvSpPr>
          <p:cNvPr id="45" name="">
            <a:extLst xmlns:a="http://schemas.openxmlformats.org/drawingml/2006/main">
              <a:ext uri="{FF2B5EF4-FFF2-40B4-BE49-F238E27FC236}">
                <a16:creationId xmlns:a16="http://schemas.microsoft.com/office/drawing/2014/main" id="{AFF0EE95-5335-4760-9AF9-E806F2137525}"/>
              </a:ext>
            </a:extLst>
          </p:cNvPr>
          <p:cNvSpPr>
            <a:spLocks xmlns:a="http://schemas.openxmlformats.org/drawingml/2006/main" noGrp="1"/>
          </p:cNvSpPr>
          <p:nvPr/>
        </p:nvSpPr>
        <p:spPr>
          <a:xfrm xmlns:a="http://schemas.openxmlformats.org/drawingml/2006/main">
            <a:off x="762000" y="4667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00857D"/>
                </a:solidFill>
                <a:latin typeface="Arial"/>
                <a:ea typeface="Arial"/>
                <a:cs typeface="Arial"/>
              </a:defRPr>
            </a:defPPr>
          </a:lstStyle>
          <a:p xmlns:a="http://schemas.openxmlformats.org/drawingml/2006/main">
            <a:pPr algn="l">
              <a:buNone/>
              <a:defRPr sz="2400" b="1">
                <a:solidFill>
                  <a:srgbClr val="00857D"/>
                </a:solidFill>
                <a:latin typeface="Arial"/>
                <a:ea typeface="Arial"/>
                <a:cs typeface="Arial"/>
              </a:defRPr>
            </a:pPr>
            <a:r>
              <a:rPr sz="2400" b="1">
                <a:solidFill>
                  <a:srgbClr val="00857D"/>
                </a:solidFill>
                <a:latin typeface="Arial"/>
                <a:ea typeface="Arial"/>
                <a:cs typeface="Arial"/>
              </a:rPr>
              <a:t>x(S,A)+x(S,B)+x(S,C)+x(S,D)+x(S,E) = 1</a:t>
            </a:r>
          </a:p>
        </p:txBody>
      </p:sp>
      <p:sp>
        <p:nvSpPr>
          <p:cNvPr id="46" name="">
            <a:extLst xmlns:a="http://schemas.openxmlformats.org/drawingml/2006/main">
              <a:ext uri="{FF2B5EF4-FFF2-40B4-BE49-F238E27FC236}">
                <a16:creationId xmlns:a16="http://schemas.microsoft.com/office/drawing/2014/main" id="{A598F4A0-6A35-4902-BF7F-CBF7835C8EDB}"/>
              </a:ext>
            </a:extLst>
          </p:cNvPr>
          <p:cNvSpPr>
            <a:spLocks xmlns:a="http://schemas.openxmlformats.org/drawingml/2006/main" noGrp="1"/>
          </p:cNvSpPr>
          <p:nvPr/>
        </p:nvSpPr>
        <p:spPr>
          <a:xfrm xmlns:a="http://schemas.openxmlformats.org/drawingml/2006/main">
            <a:off x="762000" y="52959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2868AF"/>
                </a:solidFill>
                <a:latin typeface="Arial"/>
                <a:ea typeface="Arial"/>
                <a:cs typeface="Arial"/>
              </a:defRPr>
            </a:defPPr>
          </a:lstStyle>
          <a:p xmlns:a="http://schemas.openxmlformats.org/drawingml/2006/main">
            <a:pPr algn="l">
              <a:buNone/>
              <a:defRPr sz="2400" b="1">
                <a:solidFill>
                  <a:srgbClr val="2868AF"/>
                </a:solidFill>
                <a:latin typeface="Arial"/>
                <a:ea typeface="Arial"/>
                <a:cs typeface="Arial"/>
              </a:defRPr>
            </a:pPr>
            <a:r>
              <a:rPr sz="2400" b="1">
                <a:solidFill>
                  <a:srgbClr val="2868AF"/>
                </a:solidFill>
                <a:latin typeface="Arial"/>
                <a:ea typeface="Arial"/>
                <a:cs typeface="Arial"/>
              </a:rPr>
              <a:t>x(A,S)+x(B,S)+x(C,S)+x(D,S)+x(E,S) = 1</a:t>
            </a:r>
          </a:p>
        </p:txBody>
      </p:sp>
    </p:spTree>
    <p:extLst>
      <p:ext uri="{BB962C8B-B14F-4D97-AF65-F5344CB8AC3E}">
        <p14:creationId xmlns:p14="http://schemas.microsoft.com/office/powerpoint/2010/main" val="199628940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1" name="">
            <a:extLst xmlns:a="http://schemas.openxmlformats.org/drawingml/2006/main">
              <a:ext uri="{FF2B5EF4-FFF2-40B4-BE49-F238E27FC236}">
                <a16:creationId xmlns:a16="http://schemas.microsoft.com/office/drawing/2014/main" id="{69DEF7A8-5F9D-4827-B2B3-7663B4836236}"/>
              </a:ext>
            </a:extLst>
          </p:cNvPr>
          <p:cNvCxnSpPr>
            <a:stCxn xmlns:a="http://schemas.openxmlformats.org/drawingml/2006/main" id="33" idx="2"/>
            <a:endCxn xmlns:a="http://schemas.openxmlformats.org/drawingml/2006/main" id="35" idx="6"/>
          </p:cNvCxnSpPr>
          <p:nvPr/>
        </p:nvCxnSpPr>
        <p:spPr>
          <a:xfrm xmlns:a="http://schemas.openxmlformats.org/drawingml/2006/main" flipH="1" flipV="1">
            <a:off x="8496300" y="2000250"/>
            <a:ext cx="1676400" cy="1143000"/>
          </a:xfrm>
          <a:prstGeom xmlns:a="http://schemas.openxmlformats.org/drawingml/2006/main" prst="straightConnector1">
            <a:avLst/>
          </a:prstGeom>
          <a:ln xmlns:a="http://schemas.openxmlformats.org/drawingml/2006/main" w="38100">
            <a:solidFill>
              <a:srgbClr val="A96B00"/>
            </a:solidFill>
            <a:prstDash val="solid"/>
            <a:headEnd type="triangle" w="med" len="med"/>
            <a:tailEnd type="triangle" w="med" len="med"/>
          </a:ln>
        </p:spPr>
      </p:cxnSp>
      <p:cxnSp>
        <p:nvCxnSpPr>
          <p:cNvPr id="39" name="">
            <a:extLst xmlns:a="http://schemas.openxmlformats.org/drawingml/2006/main">
              <a:ext uri="{FF2B5EF4-FFF2-40B4-BE49-F238E27FC236}">
                <a16:creationId xmlns:a16="http://schemas.microsoft.com/office/drawing/2014/main" id="{44EC9ACF-980D-4E77-A88C-4BF3E65515F5}"/>
              </a:ext>
            </a:extLst>
          </p:cNvPr>
          <p:cNvCxnSpPr>
            <a:stCxn xmlns:a="http://schemas.openxmlformats.org/drawingml/2006/main" id="29" idx="2"/>
            <a:endCxn xmlns:a="http://schemas.openxmlformats.org/drawingml/2006/main" id="31" idx="6"/>
          </p:cNvCxnSpPr>
          <p:nvPr/>
        </p:nvCxnSpPr>
        <p:spPr>
          <a:xfrm xmlns:a="http://schemas.openxmlformats.org/drawingml/2006/main" flipH="1">
            <a:off x="4686300" y="4619625"/>
            <a:ext cx="3009900" cy="0"/>
          </a:xfrm>
          <a:prstGeom xmlns:a="http://schemas.openxmlformats.org/drawingml/2006/main" prst="straightConnector1">
            <a:avLst/>
          </a:prstGeom>
          <a:ln xmlns:a="http://schemas.openxmlformats.org/drawingml/2006/main" w="38100">
            <a:solidFill>
              <a:srgbClr val="B64436"/>
            </a:solidFill>
            <a:prstDash val="solid"/>
            <a:headEnd type="triangle" w="med" len="med"/>
            <a:tailEnd type="triangle" w="med" len="med"/>
          </a:ln>
        </p:spPr>
      </p:cxnSp>
      <p:cxnSp>
        <p:nvCxnSpPr>
          <p:cNvPr id="37" name="">
            <a:extLst xmlns:a="http://schemas.openxmlformats.org/drawingml/2006/main">
              <a:ext uri="{FF2B5EF4-FFF2-40B4-BE49-F238E27FC236}">
                <a16:creationId xmlns:a16="http://schemas.microsoft.com/office/drawing/2014/main" id="{9AB560BE-7C8E-4666-8C2B-A7549C8B77A6}"/>
              </a:ext>
            </a:extLst>
          </p:cNvPr>
          <p:cNvCxnSpPr>
            <a:stCxn xmlns:a="http://schemas.openxmlformats.org/drawingml/2006/main" id="25" idx="6"/>
            <a:endCxn xmlns:a="http://schemas.openxmlformats.org/drawingml/2006/main" id="27" idx="2"/>
          </p:cNvCxnSpPr>
          <p:nvPr/>
        </p:nvCxnSpPr>
        <p:spPr>
          <a:xfrm xmlns:a="http://schemas.openxmlformats.org/drawingml/2006/main" flipV="1">
            <a:off x="2114550" y="2000250"/>
            <a:ext cx="1771650" cy="1143000"/>
          </a:xfrm>
          <a:prstGeom xmlns:a="http://schemas.openxmlformats.org/drawingml/2006/main" prst="straightConnector1">
            <a:avLst/>
          </a:prstGeom>
          <a:ln xmlns:a="http://schemas.openxmlformats.org/drawingml/2006/main" w="38100">
            <a:solidFill>
              <a:srgbClr val="00857D"/>
            </a:solidFill>
            <a:prstDash val="solid"/>
            <a:headEnd type="triangle" w="med" len="med"/>
            <a:tailEnd type="triangle" w="med" len="med"/>
          </a:ln>
        </p:spPr>
      </p:cxnSp>
      <p:sp>
        <p:nvSpPr>
          <p:cNvPr id="24" name="">
            <a:extLst xmlns:a="http://schemas.openxmlformats.org/drawingml/2006/main">
              <a:ext uri="{FF2B5EF4-FFF2-40B4-BE49-F238E27FC236}">
                <a16:creationId xmlns:a16="http://schemas.microsoft.com/office/drawing/2014/main" id="{F9DD49E0-B94C-480F-96BC-1522C158D5B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Пастка моделі: три окремі підцикли</a:t>
            </a:r>
          </a:p>
        </p:txBody>
      </p:sp>
      <p:sp>
        <p:nvSpPr>
          <p:cNvPr id="2" name="">
            <a:extLst xmlns:a="http://schemas.openxmlformats.org/drawingml/2006/main">
              <a:ext uri="{FF2B5EF4-FFF2-40B4-BE49-F238E27FC236}">
                <a16:creationId xmlns:a16="http://schemas.microsoft.com/office/drawing/2014/main" id="{772E61CB-89EB-4BCC-8694-AAB57DD604E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Входи й виходи виконано, але загального маршруту немає.</a:t>
            </a:r>
          </a:p>
        </p:txBody>
      </p:sp>
      <p:sp>
        <p:nvSpPr>
          <p:cNvPr id="3" name="">
            <a:extLst xmlns:a="http://schemas.openxmlformats.org/drawingml/2006/main">
              <a:ext uri="{FF2B5EF4-FFF2-40B4-BE49-F238E27FC236}">
                <a16:creationId xmlns:a16="http://schemas.microsoft.com/office/drawing/2014/main" id="{D4D32CB2-9F70-455D-B64D-780DB19F240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42</a:t>
            </a:r>
          </a:p>
        </p:txBody>
      </p:sp>
      <p:sp>
        <p:nvSpPr>
          <p:cNvPr id="25" name="">
            <a:extLst xmlns:a="http://schemas.openxmlformats.org/drawingml/2006/main">
              <a:ext uri="{FF2B5EF4-FFF2-40B4-BE49-F238E27FC236}">
                <a16:creationId xmlns:a16="http://schemas.microsoft.com/office/drawing/2014/main" id="{BBEF0435-174B-4E0E-B04A-26E4476AF261}"/>
              </a:ext>
            </a:extLst>
          </p:cNvPr>
          <p:cNvSpPr>
            <a:spLocks xmlns:a="http://schemas.openxmlformats.org/drawingml/2006/main" noGrp="1"/>
          </p:cNvSpPr>
          <p:nvPr/>
        </p:nvSpPr>
        <p:spPr>
          <a:xfrm xmlns:a="http://schemas.openxmlformats.org/drawingml/2006/main">
            <a:off x="1314450" y="2743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26" name="">
            <a:extLst xmlns:a="http://schemas.openxmlformats.org/drawingml/2006/main">
              <a:ext uri="{FF2B5EF4-FFF2-40B4-BE49-F238E27FC236}">
                <a16:creationId xmlns:a16="http://schemas.microsoft.com/office/drawing/2014/main" id="{331A2FC5-587D-442E-8B9B-74473C75419B}"/>
              </a:ext>
            </a:extLst>
          </p:cNvPr>
          <p:cNvSpPr>
            <a:spLocks xmlns:a="http://schemas.openxmlformats.org/drawingml/2006/main" noGrp="1"/>
          </p:cNvSpPr>
          <p:nvPr/>
        </p:nvSpPr>
        <p:spPr>
          <a:xfrm xmlns:a="http://schemas.openxmlformats.org/drawingml/2006/main">
            <a:off x="135255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S</a:t>
            </a:r>
          </a:p>
        </p:txBody>
      </p:sp>
      <p:sp>
        <p:nvSpPr>
          <p:cNvPr id="27" name="">
            <a:extLst xmlns:a="http://schemas.openxmlformats.org/drawingml/2006/main">
              <a:ext uri="{FF2B5EF4-FFF2-40B4-BE49-F238E27FC236}">
                <a16:creationId xmlns:a16="http://schemas.microsoft.com/office/drawing/2014/main" id="{F820943B-4254-404B-9F43-94E0BC397180}"/>
              </a:ext>
            </a:extLst>
          </p:cNvPr>
          <p:cNvSpPr>
            <a:spLocks xmlns:a="http://schemas.openxmlformats.org/drawingml/2006/main" noGrp="1"/>
          </p:cNvSpPr>
          <p:nvPr/>
        </p:nvSpPr>
        <p:spPr>
          <a:xfrm xmlns:a="http://schemas.openxmlformats.org/drawingml/2006/main">
            <a:off x="3886200" y="1600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28" name="">
            <a:extLst xmlns:a="http://schemas.openxmlformats.org/drawingml/2006/main">
              <a:ext uri="{FF2B5EF4-FFF2-40B4-BE49-F238E27FC236}">
                <a16:creationId xmlns:a16="http://schemas.microsoft.com/office/drawing/2014/main" id="{D1D4B6F6-BBF7-4997-B4E5-79E4DF3D5097}"/>
              </a:ext>
            </a:extLst>
          </p:cNvPr>
          <p:cNvSpPr>
            <a:spLocks xmlns:a="http://schemas.openxmlformats.org/drawingml/2006/main" noGrp="1"/>
          </p:cNvSpPr>
          <p:nvPr/>
        </p:nvSpPr>
        <p:spPr>
          <a:xfrm xmlns:a="http://schemas.openxmlformats.org/drawingml/2006/main">
            <a:off x="392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A</a:t>
            </a:r>
          </a:p>
        </p:txBody>
      </p:sp>
      <p:sp>
        <p:nvSpPr>
          <p:cNvPr id="29" name="">
            <a:extLst xmlns:a="http://schemas.openxmlformats.org/drawingml/2006/main">
              <a:ext uri="{FF2B5EF4-FFF2-40B4-BE49-F238E27FC236}">
                <a16:creationId xmlns:a16="http://schemas.microsoft.com/office/drawing/2014/main" id="{0A79560C-B600-40F0-A5C4-07E60D59C550}"/>
              </a:ext>
            </a:extLst>
          </p:cNvPr>
          <p:cNvSpPr>
            <a:spLocks xmlns:a="http://schemas.openxmlformats.org/drawingml/2006/main" noGrp="1"/>
          </p:cNvSpPr>
          <p:nvPr/>
        </p:nvSpPr>
        <p:spPr>
          <a:xfrm xmlns:a="http://schemas.openxmlformats.org/drawingml/2006/main">
            <a:off x="7696200" y="4219575"/>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0" name="">
            <a:extLst xmlns:a="http://schemas.openxmlformats.org/drawingml/2006/main">
              <a:ext uri="{FF2B5EF4-FFF2-40B4-BE49-F238E27FC236}">
                <a16:creationId xmlns:a16="http://schemas.microsoft.com/office/drawing/2014/main" id="{8E74DD4A-9809-4A3A-BDBC-712DBA5DB331}"/>
              </a:ext>
            </a:extLst>
          </p:cNvPr>
          <p:cNvSpPr>
            <a:spLocks xmlns:a="http://schemas.openxmlformats.org/drawingml/2006/main" noGrp="1"/>
          </p:cNvSpPr>
          <p:nvPr/>
        </p:nvSpPr>
        <p:spPr>
          <a:xfrm xmlns:a="http://schemas.openxmlformats.org/drawingml/2006/main">
            <a:off x="773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B</a:t>
            </a:r>
          </a:p>
        </p:txBody>
      </p:sp>
      <p:sp>
        <p:nvSpPr>
          <p:cNvPr id="31" name="">
            <a:extLst xmlns:a="http://schemas.openxmlformats.org/drawingml/2006/main">
              <a:ext uri="{FF2B5EF4-FFF2-40B4-BE49-F238E27FC236}">
                <a16:creationId xmlns:a16="http://schemas.microsoft.com/office/drawing/2014/main" id="{8651C789-7EF1-40F6-A530-CF54DB25B68E}"/>
              </a:ext>
            </a:extLst>
          </p:cNvPr>
          <p:cNvSpPr>
            <a:spLocks xmlns:a="http://schemas.openxmlformats.org/drawingml/2006/main" noGrp="1"/>
          </p:cNvSpPr>
          <p:nvPr/>
        </p:nvSpPr>
        <p:spPr>
          <a:xfrm xmlns:a="http://schemas.openxmlformats.org/drawingml/2006/main">
            <a:off x="3886200" y="4219575"/>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2" name="">
            <a:extLst xmlns:a="http://schemas.openxmlformats.org/drawingml/2006/main">
              <a:ext uri="{FF2B5EF4-FFF2-40B4-BE49-F238E27FC236}">
                <a16:creationId xmlns:a16="http://schemas.microsoft.com/office/drawing/2014/main" id="{C85993B0-393C-43B7-B9D4-AFE06B446C30}"/>
              </a:ext>
            </a:extLst>
          </p:cNvPr>
          <p:cNvSpPr>
            <a:spLocks xmlns:a="http://schemas.openxmlformats.org/drawingml/2006/main" noGrp="1"/>
          </p:cNvSpPr>
          <p:nvPr/>
        </p:nvSpPr>
        <p:spPr>
          <a:xfrm xmlns:a="http://schemas.openxmlformats.org/drawingml/2006/main">
            <a:off x="392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C</a:t>
            </a:r>
          </a:p>
        </p:txBody>
      </p:sp>
      <p:sp>
        <p:nvSpPr>
          <p:cNvPr id="33" name="">
            <a:extLst xmlns:a="http://schemas.openxmlformats.org/drawingml/2006/main">
              <a:ext uri="{FF2B5EF4-FFF2-40B4-BE49-F238E27FC236}">
                <a16:creationId xmlns:a16="http://schemas.microsoft.com/office/drawing/2014/main" id="{413F79B8-2B31-417D-BFBD-8FF993C928FB}"/>
              </a:ext>
            </a:extLst>
          </p:cNvPr>
          <p:cNvSpPr>
            <a:spLocks xmlns:a="http://schemas.openxmlformats.org/drawingml/2006/main" noGrp="1"/>
          </p:cNvSpPr>
          <p:nvPr/>
        </p:nvSpPr>
        <p:spPr>
          <a:xfrm xmlns:a="http://schemas.openxmlformats.org/drawingml/2006/main">
            <a:off x="10172700" y="2743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4" name="">
            <a:extLst xmlns:a="http://schemas.openxmlformats.org/drawingml/2006/main">
              <a:ext uri="{FF2B5EF4-FFF2-40B4-BE49-F238E27FC236}">
                <a16:creationId xmlns:a16="http://schemas.microsoft.com/office/drawing/2014/main" id="{59367E6C-E2E1-4AEF-AA53-45883FA47D39}"/>
              </a:ext>
            </a:extLst>
          </p:cNvPr>
          <p:cNvSpPr>
            <a:spLocks xmlns:a="http://schemas.openxmlformats.org/drawingml/2006/main" noGrp="1"/>
          </p:cNvSpPr>
          <p:nvPr/>
        </p:nvSpPr>
        <p:spPr>
          <a:xfrm xmlns:a="http://schemas.openxmlformats.org/drawingml/2006/main">
            <a:off x="1021080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D</a:t>
            </a:r>
          </a:p>
        </p:txBody>
      </p:sp>
      <p:sp>
        <p:nvSpPr>
          <p:cNvPr id="35" name="">
            <a:extLst xmlns:a="http://schemas.openxmlformats.org/drawingml/2006/main">
              <a:ext uri="{FF2B5EF4-FFF2-40B4-BE49-F238E27FC236}">
                <a16:creationId xmlns:a16="http://schemas.microsoft.com/office/drawing/2014/main" id="{3125BDDF-D033-4C13-8FC8-28A4BBCADAC2}"/>
              </a:ext>
            </a:extLst>
          </p:cNvPr>
          <p:cNvSpPr>
            <a:spLocks xmlns:a="http://schemas.openxmlformats.org/drawingml/2006/main" noGrp="1"/>
          </p:cNvSpPr>
          <p:nvPr/>
        </p:nvSpPr>
        <p:spPr>
          <a:xfrm xmlns:a="http://schemas.openxmlformats.org/drawingml/2006/main">
            <a:off x="7696200" y="1600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6" name="">
            <a:extLst xmlns:a="http://schemas.openxmlformats.org/drawingml/2006/main">
              <a:ext uri="{FF2B5EF4-FFF2-40B4-BE49-F238E27FC236}">
                <a16:creationId xmlns:a16="http://schemas.microsoft.com/office/drawing/2014/main" id="{B5BD7F48-029C-4260-B484-F99C0F964C60}"/>
              </a:ext>
            </a:extLst>
          </p:cNvPr>
          <p:cNvSpPr>
            <a:spLocks xmlns:a="http://schemas.openxmlformats.org/drawingml/2006/main" noGrp="1"/>
          </p:cNvSpPr>
          <p:nvPr/>
        </p:nvSpPr>
        <p:spPr>
          <a:xfrm xmlns:a="http://schemas.openxmlformats.org/drawingml/2006/main">
            <a:off x="773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E</a:t>
            </a:r>
          </a:p>
        </p:txBody>
      </p:sp>
      <p:sp>
        <p:nvSpPr>
          <p:cNvPr id="38" name="">
            <a:extLst xmlns:a="http://schemas.openxmlformats.org/drawingml/2006/main">
              <a:ext uri="{FF2B5EF4-FFF2-40B4-BE49-F238E27FC236}">
                <a16:creationId xmlns:a16="http://schemas.microsoft.com/office/drawing/2014/main" id="{11DC9378-0A81-4676-989A-FF09A8149241}"/>
              </a:ext>
            </a:extLst>
          </p:cNvPr>
          <p:cNvSpPr>
            <a:spLocks xmlns:a="http://schemas.openxmlformats.org/drawingml/2006/main" noGrp="1"/>
          </p:cNvSpPr>
          <p:nvPr/>
        </p:nvSpPr>
        <p:spPr>
          <a:xfrm xmlns:a="http://schemas.openxmlformats.org/drawingml/2006/main">
            <a:off x="2466975" y="2343150"/>
            <a:ext cx="10668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 + 2</a:t>
            </a:r>
          </a:p>
        </p:txBody>
      </p:sp>
      <p:sp>
        <p:nvSpPr>
          <p:cNvPr id="40" name="">
            <a:extLst xmlns:a="http://schemas.openxmlformats.org/drawingml/2006/main">
              <a:ext uri="{FF2B5EF4-FFF2-40B4-BE49-F238E27FC236}">
                <a16:creationId xmlns:a16="http://schemas.microsoft.com/office/drawing/2014/main" id="{7C7F65CF-65AA-4758-9FBF-BEF3BE55385E}"/>
              </a:ext>
            </a:extLst>
          </p:cNvPr>
          <p:cNvSpPr>
            <a:spLocks xmlns:a="http://schemas.openxmlformats.org/drawingml/2006/main" noGrp="1"/>
          </p:cNvSpPr>
          <p:nvPr/>
        </p:nvSpPr>
        <p:spPr>
          <a:xfrm xmlns:a="http://schemas.openxmlformats.org/drawingml/2006/main">
            <a:off x="5657850" y="4391025"/>
            <a:ext cx="10668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B64436"/>
                </a:solidFill>
                <a:latin typeface="Arial"/>
                <a:ea typeface="Arial"/>
                <a:cs typeface="Arial"/>
              </a:defRPr>
            </a:defPPr>
          </a:lstStyle>
          <a:p xmlns:a="http://schemas.openxmlformats.org/drawingml/2006/main">
            <a:pPr algn="ctr">
              <a:buNone/>
              <a:defRPr sz="2250" b="1">
                <a:solidFill>
                  <a:srgbClr val="B64436"/>
                </a:solidFill>
                <a:latin typeface="Arial"/>
                <a:ea typeface="Arial"/>
                <a:cs typeface="Arial"/>
              </a:defRPr>
            </a:pPr>
            <a:r>
              <a:rPr sz="2250" b="1">
                <a:solidFill>
                  <a:srgbClr val="B64436"/>
                </a:solidFill>
                <a:latin typeface="Arial"/>
                <a:ea typeface="Arial"/>
                <a:cs typeface="Arial"/>
              </a:rPr>
              <a:t>2 + 2</a:t>
            </a:r>
          </a:p>
        </p:txBody>
      </p:sp>
      <p:sp>
        <p:nvSpPr>
          <p:cNvPr id="42" name="">
            <a:extLst xmlns:a="http://schemas.openxmlformats.org/drawingml/2006/main">
              <a:ext uri="{FF2B5EF4-FFF2-40B4-BE49-F238E27FC236}">
                <a16:creationId xmlns:a16="http://schemas.microsoft.com/office/drawing/2014/main" id="{4BACF948-FA26-46EC-ABD8-E0625F4B8C5A}"/>
              </a:ext>
            </a:extLst>
          </p:cNvPr>
          <p:cNvSpPr>
            <a:spLocks xmlns:a="http://schemas.openxmlformats.org/drawingml/2006/main" noGrp="1"/>
          </p:cNvSpPr>
          <p:nvPr/>
        </p:nvSpPr>
        <p:spPr>
          <a:xfrm xmlns:a="http://schemas.openxmlformats.org/drawingml/2006/main">
            <a:off x="8801100" y="2343150"/>
            <a:ext cx="10668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A96B00"/>
                </a:solidFill>
                <a:latin typeface="Arial"/>
                <a:ea typeface="Arial"/>
                <a:cs typeface="Arial"/>
              </a:defRPr>
            </a:defPPr>
          </a:lstStyle>
          <a:p xmlns:a="http://schemas.openxmlformats.org/drawingml/2006/main">
            <a:pPr algn="ctr">
              <a:buNone/>
              <a:defRPr sz="2250" b="1">
                <a:solidFill>
                  <a:srgbClr val="A96B00"/>
                </a:solidFill>
                <a:latin typeface="Arial"/>
                <a:ea typeface="Arial"/>
                <a:cs typeface="Arial"/>
              </a:defRPr>
            </a:pPr>
            <a:r>
              <a:rPr sz="2250" b="1">
                <a:solidFill>
                  <a:srgbClr val="A96B00"/>
                </a:solidFill>
                <a:latin typeface="Arial"/>
                <a:ea typeface="Arial"/>
                <a:cs typeface="Arial"/>
              </a:rPr>
              <a:t>2 + 2</a:t>
            </a:r>
          </a:p>
        </p:txBody>
      </p:sp>
      <p:sp>
        <p:nvSpPr>
          <p:cNvPr id="43" name="">
            <a:extLst xmlns:a="http://schemas.openxmlformats.org/drawingml/2006/main">
              <a:ext uri="{FF2B5EF4-FFF2-40B4-BE49-F238E27FC236}">
                <a16:creationId xmlns:a16="http://schemas.microsoft.com/office/drawing/2014/main" id="{F07D0C6B-BEFA-4F61-BB72-7F0339BF921D}"/>
              </a:ext>
            </a:extLst>
          </p:cNvPr>
          <p:cNvSpPr>
            <a:spLocks xmlns:a="http://schemas.openxmlformats.org/drawingml/2006/main" noGrp="1"/>
          </p:cNvSpPr>
          <p:nvPr/>
        </p:nvSpPr>
        <p:spPr>
          <a:xfrm xmlns:a="http://schemas.openxmlformats.org/drawingml/2006/main">
            <a:off x="8096250" y="5238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750" b="1">
                <a:solidFill>
                  <a:srgbClr val="00857D"/>
                </a:solidFill>
                <a:latin typeface="Arial"/>
                <a:ea typeface="Arial"/>
                <a:cs typeface="Arial"/>
              </a:defRPr>
            </a:defPPr>
          </a:lstStyle>
          <a:p xmlns:a="http://schemas.openxmlformats.org/drawingml/2006/main">
            <a:pPr algn="r">
              <a:buNone/>
              <a:defRPr sz="3750" b="1">
                <a:solidFill>
                  <a:srgbClr val="00857D"/>
                </a:solidFill>
                <a:latin typeface="Arial"/>
                <a:ea typeface="Arial"/>
                <a:cs typeface="Arial"/>
              </a:defRPr>
            </a:pPr>
            <a:r>
              <a:rPr sz="3750" b="1">
                <a:solidFill>
                  <a:srgbClr val="00857D"/>
                </a:solidFill>
                <a:latin typeface="Arial"/>
                <a:ea typeface="Arial"/>
                <a:cs typeface="Arial"/>
              </a:rPr>
              <a:t>C = 12</a:t>
            </a:r>
          </a:p>
        </p:txBody>
      </p:sp>
      <p:sp>
        <p:nvSpPr>
          <p:cNvPr id="44" name="">
            <a:extLst xmlns:a="http://schemas.openxmlformats.org/drawingml/2006/main">
              <a:ext uri="{FF2B5EF4-FFF2-40B4-BE49-F238E27FC236}">
                <a16:creationId xmlns:a16="http://schemas.microsoft.com/office/drawing/2014/main" id="{82A65ED5-29CC-4A0A-8CA5-9CD280417299}"/>
              </a:ext>
            </a:extLst>
          </p:cNvPr>
          <p:cNvSpPr>
            <a:spLocks xmlns:a="http://schemas.openxmlformats.org/drawingml/2006/main" noGrp="1"/>
          </p:cNvSpPr>
          <p:nvPr/>
        </p:nvSpPr>
        <p:spPr>
          <a:xfrm xmlns:a="http://schemas.openxmlformats.org/drawingml/2006/main">
            <a:off x="762000" y="5305425"/>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66779"/>
                </a:solidFill>
                <a:latin typeface="Arial"/>
                <a:ea typeface="Arial"/>
                <a:cs typeface="Arial"/>
              </a:defRPr>
            </a:defPPr>
          </a:lstStyle>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S-A-S   /   B-C-B   /   D-E-D</a:t>
            </a:r>
          </a:p>
        </p:txBody>
      </p:sp>
    </p:spTree>
    <p:extLst>
      <p:ext uri="{BB962C8B-B14F-4D97-AF65-F5344CB8AC3E}">
        <p14:creationId xmlns:p14="http://schemas.microsoft.com/office/powerpoint/2010/main" val="4919518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B1BBA7A2-4770-48D5-9738-06212B804A9C}"/>
              </a:ext>
            </a:extLst>
          </p:cNvPr>
          <p:cNvCxnSpPr>
            <a:stCxn xmlns:a="http://schemas.openxmlformats.org/drawingml/2006/main" id="19" idx="4"/>
            <a:endCxn xmlns:a="http://schemas.openxmlformats.org/drawingml/2006/main" id="21" idx="0"/>
          </p:cNvCxnSpPr>
          <p:nvPr/>
        </p:nvCxnSpPr>
        <p:spPr>
          <a:xfrm xmlns:a="http://schemas.openxmlformats.org/drawingml/2006/main">
            <a:off x="9239250" y="3181350"/>
            <a:ext cx="1452563" cy="600075"/>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7425A049-D2F6-4A28-B3D1-51FB235B4CF4}"/>
              </a:ext>
            </a:extLst>
          </p:cNvPr>
          <p:cNvCxnSpPr>
            <a:stCxn xmlns:a="http://schemas.openxmlformats.org/drawingml/2006/main" id="17" idx="6"/>
            <a:endCxn xmlns:a="http://schemas.openxmlformats.org/drawingml/2006/main" id="19" idx="2"/>
          </p:cNvCxnSpPr>
          <p:nvPr/>
        </p:nvCxnSpPr>
        <p:spPr>
          <a:xfrm xmlns:a="http://schemas.openxmlformats.org/drawingml/2006/main">
            <a:off x="7496175" y="2781300"/>
            <a:ext cx="1343025" cy="0"/>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4BA4AEE5-9299-46C0-850A-155D8CFE7CB9}"/>
              </a:ext>
            </a:extLst>
          </p:cNvPr>
          <p:cNvCxnSpPr>
            <a:stCxn xmlns:a="http://schemas.openxmlformats.org/drawingml/2006/main" id="11" idx="6"/>
            <a:endCxn xmlns:a="http://schemas.openxmlformats.org/drawingml/2006/main" id="13" idx="2"/>
          </p:cNvCxnSpPr>
          <p:nvPr/>
        </p:nvCxnSpPr>
        <p:spPr>
          <a:xfrm xmlns:a="http://schemas.openxmlformats.org/drawingml/2006/main">
            <a:off x="1828800" y="2781300"/>
            <a:ext cx="2152650" cy="0"/>
          </a:xfrm>
          <a:prstGeom xmlns:a="http://schemas.openxmlformats.org/drawingml/2006/main" prst="straightConnector1">
            <a:avLst/>
          </a:prstGeom>
          <a:ln xmlns:a="http://schemas.openxmlformats.org/drawingml/2006/main" w="38100">
            <a:solidFill>
              <a:srgbClr val="B64436"/>
            </a:solidFill>
            <a:headEnd type="triangle" w="med" len="med"/>
            <a:tailEnd type="triangle" w="med" len="med"/>
          </a:ln>
        </p:spPr>
      </p:cxnSp>
      <p:sp>
        <p:nvSpPr>
          <p:cNvPr id="8" name="">
            <a:extLst xmlns:a="http://schemas.openxmlformats.org/drawingml/2006/main">
              <a:ext uri="{FF2B5EF4-FFF2-40B4-BE49-F238E27FC236}">
                <a16:creationId xmlns:a16="http://schemas.microsoft.com/office/drawing/2014/main" id="{59348029-9A76-49A6-90D7-A43ED62C3E68}"/>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Відсічення підциклу S-A-S</a:t>
            </a:r>
          </a:p>
        </p:txBody>
      </p:sp>
      <p:sp>
        <p:nvSpPr>
          <p:cNvPr id="2" name="">
            <a:extLst xmlns:a="http://schemas.openxmlformats.org/drawingml/2006/main">
              <a:ext uri="{FF2B5EF4-FFF2-40B4-BE49-F238E27FC236}">
                <a16:creationId xmlns:a16="http://schemas.microsoft.com/office/drawing/2014/main" id="{27078C69-77E1-4706-A593-98F178782FF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Кожен справжній маршрут залишається допустимим.</a:t>
            </a:r>
          </a:p>
        </p:txBody>
      </p:sp>
      <p:sp>
        <p:nvSpPr>
          <p:cNvPr id="3" name="">
            <a:extLst xmlns:a="http://schemas.openxmlformats.org/drawingml/2006/main">
              <a:ext uri="{FF2B5EF4-FFF2-40B4-BE49-F238E27FC236}">
                <a16:creationId xmlns:a16="http://schemas.microsoft.com/office/drawing/2014/main" id="{D2540505-B7A5-461E-9773-8F08C07A2D3F}"/>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43</a:t>
            </a:r>
          </a:p>
        </p:txBody>
      </p:sp>
      <p:sp>
        <p:nvSpPr>
          <p:cNvPr id="9" name="">
            <a:extLst xmlns:a="http://schemas.openxmlformats.org/drawingml/2006/main">
              <a:ext uri="{FF2B5EF4-FFF2-40B4-BE49-F238E27FC236}">
                <a16:creationId xmlns:a16="http://schemas.microsoft.com/office/drawing/2014/main" id="{0BA08B66-42F8-46C1-B30C-6D841DE74F74}"/>
              </a:ext>
            </a:extLst>
          </p:cNvPr>
          <p:cNvSpPr>
            <a:spLocks xmlns:a="http://schemas.openxmlformats.org/drawingml/2006/main" noGrp="1"/>
          </p:cNvSpPr>
          <p:nvPr/>
        </p:nvSpPr>
        <p:spPr>
          <a:xfrm xmlns:a="http://schemas.openxmlformats.org/drawingml/2006/main">
            <a:off x="857250" y="14763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B64436"/>
                </a:solidFill>
                <a:latin typeface="Arial"/>
                <a:ea typeface="Arial"/>
                <a:cs typeface="Arial"/>
              </a:defRPr>
            </a:defPPr>
          </a:lstStyle>
          <a:p xmlns:a="http://schemas.openxmlformats.org/drawingml/2006/main">
            <a:pPr algn="l">
              <a:buNone/>
              <a:defRPr sz="2550" b="1">
                <a:solidFill>
                  <a:srgbClr val="B64436"/>
                </a:solidFill>
                <a:latin typeface="Arial"/>
                <a:ea typeface="Arial"/>
                <a:cs typeface="Arial"/>
              </a:defRPr>
            </a:pPr>
            <a:r>
              <a:rPr sz="2550" b="1">
                <a:solidFill>
                  <a:srgbClr val="B64436"/>
                </a:solidFill>
                <a:latin typeface="Arial"/>
                <a:ea typeface="Arial"/>
                <a:cs typeface="Arial"/>
              </a:rPr>
              <a:t>Замкнений підцикл</a:t>
            </a:r>
          </a:p>
        </p:txBody>
      </p:sp>
      <p:sp>
        <p:nvSpPr>
          <p:cNvPr id="10" name="">
            <a:extLst xmlns:a="http://schemas.openxmlformats.org/drawingml/2006/main">
              <a:ext uri="{FF2B5EF4-FFF2-40B4-BE49-F238E27FC236}">
                <a16:creationId xmlns:a16="http://schemas.microsoft.com/office/drawing/2014/main" id="{784884A8-C2F0-401B-84D3-E4BF46564166}"/>
              </a:ext>
            </a:extLst>
          </p:cNvPr>
          <p:cNvSpPr>
            <a:spLocks xmlns:a="http://schemas.openxmlformats.org/drawingml/2006/main" noGrp="1"/>
          </p:cNvSpPr>
          <p:nvPr/>
        </p:nvSpPr>
        <p:spPr>
          <a:xfrm xmlns:a="http://schemas.openxmlformats.org/drawingml/2006/main">
            <a:off x="6667500" y="14763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00857D"/>
                </a:solidFill>
                <a:latin typeface="Arial"/>
                <a:ea typeface="Arial"/>
                <a:cs typeface="Arial"/>
              </a:defRPr>
            </a:defPPr>
          </a:lstStyle>
          <a:p xmlns:a="http://schemas.openxmlformats.org/drawingml/2006/main">
            <a:pPr algn="l">
              <a:buNone/>
              <a:defRPr sz="2550" b="1">
                <a:solidFill>
                  <a:srgbClr val="00857D"/>
                </a:solidFill>
                <a:latin typeface="Arial"/>
                <a:ea typeface="Arial"/>
                <a:cs typeface="Arial"/>
              </a:defRPr>
            </a:pPr>
            <a:r>
              <a:rPr sz="2550" b="1">
                <a:solidFill>
                  <a:srgbClr val="00857D"/>
                </a:solidFill>
                <a:latin typeface="Arial"/>
                <a:ea typeface="Arial"/>
                <a:cs typeface="Arial"/>
              </a:rPr>
              <a:t>Зв’язок із рештою вузлів</a:t>
            </a:r>
          </a:p>
        </p:txBody>
      </p:sp>
      <p:sp>
        <p:nvSpPr>
          <p:cNvPr id="11" name="">
            <a:extLst xmlns:a="http://schemas.openxmlformats.org/drawingml/2006/main">
              <a:ext uri="{FF2B5EF4-FFF2-40B4-BE49-F238E27FC236}">
                <a16:creationId xmlns:a16="http://schemas.microsoft.com/office/drawing/2014/main" id="{7DAEFCCC-9C2C-4273-A559-141FC64DCDAE}"/>
              </a:ext>
            </a:extLst>
          </p:cNvPr>
          <p:cNvSpPr>
            <a:spLocks xmlns:a="http://schemas.openxmlformats.org/drawingml/2006/main" noGrp="1"/>
          </p:cNvSpPr>
          <p:nvPr/>
        </p:nvSpPr>
        <p:spPr>
          <a:xfrm xmlns:a="http://schemas.openxmlformats.org/drawingml/2006/main">
            <a:off x="1028700" y="2381250"/>
            <a:ext cx="800100" cy="800100"/>
          </a:xfrm>
          <a:prstGeom xmlns:a="http://schemas.openxmlformats.org/drawingml/2006/main" prst="ellipse">
            <a:avLst/>
          </a:prstGeom>
          <a:solidFill xmlns:a="http://schemas.openxmlformats.org/drawingml/2006/main">
            <a:srgbClr val="FBECE8"/>
          </a:solidFill>
          <a:ln xmlns:a="http://schemas.openxmlformats.org/drawingml/2006/main" w="19050">
            <a:solidFill>
              <a:srgbClr val="173047"/>
            </a:solidFill>
          </a:ln>
        </p:spPr>
      </p:sp>
      <p:sp>
        <p:nvSpPr>
          <p:cNvPr id="12" name="">
            <a:extLst xmlns:a="http://schemas.openxmlformats.org/drawingml/2006/main">
              <a:ext uri="{FF2B5EF4-FFF2-40B4-BE49-F238E27FC236}">
                <a16:creationId xmlns:a16="http://schemas.microsoft.com/office/drawing/2014/main" id="{9DAA411F-E7D0-4B43-948E-51A42D23D636}"/>
              </a:ext>
            </a:extLst>
          </p:cNvPr>
          <p:cNvSpPr>
            <a:spLocks xmlns:a="http://schemas.openxmlformats.org/drawingml/2006/main" noGrp="1"/>
          </p:cNvSpPr>
          <p:nvPr/>
        </p:nvSpPr>
        <p:spPr>
          <a:xfrm xmlns:a="http://schemas.openxmlformats.org/drawingml/2006/main">
            <a:off x="1066800" y="241935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S</a:t>
            </a:r>
          </a:p>
        </p:txBody>
      </p:sp>
      <p:sp>
        <p:nvSpPr>
          <p:cNvPr id="13" name="">
            <a:extLst xmlns:a="http://schemas.openxmlformats.org/drawingml/2006/main">
              <a:ext uri="{FF2B5EF4-FFF2-40B4-BE49-F238E27FC236}">
                <a16:creationId xmlns:a16="http://schemas.microsoft.com/office/drawing/2014/main" id="{B3911B88-EF61-47E3-BDC2-ABD802D3420D}"/>
              </a:ext>
            </a:extLst>
          </p:cNvPr>
          <p:cNvSpPr>
            <a:spLocks xmlns:a="http://schemas.openxmlformats.org/drawingml/2006/main" noGrp="1"/>
          </p:cNvSpPr>
          <p:nvPr/>
        </p:nvSpPr>
        <p:spPr>
          <a:xfrm xmlns:a="http://schemas.openxmlformats.org/drawingml/2006/main">
            <a:off x="3981450" y="2381250"/>
            <a:ext cx="800100" cy="800100"/>
          </a:xfrm>
          <a:prstGeom xmlns:a="http://schemas.openxmlformats.org/drawingml/2006/main" prst="ellipse">
            <a:avLst/>
          </a:prstGeom>
          <a:solidFill xmlns:a="http://schemas.openxmlformats.org/drawingml/2006/main">
            <a:srgbClr val="FBECE8"/>
          </a:solidFill>
          <a:ln xmlns:a="http://schemas.openxmlformats.org/drawingml/2006/main" w="19050">
            <a:solidFill>
              <a:srgbClr val="173047"/>
            </a:solidFill>
          </a:ln>
        </p:spPr>
      </p:sp>
      <p:sp>
        <p:nvSpPr>
          <p:cNvPr id="14" name="">
            <a:extLst xmlns:a="http://schemas.openxmlformats.org/drawingml/2006/main">
              <a:ext uri="{FF2B5EF4-FFF2-40B4-BE49-F238E27FC236}">
                <a16:creationId xmlns:a16="http://schemas.microsoft.com/office/drawing/2014/main" id="{0B681953-48CE-4770-84C9-4FC58D51CDF1}"/>
              </a:ext>
            </a:extLst>
          </p:cNvPr>
          <p:cNvSpPr>
            <a:spLocks xmlns:a="http://schemas.openxmlformats.org/drawingml/2006/main" noGrp="1"/>
          </p:cNvSpPr>
          <p:nvPr/>
        </p:nvSpPr>
        <p:spPr>
          <a:xfrm xmlns:a="http://schemas.openxmlformats.org/drawingml/2006/main">
            <a:off x="4019550" y="241935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A</a:t>
            </a:r>
          </a:p>
        </p:txBody>
      </p:sp>
      <p:sp>
        <p:nvSpPr>
          <p:cNvPr id="16" name="">
            <a:extLst xmlns:a="http://schemas.openxmlformats.org/drawingml/2006/main">
              <a:ext uri="{FF2B5EF4-FFF2-40B4-BE49-F238E27FC236}">
                <a16:creationId xmlns:a16="http://schemas.microsoft.com/office/drawing/2014/main" id="{3BA044F2-7284-432B-865B-11BA8871BC22}"/>
              </a:ext>
            </a:extLst>
          </p:cNvPr>
          <p:cNvSpPr>
            <a:spLocks xmlns:a="http://schemas.openxmlformats.org/drawingml/2006/main" noGrp="1"/>
          </p:cNvSpPr>
          <p:nvPr/>
        </p:nvSpPr>
        <p:spPr>
          <a:xfrm xmlns:a="http://schemas.openxmlformats.org/drawingml/2006/main">
            <a:off x="1143000" y="3486150"/>
            <a:ext cx="4714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B64436"/>
                </a:solidFill>
                <a:latin typeface="Arial"/>
                <a:ea typeface="Arial"/>
                <a:cs typeface="Arial"/>
              </a:defRPr>
            </a:defPPr>
          </a:lstStyle>
          <a:p xmlns:a="http://schemas.openxmlformats.org/drawingml/2006/main">
            <a:pPr algn="l">
              <a:buNone/>
              <a:defRPr sz="2250" b="0">
                <a:solidFill>
                  <a:srgbClr val="B64436"/>
                </a:solidFill>
                <a:latin typeface="Arial"/>
                <a:ea typeface="Arial"/>
                <a:cs typeface="Arial"/>
              </a:defRPr>
            </a:pPr>
            <a:r>
              <a:rPr sz="2250" b="0">
                <a:solidFill>
                  <a:srgbClr val="B64436"/>
                </a:solidFill>
                <a:latin typeface="Arial"/>
                <a:ea typeface="Arial"/>
                <a:cs typeface="Arial"/>
              </a:rPr>
              <a:t>Дві внутрішні дуги</a:t>
            </a:r>
          </a:p>
        </p:txBody>
      </p:sp>
      <p:sp>
        <p:nvSpPr>
          <p:cNvPr id="17" name="">
            <a:extLst xmlns:a="http://schemas.openxmlformats.org/drawingml/2006/main">
              <a:ext uri="{FF2B5EF4-FFF2-40B4-BE49-F238E27FC236}">
                <a16:creationId xmlns:a16="http://schemas.microsoft.com/office/drawing/2014/main" id="{10EE31D1-440D-407F-B4BB-0F904A52583B}"/>
              </a:ext>
            </a:extLst>
          </p:cNvPr>
          <p:cNvSpPr>
            <a:spLocks xmlns:a="http://schemas.openxmlformats.org/drawingml/2006/main" noGrp="1"/>
          </p:cNvSpPr>
          <p:nvPr/>
        </p:nvSpPr>
        <p:spPr>
          <a:xfrm xmlns:a="http://schemas.openxmlformats.org/drawingml/2006/main">
            <a:off x="6696075" y="238125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18" name="">
            <a:extLst xmlns:a="http://schemas.openxmlformats.org/drawingml/2006/main">
              <a:ext uri="{FF2B5EF4-FFF2-40B4-BE49-F238E27FC236}">
                <a16:creationId xmlns:a16="http://schemas.microsoft.com/office/drawing/2014/main" id="{BA53ACEA-566F-4C98-A74F-194DDE21DE27}"/>
              </a:ext>
            </a:extLst>
          </p:cNvPr>
          <p:cNvSpPr>
            <a:spLocks xmlns:a="http://schemas.openxmlformats.org/drawingml/2006/main" noGrp="1"/>
          </p:cNvSpPr>
          <p:nvPr/>
        </p:nvSpPr>
        <p:spPr>
          <a:xfrm xmlns:a="http://schemas.openxmlformats.org/drawingml/2006/main">
            <a:off x="6734175" y="241935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S</a:t>
            </a:r>
          </a:p>
        </p:txBody>
      </p:sp>
      <p:sp>
        <p:nvSpPr>
          <p:cNvPr id="19" name="">
            <a:extLst xmlns:a="http://schemas.openxmlformats.org/drawingml/2006/main">
              <a:ext uri="{FF2B5EF4-FFF2-40B4-BE49-F238E27FC236}">
                <a16:creationId xmlns:a16="http://schemas.microsoft.com/office/drawing/2014/main" id="{69E241AC-22B1-42EB-976C-D487935DCDAD}"/>
              </a:ext>
            </a:extLst>
          </p:cNvPr>
          <p:cNvSpPr>
            <a:spLocks xmlns:a="http://schemas.openxmlformats.org/drawingml/2006/main" noGrp="1"/>
          </p:cNvSpPr>
          <p:nvPr/>
        </p:nvSpPr>
        <p:spPr>
          <a:xfrm xmlns:a="http://schemas.openxmlformats.org/drawingml/2006/main">
            <a:off x="8839200" y="238125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20" name="">
            <a:extLst xmlns:a="http://schemas.openxmlformats.org/drawingml/2006/main">
              <a:ext uri="{FF2B5EF4-FFF2-40B4-BE49-F238E27FC236}">
                <a16:creationId xmlns:a16="http://schemas.microsoft.com/office/drawing/2014/main" id="{841C263F-532A-42D7-BDF2-E8E52132CE2D}"/>
              </a:ext>
            </a:extLst>
          </p:cNvPr>
          <p:cNvSpPr>
            <a:spLocks xmlns:a="http://schemas.openxmlformats.org/drawingml/2006/main" noGrp="1"/>
          </p:cNvSpPr>
          <p:nvPr/>
        </p:nvSpPr>
        <p:spPr>
          <a:xfrm xmlns:a="http://schemas.openxmlformats.org/drawingml/2006/main">
            <a:off x="8877300" y="241935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550" b="1">
                <a:solidFill>
                  <a:srgbClr val="173047"/>
                </a:solidFill>
                <a:latin typeface="Arial"/>
                <a:ea typeface="Arial"/>
                <a:cs typeface="Arial"/>
              </a:defRPr>
            </a:defPPr>
          </a:lstStyle>
          <a:p xmlns:a="http://schemas.openxmlformats.org/drawingml/2006/main">
            <a:pPr algn="ctr">
              <a:buNone/>
              <a:defRPr sz="2550" b="1">
                <a:solidFill>
                  <a:srgbClr val="173047"/>
                </a:solidFill>
                <a:latin typeface="Arial"/>
                <a:ea typeface="Arial"/>
                <a:cs typeface="Arial"/>
              </a:defRPr>
            </a:pPr>
            <a:r>
              <a:rPr sz="2550" b="1">
                <a:solidFill>
                  <a:srgbClr val="173047"/>
                </a:solidFill>
                <a:latin typeface="Arial"/>
                <a:ea typeface="Arial"/>
                <a:cs typeface="Arial"/>
              </a:rPr>
              <a:t>A</a:t>
            </a:r>
          </a:p>
        </p:txBody>
      </p:sp>
      <p:sp>
        <p:nvSpPr>
          <p:cNvPr id="21" name="">
            <a:extLst xmlns:a="http://schemas.openxmlformats.org/drawingml/2006/main">
              <a:ext uri="{FF2B5EF4-FFF2-40B4-BE49-F238E27FC236}">
                <a16:creationId xmlns:a16="http://schemas.microsoft.com/office/drawing/2014/main" id="{8FC9AB3A-1F2B-490D-9A59-7F834AD88EF8}"/>
              </a:ext>
            </a:extLst>
          </p:cNvPr>
          <p:cNvSpPr>
            <a:spLocks xmlns:a="http://schemas.openxmlformats.org/drawingml/2006/main" noGrp="1"/>
          </p:cNvSpPr>
          <p:nvPr/>
        </p:nvSpPr>
        <p:spPr>
          <a:xfrm xmlns:a="http://schemas.openxmlformats.org/drawingml/2006/main">
            <a:off x="10001250" y="3781425"/>
            <a:ext cx="1381125" cy="990600"/>
          </a:xfrm>
          <a:prstGeom xmlns:a="http://schemas.openxmlformats.org/drawingml/2006/main" prst="rect">
            <a:avLst/>
          </a:prstGeom>
          <a:solidFill xmlns:a="http://schemas.openxmlformats.org/drawingml/2006/main">
            <a:srgbClr val="F1F5F8"/>
          </a:solidFill>
          <a:ln xmlns:a="http://schemas.openxmlformats.org/drawingml/2006/main" w="19050">
            <a:solidFill>
              <a:srgbClr val="CDD8E1"/>
            </a:solidFill>
          </a:ln>
        </p:spPr>
      </p:sp>
      <p:sp>
        <p:nvSpPr>
          <p:cNvPr id="22" name="">
            <a:extLst xmlns:a="http://schemas.openxmlformats.org/drawingml/2006/main">
              <a:ext uri="{FF2B5EF4-FFF2-40B4-BE49-F238E27FC236}">
                <a16:creationId xmlns:a16="http://schemas.microsoft.com/office/drawing/2014/main" id="{401A05E5-FB2F-4027-A321-65481D5B9BEE}"/>
              </a:ext>
            </a:extLst>
          </p:cNvPr>
          <p:cNvSpPr>
            <a:spLocks xmlns:a="http://schemas.openxmlformats.org/drawingml/2006/main" noGrp="1"/>
          </p:cNvSpPr>
          <p:nvPr/>
        </p:nvSpPr>
        <p:spPr>
          <a:xfrm xmlns:a="http://schemas.openxmlformats.org/drawingml/2006/main">
            <a:off x="10153650" y="3857625"/>
            <a:ext cx="1076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73047"/>
                </a:solidFill>
                <a:latin typeface="Arial"/>
                <a:ea typeface="Arial"/>
                <a:cs typeface="Arial"/>
              </a:defRPr>
            </a:defPPr>
          </a:lstStyle>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Інші</a:t>
            </a:r>
          </a:p>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вузли</a:t>
            </a:r>
          </a:p>
        </p:txBody>
      </p:sp>
      <p:sp>
        <p:nvSpPr>
          <p:cNvPr id="25" name="">
            <a:extLst xmlns:a="http://schemas.openxmlformats.org/drawingml/2006/main">
              <a:ext uri="{FF2B5EF4-FFF2-40B4-BE49-F238E27FC236}">
                <a16:creationId xmlns:a16="http://schemas.microsoft.com/office/drawing/2014/main" id="{FDC2B44E-B78D-4330-AA0D-25ABEE29128E}"/>
              </a:ext>
            </a:extLst>
          </p:cNvPr>
          <p:cNvSpPr>
            <a:spLocks xmlns:a="http://schemas.openxmlformats.org/drawingml/2006/main" noGrp="1"/>
          </p:cNvSpPr>
          <p:nvPr/>
        </p:nvSpPr>
        <p:spPr>
          <a:xfrm xmlns:a="http://schemas.openxmlformats.org/drawingml/2006/main">
            <a:off x="6743700" y="3467100"/>
            <a:ext cx="309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00857D"/>
                </a:solidFill>
                <a:latin typeface="Arial"/>
                <a:ea typeface="Arial"/>
                <a:cs typeface="Arial"/>
              </a:defRPr>
            </a:defPPr>
          </a:lstStyle>
          <a:p xmlns:a="http://schemas.openxmlformats.org/drawingml/2006/main">
            <a:pPr algn="l">
              <a:buNone/>
              <a:defRPr sz="2175" b="0">
                <a:solidFill>
                  <a:srgbClr val="00857D"/>
                </a:solidFill>
                <a:latin typeface="Arial"/>
                <a:ea typeface="Arial"/>
                <a:cs typeface="Arial"/>
              </a:defRPr>
            </a:pPr>
            <a:r>
              <a:rPr sz="2175" b="0">
                <a:solidFill>
                  <a:srgbClr val="00857D"/>
                </a:solidFill>
                <a:latin typeface="Arial"/>
                <a:ea typeface="Arial"/>
                <a:cs typeface="Arial"/>
              </a:rPr>
              <a:t>Щонайбільше одна</a:t>
            </a:r>
          </a:p>
        </p:txBody>
      </p:sp>
      <p:sp>
        <p:nvSpPr>
          <p:cNvPr id="26" name="">
            <a:extLst xmlns:a="http://schemas.openxmlformats.org/drawingml/2006/main">
              <a:ext uri="{FF2B5EF4-FFF2-40B4-BE49-F238E27FC236}">
                <a16:creationId xmlns:a16="http://schemas.microsoft.com/office/drawing/2014/main" id="{5AAC6F87-3D34-4F17-B90A-C7E1E0E736A8}"/>
              </a:ext>
            </a:extLst>
          </p:cNvPr>
          <p:cNvSpPr>
            <a:spLocks xmlns:a="http://schemas.openxmlformats.org/drawingml/2006/main" noGrp="1"/>
          </p:cNvSpPr>
          <p:nvPr/>
        </p:nvSpPr>
        <p:spPr>
          <a:xfrm xmlns:a="http://schemas.openxmlformats.org/drawingml/2006/main">
            <a:off x="762000" y="47529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525" b="1">
                <a:solidFill>
                  <a:srgbClr val="00857D"/>
                </a:solidFill>
                <a:latin typeface="Arial"/>
                <a:ea typeface="Arial"/>
                <a:cs typeface="Arial"/>
              </a:defRPr>
            </a:defPPr>
          </a:lstStyle>
          <a:p xmlns:a="http://schemas.openxmlformats.org/drawingml/2006/main">
            <a:pPr algn="ctr">
              <a:buNone/>
              <a:defRPr sz="3525" b="1">
                <a:solidFill>
                  <a:srgbClr val="00857D"/>
                </a:solidFill>
                <a:latin typeface="Arial"/>
                <a:ea typeface="Arial"/>
                <a:cs typeface="Arial"/>
              </a:defRPr>
            </a:pPr>
            <a:r>
              <a:rPr sz="3525" b="1">
                <a:solidFill>
                  <a:srgbClr val="00857D"/>
                </a:solidFill>
                <a:latin typeface="Arial"/>
                <a:ea typeface="Arial"/>
                <a:cs typeface="Arial"/>
              </a:rPr>
              <a:t>x(S,A) + x(A,S) ≤ 1</a:t>
            </a:r>
          </a:p>
        </p:txBody>
      </p:sp>
      <p:sp>
        <p:nvSpPr>
          <p:cNvPr id="27" name="">
            <a:extLst xmlns:a="http://schemas.openxmlformats.org/drawingml/2006/main">
              <a:ext uri="{FF2B5EF4-FFF2-40B4-BE49-F238E27FC236}">
                <a16:creationId xmlns:a16="http://schemas.microsoft.com/office/drawing/2014/main" id="{CDE87E88-0FE3-4CC4-BF27-135473769BDB}"/>
              </a:ext>
            </a:extLst>
          </p:cNvPr>
          <p:cNvSpPr>
            <a:spLocks xmlns:a="http://schemas.openxmlformats.org/drawingml/2006/main" noGrp="1"/>
          </p:cNvSpPr>
          <p:nvPr/>
        </p:nvSpPr>
        <p:spPr>
          <a:xfrm xmlns:a="http://schemas.openxmlformats.org/drawingml/2006/main">
            <a:off x="762000" y="55340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66779"/>
                </a:solidFill>
                <a:latin typeface="Arial"/>
                <a:ea typeface="Arial"/>
                <a:cs typeface="Arial"/>
              </a:defRPr>
            </a:defPPr>
          </a:lstStyle>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Усі справжні TSP-маршрути зберігаються</a:t>
            </a:r>
          </a:p>
        </p:txBody>
      </p:sp>
    </p:spTree>
    <p:extLst>
      <p:ext uri="{BB962C8B-B14F-4D97-AF65-F5344CB8AC3E}">
        <p14:creationId xmlns:p14="http://schemas.microsoft.com/office/powerpoint/2010/main" val="116207907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4B6676-0E13-44C2-BEDA-7066BCFAC03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Загальна модель TSP</a:t>
            </a:r>
          </a:p>
        </p:txBody>
      </p:sp>
      <p:sp>
        <p:nvSpPr>
          <p:cNvPr id="2" name="">
            <a:extLst xmlns:a="http://schemas.openxmlformats.org/drawingml/2006/main">
              <a:ext uri="{FF2B5EF4-FFF2-40B4-BE49-F238E27FC236}">
                <a16:creationId xmlns:a16="http://schemas.microsoft.com/office/drawing/2014/main" id="{3A098E86-239C-48B8-9FC4-274A6AEEFE4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Зв’язність забезпечують умови для підмножин вузлів.</a:t>
            </a:r>
          </a:p>
        </p:txBody>
      </p:sp>
      <p:sp>
        <p:nvSpPr>
          <p:cNvPr id="3" name="">
            <a:extLst xmlns:a="http://schemas.openxmlformats.org/drawingml/2006/main">
              <a:ext uri="{FF2B5EF4-FFF2-40B4-BE49-F238E27FC236}">
                <a16:creationId xmlns:a16="http://schemas.microsoft.com/office/drawing/2014/main" id="{52407B4B-54CC-46DE-9DE0-9DFC709FA2E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44</a:t>
            </a:r>
          </a:p>
        </p:txBody>
      </p:sp>
      <p:graphicFrame>
        <p:nvGraphicFramePr>
          <p:cNvPr id="4" name="">
            <a:extLst xmlns:a="http://schemas.openxmlformats.org/drawingml/2006/main">
              <a:ext uri="{FF2B5EF4-FFF2-40B4-BE49-F238E27FC236}">
                <a16:creationId xmlns:a16="http://schemas.microsoft.com/office/drawing/2014/main" id="{E76D4E9C-8DC2-4BCF-A143-42C8E97D80FB}"/>
              </a:ext>
            </a:extLst>
          </p:cNvPr>
          <p:cNvGraphicFramePr/>
          <p:nvPr/>
        </p:nvGraphicFramePr>
        <p:xfrm>
          <a:off xmlns:a="http://schemas.openxmlformats.org/drawingml/2006/main" x="762000" y="1485900"/>
          <a:ext xmlns:a="http://schemas.openxmlformats.org/drawingml/2006/main" cx="10668000" cy="3857625"/>
        </p:xfrm>
        <a:graphic xmlns:a="http://schemas.openxmlformats.org/drawingml/2006/main">
          <a:graphicData uri="http://schemas.openxmlformats.org/drawingml/2006/table">
            <a:tbl>
              <a:tblPr/>
              <a:tblGrid>
                <a:gridCol w="2476500"/>
                <a:gridCol w="8191500"/>
              </a:tblGrid>
              <a:tr h="642938">
                <a:tc>
                  <a:txBody>
                    <a:bodyPr/>
                    <a:lstStyle/>
                    <a:p>
                      <a:r>
                        <a:rPr sz="2175" b="1">
                          <a:solidFill>
                            <a:srgbClr val="FFFFFF"/>
                          </a:solidFill>
                          <a:latin typeface="Arial"/>
                          <a:ea typeface="Arial"/>
                          <a:cs typeface="Arial"/>
                        </a:rPr>
                        <a:t>Частина</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Загальна умова</a:t>
                      </a:r>
                    </a:p>
                  </a:txBody>
                  <a:tcPr marL="114300" marR="114300" marT="66675" marB="66675" anchor="ctr">
                    <a:solidFill>
                      <a:srgbClr val="173047"/>
                    </a:solidFill>
                  </a:tcPr>
                </a:tc>
              </a:tr>
              <a:tr h="642938">
                <a:tc>
                  <a:txBody>
                    <a:bodyPr/>
                    <a:lstStyle/>
                    <a:p>
                      <a:r>
                        <a:rPr sz="2175">
                          <a:solidFill>
                            <a:srgbClr val="173047"/>
                          </a:solidFill>
                          <a:latin typeface="Arial"/>
                          <a:ea typeface="Arial"/>
                          <a:cs typeface="Arial"/>
                        </a:rPr>
                        <a:t>Ціль</a:t>
                      </a:r>
                    </a:p>
                  </a:txBody>
                  <a:tcPr marL="114300" marR="114300" marT="66675" marB="66675" anchor="ctr">
                    <a:solidFill>
                      <a:srgbClr val="FFFFFF"/>
                    </a:solidFill>
                  </a:tcPr>
                </a:tc>
                <a:tc>
                  <a:txBody>
                    <a:bodyPr/>
                    <a:lstStyle/>
                    <a:p>
                      <a:r>
                        <a:rPr sz="2175">
                          <a:solidFill>
                            <a:srgbClr val="173047"/>
                          </a:solidFill>
                          <a:latin typeface="Arial"/>
                          <a:ea typeface="Arial"/>
                          <a:cs typeface="Arial"/>
                        </a:rPr>
                        <a:t>min C = сума c(i,j)·x(i,j) за всіма дугами</a:t>
                      </a:r>
                    </a:p>
                  </a:txBody>
                  <a:tcPr marL="114300" marR="114300" marT="66675" marB="66675" anchor="ctr">
                    <a:solidFill>
                      <a:srgbClr val="FFFFFF"/>
                    </a:solidFill>
                  </a:tcPr>
                </a:tc>
              </a:tr>
              <a:tr h="642938">
                <a:tc>
                  <a:txBody>
                    <a:bodyPr/>
                    <a:lstStyle/>
                    <a:p>
                      <a:r>
                        <a:rPr sz="2175">
                          <a:solidFill>
                            <a:srgbClr val="173047"/>
                          </a:solidFill>
                          <a:latin typeface="Arial"/>
                          <a:ea typeface="Arial"/>
                          <a:cs typeface="Arial"/>
                        </a:rPr>
                        <a:t>Вихід</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Для кожного i: сума x(i,j) за j ≠ i = 1</a:t>
                      </a:r>
                    </a:p>
                  </a:txBody>
                  <a:tcPr marL="114300" marR="114300" marT="66675" marB="66675" anchor="ctr">
                    <a:solidFill>
                      <a:srgbClr val="F1F5F8"/>
                    </a:solidFill>
                  </a:tcPr>
                </a:tc>
              </a:tr>
              <a:tr h="642938">
                <a:tc>
                  <a:txBody>
                    <a:bodyPr/>
                    <a:lstStyle/>
                    <a:p>
                      <a:r>
                        <a:rPr sz="2175">
                          <a:solidFill>
                            <a:srgbClr val="173047"/>
                          </a:solidFill>
                          <a:latin typeface="Arial"/>
                          <a:ea typeface="Arial"/>
                          <a:cs typeface="Arial"/>
                        </a:rPr>
                        <a:t>Вхід</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Для кожного j: сума x(i,j) за i ≠ j = 1</a:t>
                      </a:r>
                    </a:p>
                  </a:txBody>
                  <a:tcPr marL="114300" marR="114300" marT="66675" marB="66675" anchor="ctr">
                    <a:solidFill>
                      <a:srgbClr val="FFFFFF"/>
                    </a:solidFill>
                  </a:tcPr>
                </a:tc>
              </a:tr>
              <a:tr h="642938">
                <a:tc>
                  <a:txBody>
                    <a:bodyPr/>
                    <a:lstStyle/>
                    <a:p>
                      <a:r>
                        <a:rPr sz="2175">
                          <a:solidFill>
                            <a:srgbClr val="173047"/>
                          </a:solidFill>
                          <a:latin typeface="Arial"/>
                          <a:ea typeface="Arial"/>
                          <a:cs typeface="Arial"/>
                        </a:rPr>
                        <a:t>Підцикли</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Для кожного Q: внутрішніх дуг ≤ |Q|−1</a:t>
                      </a:r>
                    </a:p>
                  </a:txBody>
                  <a:tcPr marL="114300" marR="114300" marT="66675" marB="66675" anchor="ctr">
                    <a:solidFill>
                      <a:srgbClr val="F1F5F8"/>
                    </a:solidFill>
                  </a:tcPr>
                </a:tc>
              </a:tr>
              <a:tr h="642938">
                <a:tc>
                  <a:txBody>
                    <a:bodyPr/>
                    <a:lstStyle/>
                    <a:p>
                      <a:r>
                        <a:rPr sz="2175">
                          <a:solidFill>
                            <a:srgbClr val="173047"/>
                          </a:solidFill>
                          <a:latin typeface="Arial"/>
                          <a:ea typeface="Arial"/>
                          <a:cs typeface="Arial"/>
                        </a:rPr>
                        <a:t>Тип</a:t>
                      </a:r>
                    </a:p>
                  </a:txBody>
                  <a:tcPr marL="114300" marR="114300" marT="66675" marB="66675" anchor="ctr">
                    <a:solidFill>
                      <a:srgbClr val="FFFFFF"/>
                    </a:solidFill>
                  </a:tcPr>
                </a:tc>
                <a:tc>
                  <a:txBody>
                    <a:bodyPr/>
                    <a:lstStyle/>
                    <a:p>
                      <a:r>
                        <a:rPr sz="2175">
                          <a:solidFill>
                            <a:srgbClr val="173047"/>
                          </a:solidFill>
                          <a:latin typeface="Arial"/>
                          <a:ea typeface="Arial"/>
                          <a:cs typeface="Arial"/>
                        </a:rPr>
                        <a:t>x(i,j) ∈ {0,1},  i ≠ j</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92CD878-6108-4D43-A804-A5CDE3403A04}"/>
              </a:ext>
            </a:extLst>
          </p:cNvPr>
          <p:cNvSpPr>
            <a:spLocks xmlns:a="http://schemas.openxmlformats.org/drawingml/2006/main" noGrp="1"/>
          </p:cNvSpPr>
          <p:nvPr/>
        </p:nvSpPr>
        <p:spPr>
          <a:xfrm xmlns:a="http://schemas.openxmlformats.org/drawingml/2006/main">
            <a:off x="762000" y="5514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66779"/>
                </a:solidFill>
                <a:latin typeface="Arial"/>
                <a:ea typeface="Arial"/>
                <a:cs typeface="Arial"/>
              </a:defRPr>
            </a:defPPr>
          </a:lstStyle>
          <a:p xmlns:a="http://schemas.openxmlformats.org/drawingml/2006/main">
            <a:pPr algn="l">
              <a:buNone/>
              <a:defRPr sz="2025" b="0">
                <a:solidFill>
                  <a:srgbClr val="566779"/>
                </a:solidFill>
                <a:latin typeface="Arial"/>
                <a:ea typeface="Arial"/>
                <a:cs typeface="Arial"/>
              </a:defRPr>
            </a:pPr>
            <a:r>
              <a:rPr sz="2025" b="0">
                <a:solidFill>
                  <a:srgbClr val="566779"/>
                </a:solidFill>
                <a:latin typeface="Arial"/>
                <a:ea typeface="Arial"/>
                <a:cs typeface="Arial"/>
              </a:rPr>
              <a:t>Q — будь-яка група від 2 до n−1 вузлів.</a:t>
            </a:r>
          </a:p>
        </p:txBody>
      </p:sp>
    </p:spTree>
    <p:extLst>
      <p:ext uri="{BB962C8B-B14F-4D97-AF65-F5344CB8AC3E}">
        <p14:creationId xmlns:p14="http://schemas.microsoft.com/office/powerpoint/2010/main" val="730546391"/>
      </p:ext>
    </p:extLst>
  </p:cSld>
</p:sld>
</file>

<file path=ppt/slides/slide45.xml><?xml version="1.0" encoding="utf-8"?>
<p:sld xmlns:p="http://schemas.openxmlformats.org/presentationml/2006/main">
  <p:cSld>
    <p:bg>
      <p:bgPr>
        <a:solidFill xmlns:a="http://schemas.openxmlformats.org/drawingml/2006/main">
          <a:srgbClr val="17304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B580765-1BB9-43E1-B2E3-D3A4E05E205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buNone/>
              <a:defRPr sz="1350" b="0">
                <a:solidFill>
                  <a:srgbClr val="FFFFFF"/>
                </a:solidFill>
                <a:latin typeface="Arial"/>
                <a:ea typeface="Arial"/>
                <a:cs typeface="Arial"/>
              </a:defRPr>
            </a:pPr>
            <a:r>
              <a:t>45</a:t>
            </a:r>
          </a:p>
        </p:txBody>
      </p:sp>
      <p:sp>
        <p:nvSpPr>
          <p:cNvPr id="2" name="">
            <a:extLst xmlns:a="http://schemas.openxmlformats.org/drawingml/2006/main">
              <a:ext uri="{FF2B5EF4-FFF2-40B4-BE49-F238E27FC236}">
                <a16:creationId xmlns:a16="http://schemas.microsoft.com/office/drawing/2014/main" id="{77880249-B9CA-49FE-A237-985801180B0C}"/>
              </a:ext>
            </a:extLst>
          </p:cNvPr>
          <p:cNvSpPr>
            <a:spLocks xmlns:a="http://schemas.openxmlformats.org/drawingml/2006/main" noGrp="1"/>
          </p:cNvSpPr>
          <p:nvPr/>
        </p:nvSpPr>
        <p:spPr>
          <a:xfrm xmlns:a="http://schemas.openxmlformats.org/drawingml/2006/main">
            <a:off x="762000" y="16192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250" b="1">
                <a:solidFill>
                  <a:srgbClr val="FFFFFF"/>
                </a:solidFill>
                <a:latin typeface="Arial"/>
                <a:ea typeface="Arial"/>
                <a:cs typeface="Arial"/>
              </a:defRPr>
            </a:defPPr>
          </a:lstStyle>
          <a:p xmlns:a="http://schemas.openxmlformats.org/drawingml/2006/main">
            <a:pPr algn="l">
              <a:buNone/>
              <a:defRPr sz="5250" b="1">
                <a:solidFill>
                  <a:srgbClr val="FFFFFF"/>
                </a:solidFill>
                <a:latin typeface="Arial"/>
                <a:ea typeface="Arial"/>
                <a:cs typeface="Arial"/>
              </a:defRPr>
            </a:pPr>
            <a:r>
              <a:rPr sz="5250" b="1">
                <a:solidFill>
                  <a:srgbClr val="FFFFFF"/>
                </a:solidFill>
                <a:latin typeface="Arial"/>
                <a:ea typeface="Arial"/>
                <a:cs typeface="Arial"/>
              </a:rPr>
              <a:t>Алгоритм Літтла</a:t>
            </a:r>
          </a:p>
        </p:txBody>
      </p:sp>
      <p:sp>
        <p:nvSpPr>
          <p:cNvPr id="3" name="">
            <a:extLst xmlns:a="http://schemas.openxmlformats.org/drawingml/2006/main">
              <a:ext uri="{FF2B5EF4-FFF2-40B4-BE49-F238E27FC236}">
                <a16:creationId xmlns:a16="http://schemas.microsoft.com/office/drawing/2014/main" id="{2B72916F-FEE6-4371-9D67-85C0E5F79F94}"/>
              </a:ext>
            </a:extLst>
          </p:cNvPr>
          <p:cNvSpPr>
            <a:spLocks xmlns:a="http://schemas.openxmlformats.org/drawingml/2006/main" noGrp="1"/>
          </p:cNvSpPr>
          <p:nvPr/>
        </p:nvSpPr>
        <p:spPr>
          <a:xfrm xmlns:a="http://schemas.openxmlformats.org/drawingml/2006/main">
            <a:off x="762000" y="3905250"/>
            <a:ext cx="10668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0">
                <a:solidFill>
                  <a:srgbClr val="FFFFFF"/>
                </a:solidFill>
                <a:latin typeface="Arial"/>
                <a:ea typeface="Arial"/>
                <a:cs typeface="Arial"/>
              </a:defRPr>
            </a:defPPr>
          </a:lstStyle>
          <a:p xmlns:a="http://schemas.openxmlformats.org/drawingml/2006/main">
            <a:pPr algn="l">
              <a:buNone/>
              <a:defRPr sz="2850" b="0">
                <a:solidFill>
                  <a:srgbClr val="FFFFFF"/>
                </a:solidFill>
                <a:latin typeface="Arial"/>
                <a:ea typeface="Arial"/>
                <a:cs typeface="Arial"/>
              </a:defRPr>
            </a:pPr>
            <a:r>
              <a:rPr sz="2850" b="0">
                <a:solidFill>
                  <a:srgbClr val="FFFFFF"/>
                </a:solidFill>
                <a:latin typeface="Arial"/>
                <a:ea typeface="Arial"/>
                <a:cs typeface="Arial"/>
              </a:rPr>
              <a:t>Матриці, оцінки та дерево гілок</a:t>
            </a:r>
          </a:p>
          <a:p xmlns:a="http://schemas.openxmlformats.org/drawingml/2006/main">
            <a:pPr algn="l">
              <a:buNone/>
              <a:defRPr sz="2850" b="0">
                <a:solidFill>
                  <a:srgbClr val="FFFFFF"/>
                </a:solidFill>
                <a:latin typeface="Arial"/>
                <a:ea typeface="Arial"/>
                <a:cs typeface="Arial"/>
              </a:defRPr>
            </a:pPr>
            <a:r>
              <a:rPr sz="2850" b="0">
                <a:solidFill>
                  <a:srgbClr val="FFFFFF"/>
                </a:solidFill>
                <a:latin typeface="Arial"/>
                <a:ea typeface="Arial"/>
                <a:cs typeface="Arial"/>
              </a:rPr>
              <a:t>для тих самих шести ІТ-майданчиків</a:t>
            </a:r>
          </a:p>
        </p:txBody>
      </p:sp>
    </p:spTree>
    <p:extLst>
      <p:ext uri="{BB962C8B-B14F-4D97-AF65-F5344CB8AC3E}">
        <p14:creationId xmlns:p14="http://schemas.microsoft.com/office/powerpoint/2010/main" val="89901701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16183A-C33C-4845-B85B-7B9191983E05}"/>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Дві оцінки для задачі комівояжера</a:t>
            </a:r>
          </a:p>
        </p:txBody>
      </p:sp>
      <p:sp>
        <p:nvSpPr>
          <p:cNvPr id="2" name="">
            <a:extLst xmlns:a="http://schemas.openxmlformats.org/drawingml/2006/main">
              <a:ext uri="{FF2B5EF4-FFF2-40B4-BE49-F238E27FC236}">
                <a16:creationId xmlns:a16="http://schemas.microsoft.com/office/drawing/2014/main" id="{6A20D642-17A1-4BA4-9BA9-3A436AE37A4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L ≤ вартість будь-якого туру в гілці. U — вартість уже знайденого туру.</a:t>
            </a:r>
          </a:p>
        </p:txBody>
      </p:sp>
      <p:sp>
        <p:nvSpPr>
          <p:cNvPr id="3" name="">
            <a:extLst xmlns:a="http://schemas.openxmlformats.org/drawingml/2006/main">
              <a:ext uri="{FF2B5EF4-FFF2-40B4-BE49-F238E27FC236}">
                <a16:creationId xmlns:a16="http://schemas.microsoft.com/office/drawing/2014/main" id="{17562D76-C037-48BD-A914-573E9022D0C2}"/>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46</a:t>
            </a:r>
          </a:p>
        </p:txBody>
      </p:sp>
      <p:sp>
        <p:nvSpPr>
          <p:cNvPr id="4" name="">
            <a:extLst xmlns:a="http://schemas.openxmlformats.org/drawingml/2006/main">
              <a:ext uri="{FF2B5EF4-FFF2-40B4-BE49-F238E27FC236}">
                <a16:creationId xmlns:a16="http://schemas.microsoft.com/office/drawing/2014/main" id="{6B675F86-FA76-4356-B5B9-01D3E2A90EA9}"/>
              </a:ext>
            </a:extLst>
          </p:cNvPr>
          <p:cNvSpPr>
            <a:spLocks xmlns:a="http://schemas.openxmlformats.org/drawingml/2006/main" noGrp="1"/>
          </p:cNvSpPr>
          <p:nvPr/>
        </p:nvSpPr>
        <p:spPr>
          <a:xfrm xmlns:a="http://schemas.openxmlformats.org/drawingml/2006/main">
            <a:off x="762000" y="1724025"/>
            <a:ext cx="4667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225" b="1">
                <a:solidFill>
                  <a:srgbClr val="2868AF"/>
                </a:solidFill>
                <a:latin typeface="Arial"/>
                <a:ea typeface="Arial"/>
                <a:cs typeface="Arial"/>
              </a:defRPr>
            </a:defPPr>
          </a:lstStyle>
          <a:p xmlns:a="http://schemas.openxmlformats.org/drawingml/2006/main">
            <a:pPr algn="l">
              <a:buNone/>
              <a:defRPr sz="6225" b="1">
                <a:solidFill>
                  <a:srgbClr val="2868AF"/>
                </a:solidFill>
                <a:latin typeface="Arial"/>
                <a:ea typeface="Arial"/>
                <a:cs typeface="Arial"/>
              </a:defRPr>
            </a:pPr>
            <a:r>
              <a:rPr sz="6225" b="1">
                <a:solidFill>
                  <a:srgbClr val="2868AF"/>
                </a:solidFill>
                <a:latin typeface="Arial"/>
                <a:ea typeface="Arial"/>
                <a:cs typeface="Arial"/>
              </a:rPr>
              <a:t>L = 12</a:t>
            </a:r>
          </a:p>
        </p:txBody>
      </p:sp>
      <p:sp>
        <p:nvSpPr>
          <p:cNvPr id="5" name="">
            <a:extLst xmlns:a="http://schemas.openxmlformats.org/drawingml/2006/main">
              <a:ext uri="{FF2B5EF4-FFF2-40B4-BE49-F238E27FC236}">
                <a16:creationId xmlns:a16="http://schemas.microsoft.com/office/drawing/2014/main" id="{9FBF87D0-3352-463D-8A20-881C516C75C9}"/>
              </a:ext>
            </a:extLst>
          </p:cNvPr>
          <p:cNvSpPr>
            <a:spLocks xmlns:a="http://schemas.openxmlformats.org/drawingml/2006/main" noGrp="1"/>
          </p:cNvSpPr>
          <p:nvPr/>
        </p:nvSpPr>
        <p:spPr>
          <a:xfrm xmlns:a="http://schemas.openxmlformats.org/drawingml/2006/main">
            <a:off x="762000" y="3114675"/>
            <a:ext cx="466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0">
                <a:solidFill>
                  <a:srgbClr val="173047"/>
                </a:solidFill>
                <a:latin typeface="Arial"/>
                <a:ea typeface="Arial"/>
                <a:cs typeface="Arial"/>
              </a:defRPr>
            </a:defPPr>
          </a:lstStyle>
          <a:p xmlns:a="http://schemas.openxmlformats.org/drawingml/2006/main">
            <a:pPr algn="l">
              <a:buNone/>
              <a:defRPr sz="2625" b="0">
                <a:solidFill>
                  <a:srgbClr val="173047"/>
                </a:solidFill>
                <a:latin typeface="Arial"/>
                <a:ea typeface="Arial"/>
                <a:cs typeface="Arial"/>
              </a:defRPr>
            </a:pPr>
            <a:r>
              <a:rPr sz="2625" b="0">
                <a:solidFill>
                  <a:srgbClr val="173047"/>
                </a:solidFill>
                <a:latin typeface="Arial"/>
                <a:ea typeface="Arial"/>
                <a:cs typeface="Arial"/>
              </a:rPr>
              <a:t>Редукція матриці</a:t>
            </a:r>
          </a:p>
          <a:p xmlns:a="http://schemas.openxmlformats.org/drawingml/2006/main">
            <a:pPr algn="l">
              <a:buNone/>
              <a:defRPr sz="2625" b="0">
                <a:solidFill>
                  <a:srgbClr val="173047"/>
                </a:solidFill>
                <a:latin typeface="Arial"/>
                <a:ea typeface="Arial"/>
                <a:cs typeface="Arial"/>
              </a:defRPr>
            </a:pPr>
            <a:r>
              <a:rPr sz="2625" b="0">
                <a:solidFill>
                  <a:srgbClr val="173047"/>
                </a:solidFill>
                <a:latin typeface="Arial"/>
                <a:ea typeface="Arial"/>
                <a:cs typeface="Arial"/>
              </a:rPr>
              <a:t>дає нижню оцінку</a:t>
            </a:r>
          </a:p>
        </p:txBody>
      </p:sp>
      <p:sp>
        <p:nvSpPr>
          <p:cNvPr id="6" name="">
            <a:extLst xmlns:a="http://schemas.openxmlformats.org/drawingml/2006/main">
              <a:ext uri="{FF2B5EF4-FFF2-40B4-BE49-F238E27FC236}">
                <a16:creationId xmlns:a16="http://schemas.microsoft.com/office/drawing/2014/main" id="{477399E6-6BC5-4FF7-A493-76FDC21A3860}"/>
              </a:ext>
            </a:extLst>
          </p:cNvPr>
          <p:cNvSpPr>
            <a:spLocks xmlns:a="http://schemas.openxmlformats.org/drawingml/2006/main" noGrp="1"/>
          </p:cNvSpPr>
          <p:nvPr/>
        </p:nvSpPr>
        <p:spPr>
          <a:xfrm xmlns:a="http://schemas.openxmlformats.org/drawingml/2006/main">
            <a:off x="6858000" y="1724025"/>
            <a:ext cx="4667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225" b="1">
                <a:solidFill>
                  <a:srgbClr val="00857D"/>
                </a:solidFill>
                <a:latin typeface="Arial"/>
                <a:ea typeface="Arial"/>
                <a:cs typeface="Arial"/>
              </a:defRPr>
            </a:defPPr>
          </a:lstStyle>
          <a:p xmlns:a="http://schemas.openxmlformats.org/drawingml/2006/main">
            <a:pPr algn="l">
              <a:buNone/>
              <a:defRPr sz="6225" b="1">
                <a:solidFill>
                  <a:srgbClr val="00857D"/>
                </a:solidFill>
                <a:latin typeface="Arial"/>
                <a:ea typeface="Arial"/>
                <a:cs typeface="Arial"/>
              </a:defRPr>
            </a:pPr>
            <a:r>
              <a:rPr sz="6225" b="1">
                <a:solidFill>
                  <a:srgbClr val="00857D"/>
                </a:solidFill>
                <a:latin typeface="Arial"/>
                <a:ea typeface="Arial"/>
                <a:cs typeface="Arial"/>
              </a:rPr>
              <a:t>U = 44</a:t>
            </a:r>
          </a:p>
        </p:txBody>
      </p:sp>
      <p:sp>
        <p:nvSpPr>
          <p:cNvPr id="7" name="">
            <a:extLst xmlns:a="http://schemas.openxmlformats.org/drawingml/2006/main">
              <a:ext uri="{FF2B5EF4-FFF2-40B4-BE49-F238E27FC236}">
                <a16:creationId xmlns:a16="http://schemas.microsoft.com/office/drawing/2014/main" id="{5AF5E1D6-8276-4292-8FB9-60565084C2B5}"/>
              </a:ext>
            </a:extLst>
          </p:cNvPr>
          <p:cNvSpPr>
            <a:spLocks xmlns:a="http://schemas.openxmlformats.org/drawingml/2006/main" noGrp="1"/>
          </p:cNvSpPr>
          <p:nvPr/>
        </p:nvSpPr>
        <p:spPr>
          <a:xfrm xmlns:a="http://schemas.openxmlformats.org/drawingml/2006/main">
            <a:off x="6858000" y="3114675"/>
            <a:ext cx="466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Маршрут найближчого сусіда</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вже можна виконати</a:t>
            </a:r>
          </a:p>
        </p:txBody>
      </p:sp>
      <p:sp>
        <p:nvSpPr>
          <p:cNvPr id="8" name="">
            <a:extLst xmlns:a="http://schemas.openxmlformats.org/drawingml/2006/main">
              <a:ext uri="{FF2B5EF4-FFF2-40B4-BE49-F238E27FC236}">
                <a16:creationId xmlns:a16="http://schemas.microsoft.com/office/drawing/2014/main" id="{28EC3307-AB3B-4653-8F70-19FCC92222D8}"/>
              </a:ext>
            </a:extLst>
          </p:cNvPr>
          <p:cNvSpPr>
            <a:spLocks xmlns:a="http://schemas.openxmlformats.org/drawingml/2006/main" noGrp="1"/>
          </p:cNvSpPr>
          <p:nvPr/>
        </p:nvSpPr>
        <p:spPr>
          <a:xfrm xmlns:a="http://schemas.openxmlformats.org/drawingml/2006/main">
            <a:off x="762000" y="48863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173047"/>
                </a:solidFill>
                <a:latin typeface="Arial"/>
                <a:ea typeface="Arial"/>
                <a:cs typeface="Arial"/>
              </a:defRPr>
            </a:defPPr>
          </a:lstStyle>
          <a:p xmlns:a="http://schemas.openxmlformats.org/drawingml/2006/main">
            <a:pPr algn="l">
              <a:buNone/>
              <a:defRPr sz="2925" b="1">
                <a:solidFill>
                  <a:srgbClr val="173047"/>
                </a:solidFill>
                <a:latin typeface="Arial"/>
                <a:ea typeface="Arial"/>
                <a:cs typeface="Arial"/>
              </a:defRPr>
            </a:pPr>
            <a:r>
              <a:rPr sz="2925" b="1">
                <a:solidFill>
                  <a:srgbClr val="173047"/>
                </a:solidFill>
                <a:latin typeface="Arial"/>
                <a:ea typeface="Arial"/>
                <a:cs typeface="Arial"/>
              </a:rPr>
              <a:t>Пошук продовжується, поки є гілка з L &lt; U</a:t>
            </a:r>
          </a:p>
        </p:txBody>
      </p:sp>
    </p:spTree>
    <p:extLst>
      <p:ext uri="{BB962C8B-B14F-4D97-AF65-F5344CB8AC3E}">
        <p14:creationId xmlns:p14="http://schemas.microsoft.com/office/powerpoint/2010/main" val="19215766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65F867-2D74-4529-A2A1-FEF1DFBAD727}"/>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Крок 0: мінімуми рядків</a:t>
            </a:r>
          </a:p>
        </p:txBody>
      </p:sp>
      <p:sp>
        <p:nvSpPr>
          <p:cNvPr id="2" name="">
            <a:extLst xmlns:a="http://schemas.openxmlformats.org/drawingml/2006/main">
              <a:ext uri="{FF2B5EF4-FFF2-40B4-BE49-F238E27FC236}">
                <a16:creationId xmlns:a16="http://schemas.microsoft.com/office/drawing/2014/main" id="{4AEBB0CF-F786-49F8-A0D0-D13B9337989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Тур обирає одну дугу в кожному рядку та стовпці. Тому нижня межа L=12.</a:t>
            </a:r>
          </a:p>
        </p:txBody>
      </p:sp>
      <p:sp>
        <p:nvSpPr>
          <p:cNvPr id="3" name="">
            <a:extLst xmlns:a="http://schemas.openxmlformats.org/drawingml/2006/main">
              <a:ext uri="{FF2B5EF4-FFF2-40B4-BE49-F238E27FC236}">
                <a16:creationId xmlns:a16="http://schemas.microsoft.com/office/drawing/2014/main" id="{EB67B157-3DAB-402B-ABDF-81F70896A8B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47</a:t>
            </a:r>
          </a:p>
        </p:txBody>
      </p:sp>
      <p:graphicFrame>
        <p:nvGraphicFramePr>
          <p:cNvPr id="4" name="">
            <a:extLst xmlns:a="http://schemas.openxmlformats.org/drawingml/2006/main">
              <a:ext uri="{FF2B5EF4-FFF2-40B4-BE49-F238E27FC236}">
                <a16:creationId xmlns:a16="http://schemas.microsoft.com/office/drawing/2014/main" id="{429CA2E7-2FE3-4482-A2D8-A1185896AAFF}"/>
              </a:ext>
            </a:extLst>
          </p:cNvPr>
          <p:cNvGraphicFramePr/>
          <p:nvPr/>
        </p:nvGraphicFramePr>
        <p:xfrm>
          <a:off xmlns:a="http://schemas.openxmlformats.org/drawingml/2006/main" x="762000" y="1476375"/>
          <a:ext xmlns:a="http://schemas.openxmlformats.org/drawingml/2006/main" cx="10668000" cy="3829050"/>
        </p:xfrm>
        <a:graphic xmlns:a="http://schemas.openxmlformats.org/drawingml/2006/main">
          <a:graphicData uri="http://schemas.openxmlformats.org/drawingml/2006/table">
            <a:tbl>
              <a:tblPr/>
              <a:tblGrid>
                <a:gridCol w="1333500"/>
                <a:gridCol w="1333500"/>
                <a:gridCol w="1333500"/>
                <a:gridCol w="1333500"/>
                <a:gridCol w="1333500"/>
                <a:gridCol w="1333500"/>
                <a:gridCol w="1333500"/>
                <a:gridCol w="1333500"/>
              </a:tblGrid>
              <a:tr h="547007">
                <a:tc>
                  <a:txBody>
                    <a:bodyPr/>
                    <a:lstStyle/>
                    <a:p>
                      <a:r>
                        <a:rPr sz="2325" b="1">
                          <a:solidFill>
                            <a:srgbClr val="FFFFFF"/>
                          </a:solidFill>
                          <a:latin typeface="Arial"/>
                          <a:ea typeface="Arial"/>
                          <a:cs typeface="Arial"/>
                        </a:rPr>
                        <a:t>З / До</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S</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B</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C</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E</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min</a:t>
                      </a:r>
                    </a:p>
                  </a:txBody>
                  <a:tcPr marL="114300" marR="114300" marT="66675" marB="66675" anchor="ctr">
                    <a:solidFill>
                      <a:srgbClr val="173047"/>
                    </a:solidFill>
                  </a:tcPr>
                </a:tc>
              </a:tr>
              <a:tr h="547007">
                <a:tc>
                  <a:txBody>
                    <a:bodyPr/>
                    <a:lstStyle/>
                    <a:p>
                      <a:r>
                        <a:rPr sz="2325">
                          <a:solidFill>
                            <a:srgbClr val="173047"/>
                          </a:solidFill>
                          <a:latin typeface="Arial"/>
                          <a:ea typeface="Arial"/>
                          <a:cs typeface="Arial"/>
                        </a:rPr>
                        <a:t>S</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16</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11</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19</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12</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a:t>
                      </a:r>
                    </a:p>
                  </a:txBody>
                  <a:tcPr marL="114300" marR="114300" marT="66675" marB="66675" anchor="ctr">
                    <a:solidFill>
                      <a:srgbClr val="FFFFFF"/>
                    </a:solidFill>
                  </a:tcPr>
                </a:tc>
              </a:tr>
              <a:tr h="547007">
                <a:tc>
                  <a:txBody>
                    <a:bodyPr/>
                    <a:lstStyle/>
                    <a:p>
                      <a:r>
                        <a:rPr sz="2325">
                          <a:solidFill>
                            <a:srgbClr val="173047"/>
                          </a:solidFill>
                          <a:latin typeface="Arial"/>
                          <a:ea typeface="Arial"/>
                          <a:cs typeface="Arial"/>
                        </a:rPr>
                        <a:t>A</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a:t>
                      </a:r>
                    </a:p>
                  </a:txBody>
                  <a:tcPr marL="114300" marR="114300" marT="66675" marB="66675" anchor="ctr">
                    <a:solidFill>
                      <a:srgbClr val="F1F5F8"/>
                    </a:solidFill>
                  </a:tcPr>
                </a:tc>
                <a:tc>
                  <a:txBody>
                    <a:bodyPr/>
                    <a:lstStyle/>
                    <a:p>
                      <a:r>
                        <a:rPr sz="2325">
                          <a:solidFill>
                            <a:srgbClr val="173047"/>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15</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21</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14</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a:t>
                      </a:r>
                    </a:p>
                  </a:txBody>
                  <a:tcPr marL="114300" marR="114300" marT="66675" marB="66675" anchor="ctr">
                    <a:solidFill>
                      <a:srgbClr val="F1F5F8"/>
                    </a:solidFill>
                  </a:tcPr>
                </a:tc>
              </a:tr>
              <a:tr h="547007">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16</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15</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a:t>
                      </a:r>
                    </a:p>
                  </a:txBody>
                  <a:tcPr marL="114300" marR="114300" marT="66675" marB="66675" anchor="ctr">
                    <a:solidFill>
                      <a:srgbClr val="FFFFFF"/>
                    </a:solidFill>
                  </a:tcPr>
                </a:tc>
                <a:tc>
                  <a:txBody>
                    <a:bodyPr/>
                    <a:lstStyle/>
                    <a:p>
                      <a:r>
                        <a:rPr sz="2325">
                          <a:solidFill>
                            <a:srgbClr val="173047"/>
                          </a:solidFill>
                          <a:latin typeface="Arial"/>
                          <a:ea typeface="Arial"/>
                          <a:cs typeface="Arial"/>
                        </a:rPr>
                        <a:t>5</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18</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a:t>
                      </a:r>
                    </a:p>
                  </a:txBody>
                  <a:tcPr marL="114300" marR="114300" marT="66675" marB="66675" anchor="ctr">
                    <a:solidFill>
                      <a:srgbClr val="FFFFFF"/>
                    </a:solidFill>
                  </a:tcPr>
                </a:tc>
              </a:tr>
              <a:tr h="547007">
                <a:tc>
                  <a:txBody>
                    <a:bodyPr/>
                    <a:lstStyle/>
                    <a:p>
                      <a:r>
                        <a:rPr sz="2325">
                          <a:solidFill>
                            <a:srgbClr val="173047"/>
                          </a:solidFill>
                          <a:latin typeface="Arial"/>
                          <a:ea typeface="Arial"/>
                          <a:cs typeface="Arial"/>
                        </a:rPr>
                        <a:t>C</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11</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21</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a:t>
                      </a:r>
                    </a:p>
                  </a:txBody>
                  <a:tcPr marL="114300" marR="114300" marT="66675" marB="66675" anchor="ctr">
                    <a:solidFill>
                      <a:srgbClr val="F1F5F8"/>
                    </a:solidFill>
                  </a:tcPr>
                </a:tc>
                <a:tc>
                  <a:txBody>
                    <a:bodyPr/>
                    <a:lstStyle/>
                    <a:p>
                      <a:r>
                        <a:rPr sz="2325">
                          <a:solidFill>
                            <a:srgbClr val="173047"/>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12</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12</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a:t>
                      </a:r>
                    </a:p>
                  </a:txBody>
                  <a:tcPr marL="114300" marR="114300" marT="66675" marB="66675" anchor="ctr">
                    <a:solidFill>
                      <a:srgbClr val="F1F5F8"/>
                    </a:solidFill>
                  </a:tcPr>
                </a:tc>
              </a:tr>
              <a:tr h="547007">
                <a:tc>
                  <a:txBody>
                    <a:bodyPr/>
                    <a:lstStyle/>
                    <a:p>
                      <a:r>
                        <a:rPr sz="2325">
                          <a:solidFill>
                            <a:srgbClr val="173047"/>
                          </a:solidFill>
                          <a:latin typeface="Arial"/>
                          <a:ea typeface="Arial"/>
                          <a:cs typeface="Arial"/>
                        </a:rPr>
                        <a:t>D</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19</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5</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12</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a:t>
                      </a:r>
                    </a:p>
                  </a:txBody>
                  <a:tcPr marL="114300" marR="114300" marT="66675" marB="66675" anchor="ctr">
                    <a:solidFill>
                      <a:srgbClr val="FFFFFF"/>
                    </a:solidFill>
                  </a:tcPr>
                </a:tc>
              </a:tr>
              <a:tr h="547007">
                <a:tc>
                  <a:txBody>
                    <a:bodyPr/>
                    <a:lstStyle/>
                    <a:p>
                      <a:r>
                        <a:rPr sz="2325">
                          <a:solidFill>
                            <a:srgbClr val="173047"/>
                          </a:solidFill>
                          <a:latin typeface="Arial"/>
                          <a:ea typeface="Arial"/>
                          <a:cs typeface="Arial"/>
                        </a:rPr>
                        <a:t>E</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12</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14</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18</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12</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a:t>
                      </a:r>
                    </a:p>
                  </a:txBody>
                  <a:tcPr marL="114300" marR="114300" marT="66675" marB="66675" anchor="ctr">
                    <a:solidFill>
                      <a:srgbClr val="F1F5F8"/>
                    </a:solidFill>
                  </a:tcPr>
                </a:tc>
                <a:tc>
                  <a:txBody>
                    <a:bodyPr/>
                    <a:lstStyle/>
                    <a:p>
                      <a:r>
                        <a:rPr sz="2325">
                          <a:solidFill>
                            <a:srgbClr val="173047"/>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27525624-8AED-459E-AAF5-D40B3A93AEF6}"/>
              </a:ext>
            </a:extLst>
          </p:cNvPr>
          <p:cNvSpPr>
            <a:spLocks xmlns:a="http://schemas.openxmlformats.org/drawingml/2006/main" noGrp="1"/>
          </p:cNvSpPr>
          <p:nvPr/>
        </p:nvSpPr>
        <p:spPr>
          <a:xfrm xmlns:a="http://schemas.openxmlformats.org/drawingml/2006/main">
            <a:off x="762000" y="5410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Після цього мінімуми всіх стовпців дорівнюють 0</a:t>
            </a:r>
          </a:p>
        </p:txBody>
      </p:sp>
    </p:spTree>
    <p:extLst>
      <p:ext uri="{BB962C8B-B14F-4D97-AF65-F5344CB8AC3E}">
        <p14:creationId xmlns:p14="http://schemas.microsoft.com/office/powerpoint/2010/main" val="73221892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0C9A6E-ECAC-44AC-8D02-FB235C42614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Крок 0: редукована матриця</a:t>
            </a:r>
          </a:p>
        </p:txBody>
      </p:sp>
      <p:sp>
        <p:nvSpPr>
          <p:cNvPr id="2" name="">
            <a:extLst xmlns:a="http://schemas.openxmlformats.org/drawingml/2006/main">
              <a:ext uri="{FF2B5EF4-FFF2-40B4-BE49-F238E27FC236}">
                <a16:creationId xmlns:a16="http://schemas.microsoft.com/office/drawing/2014/main" id="{FDBA04F3-765C-4037-9189-005EF8D54C1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Нулі означають редуковані вартості. Початкові переїзди залишаються платними.</a:t>
            </a:r>
          </a:p>
        </p:txBody>
      </p:sp>
      <p:sp>
        <p:nvSpPr>
          <p:cNvPr id="3" name="">
            <a:extLst xmlns:a="http://schemas.openxmlformats.org/drawingml/2006/main">
              <a:ext uri="{FF2B5EF4-FFF2-40B4-BE49-F238E27FC236}">
                <a16:creationId xmlns:a16="http://schemas.microsoft.com/office/drawing/2014/main" id="{7A15B079-DCAF-4247-B010-05529FFA2CE4}"/>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48</a:t>
            </a:r>
          </a:p>
        </p:txBody>
      </p:sp>
      <p:graphicFrame>
        <p:nvGraphicFramePr>
          <p:cNvPr id="4" name="">
            <a:extLst xmlns:a="http://schemas.openxmlformats.org/drawingml/2006/main">
              <a:ext uri="{FF2B5EF4-FFF2-40B4-BE49-F238E27FC236}">
                <a16:creationId xmlns:a16="http://schemas.microsoft.com/office/drawing/2014/main" id="{EBCD891B-43A4-4204-B0B6-5C8E9BA28ECD}"/>
              </a:ext>
            </a:extLst>
          </p:cNvPr>
          <p:cNvGraphicFramePr/>
          <p:nvPr/>
        </p:nvGraphicFramePr>
        <p:xfrm>
          <a:off xmlns:a="http://schemas.openxmlformats.org/drawingml/2006/main" x="762000" y="1476375"/>
          <a:ext xmlns:a="http://schemas.openxmlformats.org/drawingml/2006/main" cx="8572500" cy="4114800"/>
        </p:xfrm>
        <a:graphic xmlns:a="http://schemas.openxmlformats.org/drawingml/2006/main">
          <a:graphicData uri="http://schemas.openxmlformats.org/drawingml/2006/table">
            <a:tbl>
              <a:tblPr/>
              <a:tblGrid>
                <a:gridCol w="1224643"/>
                <a:gridCol w="1224643"/>
                <a:gridCol w="1224643"/>
                <a:gridCol w="1224643"/>
                <a:gridCol w="1224643"/>
                <a:gridCol w="1224643"/>
                <a:gridCol w="1224643"/>
              </a:tblGrid>
              <a:tr h="587829">
                <a:tc>
                  <a:txBody>
                    <a:bodyPr/>
                    <a:lstStyle/>
                    <a:p>
                      <a:r>
                        <a:rPr sz="2325" b="1">
                          <a:solidFill>
                            <a:srgbClr val="FFFFFF"/>
                          </a:solidFill>
                          <a:latin typeface="Arial"/>
                          <a:ea typeface="Arial"/>
                          <a:cs typeface="Arial"/>
                        </a:rPr>
                        <a:t>З/До</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S</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B</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C</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E</a:t>
                      </a:r>
                    </a:p>
                  </a:txBody>
                  <a:tcPr marL="114300" marR="114300" marT="66675" marB="66675" anchor="ctr">
                    <a:solidFill>
                      <a:srgbClr val="173047"/>
                    </a:solidFill>
                  </a:tcPr>
                </a:tc>
              </a:tr>
              <a:tr h="587829">
                <a:tc>
                  <a:txBody>
                    <a:bodyPr/>
                    <a:lstStyle/>
                    <a:p>
                      <a:r>
                        <a:rPr sz="2325">
                          <a:solidFill>
                            <a:srgbClr val="173047"/>
                          </a:solidFill>
                          <a:latin typeface="Arial"/>
                          <a:ea typeface="Arial"/>
                          <a:cs typeface="Arial"/>
                        </a:rPr>
                        <a:t>S</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b="1">
                          <a:solidFill>
                            <a:srgbClr val="FFFFFF"/>
                          </a:solidFill>
                          <a:latin typeface="Arial"/>
                          <a:ea typeface="Arial"/>
                          <a:cs typeface="Arial"/>
                        </a:rPr>
                        <a:t>0</a:t>
                      </a:r>
                    </a:p>
                  </a:txBody>
                  <a:tcPr marL="114300" marR="114300" marT="66675" marB="66675" anchor="ctr">
                    <a:solidFill>
                      <a:srgbClr val="00857D"/>
                    </a:solidFill>
                  </a:tcPr>
                </a:tc>
                <a:tc>
                  <a:txBody>
                    <a:bodyPr/>
                    <a:lstStyle/>
                    <a:p>
                      <a:r>
                        <a:rPr sz="2325">
                          <a:solidFill>
                            <a:srgbClr val="173047"/>
                          </a:solidFill>
                          <a:latin typeface="Arial"/>
                          <a:ea typeface="Arial"/>
                          <a:cs typeface="Arial"/>
                        </a:rPr>
                        <a:t>14</a:t>
                      </a:r>
                    </a:p>
                  </a:txBody>
                  <a:tcPr marL="114300" marR="114300" marT="66675" marB="66675" anchor="ctr">
                    <a:solidFill>
                      <a:srgbClr val="FFFFFF"/>
                    </a:solidFill>
                  </a:tcPr>
                </a:tc>
                <a:tc>
                  <a:txBody>
                    <a:bodyPr/>
                    <a:lstStyle/>
                    <a:p>
                      <a:r>
                        <a:rPr sz="2325">
                          <a:solidFill>
                            <a:srgbClr val="173047"/>
                          </a:solidFill>
                          <a:latin typeface="Arial"/>
                          <a:ea typeface="Arial"/>
                          <a:cs typeface="Arial"/>
                        </a:rPr>
                        <a:t>9</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17</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r>
              <a:tr h="587829">
                <a:tc>
                  <a:txBody>
                    <a:bodyPr/>
                    <a:lstStyle/>
                    <a:p>
                      <a:r>
                        <a:rPr sz="2325">
                          <a:solidFill>
                            <a:srgbClr val="173047"/>
                          </a:solidFill>
                          <a:latin typeface="Arial"/>
                          <a:ea typeface="Arial"/>
                          <a:cs typeface="Arial"/>
                        </a:rPr>
                        <a:t>A</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13</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19</a:t>
                      </a:r>
                    </a:p>
                  </a:txBody>
                  <a:tcPr marL="114300" marR="114300" marT="66675" marB="66675" anchor="ctr">
                    <a:solidFill>
                      <a:srgbClr val="F1F5F8"/>
                    </a:solidFill>
                  </a:tcPr>
                </a:tc>
                <a:tc>
                  <a:txBody>
                    <a:bodyPr/>
                    <a:lstStyle/>
                    <a:p>
                      <a:r>
                        <a:rPr sz="2325">
                          <a:solidFill>
                            <a:srgbClr val="173047"/>
                          </a:solidFill>
                          <a:latin typeface="Arial"/>
                          <a:ea typeface="Arial"/>
                          <a:cs typeface="Arial"/>
                        </a:rPr>
                        <a:t>8</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12</a:t>
                      </a:r>
                    </a:p>
                  </a:txBody>
                  <a:tcPr marL="114300" marR="114300" marT="66675" marB="66675" anchor="ctr">
                    <a:solidFill>
                      <a:srgbClr val="F1F5F8"/>
                    </a:solidFill>
                  </a:tcPr>
                </a:tc>
              </a:tr>
              <a:tr h="587829">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14</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13</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173047"/>
                          </a:solidFill>
                          <a:latin typeface="Arial"/>
                          <a:ea typeface="Arial"/>
                          <a:cs typeface="Arial"/>
                        </a:rPr>
                        <a:t>3</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16</a:t>
                      </a:r>
                    </a:p>
                  </a:txBody>
                  <a:tcPr marL="114300" marR="114300" marT="66675" marB="66675" anchor="ctr">
                    <a:solidFill>
                      <a:srgbClr val="FFFFFF"/>
                    </a:solidFill>
                  </a:tcPr>
                </a:tc>
              </a:tr>
              <a:tr h="587829">
                <a:tc>
                  <a:txBody>
                    <a:bodyPr/>
                    <a:lstStyle/>
                    <a:p>
                      <a:r>
                        <a:rPr sz="2325">
                          <a:solidFill>
                            <a:srgbClr val="173047"/>
                          </a:solidFill>
                          <a:latin typeface="Arial"/>
                          <a:ea typeface="Arial"/>
                          <a:cs typeface="Arial"/>
                        </a:rPr>
                        <a:t>C</a:t>
                      </a:r>
                    </a:p>
                  </a:txBody>
                  <a:tcPr marL="114300" marR="114300" marT="66675" marB="66675" anchor="ctr">
                    <a:solidFill>
                      <a:srgbClr val="F1F5F8"/>
                    </a:solidFill>
                  </a:tcPr>
                </a:tc>
                <a:tc>
                  <a:txBody>
                    <a:bodyPr/>
                    <a:lstStyle/>
                    <a:p>
                      <a:r>
                        <a:rPr sz="2325">
                          <a:solidFill>
                            <a:srgbClr val="173047"/>
                          </a:solidFill>
                          <a:latin typeface="Arial"/>
                          <a:ea typeface="Arial"/>
                          <a:cs typeface="Arial"/>
                        </a:rPr>
                        <a:t>9</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19</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r>
              <a:tr h="587829">
                <a:tc>
                  <a:txBody>
                    <a:bodyPr/>
                    <a:lstStyle/>
                    <a:p>
                      <a:r>
                        <a:rPr sz="2325">
                          <a:solidFill>
                            <a:srgbClr val="173047"/>
                          </a:solidFill>
                          <a:latin typeface="Arial"/>
                          <a:ea typeface="Arial"/>
                          <a:cs typeface="Arial"/>
                        </a:rPr>
                        <a:t>D</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17</a:t>
                      </a:r>
                    </a:p>
                  </a:txBody>
                  <a:tcPr marL="114300" marR="114300" marT="66675" marB="66675" anchor="ctr">
                    <a:solidFill>
                      <a:srgbClr val="FFFFFF"/>
                    </a:solidFill>
                  </a:tcPr>
                </a:tc>
                <a:tc>
                  <a:txBody>
                    <a:bodyPr/>
                    <a:lstStyle/>
                    <a:p>
                      <a:r>
                        <a:rPr sz="2325">
                          <a:solidFill>
                            <a:srgbClr val="173047"/>
                          </a:solidFill>
                          <a:latin typeface="Arial"/>
                          <a:ea typeface="Arial"/>
                          <a:cs typeface="Arial"/>
                        </a:rPr>
                        <a:t>8</a:t>
                      </a:r>
                    </a:p>
                  </a:txBody>
                  <a:tcPr marL="114300" marR="114300" marT="66675" marB="66675" anchor="ctr">
                    <a:solidFill>
                      <a:srgbClr val="FFFFFF"/>
                    </a:solidFill>
                  </a:tcPr>
                </a:tc>
                <a:tc>
                  <a:txBody>
                    <a:bodyPr/>
                    <a:lstStyle/>
                    <a:p>
                      <a:r>
                        <a:rPr sz="2325">
                          <a:solidFill>
                            <a:srgbClr val="173047"/>
                          </a:solidFill>
                          <a:latin typeface="Arial"/>
                          <a:ea typeface="Arial"/>
                          <a:cs typeface="Arial"/>
                        </a:rPr>
                        <a:t>3</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r>
              <a:tr h="587829">
                <a:tc>
                  <a:txBody>
                    <a:bodyPr/>
                    <a:lstStyle/>
                    <a:p>
                      <a:r>
                        <a:rPr sz="2325">
                          <a:solidFill>
                            <a:srgbClr val="173047"/>
                          </a:solidFill>
                          <a:latin typeface="Arial"/>
                          <a:ea typeface="Arial"/>
                          <a:cs typeface="Arial"/>
                        </a:rPr>
                        <a:t>E</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12</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16</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28B945DE-9A7F-4DE1-A320-4BC63E81A175}"/>
              </a:ext>
            </a:extLst>
          </p:cNvPr>
          <p:cNvSpPr>
            <a:spLocks xmlns:a="http://schemas.openxmlformats.org/drawingml/2006/main" noGrp="1"/>
          </p:cNvSpPr>
          <p:nvPr/>
        </p:nvSpPr>
        <p:spPr>
          <a:xfrm xmlns:a="http://schemas.openxmlformats.org/drawingml/2006/main">
            <a:off x="9715500" y="1714500"/>
            <a:ext cx="1714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750" b="1">
                <a:solidFill>
                  <a:srgbClr val="2868AF"/>
                </a:solidFill>
                <a:latin typeface="Arial"/>
                <a:ea typeface="Arial"/>
                <a:cs typeface="Arial"/>
              </a:defRPr>
            </a:defPPr>
          </a:lstStyle>
          <a:p xmlns:a="http://schemas.openxmlformats.org/drawingml/2006/main">
            <a:pPr algn="l">
              <a:buNone/>
              <a:defRPr sz="3750" b="1">
                <a:solidFill>
                  <a:srgbClr val="2868AF"/>
                </a:solidFill>
                <a:latin typeface="Arial"/>
                <a:ea typeface="Arial"/>
                <a:cs typeface="Arial"/>
              </a:defRPr>
            </a:pPr>
            <a:r>
              <a:rPr sz="3750" b="1">
                <a:solidFill>
                  <a:srgbClr val="2868AF"/>
                </a:solidFill>
                <a:latin typeface="Arial"/>
                <a:ea typeface="Arial"/>
                <a:cs typeface="Arial"/>
              </a:rPr>
              <a:t>L = 12</a:t>
            </a:r>
          </a:p>
        </p:txBody>
      </p:sp>
      <p:sp>
        <p:nvSpPr>
          <p:cNvPr id="6" name="">
            <a:extLst xmlns:a="http://schemas.openxmlformats.org/drawingml/2006/main">
              <a:ext uri="{FF2B5EF4-FFF2-40B4-BE49-F238E27FC236}">
                <a16:creationId xmlns:a16="http://schemas.microsoft.com/office/drawing/2014/main" id="{348C76E2-4C15-4C28-AA85-FC4ECE7DE034}"/>
              </a:ext>
            </a:extLst>
          </p:cNvPr>
          <p:cNvSpPr>
            <a:spLocks xmlns:a="http://schemas.openxmlformats.org/drawingml/2006/main" noGrp="1"/>
          </p:cNvSpPr>
          <p:nvPr/>
        </p:nvSpPr>
        <p:spPr>
          <a:xfrm xmlns:a="http://schemas.openxmlformats.org/drawingml/2006/main">
            <a:off x="9715500" y="2962275"/>
            <a:ext cx="1714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Сума</a:t>
            </a:r>
          </a:p>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редукцій</a:t>
            </a:r>
          </a:p>
        </p:txBody>
      </p:sp>
    </p:spTree>
    <p:extLst>
      <p:ext uri="{BB962C8B-B14F-4D97-AF65-F5344CB8AC3E}">
        <p14:creationId xmlns:p14="http://schemas.microsoft.com/office/powerpoint/2010/main" val="181020354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A71885-81DD-4FCC-B805-C53F85DB56E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Штрафи нульових дуг</a:t>
            </a:r>
          </a:p>
        </p:txBody>
      </p:sp>
      <p:sp>
        <p:nvSpPr>
          <p:cNvPr id="2" name="">
            <a:extLst xmlns:a="http://schemas.openxmlformats.org/drawingml/2006/main">
              <a:ext uri="{FF2B5EF4-FFF2-40B4-BE49-F238E27FC236}">
                <a16:creationId xmlns:a16="http://schemas.microsoft.com/office/drawing/2014/main" id="{DD709CA1-FBBA-49E2-B607-416FB6DAB20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Найбільший штраф мають S-A та A-S. За рівності обираємо S-A.</a:t>
            </a:r>
          </a:p>
        </p:txBody>
      </p:sp>
      <p:sp>
        <p:nvSpPr>
          <p:cNvPr id="3" name="">
            <a:extLst xmlns:a="http://schemas.openxmlformats.org/drawingml/2006/main">
              <a:ext uri="{FF2B5EF4-FFF2-40B4-BE49-F238E27FC236}">
                <a16:creationId xmlns:a16="http://schemas.microsoft.com/office/drawing/2014/main" id="{340CF541-E9B3-4162-B864-DF2CA653DE9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49</a:t>
            </a:r>
          </a:p>
        </p:txBody>
      </p:sp>
      <p:graphicFrame>
        <p:nvGraphicFramePr>
          <p:cNvPr id="4" name="">
            <a:extLst xmlns:a="http://schemas.openxmlformats.org/drawingml/2006/main">
              <a:ext uri="{FF2B5EF4-FFF2-40B4-BE49-F238E27FC236}">
                <a16:creationId xmlns:a16="http://schemas.microsoft.com/office/drawing/2014/main" id="{C4BA7218-FBEC-49D8-AEBF-E5D76E00013C}"/>
              </a:ext>
            </a:extLst>
          </p:cNvPr>
          <p:cNvGraphicFramePr/>
          <p:nvPr/>
        </p:nvGraphicFramePr>
        <p:xfrm>
          <a:off xmlns:a="http://schemas.openxmlformats.org/drawingml/2006/main" x="762000" y="1495425"/>
          <a:ext xmlns:a="http://schemas.openxmlformats.org/drawingml/2006/main" cx="10668000" cy="4038600"/>
        </p:xfrm>
        <a:graphic xmlns:a="http://schemas.openxmlformats.org/drawingml/2006/main">
          <a:graphicData uri="http://schemas.openxmlformats.org/drawingml/2006/table">
            <a:tbl>
              <a:tblPr/>
              <a:tblGrid>
                <a:gridCol w="1952625"/>
                <a:gridCol w="3238500"/>
                <a:gridCol w="3524250"/>
                <a:gridCol w="1952625"/>
              </a:tblGrid>
              <a:tr h="576943">
                <a:tc>
                  <a:txBody>
                    <a:bodyPr/>
                    <a:lstStyle/>
                    <a:p>
                      <a:r>
                        <a:rPr sz="2250" b="1">
                          <a:solidFill>
                            <a:srgbClr val="FFFFFF"/>
                          </a:solidFill>
                          <a:latin typeface="Arial"/>
                          <a:ea typeface="Arial"/>
                          <a:cs typeface="Arial"/>
                        </a:rPr>
                        <a:t>Дуга</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Інший min рядка</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Інший min стовпця</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Штраф</a:t>
                      </a:r>
                    </a:p>
                  </a:txBody>
                  <a:tcPr marL="114300" marR="114300" marT="66675" marB="66675" anchor="ctr">
                    <a:solidFill>
                      <a:srgbClr val="173047"/>
                    </a:solidFill>
                  </a:tcPr>
                </a:tc>
              </a:tr>
              <a:tr h="576943">
                <a:tc>
                  <a:txBody>
                    <a:bodyPr/>
                    <a:lstStyle/>
                    <a:p>
                      <a:r>
                        <a:rPr sz="2250" b="1">
                          <a:solidFill>
                            <a:srgbClr val="00857D"/>
                          </a:solidFill>
                          <a:latin typeface="Arial"/>
                          <a:ea typeface="Arial"/>
                          <a:cs typeface="Arial"/>
                        </a:rPr>
                        <a:t>S-A</a:t>
                      </a:r>
                    </a:p>
                  </a:txBody>
                  <a:tcPr marL="114300" marR="114300" marT="66675" marB="66675" anchor="ctr">
                    <a:solidFill>
                      <a:srgbClr val="DDF3EC"/>
                    </a:solidFill>
                  </a:tcPr>
                </a:tc>
                <a:tc>
                  <a:txBody>
                    <a:bodyPr/>
                    <a:lstStyle/>
                    <a:p>
                      <a:r>
                        <a:rPr sz="2250" b="1">
                          <a:solidFill>
                            <a:srgbClr val="00857D"/>
                          </a:solidFill>
                          <a:latin typeface="Arial"/>
                          <a:ea typeface="Arial"/>
                          <a:cs typeface="Arial"/>
                        </a:rPr>
                        <a:t>9</a:t>
                      </a:r>
                    </a:p>
                  </a:txBody>
                  <a:tcPr marL="114300" marR="114300" marT="66675" marB="66675" anchor="ctr">
                    <a:solidFill>
                      <a:srgbClr val="DDF3EC"/>
                    </a:solidFill>
                  </a:tcPr>
                </a:tc>
                <a:tc>
                  <a:txBody>
                    <a:bodyPr/>
                    <a:lstStyle/>
                    <a:p>
                      <a:r>
                        <a:rPr sz="2250" b="1">
                          <a:solidFill>
                            <a:srgbClr val="00857D"/>
                          </a:solidFill>
                          <a:latin typeface="Arial"/>
                          <a:ea typeface="Arial"/>
                          <a:cs typeface="Arial"/>
                        </a:rPr>
                        <a:t>8</a:t>
                      </a:r>
                    </a:p>
                  </a:txBody>
                  <a:tcPr marL="114300" marR="114300" marT="66675" marB="66675" anchor="ctr">
                    <a:solidFill>
                      <a:srgbClr val="DDF3EC"/>
                    </a:solidFill>
                  </a:tcPr>
                </a:tc>
                <a:tc>
                  <a:txBody>
                    <a:bodyPr/>
                    <a:lstStyle/>
                    <a:p>
                      <a:r>
                        <a:rPr sz="2250" b="1">
                          <a:solidFill>
                            <a:srgbClr val="00857D"/>
                          </a:solidFill>
                          <a:latin typeface="Arial"/>
                          <a:ea typeface="Arial"/>
                          <a:cs typeface="Arial"/>
                        </a:rPr>
                        <a:t>17</a:t>
                      </a:r>
                    </a:p>
                  </a:txBody>
                  <a:tcPr marL="114300" marR="114300" marT="66675" marB="66675" anchor="ctr">
                    <a:solidFill>
                      <a:srgbClr val="DDF3EC"/>
                    </a:solidFill>
                  </a:tcPr>
                </a:tc>
              </a:tr>
              <a:tr h="576943">
                <a:tc>
                  <a:txBody>
                    <a:bodyPr/>
                    <a:lstStyle/>
                    <a:p>
                      <a:r>
                        <a:rPr sz="2250">
                          <a:solidFill>
                            <a:srgbClr val="173047"/>
                          </a:solidFill>
                          <a:latin typeface="Arial"/>
                          <a:ea typeface="Arial"/>
                          <a:cs typeface="Arial"/>
                        </a:rPr>
                        <a:t>A-S</a:t>
                      </a:r>
                    </a:p>
                  </a:txBody>
                  <a:tcPr marL="114300" marR="114300" marT="66675" marB="66675" anchor="ctr">
                    <a:solidFill>
                      <a:srgbClr val="F1F5F8"/>
                    </a:solidFill>
                  </a:tcPr>
                </a:tc>
                <a:tc>
                  <a:txBody>
                    <a:bodyPr/>
                    <a:lstStyle/>
                    <a:p>
                      <a:r>
                        <a:rPr sz="2250">
                          <a:solidFill>
                            <a:srgbClr val="173047"/>
                          </a:solidFill>
                          <a:latin typeface="Arial"/>
                          <a:ea typeface="Arial"/>
                          <a:cs typeface="Arial"/>
                        </a:rPr>
                        <a:t>8</a:t>
                      </a:r>
                    </a:p>
                  </a:txBody>
                  <a:tcPr marL="114300" marR="114300" marT="66675" marB="66675" anchor="ctr">
                    <a:solidFill>
                      <a:srgbClr val="F1F5F8"/>
                    </a:solidFill>
                  </a:tcPr>
                </a:tc>
                <a:tc>
                  <a:txBody>
                    <a:bodyPr/>
                    <a:lstStyle/>
                    <a:p>
                      <a:r>
                        <a:rPr sz="2250">
                          <a:solidFill>
                            <a:srgbClr val="173047"/>
                          </a:solidFill>
                          <a:latin typeface="Arial"/>
                          <a:ea typeface="Arial"/>
                          <a:cs typeface="Arial"/>
                        </a:rPr>
                        <a:t>9</a:t>
                      </a:r>
                    </a:p>
                  </a:txBody>
                  <a:tcPr marL="114300" marR="114300" marT="66675" marB="66675" anchor="ctr">
                    <a:solidFill>
                      <a:srgbClr val="F1F5F8"/>
                    </a:solidFill>
                  </a:tcPr>
                </a:tc>
                <a:tc>
                  <a:txBody>
                    <a:bodyPr/>
                    <a:lstStyle/>
                    <a:p>
                      <a:r>
                        <a:rPr sz="2250">
                          <a:solidFill>
                            <a:srgbClr val="173047"/>
                          </a:solidFill>
                          <a:latin typeface="Arial"/>
                          <a:ea typeface="Arial"/>
                          <a:cs typeface="Arial"/>
                        </a:rPr>
                        <a:t>17</a:t>
                      </a:r>
                    </a:p>
                  </a:txBody>
                  <a:tcPr marL="114300" marR="114300" marT="66675" marB="66675" anchor="ctr">
                    <a:solidFill>
                      <a:srgbClr val="F1F5F8"/>
                    </a:solidFill>
                  </a:tcPr>
                </a:tc>
              </a:tr>
              <a:tr h="576943">
                <a:tc>
                  <a:txBody>
                    <a:bodyPr/>
                    <a:lstStyle/>
                    <a:p>
                      <a:r>
                        <a:rPr sz="2250">
                          <a:solidFill>
                            <a:srgbClr val="173047"/>
                          </a:solidFill>
                          <a:latin typeface="Arial"/>
                          <a:ea typeface="Arial"/>
                          <a:cs typeface="Arial"/>
                        </a:rPr>
                        <a:t>D-E</a:t>
                      </a:r>
                    </a:p>
                  </a:txBody>
                  <a:tcPr marL="114300" marR="114300" marT="66675" marB="66675" anchor="ctr">
                    <a:solidFill>
                      <a:srgbClr val="FFFFFF"/>
                    </a:solidFill>
                  </a:tcPr>
                </a:tc>
                <a:tc>
                  <a:txBody>
                    <a:bodyPr/>
                    <a:lstStyle/>
                    <a:p>
                      <a:r>
                        <a:rPr sz="2250">
                          <a:solidFill>
                            <a:srgbClr val="173047"/>
                          </a:solidFill>
                          <a:latin typeface="Arial"/>
                          <a:ea typeface="Arial"/>
                          <a:cs typeface="Arial"/>
                        </a:rPr>
                        <a:t>3</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10</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13</a:t>
                      </a:r>
                    </a:p>
                  </a:txBody>
                  <a:tcPr marL="114300" marR="114300" marT="66675" marB="66675" anchor="ctr">
                    <a:solidFill>
                      <a:srgbClr val="FFFFFF"/>
                    </a:solidFill>
                  </a:tcPr>
                </a:tc>
              </a:tr>
              <a:tr h="576943">
                <a:tc>
                  <a:txBody>
                    <a:bodyPr/>
                    <a:lstStyle/>
                    <a:p>
                      <a:r>
                        <a:rPr sz="2250">
                          <a:solidFill>
                            <a:srgbClr val="173047"/>
                          </a:solidFill>
                          <a:latin typeface="Arial"/>
                          <a:ea typeface="Arial"/>
                          <a:cs typeface="Arial"/>
                        </a:rPr>
                        <a:t>E-D</a:t>
                      </a:r>
                    </a:p>
                  </a:txBody>
                  <a:tcPr marL="114300" marR="114300" marT="66675" marB="66675" anchor="ctr">
                    <a:solidFill>
                      <a:srgbClr val="F1F5F8"/>
                    </a:solidFill>
                  </a:tcPr>
                </a:tc>
                <a:tc>
                  <a:txBody>
                    <a:bodyPr/>
                    <a:lstStyle/>
                    <a:p>
                      <a:r>
                        <a:rPr sz="2250">
                          <a:solidFill>
                            <a:srgbClr val="173047"/>
                          </a:solidFill>
                          <a:latin typeface="Arial"/>
                          <a:ea typeface="Arial"/>
                          <a:cs typeface="Arial"/>
                        </a:rPr>
                        <a:t>10</a:t>
                      </a:r>
                    </a:p>
                  </a:txBody>
                  <a:tcPr marL="114300" marR="114300" marT="66675" marB="66675" anchor="ctr">
                    <a:solidFill>
                      <a:srgbClr val="F1F5F8"/>
                    </a:solidFill>
                  </a:tcPr>
                </a:tc>
                <a:tc>
                  <a:txBody>
                    <a:bodyPr/>
                    <a:lstStyle/>
                    <a:p>
                      <a:r>
                        <a:rPr sz="2250">
                          <a:solidFill>
                            <a:srgbClr val="173047"/>
                          </a:solidFill>
                          <a:latin typeface="Arial"/>
                          <a:ea typeface="Arial"/>
                          <a:cs typeface="Arial"/>
                        </a:rPr>
                        <a:t>3</a:t>
                      </a:r>
                    </a:p>
                  </a:txBody>
                  <a:tcPr marL="114300" marR="114300" marT="66675" marB="66675" anchor="ctr">
                    <a:solidFill>
                      <a:srgbClr val="F1F5F8"/>
                    </a:solidFill>
                  </a:tcPr>
                </a:tc>
                <a:tc>
                  <a:txBody>
                    <a:bodyPr/>
                    <a:lstStyle/>
                    <a:p>
                      <a:r>
                        <a:rPr sz="2250">
                          <a:solidFill>
                            <a:srgbClr val="173047"/>
                          </a:solidFill>
                          <a:latin typeface="Arial"/>
                          <a:ea typeface="Arial"/>
                          <a:cs typeface="Arial"/>
                        </a:rPr>
                        <a:t>13</a:t>
                      </a:r>
                    </a:p>
                  </a:txBody>
                  <a:tcPr marL="114300" marR="114300" marT="66675" marB="66675" anchor="ctr">
                    <a:solidFill>
                      <a:srgbClr val="F1F5F8"/>
                    </a:solidFill>
                  </a:tcPr>
                </a:tc>
              </a:tr>
              <a:tr h="576943">
                <a:tc>
                  <a:txBody>
                    <a:bodyPr/>
                    <a:lstStyle/>
                    <a:p>
                      <a:r>
                        <a:rPr sz="2250">
                          <a:solidFill>
                            <a:srgbClr val="173047"/>
                          </a:solidFill>
                          <a:latin typeface="Arial"/>
                          <a:ea typeface="Arial"/>
                          <a:cs typeface="Arial"/>
                        </a:rPr>
                        <a:t>B-C</a:t>
                      </a:r>
                    </a:p>
                  </a:txBody>
                  <a:tcPr marL="114300" marR="114300" marT="66675" marB="66675" anchor="ctr">
                    <a:solidFill>
                      <a:srgbClr val="FFFFFF"/>
                    </a:solidFill>
                  </a:tcPr>
                </a:tc>
                <a:tc>
                  <a:txBody>
                    <a:bodyPr/>
                    <a:lstStyle/>
                    <a:p>
                      <a:r>
                        <a:rPr sz="2250">
                          <a:solidFill>
                            <a:srgbClr val="173047"/>
                          </a:solidFill>
                          <a:latin typeface="Arial"/>
                          <a:ea typeface="Arial"/>
                          <a:cs typeface="Arial"/>
                        </a:rPr>
                        <a:t>3</a:t>
                      </a:r>
                    </a:p>
                  </a:txBody>
                  <a:tcPr marL="114300" marR="114300" marT="66675" marB="66675" anchor="ctr">
                    <a:solidFill>
                      <a:srgbClr val="FFFFFF"/>
                    </a:solidFill>
                  </a:tcPr>
                </a:tc>
                <a:tc>
                  <a:txBody>
                    <a:bodyPr/>
                    <a:lstStyle/>
                    <a:p>
                      <a:r>
                        <a:rPr sz="2250">
                          <a:solidFill>
                            <a:srgbClr val="173047"/>
                          </a:solidFill>
                          <a:latin typeface="Arial"/>
                          <a:ea typeface="Arial"/>
                          <a:cs typeface="Arial"/>
                        </a:rPr>
                        <a:t>9</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12</a:t>
                      </a:r>
                    </a:p>
                  </a:txBody>
                  <a:tcPr marL="114300" marR="114300" marT="66675" marB="66675" anchor="ctr">
                    <a:solidFill>
                      <a:srgbClr val="FFFFFF"/>
                    </a:solidFill>
                  </a:tcPr>
                </a:tc>
              </a:tr>
              <a:tr h="576943">
                <a:tc>
                  <a:txBody>
                    <a:bodyPr/>
                    <a:lstStyle/>
                    <a:p>
                      <a:r>
                        <a:rPr sz="2250">
                          <a:solidFill>
                            <a:srgbClr val="173047"/>
                          </a:solidFill>
                          <a:latin typeface="Arial"/>
                          <a:ea typeface="Arial"/>
                          <a:cs typeface="Arial"/>
                        </a:rPr>
                        <a:t>C-B</a:t>
                      </a:r>
                    </a:p>
                  </a:txBody>
                  <a:tcPr marL="114300" marR="114300" marT="66675" marB="66675" anchor="ctr">
                    <a:solidFill>
                      <a:srgbClr val="F1F5F8"/>
                    </a:solidFill>
                  </a:tcPr>
                </a:tc>
                <a:tc>
                  <a:txBody>
                    <a:bodyPr/>
                    <a:lstStyle/>
                    <a:p>
                      <a:r>
                        <a:rPr sz="2250">
                          <a:solidFill>
                            <a:srgbClr val="173047"/>
                          </a:solidFill>
                          <a:latin typeface="Arial"/>
                          <a:ea typeface="Arial"/>
                          <a:cs typeface="Arial"/>
                        </a:rPr>
                        <a:t>9</a:t>
                      </a:r>
                    </a:p>
                  </a:txBody>
                  <a:tcPr marL="114300" marR="114300" marT="66675" marB="66675" anchor="ctr">
                    <a:solidFill>
                      <a:srgbClr val="F1F5F8"/>
                    </a:solidFill>
                  </a:tcPr>
                </a:tc>
                <a:tc>
                  <a:txBody>
                    <a:bodyPr/>
                    <a:lstStyle/>
                    <a:p>
                      <a:r>
                        <a:rPr sz="2250">
                          <a:solidFill>
                            <a:srgbClr val="173047"/>
                          </a:solidFill>
                          <a:latin typeface="Arial"/>
                          <a:ea typeface="Arial"/>
                          <a:cs typeface="Arial"/>
                        </a:rPr>
                        <a:t>3</a:t>
                      </a:r>
                    </a:p>
                  </a:txBody>
                  <a:tcPr marL="114300" marR="114300" marT="66675" marB="66675" anchor="ctr">
                    <a:solidFill>
                      <a:srgbClr val="F1F5F8"/>
                    </a:solidFill>
                  </a:tcPr>
                </a:tc>
                <a:tc>
                  <a:txBody>
                    <a:bodyPr/>
                    <a:lstStyle/>
                    <a:p>
                      <a:r>
                        <a:rPr sz="2250">
                          <a:solidFill>
                            <a:srgbClr val="173047"/>
                          </a:solidFill>
                          <a:latin typeface="Arial"/>
                          <a:ea typeface="Arial"/>
                          <a:cs typeface="Arial"/>
                        </a:rPr>
                        <a:t>12</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AFDED173-872A-49B8-9500-80C37FD21FA6}"/>
              </a:ext>
            </a:extLst>
          </p:cNvPr>
          <p:cNvSpPr>
            <a:spLocks xmlns:a="http://schemas.openxmlformats.org/drawingml/2006/main" noGrp="1"/>
          </p:cNvSpPr>
          <p:nvPr/>
        </p:nvSpPr>
        <p:spPr>
          <a:xfrm xmlns:a="http://schemas.openxmlformats.org/drawingml/2006/main">
            <a:off x="762000" y="560070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66779"/>
                </a:solidFill>
                <a:latin typeface="Arial"/>
                <a:ea typeface="Arial"/>
                <a:cs typeface="Arial"/>
              </a:defRPr>
            </a:defPPr>
          </a:lstStyle>
          <a:p xmlns:a="http://schemas.openxmlformats.org/drawingml/2006/main">
            <a:pPr algn="l">
              <a:buNone/>
              <a:defRPr sz="2025" b="0">
                <a:solidFill>
                  <a:srgbClr val="566779"/>
                </a:solidFill>
                <a:latin typeface="Arial"/>
                <a:ea typeface="Arial"/>
                <a:cs typeface="Arial"/>
              </a:defRPr>
            </a:pPr>
            <a:r>
              <a:rPr sz="2025" b="0">
                <a:solidFill>
                  <a:srgbClr val="566779"/>
                </a:solidFill>
                <a:latin typeface="Arial"/>
                <a:ea typeface="Arial"/>
                <a:cs typeface="Arial"/>
              </a:rPr>
              <a:t>Штраф = інший min рядка + інший min стовпця</a:t>
            </a:r>
          </a:p>
        </p:txBody>
      </p:sp>
    </p:spTree>
    <p:extLst>
      <p:ext uri="{BB962C8B-B14F-4D97-AF65-F5344CB8AC3E}">
        <p14:creationId xmlns:p14="http://schemas.microsoft.com/office/powerpoint/2010/main" val="82144918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9E77D60-2D63-4F47-B728-56F8DB9006C5}"/>
              </a:ext>
            </a:extLst>
          </p:cNvPr>
          <p:cNvCxnSpPr>
            <a:stCxn xmlns:a="http://schemas.openxmlformats.org/drawingml/2006/main" id="4" idx="2"/>
            <a:endCxn xmlns:a="http://schemas.openxmlformats.org/drawingml/2006/main" id="8" idx="0"/>
          </p:cNvCxnSpPr>
          <p:nvPr/>
        </p:nvCxnSpPr>
        <p:spPr>
          <a:xfrm xmlns:a="http://schemas.openxmlformats.org/drawingml/2006/main">
            <a:off x="6096000" y="2466975"/>
            <a:ext cx="2928938" cy="1323975"/>
          </a:xfrm>
          <a:prstGeom xmlns:a="http://schemas.openxmlformats.org/drawingml/2006/main" prst="straightConnector1">
            <a:avLst/>
          </a:prstGeom>
          <a:ln xmlns:a="http://schemas.openxmlformats.org/drawingml/2006/main" w="28575">
            <a:solidFill>
              <a:srgbClr val="2868AF"/>
            </a:solidFill>
            <a:tailEnd type="triangle" w="med" len="med"/>
          </a:ln>
        </p:spPr>
      </p:cxnSp>
      <p:cxnSp>
        <p:nvCxnSpPr>
          <p:cNvPr id="10" name="">
            <a:extLst xmlns:a="http://schemas.openxmlformats.org/drawingml/2006/main">
              <a:ext uri="{FF2B5EF4-FFF2-40B4-BE49-F238E27FC236}">
                <a16:creationId xmlns:a16="http://schemas.microsoft.com/office/drawing/2014/main" id="{955D57E1-590A-4832-8774-C94342BFA3EF}"/>
              </a:ext>
            </a:extLst>
          </p:cNvPr>
          <p:cNvCxnSpPr>
            <a:stCxn xmlns:a="http://schemas.openxmlformats.org/drawingml/2006/main" id="4" idx="2"/>
            <a:endCxn xmlns:a="http://schemas.openxmlformats.org/drawingml/2006/main" id="6" idx="0"/>
          </p:cNvCxnSpPr>
          <p:nvPr/>
        </p:nvCxnSpPr>
        <p:spPr>
          <a:xfrm xmlns:a="http://schemas.openxmlformats.org/drawingml/2006/main" flipH="1">
            <a:off x="3167063" y="2466975"/>
            <a:ext cx="2928938" cy="1323975"/>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13" name="">
            <a:extLst xmlns:a="http://schemas.openxmlformats.org/drawingml/2006/main">
              <a:ext uri="{FF2B5EF4-FFF2-40B4-BE49-F238E27FC236}">
                <a16:creationId xmlns:a16="http://schemas.microsoft.com/office/drawing/2014/main" id="{CF863FFF-1D3A-4FAB-9231-39860ECF1FB9}"/>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Перше розгалуження: дуга S-A</a:t>
            </a:r>
          </a:p>
        </p:txBody>
      </p:sp>
      <p:sp>
        <p:nvSpPr>
          <p:cNvPr id="2" name="">
            <a:extLst xmlns:a="http://schemas.openxmlformats.org/drawingml/2006/main">
              <a:ext uri="{FF2B5EF4-FFF2-40B4-BE49-F238E27FC236}">
                <a16:creationId xmlns:a16="http://schemas.microsoft.com/office/drawing/2014/main" id="{39975CC2-ADDE-4B56-9A58-5201B6103D1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Включити або виключити: дві гілки охоплюють усі можливі тури.</a:t>
            </a:r>
          </a:p>
        </p:txBody>
      </p:sp>
      <p:sp>
        <p:nvSpPr>
          <p:cNvPr id="3" name="">
            <a:extLst xmlns:a="http://schemas.openxmlformats.org/drawingml/2006/main">
              <a:ext uri="{FF2B5EF4-FFF2-40B4-BE49-F238E27FC236}">
                <a16:creationId xmlns:a16="http://schemas.microsoft.com/office/drawing/2014/main" id="{525187C5-E267-4B42-9C5B-EE4DC84CC0C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50</a:t>
            </a:r>
          </a:p>
        </p:txBody>
      </p:sp>
      <p:sp>
        <p:nvSpPr>
          <p:cNvPr id="4" name="">
            <a:extLst xmlns:a="http://schemas.openxmlformats.org/drawingml/2006/main">
              <a:ext uri="{FF2B5EF4-FFF2-40B4-BE49-F238E27FC236}">
                <a16:creationId xmlns:a16="http://schemas.microsoft.com/office/drawing/2014/main" id="{38FFE65F-19C6-4043-AE6E-24EFBCEA7C59}"/>
              </a:ext>
            </a:extLst>
          </p:cNvPr>
          <p:cNvSpPr>
            <a:spLocks xmlns:a="http://schemas.openxmlformats.org/drawingml/2006/main" noGrp="1"/>
          </p:cNvSpPr>
          <p:nvPr/>
        </p:nvSpPr>
        <p:spPr>
          <a:xfrm xmlns:a="http://schemas.openxmlformats.org/drawingml/2006/main">
            <a:off x="3810000" y="1495425"/>
            <a:ext cx="4572000" cy="97155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5" name="">
            <a:extLst xmlns:a="http://schemas.openxmlformats.org/drawingml/2006/main">
              <a:ext uri="{FF2B5EF4-FFF2-40B4-BE49-F238E27FC236}">
                <a16:creationId xmlns:a16="http://schemas.microsoft.com/office/drawing/2014/main" id="{3D97D7FC-7389-4586-B54C-C33E102B0AFD}"/>
              </a:ext>
            </a:extLst>
          </p:cNvPr>
          <p:cNvSpPr>
            <a:spLocks xmlns:a="http://schemas.openxmlformats.org/drawingml/2006/main" noGrp="1"/>
          </p:cNvSpPr>
          <p:nvPr/>
        </p:nvSpPr>
        <p:spPr>
          <a:xfrm xmlns:a="http://schemas.openxmlformats.org/drawingml/2006/main">
            <a:off x="3905250" y="1543050"/>
            <a:ext cx="4381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N0: L = 12</a:t>
            </a:r>
          </a:p>
        </p:txBody>
      </p:sp>
      <p:sp>
        <p:nvSpPr>
          <p:cNvPr id="6" name="">
            <a:extLst xmlns:a="http://schemas.openxmlformats.org/drawingml/2006/main">
              <a:ext uri="{FF2B5EF4-FFF2-40B4-BE49-F238E27FC236}">
                <a16:creationId xmlns:a16="http://schemas.microsoft.com/office/drawing/2014/main" id="{D3866237-9281-44D3-BC56-40CF3F4F6D31}"/>
              </a:ext>
            </a:extLst>
          </p:cNvPr>
          <p:cNvSpPr>
            <a:spLocks xmlns:a="http://schemas.openxmlformats.org/drawingml/2006/main" noGrp="1"/>
          </p:cNvSpPr>
          <p:nvPr/>
        </p:nvSpPr>
        <p:spPr>
          <a:xfrm xmlns:a="http://schemas.openxmlformats.org/drawingml/2006/main">
            <a:off x="762000" y="3790950"/>
            <a:ext cx="4810125" cy="1524000"/>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7" name="">
            <a:extLst xmlns:a="http://schemas.openxmlformats.org/drawingml/2006/main">
              <a:ext uri="{FF2B5EF4-FFF2-40B4-BE49-F238E27FC236}">
                <a16:creationId xmlns:a16="http://schemas.microsoft.com/office/drawing/2014/main" id="{EE6199BB-B741-4742-A312-2DC3DCF0ACAE}"/>
              </a:ext>
            </a:extLst>
          </p:cNvPr>
          <p:cNvSpPr>
            <a:spLocks xmlns:a="http://schemas.openxmlformats.org/drawingml/2006/main" noGrp="1"/>
          </p:cNvSpPr>
          <p:nvPr/>
        </p:nvSpPr>
        <p:spPr>
          <a:xfrm xmlns:a="http://schemas.openxmlformats.org/drawingml/2006/main">
            <a:off x="857250" y="3838575"/>
            <a:ext cx="4619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Включити S-A</a:t>
            </a:r>
          </a:p>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N1: L = 29</a:t>
            </a:r>
          </a:p>
        </p:txBody>
      </p:sp>
      <p:sp>
        <p:nvSpPr>
          <p:cNvPr id="8" name="">
            <a:extLst xmlns:a="http://schemas.openxmlformats.org/drawingml/2006/main">
              <a:ext uri="{FF2B5EF4-FFF2-40B4-BE49-F238E27FC236}">
                <a16:creationId xmlns:a16="http://schemas.microsoft.com/office/drawing/2014/main" id="{D853E60A-CCF5-48A1-A898-9C2995754C0F}"/>
              </a:ext>
            </a:extLst>
          </p:cNvPr>
          <p:cNvSpPr>
            <a:spLocks xmlns:a="http://schemas.openxmlformats.org/drawingml/2006/main" noGrp="1"/>
          </p:cNvSpPr>
          <p:nvPr/>
        </p:nvSpPr>
        <p:spPr>
          <a:xfrm xmlns:a="http://schemas.openxmlformats.org/drawingml/2006/main">
            <a:off x="6619875" y="3790950"/>
            <a:ext cx="4810125" cy="152400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9" name="">
            <a:extLst xmlns:a="http://schemas.openxmlformats.org/drawingml/2006/main">
              <a:ext uri="{FF2B5EF4-FFF2-40B4-BE49-F238E27FC236}">
                <a16:creationId xmlns:a16="http://schemas.microsoft.com/office/drawing/2014/main" id="{C56E12C0-CDC5-43C6-9CB6-3E828917925C}"/>
              </a:ext>
            </a:extLst>
          </p:cNvPr>
          <p:cNvSpPr>
            <a:spLocks xmlns:a="http://schemas.openxmlformats.org/drawingml/2006/main" noGrp="1"/>
          </p:cNvSpPr>
          <p:nvPr/>
        </p:nvSpPr>
        <p:spPr>
          <a:xfrm xmlns:a="http://schemas.openxmlformats.org/drawingml/2006/main">
            <a:off x="6715125" y="3838575"/>
            <a:ext cx="4619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173047"/>
                </a:solidFill>
                <a:latin typeface="Arial"/>
                <a:ea typeface="Arial"/>
                <a:cs typeface="Arial"/>
              </a:defRPr>
            </a:defPPr>
          </a:lstStyle>
          <a:p xmlns:a="http://schemas.openxmlformats.org/drawingml/2006/main">
            <a:pPr algn="ctr">
              <a:buNone/>
              <a:defRPr sz="2775" b="1">
                <a:solidFill>
                  <a:srgbClr val="173047"/>
                </a:solidFill>
                <a:latin typeface="Arial"/>
                <a:ea typeface="Arial"/>
                <a:cs typeface="Arial"/>
              </a:defRPr>
            </a:pPr>
            <a:r>
              <a:rPr sz="2775" b="1">
                <a:solidFill>
                  <a:srgbClr val="173047"/>
                </a:solidFill>
                <a:latin typeface="Arial"/>
                <a:ea typeface="Arial"/>
                <a:cs typeface="Arial"/>
              </a:rPr>
              <a:t>Виключити S-A</a:t>
            </a:r>
          </a:p>
          <a:p xmlns:a="http://schemas.openxmlformats.org/drawingml/2006/main">
            <a:pPr algn="ctr">
              <a:buNone/>
              <a:defRPr sz="2775" b="1">
                <a:solidFill>
                  <a:srgbClr val="173047"/>
                </a:solidFill>
                <a:latin typeface="Arial"/>
                <a:ea typeface="Arial"/>
                <a:cs typeface="Arial"/>
              </a:defRPr>
            </a:pPr>
            <a:r>
              <a:rPr sz="2775" b="1">
                <a:solidFill>
                  <a:srgbClr val="173047"/>
                </a:solidFill>
                <a:latin typeface="Arial"/>
                <a:ea typeface="Arial"/>
                <a:cs typeface="Arial"/>
              </a:rPr>
              <a:t>N2: L = 29</a:t>
            </a:r>
          </a:p>
        </p:txBody>
      </p:sp>
      <p:sp>
        <p:nvSpPr>
          <p:cNvPr id="12" name="">
            <a:extLst xmlns:a="http://schemas.openxmlformats.org/drawingml/2006/main">
              <a:ext uri="{FF2B5EF4-FFF2-40B4-BE49-F238E27FC236}">
                <a16:creationId xmlns:a16="http://schemas.microsoft.com/office/drawing/2014/main" id="{51F7D5C8-92E0-4387-B232-A78377D27341}"/>
              </a:ext>
            </a:extLst>
          </p:cNvPr>
          <p:cNvSpPr>
            <a:spLocks xmlns:a="http://schemas.openxmlformats.org/drawingml/2006/main" noGrp="1"/>
          </p:cNvSpPr>
          <p:nvPr/>
        </p:nvSpPr>
        <p:spPr>
          <a:xfrm xmlns:a="http://schemas.openxmlformats.org/drawingml/2006/main">
            <a:off x="762000" y="5419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0">
                <a:solidFill>
                  <a:srgbClr val="566779"/>
                </a:solidFill>
                <a:latin typeface="Arial"/>
                <a:ea typeface="Arial"/>
                <a:cs typeface="Arial"/>
              </a:defRPr>
            </a:defPPr>
          </a:lstStyle>
          <a:p xmlns:a="http://schemas.openxmlformats.org/drawingml/2006/main">
            <a:pPr algn="ctr">
              <a:buNone/>
              <a:defRPr sz="2175" b="0">
                <a:solidFill>
                  <a:srgbClr val="566779"/>
                </a:solidFill>
                <a:latin typeface="Arial"/>
                <a:ea typeface="Arial"/>
                <a:cs typeface="Arial"/>
              </a:defRPr>
            </a:pPr>
            <a:r>
              <a:rPr sz="2175" b="0">
                <a:solidFill>
                  <a:srgbClr val="566779"/>
                </a:solidFill>
                <a:latin typeface="Arial"/>
                <a:ea typeface="Arial"/>
                <a:cs typeface="Arial"/>
              </a:rPr>
              <a:t>В обох гілках додаткова редукція становить 17</a:t>
            </a:r>
          </a:p>
        </p:txBody>
      </p:sp>
    </p:spTree>
    <p:extLst>
      <p:ext uri="{BB962C8B-B14F-4D97-AF65-F5344CB8AC3E}">
        <p14:creationId xmlns:p14="http://schemas.microsoft.com/office/powerpoint/2010/main" val="123271555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1CCE3E-5C6A-4A9B-8E29-DDE9D22DFC6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Включення S-A: перед редукцією</a:t>
            </a:r>
          </a:p>
        </p:txBody>
      </p:sp>
      <p:sp>
        <p:nvSpPr>
          <p:cNvPr id="2" name="">
            <a:extLst xmlns:a="http://schemas.openxmlformats.org/drawingml/2006/main">
              <a:ext uri="{FF2B5EF4-FFF2-40B4-BE49-F238E27FC236}">
                <a16:creationId xmlns:a16="http://schemas.microsoft.com/office/drawing/2014/main" id="{0B765711-A366-4DE3-B99B-7740BA69F02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У рядку A мінімум 8. Після його віднімання мінімум стовпця S дорівнює 9.</a:t>
            </a:r>
          </a:p>
        </p:txBody>
      </p:sp>
      <p:sp>
        <p:nvSpPr>
          <p:cNvPr id="3" name="">
            <a:extLst xmlns:a="http://schemas.openxmlformats.org/drawingml/2006/main">
              <a:ext uri="{FF2B5EF4-FFF2-40B4-BE49-F238E27FC236}">
                <a16:creationId xmlns:a16="http://schemas.microsoft.com/office/drawing/2014/main" id="{BBC4688A-B0E7-42B9-AD0D-647B3995C3E3}"/>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51</a:t>
            </a:r>
          </a:p>
        </p:txBody>
      </p:sp>
      <p:graphicFrame>
        <p:nvGraphicFramePr>
          <p:cNvPr id="4" name="">
            <a:extLst xmlns:a="http://schemas.openxmlformats.org/drawingml/2006/main">
              <a:ext uri="{FF2B5EF4-FFF2-40B4-BE49-F238E27FC236}">
                <a16:creationId xmlns:a16="http://schemas.microsoft.com/office/drawing/2014/main" id="{C0D4CF33-76AE-47A5-B1B7-E2888FB9A343}"/>
              </a:ext>
            </a:extLst>
          </p:cNvPr>
          <p:cNvGraphicFramePr/>
          <p:nvPr/>
        </p:nvGraphicFramePr>
        <p:xfrm>
          <a:off xmlns:a="http://schemas.openxmlformats.org/drawingml/2006/main" x="762000" y="1657350"/>
          <a:ext xmlns:a="http://schemas.openxmlformats.org/drawingml/2006/main" cx="7048500" cy="3581400"/>
        </p:xfrm>
        <a:graphic xmlns:a="http://schemas.openxmlformats.org/drawingml/2006/main">
          <a:graphicData uri="http://schemas.openxmlformats.org/drawingml/2006/table">
            <a:tbl>
              <a:tblPr/>
              <a:tblGrid>
                <a:gridCol w="1174750"/>
                <a:gridCol w="1174750"/>
                <a:gridCol w="1174750"/>
                <a:gridCol w="1174750"/>
                <a:gridCol w="1174750"/>
                <a:gridCol w="1174750"/>
              </a:tblGrid>
              <a:tr h="596900">
                <a:tc>
                  <a:txBody>
                    <a:bodyPr/>
                    <a:lstStyle/>
                    <a:p>
                      <a:r>
                        <a:rPr sz="2325" b="1">
                          <a:solidFill>
                            <a:srgbClr val="FFFFFF"/>
                          </a:solidFill>
                          <a:latin typeface="Arial"/>
                          <a:ea typeface="Arial"/>
                          <a:cs typeface="Arial"/>
                        </a:rPr>
                        <a:t>З/До</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S</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B</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C</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E</a:t>
                      </a:r>
                    </a:p>
                  </a:txBody>
                  <a:tcPr marL="114300" marR="114300" marT="66675" marB="66675" anchor="ctr">
                    <a:solidFill>
                      <a:srgbClr val="173047"/>
                    </a:solidFill>
                  </a:tcPr>
                </a:tc>
              </a:tr>
              <a:tr h="59690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13</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19</a:t>
                      </a:r>
                    </a:p>
                  </a:txBody>
                  <a:tcPr marL="114300" marR="114300" marT="66675" marB="66675" anchor="ctr">
                    <a:solidFill>
                      <a:srgbClr val="FFFFFF"/>
                    </a:solidFill>
                  </a:tcPr>
                </a:tc>
                <a:tc>
                  <a:txBody>
                    <a:bodyPr/>
                    <a:lstStyle/>
                    <a:p>
                      <a:r>
                        <a:rPr sz="2325">
                          <a:solidFill>
                            <a:srgbClr val="173047"/>
                          </a:solidFill>
                          <a:latin typeface="Arial"/>
                          <a:ea typeface="Arial"/>
                          <a:cs typeface="Arial"/>
                        </a:rPr>
                        <a:t>8</a:t>
                      </a:r>
                    </a:p>
                  </a:txBody>
                  <a:tcPr marL="114300" marR="114300" marT="66675" marB="66675" anchor="ctr">
                    <a:solidFill>
                      <a:srgbClr val="FFF2D8"/>
                    </a:solidFill>
                  </a:tcPr>
                </a:tc>
                <a:tc>
                  <a:txBody>
                    <a:bodyPr/>
                    <a:lstStyle/>
                    <a:p>
                      <a:r>
                        <a:rPr sz="2325">
                          <a:solidFill>
                            <a:srgbClr val="173047"/>
                          </a:solidFill>
                          <a:latin typeface="Arial"/>
                          <a:ea typeface="Arial"/>
                          <a:cs typeface="Arial"/>
                        </a:rPr>
                        <a:t>12</a:t>
                      </a:r>
                    </a:p>
                  </a:txBody>
                  <a:tcPr marL="114300" marR="114300" marT="66675" marB="66675" anchor="ctr">
                    <a:solidFill>
                      <a:srgbClr val="FFFFFF"/>
                    </a:solidFill>
                  </a:tcPr>
                </a:tc>
              </a:tr>
              <a:tr h="596900">
                <a:tc>
                  <a:txBody>
                    <a:bodyPr/>
                    <a:lstStyle/>
                    <a:p>
                      <a:r>
                        <a:rPr sz="2325">
                          <a:solidFill>
                            <a:srgbClr val="173047"/>
                          </a:solidFill>
                          <a:latin typeface="Arial"/>
                          <a:ea typeface="Arial"/>
                          <a:cs typeface="Arial"/>
                        </a:rPr>
                        <a:t>B</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14</a:t>
                      </a:r>
                    </a:p>
                  </a:txBody>
                  <a:tcPr marL="114300" marR="114300" marT="66675" marB="66675" anchor="ctr">
                    <a:solidFill>
                      <a:srgbClr val="F1F5F8"/>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173047"/>
                          </a:solidFill>
                          <a:latin typeface="Arial"/>
                          <a:ea typeface="Arial"/>
                          <a:cs typeface="Arial"/>
                        </a:rPr>
                        <a:t>3</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16</a:t>
                      </a:r>
                    </a:p>
                  </a:txBody>
                  <a:tcPr marL="114300" marR="114300" marT="66675" marB="66675" anchor="ctr">
                    <a:solidFill>
                      <a:srgbClr val="F1F5F8"/>
                    </a:solidFill>
                  </a:tcPr>
                </a:tc>
              </a:tr>
              <a:tr h="596900">
                <a:tc>
                  <a:txBody>
                    <a:bodyPr/>
                    <a:lstStyle/>
                    <a:p>
                      <a:r>
                        <a:rPr sz="2325">
                          <a:solidFill>
                            <a:srgbClr val="173047"/>
                          </a:solidFill>
                          <a:latin typeface="Arial"/>
                          <a:ea typeface="Arial"/>
                          <a:cs typeface="Arial"/>
                        </a:rPr>
                        <a:t>C</a:t>
                      </a:r>
                    </a:p>
                  </a:txBody>
                  <a:tcPr marL="114300" marR="114300" marT="66675" marB="66675" anchor="ctr">
                    <a:solidFill>
                      <a:srgbClr val="FFFFFF"/>
                    </a:solidFill>
                  </a:tcPr>
                </a:tc>
                <a:tc>
                  <a:txBody>
                    <a:bodyPr/>
                    <a:lstStyle/>
                    <a:p>
                      <a:r>
                        <a:rPr sz="2325">
                          <a:solidFill>
                            <a:srgbClr val="173047"/>
                          </a:solidFill>
                          <a:latin typeface="Arial"/>
                          <a:ea typeface="Arial"/>
                          <a:cs typeface="Arial"/>
                        </a:rPr>
                        <a:t>9</a:t>
                      </a:r>
                    </a:p>
                  </a:txBody>
                  <a:tcPr marL="114300" marR="114300" marT="66675" marB="66675" anchor="ctr">
                    <a:solidFill>
                      <a:srgbClr val="FFF2D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r>
              <a:tr h="596900">
                <a:tc>
                  <a:txBody>
                    <a:bodyPr/>
                    <a:lstStyle/>
                    <a:p>
                      <a:r>
                        <a:rPr sz="2325">
                          <a:solidFill>
                            <a:srgbClr val="173047"/>
                          </a:solidFill>
                          <a:latin typeface="Arial"/>
                          <a:ea typeface="Arial"/>
                          <a:cs typeface="Arial"/>
                        </a:rPr>
                        <a:t>D</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17</a:t>
                      </a:r>
                    </a:p>
                  </a:txBody>
                  <a:tcPr marL="114300" marR="114300" marT="66675" marB="66675" anchor="ctr">
                    <a:solidFill>
                      <a:srgbClr val="F1F5F8"/>
                    </a:solidFill>
                  </a:tcPr>
                </a:tc>
                <a:tc>
                  <a:txBody>
                    <a:bodyPr/>
                    <a:lstStyle/>
                    <a:p>
                      <a:r>
                        <a:rPr sz="2325">
                          <a:solidFill>
                            <a:srgbClr val="173047"/>
                          </a:solidFill>
                          <a:latin typeface="Arial"/>
                          <a:ea typeface="Arial"/>
                          <a:cs typeface="Arial"/>
                        </a:rPr>
                        <a:t>3</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r>
              <a:tr h="596900">
                <a:tc>
                  <a:txBody>
                    <a:bodyPr/>
                    <a:lstStyle/>
                    <a:p>
                      <a:r>
                        <a:rPr sz="2325">
                          <a:solidFill>
                            <a:srgbClr val="173047"/>
                          </a:solidFill>
                          <a:latin typeface="Arial"/>
                          <a:ea typeface="Arial"/>
                          <a:cs typeface="Arial"/>
                        </a:rPr>
                        <a:t>E</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16</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89789666-8F8E-4132-94B1-4C7D5D93B4A0}"/>
              </a:ext>
            </a:extLst>
          </p:cNvPr>
          <p:cNvSpPr>
            <a:spLocks xmlns:a="http://schemas.openxmlformats.org/drawingml/2006/main" noGrp="1"/>
          </p:cNvSpPr>
          <p:nvPr/>
        </p:nvSpPr>
        <p:spPr>
          <a:xfrm xmlns:a="http://schemas.openxmlformats.org/drawingml/2006/main">
            <a:off x="8191500" y="1733550"/>
            <a:ext cx="323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A96B00"/>
                </a:solidFill>
                <a:latin typeface="Arial"/>
                <a:ea typeface="Arial"/>
                <a:cs typeface="Arial"/>
              </a:defRPr>
            </a:defPPr>
          </a:lstStyle>
          <a:p xmlns:a="http://schemas.openxmlformats.org/drawingml/2006/main">
            <a:pPr algn="l">
              <a:buNone/>
              <a:defRPr sz="2475" b="1">
                <a:solidFill>
                  <a:srgbClr val="A96B00"/>
                </a:solidFill>
                <a:latin typeface="Arial"/>
                <a:ea typeface="Arial"/>
                <a:cs typeface="Arial"/>
              </a:defRPr>
            </a:pPr>
            <a:r>
              <a:rPr sz="2475" b="1">
                <a:solidFill>
                  <a:srgbClr val="A96B00"/>
                </a:solidFill>
                <a:latin typeface="Arial"/>
                <a:ea typeface="Arial"/>
                <a:cs typeface="Arial"/>
              </a:rPr>
              <a:t>Рядок A: min = 8</a:t>
            </a:r>
          </a:p>
        </p:txBody>
      </p:sp>
      <p:sp>
        <p:nvSpPr>
          <p:cNvPr id="6" name="">
            <a:extLst xmlns:a="http://schemas.openxmlformats.org/drawingml/2006/main">
              <a:ext uri="{FF2B5EF4-FFF2-40B4-BE49-F238E27FC236}">
                <a16:creationId xmlns:a16="http://schemas.microsoft.com/office/drawing/2014/main" id="{85F01202-A91A-4CE2-A2C9-B61D7846F2A5}"/>
              </a:ext>
            </a:extLst>
          </p:cNvPr>
          <p:cNvSpPr>
            <a:spLocks xmlns:a="http://schemas.openxmlformats.org/drawingml/2006/main" noGrp="1"/>
          </p:cNvSpPr>
          <p:nvPr/>
        </p:nvSpPr>
        <p:spPr>
          <a:xfrm xmlns:a="http://schemas.openxmlformats.org/drawingml/2006/main">
            <a:off x="8191500" y="3190875"/>
            <a:ext cx="323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A96B00"/>
                </a:solidFill>
                <a:latin typeface="Arial"/>
                <a:ea typeface="Arial"/>
                <a:cs typeface="Arial"/>
              </a:defRPr>
            </a:defPPr>
          </a:lstStyle>
          <a:p xmlns:a="http://schemas.openxmlformats.org/drawingml/2006/main">
            <a:pPr algn="l">
              <a:buNone/>
              <a:defRPr sz="2400" b="1">
                <a:solidFill>
                  <a:srgbClr val="A96B00"/>
                </a:solidFill>
                <a:latin typeface="Arial"/>
                <a:ea typeface="Arial"/>
                <a:cs typeface="Arial"/>
              </a:defRPr>
            </a:pPr>
            <a:r>
              <a:rPr sz="2400" b="1">
                <a:solidFill>
                  <a:srgbClr val="A96B00"/>
                </a:solidFill>
                <a:latin typeface="Arial"/>
                <a:ea typeface="Arial"/>
                <a:cs typeface="Arial"/>
              </a:rPr>
              <a:t>Далі стовпець S:</a:t>
            </a:r>
          </a:p>
          <a:p xmlns:a="http://schemas.openxmlformats.org/drawingml/2006/main">
            <a:pPr algn="l">
              <a:buNone/>
              <a:defRPr sz="2400" b="1">
                <a:solidFill>
                  <a:srgbClr val="A96B00"/>
                </a:solidFill>
                <a:latin typeface="Arial"/>
                <a:ea typeface="Arial"/>
                <a:cs typeface="Arial"/>
              </a:defRPr>
            </a:pPr>
            <a:r>
              <a:rPr sz="2400" b="1">
                <a:solidFill>
                  <a:srgbClr val="A96B00"/>
                </a:solidFill>
                <a:latin typeface="Arial"/>
                <a:ea typeface="Arial"/>
                <a:cs typeface="Arial"/>
              </a:rPr>
              <a:t>min = 9</a:t>
            </a:r>
          </a:p>
        </p:txBody>
      </p:sp>
      <p:sp>
        <p:nvSpPr>
          <p:cNvPr id="7" name="">
            <a:extLst xmlns:a="http://schemas.openxmlformats.org/drawingml/2006/main">
              <a:ext uri="{FF2B5EF4-FFF2-40B4-BE49-F238E27FC236}">
                <a16:creationId xmlns:a16="http://schemas.microsoft.com/office/drawing/2014/main" id="{CD1E6CB5-D15A-4FA2-8CE3-C4FAFB4E3272}"/>
              </a:ext>
            </a:extLst>
          </p:cNvPr>
          <p:cNvSpPr>
            <a:spLocks xmlns:a="http://schemas.openxmlformats.org/drawingml/2006/main" noGrp="1"/>
          </p:cNvSpPr>
          <p:nvPr/>
        </p:nvSpPr>
        <p:spPr>
          <a:xfrm xmlns:a="http://schemas.openxmlformats.org/drawingml/2006/main">
            <a:off x="8191500" y="4657725"/>
            <a:ext cx="323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2868AF"/>
                </a:solidFill>
                <a:latin typeface="Arial"/>
                <a:ea typeface="Arial"/>
                <a:cs typeface="Arial"/>
              </a:defRPr>
            </a:defPPr>
          </a:lstStyle>
          <a:p xmlns:a="http://schemas.openxmlformats.org/drawingml/2006/main">
            <a:pPr algn="l">
              <a:buNone/>
              <a:defRPr sz="2400" b="1">
                <a:solidFill>
                  <a:srgbClr val="2868AF"/>
                </a:solidFill>
                <a:latin typeface="Arial"/>
                <a:ea typeface="Arial"/>
                <a:cs typeface="Arial"/>
              </a:defRPr>
            </a:pPr>
            <a:r>
              <a:rPr sz="2400" b="1">
                <a:solidFill>
                  <a:srgbClr val="2868AF"/>
                </a:solidFill>
                <a:latin typeface="Arial"/>
                <a:ea typeface="Arial"/>
                <a:cs typeface="Arial"/>
              </a:rPr>
              <a:t>Додаткова редукція:</a:t>
            </a:r>
          </a:p>
          <a:p xmlns:a="http://schemas.openxmlformats.org/drawingml/2006/main">
            <a:pPr algn="l">
              <a:buNone/>
              <a:defRPr sz="2400" b="1">
                <a:solidFill>
                  <a:srgbClr val="2868AF"/>
                </a:solidFill>
                <a:latin typeface="Arial"/>
                <a:ea typeface="Arial"/>
                <a:cs typeface="Arial"/>
              </a:defRPr>
            </a:pPr>
            <a:r>
              <a:rPr sz="2400" b="1">
                <a:solidFill>
                  <a:srgbClr val="2868AF"/>
                </a:solidFill>
                <a:latin typeface="Arial"/>
                <a:ea typeface="Arial"/>
                <a:cs typeface="Arial"/>
              </a:rPr>
              <a:t>8 + 9 = 17</a:t>
            </a:r>
          </a:p>
        </p:txBody>
      </p:sp>
    </p:spTree>
    <p:extLst>
      <p:ext uri="{BB962C8B-B14F-4D97-AF65-F5344CB8AC3E}">
        <p14:creationId xmlns:p14="http://schemas.microsoft.com/office/powerpoint/2010/main" val="152030957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DAEE37-E4B6-474D-90B3-2ED97262A108}"/>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Включення S-A: після редукції</a:t>
            </a:r>
          </a:p>
        </p:txBody>
      </p:sp>
      <p:sp>
        <p:nvSpPr>
          <p:cNvPr id="2" name="">
            <a:extLst xmlns:a="http://schemas.openxmlformats.org/drawingml/2006/main">
              <a:ext uri="{FF2B5EF4-FFF2-40B4-BE49-F238E27FC236}">
                <a16:creationId xmlns:a16="http://schemas.microsoft.com/office/drawing/2014/main" id="{4F8E08AD-8A7C-4C42-8527-D1B960D830E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Прибираємо рядок S і стовпець A. Забороняємо передчасний цикл A-S.</a:t>
            </a:r>
          </a:p>
        </p:txBody>
      </p:sp>
      <p:sp>
        <p:nvSpPr>
          <p:cNvPr id="3" name="">
            <a:extLst xmlns:a="http://schemas.openxmlformats.org/drawingml/2006/main">
              <a:ext uri="{FF2B5EF4-FFF2-40B4-BE49-F238E27FC236}">
                <a16:creationId xmlns:a16="http://schemas.microsoft.com/office/drawing/2014/main" id="{2B665244-1D33-472C-B67C-BE7607B8517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52</a:t>
            </a:r>
          </a:p>
        </p:txBody>
      </p:sp>
      <p:graphicFrame>
        <p:nvGraphicFramePr>
          <p:cNvPr id="4" name="">
            <a:extLst xmlns:a="http://schemas.openxmlformats.org/drawingml/2006/main">
              <a:ext uri="{FF2B5EF4-FFF2-40B4-BE49-F238E27FC236}">
                <a16:creationId xmlns:a16="http://schemas.microsoft.com/office/drawing/2014/main" id="{5B721349-3722-4568-8557-5816200B7A57}"/>
              </a:ext>
            </a:extLst>
          </p:cNvPr>
          <p:cNvGraphicFramePr/>
          <p:nvPr/>
        </p:nvGraphicFramePr>
        <p:xfrm>
          <a:off xmlns:a="http://schemas.openxmlformats.org/drawingml/2006/main" x="762000" y="1657350"/>
          <a:ext xmlns:a="http://schemas.openxmlformats.org/drawingml/2006/main" cx="7048500" cy="3581400"/>
        </p:xfrm>
        <a:graphic xmlns:a="http://schemas.openxmlformats.org/drawingml/2006/main">
          <a:graphicData uri="http://schemas.openxmlformats.org/drawingml/2006/table">
            <a:tbl>
              <a:tblPr/>
              <a:tblGrid>
                <a:gridCol w="1174750"/>
                <a:gridCol w="1174750"/>
                <a:gridCol w="1174750"/>
                <a:gridCol w="1174750"/>
                <a:gridCol w="1174750"/>
                <a:gridCol w="1174750"/>
              </a:tblGrid>
              <a:tr h="596900">
                <a:tc>
                  <a:txBody>
                    <a:bodyPr/>
                    <a:lstStyle/>
                    <a:p>
                      <a:r>
                        <a:rPr sz="2325" b="1">
                          <a:solidFill>
                            <a:srgbClr val="FFFFFF"/>
                          </a:solidFill>
                          <a:latin typeface="Arial"/>
                          <a:ea typeface="Arial"/>
                          <a:cs typeface="Arial"/>
                        </a:rPr>
                        <a:t>З/До</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S</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B</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C</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E</a:t>
                      </a:r>
                    </a:p>
                  </a:txBody>
                  <a:tcPr marL="114300" marR="114300" marT="66675" marB="66675" anchor="ctr">
                    <a:solidFill>
                      <a:srgbClr val="173047"/>
                    </a:solidFill>
                  </a:tcPr>
                </a:tc>
              </a:tr>
              <a:tr h="59690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BECE8"/>
                    </a:solidFill>
                  </a:tcPr>
                </a:tc>
                <a:tc>
                  <a:txBody>
                    <a:bodyPr/>
                    <a:lstStyle/>
                    <a:p>
                      <a:r>
                        <a:rPr sz="2325">
                          <a:solidFill>
                            <a:srgbClr val="173047"/>
                          </a:solidFill>
                          <a:latin typeface="Arial"/>
                          <a:ea typeface="Arial"/>
                          <a:cs typeface="Arial"/>
                        </a:rPr>
                        <a:t>5</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11</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173047"/>
                          </a:solidFill>
                          <a:latin typeface="Arial"/>
                          <a:ea typeface="Arial"/>
                          <a:cs typeface="Arial"/>
                        </a:rPr>
                        <a:t>4</a:t>
                      </a:r>
                    </a:p>
                  </a:txBody>
                  <a:tcPr marL="114300" marR="114300" marT="66675" marB="66675" anchor="ctr">
                    <a:solidFill>
                      <a:srgbClr val="FFFFFF"/>
                    </a:solidFill>
                  </a:tcPr>
                </a:tc>
              </a:tr>
              <a:tr h="596900">
                <a:tc>
                  <a:txBody>
                    <a:bodyPr/>
                    <a:lstStyle/>
                    <a:p>
                      <a:r>
                        <a:rPr sz="2325">
                          <a:solidFill>
                            <a:srgbClr val="173047"/>
                          </a:solidFill>
                          <a:latin typeface="Arial"/>
                          <a:ea typeface="Arial"/>
                          <a:cs typeface="Arial"/>
                        </a:rPr>
                        <a:t>B</a:t>
                      </a:r>
                    </a:p>
                  </a:txBody>
                  <a:tcPr marL="114300" marR="114300" marT="66675" marB="66675" anchor="ctr">
                    <a:solidFill>
                      <a:srgbClr val="F1F5F8"/>
                    </a:solidFill>
                  </a:tcPr>
                </a:tc>
                <a:tc>
                  <a:txBody>
                    <a:bodyPr/>
                    <a:lstStyle/>
                    <a:p>
                      <a:r>
                        <a:rPr sz="2325">
                          <a:solidFill>
                            <a:srgbClr val="173047"/>
                          </a:solidFill>
                          <a:latin typeface="Arial"/>
                          <a:ea typeface="Arial"/>
                          <a:cs typeface="Arial"/>
                        </a:rPr>
                        <a:t>5</a:t>
                      </a:r>
                    </a:p>
                  </a:txBody>
                  <a:tcPr marL="114300" marR="114300" marT="66675" marB="66675" anchor="ctr">
                    <a:solidFill>
                      <a:srgbClr val="F1F5F8"/>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b="1">
                          <a:solidFill>
                            <a:srgbClr val="FFFFFF"/>
                          </a:solidFill>
                          <a:latin typeface="Arial"/>
                          <a:ea typeface="Arial"/>
                          <a:cs typeface="Arial"/>
                        </a:rPr>
                        <a:t>0</a:t>
                      </a:r>
                    </a:p>
                  </a:txBody>
                  <a:tcPr marL="114300" marR="114300" marT="66675" marB="66675" anchor="ctr">
                    <a:solidFill>
                      <a:srgbClr val="00857D"/>
                    </a:solidFill>
                  </a:tcPr>
                </a:tc>
                <a:tc>
                  <a:txBody>
                    <a:bodyPr/>
                    <a:lstStyle/>
                    <a:p>
                      <a:r>
                        <a:rPr sz="2325">
                          <a:solidFill>
                            <a:srgbClr val="173047"/>
                          </a:solidFill>
                          <a:latin typeface="Arial"/>
                          <a:ea typeface="Arial"/>
                          <a:cs typeface="Arial"/>
                        </a:rPr>
                        <a:t>3</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16</a:t>
                      </a:r>
                    </a:p>
                  </a:txBody>
                  <a:tcPr marL="114300" marR="114300" marT="66675" marB="66675" anchor="ctr">
                    <a:solidFill>
                      <a:srgbClr val="F1F5F8"/>
                    </a:solidFill>
                  </a:tcPr>
                </a:tc>
              </a:tr>
              <a:tr h="596900">
                <a:tc>
                  <a:txBody>
                    <a:bodyPr/>
                    <a:lstStyle/>
                    <a:p>
                      <a:r>
                        <a:rPr sz="2325">
                          <a:solidFill>
                            <a:srgbClr val="173047"/>
                          </a:solidFill>
                          <a:latin typeface="Arial"/>
                          <a:ea typeface="Arial"/>
                          <a:cs typeface="Arial"/>
                        </a:rPr>
                        <a:t>C</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r>
              <a:tr h="596900">
                <a:tc>
                  <a:txBody>
                    <a:bodyPr/>
                    <a:lstStyle/>
                    <a:p>
                      <a:r>
                        <a:rPr sz="2325">
                          <a:solidFill>
                            <a:srgbClr val="173047"/>
                          </a:solidFill>
                          <a:latin typeface="Arial"/>
                          <a:ea typeface="Arial"/>
                          <a:cs typeface="Arial"/>
                        </a:rPr>
                        <a:t>D</a:t>
                      </a:r>
                    </a:p>
                  </a:txBody>
                  <a:tcPr marL="114300" marR="114300" marT="66675" marB="66675" anchor="ctr">
                    <a:solidFill>
                      <a:srgbClr val="F1F5F8"/>
                    </a:solidFill>
                  </a:tcPr>
                </a:tc>
                <a:tc>
                  <a:txBody>
                    <a:bodyPr/>
                    <a:lstStyle/>
                    <a:p>
                      <a:r>
                        <a:rPr sz="2325">
                          <a:solidFill>
                            <a:srgbClr val="173047"/>
                          </a:solidFill>
                          <a:latin typeface="Arial"/>
                          <a:ea typeface="Arial"/>
                          <a:cs typeface="Arial"/>
                        </a:rPr>
                        <a:t>8</a:t>
                      </a:r>
                    </a:p>
                  </a:txBody>
                  <a:tcPr marL="114300" marR="114300" marT="66675" marB="66675" anchor="ctr">
                    <a:solidFill>
                      <a:srgbClr val="F1F5F8"/>
                    </a:solidFill>
                  </a:tcPr>
                </a:tc>
                <a:tc>
                  <a:txBody>
                    <a:bodyPr/>
                    <a:lstStyle/>
                    <a:p>
                      <a:r>
                        <a:rPr sz="2325">
                          <a:solidFill>
                            <a:srgbClr val="173047"/>
                          </a:solidFill>
                          <a:latin typeface="Arial"/>
                          <a:ea typeface="Arial"/>
                          <a:cs typeface="Arial"/>
                        </a:rPr>
                        <a:t>3</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r>
              <a:tr h="596900">
                <a:tc>
                  <a:txBody>
                    <a:bodyPr/>
                    <a:lstStyle/>
                    <a:p>
                      <a:r>
                        <a:rPr sz="2325">
                          <a:solidFill>
                            <a:srgbClr val="173047"/>
                          </a:solidFill>
                          <a:latin typeface="Arial"/>
                          <a:ea typeface="Arial"/>
                          <a:cs typeface="Arial"/>
                        </a:rPr>
                        <a:t>E</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16</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FCB1C346-BC97-4767-8682-5251A4F3E3BB}"/>
              </a:ext>
            </a:extLst>
          </p:cNvPr>
          <p:cNvSpPr>
            <a:spLocks xmlns:a="http://schemas.openxmlformats.org/drawingml/2006/main" noGrp="1"/>
          </p:cNvSpPr>
          <p:nvPr/>
        </p:nvSpPr>
        <p:spPr>
          <a:xfrm xmlns:a="http://schemas.openxmlformats.org/drawingml/2006/main">
            <a:off x="8239125" y="1657350"/>
            <a:ext cx="319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173047"/>
                </a:solidFill>
                <a:latin typeface="Arial"/>
                <a:ea typeface="Arial"/>
                <a:cs typeface="Arial"/>
              </a:defRPr>
            </a:defPPr>
          </a:lstStyle>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Редукція</a:t>
            </a:r>
          </a:p>
        </p:txBody>
      </p:sp>
      <p:sp>
        <p:nvSpPr>
          <p:cNvPr id="6" name="">
            <a:extLst xmlns:a="http://schemas.openxmlformats.org/drawingml/2006/main">
              <a:ext uri="{FF2B5EF4-FFF2-40B4-BE49-F238E27FC236}">
                <a16:creationId xmlns:a16="http://schemas.microsoft.com/office/drawing/2014/main" id="{6F5B1B7D-F291-42BD-80E4-E88762AE3FA3}"/>
              </a:ext>
            </a:extLst>
          </p:cNvPr>
          <p:cNvSpPr>
            <a:spLocks xmlns:a="http://schemas.openxmlformats.org/drawingml/2006/main" noGrp="1"/>
          </p:cNvSpPr>
          <p:nvPr/>
        </p:nvSpPr>
        <p:spPr>
          <a:xfrm xmlns:a="http://schemas.openxmlformats.org/drawingml/2006/main">
            <a:off x="8239125" y="2381250"/>
            <a:ext cx="319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Рядок A: 8</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Стовпець S: 9</a:t>
            </a:r>
          </a:p>
        </p:txBody>
      </p:sp>
      <p:sp>
        <p:nvSpPr>
          <p:cNvPr id="7" name="">
            <a:extLst xmlns:a="http://schemas.openxmlformats.org/drawingml/2006/main">
              <a:ext uri="{FF2B5EF4-FFF2-40B4-BE49-F238E27FC236}">
                <a16:creationId xmlns:a16="http://schemas.microsoft.com/office/drawing/2014/main" id="{8AAB9C00-7DF0-4832-8C0E-EF0BC121D76D}"/>
              </a:ext>
            </a:extLst>
          </p:cNvPr>
          <p:cNvSpPr>
            <a:spLocks xmlns:a="http://schemas.openxmlformats.org/drawingml/2006/main" noGrp="1"/>
          </p:cNvSpPr>
          <p:nvPr/>
        </p:nvSpPr>
        <p:spPr>
          <a:xfrm xmlns:a="http://schemas.openxmlformats.org/drawingml/2006/main">
            <a:off x="8239125" y="3952875"/>
            <a:ext cx="319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2868AF"/>
                </a:solidFill>
                <a:latin typeface="Arial"/>
                <a:ea typeface="Arial"/>
                <a:cs typeface="Arial"/>
              </a:defRPr>
            </a:defPPr>
          </a:lstStyle>
          <a:p xmlns:a="http://schemas.openxmlformats.org/drawingml/2006/main">
            <a:pPr algn="l">
              <a:buNone/>
              <a:defRPr sz="2700" b="1">
                <a:solidFill>
                  <a:srgbClr val="2868AF"/>
                </a:solidFill>
                <a:latin typeface="Arial"/>
                <a:ea typeface="Arial"/>
                <a:cs typeface="Arial"/>
              </a:defRPr>
            </a:pPr>
            <a:r>
              <a:rPr sz="2700" b="1">
                <a:solidFill>
                  <a:srgbClr val="2868AF"/>
                </a:solidFill>
                <a:latin typeface="Arial"/>
                <a:ea typeface="Arial"/>
                <a:cs typeface="Arial"/>
              </a:rPr>
              <a:t>L = 12 + 8 + 9</a:t>
            </a:r>
          </a:p>
          <a:p xmlns:a="http://schemas.openxmlformats.org/drawingml/2006/main">
            <a:pPr algn="l">
              <a:buNone/>
              <a:defRPr sz="2700" b="1">
                <a:solidFill>
                  <a:srgbClr val="2868AF"/>
                </a:solidFill>
                <a:latin typeface="Arial"/>
                <a:ea typeface="Arial"/>
                <a:cs typeface="Arial"/>
              </a:defRPr>
            </a:pPr>
            <a:r>
              <a:rPr sz="2700" b="1">
                <a:solidFill>
                  <a:srgbClr val="2868AF"/>
                </a:solidFill>
                <a:latin typeface="Arial"/>
                <a:ea typeface="Arial"/>
                <a:cs typeface="Arial"/>
              </a:rPr>
              <a:t>L = 29</a:t>
            </a:r>
          </a:p>
        </p:txBody>
      </p:sp>
      <p:sp>
        <p:nvSpPr>
          <p:cNvPr id="8" name="">
            <a:extLst xmlns:a="http://schemas.openxmlformats.org/drawingml/2006/main">
              <a:ext uri="{FF2B5EF4-FFF2-40B4-BE49-F238E27FC236}">
                <a16:creationId xmlns:a16="http://schemas.microsoft.com/office/drawing/2014/main" id="{508601A3-201A-4D5A-B0E2-FEBD239A71BE}"/>
              </a:ext>
            </a:extLst>
          </p:cNvPr>
          <p:cNvSpPr>
            <a:spLocks xmlns:a="http://schemas.openxmlformats.org/drawingml/2006/main" noGrp="1"/>
          </p:cNvSpPr>
          <p:nvPr/>
        </p:nvSpPr>
        <p:spPr>
          <a:xfrm xmlns:a="http://schemas.openxmlformats.org/drawingml/2006/main">
            <a:off x="762000" y="5410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66779"/>
                </a:solidFill>
                <a:latin typeface="Arial"/>
                <a:ea typeface="Arial"/>
                <a:cs typeface="Arial"/>
              </a:defRPr>
            </a:defPPr>
          </a:lstStyle>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Початкові 2 хв для S-A вже враховані редукцією</a:t>
            </a:r>
          </a:p>
        </p:txBody>
      </p:sp>
    </p:spTree>
    <p:extLst>
      <p:ext uri="{BB962C8B-B14F-4D97-AF65-F5344CB8AC3E}">
        <p14:creationId xmlns:p14="http://schemas.microsoft.com/office/powerpoint/2010/main" val="87988820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555047-EF76-4D90-90B7-A5D935C17AF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Виключення S-A: нова матриця N2</a:t>
            </a:r>
          </a:p>
        </p:txBody>
      </p:sp>
      <p:sp>
        <p:nvSpPr>
          <p:cNvPr id="2" name="">
            <a:extLst xmlns:a="http://schemas.openxmlformats.org/drawingml/2006/main">
              <a:ext uri="{FF2B5EF4-FFF2-40B4-BE49-F238E27FC236}">
                <a16:creationId xmlns:a16="http://schemas.microsoft.com/office/drawing/2014/main" id="{9FACF11B-2B15-4CB6-95F2-4744736DB386}"/>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Елемент S-A стає ∞. Жодний рядок або стовпець не видаляємо.</a:t>
            </a:r>
          </a:p>
        </p:txBody>
      </p:sp>
      <p:sp>
        <p:nvSpPr>
          <p:cNvPr id="3" name="">
            <a:extLst xmlns:a="http://schemas.openxmlformats.org/drawingml/2006/main">
              <a:ext uri="{FF2B5EF4-FFF2-40B4-BE49-F238E27FC236}">
                <a16:creationId xmlns:a16="http://schemas.microsoft.com/office/drawing/2014/main" id="{4231F32E-DE28-4C9C-9EB8-C034D4C8EEC3}"/>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53</a:t>
            </a:r>
          </a:p>
        </p:txBody>
      </p:sp>
      <p:graphicFrame>
        <p:nvGraphicFramePr>
          <p:cNvPr id="4" name="">
            <a:extLst xmlns:a="http://schemas.openxmlformats.org/drawingml/2006/main">
              <a:ext uri="{FF2B5EF4-FFF2-40B4-BE49-F238E27FC236}">
                <a16:creationId xmlns:a16="http://schemas.microsoft.com/office/drawing/2014/main" id="{12FBCCA3-00BC-4A1D-A9BE-FC7904983734}"/>
              </a:ext>
            </a:extLst>
          </p:cNvPr>
          <p:cNvGraphicFramePr/>
          <p:nvPr/>
        </p:nvGraphicFramePr>
        <p:xfrm>
          <a:off xmlns:a="http://schemas.openxmlformats.org/drawingml/2006/main" x="762000" y="1657350"/>
          <a:ext xmlns:a="http://schemas.openxmlformats.org/drawingml/2006/main" cx="7048500" cy="3581400"/>
        </p:xfrm>
        <a:graphic xmlns:a="http://schemas.openxmlformats.org/drawingml/2006/main">
          <a:graphicData uri="http://schemas.openxmlformats.org/drawingml/2006/table">
            <a:tbl>
              <a:tblPr/>
              <a:tblGrid>
                <a:gridCol w="1006929"/>
                <a:gridCol w="1006929"/>
                <a:gridCol w="1006929"/>
                <a:gridCol w="1006929"/>
                <a:gridCol w="1006929"/>
                <a:gridCol w="1006929"/>
                <a:gridCol w="1006929"/>
              </a:tblGrid>
              <a:tr h="511629">
                <a:tc>
                  <a:txBody>
                    <a:bodyPr/>
                    <a:lstStyle/>
                    <a:p>
                      <a:r>
                        <a:rPr sz="2325" b="1">
                          <a:solidFill>
                            <a:srgbClr val="FFFFFF"/>
                          </a:solidFill>
                          <a:latin typeface="Arial"/>
                          <a:ea typeface="Arial"/>
                          <a:cs typeface="Arial"/>
                        </a:rPr>
                        <a:t>З/До</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S</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B</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C</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E</a:t>
                      </a:r>
                    </a:p>
                  </a:txBody>
                  <a:tcPr marL="114300" marR="114300" marT="66675" marB="66675" anchor="ctr">
                    <a:solidFill>
                      <a:srgbClr val="173047"/>
                    </a:solidFill>
                  </a:tcPr>
                </a:tc>
              </a:tr>
              <a:tr h="511629">
                <a:tc>
                  <a:txBody>
                    <a:bodyPr/>
                    <a:lstStyle/>
                    <a:p>
                      <a:r>
                        <a:rPr sz="2325">
                          <a:solidFill>
                            <a:srgbClr val="173047"/>
                          </a:solidFill>
                          <a:latin typeface="Arial"/>
                          <a:ea typeface="Arial"/>
                          <a:cs typeface="Arial"/>
                        </a:rPr>
                        <a:t>S</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566779"/>
                          </a:solidFill>
                          <a:latin typeface="Arial"/>
                          <a:ea typeface="Arial"/>
                          <a:cs typeface="Arial"/>
                        </a:rPr>
                        <a:t>∞</a:t>
                      </a:r>
                    </a:p>
                  </a:txBody>
                  <a:tcPr marL="114300" marR="114300" marT="66675" marB="66675" anchor="ctr">
                    <a:solidFill>
                      <a:srgbClr val="FBECE8"/>
                    </a:solidFill>
                  </a:tcPr>
                </a:tc>
                <a:tc>
                  <a:txBody>
                    <a:bodyPr/>
                    <a:lstStyle/>
                    <a:p>
                      <a:r>
                        <a:rPr sz="2325">
                          <a:solidFill>
                            <a:srgbClr val="173047"/>
                          </a:solidFill>
                          <a:latin typeface="Arial"/>
                          <a:ea typeface="Arial"/>
                          <a:cs typeface="Arial"/>
                        </a:rPr>
                        <a:t>5</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173047"/>
                          </a:solidFill>
                          <a:latin typeface="Arial"/>
                          <a:ea typeface="Arial"/>
                          <a:cs typeface="Arial"/>
                        </a:rPr>
                        <a:t>8</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a:t>
                      </a:r>
                    </a:p>
                  </a:txBody>
                  <a:tcPr marL="114300" marR="114300" marT="66675" marB="66675" anchor="ctr">
                    <a:solidFill>
                      <a:srgbClr val="FFFFFF"/>
                    </a:solidFill>
                  </a:tcPr>
                </a:tc>
              </a:tr>
              <a:tr h="511629">
                <a:tc>
                  <a:txBody>
                    <a:bodyPr/>
                    <a:lstStyle/>
                    <a:p>
                      <a:r>
                        <a:rPr sz="2325">
                          <a:solidFill>
                            <a:srgbClr val="173047"/>
                          </a:solidFill>
                          <a:latin typeface="Arial"/>
                          <a:ea typeface="Arial"/>
                          <a:cs typeface="Arial"/>
                        </a:rPr>
                        <a:t>A</a:t>
                      </a:r>
                    </a:p>
                  </a:txBody>
                  <a:tcPr marL="114300" marR="114300" marT="66675" marB="66675" anchor="ctr">
                    <a:solidFill>
                      <a:srgbClr val="F1F5F8"/>
                    </a:solidFill>
                  </a:tcPr>
                </a:tc>
                <a:tc>
                  <a:txBody>
                    <a:bodyPr/>
                    <a:lstStyle/>
                    <a:p>
                      <a:r>
                        <a:rPr sz="2325" b="1">
                          <a:solidFill>
                            <a:srgbClr val="FFFFFF"/>
                          </a:solidFill>
                          <a:latin typeface="Arial"/>
                          <a:ea typeface="Arial"/>
                          <a:cs typeface="Arial"/>
                        </a:rPr>
                        <a:t>0</a:t>
                      </a:r>
                    </a:p>
                  </a:txBody>
                  <a:tcPr marL="114300" marR="114300" marT="66675" marB="66675" anchor="ctr">
                    <a:solidFill>
                      <a:srgbClr val="00857D"/>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13</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19</a:t>
                      </a:r>
                    </a:p>
                  </a:txBody>
                  <a:tcPr marL="114300" marR="114300" marT="66675" marB="66675" anchor="ctr">
                    <a:solidFill>
                      <a:srgbClr val="F1F5F8"/>
                    </a:solidFill>
                  </a:tcPr>
                </a:tc>
                <a:tc>
                  <a:txBody>
                    <a:bodyPr/>
                    <a:lstStyle/>
                    <a:p>
                      <a:r>
                        <a:rPr sz="2325">
                          <a:solidFill>
                            <a:srgbClr val="173047"/>
                          </a:solidFill>
                          <a:latin typeface="Arial"/>
                          <a:ea typeface="Arial"/>
                          <a:cs typeface="Arial"/>
                        </a:rPr>
                        <a:t>8</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12</a:t>
                      </a:r>
                    </a:p>
                  </a:txBody>
                  <a:tcPr marL="114300" marR="114300" marT="66675" marB="66675" anchor="ctr">
                    <a:solidFill>
                      <a:srgbClr val="F1F5F8"/>
                    </a:solidFill>
                  </a:tcPr>
                </a:tc>
              </a:tr>
              <a:tr h="511629">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14</a:t>
                      </a:r>
                    </a:p>
                  </a:txBody>
                  <a:tcPr marL="114300" marR="114300" marT="66675" marB="66675" anchor="ctr">
                    <a:solidFill>
                      <a:srgbClr val="FFFFFF"/>
                    </a:solidFill>
                  </a:tcPr>
                </a:tc>
                <a:tc>
                  <a:txBody>
                    <a:bodyPr/>
                    <a:lstStyle/>
                    <a:p>
                      <a:r>
                        <a:rPr sz="2325">
                          <a:solidFill>
                            <a:srgbClr val="173047"/>
                          </a:solidFill>
                          <a:latin typeface="Arial"/>
                          <a:ea typeface="Arial"/>
                          <a:cs typeface="Arial"/>
                        </a:rPr>
                        <a:t>5</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173047"/>
                          </a:solidFill>
                          <a:latin typeface="Arial"/>
                          <a:ea typeface="Arial"/>
                          <a:cs typeface="Arial"/>
                        </a:rPr>
                        <a:t>3</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16</a:t>
                      </a:r>
                    </a:p>
                  </a:txBody>
                  <a:tcPr marL="114300" marR="114300" marT="66675" marB="66675" anchor="ctr">
                    <a:solidFill>
                      <a:srgbClr val="FFFFFF"/>
                    </a:solidFill>
                  </a:tcPr>
                </a:tc>
              </a:tr>
              <a:tr h="511629">
                <a:tc>
                  <a:txBody>
                    <a:bodyPr/>
                    <a:lstStyle/>
                    <a:p>
                      <a:r>
                        <a:rPr sz="2325">
                          <a:solidFill>
                            <a:srgbClr val="173047"/>
                          </a:solidFill>
                          <a:latin typeface="Arial"/>
                          <a:ea typeface="Arial"/>
                          <a:cs typeface="Arial"/>
                        </a:rPr>
                        <a:t>C</a:t>
                      </a:r>
                    </a:p>
                  </a:txBody>
                  <a:tcPr marL="114300" marR="114300" marT="66675" marB="66675" anchor="ctr">
                    <a:solidFill>
                      <a:srgbClr val="F1F5F8"/>
                    </a:solidFill>
                  </a:tcPr>
                </a:tc>
                <a:tc>
                  <a:txBody>
                    <a:bodyPr/>
                    <a:lstStyle/>
                    <a:p>
                      <a:r>
                        <a:rPr sz="2325">
                          <a:solidFill>
                            <a:srgbClr val="173047"/>
                          </a:solidFill>
                          <a:latin typeface="Arial"/>
                          <a:ea typeface="Arial"/>
                          <a:cs typeface="Arial"/>
                        </a:rPr>
                        <a:t>9</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11</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r>
              <a:tr h="511629">
                <a:tc>
                  <a:txBody>
                    <a:bodyPr/>
                    <a:lstStyle/>
                    <a:p>
                      <a:r>
                        <a:rPr sz="2325">
                          <a:solidFill>
                            <a:srgbClr val="173047"/>
                          </a:solidFill>
                          <a:latin typeface="Arial"/>
                          <a:ea typeface="Arial"/>
                          <a:cs typeface="Arial"/>
                        </a:rPr>
                        <a:t>D</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17</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173047"/>
                          </a:solidFill>
                          <a:latin typeface="Arial"/>
                          <a:ea typeface="Arial"/>
                          <a:cs typeface="Arial"/>
                        </a:rPr>
                        <a:t>3</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r>
              <a:tr h="511629">
                <a:tc>
                  <a:txBody>
                    <a:bodyPr/>
                    <a:lstStyle/>
                    <a:p>
                      <a:r>
                        <a:rPr sz="2325">
                          <a:solidFill>
                            <a:srgbClr val="173047"/>
                          </a:solidFill>
                          <a:latin typeface="Arial"/>
                          <a:ea typeface="Arial"/>
                          <a:cs typeface="Arial"/>
                        </a:rPr>
                        <a:t>E</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173047"/>
                          </a:solidFill>
                          <a:latin typeface="Arial"/>
                          <a:ea typeface="Arial"/>
                          <a:cs typeface="Arial"/>
                        </a:rPr>
                        <a:t>4</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16</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16D6CB47-988A-4B91-A21E-A64D9CF591F2}"/>
              </a:ext>
            </a:extLst>
          </p:cNvPr>
          <p:cNvSpPr>
            <a:spLocks xmlns:a="http://schemas.openxmlformats.org/drawingml/2006/main" noGrp="1"/>
          </p:cNvSpPr>
          <p:nvPr/>
        </p:nvSpPr>
        <p:spPr>
          <a:xfrm xmlns:a="http://schemas.openxmlformats.org/drawingml/2006/main">
            <a:off x="8239125" y="1657350"/>
            <a:ext cx="3190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173047"/>
                </a:solidFill>
                <a:latin typeface="Arial"/>
                <a:ea typeface="Arial"/>
                <a:cs typeface="Arial"/>
              </a:defRPr>
            </a:defPPr>
          </a:lstStyle>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Редукція</a:t>
            </a:r>
          </a:p>
        </p:txBody>
      </p:sp>
      <p:sp>
        <p:nvSpPr>
          <p:cNvPr id="6" name="">
            <a:extLst xmlns:a="http://schemas.openxmlformats.org/drawingml/2006/main">
              <a:ext uri="{FF2B5EF4-FFF2-40B4-BE49-F238E27FC236}">
                <a16:creationId xmlns:a16="http://schemas.microsoft.com/office/drawing/2014/main" id="{6A0520E2-1716-45FD-9DE7-3D893DC79185}"/>
              </a:ext>
            </a:extLst>
          </p:cNvPr>
          <p:cNvSpPr>
            <a:spLocks xmlns:a="http://schemas.openxmlformats.org/drawingml/2006/main" noGrp="1"/>
          </p:cNvSpPr>
          <p:nvPr/>
        </p:nvSpPr>
        <p:spPr>
          <a:xfrm xmlns:a="http://schemas.openxmlformats.org/drawingml/2006/main">
            <a:off x="8239125" y="2381250"/>
            <a:ext cx="319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Рядок S: 9</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Стовпець A: 8</a:t>
            </a:r>
          </a:p>
        </p:txBody>
      </p:sp>
      <p:sp>
        <p:nvSpPr>
          <p:cNvPr id="7" name="">
            <a:extLst xmlns:a="http://schemas.openxmlformats.org/drawingml/2006/main">
              <a:ext uri="{FF2B5EF4-FFF2-40B4-BE49-F238E27FC236}">
                <a16:creationId xmlns:a16="http://schemas.microsoft.com/office/drawing/2014/main" id="{8633084D-5B48-423A-9E50-A6961FAA353A}"/>
              </a:ext>
            </a:extLst>
          </p:cNvPr>
          <p:cNvSpPr>
            <a:spLocks xmlns:a="http://schemas.openxmlformats.org/drawingml/2006/main" noGrp="1"/>
          </p:cNvSpPr>
          <p:nvPr/>
        </p:nvSpPr>
        <p:spPr>
          <a:xfrm xmlns:a="http://schemas.openxmlformats.org/drawingml/2006/main">
            <a:off x="8239125" y="3952875"/>
            <a:ext cx="3190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2868AF"/>
                </a:solidFill>
                <a:latin typeface="Arial"/>
                <a:ea typeface="Arial"/>
                <a:cs typeface="Arial"/>
              </a:defRPr>
            </a:defPPr>
          </a:lstStyle>
          <a:p xmlns:a="http://schemas.openxmlformats.org/drawingml/2006/main">
            <a:pPr algn="l">
              <a:buNone/>
              <a:defRPr sz="2700" b="1">
                <a:solidFill>
                  <a:srgbClr val="2868AF"/>
                </a:solidFill>
                <a:latin typeface="Arial"/>
                <a:ea typeface="Arial"/>
                <a:cs typeface="Arial"/>
              </a:defRPr>
            </a:pPr>
            <a:r>
              <a:rPr sz="2700" b="1">
                <a:solidFill>
                  <a:srgbClr val="2868AF"/>
                </a:solidFill>
                <a:latin typeface="Arial"/>
                <a:ea typeface="Arial"/>
                <a:cs typeface="Arial"/>
              </a:rPr>
              <a:t>L = 12 + 9 + 8</a:t>
            </a:r>
          </a:p>
          <a:p xmlns:a="http://schemas.openxmlformats.org/drawingml/2006/main">
            <a:pPr algn="l">
              <a:buNone/>
              <a:defRPr sz="2700" b="1">
                <a:solidFill>
                  <a:srgbClr val="2868AF"/>
                </a:solidFill>
                <a:latin typeface="Arial"/>
                <a:ea typeface="Arial"/>
                <a:cs typeface="Arial"/>
              </a:defRPr>
            </a:pPr>
            <a:r>
              <a:rPr sz="2700" b="1">
                <a:solidFill>
                  <a:srgbClr val="2868AF"/>
                </a:solidFill>
                <a:latin typeface="Arial"/>
                <a:ea typeface="Arial"/>
                <a:cs typeface="Arial"/>
              </a:rPr>
              <a:t>L = 29</a:t>
            </a:r>
          </a:p>
        </p:txBody>
      </p:sp>
    </p:spTree>
    <p:extLst>
      <p:ext uri="{BB962C8B-B14F-4D97-AF65-F5344CB8AC3E}">
        <p14:creationId xmlns:p14="http://schemas.microsoft.com/office/powerpoint/2010/main" val="74659290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A5AC857-07D8-40BA-96A7-0DF5BBE1E7AF}"/>
              </a:ext>
            </a:extLst>
          </p:cNvPr>
          <p:cNvCxnSpPr>
            <a:stCxn xmlns:a="http://schemas.openxmlformats.org/drawingml/2006/main" id="8" idx="6"/>
            <a:endCxn xmlns:a="http://schemas.openxmlformats.org/drawingml/2006/main" id="10" idx="2"/>
          </p:cNvCxnSpPr>
          <p:nvPr/>
        </p:nvCxnSpPr>
        <p:spPr>
          <a:xfrm xmlns:a="http://schemas.openxmlformats.org/drawingml/2006/main">
            <a:off x="7334250" y="2562225"/>
            <a:ext cx="2000250" cy="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13" name="">
            <a:extLst xmlns:a="http://schemas.openxmlformats.org/drawingml/2006/main">
              <a:ext uri="{FF2B5EF4-FFF2-40B4-BE49-F238E27FC236}">
                <a16:creationId xmlns:a16="http://schemas.microsoft.com/office/drawing/2014/main" id="{71A43786-C796-4FC6-8895-73A2E208AFF4}"/>
              </a:ext>
            </a:extLst>
          </p:cNvPr>
          <p:cNvCxnSpPr>
            <a:stCxn xmlns:a="http://schemas.openxmlformats.org/drawingml/2006/main" id="6" idx="6"/>
            <a:endCxn xmlns:a="http://schemas.openxmlformats.org/drawingml/2006/main" id="8" idx="2"/>
          </p:cNvCxnSpPr>
          <p:nvPr/>
        </p:nvCxnSpPr>
        <p:spPr>
          <a:xfrm xmlns:a="http://schemas.openxmlformats.org/drawingml/2006/main">
            <a:off x="4572000" y="2562225"/>
            <a:ext cx="2000250" cy="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12" name="">
            <a:extLst xmlns:a="http://schemas.openxmlformats.org/drawingml/2006/main">
              <a:ext uri="{FF2B5EF4-FFF2-40B4-BE49-F238E27FC236}">
                <a16:creationId xmlns:a16="http://schemas.microsoft.com/office/drawing/2014/main" id="{DC55107E-F6C8-4E5C-94E8-F3E71C3CC76D}"/>
              </a:ext>
            </a:extLst>
          </p:cNvPr>
          <p:cNvCxnSpPr>
            <a:stCxn xmlns:a="http://schemas.openxmlformats.org/drawingml/2006/main" id="4" idx="6"/>
            <a:endCxn xmlns:a="http://schemas.openxmlformats.org/drawingml/2006/main" id="6" idx="2"/>
          </p:cNvCxnSpPr>
          <p:nvPr/>
        </p:nvCxnSpPr>
        <p:spPr>
          <a:xfrm xmlns:a="http://schemas.openxmlformats.org/drawingml/2006/main">
            <a:off x="1809750" y="2562225"/>
            <a:ext cx="2000250"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20" name="">
            <a:extLst xmlns:a="http://schemas.openxmlformats.org/drawingml/2006/main">
              <a:ext uri="{FF2B5EF4-FFF2-40B4-BE49-F238E27FC236}">
                <a16:creationId xmlns:a16="http://schemas.microsoft.com/office/drawing/2014/main" id="{A8795A80-6ED2-4A7C-8130-60260FB2233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Заборона підциклів у довшому ланцюгу</a:t>
            </a:r>
          </a:p>
        </p:txBody>
      </p:sp>
      <p:sp>
        <p:nvSpPr>
          <p:cNvPr id="2" name="">
            <a:extLst xmlns:a="http://schemas.openxmlformats.org/drawingml/2006/main">
              <a:ext uri="{FF2B5EF4-FFF2-40B4-BE49-F238E27FC236}">
                <a16:creationId xmlns:a16="http://schemas.microsoft.com/office/drawing/2014/main" id="{4BFCE2F7-2917-460D-8D9B-DB5F9435E886}"/>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Замикаємо цикл лише тоді, коли він охоплює всі шість вузлів.</a:t>
            </a:r>
          </a:p>
        </p:txBody>
      </p:sp>
      <p:sp>
        <p:nvSpPr>
          <p:cNvPr id="3" name="">
            <a:extLst xmlns:a="http://schemas.openxmlformats.org/drawingml/2006/main">
              <a:ext uri="{FF2B5EF4-FFF2-40B4-BE49-F238E27FC236}">
                <a16:creationId xmlns:a16="http://schemas.microsoft.com/office/drawing/2014/main" id="{50E0BE28-9AE3-4655-B2CC-6B5D09799792}"/>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54</a:t>
            </a:r>
          </a:p>
        </p:txBody>
      </p:sp>
      <p:sp>
        <p:nvSpPr>
          <p:cNvPr id="4" name="">
            <a:extLst xmlns:a="http://schemas.openxmlformats.org/drawingml/2006/main">
              <a:ext uri="{FF2B5EF4-FFF2-40B4-BE49-F238E27FC236}">
                <a16:creationId xmlns:a16="http://schemas.microsoft.com/office/drawing/2014/main" id="{04D4E869-989A-4283-B652-1F5E11102EC1}"/>
              </a:ext>
            </a:extLst>
          </p:cNvPr>
          <p:cNvSpPr>
            <a:spLocks xmlns:a="http://schemas.openxmlformats.org/drawingml/2006/main" noGrp="1"/>
          </p:cNvSpPr>
          <p:nvPr/>
        </p:nvSpPr>
        <p:spPr>
          <a:xfrm xmlns:a="http://schemas.openxmlformats.org/drawingml/2006/main">
            <a:off x="1047750" y="2181225"/>
            <a:ext cx="762000" cy="7620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5" name="">
            <a:extLst xmlns:a="http://schemas.openxmlformats.org/drawingml/2006/main">
              <a:ext uri="{FF2B5EF4-FFF2-40B4-BE49-F238E27FC236}">
                <a16:creationId xmlns:a16="http://schemas.microsoft.com/office/drawing/2014/main" id="{9D5FC3B0-FDEC-49FA-8AE7-C7233FFA0ECF}"/>
              </a:ext>
            </a:extLst>
          </p:cNvPr>
          <p:cNvSpPr>
            <a:spLocks xmlns:a="http://schemas.openxmlformats.org/drawingml/2006/main" noGrp="1"/>
          </p:cNvSpPr>
          <p:nvPr/>
        </p:nvSpPr>
        <p:spPr>
          <a:xfrm xmlns:a="http://schemas.openxmlformats.org/drawingml/2006/main">
            <a:off x="1085850" y="2219325"/>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73047"/>
                </a:solidFill>
                <a:latin typeface="Arial"/>
                <a:ea typeface="Arial"/>
                <a:cs typeface="Arial"/>
              </a:defRPr>
            </a:defPPr>
          </a:lstStyle>
          <a:p xmlns:a="http://schemas.openxmlformats.org/drawingml/2006/main">
            <a:pPr algn="ctr">
              <a:buNone/>
              <a:defRPr sz="2700" b="1">
                <a:solidFill>
                  <a:srgbClr val="173047"/>
                </a:solidFill>
                <a:latin typeface="Arial"/>
                <a:ea typeface="Arial"/>
                <a:cs typeface="Arial"/>
              </a:defRPr>
            </a:pPr>
            <a:r>
              <a:rPr sz="2700" b="1">
                <a:solidFill>
                  <a:srgbClr val="173047"/>
                </a:solidFill>
                <a:latin typeface="Arial"/>
                <a:ea typeface="Arial"/>
                <a:cs typeface="Arial"/>
              </a:rPr>
              <a:t>B</a:t>
            </a:r>
          </a:p>
        </p:txBody>
      </p:sp>
      <p:sp>
        <p:nvSpPr>
          <p:cNvPr id="6" name="">
            <a:extLst xmlns:a="http://schemas.openxmlformats.org/drawingml/2006/main">
              <a:ext uri="{FF2B5EF4-FFF2-40B4-BE49-F238E27FC236}">
                <a16:creationId xmlns:a16="http://schemas.microsoft.com/office/drawing/2014/main" id="{F81588FE-EB23-44C5-B7C5-FE3CE5B480ED}"/>
              </a:ext>
            </a:extLst>
          </p:cNvPr>
          <p:cNvSpPr>
            <a:spLocks xmlns:a="http://schemas.openxmlformats.org/drawingml/2006/main" noGrp="1"/>
          </p:cNvSpPr>
          <p:nvPr/>
        </p:nvSpPr>
        <p:spPr>
          <a:xfrm xmlns:a="http://schemas.openxmlformats.org/drawingml/2006/main">
            <a:off x="3810000" y="2181225"/>
            <a:ext cx="762000" cy="7620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7" name="">
            <a:extLst xmlns:a="http://schemas.openxmlformats.org/drawingml/2006/main">
              <a:ext uri="{FF2B5EF4-FFF2-40B4-BE49-F238E27FC236}">
                <a16:creationId xmlns:a16="http://schemas.microsoft.com/office/drawing/2014/main" id="{73F64F66-3457-4BED-87A6-CEB654331723}"/>
              </a:ext>
            </a:extLst>
          </p:cNvPr>
          <p:cNvSpPr>
            <a:spLocks xmlns:a="http://schemas.openxmlformats.org/drawingml/2006/main" noGrp="1"/>
          </p:cNvSpPr>
          <p:nvPr/>
        </p:nvSpPr>
        <p:spPr>
          <a:xfrm xmlns:a="http://schemas.openxmlformats.org/drawingml/2006/main">
            <a:off x="3848100" y="2219325"/>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73047"/>
                </a:solidFill>
                <a:latin typeface="Arial"/>
                <a:ea typeface="Arial"/>
                <a:cs typeface="Arial"/>
              </a:defRPr>
            </a:defPPr>
          </a:lstStyle>
          <a:p xmlns:a="http://schemas.openxmlformats.org/drawingml/2006/main">
            <a:pPr algn="ctr">
              <a:buNone/>
              <a:defRPr sz="2700" b="1">
                <a:solidFill>
                  <a:srgbClr val="173047"/>
                </a:solidFill>
                <a:latin typeface="Arial"/>
                <a:ea typeface="Arial"/>
                <a:cs typeface="Arial"/>
              </a:defRPr>
            </a:pPr>
            <a:r>
              <a:rPr sz="2700" b="1">
                <a:solidFill>
                  <a:srgbClr val="173047"/>
                </a:solidFill>
                <a:latin typeface="Arial"/>
                <a:ea typeface="Arial"/>
                <a:cs typeface="Arial"/>
              </a:rPr>
              <a:t>C</a:t>
            </a:r>
          </a:p>
        </p:txBody>
      </p:sp>
      <p:sp>
        <p:nvSpPr>
          <p:cNvPr id="8" name="">
            <a:extLst xmlns:a="http://schemas.openxmlformats.org/drawingml/2006/main">
              <a:ext uri="{FF2B5EF4-FFF2-40B4-BE49-F238E27FC236}">
                <a16:creationId xmlns:a16="http://schemas.microsoft.com/office/drawing/2014/main" id="{35F98DEB-C068-4EBC-8DCF-824A89274C28}"/>
              </a:ext>
            </a:extLst>
          </p:cNvPr>
          <p:cNvSpPr>
            <a:spLocks xmlns:a="http://schemas.openxmlformats.org/drawingml/2006/main" noGrp="1"/>
          </p:cNvSpPr>
          <p:nvPr/>
        </p:nvSpPr>
        <p:spPr>
          <a:xfrm xmlns:a="http://schemas.openxmlformats.org/drawingml/2006/main">
            <a:off x="6572250" y="2181225"/>
            <a:ext cx="762000" cy="7620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9" name="">
            <a:extLst xmlns:a="http://schemas.openxmlformats.org/drawingml/2006/main">
              <a:ext uri="{FF2B5EF4-FFF2-40B4-BE49-F238E27FC236}">
                <a16:creationId xmlns:a16="http://schemas.microsoft.com/office/drawing/2014/main" id="{785BB9AE-09D5-40AB-A762-D76551568C72}"/>
              </a:ext>
            </a:extLst>
          </p:cNvPr>
          <p:cNvSpPr>
            <a:spLocks xmlns:a="http://schemas.openxmlformats.org/drawingml/2006/main" noGrp="1"/>
          </p:cNvSpPr>
          <p:nvPr/>
        </p:nvSpPr>
        <p:spPr>
          <a:xfrm xmlns:a="http://schemas.openxmlformats.org/drawingml/2006/main">
            <a:off x="6610350" y="2219325"/>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73047"/>
                </a:solidFill>
                <a:latin typeface="Arial"/>
                <a:ea typeface="Arial"/>
                <a:cs typeface="Arial"/>
              </a:defRPr>
            </a:defPPr>
          </a:lstStyle>
          <a:p xmlns:a="http://schemas.openxmlformats.org/drawingml/2006/main">
            <a:pPr algn="ctr">
              <a:buNone/>
              <a:defRPr sz="2700" b="1">
                <a:solidFill>
                  <a:srgbClr val="173047"/>
                </a:solidFill>
                <a:latin typeface="Arial"/>
                <a:ea typeface="Arial"/>
                <a:cs typeface="Arial"/>
              </a:defRPr>
            </a:pPr>
            <a:r>
              <a:rPr sz="2700" b="1">
                <a:solidFill>
                  <a:srgbClr val="173047"/>
                </a:solidFill>
                <a:latin typeface="Arial"/>
                <a:ea typeface="Arial"/>
                <a:cs typeface="Arial"/>
              </a:rPr>
              <a:t>S</a:t>
            </a:r>
          </a:p>
        </p:txBody>
      </p:sp>
      <p:sp>
        <p:nvSpPr>
          <p:cNvPr id="10" name="">
            <a:extLst xmlns:a="http://schemas.openxmlformats.org/drawingml/2006/main">
              <a:ext uri="{FF2B5EF4-FFF2-40B4-BE49-F238E27FC236}">
                <a16:creationId xmlns:a16="http://schemas.microsoft.com/office/drawing/2014/main" id="{2D732A42-2F44-4A7D-B176-A86F214CD423}"/>
              </a:ext>
            </a:extLst>
          </p:cNvPr>
          <p:cNvSpPr>
            <a:spLocks xmlns:a="http://schemas.openxmlformats.org/drawingml/2006/main" noGrp="1"/>
          </p:cNvSpPr>
          <p:nvPr/>
        </p:nvSpPr>
        <p:spPr>
          <a:xfrm xmlns:a="http://schemas.openxmlformats.org/drawingml/2006/main">
            <a:off x="9334500" y="2181225"/>
            <a:ext cx="762000" cy="7620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11" name="">
            <a:extLst xmlns:a="http://schemas.openxmlformats.org/drawingml/2006/main">
              <a:ext uri="{FF2B5EF4-FFF2-40B4-BE49-F238E27FC236}">
                <a16:creationId xmlns:a16="http://schemas.microsoft.com/office/drawing/2014/main" id="{27CE8386-8F98-4D71-8267-D52010044FAF}"/>
              </a:ext>
            </a:extLst>
          </p:cNvPr>
          <p:cNvSpPr>
            <a:spLocks xmlns:a="http://schemas.openxmlformats.org/drawingml/2006/main" noGrp="1"/>
          </p:cNvSpPr>
          <p:nvPr/>
        </p:nvSpPr>
        <p:spPr>
          <a:xfrm xmlns:a="http://schemas.openxmlformats.org/drawingml/2006/main">
            <a:off x="9372600" y="2219325"/>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1">
                <a:solidFill>
                  <a:srgbClr val="173047"/>
                </a:solidFill>
                <a:latin typeface="Arial"/>
                <a:ea typeface="Arial"/>
                <a:cs typeface="Arial"/>
              </a:defRPr>
            </a:defPPr>
          </a:lstStyle>
          <a:p xmlns:a="http://schemas.openxmlformats.org/drawingml/2006/main">
            <a:pPr algn="ctr">
              <a:buNone/>
              <a:defRPr sz="2700" b="1">
                <a:solidFill>
                  <a:srgbClr val="173047"/>
                </a:solidFill>
                <a:latin typeface="Arial"/>
                <a:ea typeface="Arial"/>
                <a:cs typeface="Arial"/>
              </a:defRPr>
            </a:pPr>
            <a:r>
              <a:rPr sz="2700" b="1">
                <a:solidFill>
                  <a:srgbClr val="173047"/>
                </a:solidFill>
                <a:latin typeface="Arial"/>
                <a:ea typeface="Arial"/>
                <a:cs typeface="Arial"/>
              </a:rPr>
              <a:t>A</a:t>
            </a:r>
          </a:p>
        </p:txBody>
      </p:sp>
      <p:cxnSp>
        <p:nvCxnSpPr>
          <p:cNvPr id="15" name="">
            <a:extLst xmlns:a="http://schemas.openxmlformats.org/drawingml/2006/main">
              <a:ext uri="{FF2B5EF4-FFF2-40B4-BE49-F238E27FC236}">
                <a16:creationId xmlns:a16="http://schemas.microsoft.com/office/drawing/2014/main" id="{62DFF3D0-E656-4124-ABB5-62386C703DD8}"/>
              </a:ext>
            </a:extLst>
          </p:cNvPr>
          <p:cNvCxnSpPr/>
          <p:nvPr/>
        </p:nvCxnSpPr>
        <p:spPr>
          <a:xfrm xmlns:a="http://schemas.openxmlformats.org/drawingml/2006/main">
            <a:off x="9715500" y="2952750"/>
            <a:ext cx="0" cy="1238250"/>
          </a:xfrm>
          <a:prstGeom xmlns:a="http://schemas.openxmlformats.org/drawingml/2006/main" prst="straightConnector1">
            <a:avLst/>
          </a:prstGeom>
          <a:ln xmlns:a="http://schemas.openxmlformats.org/drawingml/2006/main" w="28575">
            <a:solidFill>
              <a:srgbClr val="B64436"/>
            </a:solidFill>
            <a:prstDash val="dash"/>
          </a:ln>
        </p:spPr>
      </p:cxnSp>
      <p:cxnSp>
        <p:nvCxnSpPr>
          <p:cNvPr id="16" name="">
            <a:extLst xmlns:a="http://schemas.openxmlformats.org/drawingml/2006/main">
              <a:ext uri="{FF2B5EF4-FFF2-40B4-BE49-F238E27FC236}">
                <a16:creationId xmlns:a16="http://schemas.microsoft.com/office/drawing/2014/main" id="{2C0ECA57-B6C7-43BD-BD22-8B18F56AA202}"/>
              </a:ext>
            </a:extLst>
          </p:cNvPr>
          <p:cNvCxnSpPr/>
          <p:nvPr/>
        </p:nvCxnSpPr>
        <p:spPr>
          <a:xfrm xmlns:a="http://schemas.openxmlformats.org/drawingml/2006/main">
            <a:off x="1428750" y="4191000"/>
            <a:ext cx="8286750" cy="0"/>
          </a:xfrm>
          <a:prstGeom xmlns:a="http://schemas.openxmlformats.org/drawingml/2006/main" prst="straightConnector1">
            <a:avLst/>
          </a:prstGeom>
          <a:ln xmlns:a="http://schemas.openxmlformats.org/drawingml/2006/main" w="28575">
            <a:solidFill>
              <a:srgbClr val="B64436"/>
            </a:solidFill>
            <a:prstDash val="dash"/>
          </a:ln>
        </p:spPr>
      </p:cxnSp>
      <p:cxnSp>
        <p:nvCxnSpPr>
          <p:cNvPr id="17" name="">
            <a:extLst xmlns:a="http://schemas.openxmlformats.org/drawingml/2006/main">
              <a:ext uri="{FF2B5EF4-FFF2-40B4-BE49-F238E27FC236}">
                <a16:creationId xmlns:a16="http://schemas.microsoft.com/office/drawing/2014/main" id="{864473F6-22AD-4471-ACCF-7FE89995E979}"/>
              </a:ext>
            </a:extLst>
          </p:cNvPr>
          <p:cNvCxnSpPr/>
          <p:nvPr/>
        </p:nvCxnSpPr>
        <p:spPr>
          <a:xfrm xmlns:a="http://schemas.openxmlformats.org/drawingml/2006/main">
            <a:off x="1428750" y="2952750"/>
            <a:ext cx="0" cy="1238250"/>
          </a:xfrm>
          <a:prstGeom xmlns:a="http://schemas.openxmlformats.org/drawingml/2006/main" prst="straightConnector1">
            <a:avLst/>
          </a:prstGeom>
          <a:ln xmlns:a="http://schemas.openxmlformats.org/drawingml/2006/main" w="28575">
            <a:solidFill>
              <a:srgbClr val="B64436"/>
            </a:solidFill>
            <a:prstDash val="dash"/>
            <a:headEnd type="triangle" w="med" len="med"/>
          </a:ln>
        </p:spPr>
      </p:cxnSp>
      <p:sp>
        <p:nvSpPr>
          <p:cNvPr id="18" name="">
            <a:extLst xmlns:a="http://schemas.openxmlformats.org/drawingml/2006/main">
              <a:ext uri="{FF2B5EF4-FFF2-40B4-BE49-F238E27FC236}">
                <a16:creationId xmlns:a16="http://schemas.microsoft.com/office/drawing/2014/main" id="{BE7BCC4E-A8A1-4F4C-81ED-4DFD84EE285B}"/>
              </a:ext>
            </a:extLst>
          </p:cNvPr>
          <p:cNvSpPr>
            <a:spLocks xmlns:a="http://schemas.openxmlformats.org/drawingml/2006/main" noGrp="1"/>
          </p:cNvSpPr>
          <p:nvPr/>
        </p:nvSpPr>
        <p:spPr>
          <a:xfrm xmlns:a="http://schemas.openxmlformats.org/drawingml/2006/main">
            <a:off x="3686175" y="338137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B64436"/>
                </a:solidFill>
                <a:latin typeface="Arial"/>
                <a:ea typeface="Arial"/>
                <a:cs typeface="Arial"/>
              </a:defRPr>
            </a:defPPr>
          </a:lstStyle>
          <a:p xmlns:a="http://schemas.openxmlformats.org/drawingml/2006/main">
            <a:pPr algn="ctr">
              <a:buNone/>
              <a:defRPr sz="2775" b="1">
                <a:solidFill>
                  <a:srgbClr val="B64436"/>
                </a:solidFill>
                <a:latin typeface="Arial"/>
                <a:ea typeface="Arial"/>
                <a:cs typeface="Arial"/>
              </a:defRPr>
            </a:pPr>
            <a:r>
              <a:rPr sz="2775" b="1">
                <a:solidFill>
                  <a:srgbClr val="B64436"/>
                </a:solidFill>
                <a:latin typeface="Arial"/>
                <a:ea typeface="Arial"/>
                <a:cs typeface="Arial"/>
              </a:rPr>
              <a:t>A-B заборонено: ∞</a:t>
            </a:r>
          </a:p>
        </p:txBody>
      </p:sp>
      <p:sp>
        <p:nvSpPr>
          <p:cNvPr id="19" name="">
            <a:extLst xmlns:a="http://schemas.openxmlformats.org/drawingml/2006/main">
              <a:ext uri="{FF2B5EF4-FFF2-40B4-BE49-F238E27FC236}">
                <a16:creationId xmlns:a16="http://schemas.microsoft.com/office/drawing/2014/main" id="{D0DD3CFE-5E0C-4489-94CA-5BB7DA7BF90F}"/>
              </a:ext>
            </a:extLst>
          </p:cNvPr>
          <p:cNvSpPr>
            <a:spLocks xmlns:a="http://schemas.openxmlformats.org/drawingml/2006/main" noGrp="1"/>
          </p:cNvSpPr>
          <p:nvPr/>
        </p:nvSpPr>
        <p:spPr>
          <a:xfrm xmlns:a="http://schemas.openxmlformats.org/drawingml/2006/main">
            <a:off x="762000" y="4933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00" b="0">
                <a:solidFill>
                  <a:srgbClr val="566779"/>
                </a:solidFill>
                <a:latin typeface="Arial"/>
                <a:ea typeface="Arial"/>
                <a:cs typeface="Arial"/>
              </a:defRPr>
            </a:defPPr>
          </a:lstStyle>
          <a:p xmlns:a="http://schemas.openxmlformats.org/drawingml/2006/main">
            <a:pPr algn="ctr">
              <a:buNone/>
              <a:defRPr sz="2700" b="0">
                <a:solidFill>
                  <a:srgbClr val="566779"/>
                </a:solidFill>
                <a:latin typeface="Arial"/>
                <a:ea typeface="Arial"/>
                <a:cs typeface="Arial"/>
              </a:defRPr>
            </a:pPr>
            <a:r>
              <a:rPr sz="2700" b="0">
                <a:solidFill>
                  <a:srgbClr val="566779"/>
                </a:solidFill>
                <a:latin typeface="Arial"/>
                <a:ea typeface="Arial"/>
                <a:cs typeface="Arial"/>
              </a:rPr>
              <a:t>D та E ще не входять до ланцюга</a:t>
            </a:r>
          </a:p>
        </p:txBody>
      </p:sp>
    </p:spTree>
    <p:extLst>
      <p:ext uri="{BB962C8B-B14F-4D97-AF65-F5344CB8AC3E}">
        <p14:creationId xmlns:p14="http://schemas.microsoft.com/office/powerpoint/2010/main" val="120937872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697F19-EC67-499B-8E8D-4CBCA77C5BBB}"/>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Гілка S-A, B-C: матриця N3</a:t>
            </a:r>
          </a:p>
        </p:txBody>
      </p:sp>
      <p:sp>
        <p:nvSpPr>
          <p:cNvPr id="2" name="">
            <a:extLst xmlns:a="http://schemas.openxmlformats.org/drawingml/2006/main">
              <a:ext uri="{FF2B5EF4-FFF2-40B4-BE49-F238E27FC236}">
                <a16:creationId xmlns:a16="http://schemas.microsoft.com/office/drawing/2014/main" id="{E9868E11-4288-482A-B9DE-06A6D284E5E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Наступний нуль: C-S. При включенні межа 32, при виключенні 43.</a:t>
            </a:r>
          </a:p>
        </p:txBody>
      </p:sp>
      <p:sp>
        <p:nvSpPr>
          <p:cNvPr id="3" name="">
            <a:extLst xmlns:a="http://schemas.openxmlformats.org/drawingml/2006/main">
              <a:ext uri="{FF2B5EF4-FFF2-40B4-BE49-F238E27FC236}">
                <a16:creationId xmlns:a16="http://schemas.microsoft.com/office/drawing/2014/main" id="{4B0EA00E-8758-42C2-A2F4-CE8C333BB705}"/>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55</a:t>
            </a:r>
          </a:p>
        </p:txBody>
      </p:sp>
      <p:graphicFrame>
        <p:nvGraphicFramePr>
          <p:cNvPr id="4" name="">
            <a:extLst xmlns:a="http://schemas.openxmlformats.org/drawingml/2006/main">
              <a:ext uri="{FF2B5EF4-FFF2-40B4-BE49-F238E27FC236}">
                <a16:creationId xmlns:a16="http://schemas.microsoft.com/office/drawing/2014/main" id="{38F546AE-01D2-4BA0-8E5B-25DED639FEBF}"/>
              </a:ext>
            </a:extLst>
          </p:cNvPr>
          <p:cNvGraphicFramePr/>
          <p:nvPr/>
        </p:nvGraphicFramePr>
        <p:xfrm>
          <a:off xmlns:a="http://schemas.openxmlformats.org/drawingml/2006/main" x="762000" y="1733550"/>
          <a:ext xmlns:a="http://schemas.openxmlformats.org/drawingml/2006/main" cx="6953250" cy="3181350"/>
        </p:xfrm>
        <a:graphic xmlns:a="http://schemas.openxmlformats.org/drawingml/2006/main">
          <a:graphicData uri="http://schemas.openxmlformats.org/drawingml/2006/table">
            <a:tbl>
              <a:tblPr/>
              <a:tblGrid>
                <a:gridCol w="1390650"/>
                <a:gridCol w="1390650"/>
                <a:gridCol w="1390650"/>
                <a:gridCol w="1390650"/>
                <a:gridCol w="1390650"/>
              </a:tblGrid>
              <a:tr h="636270">
                <a:tc>
                  <a:txBody>
                    <a:bodyPr/>
                    <a:lstStyle/>
                    <a:p>
                      <a:r>
                        <a:rPr sz="2325" b="1">
                          <a:solidFill>
                            <a:srgbClr val="FFFFFF"/>
                          </a:solidFill>
                          <a:latin typeface="Arial"/>
                          <a:ea typeface="Arial"/>
                          <a:cs typeface="Arial"/>
                        </a:rPr>
                        <a:t>З/До</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S</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B</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E</a:t>
                      </a:r>
                    </a:p>
                  </a:txBody>
                  <a:tcPr marL="114300" marR="114300" marT="66675" marB="66675" anchor="ctr">
                    <a:solidFill>
                      <a:srgbClr val="173047"/>
                    </a:solidFill>
                  </a:tcPr>
                </a:tc>
              </a:tr>
              <a:tr h="63627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2</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173047"/>
                          </a:solidFill>
                          <a:latin typeface="Arial"/>
                          <a:ea typeface="Arial"/>
                          <a:cs typeface="Arial"/>
                        </a:rPr>
                        <a:t>4</a:t>
                      </a:r>
                    </a:p>
                  </a:txBody>
                  <a:tcPr marL="114300" marR="114300" marT="66675" marB="66675" anchor="ctr">
                    <a:solidFill>
                      <a:srgbClr val="FFFFFF"/>
                    </a:solidFill>
                  </a:tcPr>
                </a:tc>
              </a:tr>
              <a:tr h="636270">
                <a:tc>
                  <a:txBody>
                    <a:bodyPr/>
                    <a:lstStyle/>
                    <a:p>
                      <a:r>
                        <a:rPr sz="2325">
                          <a:solidFill>
                            <a:srgbClr val="173047"/>
                          </a:solidFill>
                          <a:latin typeface="Arial"/>
                          <a:ea typeface="Arial"/>
                          <a:cs typeface="Arial"/>
                        </a:rPr>
                        <a:t>C</a:t>
                      </a:r>
                    </a:p>
                  </a:txBody>
                  <a:tcPr marL="114300" marR="114300" marT="66675" marB="66675" anchor="ctr">
                    <a:solidFill>
                      <a:srgbClr val="F1F5F8"/>
                    </a:solidFill>
                  </a:tcPr>
                </a:tc>
                <a:tc>
                  <a:txBody>
                    <a:bodyPr/>
                    <a:lstStyle/>
                    <a:p>
                      <a:r>
                        <a:rPr sz="2325" b="1">
                          <a:solidFill>
                            <a:srgbClr val="FFFFFF"/>
                          </a:solidFill>
                          <a:latin typeface="Arial"/>
                          <a:ea typeface="Arial"/>
                          <a:cs typeface="Arial"/>
                        </a:rPr>
                        <a:t>0</a:t>
                      </a:r>
                    </a:p>
                  </a:txBody>
                  <a:tcPr marL="114300" marR="114300" marT="66675" marB="66675" anchor="ctr">
                    <a:solidFill>
                      <a:srgbClr val="00857D"/>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10</a:t>
                      </a:r>
                    </a:p>
                  </a:txBody>
                  <a:tcPr marL="114300" marR="114300" marT="66675" marB="66675" anchor="ctr">
                    <a:solidFill>
                      <a:srgbClr val="F1F5F8"/>
                    </a:solidFill>
                  </a:tcPr>
                </a:tc>
              </a:tr>
              <a:tr h="636270">
                <a:tc>
                  <a:txBody>
                    <a:bodyPr/>
                    <a:lstStyle/>
                    <a:p>
                      <a:r>
                        <a:rPr sz="2325">
                          <a:solidFill>
                            <a:srgbClr val="173047"/>
                          </a:solidFill>
                          <a:latin typeface="Arial"/>
                          <a:ea typeface="Arial"/>
                          <a:cs typeface="Arial"/>
                        </a:rPr>
                        <a:t>D</a:t>
                      </a:r>
                    </a:p>
                  </a:txBody>
                  <a:tcPr marL="114300" marR="114300" marT="66675" marB="66675" anchor="ctr">
                    <a:solidFill>
                      <a:srgbClr val="FFFFFF"/>
                    </a:solidFill>
                  </a:tcPr>
                </a:tc>
                <a:tc>
                  <a:txBody>
                    <a:bodyPr/>
                    <a:lstStyle/>
                    <a:p>
                      <a:r>
                        <a:rPr sz="2325">
                          <a:solidFill>
                            <a:srgbClr val="173047"/>
                          </a:solidFill>
                          <a:latin typeface="Arial"/>
                          <a:ea typeface="Arial"/>
                          <a:cs typeface="Arial"/>
                        </a:rPr>
                        <a:t>8</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r>
              <a:tr h="636270">
                <a:tc>
                  <a:txBody>
                    <a:bodyPr/>
                    <a:lstStyle/>
                    <a:p>
                      <a:r>
                        <a:rPr sz="2325">
                          <a:solidFill>
                            <a:srgbClr val="173047"/>
                          </a:solidFill>
                          <a:latin typeface="Arial"/>
                          <a:ea typeface="Arial"/>
                          <a:cs typeface="Arial"/>
                        </a:rPr>
                        <a:t>E</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a:t>
                      </a:r>
                    </a:p>
                  </a:txBody>
                  <a:tcPr marL="114300" marR="114300" marT="66675" marB="66675" anchor="ctr">
                    <a:solidFill>
                      <a:srgbClr val="F1F5F8"/>
                    </a:solidFill>
                  </a:tcPr>
                </a:tc>
                <a:tc>
                  <a:txBody>
                    <a:bodyPr/>
                    <a:lstStyle/>
                    <a:p>
                      <a:r>
                        <a:rPr sz="2325">
                          <a:solidFill>
                            <a:srgbClr val="173047"/>
                          </a:solidFill>
                          <a:latin typeface="Arial"/>
                          <a:ea typeface="Arial"/>
                          <a:cs typeface="Arial"/>
                        </a:rPr>
                        <a:t>13</a:t>
                      </a:r>
                    </a:p>
                  </a:txBody>
                  <a:tcPr marL="114300" marR="114300" marT="66675" marB="66675" anchor="ctr">
                    <a:solidFill>
                      <a:srgbClr val="F1F5F8"/>
                    </a:solidFill>
                  </a:tcPr>
                </a:tc>
                <a:tc>
                  <a:txBody>
                    <a:bodyPr/>
                    <a:lstStyle/>
                    <a:p>
                      <a:r>
                        <a:rPr sz="2325">
                          <a:solidFill>
                            <a:srgbClr val="173047"/>
                          </a:solidFill>
                          <a:latin typeface="Arial"/>
                          <a:ea typeface="Arial"/>
                          <a:cs typeface="Arial"/>
                        </a:rPr>
                        <a:t>0</a:t>
                      </a:r>
                    </a:p>
                  </a:txBody>
                  <a:tcPr marL="114300" marR="114300" marT="66675" marB="66675" anchor="ctr">
                    <a:solidFill>
                      <a:srgbClr val="DDF3EC"/>
                    </a:solidFill>
                  </a:tcPr>
                </a:tc>
                <a:tc>
                  <a:txBody>
                    <a:bodyPr/>
                    <a:lstStyle/>
                    <a:p>
                      <a:r>
                        <a:rPr sz="2325">
                          <a:solidFill>
                            <a:srgbClr val="566779"/>
                          </a:solidFill>
                          <a:latin typeface="Arial"/>
                          <a:ea typeface="Arial"/>
                          <a:cs typeface="Arial"/>
                        </a:rPr>
                        <a:t>∞</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3B0B6678-DED8-4ADE-BA66-628A82474B31}"/>
              </a:ext>
            </a:extLst>
          </p:cNvPr>
          <p:cNvSpPr>
            <a:spLocks xmlns:a="http://schemas.openxmlformats.org/drawingml/2006/main" noGrp="1"/>
          </p:cNvSpPr>
          <p:nvPr/>
        </p:nvSpPr>
        <p:spPr>
          <a:xfrm xmlns:a="http://schemas.openxmlformats.org/drawingml/2006/main">
            <a:off x="8191500" y="1790700"/>
            <a:ext cx="323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2868AF"/>
                </a:solidFill>
                <a:latin typeface="Arial"/>
                <a:ea typeface="Arial"/>
                <a:cs typeface="Arial"/>
              </a:defRPr>
            </a:defPPr>
          </a:lstStyle>
          <a:p xmlns:a="http://schemas.openxmlformats.org/drawingml/2006/main">
            <a:pPr algn="l">
              <a:buNone/>
              <a:defRPr sz="2775" b="1">
                <a:solidFill>
                  <a:srgbClr val="2868AF"/>
                </a:solidFill>
                <a:latin typeface="Arial"/>
                <a:ea typeface="Arial"/>
                <a:cs typeface="Arial"/>
              </a:defRPr>
            </a:pPr>
            <a:r>
              <a:rPr sz="2775" b="1">
                <a:solidFill>
                  <a:srgbClr val="2868AF"/>
                </a:solidFill>
                <a:latin typeface="Arial"/>
                <a:ea typeface="Arial"/>
                <a:cs typeface="Arial"/>
              </a:rPr>
              <a:t>L = 29 + 3 = 32</a:t>
            </a:r>
          </a:p>
        </p:txBody>
      </p:sp>
      <p:sp>
        <p:nvSpPr>
          <p:cNvPr id="6" name="">
            <a:extLst xmlns:a="http://schemas.openxmlformats.org/drawingml/2006/main">
              <a:ext uri="{FF2B5EF4-FFF2-40B4-BE49-F238E27FC236}">
                <a16:creationId xmlns:a16="http://schemas.microsoft.com/office/drawing/2014/main" id="{9C0D2089-3EDB-4958-8E58-7C538ED450E5}"/>
              </a:ext>
            </a:extLst>
          </p:cNvPr>
          <p:cNvSpPr>
            <a:spLocks xmlns:a="http://schemas.openxmlformats.org/drawingml/2006/main" noGrp="1"/>
          </p:cNvSpPr>
          <p:nvPr/>
        </p:nvSpPr>
        <p:spPr>
          <a:xfrm xmlns:a="http://schemas.openxmlformats.org/drawingml/2006/main">
            <a:off x="8191500" y="320040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Штраф C-S:</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10 + 1 = 11</a:t>
            </a:r>
          </a:p>
        </p:txBody>
      </p:sp>
      <p:sp>
        <p:nvSpPr>
          <p:cNvPr id="7" name="">
            <a:extLst xmlns:a="http://schemas.openxmlformats.org/drawingml/2006/main">
              <a:ext uri="{FF2B5EF4-FFF2-40B4-BE49-F238E27FC236}">
                <a16:creationId xmlns:a16="http://schemas.microsoft.com/office/drawing/2014/main" id="{8EB2B683-5EFD-4AE1-82ED-CBB927A89BAD}"/>
              </a:ext>
            </a:extLst>
          </p:cNvPr>
          <p:cNvSpPr>
            <a:spLocks xmlns:a="http://schemas.openxmlformats.org/drawingml/2006/main" noGrp="1"/>
          </p:cNvSpPr>
          <p:nvPr/>
        </p:nvSpPr>
        <p:spPr>
          <a:xfrm xmlns:a="http://schemas.openxmlformats.org/drawingml/2006/main">
            <a:off x="762000" y="52482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566779"/>
                </a:solidFill>
                <a:latin typeface="Arial"/>
                <a:ea typeface="Arial"/>
                <a:cs typeface="Arial"/>
              </a:defRPr>
            </a:defPPr>
          </a:lstStyle>
          <a:p xmlns:a="http://schemas.openxmlformats.org/drawingml/2006/main">
            <a:pPr algn="l">
              <a:buNone/>
              <a:defRPr sz="2325" b="0">
                <a:solidFill>
                  <a:srgbClr val="566779"/>
                </a:solidFill>
                <a:latin typeface="Arial"/>
                <a:ea typeface="Arial"/>
                <a:cs typeface="Arial"/>
              </a:defRPr>
            </a:pPr>
            <a:r>
              <a:rPr sz="2325" b="0">
                <a:solidFill>
                  <a:srgbClr val="566779"/>
                </a:solidFill>
                <a:latin typeface="Arial"/>
                <a:ea typeface="Arial"/>
                <a:cs typeface="Arial"/>
              </a:rPr>
              <a:t>За правилом черги спочатку аналізуємо N2 з L=29</a:t>
            </a:r>
          </a:p>
        </p:txBody>
      </p:sp>
    </p:spTree>
    <p:extLst>
      <p:ext uri="{BB962C8B-B14F-4D97-AF65-F5344CB8AC3E}">
        <p14:creationId xmlns:p14="http://schemas.microsoft.com/office/powerpoint/2010/main" val="1447538556"/>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7A5ACA-0410-4943-BF04-D892030FBFC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Гілка S-A, B-C, C-S: матриця N9</a:t>
            </a:r>
          </a:p>
        </p:txBody>
      </p:sp>
      <p:sp>
        <p:nvSpPr>
          <p:cNvPr id="2" name="">
            <a:extLst xmlns:a="http://schemas.openxmlformats.org/drawingml/2006/main">
              <a:ext uri="{FF2B5EF4-FFF2-40B4-BE49-F238E27FC236}">
                <a16:creationId xmlns:a16="http://schemas.microsoft.com/office/drawing/2014/main" id="{D00206C1-D142-41E5-9F82-B1936334BA6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Для нуля D-B штраф 13. Включення дає L=36, виключення L=45.</a:t>
            </a:r>
          </a:p>
        </p:txBody>
      </p:sp>
      <p:sp>
        <p:nvSpPr>
          <p:cNvPr id="3" name="">
            <a:extLst xmlns:a="http://schemas.openxmlformats.org/drawingml/2006/main">
              <a:ext uri="{FF2B5EF4-FFF2-40B4-BE49-F238E27FC236}">
                <a16:creationId xmlns:a16="http://schemas.microsoft.com/office/drawing/2014/main" id="{1C324BFA-4B12-481C-905B-92F5F6C4C69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56</a:t>
            </a:r>
          </a:p>
        </p:txBody>
      </p:sp>
      <p:graphicFrame>
        <p:nvGraphicFramePr>
          <p:cNvPr id="4" name="">
            <a:extLst xmlns:a="http://schemas.openxmlformats.org/drawingml/2006/main">
              <a:ext uri="{FF2B5EF4-FFF2-40B4-BE49-F238E27FC236}">
                <a16:creationId xmlns:a16="http://schemas.microsoft.com/office/drawing/2014/main" id="{5371C16B-862C-424A-90A9-F402AA717826}"/>
              </a:ext>
            </a:extLst>
          </p:cNvPr>
          <p:cNvGraphicFramePr/>
          <p:nvPr/>
        </p:nvGraphicFramePr>
        <p:xfrm>
          <a:off xmlns:a="http://schemas.openxmlformats.org/drawingml/2006/main" x="762000" y="1876425"/>
          <a:ext xmlns:a="http://schemas.openxmlformats.org/drawingml/2006/main" cx="6191250" cy="2962275"/>
        </p:xfrm>
        <a:graphic xmlns:a="http://schemas.openxmlformats.org/drawingml/2006/main">
          <a:graphicData uri="http://schemas.openxmlformats.org/drawingml/2006/table">
            <a:tbl>
              <a:tblPr/>
              <a:tblGrid>
                <a:gridCol w="1547813"/>
                <a:gridCol w="1547813"/>
                <a:gridCol w="1547813"/>
                <a:gridCol w="1547813"/>
              </a:tblGrid>
              <a:tr h="740569">
                <a:tc>
                  <a:txBody>
                    <a:bodyPr/>
                    <a:lstStyle/>
                    <a:p>
                      <a:r>
                        <a:rPr sz="2850" b="1">
                          <a:solidFill>
                            <a:srgbClr val="FFFFFF"/>
                          </a:solidFill>
                          <a:latin typeface="Arial"/>
                          <a:ea typeface="Arial"/>
                          <a:cs typeface="Arial"/>
                        </a:rPr>
                        <a:t>З/До</a:t>
                      </a:r>
                    </a:p>
                  </a:txBody>
                  <a:tcPr marL="114300" marR="114300" marT="66675" marB="66675" anchor="ctr">
                    <a:solidFill>
                      <a:srgbClr val="173047"/>
                    </a:solidFill>
                  </a:tcPr>
                </a:tc>
                <a:tc>
                  <a:txBody>
                    <a:bodyPr/>
                    <a:lstStyle/>
                    <a:p>
                      <a:r>
                        <a:rPr sz="2850" b="1">
                          <a:solidFill>
                            <a:srgbClr val="FFFFFF"/>
                          </a:solidFill>
                          <a:latin typeface="Arial"/>
                          <a:ea typeface="Arial"/>
                          <a:cs typeface="Arial"/>
                        </a:rPr>
                        <a:t>B</a:t>
                      </a:r>
                    </a:p>
                  </a:txBody>
                  <a:tcPr marL="114300" marR="114300" marT="66675" marB="66675" anchor="ctr">
                    <a:solidFill>
                      <a:srgbClr val="173047"/>
                    </a:solidFill>
                  </a:tcPr>
                </a:tc>
                <a:tc>
                  <a:txBody>
                    <a:bodyPr/>
                    <a:lstStyle/>
                    <a:p>
                      <a:r>
                        <a:rPr sz="2850"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850" b="1">
                          <a:solidFill>
                            <a:srgbClr val="FFFFFF"/>
                          </a:solidFill>
                          <a:latin typeface="Arial"/>
                          <a:ea typeface="Arial"/>
                          <a:cs typeface="Arial"/>
                        </a:rPr>
                        <a:t>E</a:t>
                      </a:r>
                    </a:p>
                  </a:txBody>
                  <a:tcPr marL="114300" marR="114300" marT="66675" marB="66675" anchor="ctr">
                    <a:solidFill>
                      <a:srgbClr val="173047"/>
                    </a:solidFill>
                  </a:tcPr>
                </a:tc>
              </a:tr>
              <a:tr h="740569">
                <a:tc>
                  <a:txBody>
                    <a:bodyPr/>
                    <a:lstStyle/>
                    <a:p>
                      <a:r>
                        <a:rPr sz="2850">
                          <a:solidFill>
                            <a:srgbClr val="173047"/>
                          </a:solidFill>
                          <a:latin typeface="Arial"/>
                          <a:ea typeface="Arial"/>
                          <a:cs typeface="Arial"/>
                        </a:rPr>
                        <a:t>A</a:t>
                      </a:r>
                    </a:p>
                  </a:txBody>
                  <a:tcPr marL="114300" marR="114300" marT="66675" marB="66675" anchor="ctr">
                    <a:solidFill>
                      <a:srgbClr val="FFFFFF"/>
                    </a:solidFill>
                  </a:tcPr>
                </a:tc>
                <a:tc>
                  <a:txBody>
                    <a:bodyPr/>
                    <a:lstStyle/>
                    <a:p>
                      <a:r>
                        <a:rPr sz="2850">
                          <a:solidFill>
                            <a:srgbClr val="566779"/>
                          </a:solidFill>
                          <a:latin typeface="Arial"/>
                          <a:ea typeface="Arial"/>
                          <a:cs typeface="Arial"/>
                        </a:rPr>
                        <a:t>∞</a:t>
                      </a:r>
                    </a:p>
                  </a:txBody>
                  <a:tcPr marL="114300" marR="114300" marT="66675" marB="66675" anchor="ctr">
                    <a:solidFill>
                      <a:srgbClr val="F1F5F8"/>
                    </a:solidFill>
                  </a:tcPr>
                </a:tc>
                <a:tc>
                  <a:txBody>
                    <a:bodyPr/>
                    <a:lstStyle/>
                    <a:p>
                      <a:r>
                        <a:rPr sz="2850">
                          <a:solidFill>
                            <a:srgbClr val="173047"/>
                          </a:solidFill>
                          <a:latin typeface="Arial"/>
                          <a:ea typeface="Arial"/>
                          <a:cs typeface="Arial"/>
                        </a:rPr>
                        <a:t>0</a:t>
                      </a:r>
                    </a:p>
                  </a:txBody>
                  <a:tcPr marL="114300" marR="114300" marT="66675" marB="66675" anchor="ctr">
                    <a:solidFill>
                      <a:srgbClr val="DDF3EC"/>
                    </a:solidFill>
                  </a:tcPr>
                </a:tc>
                <a:tc>
                  <a:txBody>
                    <a:bodyPr/>
                    <a:lstStyle/>
                    <a:p>
                      <a:r>
                        <a:rPr sz="2850">
                          <a:solidFill>
                            <a:srgbClr val="173047"/>
                          </a:solidFill>
                          <a:latin typeface="Arial"/>
                          <a:ea typeface="Arial"/>
                          <a:cs typeface="Arial"/>
                        </a:rPr>
                        <a:t>4</a:t>
                      </a:r>
                    </a:p>
                  </a:txBody>
                  <a:tcPr marL="114300" marR="114300" marT="66675" marB="66675" anchor="ctr">
                    <a:solidFill>
                      <a:srgbClr val="FFFFFF"/>
                    </a:solidFill>
                  </a:tcPr>
                </a:tc>
              </a:tr>
              <a:tr h="740569">
                <a:tc>
                  <a:txBody>
                    <a:bodyPr/>
                    <a:lstStyle/>
                    <a:p>
                      <a:r>
                        <a:rPr sz="2850">
                          <a:solidFill>
                            <a:srgbClr val="173047"/>
                          </a:solidFill>
                          <a:latin typeface="Arial"/>
                          <a:ea typeface="Arial"/>
                          <a:cs typeface="Arial"/>
                        </a:rPr>
                        <a:t>D</a:t>
                      </a:r>
                    </a:p>
                  </a:txBody>
                  <a:tcPr marL="114300" marR="114300" marT="66675" marB="66675" anchor="ctr">
                    <a:solidFill>
                      <a:srgbClr val="F1F5F8"/>
                    </a:solidFill>
                  </a:tcPr>
                </a:tc>
                <a:tc>
                  <a:txBody>
                    <a:bodyPr/>
                    <a:lstStyle/>
                    <a:p>
                      <a:r>
                        <a:rPr sz="2850" b="1">
                          <a:solidFill>
                            <a:srgbClr val="FFFFFF"/>
                          </a:solidFill>
                          <a:latin typeface="Arial"/>
                          <a:ea typeface="Arial"/>
                          <a:cs typeface="Arial"/>
                        </a:rPr>
                        <a:t>0</a:t>
                      </a:r>
                    </a:p>
                  </a:txBody>
                  <a:tcPr marL="114300" marR="114300" marT="66675" marB="66675" anchor="ctr">
                    <a:solidFill>
                      <a:srgbClr val="00857D"/>
                    </a:solidFill>
                  </a:tcPr>
                </a:tc>
                <a:tc>
                  <a:txBody>
                    <a:bodyPr/>
                    <a:lstStyle/>
                    <a:p>
                      <a:r>
                        <a:rPr sz="2850">
                          <a:solidFill>
                            <a:srgbClr val="566779"/>
                          </a:solidFill>
                          <a:latin typeface="Arial"/>
                          <a:ea typeface="Arial"/>
                          <a:cs typeface="Arial"/>
                        </a:rPr>
                        <a:t>∞</a:t>
                      </a:r>
                    </a:p>
                  </a:txBody>
                  <a:tcPr marL="114300" marR="114300" marT="66675" marB="66675" anchor="ctr">
                    <a:solidFill>
                      <a:srgbClr val="F1F5F8"/>
                    </a:solidFill>
                  </a:tcPr>
                </a:tc>
                <a:tc>
                  <a:txBody>
                    <a:bodyPr/>
                    <a:lstStyle/>
                    <a:p>
                      <a:r>
                        <a:rPr sz="2850">
                          <a:solidFill>
                            <a:srgbClr val="173047"/>
                          </a:solidFill>
                          <a:latin typeface="Arial"/>
                          <a:ea typeface="Arial"/>
                          <a:cs typeface="Arial"/>
                        </a:rPr>
                        <a:t>0</a:t>
                      </a:r>
                    </a:p>
                  </a:txBody>
                  <a:tcPr marL="114300" marR="114300" marT="66675" marB="66675" anchor="ctr">
                    <a:solidFill>
                      <a:srgbClr val="DDF3EC"/>
                    </a:solidFill>
                  </a:tcPr>
                </a:tc>
              </a:tr>
              <a:tr h="740569">
                <a:tc>
                  <a:txBody>
                    <a:bodyPr/>
                    <a:lstStyle/>
                    <a:p>
                      <a:r>
                        <a:rPr sz="2850">
                          <a:solidFill>
                            <a:srgbClr val="173047"/>
                          </a:solidFill>
                          <a:latin typeface="Arial"/>
                          <a:ea typeface="Arial"/>
                          <a:cs typeface="Arial"/>
                        </a:rPr>
                        <a:t>E</a:t>
                      </a:r>
                    </a:p>
                  </a:txBody>
                  <a:tcPr marL="114300" marR="114300" marT="66675" marB="66675" anchor="ctr">
                    <a:solidFill>
                      <a:srgbClr val="FFFFFF"/>
                    </a:solidFill>
                  </a:tcPr>
                </a:tc>
                <a:tc>
                  <a:txBody>
                    <a:bodyPr/>
                    <a:lstStyle/>
                    <a:p>
                      <a:r>
                        <a:rPr sz="2850">
                          <a:solidFill>
                            <a:srgbClr val="173047"/>
                          </a:solidFill>
                          <a:latin typeface="Arial"/>
                          <a:ea typeface="Arial"/>
                          <a:cs typeface="Arial"/>
                        </a:rPr>
                        <a:t>13</a:t>
                      </a:r>
                    </a:p>
                  </a:txBody>
                  <a:tcPr marL="114300" marR="114300" marT="66675" marB="66675" anchor="ctr">
                    <a:solidFill>
                      <a:srgbClr val="FFFFFF"/>
                    </a:solidFill>
                  </a:tcPr>
                </a:tc>
                <a:tc>
                  <a:txBody>
                    <a:bodyPr/>
                    <a:lstStyle/>
                    <a:p>
                      <a:r>
                        <a:rPr sz="2850">
                          <a:solidFill>
                            <a:srgbClr val="173047"/>
                          </a:solidFill>
                          <a:latin typeface="Arial"/>
                          <a:ea typeface="Arial"/>
                          <a:cs typeface="Arial"/>
                        </a:rPr>
                        <a:t>0</a:t>
                      </a:r>
                    </a:p>
                  </a:txBody>
                  <a:tcPr marL="114300" marR="114300" marT="66675" marB="66675" anchor="ctr">
                    <a:solidFill>
                      <a:srgbClr val="DDF3EC"/>
                    </a:solidFill>
                  </a:tcPr>
                </a:tc>
                <a:tc>
                  <a:txBody>
                    <a:bodyPr/>
                    <a:lstStyle/>
                    <a:p>
                      <a:r>
                        <a:rPr sz="2850">
                          <a:solidFill>
                            <a:srgbClr val="566779"/>
                          </a:solidFill>
                          <a:latin typeface="Arial"/>
                          <a:ea typeface="Arial"/>
                          <a:cs typeface="Arial"/>
                        </a:rPr>
                        <a:t>∞</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1DBDF649-8076-4B79-A09C-E43D3ABA1FAA}"/>
              </a:ext>
            </a:extLst>
          </p:cNvPr>
          <p:cNvSpPr>
            <a:spLocks xmlns:a="http://schemas.openxmlformats.org/drawingml/2006/main" noGrp="1"/>
          </p:cNvSpPr>
          <p:nvPr/>
        </p:nvSpPr>
        <p:spPr>
          <a:xfrm xmlns:a="http://schemas.openxmlformats.org/drawingml/2006/main">
            <a:off x="7715250" y="1666875"/>
            <a:ext cx="371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4500" b="1">
                <a:solidFill>
                  <a:srgbClr val="2868AF"/>
                </a:solidFill>
                <a:latin typeface="Arial"/>
                <a:ea typeface="Arial"/>
                <a:cs typeface="Arial"/>
              </a:defRPr>
            </a:defPPr>
          </a:lstStyle>
          <a:p xmlns:a="http://schemas.openxmlformats.org/drawingml/2006/main">
            <a:pPr algn="l">
              <a:buNone/>
              <a:defRPr sz="4500" b="1">
                <a:solidFill>
                  <a:srgbClr val="2868AF"/>
                </a:solidFill>
                <a:latin typeface="Arial"/>
                <a:ea typeface="Arial"/>
                <a:cs typeface="Arial"/>
              </a:defRPr>
            </a:pPr>
            <a:r>
              <a:rPr sz="4500" b="1">
                <a:solidFill>
                  <a:srgbClr val="2868AF"/>
                </a:solidFill>
                <a:latin typeface="Arial"/>
                <a:ea typeface="Arial"/>
                <a:cs typeface="Arial"/>
              </a:rPr>
              <a:t>L = 32</a:t>
            </a:r>
          </a:p>
        </p:txBody>
      </p:sp>
      <p:sp>
        <p:nvSpPr>
          <p:cNvPr id="6" name="">
            <a:extLst xmlns:a="http://schemas.openxmlformats.org/drawingml/2006/main">
              <a:ext uri="{FF2B5EF4-FFF2-40B4-BE49-F238E27FC236}">
                <a16:creationId xmlns:a16="http://schemas.microsoft.com/office/drawing/2014/main" id="{11D4B60B-7F45-46ED-B77C-B35C8F42E797}"/>
              </a:ext>
            </a:extLst>
          </p:cNvPr>
          <p:cNvSpPr>
            <a:spLocks xmlns:a="http://schemas.openxmlformats.org/drawingml/2006/main" noGrp="1"/>
          </p:cNvSpPr>
          <p:nvPr/>
        </p:nvSpPr>
        <p:spPr>
          <a:xfrm xmlns:a="http://schemas.openxmlformats.org/drawingml/2006/main">
            <a:off x="7715250" y="2895600"/>
            <a:ext cx="37147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Включення D-B</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створює ланцюг</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D-B-C-S-A</a:t>
            </a:r>
          </a:p>
        </p:txBody>
      </p:sp>
      <p:sp>
        <p:nvSpPr>
          <p:cNvPr id="7" name="">
            <a:extLst xmlns:a="http://schemas.openxmlformats.org/drawingml/2006/main">
              <a:ext uri="{FF2B5EF4-FFF2-40B4-BE49-F238E27FC236}">
                <a16:creationId xmlns:a16="http://schemas.microsoft.com/office/drawing/2014/main" id="{8B1025F5-00FB-447C-BAD0-A11D998C87FB}"/>
              </a:ext>
            </a:extLst>
          </p:cNvPr>
          <p:cNvSpPr>
            <a:spLocks xmlns:a="http://schemas.openxmlformats.org/drawingml/2006/main" noGrp="1"/>
          </p:cNvSpPr>
          <p:nvPr/>
        </p:nvSpPr>
        <p:spPr>
          <a:xfrm xmlns:a="http://schemas.openxmlformats.org/drawingml/2006/main">
            <a:off x="7715250" y="4714875"/>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B64436"/>
                </a:solidFill>
                <a:latin typeface="Arial"/>
                <a:ea typeface="Arial"/>
                <a:cs typeface="Arial"/>
              </a:defRPr>
            </a:defPPr>
          </a:lstStyle>
          <a:p xmlns:a="http://schemas.openxmlformats.org/drawingml/2006/main">
            <a:pPr algn="l">
              <a:buNone/>
              <a:defRPr sz="2625" b="1">
                <a:solidFill>
                  <a:srgbClr val="B64436"/>
                </a:solidFill>
                <a:latin typeface="Arial"/>
                <a:ea typeface="Arial"/>
                <a:cs typeface="Arial"/>
              </a:defRPr>
            </a:pPr>
            <a:r>
              <a:rPr sz="2625" b="1">
                <a:solidFill>
                  <a:srgbClr val="B64436"/>
                </a:solidFill>
                <a:latin typeface="Arial"/>
                <a:ea typeface="Arial"/>
                <a:cs typeface="Arial"/>
              </a:rPr>
              <a:t>Тому A-D = ∞</a:t>
            </a:r>
          </a:p>
        </p:txBody>
      </p:sp>
    </p:spTree>
    <p:extLst>
      <p:ext uri="{BB962C8B-B14F-4D97-AF65-F5344CB8AC3E}">
        <p14:creationId xmlns:p14="http://schemas.microsoft.com/office/powerpoint/2010/main" val="90876312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048771-089E-4B91-924B-A1CCDA99CD1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Матриця N11: завершення маршруту</a:t>
            </a:r>
          </a:p>
        </p:txBody>
      </p:sp>
      <p:sp>
        <p:nvSpPr>
          <p:cNvPr id="2" name="">
            <a:extLst xmlns:a="http://schemas.openxmlformats.org/drawingml/2006/main">
              <a:ext uri="{FF2B5EF4-FFF2-40B4-BE49-F238E27FC236}">
                <a16:creationId xmlns:a16="http://schemas.microsoft.com/office/drawing/2014/main" id="{B0922FA2-0A34-4C16-98BE-44C5909280C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У редукованій матриці залишилися вимушені дуги A-E та E-D.</a:t>
            </a:r>
          </a:p>
        </p:txBody>
      </p:sp>
      <p:sp>
        <p:nvSpPr>
          <p:cNvPr id="3" name="">
            <a:extLst xmlns:a="http://schemas.openxmlformats.org/drawingml/2006/main">
              <a:ext uri="{FF2B5EF4-FFF2-40B4-BE49-F238E27FC236}">
                <a16:creationId xmlns:a16="http://schemas.microsoft.com/office/drawing/2014/main" id="{0277FE41-68EA-4649-96A2-35CA5FF68AC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57</a:t>
            </a:r>
          </a:p>
        </p:txBody>
      </p:sp>
      <p:graphicFrame>
        <p:nvGraphicFramePr>
          <p:cNvPr id="4" name="">
            <a:extLst xmlns:a="http://schemas.openxmlformats.org/drawingml/2006/main">
              <a:ext uri="{FF2B5EF4-FFF2-40B4-BE49-F238E27FC236}">
                <a16:creationId xmlns:a16="http://schemas.microsoft.com/office/drawing/2014/main" id="{7A8D29B9-551C-4626-A388-4B67B1DFADE9}"/>
              </a:ext>
            </a:extLst>
          </p:cNvPr>
          <p:cNvGraphicFramePr/>
          <p:nvPr/>
        </p:nvGraphicFramePr>
        <p:xfrm>
          <a:off xmlns:a="http://schemas.openxmlformats.org/drawingml/2006/main" x="762000" y="1866900"/>
          <a:ext xmlns:a="http://schemas.openxmlformats.org/drawingml/2006/main" cx="5381625" cy="2533650"/>
        </p:xfrm>
        <a:graphic xmlns:a="http://schemas.openxmlformats.org/drawingml/2006/main">
          <a:graphicData uri="http://schemas.openxmlformats.org/drawingml/2006/table">
            <a:tbl>
              <a:tblPr/>
              <a:tblGrid>
                <a:gridCol w="1793875"/>
                <a:gridCol w="1793875"/>
                <a:gridCol w="1793875"/>
              </a:tblGrid>
              <a:tr h="844550">
                <a:tc>
                  <a:txBody>
                    <a:bodyPr/>
                    <a:lstStyle/>
                    <a:p>
                      <a:r>
                        <a:rPr sz="2850" b="1">
                          <a:solidFill>
                            <a:srgbClr val="FFFFFF"/>
                          </a:solidFill>
                          <a:latin typeface="Arial"/>
                          <a:ea typeface="Arial"/>
                          <a:cs typeface="Arial"/>
                        </a:rPr>
                        <a:t>З/До</a:t>
                      </a:r>
                    </a:p>
                  </a:txBody>
                  <a:tcPr marL="114300" marR="114300" marT="66675" marB="66675" anchor="ctr">
                    <a:solidFill>
                      <a:srgbClr val="173047"/>
                    </a:solidFill>
                  </a:tcPr>
                </a:tc>
                <a:tc>
                  <a:txBody>
                    <a:bodyPr/>
                    <a:lstStyle/>
                    <a:p>
                      <a:r>
                        <a:rPr sz="2850" b="1">
                          <a:solidFill>
                            <a:srgbClr val="FFFFFF"/>
                          </a:solidFill>
                          <a:latin typeface="Arial"/>
                          <a:ea typeface="Arial"/>
                          <a:cs typeface="Arial"/>
                        </a:rPr>
                        <a:t>D</a:t>
                      </a:r>
                    </a:p>
                  </a:txBody>
                  <a:tcPr marL="114300" marR="114300" marT="66675" marB="66675" anchor="ctr">
                    <a:solidFill>
                      <a:srgbClr val="173047"/>
                    </a:solidFill>
                  </a:tcPr>
                </a:tc>
                <a:tc>
                  <a:txBody>
                    <a:bodyPr/>
                    <a:lstStyle/>
                    <a:p>
                      <a:r>
                        <a:rPr sz="2850" b="1">
                          <a:solidFill>
                            <a:srgbClr val="FFFFFF"/>
                          </a:solidFill>
                          <a:latin typeface="Arial"/>
                          <a:ea typeface="Arial"/>
                          <a:cs typeface="Arial"/>
                        </a:rPr>
                        <a:t>E</a:t>
                      </a:r>
                    </a:p>
                  </a:txBody>
                  <a:tcPr marL="114300" marR="114300" marT="66675" marB="66675" anchor="ctr">
                    <a:solidFill>
                      <a:srgbClr val="173047"/>
                    </a:solidFill>
                  </a:tcPr>
                </a:tc>
              </a:tr>
              <a:tr h="844550">
                <a:tc>
                  <a:txBody>
                    <a:bodyPr/>
                    <a:lstStyle/>
                    <a:p>
                      <a:r>
                        <a:rPr sz="2850">
                          <a:solidFill>
                            <a:srgbClr val="173047"/>
                          </a:solidFill>
                          <a:latin typeface="Arial"/>
                          <a:ea typeface="Arial"/>
                          <a:cs typeface="Arial"/>
                        </a:rPr>
                        <a:t>A</a:t>
                      </a:r>
                    </a:p>
                  </a:txBody>
                  <a:tcPr marL="114300" marR="114300" marT="66675" marB="66675" anchor="ctr">
                    <a:solidFill>
                      <a:srgbClr val="FFFFFF"/>
                    </a:solidFill>
                  </a:tcPr>
                </a:tc>
                <a:tc>
                  <a:txBody>
                    <a:bodyPr/>
                    <a:lstStyle/>
                    <a:p>
                      <a:r>
                        <a:rPr sz="2850">
                          <a:solidFill>
                            <a:srgbClr val="566779"/>
                          </a:solidFill>
                          <a:latin typeface="Arial"/>
                          <a:ea typeface="Arial"/>
                          <a:cs typeface="Arial"/>
                        </a:rPr>
                        <a:t>∞</a:t>
                      </a:r>
                    </a:p>
                  </a:txBody>
                  <a:tcPr marL="114300" marR="114300" marT="66675" marB="66675" anchor="ctr">
                    <a:solidFill>
                      <a:srgbClr val="F1F5F8"/>
                    </a:solidFill>
                  </a:tcPr>
                </a:tc>
                <a:tc>
                  <a:txBody>
                    <a:bodyPr/>
                    <a:lstStyle/>
                    <a:p>
                      <a:r>
                        <a:rPr sz="2850" b="1">
                          <a:solidFill>
                            <a:srgbClr val="FFFFFF"/>
                          </a:solidFill>
                          <a:latin typeface="Arial"/>
                          <a:ea typeface="Arial"/>
                          <a:cs typeface="Arial"/>
                        </a:rPr>
                        <a:t>0</a:t>
                      </a:r>
                    </a:p>
                  </a:txBody>
                  <a:tcPr marL="114300" marR="114300" marT="66675" marB="66675" anchor="ctr">
                    <a:solidFill>
                      <a:srgbClr val="00857D"/>
                    </a:solidFill>
                  </a:tcPr>
                </a:tc>
              </a:tr>
              <a:tr h="844550">
                <a:tc>
                  <a:txBody>
                    <a:bodyPr/>
                    <a:lstStyle/>
                    <a:p>
                      <a:r>
                        <a:rPr sz="2850">
                          <a:solidFill>
                            <a:srgbClr val="173047"/>
                          </a:solidFill>
                          <a:latin typeface="Arial"/>
                          <a:ea typeface="Arial"/>
                          <a:cs typeface="Arial"/>
                        </a:rPr>
                        <a:t>E</a:t>
                      </a:r>
                    </a:p>
                  </a:txBody>
                  <a:tcPr marL="114300" marR="114300" marT="66675" marB="66675" anchor="ctr">
                    <a:solidFill>
                      <a:srgbClr val="F1F5F8"/>
                    </a:solidFill>
                  </a:tcPr>
                </a:tc>
                <a:tc>
                  <a:txBody>
                    <a:bodyPr/>
                    <a:lstStyle/>
                    <a:p>
                      <a:r>
                        <a:rPr sz="2850">
                          <a:solidFill>
                            <a:srgbClr val="173047"/>
                          </a:solidFill>
                          <a:latin typeface="Arial"/>
                          <a:ea typeface="Arial"/>
                          <a:cs typeface="Arial"/>
                        </a:rPr>
                        <a:t>0</a:t>
                      </a:r>
                    </a:p>
                  </a:txBody>
                  <a:tcPr marL="114300" marR="114300" marT="66675" marB="66675" anchor="ctr">
                    <a:solidFill>
                      <a:srgbClr val="DDF3EC"/>
                    </a:solidFill>
                  </a:tcPr>
                </a:tc>
                <a:tc>
                  <a:txBody>
                    <a:bodyPr/>
                    <a:lstStyle/>
                    <a:p>
                      <a:r>
                        <a:rPr sz="2850">
                          <a:solidFill>
                            <a:srgbClr val="566779"/>
                          </a:solidFill>
                          <a:latin typeface="Arial"/>
                          <a:ea typeface="Arial"/>
                          <a:cs typeface="Arial"/>
                        </a:rPr>
                        <a:t>∞</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DE8FDD6D-B509-4B16-AFE7-6CF7F85D225D}"/>
              </a:ext>
            </a:extLst>
          </p:cNvPr>
          <p:cNvSpPr>
            <a:spLocks xmlns:a="http://schemas.openxmlformats.org/drawingml/2006/main" noGrp="1"/>
          </p:cNvSpPr>
          <p:nvPr/>
        </p:nvSpPr>
        <p:spPr>
          <a:xfrm xmlns:a="http://schemas.openxmlformats.org/drawingml/2006/main">
            <a:off x="6905625" y="1695450"/>
            <a:ext cx="4524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868AF"/>
                </a:solidFill>
                <a:latin typeface="Arial"/>
                <a:ea typeface="Arial"/>
                <a:cs typeface="Arial"/>
              </a:defRPr>
            </a:defPPr>
          </a:lstStyle>
          <a:p xmlns:a="http://schemas.openxmlformats.org/drawingml/2006/main">
            <a:pPr algn="l">
              <a:buNone/>
              <a:defRPr sz="3150" b="1">
                <a:solidFill>
                  <a:srgbClr val="2868AF"/>
                </a:solidFill>
                <a:latin typeface="Arial"/>
                <a:ea typeface="Arial"/>
                <a:cs typeface="Arial"/>
              </a:defRPr>
            </a:pPr>
            <a:r>
              <a:rPr sz="3150" b="1">
                <a:solidFill>
                  <a:srgbClr val="2868AF"/>
                </a:solidFill>
                <a:latin typeface="Arial"/>
                <a:ea typeface="Arial"/>
                <a:cs typeface="Arial"/>
              </a:rPr>
              <a:t>L = 32 + 4 = 36</a:t>
            </a:r>
          </a:p>
        </p:txBody>
      </p:sp>
      <p:sp>
        <p:nvSpPr>
          <p:cNvPr id="6" name="">
            <a:extLst xmlns:a="http://schemas.openxmlformats.org/drawingml/2006/main">
              <a:ext uri="{FF2B5EF4-FFF2-40B4-BE49-F238E27FC236}">
                <a16:creationId xmlns:a16="http://schemas.microsoft.com/office/drawing/2014/main" id="{1661D3B0-628E-47E8-A6D7-F324546E91EB}"/>
              </a:ext>
            </a:extLst>
          </p:cNvPr>
          <p:cNvSpPr>
            <a:spLocks xmlns:a="http://schemas.openxmlformats.org/drawingml/2006/main" noGrp="1"/>
          </p:cNvSpPr>
          <p:nvPr/>
        </p:nvSpPr>
        <p:spPr>
          <a:xfrm xmlns:a="http://schemas.openxmlformats.org/drawingml/2006/main">
            <a:off x="6905625" y="2895600"/>
            <a:ext cx="4524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00857D"/>
                </a:solidFill>
                <a:latin typeface="Arial"/>
                <a:ea typeface="Arial"/>
                <a:cs typeface="Arial"/>
              </a:defRPr>
            </a:defPPr>
          </a:lstStyle>
          <a:p xmlns:a="http://schemas.openxmlformats.org/drawingml/2006/main">
            <a:pPr algn="l">
              <a:buNone/>
              <a:defRPr sz="2475" b="1">
                <a:solidFill>
                  <a:srgbClr val="00857D"/>
                </a:solidFill>
                <a:latin typeface="Arial"/>
                <a:ea typeface="Arial"/>
                <a:cs typeface="Arial"/>
              </a:defRPr>
            </a:pPr>
            <a:r>
              <a:rPr sz="2475" b="1">
                <a:solidFill>
                  <a:srgbClr val="00857D"/>
                </a:solidFill>
                <a:latin typeface="Arial"/>
                <a:ea typeface="Arial"/>
                <a:cs typeface="Arial"/>
              </a:rPr>
              <a:t>Тур: S-A-E-D-B-C-S</a:t>
            </a:r>
          </a:p>
        </p:txBody>
      </p:sp>
      <p:sp>
        <p:nvSpPr>
          <p:cNvPr id="7" name="">
            <a:extLst xmlns:a="http://schemas.openxmlformats.org/drawingml/2006/main">
              <a:ext uri="{FF2B5EF4-FFF2-40B4-BE49-F238E27FC236}">
                <a16:creationId xmlns:a16="http://schemas.microsoft.com/office/drawing/2014/main" id="{EE483176-3A20-4F5F-B93F-435B32D32544}"/>
              </a:ext>
            </a:extLst>
          </p:cNvPr>
          <p:cNvSpPr>
            <a:spLocks xmlns:a="http://schemas.openxmlformats.org/drawingml/2006/main" noGrp="1"/>
          </p:cNvSpPr>
          <p:nvPr/>
        </p:nvSpPr>
        <p:spPr>
          <a:xfrm xmlns:a="http://schemas.openxmlformats.org/drawingml/2006/main">
            <a:off x="762000" y="485775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173047"/>
                </a:solidFill>
                <a:latin typeface="Arial"/>
                <a:ea typeface="Arial"/>
                <a:cs typeface="Arial"/>
              </a:defRPr>
            </a:defPPr>
          </a:lstStyle>
          <a:p xmlns:a="http://schemas.openxmlformats.org/drawingml/2006/main">
            <a:pPr algn="l">
              <a:buNone/>
              <a:defRPr sz="2775" b="1">
                <a:solidFill>
                  <a:srgbClr val="173047"/>
                </a:solidFill>
                <a:latin typeface="Arial"/>
                <a:ea typeface="Arial"/>
                <a:cs typeface="Arial"/>
              </a:defRPr>
            </a:pPr>
            <a:r>
              <a:rPr sz="2775" b="1">
                <a:solidFill>
                  <a:srgbClr val="173047"/>
                </a:solidFill>
                <a:latin typeface="Arial"/>
                <a:ea typeface="Arial"/>
                <a:cs typeface="Arial"/>
              </a:rPr>
              <a:t>Початкові вартості:</a:t>
            </a:r>
          </a:p>
          <a:p xmlns:a="http://schemas.openxmlformats.org/drawingml/2006/main">
            <a:pPr algn="l">
              <a:buNone/>
              <a:defRPr sz="2775" b="1">
                <a:solidFill>
                  <a:srgbClr val="173047"/>
                </a:solidFill>
                <a:latin typeface="Arial"/>
                <a:ea typeface="Arial"/>
                <a:cs typeface="Arial"/>
              </a:defRPr>
            </a:pPr>
            <a:r>
              <a:rPr sz="2775" b="1">
                <a:solidFill>
                  <a:srgbClr val="173047"/>
                </a:solidFill>
                <a:latin typeface="Arial"/>
                <a:ea typeface="Arial"/>
                <a:cs typeface="Arial"/>
              </a:rPr>
              <a:t>2 + 14 + 2 + 5 + 2 + 11 = 36</a:t>
            </a:r>
          </a:p>
        </p:txBody>
      </p:sp>
    </p:spTree>
    <p:extLst>
      <p:ext uri="{BB962C8B-B14F-4D97-AF65-F5344CB8AC3E}">
        <p14:creationId xmlns:p14="http://schemas.microsoft.com/office/powerpoint/2010/main" val="51215231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795B0B00-CD6E-40AE-B5E0-23CD3399BABA}"/>
              </a:ext>
            </a:extLst>
          </p:cNvPr>
          <p:cNvCxnSpPr>
            <a:stCxn xmlns:a="http://schemas.openxmlformats.org/drawingml/2006/main" id="8" idx="2"/>
            <a:endCxn xmlns:a="http://schemas.openxmlformats.org/drawingml/2006/main" id="19" idx="0"/>
          </p:cNvCxnSpPr>
          <p:nvPr/>
        </p:nvCxnSpPr>
        <p:spPr>
          <a:xfrm xmlns:a="http://schemas.openxmlformats.org/drawingml/2006/main">
            <a:off x="8763000" y="3819525"/>
            <a:ext cx="1571625" cy="838200"/>
          </a:xfrm>
          <a:prstGeom xmlns:a="http://schemas.openxmlformats.org/drawingml/2006/main" prst="straightConnector1">
            <a:avLst/>
          </a:prstGeom>
          <a:ln xmlns:a="http://schemas.openxmlformats.org/drawingml/2006/main" w="28575">
            <a:solidFill>
              <a:srgbClr val="B64436"/>
            </a:solidFill>
            <a:tailEnd type="triangle" w="med" len="med"/>
          </a:ln>
        </p:spPr>
      </p:cxnSp>
      <p:cxnSp>
        <p:nvCxnSpPr>
          <p:cNvPr id="23" name="">
            <a:extLst xmlns:a="http://schemas.openxmlformats.org/drawingml/2006/main">
              <a:ext uri="{FF2B5EF4-FFF2-40B4-BE49-F238E27FC236}">
                <a16:creationId xmlns:a16="http://schemas.microsoft.com/office/drawing/2014/main" id="{1B688C21-C60E-4C67-8BCC-0FF5ABF8EB6A}"/>
              </a:ext>
            </a:extLst>
          </p:cNvPr>
          <p:cNvCxnSpPr>
            <a:stCxn xmlns:a="http://schemas.openxmlformats.org/drawingml/2006/main" id="8" idx="2"/>
            <a:endCxn xmlns:a="http://schemas.openxmlformats.org/drawingml/2006/main" id="17" idx="0"/>
          </p:cNvCxnSpPr>
          <p:nvPr/>
        </p:nvCxnSpPr>
        <p:spPr>
          <a:xfrm xmlns:a="http://schemas.openxmlformats.org/drawingml/2006/main" flipH="1">
            <a:off x="7524750" y="3819525"/>
            <a:ext cx="1238250" cy="838200"/>
          </a:xfrm>
          <a:prstGeom xmlns:a="http://schemas.openxmlformats.org/drawingml/2006/main" prst="straightConnector1">
            <a:avLst/>
          </a:prstGeom>
          <a:ln xmlns:a="http://schemas.openxmlformats.org/drawingml/2006/main" w="28575">
            <a:solidFill>
              <a:srgbClr val="2868AF"/>
            </a:solidFill>
            <a:tailEnd type="triangle" w="med" len="med"/>
          </a:ln>
        </p:spPr>
      </p:cxnSp>
      <p:cxnSp>
        <p:nvCxnSpPr>
          <p:cNvPr id="22" name="">
            <a:extLst xmlns:a="http://schemas.openxmlformats.org/drawingml/2006/main">
              <a:ext uri="{FF2B5EF4-FFF2-40B4-BE49-F238E27FC236}">
                <a16:creationId xmlns:a16="http://schemas.microsoft.com/office/drawing/2014/main" id="{98736BF8-9200-43EF-83F7-E7E7492C5F16}"/>
              </a:ext>
            </a:extLst>
          </p:cNvPr>
          <p:cNvCxnSpPr>
            <a:stCxn xmlns:a="http://schemas.openxmlformats.org/drawingml/2006/main" id="6" idx="2"/>
            <a:endCxn xmlns:a="http://schemas.openxmlformats.org/drawingml/2006/main" id="15" idx="0"/>
          </p:cNvCxnSpPr>
          <p:nvPr/>
        </p:nvCxnSpPr>
        <p:spPr>
          <a:xfrm xmlns:a="http://schemas.openxmlformats.org/drawingml/2006/main">
            <a:off x="3429000" y="3819525"/>
            <a:ext cx="1285875" cy="838200"/>
          </a:xfrm>
          <a:prstGeom xmlns:a="http://schemas.openxmlformats.org/drawingml/2006/main" prst="straightConnector1">
            <a:avLst/>
          </a:prstGeom>
          <a:ln xmlns:a="http://schemas.openxmlformats.org/drawingml/2006/main" w="28575">
            <a:solidFill>
              <a:srgbClr val="B64436"/>
            </a:solidFill>
            <a:tailEnd type="triangle" w="med" len="med"/>
          </a:ln>
        </p:spPr>
      </p:cxnSp>
      <p:cxnSp>
        <p:nvCxnSpPr>
          <p:cNvPr id="21" name="">
            <a:extLst xmlns:a="http://schemas.openxmlformats.org/drawingml/2006/main">
              <a:ext uri="{FF2B5EF4-FFF2-40B4-BE49-F238E27FC236}">
                <a16:creationId xmlns:a16="http://schemas.microsoft.com/office/drawing/2014/main" id="{44B9CB1F-D2B5-4BB5-A33E-3D4C74ABF943}"/>
              </a:ext>
            </a:extLst>
          </p:cNvPr>
          <p:cNvCxnSpPr>
            <a:stCxn xmlns:a="http://schemas.openxmlformats.org/drawingml/2006/main" id="6" idx="2"/>
            <a:endCxn xmlns:a="http://schemas.openxmlformats.org/drawingml/2006/main" id="13" idx="0"/>
          </p:cNvCxnSpPr>
          <p:nvPr/>
        </p:nvCxnSpPr>
        <p:spPr>
          <a:xfrm xmlns:a="http://schemas.openxmlformats.org/drawingml/2006/main" flipH="1">
            <a:off x="1905000" y="3819525"/>
            <a:ext cx="1524000" cy="8382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11" name="">
            <a:extLst xmlns:a="http://schemas.openxmlformats.org/drawingml/2006/main">
              <a:ext uri="{FF2B5EF4-FFF2-40B4-BE49-F238E27FC236}">
                <a16:creationId xmlns:a16="http://schemas.microsoft.com/office/drawing/2014/main" id="{FD44E659-3472-4D0A-A063-5256A79F30CA}"/>
              </a:ext>
            </a:extLst>
          </p:cNvPr>
          <p:cNvCxnSpPr>
            <a:stCxn xmlns:a="http://schemas.openxmlformats.org/drawingml/2006/main" id="4" idx="2"/>
            <a:endCxn xmlns:a="http://schemas.openxmlformats.org/drawingml/2006/main" id="8" idx="0"/>
          </p:cNvCxnSpPr>
          <p:nvPr/>
        </p:nvCxnSpPr>
        <p:spPr>
          <a:xfrm xmlns:a="http://schemas.openxmlformats.org/drawingml/2006/main">
            <a:off x="6096000" y="2266950"/>
            <a:ext cx="2667000" cy="590550"/>
          </a:xfrm>
          <a:prstGeom xmlns:a="http://schemas.openxmlformats.org/drawingml/2006/main" prst="straightConnector1">
            <a:avLst/>
          </a:prstGeom>
          <a:ln xmlns:a="http://schemas.openxmlformats.org/drawingml/2006/main" w="28575">
            <a:solidFill>
              <a:srgbClr val="2868AF"/>
            </a:solidFill>
            <a:tailEnd type="triangle" w="med" len="med"/>
          </a:ln>
        </p:spPr>
      </p:cxnSp>
      <p:cxnSp>
        <p:nvCxnSpPr>
          <p:cNvPr id="10" name="">
            <a:extLst xmlns:a="http://schemas.openxmlformats.org/drawingml/2006/main">
              <a:ext uri="{FF2B5EF4-FFF2-40B4-BE49-F238E27FC236}">
                <a16:creationId xmlns:a16="http://schemas.microsoft.com/office/drawing/2014/main" id="{EA39CC5D-EACE-4C75-BC13-488DB2141D2F}"/>
              </a:ext>
            </a:extLst>
          </p:cNvPr>
          <p:cNvCxnSpPr>
            <a:stCxn xmlns:a="http://schemas.openxmlformats.org/drawingml/2006/main" id="4" idx="2"/>
            <a:endCxn xmlns:a="http://schemas.openxmlformats.org/drawingml/2006/main" id="6" idx="0"/>
          </p:cNvCxnSpPr>
          <p:nvPr/>
        </p:nvCxnSpPr>
        <p:spPr>
          <a:xfrm xmlns:a="http://schemas.openxmlformats.org/drawingml/2006/main" flipH="1">
            <a:off x="3429000" y="2266950"/>
            <a:ext cx="2667000" cy="59055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25" name="">
            <a:extLst xmlns:a="http://schemas.openxmlformats.org/drawingml/2006/main">
              <a:ext uri="{FF2B5EF4-FFF2-40B4-BE49-F238E27FC236}">
                <a16:creationId xmlns:a16="http://schemas.microsoft.com/office/drawing/2014/main" id="{68455445-9A3D-4B12-AB8C-BA3814A089E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Дерево пошуку: перші розгалуження</a:t>
            </a:r>
          </a:p>
        </p:txBody>
      </p:sp>
      <p:sp>
        <p:nvSpPr>
          <p:cNvPr id="2" name="">
            <a:extLst xmlns:a="http://schemas.openxmlformats.org/drawingml/2006/main">
              <a:ext uri="{FF2B5EF4-FFF2-40B4-BE49-F238E27FC236}">
                <a16:creationId xmlns:a16="http://schemas.microsoft.com/office/drawing/2014/main" id="{AA2E37E6-4D7F-4242-BA96-DA06EADF805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Після знаходження U=36 гілки з L=42 і L=46 відсіваємо.</a:t>
            </a:r>
          </a:p>
        </p:txBody>
      </p:sp>
      <p:sp>
        <p:nvSpPr>
          <p:cNvPr id="3" name="">
            <a:extLst xmlns:a="http://schemas.openxmlformats.org/drawingml/2006/main">
              <a:ext uri="{FF2B5EF4-FFF2-40B4-BE49-F238E27FC236}">
                <a16:creationId xmlns:a16="http://schemas.microsoft.com/office/drawing/2014/main" id="{18F3805C-DD6F-4855-B0D9-6C8D45EBA8E7}"/>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58</a:t>
            </a:r>
          </a:p>
        </p:txBody>
      </p:sp>
      <p:sp>
        <p:nvSpPr>
          <p:cNvPr id="4" name="">
            <a:extLst xmlns:a="http://schemas.openxmlformats.org/drawingml/2006/main">
              <a:ext uri="{FF2B5EF4-FFF2-40B4-BE49-F238E27FC236}">
                <a16:creationId xmlns:a16="http://schemas.microsoft.com/office/drawing/2014/main" id="{737554E5-1B4B-4845-BE14-89011B56E157}"/>
              </a:ext>
            </a:extLst>
          </p:cNvPr>
          <p:cNvSpPr>
            <a:spLocks xmlns:a="http://schemas.openxmlformats.org/drawingml/2006/main" noGrp="1"/>
          </p:cNvSpPr>
          <p:nvPr/>
        </p:nvSpPr>
        <p:spPr>
          <a:xfrm xmlns:a="http://schemas.openxmlformats.org/drawingml/2006/main">
            <a:off x="4667250" y="1504950"/>
            <a:ext cx="2857500" cy="76200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5" name="">
            <a:extLst xmlns:a="http://schemas.openxmlformats.org/drawingml/2006/main">
              <a:ext uri="{FF2B5EF4-FFF2-40B4-BE49-F238E27FC236}">
                <a16:creationId xmlns:a16="http://schemas.microsoft.com/office/drawing/2014/main" id="{732DE500-B453-4B76-8371-2C23F391E6A6}"/>
              </a:ext>
            </a:extLst>
          </p:cNvPr>
          <p:cNvSpPr>
            <a:spLocks xmlns:a="http://schemas.openxmlformats.org/drawingml/2006/main" noGrp="1"/>
          </p:cNvSpPr>
          <p:nvPr/>
        </p:nvSpPr>
        <p:spPr>
          <a:xfrm xmlns:a="http://schemas.openxmlformats.org/drawingml/2006/main">
            <a:off x="4762500" y="15525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1">
                <a:solidFill>
                  <a:srgbClr val="173047"/>
                </a:solidFill>
                <a:latin typeface="Arial"/>
                <a:ea typeface="Arial"/>
                <a:cs typeface="Arial"/>
              </a:defRPr>
            </a:defPPr>
          </a:lstStyle>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N0: L=12</a:t>
            </a:r>
          </a:p>
        </p:txBody>
      </p:sp>
      <p:sp>
        <p:nvSpPr>
          <p:cNvPr id="6" name="">
            <a:extLst xmlns:a="http://schemas.openxmlformats.org/drawingml/2006/main">
              <a:ext uri="{FF2B5EF4-FFF2-40B4-BE49-F238E27FC236}">
                <a16:creationId xmlns:a16="http://schemas.microsoft.com/office/drawing/2014/main" id="{A040C6C2-3781-47BA-8AFF-5CFCF439D0CE}"/>
              </a:ext>
            </a:extLst>
          </p:cNvPr>
          <p:cNvSpPr>
            <a:spLocks xmlns:a="http://schemas.openxmlformats.org/drawingml/2006/main" noGrp="1"/>
          </p:cNvSpPr>
          <p:nvPr/>
        </p:nvSpPr>
        <p:spPr>
          <a:xfrm xmlns:a="http://schemas.openxmlformats.org/drawingml/2006/main">
            <a:off x="1952625" y="2857500"/>
            <a:ext cx="2952750" cy="962025"/>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7" name="">
            <a:extLst xmlns:a="http://schemas.openxmlformats.org/drawingml/2006/main">
              <a:ext uri="{FF2B5EF4-FFF2-40B4-BE49-F238E27FC236}">
                <a16:creationId xmlns:a16="http://schemas.microsoft.com/office/drawing/2014/main" id="{76513353-3FE5-474D-BDF1-0B7DCBBED4E7}"/>
              </a:ext>
            </a:extLst>
          </p:cNvPr>
          <p:cNvSpPr>
            <a:spLocks xmlns:a="http://schemas.openxmlformats.org/drawingml/2006/main" noGrp="1"/>
          </p:cNvSpPr>
          <p:nvPr/>
        </p:nvSpPr>
        <p:spPr>
          <a:xfrm xmlns:a="http://schemas.openxmlformats.org/drawingml/2006/main">
            <a:off x="2047875" y="2905125"/>
            <a:ext cx="2762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173047"/>
                </a:solidFill>
                <a:latin typeface="Arial"/>
                <a:ea typeface="Arial"/>
                <a:cs typeface="Arial"/>
              </a:defRPr>
            </a:defPPr>
          </a:lstStyle>
          <a:p xmlns:a="http://schemas.openxmlformats.org/drawingml/2006/main">
            <a:pPr algn="ctr">
              <a:buNone/>
              <a:defRPr sz="2325" b="1">
                <a:solidFill>
                  <a:srgbClr val="173047"/>
                </a:solidFill>
                <a:latin typeface="Arial"/>
                <a:ea typeface="Arial"/>
                <a:cs typeface="Arial"/>
              </a:defRPr>
            </a:pPr>
            <a:r>
              <a:rPr sz="2325" b="1">
                <a:solidFill>
                  <a:srgbClr val="173047"/>
                </a:solidFill>
                <a:latin typeface="Arial"/>
                <a:ea typeface="Arial"/>
                <a:cs typeface="Arial"/>
              </a:rPr>
              <a:t>N1: L=29</a:t>
            </a:r>
          </a:p>
          <a:p xmlns:a="http://schemas.openxmlformats.org/drawingml/2006/main">
            <a:pPr algn="ctr">
              <a:buNone/>
              <a:defRPr sz="2325" b="1">
                <a:solidFill>
                  <a:srgbClr val="173047"/>
                </a:solidFill>
                <a:latin typeface="Arial"/>
                <a:ea typeface="Arial"/>
                <a:cs typeface="Arial"/>
              </a:defRPr>
            </a:pPr>
            <a:r>
              <a:rPr sz="2325" b="1">
                <a:solidFill>
                  <a:srgbClr val="173047"/>
                </a:solidFill>
                <a:latin typeface="Arial"/>
                <a:ea typeface="Arial"/>
                <a:cs typeface="Arial"/>
              </a:rPr>
              <a:t>+ S-A</a:t>
            </a:r>
          </a:p>
        </p:txBody>
      </p:sp>
      <p:sp>
        <p:nvSpPr>
          <p:cNvPr id="8" name="">
            <a:extLst xmlns:a="http://schemas.openxmlformats.org/drawingml/2006/main">
              <a:ext uri="{FF2B5EF4-FFF2-40B4-BE49-F238E27FC236}">
                <a16:creationId xmlns:a16="http://schemas.microsoft.com/office/drawing/2014/main" id="{725F6EF3-CF12-4698-A723-3CB914761D1B}"/>
              </a:ext>
            </a:extLst>
          </p:cNvPr>
          <p:cNvSpPr>
            <a:spLocks xmlns:a="http://schemas.openxmlformats.org/drawingml/2006/main" noGrp="1"/>
          </p:cNvSpPr>
          <p:nvPr/>
        </p:nvSpPr>
        <p:spPr>
          <a:xfrm xmlns:a="http://schemas.openxmlformats.org/drawingml/2006/main">
            <a:off x="7286625" y="2857500"/>
            <a:ext cx="2952750" cy="962025"/>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9" name="">
            <a:extLst xmlns:a="http://schemas.openxmlformats.org/drawingml/2006/main">
              <a:ext uri="{FF2B5EF4-FFF2-40B4-BE49-F238E27FC236}">
                <a16:creationId xmlns:a16="http://schemas.microsoft.com/office/drawing/2014/main" id="{BD5D18CD-A558-464F-BDAD-B61CCB830D49}"/>
              </a:ext>
            </a:extLst>
          </p:cNvPr>
          <p:cNvSpPr>
            <a:spLocks xmlns:a="http://schemas.openxmlformats.org/drawingml/2006/main" noGrp="1"/>
          </p:cNvSpPr>
          <p:nvPr/>
        </p:nvSpPr>
        <p:spPr>
          <a:xfrm xmlns:a="http://schemas.openxmlformats.org/drawingml/2006/main">
            <a:off x="7381875" y="2905125"/>
            <a:ext cx="2762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173047"/>
                </a:solidFill>
                <a:latin typeface="Arial"/>
                <a:ea typeface="Arial"/>
                <a:cs typeface="Arial"/>
              </a:defRPr>
            </a:defPPr>
          </a:lstStyle>
          <a:p xmlns:a="http://schemas.openxmlformats.org/drawingml/2006/main">
            <a:pPr algn="ctr">
              <a:buNone/>
              <a:defRPr sz="2325" b="1">
                <a:solidFill>
                  <a:srgbClr val="173047"/>
                </a:solidFill>
                <a:latin typeface="Arial"/>
                <a:ea typeface="Arial"/>
                <a:cs typeface="Arial"/>
              </a:defRPr>
            </a:pPr>
            <a:r>
              <a:rPr sz="2325" b="1">
                <a:solidFill>
                  <a:srgbClr val="173047"/>
                </a:solidFill>
                <a:latin typeface="Arial"/>
                <a:ea typeface="Arial"/>
                <a:cs typeface="Arial"/>
              </a:rPr>
              <a:t>N2: L=29</a:t>
            </a:r>
          </a:p>
          <a:p xmlns:a="http://schemas.openxmlformats.org/drawingml/2006/main">
            <a:pPr algn="ctr">
              <a:buNone/>
              <a:defRPr sz="2325" b="1">
                <a:solidFill>
                  <a:srgbClr val="173047"/>
                </a:solidFill>
                <a:latin typeface="Arial"/>
                <a:ea typeface="Arial"/>
                <a:cs typeface="Arial"/>
              </a:defRPr>
            </a:pPr>
            <a:r>
              <a:rPr sz="2325" b="1">
                <a:solidFill>
                  <a:srgbClr val="173047"/>
                </a:solidFill>
                <a:latin typeface="Arial"/>
                <a:ea typeface="Arial"/>
                <a:cs typeface="Arial"/>
              </a:rPr>
              <a:t>− S-A</a:t>
            </a:r>
          </a:p>
        </p:txBody>
      </p:sp>
      <p:sp>
        <p:nvSpPr>
          <p:cNvPr id="12" name="">
            <a:extLst xmlns:a="http://schemas.openxmlformats.org/drawingml/2006/main">
              <a:ext uri="{FF2B5EF4-FFF2-40B4-BE49-F238E27FC236}">
                <a16:creationId xmlns:a16="http://schemas.microsoft.com/office/drawing/2014/main" id="{FC0DAE54-32E8-4119-A83F-AA55AF9FA430}"/>
              </a:ext>
            </a:extLst>
          </p:cNvPr>
          <p:cNvSpPr>
            <a:spLocks xmlns:a="http://schemas.openxmlformats.org/drawingml/2006/main" noGrp="1"/>
          </p:cNvSpPr>
          <p:nvPr/>
        </p:nvSpPr>
        <p:spPr>
          <a:xfrm xmlns:a="http://schemas.openxmlformats.org/drawingml/2006/main">
            <a:off x="762000" y="1476375"/>
            <a:ext cx="3476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66779"/>
                </a:solidFill>
                <a:latin typeface="Arial"/>
                <a:ea typeface="Arial"/>
                <a:cs typeface="Arial"/>
              </a:defRPr>
            </a:defPPr>
          </a:lstStyle>
          <a:p xmlns:a="http://schemas.openxmlformats.org/drawingml/2006/main">
            <a:pPr algn="l">
              <a:buNone/>
              <a:defRPr sz="1875" b="0">
                <a:solidFill>
                  <a:srgbClr val="566779"/>
                </a:solidFill>
                <a:latin typeface="Arial"/>
                <a:ea typeface="Arial"/>
                <a:cs typeface="Arial"/>
              </a:defRPr>
            </a:pPr>
            <a:r>
              <a:rPr sz="1875" b="0">
                <a:solidFill>
                  <a:srgbClr val="566779"/>
                </a:solidFill>
                <a:latin typeface="Arial"/>
                <a:ea typeface="Arial"/>
                <a:cs typeface="Arial"/>
              </a:rPr>
              <a:t>N: номер підзадачі</a:t>
            </a:r>
          </a:p>
          <a:p xmlns:a="http://schemas.openxmlformats.org/drawingml/2006/main">
            <a:pPr algn="l">
              <a:buNone/>
              <a:defRPr sz="1875" b="0">
                <a:solidFill>
                  <a:srgbClr val="566779"/>
                </a:solidFill>
                <a:latin typeface="Arial"/>
                <a:ea typeface="Arial"/>
                <a:cs typeface="Arial"/>
              </a:defRPr>
            </a:pPr>
            <a:r>
              <a:rPr sz="1875" b="0">
                <a:solidFill>
                  <a:srgbClr val="566779"/>
                </a:solidFill>
                <a:latin typeface="Arial"/>
                <a:ea typeface="Arial"/>
                <a:cs typeface="Arial"/>
              </a:rPr>
              <a:t>+ включити дугу</a:t>
            </a:r>
          </a:p>
          <a:p xmlns:a="http://schemas.openxmlformats.org/drawingml/2006/main">
            <a:pPr algn="l">
              <a:buNone/>
              <a:defRPr sz="1875" b="0">
                <a:solidFill>
                  <a:srgbClr val="566779"/>
                </a:solidFill>
                <a:latin typeface="Arial"/>
                <a:ea typeface="Arial"/>
                <a:cs typeface="Arial"/>
              </a:defRPr>
            </a:pPr>
            <a:r>
              <a:rPr sz="1875" b="0">
                <a:solidFill>
                  <a:srgbClr val="566779"/>
                </a:solidFill>
                <a:latin typeface="Arial"/>
                <a:ea typeface="Arial"/>
                <a:cs typeface="Arial"/>
              </a:rPr>
              <a:t>− виключити дугу</a:t>
            </a:r>
          </a:p>
        </p:txBody>
      </p:sp>
      <p:sp>
        <p:nvSpPr>
          <p:cNvPr id="13" name="">
            <a:extLst xmlns:a="http://schemas.openxmlformats.org/drawingml/2006/main">
              <a:ext uri="{FF2B5EF4-FFF2-40B4-BE49-F238E27FC236}">
                <a16:creationId xmlns:a16="http://schemas.microsoft.com/office/drawing/2014/main" id="{0A666387-0505-4E92-839F-C83DF64CA8A5}"/>
              </a:ext>
            </a:extLst>
          </p:cNvPr>
          <p:cNvSpPr>
            <a:spLocks xmlns:a="http://schemas.openxmlformats.org/drawingml/2006/main" noGrp="1"/>
          </p:cNvSpPr>
          <p:nvPr/>
        </p:nvSpPr>
        <p:spPr>
          <a:xfrm xmlns:a="http://schemas.openxmlformats.org/drawingml/2006/main">
            <a:off x="666750" y="4657725"/>
            <a:ext cx="2476500" cy="914400"/>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14" name="">
            <a:extLst xmlns:a="http://schemas.openxmlformats.org/drawingml/2006/main">
              <a:ext uri="{FF2B5EF4-FFF2-40B4-BE49-F238E27FC236}">
                <a16:creationId xmlns:a16="http://schemas.microsoft.com/office/drawing/2014/main" id="{E0107734-A5F0-4C5E-8F48-0B788F565705}"/>
              </a:ext>
            </a:extLst>
          </p:cNvPr>
          <p:cNvSpPr>
            <a:spLocks xmlns:a="http://schemas.openxmlformats.org/drawingml/2006/main" noGrp="1"/>
          </p:cNvSpPr>
          <p:nvPr/>
        </p:nvSpPr>
        <p:spPr>
          <a:xfrm xmlns:a="http://schemas.openxmlformats.org/drawingml/2006/main">
            <a:off x="762000" y="4705350"/>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73047"/>
                </a:solidFill>
                <a:latin typeface="Arial"/>
                <a:ea typeface="Arial"/>
                <a:cs typeface="Arial"/>
              </a:defRPr>
            </a:defPPr>
          </a:lstStyle>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N3: L=32</a:t>
            </a:r>
          </a:p>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 B-C</a:t>
            </a:r>
          </a:p>
        </p:txBody>
      </p:sp>
      <p:sp>
        <p:nvSpPr>
          <p:cNvPr id="15" name="">
            <a:extLst xmlns:a="http://schemas.openxmlformats.org/drawingml/2006/main">
              <a:ext uri="{FF2B5EF4-FFF2-40B4-BE49-F238E27FC236}">
                <a16:creationId xmlns:a16="http://schemas.microsoft.com/office/drawing/2014/main" id="{94757BF3-ADA4-4D82-A042-D258B17BDE11}"/>
              </a:ext>
            </a:extLst>
          </p:cNvPr>
          <p:cNvSpPr>
            <a:spLocks xmlns:a="http://schemas.openxmlformats.org/drawingml/2006/main" noGrp="1"/>
          </p:cNvSpPr>
          <p:nvPr/>
        </p:nvSpPr>
        <p:spPr>
          <a:xfrm xmlns:a="http://schemas.openxmlformats.org/drawingml/2006/main">
            <a:off x="3476625" y="4657725"/>
            <a:ext cx="2476500" cy="914400"/>
          </a:xfrm>
          <a:prstGeom xmlns:a="http://schemas.openxmlformats.org/drawingml/2006/main" prst="rect">
            <a:avLst/>
          </a:prstGeom>
          <a:solidFill xmlns:a="http://schemas.openxmlformats.org/drawingml/2006/main">
            <a:srgbClr val="FBECE8"/>
          </a:solidFill>
          <a:ln xmlns:a="http://schemas.openxmlformats.org/drawingml/2006/main" w="19050">
            <a:solidFill>
              <a:srgbClr val="CDD8E1"/>
            </a:solidFill>
          </a:ln>
        </p:spPr>
      </p:sp>
      <p:sp>
        <p:nvSpPr>
          <p:cNvPr id="16" name="">
            <a:extLst xmlns:a="http://schemas.openxmlformats.org/drawingml/2006/main">
              <a:ext uri="{FF2B5EF4-FFF2-40B4-BE49-F238E27FC236}">
                <a16:creationId xmlns:a16="http://schemas.microsoft.com/office/drawing/2014/main" id="{040A8097-59B0-4E47-90B0-9CD95BA3BBEC}"/>
              </a:ext>
            </a:extLst>
          </p:cNvPr>
          <p:cNvSpPr>
            <a:spLocks xmlns:a="http://schemas.openxmlformats.org/drawingml/2006/main" noGrp="1"/>
          </p:cNvSpPr>
          <p:nvPr/>
        </p:nvSpPr>
        <p:spPr>
          <a:xfrm xmlns:a="http://schemas.openxmlformats.org/drawingml/2006/main">
            <a:off x="3571875" y="4705350"/>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73047"/>
                </a:solidFill>
                <a:latin typeface="Arial"/>
                <a:ea typeface="Arial"/>
                <a:cs typeface="Arial"/>
              </a:defRPr>
            </a:defPPr>
          </a:lstStyle>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N4: L=42</a:t>
            </a:r>
          </a:p>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 B-C</a:t>
            </a:r>
          </a:p>
        </p:txBody>
      </p:sp>
      <p:sp>
        <p:nvSpPr>
          <p:cNvPr id="17" name="">
            <a:extLst xmlns:a="http://schemas.openxmlformats.org/drawingml/2006/main">
              <a:ext uri="{FF2B5EF4-FFF2-40B4-BE49-F238E27FC236}">
                <a16:creationId xmlns:a16="http://schemas.microsoft.com/office/drawing/2014/main" id="{F7DB905C-C474-4758-915F-AB932147E33E}"/>
              </a:ext>
            </a:extLst>
          </p:cNvPr>
          <p:cNvSpPr>
            <a:spLocks xmlns:a="http://schemas.openxmlformats.org/drawingml/2006/main" noGrp="1"/>
          </p:cNvSpPr>
          <p:nvPr/>
        </p:nvSpPr>
        <p:spPr>
          <a:xfrm xmlns:a="http://schemas.openxmlformats.org/drawingml/2006/main">
            <a:off x="6286500" y="4657725"/>
            <a:ext cx="2476500" cy="91440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18" name="">
            <a:extLst xmlns:a="http://schemas.openxmlformats.org/drawingml/2006/main">
              <a:ext uri="{FF2B5EF4-FFF2-40B4-BE49-F238E27FC236}">
                <a16:creationId xmlns:a16="http://schemas.microsoft.com/office/drawing/2014/main" id="{E8561A5C-9B24-4955-A344-776092466D48}"/>
              </a:ext>
            </a:extLst>
          </p:cNvPr>
          <p:cNvSpPr>
            <a:spLocks xmlns:a="http://schemas.openxmlformats.org/drawingml/2006/main" noGrp="1"/>
          </p:cNvSpPr>
          <p:nvPr/>
        </p:nvSpPr>
        <p:spPr>
          <a:xfrm xmlns:a="http://schemas.openxmlformats.org/drawingml/2006/main">
            <a:off x="6381750" y="4705350"/>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73047"/>
                </a:solidFill>
                <a:latin typeface="Arial"/>
                <a:ea typeface="Arial"/>
                <a:cs typeface="Arial"/>
              </a:defRPr>
            </a:defPPr>
          </a:lstStyle>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N5: L=29</a:t>
            </a:r>
          </a:p>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 A-S</a:t>
            </a:r>
          </a:p>
        </p:txBody>
      </p:sp>
      <p:sp>
        <p:nvSpPr>
          <p:cNvPr id="19" name="">
            <a:extLst xmlns:a="http://schemas.openxmlformats.org/drawingml/2006/main">
              <a:ext uri="{FF2B5EF4-FFF2-40B4-BE49-F238E27FC236}">
                <a16:creationId xmlns:a16="http://schemas.microsoft.com/office/drawing/2014/main" id="{E4646BCA-5870-45B6-89D5-13B752597C06}"/>
              </a:ext>
            </a:extLst>
          </p:cNvPr>
          <p:cNvSpPr>
            <a:spLocks xmlns:a="http://schemas.openxmlformats.org/drawingml/2006/main" noGrp="1"/>
          </p:cNvSpPr>
          <p:nvPr/>
        </p:nvSpPr>
        <p:spPr>
          <a:xfrm xmlns:a="http://schemas.openxmlformats.org/drawingml/2006/main">
            <a:off x="9096375" y="4657725"/>
            <a:ext cx="2476500" cy="914400"/>
          </a:xfrm>
          <a:prstGeom xmlns:a="http://schemas.openxmlformats.org/drawingml/2006/main" prst="rect">
            <a:avLst/>
          </a:prstGeom>
          <a:solidFill xmlns:a="http://schemas.openxmlformats.org/drawingml/2006/main">
            <a:srgbClr val="FBECE8"/>
          </a:solidFill>
          <a:ln xmlns:a="http://schemas.openxmlformats.org/drawingml/2006/main" w="19050">
            <a:solidFill>
              <a:srgbClr val="CDD8E1"/>
            </a:solidFill>
          </a:ln>
        </p:spPr>
      </p:sp>
      <p:sp>
        <p:nvSpPr>
          <p:cNvPr id="20" name="">
            <a:extLst xmlns:a="http://schemas.openxmlformats.org/drawingml/2006/main">
              <a:ext uri="{FF2B5EF4-FFF2-40B4-BE49-F238E27FC236}">
                <a16:creationId xmlns:a16="http://schemas.microsoft.com/office/drawing/2014/main" id="{56BEE900-3013-474C-B312-BD840DD343BF}"/>
              </a:ext>
            </a:extLst>
          </p:cNvPr>
          <p:cNvSpPr>
            <a:spLocks xmlns:a="http://schemas.openxmlformats.org/drawingml/2006/main" noGrp="1"/>
          </p:cNvSpPr>
          <p:nvPr/>
        </p:nvSpPr>
        <p:spPr>
          <a:xfrm xmlns:a="http://schemas.openxmlformats.org/drawingml/2006/main">
            <a:off x="9191625" y="4705350"/>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73047"/>
                </a:solidFill>
                <a:latin typeface="Arial"/>
                <a:ea typeface="Arial"/>
                <a:cs typeface="Arial"/>
              </a:defRPr>
            </a:defPPr>
          </a:lstStyle>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N6: L=46</a:t>
            </a:r>
          </a:p>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 A-S</a:t>
            </a:r>
          </a:p>
        </p:txBody>
      </p:sp>
    </p:spTree>
    <p:extLst>
      <p:ext uri="{BB962C8B-B14F-4D97-AF65-F5344CB8AC3E}">
        <p14:creationId xmlns:p14="http://schemas.microsoft.com/office/powerpoint/2010/main" val="102578129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4BFF665-9A1D-4EBD-957E-278DC541FE0B}"/>
              </a:ext>
            </a:extLst>
          </p:cNvPr>
          <p:cNvCxnSpPr>
            <a:stCxn xmlns:a="http://schemas.openxmlformats.org/drawingml/2006/main" id="6" idx="3"/>
            <a:endCxn xmlns:a="http://schemas.openxmlformats.org/drawingml/2006/main" id="12" idx="0"/>
          </p:cNvCxnSpPr>
          <p:nvPr/>
        </p:nvCxnSpPr>
        <p:spPr>
          <a:xfrm xmlns:a="http://schemas.openxmlformats.org/drawingml/2006/main">
            <a:off x="4619625" y="3133725"/>
            <a:ext cx="4262438" cy="914400"/>
          </a:xfrm>
          <a:prstGeom xmlns:a="http://schemas.openxmlformats.org/drawingml/2006/main" prst="straightConnector1">
            <a:avLst/>
          </a:prstGeom>
          <a:ln xmlns:a="http://schemas.openxmlformats.org/drawingml/2006/main" w="28575">
            <a:solidFill>
              <a:srgbClr val="B64436"/>
            </a:solidFill>
            <a:tailEnd type="triangle" w="med" len="med"/>
          </a:ln>
        </p:spPr>
      </p:cxnSp>
      <p:cxnSp>
        <p:nvCxnSpPr>
          <p:cNvPr id="16" name="">
            <a:extLst xmlns:a="http://schemas.openxmlformats.org/drawingml/2006/main">
              <a:ext uri="{FF2B5EF4-FFF2-40B4-BE49-F238E27FC236}">
                <a16:creationId xmlns:a16="http://schemas.microsoft.com/office/drawing/2014/main" id="{23019D46-B9AD-4211-9E15-842555D80A28}"/>
              </a:ext>
            </a:extLst>
          </p:cNvPr>
          <p:cNvCxnSpPr>
            <a:stCxn xmlns:a="http://schemas.openxmlformats.org/drawingml/2006/main" id="6" idx="2"/>
            <a:endCxn xmlns:a="http://schemas.openxmlformats.org/drawingml/2006/main" id="10" idx="0"/>
          </p:cNvCxnSpPr>
          <p:nvPr/>
        </p:nvCxnSpPr>
        <p:spPr>
          <a:xfrm xmlns:a="http://schemas.openxmlformats.org/drawingml/2006/main">
            <a:off x="2833688" y="3552825"/>
            <a:ext cx="0" cy="4953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15" name="">
            <a:extLst xmlns:a="http://schemas.openxmlformats.org/drawingml/2006/main">
              <a:ext uri="{FF2B5EF4-FFF2-40B4-BE49-F238E27FC236}">
                <a16:creationId xmlns:a16="http://schemas.microsoft.com/office/drawing/2014/main" id="{8167056E-67EF-4EA7-9D02-52662AE00955}"/>
              </a:ext>
            </a:extLst>
          </p:cNvPr>
          <p:cNvCxnSpPr>
            <a:stCxn xmlns:a="http://schemas.openxmlformats.org/drawingml/2006/main" id="4" idx="3"/>
            <a:endCxn xmlns:a="http://schemas.openxmlformats.org/drawingml/2006/main" id="8" idx="0"/>
          </p:cNvCxnSpPr>
          <p:nvPr/>
        </p:nvCxnSpPr>
        <p:spPr>
          <a:xfrm xmlns:a="http://schemas.openxmlformats.org/drawingml/2006/main">
            <a:off x="4619625" y="1814513"/>
            <a:ext cx="4262438" cy="900113"/>
          </a:xfrm>
          <a:prstGeom xmlns:a="http://schemas.openxmlformats.org/drawingml/2006/main" prst="straightConnector1">
            <a:avLst/>
          </a:prstGeom>
          <a:ln xmlns:a="http://schemas.openxmlformats.org/drawingml/2006/main" w="28575">
            <a:solidFill>
              <a:srgbClr val="B64436"/>
            </a:solidFill>
            <a:tailEnd type="triangle" w="med" len="med"/>
          </a:ln>
        </p:spPr>
      </p:cxnSp>
      <p:cxnSp>
        <p:nvCxnSpPr>
          <p:cNvPr id="14" name="">
            <a:extLst xmlns:a="http://schemas.openxmlformats.org/drawingml/2006/main">
              <a:ext uri="{FF2B5EF4-FFF2-40B4-BE49-F238E27FC236}">
                <a16:creationId xmlns:a16="http://schemas.microsoft.com/office/drawing/2014/main" id="{093DAA76-646D-44BC-AC7D-B11DDFBE244B}"/>
              </a:ext>
            </a:extLst>
          </p:cNvPr>
          <p:cNvCxnSpPr>
            <a:stCxn xmlns:a="http://schemas.openxmlformats.org/drawingml/2006/main" id="4" idx="2"/>
            <a:endCxn xmlns:a="http://schemas.openxmlformats.org/drawingml/2006/main" id="6" idx="0"/>
          </p:cNvCxnSpPr>
          <p:nvPr/>
        </p:nvCxnSpPr>
        <p:spPr>
          <a:xfrm xmlns:a="http://schemas.openxmlformats.org/drawingml/2006/main">
            <a:off x="2833688" y="2171700"/>
            <a:ext cx="0" cy="542925"/>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19" name="">
            <a:extLst xmlns:a="http://schemas.openxmlformats.org/drawingml/2006/main">
              <a:ext uri="{FF2B5EF4-FFF2-40B4-BE49-F238E27FC236}">
                <a16:creationId xmlns:a16="http://schemas.microsoft.com/office/drawing/2014/main" id="{2FA344E7-384E-4DDB-B637-55F9CB90373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Дерево пошуку: гілка оптимального туру</a:t>
            </a:r>
          </a:p>
        </p:txBody>
      </p:sp>
      <p:sp>
        <p:nvSpPr>
          <p:cNvPr id="2" name="">
            <a:extLst xmlns:a="http://schemas.openxmlformats.org/drawingml/2006/main">
              <a:ext uri="{FF2B5EF4-FFF2-40B4-BE49-F238E27FC236}">
                <a16:creationId xmlns:a16="http://schemas.microsoft.com/office/drawing/2014/main" id="{82082FBA-E8B1-49C7-92A5-8608A702AFA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Два останні переходи вимушені. Отримуємо U=36.</a:t>
            </a:r>
          </a:p>
        </p:txBody>
      </p:sp>
      <p:sp>
        <p:nvSpPr>
          <p:cNvPr id="3" name="">
            <a:extLst xmlns:a="http://schemas.openxmlformats.org/drawingml/2006/main">
              <a:ext uri="{FF2B5EF4-FFF2-40B4-BE49-F238E27FC236}">
                <a16:creationId xmlns:a16="http://schemas.microsoft.com/office/drawing/2014/main" id="{70F80E16-72E2-4A66-B43E-5AB7B5EA66E9}"/>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59</a:t>
            </a:r>
          </a:p>
        </p:txBody>
      </p:sp>
      <p:sp>
        <p:nvSpPr>
          <p:cNvPr id="4" name="">
            <a:extLst xmlns:a="http://schemas.openxmlformats.org/drawingml/2006/main">
              <a:ext uri="{FF2B5EF4-FFF2-40B4-BE49-F238E27FC236}">
                <a16:creationId xmlns:a16="http://schemas.microsoft.com/office/drawing/2014/main" id="{18ACA7A3-8F55-4F1F-8AB1-BD4C994BCA32}"/>
              </a:ext>
            </a:extLst>
          </p:cNvPr>
          <p:cNvSpPr>
            <a:spLocks xmlns:a="http://schemas.openxmlformats.org/drawingml/2006/main" noGrp="1"/>
          </p:cNvSpPr>
          <p:nvPr/>
        </p:nvSpPr>
        <p:spPr>
          <a:xfrm xmlns:a="http://schemas.openxmlformats.org/drawingml/2006/main">
            <a:off x="1047750" y="1457325"/>
            <a:ext cx="3571875" cy="714375"/>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5" name="">
            <a:extLst xmlns:a="http://schemas.openxmlformats.org/drawingml/2006/main">
              <a:ext uri="{FF2B5EF4-FFF2-40B4-BE49-F238E27FC236}">
                <a16:creationId xmlns:a16="http://schemas.microsoft.com/office/drawing/2014/main" id="{06E45857-3CAB-4BB9-9BA5-480A388046FB}"/>
              </a:ext>
            </a:extLst>
          </p:cNvPr>
          <p:cNvSpPr>
            <a:spLocks xmlns:a="http://schemas.openxmlformats.org/drawingml/2006/main" noGrp="1"/>
          </p:cNvSpPr>
          <p:nvPr/>
        </p:nvSpPr>
        <p:spPr>
          <a:xfrm xmlns:a="http://schemas.openxmlformats.org/drawingml/2006/main">
            <a:off x="1143000" y="15049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173047"/>
                </a:solidFill>
                <a:latin typeface="Arial"/>
                <a:ea typeface="Arial"/>
                <a:cs typeface="Arial"/>
              </a:defRPr>
            </a:defPPr>
          </a:lstStyle>
          <a:p xmlns:a="http://schemas.openxmlformats.org/drawingml/2006/main">
            <a:pPr algn="ctr">
              <a:buNone/>
              <a:defRPr sz="2325" b="1">
                <a:solidFill>
                  <a:srgbClr val="173047"/>
                </a:solidFill>
                <a:latin typeface="Arial"/>
                <a:ea typeface="Arial"/>
                <a:cs typeface="Arial"/>
              </a:defRPr>
            </a:pPr>
            <a:r>
              <a:rPr sz="2325" b="1">
                <a:solidFill>
                  <a:srgbClr val="173047"/>
                </a:solidFill>
                <a:latin typeface="Arial"/>
                <a:ea typeface="Arial"/>
                <a:cs typeface="Arial"/>
              </a:rPr>
              <a:t>N3: L=32</a:t>
            </a:r>
          </a:p>
        </p:txBody>
      </p:sp>
      <p:sp>
        <p:nvSpPr>
          <p:cNvPr id="6" name="">
            <a:extLst xmlns:a="http://schemas.openxmlformats.org/drawingml/2006/main">
              <a:ext uri="{FF2B5EF4-FFF2-40B4-BE49-F238E27FC236}">
                <a16:creationId xmlns:a16="http://schemas.microsoft.com/office/drawing/2014/main" id="{211BA32D-16AD-4B22-AB81-58E0CA0D6218}"/>
              </a:ext>
            </a:extLst>
          </p:cNvPr>
          <p:cNvSpPr>
            <a:spLocks xmlns:a="http://schemas.openxmlformats.org/drawingml/2006/main" noGrp="1"/>
          </p:cNvSpPr>
          <p:nvPr/>
        </p:nvSpPr>
        <p:spPr>
          <a:xfrm xmlns:a="http://schemas.openxmlformats.org/drawingml/2006/main">
            <a:off x="1047750" y="2714625"/>
            <a:ext cx="3571875" cy="838200"/>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7" name="">
            <a:extLst xmlns:a="http://schemas.openxmlformats.org/drawingml/2006/main">
              <a:ext uri="{FF2B5EF4-FFF2-40B4-BE49-F238E27FC236}">
                <a16:creationId xmlns:a16="http://schemas.microsoft.com/office/drawing/2014/main" id="{0D1C4B4F-A257-4618-A9CE-BE067D9A2705}"/>
              </a:ext>
            </a:extLst>
          </p:cNvPr>
          <p:cNvSpPr>
            <a:spLocks xmlns:a="http://schemas.openxmlformats.org/drawingml/2006/main" noGrp="1"/>
          </p:cNvSpPr>
          <p:nvPr/>
        </p:nvSpPr>
        <p:spPr>
          <a:xfrm xmlns:a="http://schemas.openxmlformats.org/drawingml/2006/main">
            <a:off x="1143000" y="27622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N9: L=32</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 C-S</a:t>
            </a:r>
          </a:p>
        </p:txBody>
      </p:sp>
      <p:sp>
        <p:nvSpPr>
          <p:cNvPr id="8" name="">
            <a:extLst xmlns:a="http://schemas.openxmlformats.org/drawingml/2006/main">
              <a:ext uri="{FF2B5EF4-FFF2-40B4-BE49-F238E27FC236}">
                <a16:creationId xmlns:a16="http://schemas.microsoft.com/office/drawing/2014/main" id="{E27248D6-494A-4804-8DB4-167D27C1B8AF}"/>
              </a:ext>
            </a:extLst>
          </p:cNvPr>
          <p:cNvSpPr>
            <a:spLocks xmlns:a="http://schemas.openxmlformats.org/drawingml/2006/main" noGrp="1"/>
          </p:cNvSpPr>
          <p:nvPr/>
        </p:nvSpPr>
        <p:spPr>
          <a:xfrm xmlns:a="http://schemas.openxmlformats.org/drawingml/2006/main">
            <a:off x="7096125" y="2714625"/>
            <a:ext cx="3571875" cy="838200"/>
          </a:xfrm>
          <a:prstGeom xmlns:a="http://schemas.openxmlformats.org/drawingml/2006/main" prst="rect">
            <a:avLst/>
          </a:prstGeom>
          <a:solidFill xmlns:a="http://schemas.openxmlformats.org/drawingml/2006/main">
            <a:srgbClr val="FBECE8"/>
          </a:solidFill>
          <a:ln xmlns:a="http://schemas.openxmlformats.org/drawingml/2006/main" w="19050">
            <a:solidFill>
              <a:srgbClr val="CDD8E1"/>
            </a:solidFill>
          </a:ln>
        </p:spPr>
      </p:sp>
      <p:sp>
        <p:nvSpPr>
          <p:cNvPr id="9" name="">
            <a:extLst xmlns:a="http://schemas.openxmlformats.org/drawingml/2006/main">
              <a:ext uri="{FF2B5EF4-FFF2-40B4-BE49-F238E27FC236}">
                <a16:creationId xmlns:a16="http://schemas.microsoft.com/office/drawing/2014/main" id="{BAE4F235-C400-4571-870C-D6B58B776FAF}"/>
              </a:ext>
            </a:extLst>
          </p:cNvPr>
          <p:cNvSpPr>
            <a:spLocks xmlns:a="http://schemas.openxmlformats.org/drawingml/2006/main" noGrp="1"/>
          </p:cNvSpPr>
          <p:nvPr/>
        </p:nvSpPr>
        <p:spPr>
          <a:xfrm xmlns:a="http://schemas.openxmlformats.org/drawingml/2006/main">
            <a:off x="7191375" y="27622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N10: L=43</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 C-S</a:t>
            </a:r>
          </a:p>
        </p:txBody>
      </p:sp>
      <p:sp>
        <p:nvSpPr>
          <p:cNvPr id="10" name="">
            <a:extLst xmlns:a="http://schemas.openxmlformats.org/drawingml/2006/main">
              <a:ext uri="{FF2B5EF4-FFF2-40B4-BE49-F238E27FC236}">
                <a16:creationId xmlns:a16="http://schemas.microsoft.com/office/drawing/2014/main" id="{A7E45243-A14E-4CD4-8A4B-A0ABDC7F5903}"/>
              </a:ext>
            </a:extLst>
          </p:cNvPr>
          <p:cNvSpPr>
            <a:spLocks xmlns:a="http://schemas.openxmlformats.org/drawingml/2006/main" noGrp="1"/>
          </p:cNvSpPr>
          <p:nvPr/>
        </p:nvSpPr>
        <p:spPr>
          <a:xfrm xmlns:a="http://schemas.openxmlformats.org/drawingml/2006/main">
            <a:off x="1047750" y="4048125"/>
            <a:ext cx="3571875" cy="838200"/>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11" name="">
            <a:extLst xmlns:a="http://schemas.openxmlformats.org/drawingml/2006/main">
              <a:ext uri="{FF2B5EF4-FFF2-40B4-BE49-F238E27FC236}">
                <a16:creationId xmlns:a16="http://schemas.microsoft.com/office/drawing/2014/main" id="{27216AFC-36C9-4BB6-8BF0-2024E5162826}"/>
              </a:ext>
            </a:extLst>
          </p:cNvPr>
          <p:cNvSpPr>
            <a:spLocks xmlns:a="http://schemas.openxmlformats.org/drawingml/2006/main" noGrp="1"/>
          </p:cNvSpPr>
          <p:nvPr/>
        </p:nvSpPr>
        <p:spPr>
          <a:xfrm xmlns:a="http://schemas.openxmlformats.org/drawingml/2006/main">
            <a:off x="1143000" y="40957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N11: L=36</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 D-B</a:t>
            </a:r>
          </a:p>
        </p:txBody>
      </p:sp>
      <p:sp>
        <p:nvSpPr>
          <p:cNvPr id="12" name="">
            <a:extLst xmlns:a="http://schemas.openxmlformats.org/drawingml/2006/main">
              <a:ext uri="{FF2B5EF4-FFF2-40B4-BE49-F238E27FC236}">
                <a16:creationId xmlns:a16="http://schemas.microsoft.com/office/drawing/2014/main" id="{7AB0212F-C24A-447F-8532-239993F8A388}"/>
              </a:ext>
            </a:extLst>
          </p:cNvPr>
          <p:cNvSpPr>
            <a:spLocks xmlns:a="http://schemas.openxmlformats.org/drawingml/2006/main" noGrp="1"/>
          </p:cNvSpPr>
          <p:nvPr/>
        </p:nvSpPr>
        <p:spPr>
          <a:xfrm xmlns:a="http://schemas.openxmlformats.org/drawingml/2006/main">
            <a:off x="7096125" y="4048125"/>
            <a:ext cx="3571875" cy="838200"/>
          </a:xfrm>
          <a:prstGeom xmlns:a="http://schemas.openxmlformats.org/drawingml/2006/main" prst="rect">
            <a:avLst/>
          </a:prstGeom>
          <a:solidFill xmlns:a="http://schemas.openxmlformats.org/drawingml/2006/main">
            <a:srgbClr val="FBECE8"/>
          </a:solidFill>
          <a:ln xmlns:a="http://schemas.openxmlformats.org/drawingml/2006/main" w="19050">
            <a:solidFill>
              <a:srgbClr val="CDD8E1"/>
            </a:solidFill>
          </a:ln>
        </p:spPr>
      </p:sp>
      <p:sp>
        <p:nvSpPr>
          <p:cNvPr id="13" name="">
            <a:extLst xmlns:a="http://schemas.openxmlformats.org/drawingml/2006/main">
              <a:ext uri="{FF2B5EF4-FFF2-40B4-BE49-F238E27FC236}">
                <a16:creationId xmlns:a16="http://schemas.microsoft.com/office/drawing/2014/main" id="{3574EEF0-0BF3-48E4-84BB-2D5D1581492B}"/>
              </a:ext>
            </a:extLst>
          </p:cNvPr>
          <p:cNvSpPr>
            <a:spLocks xmlns:a="http://schemas.openxmlformats.org/drawingml/2006/main" noGrp="1"/>
          </p:cNvSpPr>
          <p:nvPr/>
        </p:nvSpPr>
        <p:spPr>
          <a:xfrm xmlns:a="http://schemas.openxmlformats.org/drawingml/2006/main">
            <a:off x="7191375" y="4095750"/>
            <a:ext cx="3381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N12: L=45</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 D-B</a:t>
            </a:r>
          </a:p>
        </p:txBody>
      </p:sp>
      <p:sp>
        <p:nvSpPr>
          <p:cNvPr id="18" name="">
            <a:extLst xmlns:a="http://schemas.openxmlformats.org/drawingml/2006/main">
              <a:ext uri="{FF2B5EF4-FFF2-40B4-BE49-F238E27FC236}">
                <a16:creationId xmlns:a16="http://schemas.microsoft.com/office/drawing/2014/main" id="{826DF418-DEEE-4114-95E1-D4E7DEA8B5FC}"/>
              </a:ext>
            </a:extLst>
          </p:cNvPr>
          <p:cNvSpPr>
            <a:spLocks xmlns:a="http://schemas.openxmlformats.org/drawingml/2006/main" noGrp="1"/>
          </p:cNvSpPr>
          <p:nvPr/>
        </p:nvSpPr>
        <p:spPr>
          <a:xfrm xmlns:a="http://schemas.openxmlformats.org/drawingml/2006/main">
            <a:off x="762000" y="52482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00857D"/>
                </a:solidFill>
                <a:latin typeface="Arial"/>
                <a:ea typeface="Arial"/>
                <a:cs typeface="Arial"/>
              </a:defRPr>
            </a:defPPr>
          </a:lstStyle>
          <a:p xmlns:a="http://schemas.openxmlformats.org/drawingml/2006/main">
            <a:pPr algn="l">
              <a:buNone/>
              <a:defRPr sz="2700" b="1">
                <a:solidFill>
                  <a:srgbClr val="00857D"/>
                </a:solidFill>
                <a:latin typeface="Arial"/>
                <a:ea typeface="Arial"/>
                <a:cs typeface="Arial"/>
              </a:defRPr>
            </a:pPr>
            <a:r>
              <a:rPr sz="2700" b="1">
                <a:solidFill>
                  <a:srgbClr val="00857D"/>
                </a:solidFill>
                <a:latin typeface="Arial"/>
                <a:ea typeface="Arial"/>
                <a:cs typeface="Arial"/>
              </a:rPr>
              <a:t>+ A-E, + E-D: готовий тур N19, C = 36</a:t>
            </a:r>
          </a:p>
        </p:txBody>
      </p:sp>
    </p:spTree>
    <p:extLst>
      <p:ext uri="{BB962C8B-B14F-4D97-AF65-F5344CB8AC3E}">
        <p14:creationId xmlns:p14="http://schemas.microsoft.com/office/powerpoint/2010/main" val="114110049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4FF7F9B7-3788-4196-9E29-2FA44A41A0E2}"/>
              </a:ext>
            </a:extLst>
          </p:cNvPr>
          <p:cNvCxnSpPr>
            <a:stCxn xmlns:a="http://schemas.openxmlformats.org/drawingml/2006/main" id="6" idx="3"/>
            <a:endCxn xmlns:a="http://schemas.openxmlformats.org/drawingml/2006/main" id="12" idx="0"/>
          </p:cNvCxnSpPr>
          <p:nvPr/>
        </p:nvCxnSpPr>
        <p:spPr>
          <a:xfrm xmlns:a="http://schemas.openxmlformats.org/drawingml/2006/main">
            <a:off x="4714875" y="3124200"/>
            <a:ext cx="4262438" cy="819150"/>
          </a:xfrm>
          <a:prstGeom xmlns:a="http://schemas.openxmlformats.org/drawingml/2006/main" prst="straightConnector1">
            <a:avLst/>
          </a:prstGeom>
          <a:ln xmlns:a="http://schemas.openxmlformats.org/drawingml/2006/main" w="28575">
            <a:solidFill>
              <a:srgbClr val="B64436"/>
            </a:solidFill>
            <a:tailEnd type="triangle" w="med" len="med"/>
          </a:ln>
        </p:spPr>
      </p:cxnSp>
      <p:cxnSp>
        <p:nvCxnSpPr>
          <p:cNvPr id="16" name="">
            <a:extLst xmlns:a="http://schemas.openxmlformats.org/drawingml/2006/main">
              <a:ext uri="{FF2B5EF4-FFF2-40B4-BE49-F238E27FC236}">
                <a16:creationId xmlns:a16="http://schemas.microsoft.com/office/drawing/2014/main" id="{A13F070A-5391-44B1-A6EA-0A670D860C84}"/>
              </a:ext>
            </a:extLst>
          </p:cNvPr>
          <p:cNvCxnSpPr>
            <a:stCxn xmlns:a="http://schemas.openxmlformats.org/drawingml/2006/main" id="6" idx="2"/>
            <a:endCxn xmlns:a="http://schemas.openxmlformats.org/drawingml/2006/main" id="10" idx="0"/>
          </p:cNvCxnSpPr>
          <p:nvPr/>
        </p:nvCxnSpPr>
        <p:spPr>
          <a:xfrm xmlns:a="http://schemas.openxmlformats.org/drawingml/2006/main">
            <a:off x="2833688" y="3552825"/>
            <a:ext cx="0" cy="390525"/>
          </a:xfrm>
          <a:prstGeom xmlns:a="http://schemas.openxmlformats.org/drawingml/2006/main" prst="straightConnector1">
            <a:avLst/>
          </a:prstGeom>
          <a:ln xmlns:a="http://schemas.openxmlformats.org/drawingml/2006/main" w="28575">
            <a:solidFill>
              <a:srgbClr val="2868AF"/>
            </a:solidFill>
            <a:tailEnd type="triangle" w="med" len="med"/>
          </a:ln>
        </p:spPr>
      </p:cxnSp>
      <p:cxnSp>
        <p:nvCxnSpPr>
          <p:cNvPr id="15" name="">
            <a:extLst xmlns:a="http://schemas.openxmlformats.org/drawingml/2006/main">
              <a:ext uri="{FF2B5EF4-FFF2-40B4-BE49-F238E27FC236}">
                <a16:creationId xmlns:a16="http://schemas.microsoft.com/office/drawing/2014/main" id="{5A75B045-83F5-4766-9DC6-B3A56E12378A}"/>
              </a:ext>
            </a:extLst>
          </p:cNvPr>
          <p:cNvCxnSpPr>
            <a:stCxn xmlns:a="http://schemas.openxmlformats.org/drawingml/2006/main" id="4" idx="3"/>
            <a:endCxn xmlns:a="http://schemas.openxmlformats.org/drawingml/2006/main" id="8" idx="0"/>
          </p:cNvCxnSpPr>
          <p:nvPr/>
        </p:nvCxnSpPr>
        <p:spPr>
          <a:xfrm xmlns:a="http://schemas.openxmlformats.org/drawingml/2006/main">
            <a:off x="4714875" y="1800225"/>
            <a:ext cx="4262438" cy="895350"/>
          </a:xfrm>
          <a:prstGeom xmlns:a="http://schemas.openxmlformats.org/drawingml/2006/main" prst="straightConnector1">
            <a:avLst/>
          </a:prstGeom>
          <a:ln xmlns:a="http://schemas.openxmlformats.org/drawingml/2006/main" w="28575">
            <a:solidFill>
              <a:srgbClr val="B64436"/>
            </a:solidFill>
            <a:tailEnd type="triangle" w="med" len="med"/>
          </a:ln>
        </p:spPr>
      </p:cxnSp>
      <p:cxnSp>
        <p:nvCxnSpPr>
          <p:cNvPr id="14" name="">
            <a:extLst xmlns:a="http://schemas.openxmlformats.org/drawingml/2006/main">
              <a:ext uri="{FF2B5EF4-FFF2-40B4-BE49-F238E27FC236}">
                <a16:creationId xmlns:a16="http://schemas.microsoft.com/office/drawing/2014/main" id="{FF89BDB9-3346-4970-965A-085268B0F5F9}"/>
              </a:ext>
            </a:extLst>
          </p:cNvPr>
          <p:cNvCxnSpPr>
            <a:stCxn xmlns:a="http://schemas.openxmlformats.org/drawingml/2006/main" id="4" idx="2"/>
            <a:endCxn xmlns:a="http://schemas.openxmlformats.org/drawingml/2006/main" id="6" idx="0"/>
          </p:cNvCxnSpPr>
          <p:nvPr/>
        </p:nvCxnSpPr>
        <p:spPr>
          <a:xfrm xmlns:a="http://schemas.openxmlformats.org/drawingml/2006/main">
            <a:off x="2833688" y="2162175"/>
            <a:ext cx="0" cy="533400"/>
          </a:xfrm>
          <a:prstGeom xmlns:a="http://schemas.openxmlformats.org/drawingml/2006/main" prst="straightConnector1">
            <a:avLst/>
          </a:prstGeom>
          <a:ln xmlns:a="http://schemas.openxmlformats.org/drawingml/2006/main" w="28575">
            <a:solidFill>
              <a:srgbClr val="2868AF"/>
            </a:solidFill>
            <a:tailEnd type="triangle" w="med" len="med"/>
          </a:ln>
        </p:spPr>
      </p:cxnSp>
      <p:sp>
        <p:nvSpPr>
          <p:cNvPr id="19" name="">
            <a:extLst xmlns:a="http://schemas.openxmlformats.org/drawingml/2006/main">
              <a:ext uri="{FF2B5EF4-FFF2-40B4-BE49-F238E27FC236}">
                <a16:creationId xmlns:a16="http://schemas.microsoft.com/office/drawing/2014/main" id="{AB05180A-4334-41D5-A60A-D0539D552D6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Дерево пошуку: гілка з дугою A-S</a:t>
            </a:r>
          </a:p>
        </p:txBody>
      </p:sp>
      <p:sp>
        <p:nvSpPr>
          <p:cNvPr id="2" name="">
            <a:extLst xmlns:a="http://schemas.openxmlformats.org/drawingml/2006/main">
              <a:ext uri="{FF2B5EF4-FFF2-40B4-BE49-F238E27FC236}">
                <a16:creationId xmlns:a16="http://schemas.microsoft.com/office/drawing/2014/main" id="{C2ADAE4E-1894-413D-94F9-616116A9778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Коли U=36, навіть гілку N15 з L=36 можна відсіяти для пошуку одного оптимуму.</a:t>
            </a:r>
          </a:p>
        </p:txBody>
      </p:sp>
      <p:sp>
        <p:nvSpPr>
          <p:cNvPr id="3" name="">
            <a:extLst xmlns:a="http://schemas.openxmlformats.org/drawingml/2006/main">
              <a:ext uri="{FF2B5EF4-FFF2-40B4-BE49-F238E27FC236}">
                <a16:creationId xmlns:a16="http://schemas.microsoft.com/office/drawing/2014/main" id="{D02D8CFC-4574-4C9B-850E-6240E003138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60</a:t>
            </a:r>
          </a:p>
        </p:txBody>
      </p:sp>
      <p:sp>
        <p:nvSpPr>
          <p:cNvPr id="4" name="">
            <a:extLst xmlns:a="http://schemas.openxmlformats.org/drawingml/2006/main">
              <a:ext uri="{FF2B5EF4-FFF2-40B4-BE49-F238E27FC236}">
                <a16:creationId xmlns:a16="http://schemas.microsoft.com/office/drawing/2014/main" id="{FF60912E-E506-4F8E-8187-A9B67AB1C7A1}"/>
              </a:ext>
            </a:extLst>
          </p:cNvPr>
          <p:cNvSpPr>
            <a:spLocks xmlns:a="http://schemas.openxmlformats.org/drawingml/2006/main" noGrp="1"/>
          </p:cNvSpPr>
          <p:nvPr/>
        </p:nvSpPr>
        <p:spPr>
          <a:xfrm xmlns:a="http://schemas.openxmlformats.org/drawingml/2006/main">
            <a:off x="952500" y="1438275"/>
            <a:ext cx="3762375" cy="72390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5" name="">
            <a:extLst xmlns:a="http://schemas.openxmlformats.org/drawingml/2006/main">
              <a:ext uri="{FF2B5EF4-FFF2-40B4-BE49-F238E27FC236}">
                <a16:creationId xmlns:a16="http://schemas.microsoft.com/office/drawing/2014/main" id="{88937A69-2925-47E7-BF50-92DD1776EEA7}"/>
              </a:ext>
            </a:extLst>
          </p:cNvPr>
          <p:cNvSpPr>
            <a:spLocks xmlns:a="http://schemas.openxmlformats.org/drawingml/2006/main" noGrp="1"/>
          </p:cNvSpPr>
          <p:nvPr/>
        </p:nvSpPr>
        <p:spPr>
          <a:xfrm xmlns:a="http://schemas.openxmlformats.org/drawingml/2006/main">
            <a:off x="1047750" y="1485900"/>
            <a:ext cx="357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173047"/>
                </a:solidFill>
                <a:latin typeface="Arial"/>
                <a:ea typeface="Arial"/>
                <a:cs typeface="Arial"/>
              </a:defRPr>
            </a:defPPr>
          </a:lstStyle>
          <a:p xmlns:a="http://schemas.openxmlformats.org/drawingml/2006/main">
            <a:pPr algn="ctr">
              <a:buNone/>
              <a:defRPr sz="2325" b="1">
                <a:solidFill>
                  <a:srgbClr val="173047"/>
                </a:solidFill>
                <a:latin typeface="Arial"/>
                <a:ea typeface="Arial"/>
                <a:cs typeface="Arial"/>
              </a:defRPr>
            </a:pPr>
            <a:r>
              <a:rPr sz="2325" b="1">
                <a:solidFill>
                  <a:srgbClr val="173047"/>
                </a:solidFill>
                <a:latin typeface="Arial"/>
                <a:ea typeface="Arial"/>
                <a:cs typeface="Arial"/>
              </a:rPr>
              <a:t>N5: L=29</a:t>
            </a:r>
          </a:p>
        </p:txBody>
      </p:sp>
      <p:sp>
        <p:nvSpPr>
          <p:cNvPr id="6" name="">
            <a:extLst xmlns:a="http://schemas.openxmlformats.org/drawingml/2006/main">
              <a:ext uri="{FF2B5EF4-FFF2-40B4-BE49-F238E27FC236}">
                <a16:creationId xmlns:a16="http://schemas.microsoft.com/office/drawing/2014/main" id="{10C3D922-C2BB-4C4C-9EC8-33896B169F99}"/>
              </a:ext>
            </a:extLst>
          </p:cNvPr>
          <p:cNvSpPr>
            <a:spLocks xmlns:a="http://schemas.openxmlformats.org/drawingml/2006/main" noGrp="1"/>
          </p:cNvSpPr>
          <p:nvPr/>
        </p:nvSpPr>
        <p:spPr>
          <a:xfrm xmlns:a="http://schemas.openxmlformats.org/drawingml/2006/main">
            <a:off x="952500" y="2695575"/>
            <a:ext cx="3762375" cy="85725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7" name="">
            <a:extLst xmlns:a="http://schemas.openxmlformats.org/drawingml/2006/main">
              <a:ext uri="{FF2B5EF4-FFF2-40B4-BE49-F238E27FC236}">
                <a16:creationId xmlns:a16="http://schemas.microsoft.com/office/drawing/2014/main" id="{3DAC170C-9F9C-4A2C-96DA-95819E1A1203}"/>
              </a:ext>
            </a:extLst>
          </p:cNvPr>
          <p:cNvSpPr>
            <a:spLocks xmlns:a="http://schemas.openxmlformats.org/drawingml/2006/main" noGrp="1"/>
          </p:cNvSpPr>
          <p:nvPr/>
        </p:nvSpPr>
        <p:spPr>
          <a:xfrm xmlns:a="http://schemas.openxmlformats.org/drawingml/2006/main">
            <a:off x="1047750" y="2743200"/>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N7: L=32</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 C-B</a:t>
            </a:r>
          </a:p>
        </p:txBody>
      </p:sp>
      <p:sp>
        <p:nvSpPr>
          <p:cNvPr id="8" name="">
            <a:extLst xmlns:a="http://schemas.openxmlformats.org/drawingml/2006/main">
              <a:ext uri="{FF2B5EF4-FFF2-40B4-BE49-F238E27FC236}">
                <a16:creationId xmlns:a16="http://schemas.microsoft.com/office/drawing/2014/main" id="{1FE394A2-3BCA-4326-ACC5-7F1F965862E3}"/>
              </a:ext>
            </a:extLst>
          </p:cNvPr>
          <p:cNvSpPr>
            <a:spLocks xmlns:a="http://schemas.openxmlformats.org/drawingml/2006/main" noGrp="1"/>
          </p:cNvSpPr>
          <p:nvPr/>
        </p:nvSpPr>
        <p:spPr>
          <a:xfrm xmlns:a="http://schemas.openxmlformats.org/drawingml/2006/main">
            <a:off x="7096125" y="2695575"/>
            <a:ext cx="3762375" cy="857250"/>
          </a:xfrm>
          <a:prstGeom xmlns:a="http://schemas.openxmlformats.org/drawingml/2006/main" prst="rect">
            <a:avLst/>
          </a:prstGeom>
          <a:solidFill xmlns:a="http://schemas.openxmlformats.org/drawingml/2006/main">
            <a:srgbClr val="FBECE8"/>
          </a:solidFill>
          <a:ln xmlns:a="http://schemas.openxmlformats.org/drawingml/2006/main" w="19050">
            <a:solidFill>
              <a:srgbClr val="CDD8E1"/>
            </a:solidFill>
          </a:ln>
        </p:spPr>
      </p:sp>
      <p:sp>
        <p:nvSpPr>
          <p:cNvPr id="9" name="">
            <a:extLst xmlns:a="http://schemas.openxmlformats.org/drawingml/2006/main">
              <a:ext uri="{FF2B5EF4-FFF2-40B4-BE49-F238E27FC236}">
                <a16:creationId xmlns:a16="http://schemas.microsoft.com/office/drawing/2014/main" id="{A35B8768-C812-4F0C-80DC-92C2C1BE3A74}"/>
              </a:ext>
            </a:extLst>
          </p:cNvPr>
          <p:cNvSpPr>
            <a:spLocks xmlns:a="http://schemas.openxmlformats.org/drawingml/2006/main" noGrp="1"/>
          </p:cNvSpPr>
          <p:nvPr/>
        </p:nvSpPr>
        <p:spPr>
          <a:xfrm xmlns:a="http://schemas.openxmlformats.org/drawingml/2006/main">
            <a:off x="7191375" y="2743200"/>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N8: L=42</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 C-B</a:t>
            </a:r>
          </a:p>
        </p:txBody>
      </p:sp>
      <p:sp>
        <p:nvSpPr>
          <p:cNvPr id="10" name="">
            <a:extLst xmlns:a="http://schemas.openxmlformats.org/drawingml/2006/main">
              <a:ext uri="{FF2B5EF4-FFF2-40B4-BE49-F238E27FC236}">
                <a16:creationId xmlns:a16="http://schemas.microsoft.com/office/drawing/2014/main" id="{4B68548C-29CF-467A-AE31-9E43EA473E08}"/>
              </a:ext>
            </a:extLst>
          </p:cNvPr>
          <p:cNvSpPr>
            <a:spLocks xmlns:a="http://schemas.openxmlformats.org/drawingml/2006/main" noGrp="1"/>
          </p:cNvSpPr>
          <p:nvPr/>
        </p:nvSpPr>
        <p:spPr>
          <a:xfrm xmlns:a="http://schemas.openxmlformats.org/drawingml/2006/main">
            <a:off x="952500" y="3943350"/>
            <a:ext cx="3762375" cy="85725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11" name="">
            <a:extLst xmlns:a="http://schemas.openxmlformats.org/drawingml/2006/main">
              <a:ext uri="{FF2B5EF4-FFF2-40B4-BE49-F238E27FC236}">
                <a16:creationId xmlns:a16="http://schemas.microsoft.com/office/drawing/2014/main" id="{0B141D3C-4400-4D8E-AB7B-4ED3640FA8D8}"/>
              </a:ext>
            </a:extLst>
          </p:cNvPr>
          <p:cNvSpPr>
            <a:spLocks xmlns:a="http://schemas.openxmlformats.org/drawingml/2006/main" noGrp="1"/>
          </p:cNvSpPr>
          <p:nvPr/>
        </p:nvSpPr>
        <p:spPr>
          <a:xfrm xmlns:a="http://schemas.openxmlformats.org/drawingml/2006/main">
            <a:off x="1047750" y="399097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N13: L=32</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 S-C</a:t>
            </a:r>
          </a:p>
        </p:txBody>
      </p:sp>
      <p:sp>
        <p:nvSpPr>
          <p:cNvPr id="12" name="">
            <a:extLst xmlns:a="http://schemas.openxmlformats.org/drawingml/2006/main">
              <a:ext uri="{FF2B5EF4-FFF2-40B4-BE49-F238E27FC236}">
                <a16:creationId xmlns:a16="http://schemas.microsoft.com/office/drawing/2014/main" id="{8507F750-EACD-436A-A495-C66F85AA1A0C}"/>
              </a:ext>
            </a:extLst>
          </p:cNvPr>
          <p:cNvSpPr>
            <a:spLocks xmlns:a="http://schemas.openxmlformats.org/drawingml/2006/main" noGrp="1"/>
          </p:cNvSpPr>
          <p:nvPr/>
        </p:nvSpPr>
        <p:spPr>
          <a:xfrm xmlns:a="http://schemas.openxmlformats.org/drawingml/2006/main">
            <a:off x="7096125" y="3943350"/>
            <a:ext cx="3762375" cy="857250"/>
          </a:xfrm>
          <a:prstGeom xmlns:a="http://schemas.openxmlformats.org/drawingml/2006/main" prst="rect">
            <a:avLst/>
          </a:prstGeom>
          <a:solidFill xmlns:a="http://schemas.openxmlformats.org/drawingml/2006/main">
            <a:srgbClr val="FBECE8"/>
          </a:solidFill>
          <a:ln xmlns:a="http://schemas.openxmlformats.org/drawingml/2006/main" w="19050">
            <a:solidFill>
              <a:srgbClr val="CDD8E1"/>
            </a:solidFill>
          </a:ln>
        </p:spPr>
      </p:sp>
      <p:sp>
        <p:nvSpPr>
          <p:cNvPr id="13" name="">
            <a:extLst xmlns:a="http://schemas.openxmlformats.org/drawingml/2006/main">
              <a:ext uri="{FF2B5EF4-FFF2-40B4-BE49-F238E27FC236}">
                <a16:creationId xmlns:a16="http://schemas.microsoft.com/office/drawing/2014/main" id="{D7993FDC-7DDE-495D-8783-82D4557DBFBA}"/>
              </a:ext>
            </a:extLst>
          </p:cNvPr>
          <p:cNvSpPr>
            <a:spLocks xmlns:a="http://schemas.openxmlformats.org/drawingml/2006/main" noGrp="1"/>
          </p:cNvSpPr>
          <p:nvPr/>
        </p:nvSpPr>
        <p:spPr>
          <a:xfrm xmlns:a="http://schemas.openxmlformats.org/drawingml/2006/main">
            <a:off x="7191375" y="399097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N14: L=43</a:t>
            </a:r>
          </a:p>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 S-C</a:t>
            </a:r>
          </a:p>
        </p:txBody>
      </p:sp>
      <p:sp>
        <p:nvSpPr>
          <p:cNvPr id="18" name="">
            <a:extLst xmlns:a="http://schemas.openxmlformats.org/drawingml/2006/main">
              <a:ext uri="{FF2B5EF4-FFF2-40B4-BE49-F238E27FC236}">
                <a16:creationId xmlns:a16="http://schemas.microsoft.com/office/drawing/2014/main" id="{3EBB05E5-424F-4234-8812-361B629E4B8C}"/>
              </a:ext>
            </a:extLst>
          </p:cNvPr>
          <p:cNvSpPr>
            <a:spLocks xmlns:a="http://schemas.openxmlformats.org/drawingml/2006/main" noGrp="1"/>
          </p:cNvSpPr>
          <p:nvPr/>
        </p:nvSpPr>
        <p:spPr>
          <a:xfrm xmlns:a="http://schemas.openxmlformats.org/drawingml/2006/main">
            <a:off x="762000" y="52578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566779"/>
                </a:solidFill>
                <a:latin typeface="Arial"/>
                <a:ea typeface="Arial"/>
                <a:cs typeface="Arial"/>
              </a:defRPr>
            </a:defPPr>
          </a:lstStyle>
          <a:p xmlns:a="http://schemas.openxmlformats.org/drawingml/2006/main">
            <a:pPr algn="l">
              <a:buNone/>
              <a:defRPr sz="2400" b="0">
                <a:solidFill>
                  <a:srgbClr val="566779"/>
                </a:solidFill>
                <a:latin typeface="Arial"/>
                <a:ea typeface="Arial"/>
                <a:cs typeface="Arial"/>
              </a:defRPr>
            </a:pPr>
            <a:r>
              <a:rPr sz="2400" b="0">
                <a:solidFill>
                  <a:srgbClr val="566779"/>
                </a:solidFill>
                <a:latin typeface="Arial"/>
                <a:ea typeface="Arial"/>
                <a:cs typeface="Arial"/>
              </a:rPr>
              <a:t>Далі: + B-D → N15, L=36.  − B-D → N16, L=45.</a:t>
            </a:r>
          </a:p>
        </p:txBody>
      </p:sp>
    </p:spTree>
    <p:extLst>
      <p:ext uri="{BB962C8B-B14F-4D97-AF65-F5344CB8AC3E}">
        <p14:creationId xmlns:p14="http://schemas.microsoft.com/office/powerpoint/2010/main" val="1026074759"/>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2BEB67-99E4-4FA8-9797-7F50D3FFFDDF}"/>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Фактичний порядок пошуку: кроки 1–5</a:t>
            </a:r>
          </a:p>
        </p:txBody>
      </p:sp>
      <p:sp>
        <p:nvSpPr>
          <p:cNvPr id="2" name="">
            <a:extLst xmlns:a="http://schemas.openxmlformats.org/drawingml/2006/main">
              <a:ext uri="{FF2B5EF4-FFF2-40B4-BE49-F238E27FC236}">
                <a16:creationId xmlns:a16="http://schemas.microsoft.com/office/drawing/2014/main" id="{4B2E5360-440D-4E7D-9CDD-340C1A278B6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Черга обирає найменшу L. За рівності діє фіксоване правило.</a:t>
            </a:r>
          </a:p>
        </p:txBody>
      </p:sp>
      <p:sp>
        <p:nvSpPr>
          <p:cNvPr id="3" name="">
            <a:extLst xmlns:a="http://schemas.openxmlformats.org/drawingml/2006/main">
              <a:ext uri="{FF2B5EF4-FFF2-40B4-BE49-F238E27FC236}">
                <a16:creationId xmlns:a16="http://schemas.microsoft.com/office/drawing/2014/main" id="{03BC1981-000A-4014-967F-2AF9B8674B1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61</a:t>
            </a:r>
          </a:p>
        </p:txBody>
      </p:sp>
      <p:graphicFrame>
        <p:nvGraphicFramePr>
          <p:cNvPr id="4" name="">
            <a:extLst xmlns:a="http://schemas.openxmlformats.org/drawingml/2006/main">
              <a:ext uri="{FF2B5EF4-FFF2-40B4-BE49-F238E27FC236}">
                <a16:creationId xmlns:a16="http://schemas.microsoft.com/office/drawing/2014/main" id="{F5DB1C27-90F8-4D30-B691-A4B2168EA090}"/>
              </a:ext>
            </a:extLst>
          </p:cNvPr>
          <p:cNvGraphicFramePr/>
          <p:nvPr/>
        </p:nvGraphicFramePr>
        <p:xfrm>
          <a:off xmlns:a="http://schemas.openxmlformats.org/drawingml/2006/main" x="762000" y="1619250"/>
          <a:ext xmlns:a="http://schemas.openxmlformats.org/drawingml/2006/main" cx="10668000" cy="3819525"/>
        </p:xfrm>
        <a:graphic xmlns:a="http://schemas.openxmlformats.org/drawingml/2006/main">
          <a:graphicData uri="http://schemas.openxmlformats.org/drawingml/2006/table">
            <a:tbl>
              <a:tblPr/>
              <a:tblGrid>
                <a:gridCol w="1143000"/>
                <a:gridCol w="2286000"/>
                <a:gridCol w="1476375"/>
                <a:gridCol w="2809875"/>
                <a:gridCol w="2952750"/>
              </a:tblGrid>
              <a:tr h="636588">
                <a:tc>
                  <a:txBody>
                    <a:bodyPr/>
                    <a:lstStyle/>
                    <a:p>
                      <a:r>
                        <a:rPr sz="2175" b="1">
                          <a:solidFill>
                            <a:srgbClr val="FFFFFF"/>
                          </a:solidFill>
                          <a:latin typeface="Arial"/>
                          <a:ea typeface="Arial"/>
                          <a:cs typeface="Arial"/>
                        </a:rPr>
                        <a:t>Крок</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Вузол / L</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Дуга</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Включити / L</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Виключити / L</a:t>
                      </a:r>
                    </a:p>
                  </a:txBody>
                  <a:tcPr marL="114300" marR="114300" marT="66675" marB="66675" anchor="ctr">
                    <a:solidFill>
                      <a:srgbClr val="173047"/>
                    </a:solidFill>
                  </a:tcPr>
                </a:tc>
              </a:tr>
              <a:tr h="636588">
                <a:tc>
                  <a:txBody>
                    <a:bodyPr/>
                    <a:lstStyle/>
                    <a:p>
                      <a:r>
                        <a:rPr sz="2175">
                          <a:solidFill>
                            <a:srgbClr val="173047"/>
                          </a:solidFill>
                          <a:latin typeface="Arial"/>
                          <a:ea typeface="Arial"/>
                          <a:cs typeface="Arial"/>
                        </a:rPr>
                        <a:t>1</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N0 / 12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S-A</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 / 29</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N2 / 29</a:t>
                      </a:r>
                    </a:p>
                  </a:txBody>
                  <a:tcPr marL="114300" marR="114300" marT="66675" marB="66675" anchor="ctr">
                    <a:solidFill>
                      <a:srgbClr val="FFFFFF"/>
                    </a:solidFill>
                  </a:tcPr>
                </a:tc>
              </a:tr>
              <a:tr h="636588">
                <a:tc>
                  <a:txBody>
                    <a:bodyPr/>
                    <a:lstStyle/>
                    <a:p>
                      <a:r>
                        <a:rPr sz="2175">
                          <a:solidFill>
                            <a:srgbClr val="173047"/>
                          </a:solidFill>
                          <a:latin typeface="Arial"/>
                          <a:ea typeface="Arial"/>
                          <a:cs typeface="Arial"/>
                        </a:rPr>
                        <a:t>2</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N1 / 29</a:t>
                      </a:r>
                    </a:p>
                  </a:txBody>
                  <a:tcPr marL="114300" marR="114300" marT="66675" marB="66675" anchor="ctr">
                    <a:solidFill>
                      <a:srgbClr val="F1F5F8"/>
                    </a:solidFill>
                  </a:tcPr>
                </a:tc>
                <a:tc>
                  <a:txBody>
                    <a:bodyPr/>
                    <a:lstStyle/>
                    <a:p>
                      <a:r>
                        <a:rPr sz="2175">
                          <a:solidFill>
                            <a:srgbClr val="173047"/>
                          </a:solidFill>
                          <a:latin typeface="Arial"/>
                          <a:ea typeface="Arial"/>
                          <a:cs typeface="Arial"/>
                        </a:rPr>
                        <a:t>B-C</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N3 / 32</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N4 / 42</a:t>
                      </a:r>
                    </a:p>
                  </a:txBody>
                  <a:tcPr marL="114300" marR="114300" marT="66675" marB="66675" anchor="ctr">
                    <a:solidFill>
                      <a:srgbClr val="F1F5F8"/>
                    </a:solidFill>
                  </a:tcPr>
                </a:tc>
              </a:tr>
              <a:tr h="636588">
                <a:tc>
                  <a:txBody>
                    <a:bodyPr/>
                    <a:lstStyle/>
                    <a:p>
                      <a:r>
                        <a:rPr sz="2175">
                          <a:solidFill>
                            <a:srgbClr val="173047"/>
                          </a:solidFill>
                          <a:latin typeface="Arial"/>
                          <a:ea typeface="Arial"/>
                          <a:cs typeface="Arial"/>
                        </a:rPr>
                        <a:t>3</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N2 / 29</a:t>
                      </a:r>
                    </a:p>
                  </a:txBody>
                  <a:tcPr marL="114300" marR="114300" marT="66675" marB="66675" anchor="ctr">
                    <a:solidFill>
                      <a:srgbClr val="FFFFFF"/>
                    </a:solidFill>
                  </a:tcPr>
                </a:tc>
                <a:tc>
                  <a:txBody>
                    <a:bodyPr/>
                    <a:lstStyle/>
                    <a:p>
                      <a:r>
                        <a:rPr sz="2175">
                          <a:solidFill>
                            <a:srgbClr val="173047"/>
                          </a:solidFill>
                          <a:latin typeface="Arial"/>
                          <a:ea typeface="Arial"/>
                          <a:cs typeface="Arial"/>
                        </a:rPr>
                        <a:t>A-S</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N5 / 29</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N6 / 46</a:t>
                      </a:r>
                    </a:p>
                  </a:txBody>
                  <a:tcPr marL="114300" marR="114300" marT="66675" marB="66675" anchor="ctr">
                    <a:solidFill>
                      <a:srgbClr val="FFFFFF"/>
                    </a:solidFill>
                  </a:tcPr>
                </a:tc>
              </a:tr>
              <a:tr h="636588">
                <a:tc>
                  <a:txBody>
                    <a:bodyPr/>
                    <a:lstStyle/>
                    <a:p>
                      <a:r>
                        <a:rPr sz="2175">
                          <a:solidFill>
                            <a:srgbClr val="173047"/>
                          </a:solidFill>
                          <a:latin typeface="Arial"/>
                          <a:ea typeface="Arial"/>
                          <a:cs typeface="Arial"/>
                        </a:rPr>
                        <a:t>4</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N5 / 29</a:t>
                      </a:r>
                    </a:p>
                  </a:txBody>
                  <a:tcPr marL="114300" marR="114300" marT="66675" marB="66675" anchor="ctr">
                    <a:solidFill>
                      <a:srgbClr val="F1F5F8"/>
                    </a:solidFill>
                  </a:tcPr>
                </a:tc>
                <a:tc>
                  <a:txBody>
                    <a:bodyPr/>
                    <a:lstStyle/>
                    <a:p>
                      <a:r>
                        <a:rPr sz="2175">
                          <a:solidFill>
                            <a:srgbClr val="173047"/>
                          </a:solidFill>
                          <a:latin typeface="Arial"/>
                          <a:ea typeface="Arial"/>
                          <a:cs typeface="Arial"/>
                        </a:rPr>
                        <a:t>C-B</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N7 / 32</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N8 / 42</a:t>
                      </a:r>
                    </a:p>
                  </a:txBody>
                  <a:tcPr marL="114300" marR="114300" marT="66675" marB="66675" anchor="ctr">
                    <a:solidFill>
                      <a:srgbClr val="F1F5F8"/>
                    </a:solidFill>
                  </a:tcPr>
                </a:tc>
              </a:tr>
              <a:tr h="636588">
                <a:tc>
                  <a:txBody>
                    <a:bodyPr/>
                    <a:lstStyle/>
                    <a:p>
                      <a:r>
                        <a:rPr sz="2175">
                          <a:solidFill>
                            <a:srgbClr val="173047"/>
                          </a:solidFill>
                          <a:latin typeface="Arial"/>
                          <a:ea typeface="Arial"/>
                          <a:cs typeface="Arial"/>
                        </a:rPr>
                        <a:t>5</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N3 / 32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C-S</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N9 / 32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N10 / 43</a:t>
                      </a:r>
                    </a:p>
                  </a:txBody>
                  <a:tcPr marL="114300" marR="114300" marT="66675" marB="66675" anchor="ctr">
                    <a:solidFill>
                      <a:srgbClr val="FFFFFF"/>
                    </a:solidFill>
                  </a:tcPr>
                </a:tc>
              </a:tr>
            </a:tbl>
          </a:graphicData>
        </a:graphic>
      </p:graphicFrame>
    </p:spTree>
    <p:extLst>
      <p:ext uri="{BB962C8B-B14F-4D97-AF65-F5344CB8AC3E}">
        <p14:creationId xmlns:p14="http://schemas.microsoft.com/office/powerpoint/2010/main" val="101646708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A9D473-5AEA-460E-86C7-B4FD168115B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Фактичний порядок пошуку: кроки 6–10</a:t>
            </a:r>
          </a:p>
        </p:txBody>
      </p:sp>
      <p:sp>
        <p:nvSpPr>
          <p:cNvPr id="2" name="">
            <a:extLst xmlns:a="http://schemas.openxmlformats.org/drawingml/2006/main">
              <a:ext uri="{FF2B5EF4-FFF2-40B4-BE49-F238E27FC236}">
                <a16:creationId xmlns:a16="http://schemas.microsoft.com/office/drawing/2014/main" id="{83053D91-5749-4E18-8D40-ACB2B8B9E0F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Черга обирає найменшу L. За рівності діє фіксоване правило.</a:t>
            </a:r>
          </a:p>
        </p:txBody>
      </p:sp>
      <p:sp>
        <p:nvSpPr>
          <p:cNvPr id="3" name="">
            <a:extLst xmlns:a="http://schemas.openxmlformats.org/drawingml/2006/main">
              <a:ext uri="{FF2B5EF4-FFF2-40B4-BE49-F238E27FC236}">
                <a16:creationId xmlns:a16="http://schemas.microsoft.com/office/drawing/2014/main" id="{5ACAB895-E38F-4ECC-A559-FEC351DDA0D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62</a:t>
            </a:r>
          </a:p>
        </p:txBody>
      </p:sp>
      <p:graphicFrame>
        <p:nvGraphicFramePr>
          <p:cNvPr id="4" name="">
            <a:extLst xmlns:a="http://schemas.openxmlformats.org/drawingml/2006/main">
              <a:ext uri="{FF2B5EF4-FFF2-40B4-BE49-F238E27FC236}">
                <a16:creationId xmlns:a16="http://schemas.microsoft.com/office/drawing/2014/main" id="{93956376-1D01-456B-8F5A-BF3279CD6E91}"/>
              </a:ext>
            </a:extLst>
          </p:cNvPr>
          <p:cNvGraphicFramePr/>
          <p:nvPr/>
        </p:nvGraphicFramePr>
        <p:xfrm>
          <a:off xmlns:a="http://schemas.openxmlformats.org/drawingml/2006/main" x="762000" y="1619250"/>
          <a:ext xmlns:a="http://schemas.openxmlformats.org/drawingml/2006/main" cx="10668000" cy="3819525"/>
        </p:xfrm>
        <a:graphic xmlns:a="http://schemas.openxmlformats.org/drawingml/2006/main">
          <a:graphicData uri="http://schemas.openxmlformats.org/drawingml/2006/table">
            <a:tbl>
              <a:tblPr/>
              <a:tblGrid>
                <a:gridCol w="1143000"/>
                <a:gridCol w="2286000"/>
                <a:gridCol w="1476375"/>
                <a:gridCol w="2809875"/>
                <a:gridCol w="2952750"/>
              </a:tblGrid>
              <a:tr h="636588">
                <a:tc>
                  <a:txBody>
                    <a:bodyPr/>
                    <a:lstStyle/>
                    <a:p>
                      <a:r>
                        <a:rPr sz="2175" b="1">
                          <a:solidFill>
                            <a:srgbClr val="FFFFFF"/>
                          </a:solidFill>
                          <a:latin typeface="Arial"/>
                          <a:ea typeface="Arial"/>
                          <a:cs typeface="Arial"/>
                        </a:rPr>
                        <a:t>Крок</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Вузол / L</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Дуга</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Включити / L</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Виключити / L</a:t>
                      </a:r>
                    </a:p>
                  </a:txBody>
                  <a:tcPr marL="114300" marR="114300" marT="66675" marB="66675" anchor="ctr">
                    <a:solidFill>
                      <a:srgbClr val="173047"/>
                    </a:solidFill>
                  </a:tcPr>
                </a:tc>
              </a:tr>
              <a:tr h="636588">
                <a:tc>
                  <a:txBody>
                    <a:bodyPr/>
                    <a:lstStyle/>
                    <a:p>
                      <a:r>
                        <a:rPr sz="2175">
                          <a:solidFill>
                            <a:srgbClr val="173047"/>
                          </a:solidFill>
                          <a:latin typeface="Arial"/>
                          <a:ea typeface="Arial"/>
                          <a:cs typeface="Arial"/>
                        </a:rPr>
                        <a:t>6</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N9 / 32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D-B</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N11 / 36</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N12 / 45</a:t>
                      </a:r>
                    </a:p>
                  </a:txBody>
                  <a:tcPr marL="114300" marR="114300" marT="66675" marB="66675" anchor="ctr">
                    <a:solidFill>
                      <a:srgbClr val="FFFFFF"/>
                    </a:solidFill>
                  </a:tcPr>
                </a:tc>
              </a:tr>
              <a:tr h="636588">
                <a:tc>
                  <a:txBody>
                    <a:bodyPr/>
                    <a:lstStyle/>
                    <a:p>
                      <a:r>
                        <a:rPr sz="2175">
                          <a:solidFill>
                            <a:srgbClr val="173047"/>
                          </a:solidFill>
                          <a:latin typeface="Arial"/>
                          <a:ea typeface="Arial"/>
                          <a:cs typeface="Arial"/>
                        </a:rPr>
                        <a:t>7</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N7 / 32</a:t>
                      </a:r>
                    </a:p>
                  </a:txBody>
                  <a:tcPr marL="114300" marR="114300" marT="66675" marB="66675" anchor="ctr">
                    <a:solidFill>
                      <a:srgbClr val="F1F5F8"/>
                    </a:solidFill>
                  </a:tcPr>
                </a:tc>
                <a:tc>
                  <a:txBody>
                    <a:bodyPr/>
                    <a:lstStyle/>
                    <a:p>
                      <a:r>
                        <a:rPr sz="2175">
                          <a:solidFill>
                            <a:srgbClr val="173047"/>
                          </a:solidFill>
                          <a:latin typeface="Arial"/>
                          <a:ea typeface="Arial"/>
                          <a:cs typeface="Arial"/>
                        </a:rPr>
                        <a:t>S-C</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N13 / 32</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N14 / 43</a:t>
                      </a:r>
                    </a:p>
                  </a:txBody>
                  <a:tcPr marL="114300" marR="114300" marT="66675" marB="66675" anchor="ctr">
                    <a:solidFill>
                      <a:srgbClr val="F1F5F8"/>
                    </a:solidFill>
                  </a:tcPr>
                </a:tc>
              </a:tr>
              <a:tr h="636588">
                <a:tc>
                  <a:txBody>
                    <a:bodyPr/>
                    <a:lstStyle/>
                    <a:p>
                      <a:r>
                        <a:rPr sz="2175">
                          <a:solidFill>
                            <a:srgbClr val="173047"/>
                          </a:solidFill>
                          <a:latin typeface="Arial"/>
                          <a:ea typeface="Arial"/>
                          <a:cs typeface="Arial"/>
                        </a:rPr>
                        <a:t>8</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N13 / 32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B-D</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N15 / 36</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N16 / 45</a:t>
                      </a:r>
                    </a:p>
                  </a:txBody>
                  <a:tcPr marL="114300" marR="114300" marT="66675" marB="66675" anchor="ctr">
                    <a:solidFill>
                      <a:srgbClr val="FFFFFF"/>
                    </a:solidFill>
                  </a:tcPr>
                </a:tc>
              </a:tr>
              <a:tr h="636588">
                <a:tc>
                  <a:txBody>
                    <a:bodyPr/>
                    <a:lstStyle/>
                    <a:p>
                      <a:r>
                        <a:rPr sz="2175">
                          <a:solidFill>
                            <a:srgbClr val="173047"/>
                          </a:solidFill>
                          <a:latin typeface="Arial"/>
                          <a:ea typeface="Arial"/>
                          <a:cs typeface="Arial"/>
                        </a:rPr>
                        <a:t>9</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N11 / 36</a:t>
                      </a:r>
                    </a:p>
                  </a:txBody>
                  <a:tcPr marL="114300" marR="114300" marT="66675" marB="66675" anchor="ctr">
                    <a:solidFill>
                      <a:srgbClr val="F1F5F8"/>
                    </a:solidFill>
                  </a:tcPr>
                </a:tc>
                <a:tc>
                  <a:txBody>
                    <a:bodyPr/>
                    <a:lstStyle/>
                    <a:p>
                      <a:r>
                        <a:rPr sz="2175">
                          <a:solidFill>
                            <a:srgbClr val="173047"/>
                          </a:solidFill>
                          <a:latin typeface="Arial"/>
                          <a:ea typeface="Arial"/>
                          <a:cs typeface="Arial"/>
                        </a:rPr>
                        <a:t>A-E</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N17 / 36</a:t>
                      </a:r>
                    </a:p>
                  </a:txBody>
                  <a:tcPr marL="114300" marR="114300" marT="66675" marB="66675" anchor="ctr">
                    <a:solidFill>
                      <a:srgbClr val="F1F5F8"/>
                    </a:solidFill>
                  </a:tcPr>
                </a:tc>
                <a:tc>
                  <a:txBody>
                    <a:bodyPr/>
                    <a:lstStyle/>
                    <a:p>
                      <a:r>
                        <a:rPr sz="2175">
                          <a:solidFill>
                            <a:srgbClr val="173047"/>
                          </a:solidFill>
                          <a:latin typeface="Arial"/>
                          <a:ea typeface="Arial"/>
                          <a:cs typeface="Arial"/>
                        </a:rPr>
                        <a:t>N18 / ∞</a:t>
                      </a:r>
                    </a:p>
                  </a:txBody>
                  <a:tcPr marL="114300" marR="114300" marT="66675" marB="66675" anchor="ctr">
                    <a:solidFill>
                      <a:srgbClr val="F1F5F8"/>
                    </a:solidFill>
                  </a:tcPr>
                </a:tc>
              </a:tr>
              <a:tr h="636588">
                <a:tc>
                  <a:txBody>
                    <a:bodyPr/>
                    <a:lstStyle/>
                    <a:p>
                      <a:r>
                        <a:rPr sz="2175">
                          <a:solidFill>
                            <a:srgbClr val="173047"/>
                          </a:solidFill>
                          <a:latin typeface="Arial"/>
                          <a:ea typeface="Arial"/>
                          <a:cs typeface="Arial"/>
                        </a:rPr>
                        <a:t>10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N17 / 36</a:t>
                      </a:r>
                    </a:p>
                  </a:txBody>
                  <a:tcPr marL="114300" marR="114300" marT="66675" marB="66675" anchor="ctr">
                    <a:solidFill>
                      <a:srgbClr val="FFFFFF"/>
                    </a:solidFill>
                  </a:tcPr>
                </a:tc>
                <a:tc>
                  <a:txBody>
                    <a:bodyPr/>
                    <a:lstStyle/>
                    <a:p>
                      <a:r>
                        <a:rPr sz="2175">
                          <a:solidFill>
                            <a:srgbClr val="173047"/>
                          </a:solidFill>
                          <a:latin typeface="Arial"/>
                          <a:ea typeface="Arial"/>
                          <a:cs typeface="Arial"/>
                        </a:rPr>
                        <a:t>E-D</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N19 / 36</a:t>
                      </a:r>
                    </a:p>
                  </a:txBody>
                  <a:tcPr marL="114300" marR="114300" marT="66675" marB="66675" anchor="ctr">
                    <a:solidFill>
                      <a:srgbClr val="FFFFFF"/>
                    </a:solidFill>
                  </a:tcPr>
                </a:tc>
                <a:tc>
                  <a:txBody>
                    <a:bodyPr/>
                    <a:lstStyle/>
                    <a:p>
                      <a:r>
                        <a:rPr sz="2175">
                          <a:solidFill>
                            <a:srgbClr val="173047"/>
                          </a:solidFill>
                          <a:latin typeface="Arial"/>
                          <a:ea typeface="Arial"/>
                          <a:cs typeface="Arial"/>
                        </a:rPr>
                        <a:t>N20 / ∞</a:t>
                      </a:r>
                    </a:p>
                  </a:txBody>
                  <a:tcPr marL="114300" marR="114300" marT="66675" marB="66675" anchor="ctr">
                    <a:solidFill>
                      <a:srgbClr val="FFFFFF"/>
                    </a:solidFill>
                  </a:tcPr>
                </a:tc>
              </a:tr>
            </a:tbl>
          </a:graphicData>
        </a:graphic>
      </p:graphicFrame>
    </p:spTree>
    <p:extLst>
      <p:ext uri="{BB962C8B-B14F-4D97-AF65-F5344CB8AC3E}">
        <p14:creationId xmlns:p14="http://schemas.microsoft.com/office/powerpoint/2010/main" val="105518374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021907-A30B-4041-A593-E2768B83E274}"/>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Алгоритм Літтла: цикл пошуку</a:t>
            </a:r>
          </a:p>
        </p:txBody>
      </p:sp>
      <p:sp>
        <p:nvSpPr>
          <p:cNvPr id="2" name="">
            <a:extLst xmlns:a="http://schemas.openxmlformats.org/drawingml/2006/main">
              <a:ext uri="{FF2B5EF4-FFF2-40B4-BE49-F238E27FC236}">
                <a16:creationId xmlns:a16="http://schemas.microsoft.com/office/drawing/2014/main" id="{C8EAB660-2212-4402-8D73-8594FCAD77C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Зупинка: черга порожня або всі її межі L ≥ U.</a:t>
            </a:r>
          </a:p>
        </p:txBody>
      </p:sp>
      <p:sp>
        <p:nvSpPr>
          <p:cNvPr id="3" name="">
            <a:extLst xmlns:a="http://schemas.openxmlformats.org/drawingml/2006/main">
              <a:ext uri="{FF2B5EF4-FFF2-40B4-BE49-F238E27FC236}">
                <a16:creationId xmlns:a16="http://schemas.microsoft.com/office/drawing/2014/main" id="{65F994FC-02FA-4213-8559-388EE77EDB6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63</a:t>
            </a:r>
          </a:p>
        </p:txBody>
      </p:sp>
      <p:graphicFrame>
        <p:nvGraphicFramePr>
          <p:cNvPr id="4" name="">
            <a:extLst xmlns:a="http://schemas.openxmlformats.org/drawingml/2006/main">
              <a:ext uri="{FF2B5EF4-FFF2-40B4-BE49-F238E27FC236}">
                <a16:creationId xmlns:a16="http://schemas.microsoft.com/office/drawing/2014/main" id="{67520909-EF31-48D0-A25F-FC54DF2761E9}"/>
              </a:ext>
            </a:extLst>
          </p:cNvPr>
          <p:cNvGraphicFramePr/>
          <p:nvPr/>
        </p:nvGraphicFramePr>
        <p:xfrm>
          <a:off xmlns:a="http://schemas.openxmlformats.org/drawingml/2006/main" x="762000" y="1514475"/>
          <a:ext xmlns:a="http://schemas.openxmlformats.org/drawingml/2006/main" cx="10668000" cy="4133850"/>
        </p:xfrm>
        <a:graphic xmlns:a="http://schemas.openxmlformats.org/drawingml/2006/main">
          <a:graphicData uri="http://schemas.openxmlformats.org/drawingml/2006/table">
            <a:tbl>
              <a:tblPr/>
              <a:tblGrid>
                <a:gridCol w="3143250"/>
                <a:gridCol w="7524750"/>
              </a:tblGrid>
              <a:tr h="590550">
                <a:tc>
                  <a:txBody>
                    <a:bodyPr/>
                    <a:lstStyle/>
                    <a:p>
                      <a:r>
                        <a:rPr sz="2175" b="1">
                          <a:solidFill>
                            <a:srgbClr val="FFFFFF"/>
                          </a:solidFill>
                          <a:latin typeface="Arial"/>
                          <a:ea typeface="Arial"/>
                          <a:cs typeface="Arial"/>
                        </a:rPr>
                        <a:t>Етап</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Дія</a:t>
                      </a:r>
                    </a:p>
                  </a:txBody>
                  <a:tcPr marL="114300" marR="114300" marT="66675" marB="66675" anchor="ctr">
                    <a:solidFill>
                      <a:srgbClr val="173047"/>
                    </a:solidFill>
                  </a:tcPr>
                </a:tc>
              </a:tr>
              <a:tr h="590550">
                <a:tc>
                  <a:txBody>
                    <a:bodyPr/>
                    <a:lstStyle/>
                    <a:p>
                      <a:r>
                        <a:rPr sz="2175">
                          <a:solidFill>
                            <a:srgbClr val="173047"/>
                          </a:solidFill>
                          <a:latin typeface="Arial"/>
                          <a:ea typeface="Arial"/>
                          <a:cs typeface="Arial"/>
                        </a:rPr>
                        <a:t>Початок</a:t>
                      </a:r>
                    </a:p>
                  </a:txBody>
                  <a:tcPr marL="114300" marR="114300" marT="66675" marB="66675" anchor="ctr">
                    <a:solidFill>
                      <a:srgbClr val="FFFFFF"/>
                    </a:solidFill>
                  </a:tcPr>
                </a:tc>
                <a:tc>
                  <a:txBody>
                    <a:bodyPr/>
                    <a:lstStyle/>
                    <a:p>
                      <a:r>
                        <a:rPr sz="2175">
                          <a:solidFill>
                            <a:srgbClr val="173047"/>
                          </a:solidFill>
                          <a:latin typeface="Arial"/>
                          <a:ea typeface="Arial"/>
                          <a:cs typeface="Arial"/>
                        </a:rPr>
                        <a:t>Редукція матриці, допустимий тур для U</a:t>
                      </a:r>
                    </a:p>
                  </a:txBody>
                  <a:tcPr marL="114300" marR="114300" marT="66675" marB="66675" anchor="ctr">
                    <a:solidFill>
                      <a:srgbClr val="FFFFFF"/>
                    </a:solidFill>
                  </a:tcPr>
                </a:tc>
              </a:tr>
              <a:tr h="590550">
                <a:tc>
                  <a:txBody>
                    <a:bodyPr/>
                    <a:lstStyle/>
                    <a:p>
                      <a:r>
                        <a:rPr sz="2175">
                          <a:solidFill>
                            <a:srgbClr val="173047"/>
                          </a:solidFill>
                          <a:latin typeface="Arial"/>
                          <a:ea typeface="Arial"/>
                          <a:cs typeface="Arial"/>
                        </a:rPr>
                        <a:t>Вибір вузла</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Найменша L серед відкритих підзадач</a:t>
                      </a:r>
                    </a:p>
                  </a:txBody>
                  <a:tcPr marL="114300" marR="114300" marT="66675" marB="66675" anchor="ctr">
                    <a:solidFill>
                      <a:srgbClr val="F1F5F8"/>
                    </a:solidFill>
                  </a:tcPr>
                </a:tc>
              </a:tr>
              <a:tr h="590550">
                <a:tc>
                  <a:txBody>
                    <a:bodyPr/>
                    <a:lstStyle/>
                    <a:p>
                      <a:r>
                        <a:rPr sz="2175" b="1">
                          <a:solidFill>
                            <a:srgbClr val="B64436"/>
                          </a:solidFill>
                          <a:latin typeface="Arial"/>
                          <a:ea typeface="Arial"/>
                          <a:cs typeface="Arial"/>
                        </a:rPr>
                        <a:t>Відсів</a:t>
                      </a:r>
                    </a:p>
                  </a:txBody>
                  <a:tcPr marL="114300" marR="114300" marT="66675" marB="66675" anchor="ctr">
                    <a:solidFill>
                      <a:srgbClr val="FBECE8"/>
                    </a:solidFill>
                  </a:tcPr>
                </a:tc>
                <a:tc>
                  <a:txBody>
                    <a:bodyPr/>
                    <a:lstStyle/>
                    <a:p>
                      <a:r>
                        <a:rPr sz="2175" b="1">
                          <a:solidFill>
                            <a:srgbClr val="B64436"/>
                          </a:solidFill>
                          <a:latin typeface="Arial"/>
                          <a:ea typeface="Arial"/>
                          <a:cs typeface="Arial"/>
                        </a:rPr>
                        <a:t>L ≥ U або матриця несумісна</a:t>
                      </a:r>
                    </a:p>
                  </a:txBody>
                  <a:tcPr marL="114300" marR="114300" marT="66675" marB="66675" anchor="ctr">
                    <a:solidFill>
                      <a:srgbClr val="FBECE8"/>
                    </a:solidFill>
                  </a:tcPr>
                </a:tc>
              </a:tr>
              <a:tr h="590550">
                <a:tc>
                  <a:txBody>
                    <a:bodyPr/>
                    <a:lstStyle/>
                    <a:p>
                      <a:r>
                        <a:rPr sz="2175">
                          <a:solidFill>
                            <a:srgbClr val="173047"/>
                          </a:solidFill>
                          <a:latin typeface="Arial"/>
                          <a:ea typeface="Arial"/>
                          <a:cs typeface="Arial"/>
                        </a:rPr>
                        <a:t>Готовий тур</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Перевірити цикл та оновити U</a:t>
                      </a:r>
                    </a:p>
                  </a:txBody>
                  <a:tcPr marL="114300" marR="114300" marT="66675" marB="66675" anchor="ctr">
                    <a:solidFill>
                      <a:srgbClr val="F1F5F8"/>
                    </a:solidFill>
                  </a:tcPr>
                </a:tc>
              </a:tr>
              <a:tr h="590550">
                <a:tc>
                  <a:txBody>
                    <a:bodyPr/>
                    <a:lstStyle/>
                    <a:p>
                      <a:r>
                        <a:rPr sz="2175">
                          <a:solidFill>
                            <a:srgbClr val="173047"/>
                          </a:solidFill>
                          <a:latin typeface="Arial"/>
                          <a:ea typeface="Arial"/>
                          <a:cs typeface="Arial"/>
                        </a:rPr>
                        <a:t>Гілкування</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Нуль з найбільшим штрафом, дві гілки</a:t>
                      </a:r>
                    </a:p>
                  </a:txBody>
                  <a:tcPr marL="114300" marR="114300" marT="66675" marB="66675" anchor="ctr">
                    <a:solidFill>
                      <a:srgbClr val="FFFFFF"/>
                    </a:solidFill>
                  </a:tcPr>
                </a:tc>
              </a:tr>
              <a:tr h="590550">
                <a:tc>
                  <a:txBody>
                    <a:bodyPr/>
                    <a:lstStyle/>
                    <a:p>
                      <a:r>
                        <a:rPr sz="2175">
                          <a:solidFill>
                            <a:srgbClr val="173047"/>
                          </a:solidFill>
                          <a:latin typeface="Arial"/>
                          <a:ea typeface="Arial"/>
                          <a:cs typeface="Arial"/>
                        </a:rPr>
                        <a:t>Оновлення</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Заборони підциклів, редукція, повернення в чергу</a:t>
                      </a:r>
                    </a:p>
                  </a:txBody>
                  <a:tcPr marL="114300" marR="114300" marT="66675" marB="66675" anchor="ctr">
                    <a:solidFill>
                      <a:srgbClr val="F1F5F8"/>
                    </a:solidFill>
                  </a:tcPr>
                </a:tc>
              </a:tr>
            </a:tbl>
          </a:graphicData>
        </a:graphic>
      </p:graphicFrame>
    </p:spTree>
    <p:extLst>
      <p:ext uri="{BB962C8B-B14F-4D97-AF65-F5344CB8AC3E}">
        <p14:creationId xmlns:p14="http://schemas.microsoft.com/office/powerpoint/2010/main" val="125018689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F9D25F-DCAF-4F22-80BF-4ED950470C76}"/>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штрафи нульових дуг</a:t>
            </a:r>
          </a:p>
        </p:txBody>
      </p:sp>
      <p:sp>
        <p:nvSpPr>
          <p:cNvPr id="2" name="">
            <a:extLst xmlns:a="http://schemas.openxmlformats.org/drawingml/2006/main">
              <a:ext uri="{FF2B5EF4-FFF2-40B4-BE49-F238E27FC236}">
                <a16:creationId xmlns:a16="http://schemas.microsoft.com/office/drawing/2014/main" id="{004171B0-003D-44F0-BF8D-B2B0841CC9B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Функція використовує інші елементи рядка й стовпця.</a:t>
            </a:r>
          </a:p>
        </p:txBody>
      </p:sp>
      <p:sp>
        <p:nvSpPr>
          <p:cNvPr id="3" name="">
            <a:extLst xmlns:a="http://schemas.openxmlformats.org/drawingml/2006/main">
              <a:ext uri="{FF2B5EF4-FFF2-40B4-BE49-F238E27FC236}">
                <a16:creationId xmlns:a16="http://schemas.microsoft.com/office/drawing/2014/main" id="{2374CE5D-D83E-4EEB-AB7E-FB7F15F457E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64</a:t>
            </a:r>
          </a:p>
        </p:txBody>
      </p:sp>
      <p:sp>
        <p:nvSpPr>
          <p:cNvPr id="4" name="">
            <a:extLst xmlns:a="http://schemas.openxmlformats.org/drawingml/2006/main">
              <a:ext uri="{FF2B5EF4-FFF2-40B4-BE49-F238E27FC236}">
                <a16:creationId xmlns:a16="http://schemas.microsoft.com/office/drawing/2014/main" id="{D59D7DF5-7461-48B4-AAE7-2AD03B22CC61}"/>
              </a:ext>
            </a:extLst>
          </p:cNvPr>
          <p:cNvSpPr>
            <a:spLocks xmlns:a="http://schemas.openxmlformats.org/drawingml/2006/main" noGrp="1"/>
          </p:cNvSpPr>
          <p:nvPr/>
        </p:nvSpPr>
        <p:spPr>
          <a:xfrm xmlns:a="http://schemas.openxmlformats.org/drawingml/2006/main">
            <a:off x="762000" y="1457325"/>
            <a:ext cx="10668000" cy="328193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90A300-6739-4689-8F1B-F00108CC9E95}"/>
              </a:ext>
            </a:extLst>
          </p:cNvPr>
          <p:cNvSpPr>
            <a:spLocks xmlns:a="http://schemas.openxmlformats.org/drawingml/2006/main" noGrp="1"/>
          </p:cNvSpPr>
          <p:nvPr/>
        </p:nvSpPr>
        <p:spPr>
          <a:xfrm xmlns:a="http://schemas.openxmlformats.org/drawingml/2006/main">
            <a:off x="923925" y="1533525"/>
            <a:ext cx="10344150" cy="31295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def zero_penalties(a, rows, cols):</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result = []</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for ri, i in enumerate(rows):</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for cj, j in enumerate(cols):</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if a[ri][cj] == 0:</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r = min((a[ri][k] for k in range(len(cols))</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if k != cj), default=inf)</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c = min((a[k][cj] for k in range(len(rows))</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if k != ri), default=inf)</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result.append(dict(i=i, j=j, row=r, col=c,</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penalty=r+c))</a:t>
            </a:r>
          </a:p>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return sorted(result, key=lambda v: (-v["penalty"],v["i"],v["j"]))</a:t>
            </a:r>
          </a:p>
        </p:txBody>
      </p:sp>
      <p:sp>
        <p:nvSpPr>
          <p:cNvPr id="6" name="">
            <a:extLst xmlns:a="http://schemas.openxmlformats.org/drawingml/2006/main">
              <a:ext uri="{FF2B5EF4-FFF2-40B4-BE49-F238E27FC236}">
                <a16:creationId xmlns:a16="http://schemas.microsoft.com/office/drawing/2014/main" id="{9A94C820-7DD2-4A2A-AA77-93D505408EC1}"/>
              </a:ext>
            </a:extLst>
          </p:cNvPr>
          <p:cNvSpPr>
            <a:spLocks xmlns:a="http://schemas.openxmlformats.org/drawingml/2006/main" noGrp="1"/>
          </p:cNvSpPr>
          <p:nvPr/>
        </p:nvSpPr>
        <p:spPr>
          <a:xfrm xmlns:a="http://schemas.openxmlformats.org/drawingml/2006/main">
            <a:off x="762000" y="4891659"/>
            <a:ext cx="10668000" cy="6191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A213BEB-92B2-47D2-B365-605956F700D4}"/>
              </a:ext>
            </a:extLst>
          </p:cNvPr>
          <p:cNvSpPr>
            <a:spLocks xmlns:a="http://schemas.openxmlformats.org/drawingml/2006/main" noGrp="1"/>
          </p:cNvSpPr>
          <p:nvPr/>
        </p:nvSpPr>
        <p:spPr>
          <a:xfrm xmlns:a="http://schemas.openxmlformats.org/drawingml/2006/main">
            <a:off x="933450" y="4958334"/>
            <a:ext cx="103251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Courier New"/>
                <a:ea typeface="Courier New"/>
                <a:cs typeface="Courier New"/>
              </a:defRPr>
            </a:defPPr>
          </a:lstStyle>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Перший вибір: S-A, штраф = 9 + 8 = 17</a:t>
            </a:r>
          </a:p>
        </p:txBody>
      </p:sp>
    </p:spTree>
    <p:extLst>
      <p:ext uri="{BB962C8B-B14F-4D97-AF65-F5344CB8AC3E}">
        <p14:creationId xmlns:p14="http://schemas.microsoft.com/office/powerpoint/2010/main" val="820337032"/>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600A8F-3527-4490-BBFC-81A5B9FD06D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запуск і фактичний результат</a:t>
            </a:r>
          </a:p>
        </p:txBody>
      </p:sp>
      <p:sp>
        <p:nvSpPr>
          <p:cNvPr id="2" name="">
            <a:extLst xmlns:a="http://schemas.openxmlformats.org/drawingml/2006/main">
              <a:ext uri="{FF2B5EF4-FFF2-40B4-BE49-F238E27FC236}">
                <a16:creationId xmlns:a16="http://schemas.microsoft.com/office/drawing/2014/main" id="{B6A14871-B7E0-4117-B629-76CE5ED2D59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Навчальна програма виконує МГМ Літтла й друкує його матриці.</a:t>
            </a:r>
          </a:p>
        </p:txBody>
      </p:sp>
      <p:sp>
        <p:nvSpPr>
          <p:cNvPr id="3" name="">
            <a:extLst xmlns:a="http://schemas.openxmlformats.org/drawingml/2006/main">
              <a:ext uri="{FF2B5EF4-FFF2-40B4-BE49-F238E27FC236}">
                <a16:creationId xmlns:a16="http://schemas.microsoft.com/office/drawing/2014/main" id="{6034DB7D-52E1-415A-864B-FC52EED51D45}"/>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65</a:t>
            </a:r>
          </a:p>
        </p:txBody>
      </p:sp>
      <p:sp>
        <p:nvSpPr>
          <p:cNvPr id="4" name="">
            <a:extLst xmlns:a="http://schemas.openxmlformats.org/drawingml/2006/main">
              <a:ext uri="{FF2B5EF4-FFF2-40B4-BE49-F238E27FC236}">
                <a16:creationId xmlns:a16="http://schemas.microsoft.com/office/drawing/2014/main" id="{786896F0-7E2B-453A-8594-7DD538E6B8AE}"/>
              </a:ext>
            </a:extLst>
          </p:cNvPr>
          <p:cNvSpPr>
            <a:spLocks xmlns:a="http://schemas.openxmlformats.org/drawingml/2006/main" noGrp="1"/>
          </p:cNvSpPr>
          <p:nvPr/>
        </p:nvSpPr>
        <p:spPr>
          <a:xfrm xmlns:a="http://schemas.openxmlformats.org/drawingml/2006/main">
            <a:off x="762000" y="1571625"/>
            <a:ext cx="10668000" cy="200177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2C3035-76ED-4CC9-84CF-E2B5BF0295F1}"/>
              </a:ext>
            </a:extLst>
          </p:cNvPr>
          <p:cNvSpPr>
            <a:spLocks xmlns:a="http://schemas.openxmlformats.org/drawingml/2006/main" noGrp="1"/>
          </p:cNvSpPr>
          <p:nvPr/>
        </p:nvSpPr>
        <p:spPr>
          <a:xfrm xmlns:a="http://schemas.openxmlformats.org/drawingml/2006/main">
            <a:off x="923925" y="1647825"/>
            <a:ext cx="10344150" cy="18493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73047"/>
                </a:solidFill>
                <a:latin typeface="Courier New"/>
                <a:ea typeface="Courier New"/>
                <a:cs typeface="Courier New"/>
              </a:defRPr>
            </a:defPPr>
          </a:lstStyle>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from little_tsp import C, NAME, little</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route, value, trace = little(C)</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print("Маршрут:", "-".join(NAME[i] for i in route))</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print("Вартість:", value)</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print("Вузлів:", len(trace["nodes"]))</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print("Розгалужень:", len(trace["expansions"]))</a:t>
            </a:r>
          </a:p>
        </p:txBody>
      </p:sp>
      <p:sp>
        <p:nvSpPr>
          <p:cNvPr id="6" name="">
            <a:extLst xmlns:a="http://schemas.openxmlformats.org/drawingml/2006/main">
              <a:ext uri="{FF2B5EF4-FFF2-40B4-BE49-F238E27FC236}">
                <a16:creationId xmlns:a16="http://schemas.microsoft.com/office/drawing/2014/main" id="{CA2F9F4A-3490-4BDA-B6CE-31F587E47A40}"/>
              </a:ext>
            </a:extLst>
          </p:cNvPr>
          <p:cNvSpPr>
            <a:spLocks xmlns:a="http://schemas.openxmlformats.org/drawingml/2006/main" noGrp="1"/>
          </p:cNvSpPr>
          <p:nvPr/>
        </p:nvSpPr>
        <p:spPr>
          <a:xfrm xmlns:a="http://schemas.openxmlformats.org/drawingml/2006/main">
            <a:off x="762000" y="3792474"/>
            <a:ext cx="10668000" cy="143827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DFBCE57-2EC7-49E4-A336-259D5C217E2F}"/>
              </a:ext>
            </a:extLst>
          </p:cNvPr>
          <p:cNvSpPr>
            <a:spLocks xmlns:a="http://schemas.openxmlformats.org/drawingml/2006/main" noGrp="1"/>
          </p:cNvSpPr>
          <p:nvPr/>
        </p:nvSpPr>
        <p:spPr>
          <a:xfrm xmlns:a="http://schemas.openxmlformats.org/drawingml/2006/main">
            <a:off x="933450" y="3859149"/>
            <a:ext cx="103251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Courier New"/>
                <a:ea typeface="Courier New"/>
                <a:cs typeface="Courier New"/>
              </a:defRPr>
            </a:defPPr>
          </a:lstStyle>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Маршрут: S-A-E-D-B-C-S</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Вартість: 36</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Вузлів: 21</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Розгалужень: 10</a:t>
            </a:r>
          </a:p>
          <a:p xmlns:a="http://schemas.openxmlformats.org/drawingml/2006/main">
            <a:r>
              <a:t/>
            </a:r>
          </a:p>
        </p:txBody>
      </p:sp>
    </p:spTree>
    <p:extLst>
      <p:ext uri="{BB962C8B-B14F-4D97-AF65-F5344CB8AC3E}">
        <p14:creationId xmlns:p14="http://schemas.microsoft.com/office/powerpoint/2010/main" val="193234433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0B5F9B-57E4-4476-B41C-CDDD7FB75B6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Літтл і MILP: два способи розв’язати TSP</a:t>
            </a:r>
          </a:p>
        </p:txBody>
      </p:sp>
      <p:sp>
        <p:nvSpPr>
          <p:cNvPr id="2" name="">
            <a:extLst xmlns:a="http://schemas.openxmlformats.org/drawingml/2006/main">
              <a:ext uri="{FF2B5EF4-FFF2-40B4-BE49-F238E27FC236}">
                <a16:creationId xmlns:a16="http://schemas.microsoft.com/office/drawing/2014/main" id="{D6685501-6A24-4E7E-BD75-34028C8BD03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Обидва способи підтверджують оптимум 36 хв для цієї матриці.</a:t>
            </a:r>
          </a:p>
        </p:txBody>
      </p:sp>
      <p:sp>
        <p:nvSpPr>
          <p:cNvPr id="3" name="">
            <a:extLst xmlns:a="http://schemas.openxmlformats.org/drawingml/2006/main">
              <a:ext uri="{FF2B5EF4-FFF2-40B4-BE49-F238E27FC236}">
                <a16:creationId xmlns:a16="http://schemas.microsoft.com/office/drawing/2014/main" id="{565795D5-B925-4072-92A4-A04BB12212F0}"/>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66</a:t>
            </a:r>
          </a:p>
        </p:txBody>
      </p:sp>
      <p:graphicFrame>
        <p:nvGraphicFramePr>
          <p:cNvPr id="4" name="">
            <a:extLst xmlns:a="http://schemas.openxmlformats.org/drawingml/2006/main">
              <a:ext uri="{FF2B5EF4-FFF2-40B4-BE49-F238E27FC236}">
                <a16:creationId xmlns:a16="http://schemas.microsoft.com/office/drawing/2014/main" id="{4E68C964-61A0-4DF1-B655-657A33C5AB29}"/>
              </a:ext>
            </a:extLst>
          </p:cNvPr>
          <p:cNvGraphicFramePr/>
          <p:nvPr/>
        </p:nvGraphicFramePr>
        <p:xfrm>
          <a:off xmlns:a="http://schemas.openxmlformats.org/drawingml/2006/main" x="762000" y="1543050"/>
          <a:ext xmlns:a="http://schemas.openxmlformats.org/drawingml/2006/main" cx="10668000" cy="3952875"/>
        </p:xfrm>
        <a:graphic xmlns:a="http://schemas.openxmlformats.org/drawingml/2006/main">
          <a:graphicData uri="http://schemas.openxmlformats.org/drawingml/2006/table">
            <a:tbl>
              <a:tblPr/>
              <a:tblGrid>
                <a:gridCol w="2190750"/>
                <a:gridCol w="3952875"/>
                <a:gridCol w="4524375"/>
              </a:tblGrid>
              <a:tr h="790575">
                <a:tc>
                  <a:txBody>
                    <a:bodyPr/>
                    <a:lstStyle/>
                    <a:p>
                      <a:r>
                        <a:rPr sz="2175" b="1">
                          <a:solidFill>
                            <a:srgbClr val="FFFFFF"/>
                          </a:solidFill>
                          <a:latin typeface="Arial"/>
                          <a:ea typeface="Arial"/>
                          <a:cs typeface="Arial"/>
                        </a:rPr>
                        <a:t>Ознака</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Алгоритм Літтла</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MILP + умови підциклів</a:t>
                      </a:r>
                    </a:p>
                  </a:txBody>
                  <a:tcPr marL="114300" marR="114300" marT="66675" marB="66675" anchor="ctr">
                    <a:solidFill>
                      <a:srgbClr val="173047"/>
                    </a:solidFill>
                  </a:tcPr>
                </a:tc>
              </a:tr>
              <a:tr h="790575">
                <a:tc>
                  <a:txBody>
                    <a:bodyPr/>
                    <a:lstStyle/>
                    <a:p>
                      <a:r>
                        <a:rPr sz="2175">
                          <a:solidFill>
                            <a:srgbClr val="173047"/>
                          </a:solidFill>
                          <a:latin typeface="Arial"/>
                          <a:ea typeface="Arial"/>
                          <a:cs typeface="Arial"/>
                        </a:rPr>
                        <a:t>Оцінка</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Мінімуми рядків і стовпців</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Оцінки розв’язувача MILP</a:t>
                      </a:r>
                    </a:p>
                  </a:txBody>
                  <a:tcPr marL="114300" marR="114300" marT="66675" marB="66675" anchor="ctr">
                    <a:solidFill>
                      <a:srgbClr val="FFFFFF"/>
                    </a:solidFill>
                  </a:tcPr>
                </a:tc>
              </a:tr>
              <a:tr h="790575">
                <a:tc>
                  <a:txBody>
                    <a:bodyPr/>
                    <a:lstStyle/>
                    <a:p>
                      <a:r>
                        <a:rPr sz="2175">
                          <a:solidFill>
                            <a:srgbClr val="173047"/>
                          </a:solidFill>
                          <a:latin typeface="Arial"/>
                          <a:ea typeface="Arial"/>
                          <a:cs typeface="Arial"/>
                        </a:rPr>
                        <a:t>Крок</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Включити / виключити дугу</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Додати умову й розв’язати модель</a:t>
                      </a:r>
                    </a:p>
                  </a:txBody>
                  <a:tcPr marL="114300" marR="114300" marT="66675" marB="66675" anchor="ctr">
                    <a:solidFill>
                      <a:srgbClr val="F1F5F8"/>
                    </a:solidFill>
                  </a:tcPr>
                </a:tc>
              </a:tr>
              <a:tr h="790575">
                <a:tc>
                  <a:txBody>
                    <a:bodyPr/>
                    <a:lstStyle/>
                    <a:p>
                      <a:r>
                        <a:rPr sz="2175">
                          <a:solidFill>
                            <a:srgbClr val="173047"/>
                          </a:solidFill>
                          <a:latin typeface="Arial"/>
                          <a:ea typeface="Arial"/>
                          <a:cs typeface="Arial"/>
                        </a:rPr>
                        <a:t>Підцикли</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Заборона замикання ланцюгів</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Лінійні обмеження SEC</a:t>
                      </a:r>
                    </a:p>
                  </a:txBody>
                  <a:tcPr marL="114300" marR="114300" marT="66675" marB="66675" anchor="ctr">
                    <a:solidFill>
                      <a:srgbClr val="FFFFFF"/>
                    </a:solidFill>
                  </a:tcPr>
                </a:tc>
              </a:tr>
              <a:tr h="790575">
                <a:tc>
                  <a:txBody>
                    <a:bodyPr/>
                    <a:lstStyle/>
                    <a:p>
                      <a:r>
                        <a:rPr sz="2175">
                          <a:solidFill>
                            <a:srgbClr val="173047"/>
                          </a:solidFill>
                          <a:latin typeface="Arial"/>
                          <a:ea typeface="Arial"/>
                          <a:cs typeface="Arial"/>
                        </a:rPr>
                        <a:t>Результат тут</a:t>
                      </a:r>
                    </a:p>
                  </a:txBody>
                  <a:tcPr marL="114300" marR="114300" marT="66675" marB="66675" anchor="ctr">
                    <a:solidFill>
                      <a:srgbClr val="F1F5F8"/>
                    </a:solidFill>
                  </a:tcPr>
                </a:tc>
                <a:tc>
                  <a:txBody>
                    <a:bodyPr/>
                    <a:lstStyle/>
                    <a:p>
                      <a:r>
                        <a:rPr sz="2175">
                          <a:solidFill>
                            <a:srgbClr val="173047"/>
                          </a:solidFill>
                          <a:latin typeface="Arial"/>
                          <a:ea typeface="Arial"/>
                          <a:cs typeface="Arial"/>
                        </a:rPr>
                        <a:t>Тур, C=36</a:t>
                      </a:r>
                    </a:p>
                  </a:txBody>
                  <a:tcPr marL="114300" marR="114300" marT="66675" marB="66675" anchor="ctr">
                    <a:solidFill>
                      <a:srgbClr val="F1F5F8"/>
                    </a:solidFill>
                  </a:tcPr>
                </a:tc>
                <a:tc>
                  <a:txBody>
                    <a:bodyPr/>
                    <a:lstStyle/>
                    <a:p>
                      <a:r>
                        <a:rPr sz="2175">
                          <a:solidFill>
                            <a:srgbClr val="173047"/>
                          </a:solidFill>
                          <a:latin typeface="Arial"/>
                          <a:ea typeface="Arial"/>
                          <a:cs typeface="Arial"/>
                        </a:rPr>
                        <a:t>Тур, C=36</a:t>
                      </a:r>
                    </a:p>
                  </a:txBody>
                  <a:tcPr marL="114300" marR="114300" marT="66675" marB="66675" anchor="ctr">
                    <a:solidFill>
                      <a:srgbClr val="F1F5F8"/>
                    </a:solidFill>
                  </a:tcPr>
                </a:tc>
              </a:tr>
            </a:tbl>
          </a:graphicData>
        </a:graphic>
      </p:graphicFrame>
    </p:spTree>
    <p:extLst>
      <p:ext uri="{BB962C8B-B14F-4D97-AF65-F5344CB8AC3E}">
        <p14:creationId xmlns:p14="http://schemas.microsoft.com/office/powerpoint/2010/main" val="169767406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D587EA9A-AC87-4948-AD79-530F66155CE0}"/>
              </a:ext>
            </a:extLst>
          </p:cNvPr>
          <p:cNvCxnSpPr>
            <a:stCxn xmlns:a="http://schemas.openxmlformats.org/drawingml/2006/main" id="30" idx="1"/>
            <a:endCxn xmlns:a="http://schemas.openxmlformats.org/drawingml/2006/main" id="24" idx="2"/>
          </p:cNvCxnSpPr>
          <p:nvPr/>
        </p:nvCxnSpPr>
        <p:spPr>
          <a:xfrm xmlns:a="http://schemas.openxmlformats.org/drawingml/2006/main" flipH="1" flipV="1">
            <a:off x="2928938" y="4191000"/>
            <a:ext cx="3214688" cy="1190625"/>
          </a:xfrm>
          <a:prstGeom xmlns:a="http://schemas.openxmlformats.org/drawingml/2006/main" prst="bentConnector2">
            <a:avLst/>
          </a:prstGeom>
          <a:ln xmlns:a="http://schemas.openxmlformats.org/drawingml/2006/main" w="28575">
            <a:solidFill>
              <a:srgbClr val="00857D"/>
            </a:solidFill>
            <a:prstDash val="solid"/>
            <a:tailEnd type="triangle" w="med" len="med"/>
          </a:ln>
        </p:spPr>
      </p:cxnSp>
      <p:cxnSp>
        <p:nvCxnSpPr>
          <p:cNvPr id="35" name="">
            <a:extLst xmlns:a="http://schemas.openxmlformats.org/drawingml/2006/main">
              <a:ext uri="{FF2B5EF4-FFF2-40B4-BE49-F238E27FC236}">
                <a16:creationId xmlns:a16="http://schemas.microsoft.com/office/drawing/2014/main" id="{3C93F121-6F74-4BE1-B13E-8DF8BDC7B5F0}"/>
              </a:ext>
            </a:extLst>
          </p:cNvPr>
          <p:cNvCxnSpPr>
            <a:stCxn xmlns:a="http://schemas.openxmlformats.org/drawingml/2006/main" id="26" idx="2"/>
            <a:endCxn xmlns:a="http://schemas.openxmlformats.org/drawingml/2006/main" id="30" idx="0"/>
          </p:cNvCxnSpPr>
          <p:nvPr/>
        </p:nvCxnSpPr>
        <p:spPr>
          <a:xfrm xmlns:a="http://schemas.openxmlformats.org/drawingml/2006/main">
            <a:off x="7620000" y="4448175"/>
            <a:ext cx="857250" cy="514350"/>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cxnSp>
        <p:nvCxnSpPr>
          <p:cNvPr id="34" name="">
            <a:extLst xmlns:a="http://schemas.openxmlformats.org/drawingml/2006/main">
              <a:ext uri="{FF2B5EF4-FFF2-40B4-BE49-F238E27FC236}">
                <a16:creationId xmlns:a16="http://schemas.microsoft.com/office/drawing/2014/main" id="{55C56DE0-DC9A-4507-938C-FF2CED22B6D9}"/>
              </a:ext>
            </a:extLst>
          </p:cNvPr>
          <p:cNvCxnSpPr>
            <a:stCxn xmlns:a="http://schemas.openxmlformats.org/drawingml/2006/main" id="26" idx="3"/>
            <a:endCxn xmlns:a="http://schemas.openxmlformats.org/drawingml/2006/main" id="28" idx="1"/>
          </p:cNvCxnSpPr>
          <p:nvPr/>
        </p:nvCxnSpPr>
        <p:spPr>
          <a:xfrm xmlns:a="http://schemas.openxmlformats.org/drawingml/2006/main">
            <a:off x="8858250" y="3686175"/>
            <a:ext cx="904875" cy="9525"/>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CF532EE5-A767-4BB1-8CE7-D7D703AF0215}"/>
              </a:ext>
            </a:extLst>
          </p:cNvPr>
          <p:cNvCxnSpPr>
            <a:stCxn xmlns:a="http://schemas.openxmlformats.org/drawingml/2006/main" id="24" idx="3"/>
            <a:endCxn xmlns:a="http://schemas.openxmlformats.org/drawingml/2006/main" id="26" idx="1"/>
          </p:cNvCxnSpPr>
          <p:nvPr/>
        </p:nvCxnSpPr>
        <p:spPr>
          <a:xfrm xmlns:a="http://schemas.openxmlformats.org/drawingml/2006/main" flipV="1">
            <a:off x="5095875" y="3686175"/>
            <a:ext cx="1285875" cy="28575"/>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cxnSp>
        <p:nvCxnSpPr>
          <p:cNvPr id="32" name="">
            <a:extLst xmlns:a="http://schemas.openxmlformats.org/drawingml/2006/main">
              <a:ext uri="{FF2B5EF4-FFF2-40B4-BE49-F238E27FC236}">
                <a16:creationId xmlns:a16="http://schemas.microsoft.com/office/drawing/2014/main" id="{53E04167-8A36-4C33-92A3-22467F6D7F80}"/>
              </a:ext>
            </a:extLst>
          </p:cNvPr>
          <p:cNvCxnSpPr>
            <a:stCxn xmlns:a="http://schemas.openxmlformats.org/drawingml/2006/main" id="22" idx="2"/>
            <a:endCxn xmlns:a="http://schemas.openxmlformats.org/drawingml/2006/main" id="24" idx="0"/>
          </p:cNvCxnSpPr>
          <p:nvPr/>
        </p:nvCxnSpPr>
        <p:spPr>
          <a:xfrm xmlns:a="http://schemas.openxmlformats.org/drawingml/2006/main">
            <a:off x="2928938" y="2400300"/>
            <a:ext cx="0" cy="838200"/>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sp>
        <p:nvSpPr>
          <p:cNvPr id="21" name="">
            <a:extLst xmlns:a="http://schemas.openxmlformats.org/drawingml/2006/main">
              <a:ext uri="{FF2B5EF4-FFF2-40B4-BE49-F238E27FC236}">
                <a16:creationId xmlns:a16="http://schemas.microsoft.com/office/drawing/2014/main" id="{B9DA221D-4536-42CD-81F6-226C7AD47A6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Додавання обмежень: блок-схема</a:t>
            </a:r>
          </a:p>
        </p:txBody>
      </p:sp>
      <p:sp>
        <p:nvSpPr>
          <p:cNvPr id="2" name="">
            <a:extLst xmlns:a="http://schemas.openxmlformats.org/drawingml/2006/main">
              <a:ext uri="{FF2B5EF4-FFF2-40B4-BE49-F238E27FC236}">
                <a16:creationId xmlns:a16="http://schemas.microsoft.com/office/drawing/2014/main" id="{0B85384F-AA5F-4D98-A6FB-BD9E9BB1FC2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Навчальний крок повторно розв’язує уточнену MILP-модель.</a:t>
            </a:r>
          </a:p>
        </p:txBody>
      </p:sp>
      <p:sp>
        <p:nvSpPr>
          <p:cNvPr id="3" name="">
            <a:extLst xmlns:a="http://schemas.openxmlformats.org/drawingml/2006/main">
              <a:ext uri="{FF2B5EF4-FFF2-40B4-BE49-F238E27FC236}">
                <a16:creationId xmlns:a16="http://schemas.microsoft.com/office/drawing/2014/main" id="{1C0F9F55-0A9C-4A55-8456-C614E776CE9F}"/>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67</a:t>
            </a:r>
          </a:p>
        </p:txBody>
      </p:sp>
      <p:sp>
        <p:nvSpPr>
          <p:cNvPr id="22" name="">
            <a:extLst xmlns:a="http://schemas.openxmlformats.org/drawingml/2006/main">
              <a:ext uri="{FF2B5EF4-FFF2-40B4-BE49-F238E27FC236}">
                <a16:creationId xmlns:a16="http://schemas.microsoft.com/office/drawing/2014/main" id="{AF253518-A2A8-4F95-887E-056B9BC5455A}"/>
              </a:ext>
            </a:extLst>
          </p:cNvPr>
          <p:cNvSpPr>
            <a:spLocks xmlns:a="http://schemas.openxmlformats.org/drawingml/2006/main" noGrp="1"/>
          </p:cNvSpPr>
          <p:nvPr/>
        </p:nvSpPr>
        <p:spPr>
          <a:xfrm xmlns:a="http://schemas.openxmlformats.org/drawingml/2006/main">
            <a:off x="762000" y="1447800"/>
            <a:ext cx="4333875" cy="95250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23" name="">
            <a:extLst xmlns:a="http://schemas.openxmlformats.org/drawingml/2006/main">
              <a:ext uri="{FF2B5EF4-FFF2-40B4-BE49-F238E27FC236}">
                <a16:creationId xmlns:a16="http://schemas.microsoft.com/office/drawing/2014/main" id="{DA3BD807-D8BF-4BC2-BCC3-8CF900ACC5E9}"/>
              </a:ext>
            </a:extLst>
          </p:cNvPr>
          <p:cNvSpPr>
            <a:spLocks xmlns:a="http://schemas.openxmlformats.org/drawingml/2006/main" noGrp="1"/>
          </p:cNvSpPr>
          <p:nvPr/>
        </p:nvSpPr>
        <p:spPr>
          <a:xfrm xmlns:a="http://schemas.openxmlformats.org/drawingml/2006/main">
            <a:off x="914400" y="1524000"/>
            <a:ext cx="4029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Модель входів і виходів</a:t>
            </a:r>
          </a:p>
        </p:txBody>
      </p:sp>
      <p:sp>
        <p:nvSpPr>
          <p:cNvPr id="24" name="">
            <a:extLst xmlns:a="http://schemas.openxmlformats.org/drawingml/2006/main">
              <a:ext uri="{FF2B5EF4-FFF2-40B4-BE49-F238E27FC236}">
                <a16:creationId xmlns:a16="http://schemas.microsoft.com/office/drawing/2014/main" id="{FD1E9C04-9647-4594-847F-38054640B518}"/>
              </a:ext>
            </a:extLst>
          </p:cNvPr>
          <p:cNvSpPr>
            <a:spLocks xmlns:a="http://schemas.openxmlformats.org/drawingml/2006/main" noGrp="1"/>
          </p:cNvSpPr>
          <p:nvPr/>
        </p:nvSpPr>
        <p:spPr>
          <a:xfrm xmlns:a="http://schemas.openxmlformats.org/drawingml/2006/main">
            <a:off x="762000" y="3238500"/>
            <a:ext cx="4333875" cy="952500"/>
          </a:xfrm>
          <a:prstGeom xmlns:a="http://schemas.openxmlformats.org/drawingml/2006/main" prst="rect">
            <a:avLst/>
          </a:prstGeom>
          <a:solidFill xmlns:a="http://schemas.openxmlformats.org/drawingml/2006/main">
            <a:srgbClr val="F1F5F8"/>
          </a:solidFill>
          <a:ln xmlns:a="http://schemas.openxmlformats.org/drawingml/2006/main" w="19050">
            <a:solidFill>
              <a:srgbClr val="CDD8E1"/>
            </a:solidFill>
          </a:ln>
        </p:spPr>
      </p:sp>
      <p:sp>
        <p:nvSpPr>
          <p:cNvPr id="25" name="">
            <a:extLst xmlns:a="http://schemas.openxmlformats.org/drawingml/2006/main">
              <a:ext uri="{FF2B5EF4-FFF2-40B4-BE49-F238E27FC236}">
                <a16:creationId xmlns:a16="http://schemas.microsoft.com/office/drawing/2014/main" id="{B4751DD9-E32B-4F81-87C5-15E9834539EB}"/>
              </a:ext>
            </a:extLst>
          </p:cNvPr>
          <p:cNvSpPr>
            <a:spLocks xmlns:a="http://schemas.openxmlformats.org/drawingml/2006/main" noGrp="1"/>
          </p:cNvSpPr>
          <p:nvPr/>
        </p:nvSpPr>
        <p:spPr>
          <a:xfrm xmlns:a="http://schemas.openxmlformats.org/drawingml/2006/main">
            <a:off x="914400" y="3314700"/>
            <a:ext cx="4029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buNone/>
              <a:defRPr sz="2250" b="1">
                <a:solidFill>
                  <a:srgbClr val="173047"/>
                </a:solidFill>
                <a:latin typeface="Arial"/>
                <a:ea typeface="Arial"/>
                <a:cs typeface="Arial"/>
              </a:defRPr>
            </a:pPr>
            <a:r>
              <a:rPr sz="2250" b="1">
                <a:solidFill>
                  <a:srgbClr val="173047"/>
                </a:solidFill>
                <a:latin typeface="Arial"/>
                <a:ea typeface="Arial"/>
                <a:cs typeface="Arial"/>
              </a:rPr>
              <a:t>Розв’язання MILP</a:t>
            </a:r>
          </a:p>
        </p:txBody>
      </p:sp>
      <p:sp>
        <p:nvSpPr>
          <p:cNvPr id="26" name="">
            <a:extLst xmlns:a="http://schemas.openxmlformats.org/drawingml/2006/main">
              <a:ext uri="{FF2B5EF4-FFF2-40B4-BE49-F238E27FC236}">
                <a16:creationId xmlns:a16="http://schemas.microsoft.com/office/drawing/2014/main" id="{33E04CBE-714F-4796-A93B-F66637FBF382}"/>
              </a:ext>
            </a:extLst>
          </p:cNvPr>
          <p:cNvSpPr>
            <a:spLocks xmlns:a="http://schemas.openxmlformats.org/drawingml/2006/main" noGrp="1"/>
          </p:cNvSpPr>
          <p:nvPr/>
        </p:nvSpPr>
        <p:spPr>
          <a:xfrm xmlns:a="http://schemas.openxmlformats.org/drawingml/2006/main">
            <a:off x="6381750" y="2924175"/>
            <a:ext cx="2476500" cy="1524000"/>
          </a:xfrm>
          <a:prstGeom xmlns:a="http://schemas.openxmlformats.org/drawingml/2006/main" prst="diamond">
            <a:avLst/>
          </a:prstGeom>
          <a:solidFill xmlns:a="http://schemas.openxmlformats.org/drawingml/2006/main">
            <a:srgbClr val="DDF3EC"/>
          </a:solidFill>
          <a:ln xmlns:a="http://schemas.openxmlformats.org/drawingml/2006/main" w="19050">
            <a:solidFill>
              <a:srgbClr val="CDD8E1"/>
            </a:solidFill>
          </a:ln>
        </p:spPr>
      </p:sp>
      <p:sp>
        <p:nvSpPr>
          <p:cNvPr id="27" name="">
            <a:extLst xmlns:a="http://schemas.openxmlformats.org/drawingml/2006/main">
              <a:ext uri="{FF2B5EF4-FFF2-40B4-BE49-F238E27FC236}">
                <a16:creationId xmlns:a16="http://schemas.microsoft.com/office/drawing/2014/main" id="{702111F1-AD1D-458B-B576-879007A51873}"/>
              </a:ext>
            </a:extLst>
          </p:cNvPr>
          <p:cNvSpPr>
            <a:spLocks xmlns:a="http://schemas.openxmlformats.org/drawingml/2006/main" noGrp="1"/>
          </p:cNvSpPr>
          <p:nvPr/>
        </p:nvSpPr>
        <p:spPr>
          <a:xfrm xmlns:a="http://schemas.openxmlformats.org/drawingml/2006/main">
            <a:off x="6534150" y="3000375"/>
            <a:ext cx="21717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73047"/>
                </a:solidFill>
                <a:latin typeface="Arial"/>
                <a:ea typeface="Arial"/>
                <a:cs typeface="Arial"/>
              </a:defRPr>
            </a:defPPr>
          </a:lstStyle>
          <a:p xmlns:a="http://schemas.openxmlformats.org/drawingml/2006/main">
            <a:pPr algn="ctr">
              <a:buNone/>
              <a:defRPr sz="2175" b="1">
                <a:solidFill>
                  <a:srgbClr val="173047"/>
                </a:solidFill>
                <a:latin typeface="Arial"/>
                <a:ea typeface="Arial"/>
                <a:cs typeface="Arial"/>
              </a:defRPr>
            </a:pPr>
            <a:r>
              <a:rPr sz="2175" b="1">
                <a:solidFill>
                  <a:srgbClr val="173047"/>
                </a:solidFill>
                <a:latin typeface="Arial"/>
                <a:ea typeface="Arial"/>
                <a:cs typeface="Arial"/>
              </a:rPr>
              <a:t>Один цикл?</a:t>
            </a:r>
          </a:p>
        </p:txBody>
      </p:sp>
      <p:sp>
        <p:nvSpPr>
          <p:cNvPr id="28" name="">
            <a:extLst xmlns:a="http://schemas.openxmlformats.org/drawingml/2006/main">
              <a:ext uri="{FF2B5EF4-FFF2-40B4-BE49-F238E27FC236}">
                <a16:creationId xmlns:a16="http://schemas.microsoft.com/office/drawing/2014/main" id="{FF42D780-6510-445A-BA31-F5412BCD6BFE}"/>
              </a:ext>
            </a:extLst>
          </p:cNvPr>
          <p:cNvSpPr>
            <a:spLocks xmlns:a="http://schemas.openxmlformats.org/drawingml/2006/main" noGrp="1"/>
          </p:cNvSpPr>
          <p:nvPr/>
        </p:nvSpPr>
        <p:spPr>
          <a:xfrm xmlns:a="http://schemas.openxmlformats.org/drawingml/2006/main">
            <a:off x="9763125" y="3048000"/>
            <a:ext cx="1762125" cy="1295400"/>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29" name="">
            <a:extLst xmlns:a="http://schemas.openxmlformats.org/drawingml/2006/main">
              <a:ext uri="{FF2B5EF4-FFF2-40B4-BE49-F238E27FC236}">
                <a16:creationId xmlns:a16="http://schemas.microsoft.com/office/drawing/2014/main" id="{D74B96FB-5FD2-4AC2-BFA0-8D3B030A2BA7}"/>
              </a:ext>
            </a:extLst>
          </p:cNvPr>
          <p:cNvSpPr>
            <a:spLocks xmlns:a="http://schemas.openxmlformats.org/drawingml/2006/main" noGrp="1"/>
          </p:cNvSpPr>
          <p:nvPr/>
        </p:nvSpPr>
        <p:spPr>
          <a:xfrm xmlns:a="http://schemas.openxmlformats.org/drawingml/2006/main">
            <a:off x="9915525" y="3124200"/>
            <a:ext cx="14573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047"/>
                </a:solidFill>
                <a:latin typeface="Arial"/>
                <a:ea typeface="Arial"/>
                <a:cs typeface="Arial"/>
              </a:defRPr>
            </a:defPPr>
          </a:lstStyle>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Перевірка</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маршруту</a:t>
            </a:r>
          </a:p>
        </p:txBody>
      </p:sp>
      <p:sp>
        <p:nvSpPr>
          <p:cNvPr id="30" name="">
            <a:extLst xmlns:a="http://schemas.openxmlformats.org/drawingml/2006/main">
              <a:ext uri="{FF2B5EF4-FFF2-40B4-BE49-F238E27FC236}">
                <a16:creationId xmlns:a16="http://schemas.microsoft.com/office/drawing/2014/main" id="{ABD4E0B9-9F4C-4D51-9C7A-8C53A1A58329}"/>
              </a:ext>
            </a:extLst>
          </p:cNvPr>
          <p:cNvSpPr>
            <a:spLocks xmlns:a="http://schemas.openxmlformats.org/drawingml/2006/main" noGrp="1"/>
          </p:cNvSpPr>
          <p:nvPr/>
        </p:nvSpPr>
        <p:spPr>
          <a:xfrm xmlns:a="http://schemas.openxmlformats.org/drawingml/2006/main">
            <a:off x="6143625" y="4962525"/>
            <a:ext cx="4667250" cy="838200"/>
          </a:xfrm>
          <a:prstGeom xmlns:a="http://schemas.openxmlformats.org/drawingml/2006/main" prst="rect">
            <a:avLst/>
          </a:prstGeom>
          <a:solidFill xmlns:a="http://schemas.openxmlformats.org/drawingml/2006/main">
            <a:srgbClr val="F1F5F8"/>
          </a:solidFill>
          <a:ln xmlns:a="http://schemas.openxmlformats.org/drawingml/2006/main" w="19050">
            <a:solidFill>
              <a:srgbClr val="CDD8E1"/>
            </a:solidFill>
          </a:ln>
        </p:spPr>
      </p:sp>
      <p:sp>
        <p:nvSpPr>
          <p:cNvPr id="31" name="">
            <a:extLst xmlns:a="http://schemas.openxmlformats.org/drawingml/2006/main">
              <a:ext uri="{FF2B5EF4-FFF2-40B4-BE49-F238E27FC236}">
                <a16:creationId xmlns:a16="http://schemas.microsoft.com/office/drawing/2014/main" id="{77211E3D-3C93-4E04-A2B6-D80BD2C21A2B}"/>
              </a:ext>
            </a:extLst>
          </p:cNvPr>
          <p:cNvSpPr>
            <a:spLocks xmlns:a="http://schemas.openxmlformats.org/drawingml/2006/main" noGrp="1"/>
          </p:cNvSpPr>
          <p:nvPr/>
        </p:nvSpPr>
        <p:spPr>
          <a:xfrm xmlns:a="http://schemas.openxmlformats.org/drawingml/2006/main">
            <a:off x="6296025" y="5038725"/>
            <a:ext cx="4362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047"/>
                </a:solidFill>
                <a:latin typeface="Arial"/>
                <a:ea typeface="Arial"/>
                <a:cs typeface="Arial"/>
              </a:defRPr>
            </a:defPPr>
          </a:lstStyle>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Умова для підциклу</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Дуги всередині ≤ вузли − 1</a:t>
            </a:r>
          </a:p>
        </p:txBody>
      </p:sp>
      <p:sp>
        <p:nvSpPr>
          <p:cNvPr id="37" name="">
            <a:extLst xmlns:a="http://schemas.openxmlformats.org/drawingml/2006/main">
              <a:ext uri="{FF2B5EF4-FFF2-40B4-BE49-F238E27FC236}">
                <a16:creationId xmlns:a16="http://schemas.microsoft.com/office/drawing/2014/main" id="{20012681-02BA-41BA-AB61-7BB673D43B9E}"/>
              </a:ext>
            </a:extLst>
          </p:cNvPr>
          <p:cNvSpPr>
            <a:spLocks xmlns:a="http://schemas.openxmlformats.org/drawingml/2006/main" noGrp="1"/>
          </p:cNvSpPr>
          <p:nvPr/>
        </p:nvSpPr>
        <p:spPr>
          <a:xfrm xmlns:a="http://schemas.openxmlformats.org/drawingml/2006/main">
            <a:off x="9001125" y="3295650"/>
            <a:ext cx="752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857D"/>
                </a:solidFill>
                <a:latin typeface="Arial"/>
                <a:ea typeface="Arial"/>
                <a:cs typeface="Arial"/>
              </a:defRPr>
            </a:defPPr>
          </a:lstStyle>
          <a:p xmlns:a="http://schemas.openxmlformats.org/drawingml/2006/main">
            <a:pPr algn="l">
              <a:buNone/>
              <a:defRPr sz="2025" b="1">
                <a:solidFill>
                  <a:srgbClr val="00857D"/>
                </a:solidFill>
                <a:latin typeface="Arial"/>
                <a:ea typeface="Arial"/>
                <a:cs typeface="Arial"/>
              </a:defRPr>
            </a:pPr>
            <a:r>
              <a:rPr sz="2025" b="1">
                <a:solidFill>
                  <a:srgbClr val="00857D"/>
                </a:solidFill>
                <a:latin typeface="Arial"/>
                <a:ea typeface="Arial"/>
                <a:cs typeface="Arial"/>
              </a:rPr>
              <a:t>Так</a:t>
            </a:r>
          </a:p>
        </p:txBody>
      </p:sp>
      <p:sp>
        <p:nvSpPr>
          <p:cNvPr id="38" name="">
            <a:extLst xmlns:a="http://schemas.openxmlformats.org/drawingml/2006/main">
              <a:ext uri="{FF2B5EF4-FFF2-40B4-BE49-F238E27FC236}">
                <a16:creationId xmlns:a16="http://schemas.microsoft.com/office/drawing/2014/main" id="{92B54A6F-CC2D-40C5-9DB1-F271796285F5}"/>
              </a:ext>
            </a:extLst>
          </p:cNvPr>
          <p:cNvSpPr>
            <a:spLocks xmlns:a="http://schemas.openxmlformats.org/drawingml/2006/main" noGrp="1"/>
          </p:cNvSpPr>
          <p:nvPr/>
        </p:nvSpPr>
        <p:spPr>
          <a:xfrm xmlns:a="http://schemas.openxmlformats.org/drawingml/2006/main">
            <a:off x="6858000" y="4514850"/>
            <a:ext cx="6477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B64436"/>
                </a:solidFill>
                <a:latin typeface="Arial"/>
                <a:ea typeface="Arial"/>
                <a:cs typeface="Arial"/>
              </a:defRPr>
            </a:defPPr>
          </a:lstStyle>
          <a:p xmlns:a="http://schemas.openxmlformats.org/drawingml/2006/main">
            <a:pPr algn="l">
              <a:buNone/>
              <a:defRPr sz="2025" b="1">
                <a:solidFill>
                  <a:srgbClr val="B64436"/>
                </a:solidFill>
                <a:latin typeface="Arial"/>
                <a:ea typeface="Arial"/>
                <a:cs typeface="Arial"/>
              </a:defRPr>
            </a:pPr>
            <a:r>
              <a:rPr sz="2025" b="1">
                <a:solidFill>
                  <a:srgbClr val="B64436"/>
                </a:solidFill>
                <a:latin typeface="Arial"/>
                <a:ea typeface="Arial"/>
                <a:cs typeface="Arial"/>
              </a:rPr>
              <a:t>Ні</a:t>
            </a:r>
          </a:p>
        </p:txBody>
      </p:sp>
    </p:spTree>
    <p:extLst>
      <p:ext uri="{BB962C8B-B14F-4D97-AF65-F5344CB8AC3E}">
        <p14:creationId xmlns:p14="http://schemas.microsoft.com/office/powerpoint/2010/main" val="92084983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C43D0E-DA05-47BF-B06F-2574FA7AEBA9}"/>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Чотири кроки уточнення TSP-моделі</a:t>
            </a:r>
          </a:p>
        </p:txBody>
      </p:sp>
      <p:sp>
        <p:nvSpPr>
          <p:cNvPr id="2" name="">
            <a:extLst xmlns:a="http://schemas.openxmlformats.org/drawingml/2006/main">
              <a:ext uri="{FF2B5EF4-FFF2-40B4-BE49-F238E27FC236}">
                <a16:creationId xmlns:a16="http://schemas.microsoft.com/office/drawing/2014/main" id="{5A336E27-3C62-47A2-AD4D-330759DAB50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Оцінки зростають, коли прибираємо помилкові підцикли.</a:t>
            </a:r>
          </a:p>
        </p:txBody>
      </p:sp>
      <p:sp>
        <p:nvSpPr>
          <p:cNvPr id="3" name="">
            <a:extLst xmlns:a="http://schemas.openxmlformats.org/drawingml/2006/main">
              <a:ext uri="{FF2B5EF4-FFF2-40B4-BE49-F238E27FC236}">
                <a16:creationId xmlns:a16="http://schemas.microsoft.com/office/drawing/2014/main" id="{3C48A7E8-BC34-46CC-A112-5D7B827B5BE3}"/>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68</a:t>
            </a:r>
          </a:p>
        </p:txBody>
      </p:sp>
      <p:graphicFrame>
        <p:nvGraphicFramePr>
          <p:cNvPr id="4" name="">
            <a:extLst xmlns:a="http://schemas.openxmlformats.org/drawingml/2006/main">
              <a:ext uri="{FF2B5EF4-FFF2-40B4-BE49-F238E27FC236}">
                <a16:creationId xmlns:a16="http://schemas.microsoft.com/office/drawing/2014/main" id="{A46A3F85-FEB3-44B0-9560-D554CA57E1ED}"/>
              </a:ext>
            </a:extLst>
          </p:cNvPr>
          <p:cNvGraphicFramePr/>
          <p:nvPr/>
        </p:nvGraphicFramePr>
        <p:xfrm>
          <a:off xmlns:a="http://schemas.openxmlformats.org/drawingml/2006/main" x="762000" y="1514475"/>
          <a:ext xmlns:a="http://schemas.openxmlformats.org/drawingml/2006/main" cx="10668000" cy="4000500"/>
        </p:xfrm>
        <a:graphic xmlns:a="http://schemas.openxmlformats.org/drawingml/2006/main">
          <a:graphicData uri="http://schemas.openxmlformats.org/drawingml/2006/table">
            <a:tbl>
              <a:tblPr/>
              <a:tblGrid>
                <a:gridCol w="1047750"/>
                <a:gridCol w="3619500"/>
                <a:gridCol w="1571625"/>
                <a:gridCol w="4429125"/>
              </a:tblGrid>
              <a:tr h="800100">
                <a:tc>
                  <a:txBody>
                    <a:bodyPr/>
                    <a:lstStyle/>
                    <a:p>
                      <a:r>
                        <a:rPr sz="2175" b="1">
                          <a:solidFill>
                            <a:srgbClr val="FFFFFF"/>
                          </a:solidFill>
                          <a:latin typeface="Arial"/>
                          <a:ea typeface="Arial"/>
                          <a:cs typeface="Arial"/>
                        </a:rPr>
                        <a:t>Крок</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План</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Оцінка</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Далі</a:t>
                      </a:r>
                    </a:p>
                  </a:txBody>
                  <a:tcPr marL="114300" marR="114300" marT="66675" marB="66675" anchor="ctr">
                    <a:solidFill>
                      <a:srgbClr val="173047"/>
                    </a:solidFill>
                  </a:tcPr>
                </a:tc>
              </a:tr>
              <a:tr h="800100">
                <a:tc>
                  <a:txBody>
                    <a:bodyPr/>
                    <a:lstStyle/>
                    <a:p>
                      <a:r>
                        <a:rPr sz="2175">
                          <a:solidFill>
                            <a:srgbClr val="173047"/>
                          </a:solidFill>
                          <a:latin typeface="Arial"/>
                          <a:ea typeface="Arial"/>
                          <a:cs typeface="Arial"/>
                        </a:rPr>
                        <a:t>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SA / BC / DE</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Заборонити цикл SA</a:t>
                      </a:r>
                    </a:p>
                  </a:txBody>
                  <a:tcPr marL="114300" marR="114300" marT="66675" marB="66675" anchor="ctr">
                    <a:solidFill>
                      <a:srgbClr val="FFFFFF"/>
                    </a:solidFill>
                  </a:tcPr>
                </a:tc>
              </a:tr>
              <a:tr h="800100">
                <a:tc>
                  <a:txBody>
                    <a:bodyPr/>
                    <a:lstStyle/>
                    <a:p>
                      <a:r>
                        <a:rPr sz="2175">
                          <a:solidFill>
                            <a:srgbClr val="173047"/>
                          </a:solidFill>
                          <a:latin typeface="Arial"/>
                          <a:ea typeface="Arial"/>
                          <a:cs typeface="Arial"/>
                        </a:rPr>
                        <a:t>1</a:t>
                      </a:r>
                    </a:p>
                  </a:txBody>
                  <a:tcPr marL="114300" marR="114300" marT="66675" marB="66675" anchor="ctr">
                    <a:solidFill>
                      <a:srgbClr val="F1F5F8"/>
                    </a:solidFill>
                  </a:tcPr>
                </a:tc>
                <a:tc>
                  <a:txBody>
                    <a:bodyPr/>
                    <a:lstStyle/>
                    <a:p>
                      <a:r>
                        <a:rPr sz="2175">
                          <a:solidFill>
                            <a:srgbClr val="173047"/>
                          </a:solidFill>
                          <a:latin typeface="Arial"/>
                          <a:ea typeface="Arial"/>
                          <a:cs typeface="Arial"/>
                        </a:rPr>
                        <a:t>SADE / BC</a:t>
                      </a:r>
                    </a:p>
                  </a:txBody>
                  <a:tcPr marL="114300" marR="114300" marT="66675" marB="66675" anchor="ctr">
                    <a:solidFill>
                      <a:srgbClr val="F1F5F8"/>
                    </a:solidFill>
                  </a:tcPr>
                </a:tc>
                <a:tc>
                  <a:txBody>
                    <a:bodyPr/>
                    <a:lstStyle/>
                    <a:p>
                      <a:r>
                        <a:rPr sz="2175">
                          <a:solidFill>
                            <a:srgbClr val="173047"/>
                          </a:solidFill>
                          <a:latin typeface="Arial"/>
                          <a:ea typeface="Arial"/>
                          <a:cs typeface="Arial"/>
                        </a:rPr>
                        <a:t>30</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Заборонити цикл SADE</a:t>
                      </a:r>
                    </a:p>
                  </a:txBody>
                  <a:tcPr marL="114300" marR="114300" marT="66675" marB="66675" anchor="ctr">
                    <a:solidFill>
                      <a:srgbClr val="F1F5F8"/>
                    </a:solidFill>
                  </a:tcPr>
                </a:tc>
              </a:tr>
              <a:tr h="800100">
                <a:tc>
                  <a:txBody>
                    <a:bodyPr/>
                    <a:lstStyle/>
                    <a:p>
                      <a:r>
                        <a:rPr sz="2175">
                          <a:solidFill>
                            <a:srgbClr val="173047"/>
                          </a:solidFill>
                          <a:latin typeface="Arial"/>
                          <a:ea typeface="Arial"/>
                          <a:cs typeface="Arial"/>
                        </a:rPr>
                        <a:t>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SABC / DE</a:t>
                      </a:r>
                    </a:p>
                  </a:txBody>
                  <a:tcPr marL="114300" marR="114300" marT="66675" marB="66675" anchor="ctr">
                    <a:solidFill>
                      <a:srgbClr val="FFFFFF"/>
                    </a:solidFill>
                  </a:tcPr>
                </a:tc>
                <a:tc>
                  <a:txBody>
                    <a:bodyPr/>
                    <a:lstStyle/>
                    <a:p>
                      <a:r>
                        <a:rPr sz="2175">
                          <a:solidFill>
                            <a:srgbClr val="173047"/>
                          </a:solidFill>
                          <a:latin typeface="Arial"/>
                          <a:ea typeface="Arial"/>
                          <a:cs typeface="Arial"/>
                        </a:rPr>
                        <a:t>34</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Заборонити цикл SABC</a:t>
                      </a:r>
                    </a:p>
                  </a:txBody>
                  <a:tcPr marL="114300" marR="114300" marT="66675" marB="66675" anchor="ctr">
                    <a:solidFill>
                      <a:srgbClr val="FFFFFF"/>
                    </a:solidFill>
                  </a:tcPr>
                </a:tc>
              </a:tr>
              <a:tr h="800100">
                <a:tc>
                  <a:txBody>
                    <a:bodyPr/>
                    <a:lstStyle/>
                    <a:p>
                      <a:r>
                        <a:rPr sz="2175" b="1">
                          <a:solidFill>
                            <a:srgbClr val="173047"/>
                          </a:solidFill>
                          <a:latin typeface="Arial"/>
                          <a:ea typeface="Arial"/>
                          <a:cs typeface="Arial"/>
                        </a:rPr>
                        <a:t>3</a:t>
                      </a:r>
                    </a:p>
                  </a:txBody>
                  <a:tcPr marL="114300" marR="114300" marT="66675" marB="66675" anchor="ctr">
                    <a:solidFill>
                      <a:srgbClr val="DDF3EC"/>
                    </a:solidFill>
                  </a:tcPr>
                </a:tc>
                <a:tc>
                  <a:txBody>
                    <a:bodyPr/>
                    <a:lstStyle/>
                    <a:p>
                      <a:r>
                        <a:rPr sz="2175" b="1">
                          <a:solidFill>
                            <a:srgbClr val="173047"/>
                          </a:solidFill>
                          <a:latin typeface="Arial"/>
                          <a:ea typeface="Arial"/>
                          <a:cs typeface="Arial"/>
                        </a:rPr>
                        <a:t>SAEDBC</a:t>
                      </a:r>
                    </a:p>
                  </a:txBody>
                  <a:tcPr marL="114300" marR="114300" marT="66675" marB="66675" anchor="ctr">
                    <a:solidFill>
                      <a:srgbClr val="DDF3EC"/>
                    </a:solidFill>
                  </a:tcPr>
                </a:tc>
                <a:tc>
                  <a:txBody>
                    <a:bodyPr/>
                    <a:lstStyle/>
                    <a:p>
                      <a:r>
                        <a:rPr sz="2175" b="1">
                          <a:solidFill>
                            <a:srgbClr val="173047"/>
                          </a:solidFill>
                          <a:latin typeface="Arial"/>
                          <a:ea typeface="Arial"/>
                          <a:cs typeface="Arial"/>
                        </a:rPr>
                        <a:t>36</a:t>
                      </a:r>
                    </a:p>
                  </a:txBody>
                  <a:tcPr marL="114300" marR="114300" marT="66675" marB="66675" anchor="ctr">
                    <a:solidFill>
                      <a:srgbClr val="DDF3EC"/>
                    </a:solidFill>
                  </a:tcPr>
                </a:tc>
                <a:tc>
                  <a:txBody>
                    <a:bodyPr/>
                    <a:lstStyle/>
                    <a:p>
                      <a:r>
                        <a:rPr sz="2175" b="1">
                          <a:solidFill>
                            <a:srgbClr val="173047"/>
                          </a:solidFill>
                          <a:latin typeface="Arial"/>
                          <a:ea typeface="Arial"/>
                          <a:cs typeface="Arial"/>
                        </a:rPr>
                        <a:t>Один маршрут</a:t>
                      </a:r>
                    </a:p>
                  </a:txBody>
                  <a:tcPr marL="114300" marR="114300" marT="66675" marB="66675" anchor="ctr">
                    <a:solidFill>
                      <a:srgbClr val="DDF3EC"/>
                    </a:solidFill>
                  </a:tcPr>
                </a:tc>
              </a:tr>
            </a:tbl>
          </a:graphicData>
        </a:graphic>
      </p:graphicFrame>
    </p:spTree>
    <p:extLst>
      <p:ext uri="{BB962C8B-B14F-4D97-AF65-F5344CB8AC3E}">
        <p14:creationId xmlns:p14="http://schemas.microsoft.com/office/powerpoint/2010/main" val="114673451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9" name="">
            <a:extLst xmlns:a="http://schemas.openxmlformats.org/drawingml/2006/main">
              <a:ext uri="{FF2B5EF4-FFF2-40B4-BE49-F238E27FC236}">
                <a16:creationId xmlns:a16="http://schemas.microsoft.com/office/drawing/2014/main" id="{A1CFE112-7503-4EA1-A614-10429E634624}"/>
              </a:ext>
            </a:extLst>
          </p:cNvPr>
          <p:cNvCxnSpPr>
            <a:stCxn xmlns:a="http://schemas.openxmlformats.org/drawingml/2006/main" id="33" idx="2"/>
            <a:endCxn xmlns:a="http://schemas.openxmlformats.org/drawingml/2006/main" id="35" idx="6"/>
          </p:cNvCxnSpPr>
          <p:nvPr/>
        </p:nvCxnSpPr>
        <p:spPr>
          <a:xfrm xmlns:a="http://schemas.openxmlformats.org/drawingml/2006/main" flipH="1">
            <a:off x="4686300" y="4619625"/>
            <a:ext cx="3009900" cy="0"/>
          </a:xfrm>
          <a:prstGeom xmlns:a="http://schemas.openxmlformats.org/drawingml/2006/main" prst="straightConnector1">
            <a:avLst/>
          </a:prstGeom>
          <a:ln xmlns:a="http://schemas.openxmlformats.org/drawingml/2006/main" w="38100">
            <a:solidFill>
              <a:srgbClr val="B64436"/>
            </a:solidFill>
            <a:prstDash val="solid"/>
            <a:headEnd type="triangle" w="med" len="med"/>
            <a:tailEnd type="triangle" w="med" len="med"/>
          </a:ln>
        </p:spPr>
      </p:cxnSp>
      <p:cxnSp>
        <p:nvCxnSpPr>
          <p:cNvPr id="47" name="">
            <a:extLst xmlns:a="http://schemas.openxmlformats.org/drawingml/2006/main">
              <a:ext uri="{FF2B5EF4-FFF2-40B4-BE49-F238E27FC236}">
                <a16:creationId xmlns:a16="http://schemas.microsoft.com/office/drawing/2014/main" id="{DC620C34-760D-40FE-AB6B-726CF632E556}"/>
              </a:ext>
            </a:extLst>
          </p:cNvPr>
          <p:cNvCxnSpPr>
            <a:stCxn xmlns:a="http://schemas.openxmlformats.org/drawingml/2006/main" id="39" idx="2"/>
            <a:endCxn xmlns:a="http://schemas.openxmlformats.org/drawingml/2006/main" id="29" idx="6"/>
          </p:cNvCxnSpPr>
          <p:nvPr/>
        </p:nvCxnSpPr>
        <p:spPr>
          <a:xfrm xmlns:a="http://schemas.openxmlformats.org/drawingml/2006/main" flipH="1">
            <a:off x="2114550" y="2000250"/>
            <a:ext cx="558165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5" name="">
            <a:extLst xmlns:a="http://schemas.openxmlformats.org/drawingml/2006/main">
              <a:ext uri="{FF2B5EF4-FFF2-40B4-BE49-F238E27FC236}">
                <a16:creationId xmlns:a16="http://schemas.microsoft.com/office/drawing/2014/main" id="{FCFB4116-7AEB-42C1-838C-3536801493C3}"/>
              </a:ext>
            </a:extLst>
          </p:cNvPr>
          <p:cNvCxnSpPr>
            <a:stCxn xmlns:a="http://schemas.openxmlformats.org/drawingml/2006/main" id="37" idx="2"/>
            <a:endCxn xmlns:a="http://schemas.openxmlformats.org/drawingml/2006/main" id="39" idx="6"/>
          </p:cNvCxnSpPr>
          <p:nvPr/>
        </p:nvCxnSpPr>
        <p:spPr>
          <a:xfrm xmlns:a="http://schemas.openxmlformats.org/drawingml/2006/main" flipH="1" flipV="1">
            <a:off x="8496300" y="2000250"/>
            <a:ext cx="167640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3" name="">
            <a:extLst xmlns:a="http://schemas.openxmlformats.org/drawingml/2006/main">
              <a:ext uri="{FF2B5EF4-FFF2-40B4-BE49-F238E27FC236}">
                <a16:creationId xmlns:a16="http://schemas.microsoft.com/office/drawing/2014/main" id="{C920A11F-844B-4641-8551-50D821204C9F}"/>
              </a:ext>
            </a:extLst>
          </p:cNvPr>
          <p:cNvCxnSpPr>
            <a:stCxn xmlns:a="http://schemas.openxmlformats.org/drawingml/2006/main" id="31" idx="6"/>
            <a:endCxn xmlns:a="http://schemas.openxmlformats.org/drawingml/2006/main" id="37" idx="2"/>
          </p:cNvCxnSpPr>
          <p:nvPr/>
        </p:nvCxnSpPr>
        <p:spPr>
          <a:xfrm xmlns:a="http://schemas.openxmlformats.org/drawingml/2006/main">
            <a:off x="4686300" y="2000250"/>
            <a:ext cx="548640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1" name="">
            <a:extLst xmlns:a="http://schemas.openxmlformats.org/drawingml/2006/main">
              <a:ext uri="{FF2B5EF4-FFF2-40B4-BE49-F238E27FC236}">
                <a16:creationId xmlns:a16="http://schemas.microsoft.com/office/drawing/2014/main" id="{22508FD8-620C-424D-8510-1FC2E70BD9F1}"/>
              </a:ext>
            </a:extLst>
          </p:cNvPr>
          <p:cNvCxnSpPr>
            <a:stCxn xmlns:a="http://schemas.openxmlformats.org/drawingml/2006/main" id="29" idx="6"/>
            <a:endCxn xmlns:a="http://schemas.openxmlformats.org/drawingml/2006/main" id="31" idx="2"/>
          </p:cNvCxnSpPr>
          <p:nvPr/>
        </p:nvCxnSpPr>
        <p:spPr>
          <a:xfrm xmlns:a="http://schemas.openxmlformats.org/drawingml/2006/main" flipV="1">
            <a:off x="2114550" y="2000250"/>
            <a:ext cx="177165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sp>
        <p:nvSpPr>
          <p:cNvPr id="28" name="">
            <a:extLst xmlns:a="http://schemas.openxmlformats.org/drawingml/2006/main">
              <a:ext uri="{FF2B5EF4-FFF2-40B4-BE49-F238E27FC236}">
                <a16:creationId xmlns:a16="http://schemas.microsoft.com/office/drawing/2014/main" id="{EB044FBC-D681-4038-8EC7-BF3C1BB46D9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Крок 1: одна умова вже змінила план</a:t>
            </a:r>
          </a:p>
        </p:txBody>
      </p:sp>
      <p:sp>
        <p:nvSpPr>
          <p:cNvPr id="2" name="">
            <a:extLst xmlns:a="http://schemas.openxmlformats.org/drawingml/2006/main">
              <a:ext uri="{FF2B5EF4-FFF2-40B4-BE49-F238E27FC236}">
                <a16:creationId xmlns:a16="http://schemas.microsoft.com/office/drawing/2014/main" id="{C49CDF02-31B7-4C5E-8198-7839CF092B4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Для групи {S,A,D,E} дозволяємо не більше трьох внутрішніх дуг.</a:t>
            </a:r>
          </a:p>
        </p:txBody>
      </p:sp>
      <p:sp>
        <p:nvSpPr>
          <p:cNvPr id="3" name="">
            <a:extLst xmlns:a="http://schemas.openxmlformats.org/drawingml/2006/main">
              <a:ext uri="{FF2B5EF4-FFF2-40B4-BE49-F238E27FC236}">
                <a16:creationId xmlns:a16="http://schemas.microsoft.com/office/drawing/2014/main" id="{36FB8877-D6E5-475E-873C-3101DA1F6BC5}"/>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69</a:t>
            </a:r>
          </a:p>
        </p:txBody>
      </p:sp>
      <p:sp>
        <p:nvSpPr>
          <p:cNvPr id="29" name="">
            <a:extLst xmlns:a="http://schemas.openxmlformats.org/drawingml/2006/main">
              <a:ext uri="{FF2B5EF4-FFF2-40B4-BE49-F238E27FC236}">
                <a16:creationId xmlns:a16="http://schemas.microsoft.com/office/drawing/2014/main" id="{8566717E-D79F-4FCE-A2B7-73DF4ABEB069}"/>
              </a:ext>
            </a:extLst>
          </p:cNvPr>
          <p:cNvSpPr>
            <a:spLocks xmlns:a="http://schemas.openxmlformats.org/drawingml/2006/main" noGrp="1"/>
          </p:cNvSpPr>
          <p:nvPr/>
        </p:nvSpPr>
        <p:spPr>
          <a:xfrm xmlns:a="http://schemas.openxmlformats.org/drawingml/2006/main">
            <a:off x="1314450" y="2743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0" name="">
            <a:extLst xmlns:a="http://schemas.openxmlformats.org/drawingml/2006/main">
              <a:ext uri="{FF2B5EF4-FFF2-40B4-BE49-F238E27FC236}">
                <a16:creationId xmlns:a16="http://schemas.microsoft.com/office/drawing/2014/main" id="{CC7730BA-A6E3-4F21-AFBC-3E3342E2D55C}"/>
              </a:ext>
            </a:extLst>
          </p:cNvPr>
          <p:cNvSpPr>
            <a:spLocks xmlns:a="http://schemas.openxmlformats.org/drawingml/2006/main" noGrp="1"/>
          </p:cNvSpPr>
          <p:nvPr/>
        </p:nvSpPr>
        <p:spPr>
          <a:xfrm xmlns:a="http://schemas.openxmlformats.org/drawingml/2006/main">
            <a:off x="135255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S</a:t>
            </a:r>
          </a:p>
        </p:txBody>
      </p:sp>
      <p:sp>
        <p:nvSpPr>
          <p:cNvPr id="31" name="">
            <a:extLst xmlns:a="http://schemas.openxmlformats.org/drawingml/2006/main">
              <a:ext uri="{FF2B5EF4-FFF2-40B4-BE49-F238E27FC236}">
                <a16:creationId xmlns:a16="http://schemas.microsoft.com/office/drawing/2014/main" id="{562EC730-B154-493C-A56B-AE4D9989B3D1}"/>
              </a:ext>
            </a:extLst>
          </p:cNvPr>
          <p:cNvSpPr>
            <a:spLocks xmlns:a="http://schemas.openxmlformats.org/drawingml/2006/main" noGrp="1"/>
          </p:cNvSpPr>
          <p:nvPr/>
        </p:nvSpPr>
        <p:spPr>
          <a:xfrm xmlns:a="http://schemas.openxmlformats.org/drawingml/2006/main">
            <a:off x="3886200" y="1600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2" name="">
            <a:extLst xmlns:a="http://schemas.openxmlformats.org/drawingml/2006/main">
              <a:ext uri="{FF2B5EF4-FFF2-40B4-BE49-F238E27FC236}">
                <a16:creationId xmlns:a16="http://schemas.microsoft.com/office/drawing/2014/main" id="{ADB7E016-1723-4233-BEE0-F9D72DE06A21}"/>
              </a:ext>
            </a:extLst>
          </p:cNvPr>
          <p:cNvSpPr>
            <a:spLocks xmlns:a="http://schemas.openxmlformats.org/drawingml/2006/main" noGrp="1"/>
          </p:cNvSpPr>
          <p:nvPr/>
        </p:nvSpPr>
        <p:spPr>
          <a:xfrm xmlns:a="http://schemas.openxmlformats.org/drawingml/2006/main">
            <a:off x="392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A</a:t>
            </a:r>
          </a:p>
        </p:txBody>
      </p:sp>
      <p:sp>
        <p:nvSpPr>
          <p:cNvPr id="33" name="">
            <a:extLst xmlns:a="http://schemas.openxmlformats.org/drawingml/2006/main">
              <a:ext uri="{FF2B5EF4-FFF2-40B4-BE49-F238E27FC236}">
                <a16:creationId xmlns:a16="http://schemas.microsoft.com/office/drawing/2014/main" id="{F5EEDB75-381F-46F1-AB6C-7661503D7D11}"/>
              </a:ext>
            </a:extLst>
          </p:cNvPr>
          <p:cNvSpPr>
            <a:spLocks xmlns:a="http://schemas.openxmlformats.org/drawingml/2006/main" noGrp="1"/>
          </p:cNvSpPr>
          <p:nvPr/>
        </p:nvSpPr>
        <p:spPr>
          <a:xfrm xmlns:a="http://schemas.openxmlformats.org/drawingml/2006/main">
            <a:off x="7696200" y="4219575"/>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4" name="">
            <a:extLst xmlns:a="http://schemas.openxmlformats.org/drawingml/2006/main">
              <a:ext uri="{FF2B5EF4-FFF2-40B4-BE49-F238E27FC236}">
                <a16:creationId xmlns:a16="http://schemas.microsoft.com/office/drawing/2014/main" id="{F8ABD18D-20B1-45DD-8F1A-0A647AF3E072}"/>
              </a:ext>
            </a:extLst>
          </p:cNvPr>
          <p:cNvSpPr>
            <a:spLocks xmlns:a="http://schemas.openxmlformats.org/drawingml/2006/main" noGrp="1"/>
          </p:cNvSpPr>
          <p:nvPr/>
        </p:nvSpPr>
        <p:spPr>
          <a:xfrm xmlns:a="http://schemas.openxmlformats.org/drawingml/2006/main">
            <a:off x="773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B</a:t>
            </a:r>
          </a:p>
        </p:txBody>
      </p:sp>
      <p:sp>
        <p:nvSpPr>
          <p:cNvPr id="35" name="">
            <a:extLst xmlns:a="http://schemas.openxmlformats.org/drawingml/2006/main">
              <a:ext uri="{FF2B5EF4-FFF2-40B4-BE49-F238E27FC236}">
                <a16:creationId xmlns:a16="http://schemas.microsoft.com/office/drawing/2014/main" id="{424819FE-D424-4438-9162-435ED7EE4A41}"/>
              </a:ext>
            </a:extLst>
          </p:cNvPr>
          <p:cNvSpPr>
            <a:spLocks xmlns:a="http://schemas.openxmlformats.org/drawingml/2006/main" noGrp="1"/>
          </p:cNvSpPr>
          <p:nvPr/>
        </p:nvSpPr>
        <p:spPr>
          <a:xfrm xmlns:a="http://schemas.openxmlformats.org/drawingml/2006/main">
            <a:off x="3886200" y="4219575"/>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6" name="">
            <a:extLst xmlns:a="http://schemas.openxmlformats.org/drawingml/2006/main">
              <a:ext uri="{FF2B5EF4-FFF2-40B4-BE49-F238E27FC236}">
                <a16:creationId xmlns:a16="http://schemas.microsoft.com/office/drawing/2014/main" id="{5AADEC6B-0FE4-41CF-B7E3-8E26F085F3E2}"/>
              </a:ext>
            </a:extLst>
          </p:cNvPr>
          <p:cNvSpPr>
            <a:spLocks xmlns:a="http://schemas.openxmlformats.org/drawingml/2006/main" noGrp="1"/>
          </p:cNvSpPr>
          <p:nvPr/>
        </p:nvSpPr>
        <p:spPr>
          <a:xfrm xmlns:a="http://schemas.openxmlformats.org/drawingml/2006/main">
            <a:off x="392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C</a:t>
            </a:r>
          </a:p>
        </p:txBody>
      </p:sp>
      <p:sp>
        <p:nvSpPr>
          <p:cNvPr id="37" name="">
            <a:extLst xmlns:a="http://schemas.openxmlformats.org/drawingml/2006/main">
              <a:ext uri="{FF2B5EF4-FFF2-40B4-BE49-F238E27FC236}">
                <a16:creationId xmlns:a16="http://schemas.microsoft.com/office/drawing/2014/main" id="{52EF3EB5-5AD6-4F8B-94B6-E69C2E433617}"/>
              </a:ext>
            </a:extLst>
          </p:cNvPr>
          <p:cNvSpPr>
            <a:spLocks xmlns:a="http://schemas.openxmlformats.org/drawingml/2006/main" noGrp="1"/>
          </p:cNvSpPr>
          <p:nvPr/>
        </p:nvSpPr>
        <p:spPr>
          <a:xfrm xmlns:a="http://schemas.openxmlformats.org/drawingml/2006/main">
            <a:off x="10172700" y="2743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8" name="">
            <a:extLst xmlns:a="http://schemas.openxmlformats.org/drawingml/2006/main">
              <a:ext uri="{FF2B5EF4-FFF2-40B4-BE49-F238E27FC236}">
                <a16:creationId xmlns:a16="http://schemas.microsoft.com/office/drawing/2014/main" id="{2AF1C254-4F2F-4213-973D-3DF886434EC7}"/>
              </a:ext>
            </a:extLst>
          </p:cNvPr>
          <p:cNvSpPr>
            <a:spLocks xmlns:a="http://schemas.openxmlformats.org/drawingml/2006/main" noGrp="1"/>
          </p:cNvSpPr>
          <p:nvPr/>
        </p:nvSpPr>
        <p:spPr>
          <a:xfrm xmlns:a="http://schemas.openxmlformats.org/drawingml/2006/main">
            <a:off x="1021080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D</a:t>
            </a:r>
          </a:p>
        </p:txBody>
      </p:sp>
      <p:sp>
        <p:nvSpPr>
          <p:cNvPr id="39" name="">
            <a:extLst xmlns:a="http://schemas.openxmlformats.org/drawingml/2006/main">
              <a:ext uri="{FF2B5EF4-FFF2-40B4-BE49-F238E27FC236}">
                <a16:creationId xmlns:a16="http://schemas.microsoft.com/office/drawing/2014/main" id="{66D135A5-D165-41B2-86C2-81AA5AA0DA12}"/>
              </a:ext>
            </a:extLst>
          </p:cNvPr>
          <p:cNvSpPr>
            <a:spLocks xmlns:a="http://schemas.openxmlformats.org/drawingml/2006/main" noGrp="1"/>
          </p:cNvSpPr>
          <p:nvPr/>
        </p:nvSpPr>
        <p:spPr>
          <a:xfrm xmlns:a="http://schemas.openxmlformats.org/drawingml/2006/main">
            <a:off x="7696200" y="1600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40" name="">
            <a:extLst xmlns:a="http://schemas.openxmlformats.org/drawingml/2006/main">
              <a:ext uri="{FF2B5EF4-FFF2-40B4-BE49-F238E27FC236}">
                <a16:creationId xmlns:a16="http://schemas.microsoft.com/office/drawing/2014/main" id="{6D4873D8-5687-49DA-AEB2-113263A3B983}"/>
              </a:ext>
            </a:extLst>
          </p:cNvPr>
          <p:cNvSpPr>
            <a:spLocks xmlns:a="http://schemas.openxmlformats.org/drawingml/2006/main" noGrp="1"/>
          </p:cNvSpPr>
          <p:nvPr/>
        </p:nvSpPr>
        <p:spPr>
          <a:xfrm xmlns:a="http://schemas.openxmlformats.org/drawingml/2006/main">
            <a:off x="773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E</a:t>
            </a:r>
          </a:p>
        </p:txBody>
      </p:sp>
      <p:sp>
        <p:nvSpPr>
          <p:cNvPr id="42" name="">
            <a:extLst xmlns:a="http://schemas.openxmlformats.org/drawingml/2006/main">
              <a:ext uri="{FF2B5EF4-FFF2-40B4-BE49-F238E27FC236}">
                <a16:creationId xmlns:a16="http://schemas.microsoft.com/office/drawing/2014/main" id="{C1527E1F-852E-4D2A-989A-FBB030FB3C60}"/>
              </a:ext>
            </a:extLst>
          </p:cNvPr>
          <p:cNvSpPr>
            <a:spLocks xmlns:a="http://schemas.openxmlformats.org/drawingml/2006/main" noGrp="1"/>
          </p:cNvSpPr>
          <p:nvPr/>
        </p:nvSpPr>
        <p:spPr>
          <a:xfrm xmlns:a="http://schemas.openxmlformats.org/drawingml/2006/main">
            <a:off x="2695575"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44" name="">
            <a:extLst xmlns:a="http://schemas.openxmlformats.org/drawingml/2006/main">
              <a:ext uri="{FF2B5EF4-FFF2-40B4-BE49-F238E27FC236}">
                <a16:creationId xmlns:a16="http://schemas.microsoft.com/office/drawing/2014/main" id="{728BC747-79BD-4C2B-A9F8-E2277F2A21BE}"/>
              </a:ext>
            </a:extLst>
          </p:cNvPr>
          <p:cNvSpPr>
            <a:spLocks xmlns:a="http://schemas.openxmlformats.org/drawingml/2006/main" noGrp="1"/>
          </p:cNvSpPr>
          <p:nvPr/>
        </p:nvSpPr>
        <p:spPr>
          <a:xfrm xmlns:a="http://schemas.openxmlformats.org/drawingml/2006/main">
            <a:off x="7124700"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10</a:t>
            </a:r>
          </a:p>
        </p:txBody>
      </p:sp>
      <p:sp>
        <p:nvSpPr>
          <p:cNvPr id="46" name="">
            <a:extLst xmlns:a="http://schemas.openxmlformats.org/drawingml/2006/main">
              <a:ext uri="{FF2B5EF4-FFF2-40B4-BE49-F238E27FC236}">
                <a16:creationId xmlns:a16="http://schemas.microsoft.com/office/drawing/2014/main" id="{80DCA803-0619-4FFB-ABBA-9ADC3CFFEBDD}"/>
              </a:ext>
            </a:extLst>
          </p:cNvPr>
          <p:cNvSpPr>
            <a:spLocks xmlns:a="http://schemas.openxmlformats.org/drawingml/2006/main" noGrp="1"/>
          </p:cNvSpPr>
          <p:nvPr/>
        </p:nvSpPr>
        <p:spPr>
          <a:xfrm xmlns:a="http://schemas.openxmlformats.org/drawingml/2006/main">
            <a:off x="9029700"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48" name="">
            <a:extLst xmlns:a="http://schemas.openxmlformats.org/drawingml/2006/main">
              <a:ext uri="{FF2B5EF4-FFF2-40B4-BE49-F238E27FC236}">
                <a16:creationId xmlns:a16="http://schemas.microsoft.com/office/drawing/2014/main" id="{24A1FAF9-9519-43E5-A9D7-0C64A8BFD9B7}"/>
              </a:ext>
            </a:extLst>
          </p:cNvPr>
          <p:cNvSpPr>
            <a:spLocks xmlns:a="http://schemas.openxmlformats.org/drawingml/2006/main" noGrp="1"/>
          </p:cNvSpPr>
          <p:nvPr/>
        </p:nvSpPr>
        <p:spPr>
          <a:xfrm xmlns:a="http://schemas.openxmlformats.org/drawingml/2006/main">
            <a:off x="4600575"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12</a:t>
            </a:r>
          </a:p>
        </p:txBody>
      </p:sp>
      <p:sp>
        <p:nvSpPr>
          <p:cNvPr id="50" name="">
            <a:extLst xmlns:a="http://schemas.openxmlformats.org/drawingml/2006/main">
              <a:ext uri="{FF2B5EF4-FFF2-40B4-BE49-F238E27FC236}">
                <a16:creationId xmlns:a16="http://schemas.microsoft.com/office/drawing/2014/main" id="{FA2BD5B3-E2DD-4621-9BB8-AA9A83E3C0D7}"/>
              </a:ext>
            </a:extLst>
          </p:cNvPr>
          <p:cNvSpPr>
            <a:spLocks xmlns:a="http://schemas.openxmlformats.org/drawingml/2006/main" noGrp="1"/>
          </p:cNvSpPr>
          <p:nvPr/>
        </p:nvSpPr>
        <p:spPr>
          <a:xfrm xmlns:a="http://schemas.openxmlformats.org/drawingml/2006/main">
            <a:off x="5657850" y="4391025"/>
            <a:ext cx="10668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B64436"/>
                </a:solidFill>
                <a:latin typeface="Arial"/>
                <a:ea typeface="Arial"/>
                <a:cs typeface="Arial"/>
              </a:defRPr>
            </a:defPPr>
          </a:lstStyle>
          <a:p xmlns:a="http://schemas.openxmlformats.org/drawingml/2006/main">
            <a:pPr algn="ctr">
              <a:buNone/>
              <a:defRPr sz="2250" b="1">
                <a:solidFill>
                  <a:srgbClr val="B64436"/>
                </a:solidFill>
                <a:latin typeface="Arial"/>
                <a:ea typeface="Arial"/>
                <a:cs typeface="Arial"/>
              </a:defRPr>
            </a:pPr>
            <a:r>
              <a:rPr sz="2250" b="1">
                <a:solidFill>
                  <a:srgbClr val="B64436"/>
                </a:solidFill>
                <a:latin typeface="Arial"/>
                <a:ea typeface="Arial"/>
                <a:cs typeface="Arial"/>
              </a:rPr>
              <a:t>2 + 2</a:t>
            </a:r>
          </a:p>
        </p:txBody>
      </p:sp>
      <p:sp>
        <p:nvSpPr>
          <p:cNvPr id="51" name="">
            <a:extLst xmlns:a="http://schemas.openxmlformats.org/drawingml/2006/main">
              <a:ext uri="{FF2B5EF4-FFF2-40B4-BE49-F238E27FC236}">
                <a16:creationId xmlns:a16="http://schemas.microsoft.com/office/drawing/2014/main" id="{E74C6A61-D12C-4CF1-BF59-8E770283CF3D}"/>
              </a:ext>
            </a:extLst>
          </p:cNvPr>
          <p:cNvSpPr>
            <a:spLocks xmlns:a="http://schemas.openxmlformats.org/drawingml/2006/main" noGrp="1"/>
          </p:cNvSpPr>
          <p:nvPr/>
        </p:nvSpPr>
        <p:spPr>
          <a:xfrm xmlns:a="http://schemas.openxmlformats.org/drawingml/2006/main">
            <a:off x="8096250" y="5238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750" b="1">
                <a:solidFill>
                  <a:srgbClr val="00857D"/>
                </a:solidFill>
                <a:latin typeface="Arial"/>
                <a:ea typeface="Arial"/>
                <a:cs typeface="Arial"/>
              </a:defRPr>
            </a:defPPr>
          </a:lstStyle>
          <a:p xmlns:a="http://schemas.openxmlformats.org/drawingml/2006/main">
            <a:pPr algn="r">
              <a:buNone/>
              <a:defRPr sz="3750" b="1">
                <a:solidFill>
                  <a:srgbClr val="00857D"/>
                </a:solidFill>
                <a:latin typeface="Arial"/>
                <a:ea typeface="Arial"/>
                <a:cs typeface="Arial"/>
              </a:defRPr>
            </a:pPr>
            <a:r>
              <a:rPr sz="3750" b="1">
                <a:solidFill>
                  <a:srgbClr val="00857D"/>
                </a:solidFill>
                <a:latin typeface="Arial"/>
                <a:ea typeface="Arial"/>
                <a:cs typeface="Arial"/>
              </a:rPr>
              <a:t>C = 30</a:t>
            </a:r>
          </a:p>
        </p:txBody>
      </p:sp>
      <p:sp>
        <p:nvSpPr>
          <p:cNvPr id="52" name="">
            <a:extLst xmlns:a="http://schemas.openxmlformats.org/drawingml/2006/main">
              <a:ext uri="{FF2B5EF4-FFF2-40B4-BE49-F238E27FC236}">
                <a16:creationId xmlns:a16="http://schemas.microsoft.com/office/drawing/2014/main" id="{DBABFB95-B516-4B71-8C27-18000D8DDBF2}"/>
              </a:ext>
            </a:extLst>
          </p:cNvPr>
          <p:cNvSpPr>
            <a:spLocks xmlns:a="http://schemas.openxmlformats.org/drawingml/2006/main" noGrp="1"/>
          </p:cNvSpPr>
          <p:nvPr/>
        </p:nvSpPr>
        <p:spPr>
          <a:xfrm xmlns:a="http://schemas.openxmlformats.org/drawingml/2006/main">
            <a:off x="762000" y="5305425"/>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66779"/>
                </a:solidFill>
                <a:latin typeface="Arial"/>
                <a:ea typeface="Arial"/>
                <a:cs typeface="Arial"/>
              </a:defRPr>
            </a:defPPr>
          </a:lstStyle>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S-A-D-E-S   /   B-C-B</a:t>
            </a:r>
          </a:p>
        </p:txBody>
      </p:sp>
      <p:sp>
        <p:nvSpPr>
          <p:cNvPr id="53" name="">
            <a:extLst xmlns:a="http://schemas.openxmlformats.org/drawingml/2006/main">
              <a:ext uri="{FF2B5EF4-FFF2-40B4-BE49-F238E27FC236}">
                <a16:creationId xmlns:a16="http://schemas.microsoft.com/office/drawing/2014/main" id="{A8F879D7-222E-47DD-B04A-14D944F9DFB2}"/>
              </a:ext>
            </a:extLst>
          </p:cNvPr>
          <p:cNvSpPr>
            <a:spLocks xmlns:a="http://schemas.openxmlformats.org/drawingml/2006/main" noGrp="1"/>
          </p:cNvSpPr>
          <p:nvPr/>
        </p:nvSpPr>
        <p:spPr>
          <a:xfrm xmlns:a="http://schemas.openxmlformats.org/drawingml/2006/main">
            <a:off x="762000" y="12763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0857D"/>
                </a:solidFill>
                <a:latin typeface="Arial"/>
                <a:ea typeface="Arial"/>
                <a:cs typeface="Arial"/>
              </a:defRPr>
            </a:defPPr>
          </a:lstStyle>
          <a:p xmlns:a="http://schemas.openxmlformats.org/drawingml/2006/main">
            <a:pPr algn="l">
              <a:buNone/>
              <a:defRPr sz="1875" b="1">
                <a:solidFill>
                  <a:srgbClr val="00857D"/>
                </a:solidFill>
                <a:latin typeface="Arial"/>
                <a:ea typeface="Arial"/>
                <a:cs typeface="Arial"/>
              </a:defRPr>
            </a:pPr>
            <a:r>
              <a:rPr sz="1875" b="1">
                <a:solidFill>
                  <a:srgbClr val="00857D"/>
                </a:solidFill>
                <a:latin typeface="Arial"/>
                <a:ea typeface="Arial"/>
                <a:cs typeface="Arial"/>
              </a:rPr>
              <a:t>Виділена група: 4 вузли, 4 внутрішні дуги</a:t>
            </a:r>
          </a:p>
        </p:txBody>
      </p:sp>
    </p:spTree>
    <p:extLst>
      <p:ext uri="{BB962C8B-B14F-4D97-AF65-F5344CB8AC3E}">
        <p14:creationId xmlns:p14="http://schemas.microsoft.com/office/powerpoint/2010/main" val="1714711848"/>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9" name="">
            <a:extLst xmlns:a="http://schemas.openxmlformats.org/drawingml/2006/main">
              <a:ext uri="{FF2B5EF4-FFF2-40B4-BE49-F238E27FC236}">
                <a16:creationId xmlns:a16="http://schemas.microsoft.com/office/drawing/2014/main" id="{604B8123-85A0-41BE-9405-143C940383CC}"/>
              </a:ext>
            </a:extLst>
          </p:cNvPr>
          <p:cNvCxnSpPr>
            <a:stCxn xmlns:a="http://schemas.openxmlformats.org/drawingml/2006/main" id="37" idx="2"/>
            <a:endCxn xmlns:a="http://schemas.openxmlformats.org/drawingml/2006/main" id="39" idx="6"/>
          </p:cNvCxnSpPr>
          <p:nvPr/>
        </p:nvCxnSpPr>
        <p:spPr>
          <a:xfrm xmlns:a="http://schemas.openxmlformats.org/drawingml/2006/main" flipH="1" flipV="1">
            <a:off x="8496300" y="2000250"/>
            <a:ext cx="1676400" cy="1143000"/>
          </a:xfrm>
          <a:prstGeom xmlns:a="http://schemas.openxmlformats.org/drawingml/2006/main" prst="straightConnector1">
            <a:avLst/>
          </a:prstGeom>
          <a:ln xmlns:a="http://schemas.openxmlformats.org/drawingml/2006/main" w="38100">
            <a:solidFill>
              <a:srgbClr val="B64436"/>
            </a:solidFill>
            <a:prstDash val="solid"/>
            <a:headEnd type="triangle" w="med" len="med"/>
            <a:tailEnd type="triangle" w="med" len="med"/>
          </a:ln>
        </p:spPr>
      </p:cxnSp>
      <p:cxnSp>
        <p:nvCxnSpPr>
          <p:cNvPr id="47" name="">
            <a:extLst xmlns:a="http://schemas.openxmlformats.org/drawingml/2006/main">
              <a:ext uri="{FF2B5EF4-FFF2-40B4-BE49-F238E27FC236}">
                <a16:creationId xmlns:a16="http://schemas.microsoft.com/office/drawing/2014/main" id="{0080A312-3106-42D5-9B11-9A22310100BB}"/>
              </a:ext>
            </a:extLst>
          </p:cNvPr>
          <p:cNvCxnSpPr>
            <a:stCxn xmlns:a="http://schemas.openxmlformats.org/drawingml/2006/main" id="35" idx="2"/>
            <a:endCxn xmlns:a="http://schemas.openxmlformats.org/drawingml/2006/main" id="29" idx="6"/>
          </p:cNvCxnSpPr>
          <p:nvPr/>
        </p:nvCxnSpPr>
        <p:spPr>
          <a:xfrm xmlns:a="http://schemas.openxmlformats.org/drawingml/2006/main" flipH="1" flipV="1">
            <a:off x="2114550" y="3143250"/>
            <a:ext cx="1771650" cy="1476375"/>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5" name="">
            <a:extLst xmlns:a="http://schemas.openxmlformats.org/drawingml/2006/main">
              <a:ext uri="{FF2B5EF4-FFF2-40B4-BE49-F238E27FC236}">
                <a16:creationId xmlns:a16="http://schemas.microsoft.com/office/drawing/2014/main" id="{67E78A82-C3DA-498B-B6FF-0989A4D5B71D}"/>
              </a:ext>
            </a:extLst>
          </p:cNvPr>
          <p:cNvCxnSpPr>
            <a:stCxn xmlns:a="http://schemas.openxmlformats.org/drawingml/2006/main" id="33" idx="2"/>
            <a:endCxn xmlns:a="http://schemas.openxmlformats.org/drawingml/2006/main" id="35" idx="6"/>
          </p:cNvCxnSpPr>
          <p:nvPr/>
        </p:nvCxnSpPr>
        <p:spPr>
          <a:xfrm xmlns:a="http://schemas.openxmlformats.org/drawingml/2006/main" flipH="1">
            <a:off x="4686300" y="4619625"/>
            <a:ext cx="3009900" cy="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3" name="">
            <a:extLst xmlns:a="http://schemas.openxmlformats.org/drawingml/2006/main">
              <a:ext uri="{FF2B5EF4-FFF2-40B4-BE49-F238E27FC236}">
                <a16:creationId xmlns:a16="http://schemas.microsoft.com/office/drawing/2014/main" id="{22E8E539-449A-465D-876B-DAD2076A9D3D}"/>
              </a:ext>
            </a:extLst>
          </p:cNvPr>
          <p:cNvCxnSpPr>
            <a:stCxn xmlns:a="http://schemas.openxmlformats.org/drawingml/2006/main" id="31" idx="6"/>
            <a:endCxn xmlns:a="http://schemas.openxmlformats.org/drawingml/2006/main" id="33" idx="2"/>
          </p:cNvCxnSpPr>
          <p:nvPr/>
        </p:nvCxnSpPr>
        <p:spPr>
          <a:xfrm xmlns:a="http://schemas.openxmlformats.org/drawingml/2006/main">
            <a:off x="4686300" y="2000250"/>
            <a:ext cx="3009900" cy="2619375"/>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1" name="">
            <a:extLst xmlns:a="http://schemas.openxmlformats.org/drawingml/2006/main">
              <a:ext uri="{FF2B5EF4-FFF2-40B4-BE49-F238E27FC236}">
                <a16:creationId xmlns:a16="http://schemas.microsoft.com/office/drawing/2014/main" id="{587FF765-1C35-483F-82E9-260E64B409C4}"/>
              </a:ext>
            </a:extLst>
          </p:cNvPr>
          <p:cNvCxnSpPr>
            <a:stCxn xmlns:a="http://schemas.openxmlformats.org/drawingml/2006/main" id="29" idx="6"/>
            <a:endCxn xmlns:a="http://schemas.openxmlformats.org/drawingml/2006/main" id="31" idx="2"/>
          </p:cNvCxnSpPr>
          <p:nvPr/>
        </p:nvCxnSpPr>
        <p:spPr>
          <a:xfrm xmlns:a="http://schemas.openxmlformats.org/drawingml/2006/main" flipV="1">
            <a:off x="2114550" y="2000250"/>
            <a:ext cx="177165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sp>
        <p:nvSpPr>
          <p:cNvPr id="28" name="">
            <a:extLst xmlns:a="http://schemas.openxmlformats.org/drawingml/2006/main">
              <a:ext uri="{FF2B5EF4-FFF2-40B4-BE49-F238E27FC236}">
                <a16:creationId xmlns:a16="http://schemas.microsoft.com/office/drawing/2014/main" id="{CAA978D5-606F-4F16-B8CB-83AB2DAB89D9}"/>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Крок 2: ще залишилися два підцикли</a:t>
            </a:r>
          </a:p>
        </p:txBody>
      </p:sp>
      <p:sp>
        <p:nvSpPr>
          <p:cNvPr id="2" name="">
            <a:extLst xmlns:a="http://schemas.openxmlformats.org/drawingml/2006/main">
              <a:ext uri="{FF2B5EF4-FFF2-40B4-BE49-F238E27FC236}">
                <a16:creationId xmlns:a16="http://schemas.microsoft.com/office/drawing/2014/main" id="{EE2CE8A1-E6C5-46DB-AD37-D03B127FDB9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Для групи {S,A,B,C} додаємо межу три внутрішні дуги.</a:t>
            </a:r>
          </a:p>
        </p:txBody>
      </p:sp>
      <p:sp>
        <p:nvSpPr>
          <p:cNvPr id="3" name="">
            <a:extLst xmlns:a="http://schemas.openxmlformats.org/drawingml/2006/main">
              <a:ext uri="{FF2B5EF4-FFF2-40B4-BE49-F238E27FC236}">
                <a16:creationId xmlns:a16="http://schemas.microsoft.com/office/drawing/2014/main" id="{7436207D-4E33-4FB1-B86E-7DF40DD441C9}"/>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70</a:t>
            </a:r>
          </a:p>
        </p:txBody>
      </p:sp>
      <p:sp>
        <p:nvSpPr>
          <p:cNvPr id="29" name="">
            <a:extLst xmlns:a="http://schemas.openxmlformats.org/drawingml/2006/main">
              <a:ext uri="{FF2B5EF4-FFF2-40B4-BE49-F238E27FC236}">
                <a16:creationId xmlns:a16="http://schemas.microsoft.com/office/drawing/2014/main" id="{87DE09EF-D838-4C85-98C0-578AA4718D97}"/>
              </a:ext>
            </a:extLst>
          </p:cNvPr>
          <p:cNvSpPr>
            <a:spLocks xmlns:a="http://schemas.openxmlformats.org/drawingml/2006/main" noGrp="1"/>
          </p:cNvSpPr>
          <p:nvPr/>
        </p:nvSpPr>
        <p:spPr>
          <a:xfrm xmlns:a="http://schemas.openxmlformats.org/drawingml/2006/main">
            <a:off x="1314450" y="2743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0" name="">
            <a:extLst xmlns:a="http://schemas.openxmlformats.org/drawingml/2006/main">
              <a:ext uri="{FF2B5EF4-FFF2-40B4-BE49-F238E27FC236}">
                <a16:creationId xmlns:a16="http://schemas.microsoft.com/office/drawing/2014/main" id="{A83AF31A-409F-4501-A606-FA3BE2E6E22B}"/>
              </a:ext>
            </a:extLst>
          </p:cNvPr>
          <p:cNvSpPr>
            <a:spLocks xmlns:a="http://schemas.openxmlformats.org/drawingml/2006/main" noGrp="1"/>
          </p:cNvSpPr>
          <p:nvPr/>
        </p:nvSpPr>
        <p:spPr>
          <a:xfrm xmlns:a="http://schemas.openxmlformats.org/drawingml/2006/main">
            <a:off x="135255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S</a:t>
            </a:r>
          </a:p>
        </p:txBody>
      </p:sp>
      <p:sp>
        <p:nvSpPr>
          <p:cNvPr id="31" name="">
            <a:extLst xmlns:a="http://schemas.openxmlformats.org/drawingml/2006/main">
              <a:ext uri="{FF2B5EF4-FFF2-40B4-BE49-F238E27FC236}">
                <a16:creationId xmlns:a16="http://schemas.microsoft.com/office/drawing/2014/main" id="{E76D7C1A-6C3F-40DC-847B-C8C46A48A92C}"/>
              </a:ext>
            </a:extLst>
          </p:cNvPr>
          <p:cNvSpPr>
            <a:spLocks xmlns:a="http://schemas.openxmlformats.org/drawingml/2006/main" noGrp="1"/>
          </p:cNvSpPr>
          <p:nvPr/>
        </p:nvSpPr>
        <p:spPr>
          <a:xfrm xmlns:a="http://schemas.openxmlformats.org/drawingml/2006/main">
            <a:off x="3886200" y="1600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2" name="">
            <a:extLst xmlns:a="http://schemas.openxmlformats.org/drawingml/2006/main">
              <a:ext uri="{FF2B5EF4-FFF2-40B4-BE49-F238E27FC236}">
                <a16:creationId xmlns:a16="http://schemas.microsoft.com/office/drawing/2014/main" id="{AB6D7746-B564-4853-A3E4-B4A8F06A7CC6}"/>
              </a:ext>
            </a:extLst>
          </p:cNvPr>
          <p:cNvSpPr>
            <a:spLocks xmlns:a="http://schemas.openxmlformats.org/drawingml/2006/main" noGrp="1"/>
          </p:cNvSpPr>
          <p:nvPr/>
        </p:nvSpPr>
        <p:spPr>
          <a:xfrm xmlns:a="http://schemas.openxmlformats.org/drawingml/2006/main">
            <a:off x="392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A</a:t>
            </a:r>
          </a:p>
        </p:txBody>
      </p:sp>
      <p:sp>
        <p:nvSpPr>
          <p:cNvPr id="33" name="">
            <a:extLst xmlns:a="http://schemas.openxmlformats.org/drawingml/2006/main">
              <a:ext uri="{FF2B5EF4-FFF2-40B4-BE49-F238E27FC236}">
                <a16:creationId xmlns:a16="http://schemas.microsoft.com/office/drawing/2014/main" id="{B9DDDBEB-7203-45D4-9915-9312F7FCFD77}"/>
              </a:ext>
            </a:extLst>
          </p:cNvPr>
          <p:cNvSpPr>
            <a:spLocks xmlns:a="http://schemas.openxmlformats.org/drawingml/2006/main" noGrp="1"/>
          </p:cNvSpPr>
          <p:nvPr/>
        </p:nvSpPr>
        <p:spPr>
          <a:xfrm xmlns:a="http://schemas.openxmlformats.org/drawingml/2006/main">
            <a:off x="7696200" y="4219575"/>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4" name="">
            <a:extLst xmlns:a="http://schemas.openxmlformats.org/drawingml/2006/main">
              <a:ext uri="{FF2B5EF4-FFF2-40B4-BE49-F238E27FC236}">
                <a16:creationId xmlns:a16="http://schemas.microsoft.com/office/drawing/2014/main" id="{691AFFFE-2C11-44D0-A7E7-51E47735D777}"/>
              </a:ext>
            </a:extLst>
          </p:cNvPr>
          <p:cNvSpPr>
            <a:spLocks xmlns:a="http://schemas.openxmlformats.org/drawingml/2006/main" noGrp="1"/>
          </p:cNvSpPr>
          <p:nvPr/>
        </p:nvSpPr>
        <p:spPr>
          <a:xfrm xmlns:a="http://schemas.openxmlformats.org/drawingml/2006/main">
            <a:off x="773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B</a:t>
            </a:r>
          </a:p>
        </p:txBody>
      </p:sp>
      <p:sp>
        <p:nvSpPr>
          <p:cNvPr id="35" name="">
            <a:extLst xmlns:a="http://schemas.openxmlformats.org/drawingml/2006/main">
              <a:ext uri="{FF2B5EF4-FFF2-40B4-BE49-F238E27FC236}">
                <a16:creationId xmlns:a16="http://schemas.microsoft.com/office/drawing/2014/main" id="{D06EEBDD-9252-4514-B93B-05EA1F984901}"/>
              </a:ext>
            </a:extLst>
          </p:cNvPr>
          <p:cNvSpPr>
            <a:spLocks xmlns:a="http://schemas.openxmlformats.org/drawingml/2006/main" noGrp="1"/>
          </p:cNvSpPr>
          <p:nvPr/>
        </p:nvSpPr>
        <p:spPr>
          <a:xfrm xmlns:a="http://schemas.openxmlformats.org/drawingml/2006/main">
            <a:off x="3886200" y="4219575"/>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6" name="">
            <a:extLst xmlns:a="http://schemas.openxmlformats.org/drawingml/2006/main">
              <a:ext uri="{FF2B5EF4-FFF2-40B4-BE49-F238E27FC236}">
                <a16:creationId xmlns:a16="http://schemas.microsoft.com/office/drawing/2014/main" id="{901C25F1-C97C-450B-B20D-FC4BEE1FFBB7}"/>
              </a:ext>
            </a:extLst>
          </p:cNvPr>
          <p:cNvSpPr>
            <a:spLocks xmlns:a="http://schemas.openxmlformats.org/drawingml/2006/main" noGrp="1"/>
          </p:cNvSpPr>
          <p:nvPr/>
        </p:nvSpPr>
        <p:spPr>
          <a:xfrm xmlns:a="http://schemas.openxmlformats.org/drawingml/2006/main">
            <a:off x="392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C</a:t>
            </a:r>
          </a:p>
        </p:txBody>
      </p:sp>
      <p:sp>
        <p:nvSpPr>
          <p:cNvPr id="37" name="">
            <a:extLst xmlns:a="http://schemas.openxmlformats.org/drawingml/2006/main">
              <a:ext uri="{FF2B5EF4-FFF2-40B4-BE49-F238E27FC236}">
                <a16:creationId xmlns:a16="http://schemas.microsoft.com/office/drawing/2014/main" id="{0BF92C24-1A2B-4BED-9CE9-3B57B4A61C37}"/>
              </a:ext>
            </a:extLst>
          </p:cNvPr>
          <p:cNvSpPr>
            <a:spLocks xmlns:a="http://schemas.openxmlformats.org/drawingml/2006/main" noGrp="1"/>
          </p:cNvSpPr>
          <p:nvPr/>
        </p:nvSpPr>
        <p:spPr>
          <a:xfrm xmlns:a="http://schemas.openxmlformats.org/drawingml/2006/main">
            <a:off x="10172700" y="2743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8" name="">
            <a:extLst xmlns:a="http://schemas.openxmlformats.org/drawingml/2006/main">
              <a:ext uri="{FF2B5EF4-FFF2-40B4-BE49-F238E27FC236}">
                <a16:creationId xmlns:a16="http://schemas.microsoft.com/office/drawing/2014/main" id="{0ED2F94F-F3DA-4DB0-B8E3-C41734FF4026}"/>
              </a:ext>
            </a:extLst>
          </p:cNvPr>
          <p:cNvSpPr>
            <a:spLocks xmlns:a="http://schemas.openxmlformats.org/drawingml/2006/main" noGrp="1"/>
          </p:cNvSpPr>
          <p:nvPr/>
        </p:nvSpPr>
        <p:spPr>
          <a:xfrm xmlns:a="http://schemas.openxmlformats.org/drawingml/2006/main">
            <a:off x="1021080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D</a:t>
            </a:r>
          </a:p>
        </p:txBody>
      </p:sp>
      <p:sp>
        <p:nvSpPr>
          <p:cNvPr id="39" name="">
            <a:extLst xmlns:a="http://schemas.openxmlformats.org/drawingml/2006/main">
              <a:ext uri="{FF2B5EF4-FFF2-40B4-BE49-F238E27FC236}">
                <a16:creationId xmlns:a16="http://schemas.microsoft.com/office/drawing/2014/main" id="{C0E195B4-1727-4C9A-9034-77D0FFF34C3C}"/>
              </a:ext>
            </a:extLst>
          </p:cNvPr>
          <p:cNvSpPr>
            <a:spLocks xmlns:a="http://schemas.openxmlformats.org/drawingml/2006/main" noGrp="1"/>
          </p:cNvSpPr>
          <p:nvPr/>
        </p:nvSpPr>
        <p:spPr>
          <a:xfrm xmlns:a="http://schemas.openxmlformats.org/drawingml/2006/main">
            <a:off x="7696200" y="1600200"/>
            <a:ext cx="800100" cy="80010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40" name="">
            <a:extLst xmlns:a="http://schemas.openxmlformats.org/drawingml/2006/main">
              <a:ext uri="{FF2B5EF4-FFF2-40B4-BE49-F238E27FC236}">
                <a16:creationId xmlns:a16="http://schemas.microsoft.com/office/drawing/2014/main" id="{CFB7F9D7-3FA2-4E9A-AC66-E374A08EF273}"/>
              </a:ext>
            </a:extLst>
          </p:cNvPr>
          <p:cNvSpPr>
            <a:spLocks xmlns:a="http://schemas.openxmlformats.org/drawingml/2006/main" noGrp="1"/>
          </p:cNvSpPr>
          <p:nvPr/>
        </p:nvSpPr>
        <p:spPr>
          <a:xfrm xmlns:a="http://schemas.openxmlformats.org/drawingml/2006/main">
            <a:off x="773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E</a:t>
            </a:r>
          </a:p>
        </p:txBody>
      </p:sp>
      <p:sp>
        <p:nvSpPr>
          <p:cNvPr id="42" name="">
            <a:extLst xmlns:a="http://schemas.openxmlformats.org/drawingml/2006/main">
              <a:ext uri="{FF2B5EF4-FFF2-40B4-BE49-F238E27FC236}">
                <a16:creationId xmlns:a16="http://schemas.microsoft.com/office/drawing/2014/main" id="{08366AE6-B9DE-4551-A7A9-15C83B631113}"/>
              </a:ext>
            </a:extLst>
          </p:cNvPr>
          <p:cNvSpPr>
            <a:spLocks xmlns:a="http://schemas.openxmlformats.org/drawingml/2006/main" noGrp="1"/>
          </p:cNvSpPr>
          <p:nvPr/>
        </p:nvSpPr>
        <p:spPr>
          <a:xfrm xmlns:a="http://schemas.openxmlformats.org/drawingml/2006/main">
            <a:off x="2695575"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44" name="">
            <a:extLst xmlns:a="http://schemas.openxmlformats.org/drawingml/2006/main">
              <a:ext uri="{FF2B5EF4-FFF2-40B4-BE49-F238E27FC236}">
                <a16:creationId xmlns:a16="http://schemas.microsoft.com/office/drawing/2014/main" id="{1FB59A71-9DF4-444A-8B05-EA76ADEA8655}"/>
              </a:ext>
            </a:extLst>
          </p:cNvPr>
          <p:cNvSpPr>
            <a:spLocks xmlns:a="http://schemas.openxmlformats.org/drawingml/2006/main" noGrp="1"/>
          </p:cNvSpPr>
          <p:nvPr/>
        </p:nvSpPr>
        <p:spPr>
          <a:xfrm xmlns:a="http://schemas.openxmlformats.org/drawingml/2006/main">
            <a:off x="5886450" y="3081338"/>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15</a:t>
            </a:r>
          </a:p>
        </p:txBody>
      </p:sp>
      <p:sp>
        <p:nvSpPr>
          <p:cNvPr id="46" name="">
            <a:extLst xmlns:a="http://schemas.openxmlformats.org/drawingml/2006/main">
              <a:ext uri="{FF2B5EF4-FFF2-40B4-BE49-F238E27FC236}">
                <a16:creationId xmlns:a16="http://schemas.microsoft.com/office/drawing/2014/main" id="{E1F24D8C-8AF6-474F-B72D-7B7815C8D7DA}"/>
              </a:ext>
            </a:extLst>
          </p:cNvPr>
          <p:cNvSpPr>
            <a:spLocks xmlns:a="http://schemas.openxmlformats.org/drawingml/2006/main" noGrp="1"/>
          </p:cNvSpPr>
          <p:nvPr/>
        </p:nvSpPr>
        <p:spPr>
          <a:xfrm xmlns:a="http://schemas.openxmlformats.org/drawingml/2006/main">
            <a:off x="5886450" y="4391025"/>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48" name="">
            <a:extLst xmlns:a="http://schemas.openxmlformats.org/drawingml/2006/main">
              <a:ext uri="{FF2B5EF4-FFF2-40B4-BE49-F238E27FC236}">
                <a16:creationId xmlns:a16="http://schemas.microsoft.com/office/drawing/2014/main" id="{89FD7037-DF9B-4778-9CB4-FB6DE644E7CE}"/>
              </a:ext>
            </a:extLst>
          </p:cNvPr>
          <p:cNvSpPr>
            <a:spLocks xmlns:a="http://schemas.openxmlformats.org/drawingml/2006/main" noGrp="1"/>
          </p:cNvSpPr>
          <p:nvPr/>
        </p:nvSpPr>
        <p:spPr>
          <a:xfrm xmlns:a="http://schemas.openxmlformats.org/drawingml/2006/main">
            <a:off x="2695575" y="3652838"/>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11</a:t>
            </a:r>
          </a:p>
        </p:txBody>
      </p:sp>
      <p:sp>
        <p:nvSpPr>
          <p:cNvPr id="50" name="">
            <a:extLst xmlns:a="http://schemas.openxmlformats.org/drawingml/2006/main">
              <a:ext uri="{FF2B5EF4-FFF2-40B4-BE49-F238E27FC236}">
                <a16:creationId xmlns:a16="http://schemas.microsoft.com/office/drawing/2014/main" id="{C4C0B7DB-7F7A-4072-8A99-21BEA149A43C}"/>
              </a:ext>
            </a:extLst>
          </p:cNvPr>
          <p:cNvSpPr>
            <a:spLocks xmlns:a="http://schemas.openxmlformats.org/drawingml/2006/main" noGrp="1"/>
          </p:cNvSpPr>
          <p:nvPr/>
        </p:nvSpPr>
        <p:spPr>
          <a:xfrm xmlns:a="http://schemas.openxmlformats.org/drawingml/2006/main">
            <a:off x="8801100" y="2343150"/>
            <a:ext cx="10668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B64436"/>
                </a:solidFill>
                <a:latin typeface="Arial"/>
                <a:ea typeface="Arial"/>
                <a:cs typeface="Arial"/>
              </a:defRPr>
            </a:defPPr>
          </a:lstStyle>
          <a:p xmlns:a="http://schemas.openxmlformats.org/drawingml/2006/main">
            <a:pPr algn="ctr">
              <a:buNone/>
              <a:defRPr sz="2250" b="1">
                <a:solidFill>
                  <a:srgbClr val="B64436"/>
                </a:solidFill>
                <a:latin typeface="Arial"/>
                <a:ea typeface="Arial"/>
                <a:cs typeface="Arial"/>
              </a:defRPr>
            </a:pPr>
            <a:r>
              <a:rPr sz="2250" b="1">
                <a:solidFill>
                  <a:srgbClr val="B64436"/>
                </a:solidFill>
                <a:latin typeface="Arial"/>
                <a:ea typeface="Arial"/>
                <a:cs typeface="Arial"/>
              </a:rPr>
              <a:t>2 + 2</a:t>
            </a:r>
          </a:p>
        </p:txBody>
      </p:sp>
      <p:sp>
        <p:nvSpPr>
          <p:cNvPr id="51" name="">
            <a:extLst xmlns:a="http://schemas.openxmlformats.org/drawingml/2006/main">
              <a:ext uri="{FF2B5EF4-FFF2-40B4-BE49-F238E27FC236}">
                <a16:creationId xmlns:a16="http://schemas.microsoft.com/office/drawing/2014/main" id="{311FBDE6-EADB-42AD-91AC-C7F8BBF16D16}"/>
              </a:ext>
            </a:extLst>
          </p:cNvPr>
          <p:cNvSpPr>
            <a:spLocks xmlns:a="http://schemas.openxmlformats.org/drawingml/2006/main" noGrp="1"/>
          </p:cNvSpPr>
          <p:nvPr/>
        </p:nvSpPr>
        <p:spPr>
          <a:xfrm xmlns:a="http://schemas.openxmlformats.org/drawingml/2006/main">
            <a:off x="8096250" y="5238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750" b="1">
                <a:solidFill>
                  <a:srgbClr val="00857D"/>
                </a:solidFill>
                <a:latin typeface="Arial"/>
                <a:ea typeface="Arial"/>
                <a:cs typeface="Arial"/>
              </a:defRPr>
            </a:defPPr>
          </a:lstStyle>
          <a:p xmlns:a="http://schemas.openxmlformats.org/drawingml/2006/main">
            <a:pPr algn="r">
              <a:buNone/>
              <a:defRPr sz="3750" b="1">
                <a:solidFill>
                  <a:srgbClr val="00857D"/>
                </a:solidFill>
                <a:latin typeface="Arial"/>
                <a:ea typeface="Arial"/>
                <a:cs typeface="Arial"/>
              </a:defRPr>
            </a:pPr>
            <a:r>
              <a:rPr sz="3750" b="1">
                <a:solidFill>
                  <a:srgbClr val="00857D"/>
                </a:solidFill>
                <a:latin typeface="Arial"/>
                <a:ea typeface="Arial"/>
                <a:cs typeface="Arial"/>
              </a:rPr>
              <a:t>C = 34</a:t>
            </a:r>
          </a:p>
        </p:txBody>
      </p:sp>
      <p:sp>
        <p:nvSpPr>
          <p:cNvPr id="52" name="">
            <a:extLst xmlns:a="http://schemas.openxmlformats.org/drawingml/2006/main">
              <a:ext uri="{FF2B5EF4-FFF2-40B4-BE49-F238E27FC236}">
                <a16:creationId xmlns:a16="http://schemas.microsoft.com/office/drawing/2014/main" id="{F2118F11-D755-4542-A314-FF5A45B00FF8}"/>
              </a:ext>
            </a:extLst>
          </p:cNvPr>
          <p:cNvSpPr>
            <a:spLocks xmlns:a="http://schemas.openxmlformats.org/drawingml/2006/main" noGrp="1"/>
          </p:cNvSpPr>
          <p:nvPr/>
        </p:nvSpPr>
        <p:spPr>
          <a:xfrm xmlns:a="http://schemas.openxmlformats.org/drawingml/2006/main">
            <a:off x="762000" y="5305425"/>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66779"/>
                </a:solidFill>
                <a:latin typeface="Arial"/>
                <a:ea typeface="Arial"/>
                <a:cs typeface="Arial"/>
              </a:defRPr>
            </a:defPPr>
          </a:lstStyle>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S-A-B-C-S   /   D-E-D</a:t>
            </a:r>
          </a:p>
        </p:txBody>
      </p:sp>
      <p:sp>
        <p:nvSpPr>
          <p:cNvPr id="53" name="">
            <a:extLst xmlns:a="http://schemas.openxmlformats.org/drawingml/2006/main">
              <a:ext uri="{FF2B5EF4-FFF2-40B4-BE49-F238E27FC236}">
                <a16:creationId xmlns:a16="http://schemas.microsoft.com/office/drawing/2014/main" id="{4B21EABB-0B63-40B4-BA7D-2BFB511E074F}"/>
              </a:ext>
            </a:extLst>
          </p:cNvPr>
          <p:cNvSpPr>
            <a:spLocks xmlns:a="http://schemas.openxmlformats.org/drawingml/2006/main" noGrp="1"/>
          </p:cNvSpPr>
          <p:nvPr/>
        </p:nvSpPr>
        <p:spPr>
          <a:xfrm xmlns:a="http://schemas.openxmlformats.org/drawingml/2006/main">
            <a:off x="762000" y="12763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0857D"/>
                </a:solidFill>
                <a:latin typeface="Arial"/>
                <a:ea typeface="Arial"/>
                <a:cs typeface="Arial"/>
              </a:defRPr>
            </a:defPPr>
          </a:lstStyle>
          <a:p xmlns:a="http://schemas.openxmlformats.org/drawingml/2006/main">
            <a:pPr algn="l">
              <a:buNone/>
              <a:defRPr sz="1875" b="1">
                <a:solidFill>
                  <a:srgbClr val="00857D"/>
                </a:solidFill>
                <a:latin typeface="Arial"/>
                <a:ea typeface="Arial"/>
                <a:cs typeface="Arial"/>
              </a:defRPr>
            </a:pPr>
            <a:r>
              <a:rPr sz="1875" b="1">
                <a:solidFill>
                  <a:srgbClr val="00857D"/>
                </a:solidFill>
                <a:latin typeface="Arial"/>
                <a:ea typeface="Arial"/>
                <a:cs typeface="Arial"/>
              </a:rPr>
              <a:t>Виділена група: 4 вузли, 4 внутрішні дуги</a:t>
            </a:r>
          </a:p>
        </p:txBody>
      </p:sp>
    </p:spTree>
    <p:extLst>
      <p:ext uri="{BB962C8B-B14F-4D97-AF65-F5344CB8AC3E}">
        <p14:creationId xmlns:p14="http://schemas.microsoft.com/office/powerpoint/2010/main" val="761684253"/>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3" name="">
            <a:extLst xmlns:a="http://schemas.openxmlformats.org/drawingml/2006/main">
              <a:ext uri="{FF2B5EF4-FFF2-40B4-BE49-F238E27FC236}">
                <a16:creationId xmlns:a16="http://schemas.microsoft.com/office/drawing/2014/main" id="{D62E0B62-D93E-47D5-B66B-8348EF5F8E96}"/>
              </a:ext>
            </a:extLst>
          </p:cNvPr>
          <p:cNvCxnSpPr>
            <a:stCxn xmlns:a="http://schemas.openxmlformats.org/drawingml/2006/main" id="37" idx="2"/>
            <a:endCxn xmlns:a="http://schemas.openxmlformats.org/drawingml/2006/main" id="31" idx="6"/>
          </p:cNvCxnSpPr>
          <p:nvPr/>
        </p:nvCxnSpPr>
        <p:spPr>
          <a:xfrm xmlns:a="http://schemas.openxmlformats.org/drawingml/2006/main" flipH="1" flipV="1">
            <a:off x="2114550" y="3143250"/>
            <a:ext cx="1771650" cy="1476375"/>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51" name="">
            <a:extLst xmlns:a="http://schemas.openxmlformats.org/drawingml/2006/main">
              <a:ext uri="{FF2B5EF4-FFF2-40B4-BE49-F238E27FC236}">
                <a16:creationId xmlns:a16="http://schemas.microsoft.com/office/drawing/2014/main" id="{B1246DA7-2E5B-48CD-84ED-86D4E6D248E2}"/>
              </a:ext>
            </a:extLst>
          </p:cNvPr>
          <p:cNvCxnSpPr>
            <a:stCxn xmlns:a="http://schemas.openxmlformats.org/drawingml/2006/main" id="35" idx="2"/>
            <a:endCxn xmlns:a="http://schemas.openxmlformats.org/drawingml/2006/main" id="37" idx="6"/>
          </p:cNvCxnSpPr>
          <p:nvPr/>
        </p:nvCxnSpPr>
        <p:spPr>
          <a:xfrm xmlns:a="http://schemas.openxmlformats.org/drawingml/2006/main" flipH="1">
            <a:off x="4686300" y="4619625"/>
            <a:ext cx="3009900" cy="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9" name="">
            <a:extLst xmlns:a="http://schemas.openxmlformats.org/drawingml/2006/main">
              <a:ext uri="{FF2B5EF4-FFF2-40B4-BE49-F238E27FC236}">
                <a16:creationId xmlns:a16="http://schemas.microsoft.com/office/drawing/2014/main" id="{285609D6-A197-4238-982F-E679D2CE8785}"/>
              </a:ext>
            </a:extLst>
          </p:cNvPr>
          <p:cNvCxnSpPr>
            <a:stCxn xmlns:a="http://schemas.openxmlformats.org/drawingml/2006/main" id="39" idx="2"/>
            <a:endCxn xmlns:a="http://schemas.openxmlformats.org/drawingml/2006/main" id="35" idx="6"/>
          </p:cNvCxnSpPr>
          <p:nvPr/>
        </p:nvCxnSpPr>
        <p:spPr>
          <a:xfrm xmlns:a="http://schemas.openxmlformats.org/drawingml/2006/main" flipH="1">
            <a:off x="8496300" y="3143250"/>
            <a:ext cx="1676400" cy="1476375"/>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7" name="">
            <a:extLst xmlns:a="http://schemas.openxmlformats.org/drawingml/2006/main">
              <a:ext uri="{FF2B5EF4-FFF2-40B4-BE49-F238E27FC236}">
                <a16:creationId xmlns:a16="http://schemas.microsoft.com/office/drawing/2014/main" id="{802688F5-364D-4B6D-A68D-6CFD42D79D0C}"/>
              </a:ext>
            </a:extLst>
          </p:cNvPr>
          <p:cNvCxnSpPr>
            <a:stCxn xmlns:a="http://schemas.openxmlformats.org/drawingml/2006/main" id="41" idx="6"/>
            <a:endCxn xmlns:a="http://schemas.openxmlformats.org/drawingml/2006/main" id="39" idx="2"/>
          </p:cNvCxnSpPr>
          <p:nvPr/>
        </p:nvCxnSpPr>
        <p:spPr>
          <a:xfrm xmlns:a="http://schemas.openxmlformats.org/drawingml/2006/main">
            <a:off x="8496300" y="2000250"/>
            <a:ext cx="167640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5" name="">
            <a:extLst xmlns:a="http://schemas.openxmlformats.org/drawingml/2006/main">
              <a:ext uri="{FF2B5EF4-FFF2-40B4-BE49-F238E27FC236}">
                <a16:creationId xmlns:a16="http://schemas.microsoft.com/office/drawing/2014/main" id="{D3987C71-380D-435B-8A09-A966F61DE94D}"/>
              </a:ext>
            </a:extLst>
          </p:cNvPr>
          <p:cNvCxnSpPr>
            <a:stCxn xmlns:a="http://schemas.openxmlformats.org/drawingml/2006/main" id="33" idx="6"/>
            <a:endCxn xmlns:a="http://schemas.openxmlformats.org/drawingml/2006/main" id="41" idx="2"/>
          </p:cNvCxnSpPr>
          <p:nvPr/>
        </p:nvCxnSpPr>
        <p:spPr>
          <a:xfrm xmlns:a="http://schemas.openxmlformats.org/drawingml/2006/main">
            <a:off x="4686300" y="2000250"/>
            <a:ext cx="3009900" cy="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cxnSp>
        <p:nvCxnSpPr>
          <p:cNvPr id="43" name="">
            <a:extLst xmlns:a="http://schemas.openxmlformats.org/drawingml/2006/main">
              <a:ext uri="{FF2B5EF4-FFF2-40B4-BE49-F238E27FC236}">
                <a16:creationId xmlns:a16="http://schemas.microsoft.com/office/drawing/2014/main" id="{3D3A8107-BC38-4593-ABDF-444884087214}"/>
              </a:ext>
            </a:extLst>
          </p:cNvPr>
          <p:cNvCxnSpPr>
            <a:stCxn xmlns:a="http://schemas.openxmlformats.org/drawingml/2006/main" id="31" idx="6"/>
            <a:endCxn xmlns:a="http://schemas.openxmlformats.org/drawingml/2006/main" id="33" idx="2"/>
          </p:cNvCxnSpPr>
          <p:nvPr/>
        </p:nvCxnSpPr>
        <p:spPr>
          <a:xfrm xmlns:a="http://schemas.openxmlformats.org/drawingml/2006/main" flipV="1">
            <a:off x="2114550" y="2000250"/>
            <a:ext cx="1771650" cy="1143000"/>
          </a:xfrm>
          <a:prstGeom xmlns:a="http://schemas.openxmlformats.org/drawingml/2006/main" prst="straightConnector1">
            <a:avLst/>
          </a:prstGeom>
          <a:ln xmlns:a="http://schemas.openxmlformats.org/drawingml/2006/main" w="38100">
            <a:solidFill>
              <a:srgbClr val="00857D"/>
            </a:solidFill>
            <a:prstDash val="solid"/>
            <a:tailEnd type="triangle" w="med" len="med"/>
          </a:ln>
        </p:spPr>
      </p:cxnSp>
      <p:sp>
        <p:nvSpPr>
          <p:cNvPr id="30" name="">
            <a:extLst xmlns:a="http://schemas.openxmlformats.org/drawingml/2006/main">
              <a:ext uri="{FF2B5EF4-FFF2-40B4-BE49-F238E27FC236}">
                <a16:creationId xmlns:a16="http://schemas.microsoft.com/office/drawing/2014/main" id="{35480504-0F0F-4A50-B7EB-BE56346BB1B4}"/>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Крок 3: оптимальний спільний маршрут</a:t>
            </a:r>
          </a:p>
        </p:txBody>
      </p:sp>
      <p:sp>
        <p:nvSpPr>
          <p:cNvPr id="2" name="">
            <a:extLst xmlns:a="http://schemas.openxmlformats.org/drawingml/2006/main">
              <a:ext uri="{FF2B5EF4-FFF2-40B4-BE49-F238E27FC236}">
                <a16:creationId xmlns:a16="http://schemas.microsoft.com/office/drawing/2014/main" id="{AFC00771-3A67-4413-A70E-733F1B4467F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2 + 14 + 2 + 5 + 2 + 11 = 36 хвилин.</a:t>
            </a:r>
          </a:p>
        </p:txBody>
      </p:sp>
      <p:sp>
        <p:nvSpPr>
          <p:cNvPr id="3" name="">
            <a:extLst xmlns:a="http://schemas.openxmlformats.org/drawingml/2006/main">
              <a:ext uri="{FF2B5EF4-FFF2-40B4-BE49-F238E27FC236}">
                <a16:creationId xmlns:a16="http://schemas.microsoft.com/office/drawing/2014/main" id="{078CB578-D72A-41CE-89CB-22AAD6A5FD87}"/>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71</a:t>
            </a:r>
          </a:p>
        </p:txBody>
      </p:sp>
      <p:sp>
        <p:nvSpPr>
          <p:cNvPr id="31" name="">
            <a:extLst xmlns:a="http://schemas.openxmlformats.org/drawingml/2006/main">
              <a:ext uri="{FF2B5EF4-FFF2-40B4-BE49-F238E27FC236}">
                <a16:creationId xmlns:a16="http://schemas.microsoft.com/office/drawing/2014/main" id="{DC4413F8-985B-41B6-921A-617274B681E5}"/>
              </a:ext>
            </a:extLst>
          </p:cNvPr>
          <p:cNvSpPr>
            <a:spLocks xmlns:a="http://schemas.openxmlformats.org/drawingml/2006/main" noGrp="1"/>
          </p:cNvSpPr>
          <p:nvPr/>
        </p:nvSpPr>
        <p:spPr>
          <a:xfrm xmlns:a="http://schemas.openxmlformats.org/drawingml/2006/main">
            <a:off x="1314450" y="2743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2" name="">
            <a:extLst xmlns:a="http://schemas.openxmlformats.org/drawingml/2006/main">
              <a:ext uri="{FF2B5EF4-FFF2-40B4-BE49-F238E27FC236}">
                <a16:creationId xmlns:a16="http://schemas.microsoft.com/office/drawing/2014/main" id="{9ACB19D2-7792-4D5E-8E57-37DF5D8DE4BD}"/>
              </a:ext>
            </a:extLst>
          </p:cNvPr>
          <p:cNvSpPr>
            <a:spLocks xmlns:a="http://schemas.openxmlformats.org/drawingml/2006/main" noGrp="1"/>
          </p:cNvSpPr>
          <p:nvPr/>
        </p:nvSpPr>
        <p:spPr>
          <a:xfrm xmlns:a="http://schemas.openxmlformats.org/drawingml/2006/main">
            <a:off x="135255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S</a:t>
            </a:r>
          </a:p>
        </p:txBody>
      </p:sp>
      <p:sp>
        <p:nvSpPr>
          <p:cNvPr id="33" name="">
            <a:extLst xmlns:a="http://schemas.openxmlformats.org/drawingml/2006/main">
              <a:ext uri="{FF2B5EF4-FFF2-40B4-BE49-F238E27FC236}">
                <a16:creationId xmlns:a16="http://schemas.microsoft.com/office/drawing/2014/main" id="{8417BD41-F53D-4616-BB3D-F247F1592BC6}"/>
              </a:ext>
            </a:extLst>
          </p:cNvPr>
          <p:cNvSpPr>
            <a:spLocks xmlns:a="http://schemas.openxmlformats.org/drawingml/2006/main" noGrp="1"/>
          </p:cNvSpPr>
          <p:nvPr/>
        </p:nvSpPr>
        <p:spPr>
          <a:xfrm xmlns:a="http://schemas.openxmlformats.org/drawingml/2006/main">
            <a:off x="3886200" y="1600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4" name="">
            <a:extLst xmlns:a="http://schemas.openxmlformats.org/drawingml/2006/main">
              <a:ext uri="{FF2B5EF4-FFF2-40B4-BE49-F238E27FC236}">
                <a16:creationId xmlns:a16="http://schemas.microsoft.com/office/drawing/2014/main" id="{83774568-6033-4CB4-B8FC-F817F6973A6A}"/>
              </a:ext>
            </a:extLst>
          </p:cNvPr>
          <p:cNvSpPr>
            <a:spLocks xmlns:a="http://schemas.openxmlformats.org/drawingml/2006/main" noGrp="1"/>
          </p:cNvSpPr>
          <p:nvPr/>
        </p:nvSpPr>
        <p:spPr>
          <a:xfrm xmlns:a="http://schemas.openxmlformats.org/drawingml/2006/main">
            <a:off x="392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A</a:t>
            </a:r>
          </a:p>
        </p:txBody>
      </p:sp>
      <p:sp>
        <p:nvSpPr>
          <p:cNvPr id="35" name="">
            <a:extLst xmlns:a="http://schemas.openxmlformats.org/drawingml/2006/main">
              <a:ext uri="{FF2B5EF4-FFF2-40B4-BE49-F238E27FC236}">
                <a16:creationId xmlns:a16="http://schemas.microsoft.com/office/drawing/2014/main" id="{7D6E1298-BBDE-4E4B-8D90-7973F2965D76}"/>
              </a:ext>
            </a:extLst>
          </p:cNvPr>
          <p:cNvSpPr>
            <a:spLocks xmlns:a="http://schemas.openxmlformats.org/drawingml/2006/main" noGrp="1"/>
          </p:cNvSpPr>
          <p:nvPr/>
        </p:nvSpPr>
        <p:spPr>
          <a:xfrm xmlns:a="http://schemas.openxmlformats.org/drawingml/2006/main">
            <a:off x="7696200" y="4219575"/>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6" name="">
            <a:extLst xmlns:a="http://schemas.openxmlformats.org/drawingml/2006/main">
              <a:ext uri="{FF2B5EF4-FFF2-40B4-BE49-F238E27FC236}">
                <a16:creationId xmlns:a16="http://schemas.microsoft.com/office/drawing/2014/main" id="{4D5D10E5-B57E-409D-9578-E398D2C08611}"/>
              </a:ext>
            </a:extLst>
          </p:cNvPr>
          <p:cNvSpPr>
            <a:spLocks xmlns:a="http://schemas.openxmlformats.org/drawingml/2006/main" noGrp="1"/>
          </p:cNvSpPr>
          <p:nvPr/>
        </p:nvSpPr>
        <p:spPr>
          <a:xfrm xmlns:a="http://schemas.openxmlformats.org/drawingml/2006/main">
            <a:off x="773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B</a:t>
            </a:r>
          </a:p>
        </p:txBody>
      </p:sp>
      <p:sp>
        <p:nvSpPr>
          <p:cNvPr id="37" name="">
            <a:extLst xmlns:a="http://schemas.openxmlformats.org/drawingml/2006/main">
              <a:ext uri="{FF2B5EF4-FFF2-40B4-BE49-F238E27FC236}">
                <a16:creationId xmlns:a16="http://schemas.microsoft.com/office/drawing/2014/main" id="{46852A3E-E5E7-4BF7-AD45-6ACF265F0144}"/>
              </a:ext>
            </a:extLst>
          </p:cNvPr>
          <p:cNvSpPr>
            <a:spLocks xmlns:a="http://schemas.openxmlformats.org/drawingml/2006/main" noGrp="1"/>
          </p:cNvSpPr>
          <p:nvPr/>
        </p:nvSpPr>
        <p:spPr>
          <a:xfrm xmlns:a="http://schemas.openxmlformats.org/drawingml/2006/main">
            <a:off x="3886200" y="4219575"/>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38" name="">
            <a:extLst xmlns:a="http://schemas.openxmlformats.org/drawingml/2006/main">
              <a:ext uri="{FF2B5EF4-FFF2-40B4-BE49-F238E27FC236}">
                <a16:creationId xmlns:a16="http://schemas.microsoft.com/office/drawing/2014/main" id="{81BB1248-06CF-4655-8DEB-D08621E02730}"/>
              </a:ext>
            </a:extLst>
          </p:cNvPr>
          <p:cNvSpPr>
            <a:spLocks xmlns:a="http://schemas.openxmlformats.org/drawingml/2006/main" noGrp="1"/>
          </p:cNvSpPr>
          <p:nvPr/>
        </p:nvSpPr>
        <p:spPr>
          <a:xfrm xmlns:a="http://schemas.openxmlformats.org/drawingml/2006/main">
            <a:off x="3924300" y="4257675"/>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C</a:t>
            </a:r>
          </a:p>
        </p:txBody>
      </p:sp>
      <p:sp>
        <p:nvSpPr>
          <p:cNvPr id="39" name="">
            <a:extLst xmlns:a="http://schemas.openxmlformats.org/drawingml/2006/main">
              <a:ext uri="{FF2B5EF4-FFF2-40B4-BE49-F238E27FC236}">
                <a16:creationId xmlns:a16="http://schemas.microsoft.com/office/drawing/2014/main" id="{A51BDB06-385A-4ADD-BCEC-9EE4CFFAB8D3}"/>
              </a:ext>
            </a:extLst>
          </p:cNvPr>
          <p:cNvSpPr>
            <a:spLocks xmlns:a="http://schemas.openxmlformats.org/drawingml/2006/main" noGrp="1"/>
          </p:cNvSpPr>
          <p:nvPr/>
        </p:nvSpPr>
        <p:spPr>
          <a:xfrm xmlns:a="http://schemas.openxmlformats.org/drawingml/2006/main">
            <a:off x="10172700" y="2743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40" name="">
            <a:extLst xmlns:a="http://schemas.openxmlformats.org/drawingml/2006/main">
              <a:ext uri="{FF2B5EF4-FFF2-40B4-BE49-F238E27FC236}">
                <a16:creationId xmlns:a16="http://schemas.microsoft.com/office/drawing/2014/main" id="{BA27341A-A203-4B62-AC71-CBFBEC58066D}"/>
              </a:ext>
            </a:extLst>
          </p:cNvPr>
          <p:cNvSpPr>
            <a:spLocks xmlns:a="http://schemas.openxmlformats.org/drawingml/2006/main" noGrp="1"/>
          </p:cNvSpPr>
          <p:nvPr/>
        </p:nvSpPr>
        <p:spPr>
          <a:xfrm xmlns:a="http://schemas.openxmlformats.org/drawingml/2006/main">
            <a:off x="10210800" y="2781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D</a:t>
            </a:r>
          </a:p>
        </p:txBody>
      </p:sp>
      <p:sp>
        <p:nvSpPr>
          <p:cNvPr id="41" name="">
            <a:extLst xmlns:a="http://schemas.openxmlformats.org/drawingml/2006/main">
              <a:ext uri="{FF2B5EF4-FFF2-40B4-BE49-F238E27FC236}">
                <a16:creationId xmlns:a16="http://schemas.microsoft.com/office/drawing/2014/main" id="{AEAAAD9E-C3CE-44F4-887C-717F12113BEB}"/>
              </a:ext>
            </a:extLst>
          </p:cNvPr>
          <p:cNvSpPr>
            <a:spLocks xmlns:a="http://schemas.openxmlformats.org/drawingml/2006/main" noGrp="1"/>
          </p:cNvSpPr>
          <p:nvPr/>
        </p:nvSpPr>
        <p:spPr>
          <a:xfrm xmlns:a="http://schemas.openxmlformats.org/drawingml/2006/main">
            <a:off x="7696200" y="1600200"/>
            <a:ext cx="800100" cy="800100"/>
          </a:xfrm>
          <a:prstGeom xmlns:a="http://schemas.openxmlformats.org/drawingml/2006/main" prst="ellipse">
            <a:avLst/>
          </a:prstGeom>
          <a:solidFill xmlns:a="http://schemas.openxmlformats.org/drawingml/2006/main">
            <a:srgbClr val="DDF3EC"/>
          </a:solidFill>
          <a:ln xmlns:a="http://schemas.openxmlformats.org/drawingml/2006/main" w="19050">
            <a:solidFill>
              <a:srgbClr val="173047"/>
            </a:solidFill>
          </a:ln>
        </p:spPr>
      </p:sp>
      <p:sp>
        <p:nvSpPr>
          <p:cNvPr id="42" name="">
            <a:extLst xmlns:a="http://schemas.openxmlformats.org/drawingml/2006/main">
              <a:ext uri="{FF2B5EF4-FFF2-40B4-BE49-F238E27FC236}">
                <a16:creationId xmlns:a16="http://schemas.microsoft.com/office/drawing/2014/main" id="{923787F9-5612-40C0-B4EB-F51592B9CFBA}"/>
              </a:ext>
            </a:extLst>
          </p:cNvPr>
          <p:cNvSpPr>
            <a:spLocks xmlns:a="http://schemas.openxmlformats.org/drawingml/2006/main" noGrp="1"/>
          </p:cNvSpPr>
          <p:nvPr/>
        </p:nvSpPr>
        <p:spPr>
          <a:xfrm xmlns:a="http://schemas.openxmlformats.org/drawingml/2006/main">
            <a:off x="7734300" y="1638300"/>
            <a:ext cx="723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173047"/>
                </a:solidFill>
                <a:latin typeface="Arial"/>
                <a:ea typeface="Arial"/>
                <a:cs typeface="Arial"/>
              </a:defRPr>
            </a:defPPr>
          </a:lstStyle>
          <a:p xmlns:a="http://schemas.openxmlformats.org/drawingml/2006/main">
            <a:pPr algn="ctr">
              <a:buNone/>
              <a:defRPr sz="2850" b="1">
                <a:solidFill>
                  <a:srgbClr val="173047"/>
                </a:solidFill>
                <a:latin typeface="Arial"/>
                <a:ea typeface="Arial"/>
                <a:cs typeface="Arial"/>
              </a:defRPr>
            </a:pPr>
            <a:r>
              <a:rPr sz="2850" b="1">
                <a:solidFill>
                  <a:srgbClr val="173047"/>
                </a:solidFill>
                <a:latin typeface="Arial"/>
                <a:ea typeface="Arial"/>
                <a:cs typeface="Arial"/>
              </a:rPr>
              <a:t>E</a:t>
            </a:r>
          </a:p>
        </p:txBody>
      </p:sp>
      <p:sp>
        <p:nvSpPr>
          <p:cNvPr id="44" name="">
            <a:extLst xmlns:a="http://schemas.openxmlformats.org/drawingml/2006/main">
              <a:ext uri="{FF2B5EF4-FFF2-40B4-BE49-F238E27FC236}">
                <a16:creationId xmlns:a16="http://schemas.microsoft.com/office/drawing/2014/main" id="{6E13E4CC-B5E6-42C8-9EA3-615C3316D9C1}"/>
              </a:ext>
            </a:extLst>
          </p:cNvPr>
          <p:cNvSpPr>
            <a:spLocks xmlns:a="http://schemas.openxmlformats.org/drawingml/2006/main" noGrp="1"/>
          </p:cNvSpPr>
          <p:nvPr/>
        </p:nvSpPr>
        <p:spPr>
          <a:xfrm xmlns:a="http://schemas.openxmlformats.org/drawingml/2006/main">
            <a:off x="2695575"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46" name="">
            <a:extLst xmlns:a="http://schemas.openxmlformats.org/drawingml/2006/main">
              <a:ext uri="{FF2B5EF4-FFF2-40B4-BE49-F238E27FC236}">
                <a16:creationId xmlns:a16="http://schemas.microsoft.com/office/drawing/2014/main" id="{87AB5B62-7E7E-47E6-BF6A-3512E9AE73EE}"/>
              </a:ext>
            </a:extLst>
          </p:cNvPr>
          <p:cNvSpPr>
            <a:spLocks xmlns:a="http://schemas.openxmlformats.org/drawingml/2006/main" noGrp="1"/>
          </p:cNvSpPr>
          <p:nvPr/>
        </p:nvSpPr>
        <p:spPr>
          <a:xfrm xmlns:a="http://schemas.openxmlformats.org/drawingml/2006/main">
            <a:off x="5886450" y="17716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14</a:t>
            </a:r>
          </a:p>
        </p:txBody>
      </p:sp>
      <p:sp>
        <p:nvSpPr>
          <p:cNvPr id="48" name="">
            <a:extLst xmlns:a="http://schemas.openxmlformats.org/drawingml/2006/main">
              <a:ext uri="{FF2B5EF4-FFF2-40B4-BE49-F238E27FC236}">
                <a16:creationId xmlns:a16="http://schemas.microsoft.com/office/drawing/2014/main" id="{F7ADC04A-6D55-4F91-ADA7-6E04885F9058}"/>
              </a:ext>
            </a:extLst>
          </p:cNvPr>
          <p:cNvSpPr>
            <a:spLocks xmlns:a="http://schemas.openxmlformats.org/drawingml/2006/main" noGrp="1"/>
          </p:cNvSpPr>
          <p:nvPr/>
        </p:nvSpPr>
        <p:spPr>
          <a:xfrm xmlns:a="http://schemas.openxmlformats.org/drawingml/2006/main">
            <a:off x="9029700" y="2343150"/>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50" name="">
            <a:extLst xmlns:a="http://schemas.openxmlformats.org/drawingml/2006/main">
              <a:ext uri="{FF2B5EF4-FFF2-40B4-BE49-F238E27FC236}">
                <a16:creationId xmlns:a16="http://schemas.microsoft.com/office/drawing/2014/main" id="{CF18CDDF-A96A-495F-BF82-AE669CF70533}"/>
              </a:ext>
            </a:extLst>
          </p:cNvPr>
          <p:cNvSpPr>
            <a:spLocks xmlns:a="http://schemas.openxmlformats.org/drawingml/2006/main" noGrp="1"/>
          </p:cNvSpPr>
          <p:nvPr/>
        </p:nvSpPr>
        <p:spPr>
          <a:xfrm xmlns:a="http://schemas.openxmlformats.org/drawingml/2006/main">
            <a:off x="9029700" y="3652838"/>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5</a:t>
            </a:r>
          </a:p>
        </p:txBody>
      </p:sp>
      <p:sp>
        <p:nvSpPr>
          <p:cNvPr id="52" name="">
            <a:extLst xmlns:a="http://schemas.openxmlformats.org/drawingml/2006/main">
              <a:ext uri="{FF2B5EF4-FFF2-40B4-BE49-F238E27FC236}">
                <a16:creationId xmlns:a16="http://schemas.microsoft.com/office/drawing/2014/main" id="{E0018498-72A0-4167-852A-CC642943D83D}"/>
              </a:ext>
            </a:extLst>
          </p:cNvPr>
          <p:cNvSpPr>
            <a:spLocks xmlns:a="http://schemas.openxmlformats.org/drawingml/2006/main" noGrp="1"/>
          </p:cNvSpPr>
          <p:nvPr/>
        </p:nvSpPr>
        <p:spPr>
          <a:xfrm xmlns:a="http://schemas.openxmlformats.org/drawingml/2006/main">
            <a:off x="5886450" y="4391025"/>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2</a:t>
            </a:r>
          </a:p>
        </p:txBody>
      </p:sp>
      <p:sp>
        <p:nvSpPr>
          <p:cNvPr id="54" name="">
            <a:extLst xmlns:a="http://schemas.openxmlformats.org/drawingml/2006/main">
              <a:ext uri="{FF2B5EF4-FFF2-40B4-BE49-F238E27FC236}">
                <a16:creationId xmlns:a16="http://schemas.microsoft.com/office/drawing/2014/main" id="{2BC61F5C-59E4-483F-805A-3B849C997F4D}"/>
              </a:ext>
            </a:extLst>
          </p:cNvPr>
          <p:cNvSpPr>
            <a:spLocks xmlns:a="http://schemas.openxmlformats.org/drawingml/2006/main" noGrp="1"/>
          </p:cNvSpPr>
          <p:nvPr/>
        </p:nvSpPr>
        <p:spPr>
          <a:xfrm xmlns:a="http://schemas.openxmlformats.org/drawingml/2006/main">
            <a:off x="2695575" y="3652838"/>
            <a:ext cx="609600" cy="428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00857D"/>
                </a:solidFill>
                <a:latin typeface="Arial"/>
                <a:ea typeface="Arial"/>
                <a:cs typeface="Arial"/>
              </a:defRPr>
            </a:defPPr>
          </a:lstStyle>
          <a:p xmlns:a="http://schemas.openxmlformats.org/drawingml/2006/main">
            <a:pPr algn="ctr">
              <a:buNone/>
              <a:defRPr sz="2250" b="1">
                <a:solidFill>
                  <a:srgbClr val="00857D"/>
                </a:solidFill>
                <a:latin typeface="Arial"/>
                <a:ea typeface="Arial"/>
                <a:cs typeface="Arial"/>
              </a:defRPr>
            </a:pPr>
            <a:r>
              <a:rPr sz="2250" b="1">
                <a:solidFill>
                  <a:srgbClr val="00857D"/>
                </a:solidFill>
                <a:latin typeface="Arial"/>
                <a:ea typeface="Arial"/>
                <a:cs typeface="Arial"/>
              </a:rPr>
              <a:t>11</a:t>
            </a:r>
          </a:p>
        </p:txBody>
      </p:sp>
      <p:sp>
        <p:nvSpPr>
          <p:cNvPr id="55" name="">
            <a:extLst xmlns:a="http://schemas.openxmlformats.org/drawingml/2006/main">
              <a:ext uri="{FF2B5EF4-FFF2-40B4-BE49-F238E27FC236}">
                <a16:creationId xmlns:a16="http://schemas.microsoft.com/office/drawing/2014/main" id="{36E3220F-FD89-4F48-A524-85CF3BB5456D}"/>
              </a:ext>
            </a:extLst>
          </p:cNvPr>
          <p:cNvSpPr>
            <a:spLocks xmlns:a="http://schemas.openxmlformats.org/drawingml/2006/main" noGrp="1"/>
          </p:cNvSpPr>
          <p:nvPr/>
        </p:nvSpPr>
        <p:spPr>
          <a:xfrm xmlns:a="http://schemas.openxmlformats.org/drawingml/2006/main">
            <a:off x="8096250" y="52387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750" b="1">
                <a:solidFill>
                  <a:srgbClr val="00857D"/>
                </a:solidFill>
                <a:latin typeface="Arial"/>
                <a:ea typeface="Arial"/>
                <a:cs typeface="Arial"/>
              </a:defRPr>
            </a:defPPr>
          </a:lstStyle>
          <a:p xmlns:a="http://schemas.openxmlformats.org/drawingml/2006/main">
            <a:pPr algn="r">
              <a:buNone/>
              <a:defRPr sz="3750" b="1">
                <a:solidFill>
                  <a:srgbClr val="00857D"/>
                </a:solidFill>
                <a:latin typeface="Arial"/>
                <a:ea typeface="Arial"/>
                <a:cs typeface="Arial"/>
              </a:defRPr>
            </a:pPr>
            <a:r>
              <a:rPr sz="3750" b="1">
                <a:solidFill>
                  <a:srgbClr val="00857D"/>
                </a:solidFill>
                <a:latin typeface="Arial"/>
                <a:ea typeface="Arial"/>
                <a:cs typeface="Arial"/>
              </a:rPr>
              <a:t>C = 36</a:t>
            </a:r>
          </a:p>
        </p:txBody>
      </p:sp>
      <p:sp>
        <p:nvSpPr>
          <p:cNvPr id="56" name="">
            <a:extLst xmlns:a="http://schemas.openxmlformats.org/drawingml/2006/main">
              <a:ext uri="{FF2B5EF4-FFF2-40B4-BE49-F238E27FC236}">
                <a16:creationId xmlns:a16="http://schemas.microsoft.com/office/drawing/2014/main" id="{B054F4DE-D161-4D23-9F69-DA0E5FC2ABAC}"/>
              </a:ext>
            </a:extLst>
          </p:cNvPr>
          <p:cNvSpPr>
            <a:spLocks xmlns:a="http://schemas.openxmlformats.org/drawingml/2006/main" noGrp="1"/>
          </p:cNvSpPr>
          <p:nvPr/>
        </p:nvSpPr>
        <p:spPr>
          <a:xfrm xmlns:a="http://schemas.openxmlformats.org/drawingml/2006/main">
            <a:off x="762000" y="5305425"/>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566779"/>
                </a:solidFill>
                <a:latin typeface="Arial"/>
                <a:ea typeface="Arial"/>
                <a:cs typeface="Arial"/>
              </a:defRPr>
            </a:defPPr>
          </a:lstStyle>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S-A-E-D-B-C-S</a:t>
            </a:r>
          </a:p>
        </p:txBody>
      </p:sp>
    </p:spTree>
    <p:extLst>
      <p:ext uri="{BB962C8B-B14F-4D97-AF65-F5344CB8AC3E}">
        <p14:creationId xmlns:p14="http://schemas.microsoft.com/office/powerpoint/2010/main" val="1582564393"/>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A83C1A-4ED9-4E76-9750-9759B81B3FB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Чому 36 є точним оптимумом</a:t>
            </a:r>
          </a:p>
        </p:txBody>
      </p:sp>
      <p:sp>
        <p:nvSpPr>
          <p:cNvPr id="2" name="">
            <a:extLst xmlns:a="http://schemas.openxmlformats.org/drawingml/2006/main">
              <a:ext uri="{FF2B5EF4-FFF2-40B4-BE49-F238E27FC236}">
                <a16:creationId xmlns:a16="http://schemas.microsoft.com/office/drawing/2014/main" id="{5862F09E-D01C-4BE1-A536-3124683CDBC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Допустимий маршрут і нижня межа збіглися.</a:t>
            </a:r>
          </a:p>
        </p:txBody>
      </p:sp>
      <p:sp>
        <p:nvSpPr>
          <p:cNvPr id="3" name="">
            <a:extLst xmlns:a="http://schemas.openxmlformats.org/drawingml/2006/main">
              <a:ext uri="{FF2B5EF4-FFF2-40B4-BE49-F238E27FC236}">
                <a16:creationId xmlns:a16="http://schemas.microsoft.com/office/drawing/2014/main" id="{1BE61EFB-3092-494B-9175-1F10BF6B71A3}"/>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72</a:t>
            </a:r>
          </a:p>
        </p:txBody>
      </p:sp>
      <p:sp>
        <p:nvSpPr>
          <p:cNvPr id="8" name="">
            <a:extLst xmlns:a="http://schemas.openxmlformats.org/drawingml/2006/main">
              <a:ext uri="{FF2B5EF4-FFF2-40B4-BE49-F238E27FC236}">
                <a16:creationId xmlns:a16="http://schemas.microsoft.com/office/drawing/2014/main" id="{FA08D74E-6298-4D8C-A6CD-093F91801599}"/>
              </a:ext>
            </a:extLst>
          </p:cNvPr>
          <p:cNvSpPr>
            <a:spLocks xmlns:a="http://schemas.openxmlformats.org/drawingml/2006/main" noGrp="1"/>
          </p:cNvSpPr>
          <p:nvPr/>
        </p:nvSpPr>
        <p:spPr>
          <a:xfrm xmlns:a="http://schemas.openxmlformats.org/drawingml/2006/main">
            <a:off x="762000" y="1666875"/>
            <a:ext cx="4524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2868AF"/>
                </a:solidFill>
                <a:latin typeface="Arial"/>
                <a:ea typeface="Arial"/>
                <a:cs typeface="Arial"/>
              </a:defRPr>
            </a:defPPr>
          </a:lstStyle>
          <a:p xmlns:a="http://schemas.openxmlformats.org/drawingml/2006/main">
            <a:pPr algn="l">
              <a:buNone/>
              <a:defRPr sz="2625" b="1">
                <a:solidFill>
                  <a:srgbClr val="2868AF"/>
                </a:solidFill>
                <a:latin typeface="Arial"/>
                <a:ea typeface="Arial"/>
                <a:cs typeface="Arial"/>
              </a:defRPr>
            </a:pPr>
            <a:r>
              <a:rPr sz="2625" b="1">
                <a:solidFill>
                  <a:srgbClr val="2868AF"/>
                </a:solidFill>
                <a:latin typeface="Arial"/>
                <a:ea typeface="Arial"/>
                <a:cs typeface="Arial"/>
              </a:rPr>
              <a:t>Нижня межа</a:t>
            </a:r>
          </a:p>
        </p:txBody>
      </p:sp>
      <p:sp>
        <p:nvSpPr>
          <p:cNvPr id="9" name="">
            <a:extLst xmlns:a="http://schemas.openxmlformats.org/drawingml/2006/main">
              <a:ext uri="{FF2B5EF4-FFF2-40B4-BE49-F238E27FC236}">
                <a16:creationId xmlns:a16="http://schemas.microsoft.com/office/drawing/2014/main" id="{AB2BE256-A3F7-48FF-AEE5-DD1E38ABF553}"/>
              </a:ext>
            </a:extLst>
          </p:cNvPr>
          <p:cNvSpPr>
            <a:spLocks xmlns:a="http://schemas.openxmlformats.org/drawingml/2006/main" noGrp="1"/>
          </p:cNvSpPr>
          <p:nvPr/>
        </p:nvSpPr>
        <p:spPr>
          <a:xfrm xmlns:a="http://schemas.openxmlformats.org/drawingml/2006/main">
            <a:off x="6858000" y="1666875"/>
            <a:ext cx="4667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625" b="1">
                <a:solidFill>
                  <a:srgbClr val="00857D"/>
                </a:solidFill>
                <a:latin typeface="Arial"/>
                <a:ea typeface="Arial"/>
                <a:cs typeface="Arial"/>
              </a:defRPr>
            </a:defPPr>
          </a:lstStyle>
          <a:p xmlns:a="http://schemas.openxmlformats.org/drawingml/2006/main">
            <a:pPr algn="l">
              <a:buNone/>
              <a:defRPr sz="2625" b="1">
                <a:solidFill>
                  <a:srgbClr val="00857D"/>
                </a:solidFill>
                <a:latin typeface="Arial"/>
                <a:ea typeface="Arial"/>
                <a:cs typeface="Arial"/>
              </a:defRPr>
            </a:pPr>
            <a:r>
              <a:rPr sz="2625" b="1">
                <a:solidFill>
                  <a:srgbClr val="00857D"/>
                </a:solidFill>
                <a:latin typeface="Arial"/>
                <a:ea typeface="Arial"/>
                <a:cs typeface="Arial"/>
              </a:rPr>
              <a:t>Знайдений маршрут</a:t>
            </a:r>
          </a:p>
        </p:txBody>
      </p:sp>
      <p:sp>
        <p:nvSpPr>
          <p:cNvPr id="10" name="">
            <a:extLst xmlns:a="http://schemas.openxmlformats.org/drawingml/2006/main">
              <a:ext uri="{FF2B5EF4-FFF2-40B4-BE49-F238E27FC236}">
                <a16:creationId xmlns:a16="http://schemas.microsoft.com/office/drawing/2014/main" id="{41A5F907-6E02-496E-BBFD-1C00A150427F}"/>
              </a:ext>
            </a:extLst>
          </p:cNvPr>
          <p:cNvSpPr>
            <a:spLocks xmlns:a="http://schemas.openxmlformats.org/drawingml/2006/main" noGrp="1"/>
          </p:cNvSpPr>
          <p:nvPr/>
        </p:nvSpPr>
        <p:spPr>
          <a:xfrm xmlns:a="http://schemas.openxmlformats.org/drawingml/2006/main">
            <a:off x="762000" y="2343150"/>
            <a:ext cx="4524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0" b="1">
                <a:solidFill>
                  <a:srgbClr val="2868AF"/>
                </a:solidFill>
                <a:latin typeface="Arial"/>
                <a:ea typeface="Arial"/>
                <a:cs typeface="Arial"/>
              </a:defRPr>
            </a:defPPr>
          </a:lstStyle>
          <a:p xmlns:a="http://schemas.openxmlformats.org/drawingml/2006/main">
            <a:pPr algn="l">
              <a:buNone/>
              <a:defRPr sz="7500" b="1">
                <a:solidFill>
                  <a:srgbClr val="2868AF"/>
                </a:solidFill>
                <a:latin typeface="Arial"/>
                <a:ea typeface="Arial"/>
                <a:cs typeface="Arial"/>
              </a:defRPr>
            </a:pPr>
            <a:r>
              <a:rPr sz="7500" b="1">
                <a:solidFill>
                  <a:srgbClr val="2868AF"/>
                </a:solidFill>
                <a:latin typeface="Arial"/>
                <a:ea typeface="Arial"/>
                <a:cs typeface="Arial"/>
              </a:rPr>
              <a:t>36</a:t>
            </a:r>
          </a:p>
        </p:txBody>
      </p:sp>
      <p:sp>
        <p:nvSpPr>
          <p:cNvPr id="11" name="">
            <a:extLst xmlns:a="http://schemas.openxmlformats.org/drawingml/2006/main">
              <a:ext uri="{FF2B5EF4-FFF2-40B4-BE49-F238E27FC236}">
                <a16:creationId xmlns:a16="http://schemas.microsoft.com/office/drawing/2014/main" id="{19B824AB-88B9-4503-807E-983E8AC5630D}"/>
              </a:ext>
            </a:extLst>
          </p:cNvPr>
          <p:cNvSpPr>
            <a:spLocks xmlns:a="http://schemas.openxmlformats.org/drawingml/2006/main" noGrp="1"/>
          </p:cNvSpPr>
          <p:nvPr/>
        </p:nvSpPr>
        <p:spPr>
          <a:xfrm xmlns:a="http://schemas.openxmlformats.org/drawingml/2006/main">
            <a:off x="6858000" y="2343150"/>
            <a:ext cx="4667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0" b="1">
                <a:solidFill>
                  <a:srgbClr val="00857D"/>
                </a:solidFill>
                <a:latin typeface="Arial"/>
                <a:ea typeface="Arial"/>
                <a:cs typeface="Arial"/>
              </a:defRPr>
            </a:defPPr>
          </a:lstStyle>
          <a:p xmlns:a="http://schemas.openxmlformats.org/drawingml/2006/main">
            <a:pPr algn="l">
              <a:buNone/>
              <a:defRPr sz="7500" b="1">
                <a:solidFill>
                  <a:srgbClr val="00857D"/>
                </a:solidFill>
                <a:latin typeface="Arial"/>
                <a:ea typeface="Arial"/>
                <a:cs typeface="Arial"/>
              </a:defRPr>
            </a:pPr>
            <a:r>
              <a:rPr sz="7500" b="1">
                <a:solidFill>
                  <a:srgbClr val="00857D"/>
                </a:solidFill>
                <a:latin typeface="Arial"/>
                <a:ea typeface="Arial"/>
                <a:cs typeface="Arial"/>
              </a:rPr>
              <a:t>36</a:t>
            </a:r>
          </a:p>
        </p:txBody>
      </p:sp>
      <p:sp>
        <p:nvSpPr>
          <p:cNvPr id="12" name="">
            <a:extLst xmlns:a="http://schemas.openxmlformats.org/drawingml/2006/main">
              <a:ext uri="{FF2B5EF4-FFF2-40B4-BE49-F238E27FC236}">
                <a16:creationId xmlns:a16="http://schemas.microsoft.com/office/drawing/2014/main" id="{D809A1B6-0ACE-4EF9-A98B-55C1168337A5}"/>
              </a:ext>
            </a:extLst>
          </p:cNvPr>
          <p:cNvSpPr>
            <a:spLocks xmlns:a="http://schemas.openxmlformats.org/drawingml/2006/main" noGrp="1"/>
          </p:cNvSpPr>
          <p:nvPr/>
        </p:nvSpPr>
        <p:spPr>
          <a:xfrm xmlns:a="http://schemas.openxmlformats.org/drawingml/2006/main">
            <a:off x="762000" y="36385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Жоден TSP-план не дешевший</a:t>
            </a:r>
          </a:p>
        </p:txBody>
      </p:sp>
      <p:sp>
        <p:nvSpPr>
          <p:cNvPr id="13" name="">
            <a:extLst xmlns:a="http://schemas.openxmlformats.org/drawingml/2006/main">
              <a:ext uri="{FF2B5EF4-FFF2-40B4-BE49-F238E27FC236}">
                <a16:creationId xmlns:a16="http://schemas.microsoft.com/office/drawing/2014/main" id="{C2865D84-3837-4A6D-8EA7-89176FB4C5BB}"/>
              </a:ext>
            </a:extLst>
          </p:cNvPr>
          <p:cNvSpPr>
            <a:spLocks xmlns:a="http://schemas.openxmlformats.org/drawingml/2006/main" noGrp="1"/>
          </p:cNvSpPr>
          <p:nvPr/>
        </p:nvSpPr>
        <p:spPr>
          <a:xfrm xmlns:a="http://schemas.openxmlformats.org/drawingml/2006/main">
            <a:off x="6858000" y="36385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Один цикл, усі шість вузлів</a:t>
            </a:r>
          </a:p>
        </p:txBody>
      </p:sp>
      <p:sp>
        <p:nvSpPr>
          <p:cNvPr id="14" name="">
            <a:extLst xmlns:a="http://schemas.openxmlformats.org/drawingml/2006/main">
              <a:ext uri="{FF2B5EF4-FFF2-40B4-BE49-F238E27FC236}">
                <a16:creationId xmlns:a16="http://schemas.microsoft.com/office/drawing/2014/main" id="{87D74E79-2063-40D9-934A-92F92C32B868}"/>
              </a:ext>
            </a:extLst>
          </p:cNvPr>
          <p:cNvSpPr>
            <a:spLocks xmlns:a="http://schemas.openxmlformats.org/drawingml/2006/main" noGrp="1"/>
          </p:cNvSpPr>
          <p:nvPr/>
        </p:nvSpPr>
        <p:spPr>
          <a:xfrm xmlns:a="http://schemas.openxmlformats.org/drawingml/2006/main">
            <a:off x="762000" y="46482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575" b="1">
                <a:solidFill>
                  <a:srgbClr val="173047"/>
                </a:solidFill>
                <a:latin typeface="Arial"/>
                <a:ea typeface="Arial"/>
                <a:cs typeface="Arial"/>
              </a:defRPr>
            </a:defPPr>
          </a:lstStyle>
          <a:p xmlns:a="http://schemas.openxmlformats.org/drawingml/2006/main">
            <a:pPr algn="ctr">
              <a:buNone/>
              <a:defRPr sz="4575" b="1">
                <a:solidFill>
                  <a:srgbClr val="173047"/>
                </a:solidFill>
                <a:latin typeface="Arial"/>
                <a:ea typeface="Arial"/>
                <a:cs typeface="Arial"/>
              </a:defRPr>
            </a:pPr>
            <a:r>
              <a:rPr sz="4575" b="1">
                <a:solidFill>
                  <a:srgbClr val="173047"/>
                </a:solidFill>
                <a:latin typeface="Arial"/>
                <a:ea typeface="Arial"/>
                <a:cs typeface="Arial"/>
              </a:rPr>
              <a:t>36 ≤ C* ≤ 36</a:t>
            </a:r>
          </a:p>
        </p:txBody>
      </p:sp>
    </p:spTree>
    <p:extLst>
      <p:ext uri="{BB962C8B-B14F-4D97-AF65-F5344CB8AC3E}">
        <p14:creationId xmlns:p14="http://schemas.microsoft.com/office/powerpoint/2010/main" val="846062978"/>
      </p:ext>
    </p:extLst>
  </p:cSld>
</p:sld>
</file>

<file path=ppt/slides/slide73.xml><?xml version="1.0" encoding="utf-8"?>
<p:sld xmlns:p="http://schemas.openxmlformats.org/presentationml/2006/main">
  <p:cSld>
    <p:bg>
      <p:bgPr>
        <a:solidFill xmlns:a="http://schemas.openxmlformats.org/drawingml/2006/main">
          <a:srgbClr val="17304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360CBFD-D485-41E9-AF73-E0672634BB8D}"/>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buNone/>
              <a:defRPr sz="1350" b="0">
                <a:solidFill>
                  <a:srgbClr val="FFFFFF"/>
                </a:solidFill>
                <a:latin typeface="Arial"/>
                <a:ea typeface="Arial"/>
                <a:cs typeface="Arial"/>
              </a:defRPr>
            </a:pPr>
            <a:r>
              <a:t>73</a:t>
            </a:r>
          </a:p>
        </p:txBody>
      </p:sp>
      <p:sp>
        <p:nvSpPr>
          <p:cNvPr id="2" name="">
            <a:extLst xmlns:a="http://schemas.openxmlformats.org/drawingml/2006/main">
              <a:ext uri="{FF2B5EF4-FFF2-40B4-BE49-F238E27FC236}">
                <a16:creationId xmlns:a16="http://schemas.microsoft.com/office/drawing/2014/main" id="{F89DDCD0-47D6-4537-BDA7-EFF162B30E37}"/>
              </a:ext>
            </a:extLst>
          </p:cNvPr>
          <p:cNvSpPr>
            <a:spLocks xmlns:a="http://schemas.openxmlformats.org/drawingml/2006/main" noGrp="1"/>
          </p:cNvSpPr>
          <p:nvPr/>
        </p:nvSpPr>
        <p:spPr>
          <a:xfrm xmlns:a="http://schemas.openxmlformats.org/drawingml/2006/main">
            <a:off x="762000" y="1381125"/>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400" b="1">
                <a:solidFill>
                  <a:srgbClr val="FFFFFF"/>
                </a:solidFill>
                <a:latin typeface="Arial"/>
                <a:ea typeface="Arial"/>
                <a:cs typeface="Arial"/>
              </a:defRPr>
            </a:defPPr>
          </a:lstStyle>
          <a:p xmlns:a="http://schemas.openxmlformats.org/drawingml/2006/main">
            <a:pPr algn="l">
              <a:buNone/>
              <a:defRPr sz="5400" b="1">
                <a:solidFill>
                  <a:srgbClr val="FFFFFF"/>
                </a:solidFill>
                <a:latin typeface="Arial"/>
                <a:ea typeface="Arial"/>
                <a:cs typeface="Arial"/>
              </a:defRPr>
            </a:pPr>
            <a:r>
              <a:rPr sz="5400" b="1">
                <a:solidFill>
                  <a:srgbClr val="FFFFFF"/>
                </a:solidFill>
                <a:latin typeface="Arial"/>
                <a:ea typeface="Arial"/>
                <a:cs typeface="Arial"/>
              </a:rPr>
              <a:t>Python</a:t>
            </a:r>
          </a:p>
          <a:p xmlns:a="http://schemas.openxmlformats.org/drawingml/2006/main">
            <a:pPr algn="l">
              <a:buNone/>
              <a:defRPr sz="5400" b="1">
                <a:solidFill>
                  <a:srgbClr val="FFFFFF"/>
                </a:solidFill>
                <a:latin typeface="Arial"/>
                <a:ea typeface="Arial"/>
                <a:cs typeface="Arial"/>
              </a:defRPr>
            </a:pPr>
            <a:r>
              <a:rPr sz="5400" b="1">
                <a:solidFill>
                  <a:srgbClr val="FFFFFF"/>
                </a:solidFill>
                <a:latin typeface="Arial"/>
                <a:ea typeface="Arial"/>
                <a:cs typeface="Arial"/>
              </a:rPr>
              <a:t>і перевірка</a:t>
            </a:r>
          </a:p>
        </p:txBody>
      </p:sp>
      <p:sp>
        <p:nvSpPr>
          <p:cNvPr id="3" name="">
            <a:extLst xmlns:a="http://schemas.openxmlformats.org/drawingml/2006/main">
              <a:ext uri="{FF2B5EF4-FFF2-40B4-BE49-F238E27FC236}">
                <a16:creationId xmlns:a16="http://schemas.microsoft.com/office/drawing/2014/main" id="{86E54DAC-33BB-41AB-B335-81FF49BCE4DD}"/>
              </a:ext>
            </a:extLst>
          </p:cNvPr>
          <p:cNvSpPr>
            <a:spLocks xmlns:a="http://schemas.openxmlformats.org/drawingml/2006/main" noGrp="1"/>
          </p:cNvSpPr>
          <p:nvPr/>
        </p:nvSpPr>
        <p:spPr>
          <a:xfrm xmlns:a="http://schemas.openxmlformats.org/drawingml/2006/main">
            <a:off x="762000" y="4010025"/>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0">
                <a:solidFill>
                  <a:srgbClr val="FFFFFF"/>
                </a:solidFill>
                <a:latin typeface="Arial"/>
                <a:ea typeface="Arial"/>
                <a:cs typeface="Arial"/>
              </a:defRPr>
            </a:defPPr>
          </a:lstStyle>
          <a:p xmlns:a="http://schemas.openxmlformats.org/drawingml/2006/main">
            <a:pPr algn="l">
              <a:buNone/>
              <a:defRPr sz="2850" b="0">
                <a:solidFill>
                  <a:srgbClr val="FFFFFF"/>
                </a:solidFill>
                <a:latin typeface="Arial"/>
                <a:ea typeface="Arial"/>
                <a:cs typeface="Arial"/>
              </a:defRPr>
            </a:pPr>
            <a:r>
              <a:rPr sz="2850" b="0">
                <a:solidFill>
                  <a:srgbClr val="FFFFFF"/>
                </a:solidFill>
                <a:latin typeface="Arial"/>
                <a:ea typeface="Arial"/>
                <a:cs typeface="Arial"/>
              </a:rPr>
              <a:t>Та сама модель, фактичний результат</a:t>
            </a:r>
          </a:p>
          <a:p xmlns:a="http://schemas.openxmlformats.org/drawingml/2006/main">
            <a:pPr algn="l">
              <a:buNone/>
              <a:defRPr sz="2850" b="0">
                <a:solidFill>
                  <a:srgbClr val="FFFFFF"/>
                </a:solidFill>
                <a:latin typeface="Arial"/>
                <a:ea typeface="Arial"/>
                <a:cs typeface="Arial"/>
              </a:defRPr>
            </a:pPr>
            <a:r>
              <a:rPr sz="2850" b="0">
                <a:solidFill>
                  <a:srgbClr val="FFFFFF"/>
                </a:solidFill>
                <a:latin typeface="Arial"/>
                <a:ea typeface="Arial"/>
                <a:cs typeface="Arial"/>
              </a:rPr>
              <a:t>та незалежна перевірка маршруту</a:t>
            </a:r>
          </a:p>
        </p:txBody>
      </p:sp>
    </p:spTree>
    <p:extLst>
      <p:ext uri="{BB962C8B-B14F-4D97-AF65-F5344CB8AC3E}">
        <p14:creationId xmlns:p14="http://schemas.microsoft.com/office/powerpoint/2010/main" val="563852247"/>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C17A4A-5973-4FA5-8CE0-11782194A4A4}"/>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дані навчального TSP</a:t>
            </a:r>
          </a:p>
        </p:txBody>
      </p:sp>
      <p:sp>
        <p:nvSpPr>
          <p:cNvPr id="2" name="">
            <a:extLst xmlns:a="http://schemas.openxmlformats.org/drawingml/2006/main">
              <a:ext uri="{FF2B5EF4-FFF2-40B4-BE49-F238E27FC236}">
                <a16:creationId xmlns:a16="http://schemas.microsoft.com/office/drawing/2014/main" id="{9D6492D2-C881-4FF4-AA7F-3EA9EA31932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Усі методи працюють з однією матрицею.</a:t>
            </a:r>
          </a:p>
        </p:txBody>
      </p:sp>
      <p:sp>
        <p:nvSpPr>
          <p:cNvPr id="3" name="">
            <a:extLst xmlns:a="http://schemas.openxmlformats.org/drawingml/2006/main">
              <a:ext uri="{FF2B5EF4-FFF2-40B4-BE49-F238E27FC236}">
                <a16:creationId xmlns:a16="http://schemas.microsoft.com/office/drawing/2014/main" id="{247598F4-3272-4361-84A3-2FF78B73DB0E}"/>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74</a:t>
            </a:r>
          </a:p>
        </p:txBody>
      </p:sp>
      <p:sp>
        <p:nvSpPr>
          <p:cNvPr id="4" name="">
            <a:extLst xmlns:a="http://schemas.openxmlformats.org/drawingml/2006/main">
              <a:ext uri="{FF2B5EF4-FFF2-40B4-BE49-F238E27FC236}">
                <a16:creationId xmlns:a16="http://schemas.microsoft.com/office/drawing/2014/main" id="{3DBF6B50-7003-4E11-B8D3-0660B714758D}"/>
              </a:ext>
            </a:extLst>
          </p:cNvPr>
          <p:cNvSpPr>
            <a:spLocks xmlns:a="http://schemas.openxmlformats.org/drawingml/2006/main" noGrp="1"/>
          </p:cNvSpPr>
          <p:nvPr/>
        </p:nvSpPr>
        <p:spPr>
          <a:xfrm xmlns:a="http://schemas.openxmlformats.org/drawingml/2006/main">
            <a:off x="762000" y="1600200"/>
            <a:ext cx="10668000" cy="282092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A26318-920D-4422-850F-D52D67BF0BE0}"/>
              </a:ext>
            </a:extLst>
          </p:cNvPr>
          <p:cNvSpPr>
            <a:spLocks xmlns:a="http://schemas.openxmlformats.org/drawingml/2006/main" noGrp="1"/>
          </p:cNvSpPr>
          <p:nvPr/>
        </p:nvSpPr>
        <p:spPr>
          <a:xfrm xmlns:a="http://schemas.openxmlformats.org/drawingml/2006/main">
            <a:off x="933450" y="1676400"/>
            <a:ext cx="10325100" cy="2668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a:r>
          </a:p>
        </p:txBody>
      </p:sp>
      <p:sp>
        <p:nvSpPr>
          <p:cNvPr id="7" name="">
            <a:extLst xmlns:a="http://schemas.openxmlformats.org/drawingml/2006/main">
              <a:ext uri="{FF2B5EF4-FFF2-40B4-BE49-F238E27FC236}">
                <a16:creationId xmlns:a16="http://schemas.microsoft.com/office/drawing/2014/main" id="{A87D184E-A696-4A1D-88E0-A89129243B55}"/>
              </a:ext>
            </a:extLst>
          </p:cNvPr>
          <p:cNvSpPr>
            <a:spLocks xmlns:a="http://schemas.openxmlformats.org/drawingml/2006/main" noGrp="1"/>
          </p:cNvSpPr>
          <p:nvPr/>
        </p:nvSpPr>
        <p:spPr>
          <a:xfrm xmlns:a="http://schemas.openxmlformats.org/drawingml/2006/main">
            <a:off x="933450" y="1676400"/>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import numpy as np</a:t>
            </a:r>
          </a:p>
        </p:txBody>
      </p:sp>
      <p:sp>
        <p:nvSpPr>
          <p:cNvPr id="8" name="">
            <a:extLst xmlns:a="http://schemas.openxmlformats.org/drawingml/2006/main">
              <a:ext uri="{FF2B5EF4-FFF2-40B4-BE49-F238E27FC236}">
                <a16:creationId xmlns:a16="http://schemas.microsoft.com/office/drawing/2014/main" id="{655D7FCB-4384-47D3-8013-A4282D37952F}"/>
              </a:ext>
            </a:extLst>
          </p:cNvPr>
          <p:cNvSpPr>
            <a:spLocks xmlns:a="http://schemas.openxmlformats.org/drawingml/2006/main" noGrp="1"/>
          </p:cNvSpPr>
          <p:nvPr/>
        </p:nvSpPr>
        <p:spPr>
          <a:xfrm xmlns:a="http://schemas.openxmlformats.org/drawingml/2006/main">
            <a:off x="933450" y="1964436"/>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from scipy.optimize import milp, Bounds, LinearConstraint</a:t>
            </a:r>
          </a:p>
        </p:txBody>
      </p:sp>
      <p:sp>
        <p:nvSpPr>
          <p:cNvPr id="9" name="">
            <a:extLst xmlns:a="http://schemas.openxmlformats.org/drawingml/2006/main">
              <a:ext uri="{FF2B5EF4-FFF2-40B4-BE49-F238E27FC236}">
                <a16:creationId xmlns:a16="http://schemas.microsoft.com/office/drawing/2014/main" id="{40FB68E8-739B-45B3-8FAB-9469E383BC1F}"/>
              </a:ext>
            </a:extLst>
          </p:cNvPr>
          <p:cNvSpPr>
            <a:spLocks xmlns:a="http://schemas.openxmlformats.org/drawingml/2006/main" noGrp="1"/>
          </p:cNvSpPr>
          <p:nvPr/>
        </p:nvSpPr>
        <p:spPr>
          <a:xfrm xmlns:a="http://schemas.openxmlformats.org/drawingml/2006/main">
            <a:off x="933450" y="2252472"/>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C = np.array([[0, 2, 16, 11, 19, 12],</a:t>
            </a:r>
          </a:p>
        </p:txBody>
      </p:sp>
      <p:sp>
        <p:nvSpPr>
          <p:cNvPr id="10" name="">
            <a:extLst xmlns:a="http://schemas.openxmlformats.org/drawingml/2006/main">
              <a:ext uri="{FF2B5EF4-FFF2-40B4-BE49-F238E27FC236}">
                <a16:creationId xmlns:a16="http://schemas.microsoft.com/office/drawing/2014/main" id="{6CA120E3-A3C3-492D-A6E8-647BB4219ACF}"/>
              </a:ext>
            </a:extLst>
          </p:cNvPr>
          <p:cNvSpPr>
            <a:spLocks xmlns:a="http://schemas.openxmlformats.org/drawingml/2006/main" noGrp="1"/>
          </p:cNvSpPr>
          <p:nvPr/>
        </p:nvSpPr>
        <p:spPr>
          <a:xfrm xmlns:a="http://schemas.openxmlformats.org/drawingml/2006/main">
            <a:off x="933450" y="2540508"/>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[2, 0, 15, 21, 10, 14],</a:t>
            </a:r>
          </a:p>
        </p:txBody>
      </p:sp>
      <p:sp>
        <p:nvSpPr>
          <p:cNvPr id="11" name="">
            <a:extLst xmlns:a="http://schemas.openxmlformats.org/drawingml/2006/main">
              <a:ext uri="{FF2B5EF4-FFF2-40B4-BE49-F238E27FC236}">
                <a16:creationId xmlns:a16="http://schemas.microsoft.com/office/drawing/2014/main" id="{B5FE419C-329C-4CFB-9136-2C216FEB6101}"/>
              </a:ext>
            </a:extLst>
          </p:cNvPr>
          <p:cNvSpPr>
            <a:spLocks xmlns:a="http://schemas.openxmlformats.org/drawingml/2006/main" noGrp="1"/>
          </p:cNvSpPr>
          <p:nvPr/>
        </p:nvSpPr>
        <p:spPr>
          <a:xfrm xmlns:a="http://schemas.openxmlformats.org/drawingml/2006/main">
            <a:off x="933450" y="2828544"/>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[16, 15, 0, 2, 5, 18],</a:t>
            </a:r>
          </a:p>
        </p:txBody>
      </p:sp>
      <p:sp>
        <p:nvSpPr>
          <p:cNvPr id="12" name="">
            <a:extLst xmlns:a="http://schemas.openxmlformats.org/drawingml/2006/main">
              <a:ext uri="{FF2B5EF4-FFF2-40B4-BE49-F238E27FC236}">
                <a16:creationId xmlns:a16="http://schemas.microsoft.com/office/drawing/2014/main" id="{C753271B-661F-4E33-97EC-87192DDA90EE}"/>
              </a:ext>
            </a:extLst>
          </p:cNvPr>
          <p:cNvSpPr>
            <a:spLocks xmlns:a="http://schemas.openxmlformats.org/drawingml/2006/main" noGrp="1"/>
          </p:cNvSpPr>
          <p:nvPr/>
        </p:nvSpPr>
        <p:spPr>
          <a:xfrm xmlns:a="http://schemas.openxmlformats.org/drawingml/2006/main">
            <a:off x="933450" y="3116580"/>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[11, 21, 2, 0, 12, 12],</a:t>
            </a:r>
          </a:p>
        </p:txBody>
      </p:sp>
      <p:sp>
        <p:nvSpPr>
          <p:cNvPr id="13" name="">
            <a:extLst xmlns:a="http://schemas.openxmlformats.org/drawingml/2006/main">
              <a:ext uri="{FF2B5EF4-FFF2-40B4-BE49-F238E27FC236}">
                <a16:creationId xmlns:a16="http://schemas.microsoft.com/office/drawing/2014/main" id="{801AB770-86E9-46B2-89FF-8FAF18B356E6}"/>
              </a:ext>
            </a:extLst>
          </p:cNvPr>
          <p:cNvSpPr>
            <a:spLocks xmlns:a="http://schemas.openxmlformats.org/drawingml/2006/main" noGrp="1"/>
          </p:cNvSpPr>
          <p:nvPr/>
        </p:nvSpPr>
        <p:spPr>
          <a:xfrm xmlns:a="http://schemas.openxmlformats.org/drawingml/2006/main">
            <a:off x="933450" y="3404616"/>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[19, 10, 5, 12, 0, 2],</a:t>
            </a:r>
          </a:p>
        </p:txBody>
      </p:sp>
      <p:sp>
        <p:nvSpPr>
          <p:cNvPr id="14" name="">
            <a:extLst xmlns:a="http://schemas.openxmlformats.org/drawingml/2006/main">
              <a:ext uri="{FF2B5EF4-FFF2-40B4-BE49-F238E27FC236}">
                <a16:creationId xmlns:a16="http://schemas.microsoft.com/office/drawing/2014/main" id="{75544C2A-7094-4179-80FA-ACBD0A92E68F}"/>
              </a:ext>
            </a:extLst>
          </p:cNvPr>
          <p:cNvSpPr>
            <a:spLocks xmlns:a="http://schemas.openxmlformats.org/drawingml/2006/main" noGrp="1"/>
          </p:cNvSpPr>
          <p:nvPr/>
        </p:nvSpPr>
        <p:spPr>
          <a:xfrm xmlns:a="http://schemas.openxmlformats.org/drawingml/2006/main">
            <a:off x="933450" y="3692652"/>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[12, 14, 18, 12, 2, 0]])</a:t>
            </a:r>
          </a:p>
        </p:txBody>
      </p:sp>
      <p:sp>
        <p:nvSpPr>
          <p:cNvPr id="15" name="">
            <a:extLst xmlns:a="http://schemas.openxmlformats.org/drawingml/2006/main">
              <a:ext uri="{FF2B5EF4-FFF2-40B4-BE49-F238E27FC236}">
                <a16:creationId xmlns:a16="http://schemas.microsoft.com/office/drawing/2014/main" id="{8D0B0B57-9F29-4F88-985E-30D3C5D807E2}"/>
              </a:ext>
            </a:extLst>
          </p:cNvPr>
          <p:cNvSpPr>
            <a:spLocks xmlns:a="http://schemas.openxmlformats.org/drawingml/2006/main" noGrp="1"/>
          </p:cNvSpPr>
          <p:nvPr/>
        </p:nvSpPr>
        <p:spPr>
          <a:xfrm xmlns:a="http://schemas.openxmlformats.org/drawingml/2006/main">
            <a:off x="933450" y="3980688"/>
            <a:ext cx="103251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73047"/>
                </a:solidFill>
                <a:latin typeface="Courier New"/>
                <a:ea typeface="Courier New"/>
                <a:cs typeface="Courier New"/>
              </a:defRPr>
            </a:defPPr>
          </a:lstStyle>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NAME = "SABCDE"; n = len(C)</a:t>
            </a:r>
          </a:p>
        </p:txBody>
      </p:sp>
    </p:spTree>
    <p:extLst>
      <p:ext uri="{BB962C8B-B14F-4D97-AF65-F5344CB8AC3E}">
        <p14:creationId xmlns:p14="http://schemas.microsoft.com/office/powerpoint/2010/main" val="86666899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2C176C-E6EF-4225-8DD0-1832B57BB89F}"/>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дуги, вектор x і матриця обмежень</a:t>
            </a:r>
          </a:p>
        </p:txBody>
      </p:sp>
      <p:sp>
        <p:nvSpPr>
          <p:cNvPr id="2" name="">
            <a:extLst xmlns:a="http://schemas.openxmlformats.org/drawingml/2006/main">
              <a:ext uri="{FF2B5EF4-FFF2-40B4-BE49-F238E27FC236}">
                <a16:creationId xmlns:a16="http://schemas.microsoft.com/office/drawing/2014/main" id="{49FBD4DA-3D5C-433C-8555-8A6C0D9BE41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Стовпці A відповідають тим самим дугам, що й вектор c.</a:t>
            </a:r>
          </a:p>
        </p:txBody>
      </p:sp>
      <p:sp>
        <p:nvSpPr>
          <p:cNvPr id="3" name="">
            <a:extLst xmlns:a="http://schemas.openxmlformats.org/drawingml/2006/main">
              <a:ext uri="{FF2B5EF4-FFF2-40B4-BE49-F238E27FC236}">
                <a16:creationId xmlns:a16="http://schemas.microsoft.com/office/drawing/2014/main" id="{317D640A-8ED8-4F9C-9249-BB23CB2C661A}"/>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75</a:t>
            </a:r>
          </a:p>
        </p:txBody>
      </p:sp>
      <p:sp>
        <p:nvSpPr>
          <p:cNvPr id="4" name="">
            <a:extLst xmlns:a="http://schemas.openxmlformats.org/drawingml/2006/main">
              <a:ext uri="{FF2B5EF4-FFF2-40B4-BE49-F238E27FC236}">
                <a16:creationId xmlns:a16="http://schemas.microsoft.com/office/drawing/2014/main" id="{945272FA-5A03-4312-86A7-83E797A71D89}"/>
              </a:ext>
            </a:extLst>
          </p:cNvPr>
          <p:cNvSpPr>
            <a:spLocks xmlns:a="http://schemas.openxmlformats.org/drawingml/2006/main" noGrp="1"/>
          </p:cNvSpPr>
          <p:nvPr/>
        </p:nvSpPr>
        <p:spPr>
          <a:xfrm xmlns:a="http://schemas.openxmlformats.org/drawingml/2006/main">
            <a:off x="762000" y="1504950"/>
            <a:ext cx="10668000" cy="24475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393211-2A1E-404E-B4D8-3296D0E0654F}"/>
              </a:ext>
            </a:extLst>
          </p:cNvPr>
          <p:cNvSpPr>
            <a:spLocks xmlns:a="http://schemas.openxmlformats.org/drawingml/2006/main" noGrp="1"/>
          </p:cNvSpPr>
          <p:nvPr/>
        </p:nvSpPr>
        <p:spPr>
          <a:xfrm xmlns:a="http://schemas.openxmlformats.org/drawingml/2006/main">
            <a:off x="933450" y="1581150"/>
            <a:ext cx="10325100" cy="2295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Вилучаємо петлі i=j: залишаються 30 змінних</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arcs = [(i, j) for i in range(n) for j in range(n) if i != j]</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c = np.array([C[i, j] for i, j in arcs], dtype=float)</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Перші 6 рядків — виходи, наступні 6 — входи</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 = [[int(i == v) for i, j in arcs] for v in range(n)]</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 += [[int(j == v) for i, j in arcs] for v in range(n)]</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lo = [1.] * (2*n); hi = [1.] * (2*n)</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print(len(arcs), np.asarray(A).shape)</a:t>
            </a:r>
          </a:p>
        </p:txBody>
      </p:sp>
      <p:sp>
        <p:nvSpPr>
          <p:cNvPr id="6" name="">
            <a:extLst xmlns:a="http://schemas.openxmlformats.org/drawingml/2006/main">
              <a:ext uri="{FF2B5EF4-FFF2-40B4-BE49-F238E27FC236}">
                <a16:creationId xmlns:a16="http://schemas.microsoft.com/office/drawing/2014/main" id="{7093FB76-245E-4211-9DAA-229B59B98C84}"/>
              </a:ext>
            </a:extLst>
          </p:cNvPr>
          <p:cNvSpPr>
            <a:spLocks xmlns:a="http://schemas.openxmlformats.org/drawingml/2006/main" noGrp="1"/>
          </p:cNvSpPr>
          <p:nvPr/>
        </p:nvSpPr>
        <p:spPr>
          <a:xfrm xmlns:a="http://schemas.openxmlformats.org/drawingml/2006/main">
            <a:off x="762000" y="4200144"/>
            <a:ext cx="10668000" cy="72390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7A1A186-7747-49DA-9D53-4C1A4A53FEBB}"/>
              </a:ext>
            </a:extLst>
          </p:cNvPr>
          <p:cNvSpPr>
            <a:spLocks xmlns:a="http://schemas.openxmlformats.org/drawingml/2006/main" noGrp="1"/>
          </p:cNvSpPr>
          <p:nvPr/>
        </p:nvSpPr>
        <p:spPr>
          <a:xfrm xmlns:a="http://schemas.openxmlformats.org/drawingml/2006/main">
            <a:off x="933450" y="4257294"/>
            <a:ext cx="10325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00857D"/>
                </a:solidFill>
                <a:latin typeface="Courier New"/>
                <a:ea typeface="Courier New"/>
                <a:cs typeface="Courier New"/>
              </a:defRPr>
            </a:defPPr>
          </a:lstStyle>
          <a:p xmlns:a="http://schemas.openxmlformats.org/drawingml/2006/main">
            <a:pPr algn="l">
              <a:buNone/>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30 (12, 30)</a:t>
            </a:r>
          </a:p>
        </p:txBody>
      </p:sp>
    </p:spTree>
    <p:extLst>
      <p:ext uri="{BB962C8B-B14F-4D97-AF65-F5344CB8AC3E}">
        <p14:creationId xmlns:p14="http://schemas.microsoft.com/office/powerpoint/2010/main" val="429806896"/>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C38588-B18B-4432-9E30-1FDEFB6EC9E8}"/>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відновлення циклів</a:t>
            </a:r>
          </a:p>
        </p:txBody>
      </p:sp>
      <p:sp>
        <p:nvSpPr>
          <p:cNvPr id="2" name="">
            <a:extLst xmlns:a="http://schemas.openxmlformats.org/drawingml/2006/main">
              <a:ext uri="{FF2B5EF4-FFF2-40B4-BE49-F238E27FC236}">
                <a16:creationId xmlns:a16="http://schemas.microsoft.com/office/drawing/2014/main" id="{A0B420A8-397F-4031-BA3D-B82BBEBBF1C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successor[i] зберігає наступний вузол після i.</a:t>
            </a:r>
          </a:p>
        </p:txBody>
      </p:sp>
      <p:sp>
        <p:nvSpPr>
          <p:cNvPr id="3" name="">
            <a:extLst xmlns:a="http://schemas.openxmlformats.org/drawingml/2006/main">
              <a:ext uri="{FF2B5EF4-FFF2-40B4-BE49-F238E27FC236}">
                <a16:creationId xmlns:a16="http://schemas.microsoft.com/office/drawing/2014/main" id="{6A1995D9-001E-4E11-94A2-F59D3DC7E57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76</a:t>
            </a:r>
          </a:p>
        </p:txBody>
      </p:sp>
      <p:sp>
        <p:nvSpPr>
          <p:cNvPr id="4" name="">
            <a:extLst xmlns:a="http://schemas.openxmlformats.org/drawingml/2006/main">
              <a:ext uri="{FF2B5EF4-FFF2-40B4-BE49-F238E27FC236}">
                <a16:creationId xmlns:a16="http://schemas.microsoft.com/office/drawing/2014/main" id="{F614E0ED-4122-458A-AC64-092869D10B2B}"/>
              </a:ext>
            </a:extLst>
          </p:cNvPr>
          <p:cNvSpPr>
            <a:spLocks xmlns:a="http://schemas.openxmlformats.org/drawingml/2006/main" noGrp="1"/>
          </p:cNvSpPr>
          <p:nvPr/>
        </p:nvSpPr>
        <p:spPr>
          <a:xfrm xmlns:a="http://schemas.openxmlformats.org/drawingml/2006/main">
            <a:off x="762000" y="1543050"/>
            <a:ext cx="10668000" cy="31623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AAF6D3-AC4A-47CA-9C19-5B57288E9286}"/>
              </a:ext>
            </a:extLst>
          </p:cNvPr>
          <p:cNvSpPr>
            <a:spLocks xmlns:a="http://schemas.openxmlformats.org/drawingml/2006/main" noGrp="1"/>
          </p:cNvSpPr>
          <p:nvPr/>
        </p:nvSpPr>
        <p:spPr>
          <a:xfrm xmlns:a="http://schemas.openxmlformats.org/drawingml/2006/main">
            <a:off x="933450" y="1619250"/>
            <a:ext cx="10325100" cy="300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050E1836-C244-4001-9B77-4501D1F360C8}"/>
              </a:ext>
            </a:extLst>
          </p:cNvPr>
          <p:cNvSpPr>
            <a:spLocks xmlns:a="http://schemas.openxmlformats.org/drawingml/2006/main" noGrp="1"/>
          </p:cNvSpPr>
          <p:nvPr/>
        </p:nvSpPr>
        <p:spPr>
          <a:xfrm xmlns:a="http://schemas.openxmlformats.org/drawingml/2006/main">
            <a:off x="762000" y="51149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00857D"/>
                </a:solidFill>
                <a:latin typeface="Courier New"/>
                <a:ea typeface="Courier New"/>
                <a:cs typeface="Courier New"/>
              </a:defRPr>
            </a:defPPr>
          </a:lstStyle>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Наприклад: [[0,1], [2,3], [4,5]]</a:t>
            </a:r>
          </a:p>
        </p:txBody>
      </p:sp>
      <p:sp>
        <p:nvSpPr>
          <p:cNvPr id="8" name="">
            <a:extLst xmlns:a="http://schemas.openxmlformats.org/drawingml/2006/main">
              <a:ext uri="{FF2B5EF4-FFF2-40B4-BE49-F238E27FC236}">
                <a16:creationId xmlns:a16="http://schemas.microsoft.com/office/drawing/2014/main" id="{9ED7BC56-DFAD-4F27-80E4-3E94A9383928}"/>
              </a:ext>
            </a:extLst>
          </p:cNvPr>
          <p:cNvSpPr>
            <a:spLocks xmlns:a="http://schemas.openxmlformats.org/drawingml/2006/main" noGrp="1"/>
          </p:cNvSpPr>
          <p:nvPr/>
        </p:nvSpPr>
        <p:spPr>
          <a:xfrm xmlns:a="http://schemas.openxmlformats.org/drawingml/2006/main">
            <a:off x="933450" y="16192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def find_cycles(x):</a:t>
            </a:r>
          </a:p>
        </p:txBody>
      </p:sp>
      <p:sp>
        <p:nvSpPr>
          <p:cNvPr id="9" name="">
            <a:extLst xmlns:a="http://schemas.openxmlformats.org/drawingml/2006/main">
              <a:ext uri="{FF2B5EF4-FFF2-40B4-BE49-F238E27FC236}">
                <a16:creationId xmlns:a16="http://schemas.microsoft.com/office/drawing/2014/main" id="{072D197C-B6DC-43AE-8ADC-BBAE4717C7AC}"/>
              </a:ext>
            </a:extLst>
          </p:cNvPr>
          <p:cNvSpPr>
            <a:spLocks xmlns:a="http://schemas.openxmlformats.org/drawingml/2006/main" noGrp="1"/>
          </p:cNvSpPr>
          <p:nvPr/>
        </p:nvSpPr>
        <p:spPr>
          <a:xfrm xmlns:a="http://schemas.openxmlformats.org/drawingml/2006/main">
            <a:off x="933450" y="18859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successor = {i:j for value,(i,j) in zip(x,arcs) if value&gt;.5}</a:t>
            </a:r>
          </a:p>
        </p:txBody>
      </p:sp>
      <p:sp>
        <p:nvSpPr>
          <p:cNvPr id="10" name="">
            <a:extLst xmlns:a="http://schemas.openxmlformats.org/drawingml/2006/main">
              <a:ext uri="{FF2B5EF4-FFF2-40B4-BE49-F238E27FC236}">
                <a16:creationId xmlns:a16="http://schemas.microsoft.com/office/drawing/2014/main" id="{5A5A20D0-4673-42C3-B8DC-1ED4C987612F}"/>
              </a:ext>
            </a:extLst>
          </p:cNvPr>
          <p:cNvSpPr>
            <a:spLocks xmlns:a="http://schemas.openxmlformats.org/drawingml/2006/main" noGrp="1"/>
          </p:cNvSpPr>
          <p:nvPr/>
        </p:nvSpPr>
        <p:spPr>
          <a:xfrm xmlns:a="http://schemas.openxmlformats.org/drawingml/2006/main">
            <a:off x="933450" y="21526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unseen = set(range(n)); cycles = []</a:t>
            </a:r>
          </a:p>
        </p:txBody>
      </p:sp>
      <p:sp>
        <p:nvSpPr>
          <p:cNvPr id="11" name="">
            <a:extLst xmlns:a="http://schemas.openxmlformats.org/drawingml/2006/main">
              <a:ext uri="{FF2B5EF4-FFF2-40B4-BE49-F238E27FC236}">
                <a16:creationId xmlns:a16="http://schemas.microsoft.com/office/drawing/2014/main" id="{D0514AF8-2C36-4FC5-8066-3745BAB63B06}"/>
              </a:ext>
            </a:extLst>
          </p:cNvPr>
          <p:cNvSpPr>
            <a:spLocks xmlns:a="http://schemas.openxmlformats.org/drawingml/2006/main" noGrp="1"/>
          </p:cNvSpPr>
          <p:nvPr/>
        </p:nvSpPr>
        <p:spPr>
          <a:xfrm xmlns:a="http://schemas.openxmlformats.org/drawingml/2006/main">
            <a:off x="933450" y="24193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while unseen:</a:t>
            </a:r>
          </a:p>
        </p:txBody>
      </p:sp>
      <p:sp>
        <p:nvSpPr>
          <p:cNvPr id="12" name="">
            <a:extLst xmlns:a="http://schemas.openxmlformats.org/drawingml/2006/main">
              <a:ext uri="{FF2B5EF4-FFF2-40B4-BE49-F238E27FC236}">
                <a16:creationId xmlns:a16="http://schemas.microsoft.com/office/drawing/2014/main" id="{FBCFD9FF-FE05-4D03-B30D-E3260E51F14D}"/>
              </a:ext>
            </a:extLst>
          </p:cNvPr>
          <p:cNvSpPr>
            <a:spLocks xmlns:a="http://schemas.openxmlformats.org/drawingml/2006/main" noGrp="1"/>
          </p:cNvSpPr>
          <p:nvPr/>
        </p:nvSpPr>
        <p:spPr>
          <a:xfrm xmlns:a="http://schemas.openxmlformats.org/drawingml/2006/main">
            <a:off x="933450" y="26860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start = min(unseen); j = start; cycle = []</a:t>
            </a:r>
          </a:p>
        </p:txBody>
      </p:sp>
      <p:sp>
        <p:nvSpPr>
          <p:cNvPr id="13" name="">
            <a:extLst xmlns:a="http://schemas.openxmlformats.org/drawingml/2006/main">
              <a:ext uri="{FF2B5EF4-FFF2-40B4-BE49-F238E27FC236}">
                <a16:creationId xmlns:a16="http://schemas.microsoft.com/office/drawing/2014/main" id="{87C29AAB-0A30-4166-A190-DDECFB74AFE9}"/>
              </a:ext>
            </a:extLst>
          </p:cNvPr>
          <p:cNvSpPr>
            <a:spLocks xmlns:a="http://schemas.openxmlformats.org/drawingml/2006/main" noGrp="1"/>
          </p:cNvSpPr>
          <p:nvPr/>
        </p:nvSpPr>
        <p:spPr>
          <a:xfrm xmlns:a="http://schemas.openxmlformats.org/drawingml/2006/main">
            <a:off x="933450" y="29527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while j in unseen:</a:t>
            </a:r>
          </a:p>
        </p:txBody>
      </p:sp>
      <p:sp>
        <p:nvSpPr>
          <p:cNvPr id="14" name="">
            <a:extLst xmlns:a="http://schemas.openxmlformats.org/drawingml/2006/main">
              <a:ext uri="{FF2B5EF4-FFF2-40B4-BE49-F238E27FC236}">
                <a16:creationId xmlns:a16="http://schemas.microsoft.com/office/drawing/2014/main" id="{A9192F4A-AC7B-491B-9CF3-B728DAE73735}"/>
              </a:ext>
            </a:extLst>
          </p:cNvPr>
          <p:cNvSpPr>
            <a:spLocks xmlns:a="http://schemas.openxmlformats.org/drawingml/2006/main" noGrp="1"/>
          </p:cNvSpPr>
          <p:nvPr/>
        </p:nvSpPr>
        <p:spPr>
          <a:xfrm xmlns:a="http://schemas.openxmlformats.org/drawingml/2006/main">
            <a:off x="933450" y="32194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cycle.append(j); unseen.remove(j)</a:t>
            </a:r>
          </a:p>
        </p:txBody>
      </p:sp>
      <p:sp>
        <p:nvSpPr>
          <p:cNvPr id="15" name="">
            <a:extLst xmlns:a="http://schemas.openxmlformats.org/drawingml/2006/main">
              <a:ext uri="{FF2B5EF4-FFF2-40B4-BE49-F238E27FC236}">
                <a16:creationId xmlns:a16="http://schemas.microsoft.com/office/drawing/2014/main" id="{BBF1F329-CA11-40E3-91E8-1AC8CBB4F95D}"/>
              </a:ext>
            </a:extLst>
          </p:cNvPr>
          <p:cNvSpPr>
            <a:spLocks xmlns:a="http://schemas.openxmlformats.org/drawingml/2006/main" noGrp="1"/>
          </p:cNvSpPr>
          <p:nvPr/>
        </p:nvSpPr>
        <p:spPr>
          <a:xfrm xmlns:a="http://schemas.openxmlformats.org/drawingml/2006/main">
            <a:off x="933450" y="34861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j = successor[j]</a:t>
            </a:r>
          </a:p>
        </p:txBody>
      </p:sp>
      <p:sp>
        <p:nvSpPr>
          <p:cNvPr id="16" name="">
            <a:extLst xmlns:a="http://schemas.openxmlformats.org/drawingml/2006/main">
              <a:ext uri="{FF2B5EF4-FFF2-40B4-BE49-F238E27FC236}">
                <a16:creationId xmlns:a16="http://schemas.microsoft.com/office/drawing/2014/main" id="{5C97D8F6-516C-4FB0-B42C-73341579FB8B}"/>
              </a:ext>
            </a:extLst>
          </p:cNvPr>
          <p:cNvSpPr>
            <a:spLocks xmlns:a="http://schemas.openxmlformats.org/drawingml/2006/main" noGrp="1"/>
          </p:cNvSpPr>
          <p:nvPr/>
        </p:nvSpPr>
        <p:spPr>
          <a:xfrm xmlns:a="http://schemas.openxmlformats.org/drawingml/2006/main">
            <a:off x="933450" y="37528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868AF"/>
                </a:solidFill>
                <a:latin typeface="Courier New"/>
                <a:ea typeface="Courier New"/>
                <a:cs typeface="Courier New"/>
              </a:defRPr>
            </a:defPPr>
          </a:lstStyle>
          <a:p xmlns:a="http://schemas.openxmlformats.org/drawingml/2006/main">
            <a:pPr algn="l">
              <a:buNone/>
              <a:defRPr sz="1875" b="0">
                <a:solidFill>
                  <a:srgbClr val="2868AF"/>
                </a:solidFill>
                <a:latin typeface="Courier New"/>
                <a:ea typeface="Courier New"/>
                <a:cs typeface="Courier New"/>
              </a:defRPr>
            </a:pPr>
            <a:r>
              <a:rPr sz="1875" b="0">
                <a:solidFill>
                  <a:srgbClr val="2868AF"/>
                </a:solidFill>
                <a:latin typeface="Courier New"/>
                <a:ea typeface="Courier New"/>
                <a:cs typeface="Courier New"/>
              </a:rPr>
              <a:t>        assert j == start</a:t>
            </a:r>
          </a:p>
        </p:txBody>
      </p:sp>
      <p:sp>
        <p:nvSpPr>
          <p:cNvPr id="17" name="">
            <a:extLst xmlns:a="http://schemas.openxmlformats.org/drawingml/2006/main">
              <a:ext uri="{FF2B5EF4-FFF2-40B4-BE49-F238E27FC236}">
                <a16:creationId xmlns:a16="http://schemas.microsoft.com/office/drawing/2014/main" id="{36FB96B3-13F6-4B58-8C7A-F2ECB30A693B}"/>
              </a:ext>
            </a:extLst>
          </p:cNvPr>
          <p:cNvSpPr>
            <a:spLocks xmlns:a="http://schemas.openxmlformats.org/drawingml/2006/main" noGrp="1"/>
          </p:cNvSpPr>
          <p:nvPr/>
        </p:nvSpPr>
        <p:spPr>
          <a:xfrm xmlns:a="http://schemas.openxmlformats.org/drawingml/2006/main">
            <a:off x="933450" y="40195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cycles.append(cycle)</a:t>
            </a:r>
          </a:p>
        </p:txBody>
      </p:sp>
      <p:sp>
        <p:nvSpPr>
          <p:cNvPr id="18" name="">
            <a:extLst xmlns:a="http://schemas.openxmlformats.org/drawingml/2006/main">
              <a:ext uri="{FF2B5EF4-FFF2-40B4-BE49-F238E27FC236}">
                <a16:creationId xmlns:a16="http://schemas.microsoft.com/office/drawing/2014/main" id="{B3D4D788-9612-41DB-A99F-251EDC23650A}"/>
              </a:ext>
            </a:extLst>
          </p:cNvPr>
          <p:cNvSpPr>
            <a:spLocks xmlns:a="http://schemas.openxmlformats.org/drawingml/2006/main" noGrp="1"/>
          </p:cNvSpPr>
          <p:nvPr/>
        </p:nvSpPr>
        <p:spPr>
          <a:xfrm xmlns:a="http://schemas.openxmlformats.org/drawingml/2006/main">
            <a:off x="933450" y="4286250"/>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73047"/>
                </a:solidFill>
                <a:latin typeface="Courier New"/>
                <a:ea typeface="Courier New"/>
                <a:cs typeface="Courier New"/>
              </a:defRPr>
            </a:defPPr>
          </a:lstStyle>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return cycles</a:t>
            </a:r>
          </a:p>
        </p:txBody>
      </p:sp>
    </p:spTree>
    <p:extLst>
      <p:ext uri="{BB962C8B-B14F-4D97-AF65-F5344CB8AC3E}">
        <p14:creationId xmlns:p14="http://schemas.microsoft.com/office/powerpoint/2010/main" val="491747438"/>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4FA5AB-9808-4B69-B4EA-5A5A73B1D5C7}"/>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розв’язання поточної MILP</a:t>
            </a:r>
          </a:p>
        </p:txBody>
      </p:sp>
      <p:sp>
        <p:nvSpPr>
          <p:cNvPr id="2" name="">
            <a:extLst xmlns:a="http://schemas.openxmlformats.org/drawingml/2006/main">
              <a:ext uri="{FF2B5EF4-FFF2-40B4-BE49-F238E27FC236}">
                <a16:creationId xmlns:a16="http://schemas.microsoft.com/office/drawing/2014/main" id="{391851F0-5C1B-4A68-8697-C6B8C6E5240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Усі 30 змінних цілі й обмежені від 0 до 1.</a:t>
            </a:r>
          </a:p>
        </p:txBody>
      </p:sp>
      <p:sp>
        <p:nvSpPr>
          <p:cNvPr id="3" name="">
            <a:extLst xmlns:a="http://schemas.openxmlformats.org/drawingml/2006/main">
              <a:ext uri="{FF2B5EF4-FFF2-40B4-BE49-F238E27FC236}">
                <a16:creationId xmlns:a16="http://schemas.microsoft.com/office/drawing/2014/main" id="{F411BF05-E6F6-40E5-8122-B113841266E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77</a:t>
            </a:r>
          </a:p>
        </p:txBody>
      </p:sp>
      <p:sp>
        <p:nvSpPr>
          <p:cNvPr id="4" name="">
            <a:extLst xmlns:a="http://schemas.openxmlformats.org/drawingml/2006/main">
              <a:ext uri="{FF2B5EF4-FFF2-40B4-BE49-F238E27FC236}">
                <a16:creationId xmlns:a16="http://schemas.microsoft.com/office/drawing/2014/main" id="{B12B31EE-E0D7-4D3A-860F-91F09BA7FB0B}"/>
              </a:ext>
            </a:extLst>
          </p:cNvPr>
          <p:cNvSpPr>
            <a:spLocks xmlns:a="http://schemas.openxmlformats.org/drawingml/2006/main" noGrp="1"/>
          </p:cNvSpPr>
          <p:nvPr/>
        </p:nvSpPr>
        <p:spPr>
          <a:xfrm xmlns:a="http://schemas.openxmlformats.org/drawingml/2006/main">
            <a:off x="762000" y="1504950"/>
            <a:ext cx="10668000" cy="24475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24B680-462E-4C36-8E0F-454761AEFDA8}"/>
              </a:ext>
            </a:extLst>
          </p:cNvPr>
          <p:cNvSpPr>
            <a:spLocks xmlns:a="http://schemas.openxmlformats.org/drawingml/2006/main" noGrp="1"/>
          </p:cNvSpPr>
          <p:nvPr/>
        </p:nvSpPr>
        <p:spPr>
          <a:xfrm xmlns:a="http://schemas.openxmlformats.org/drawingml/2006/main">
            <a:off x="933450" y="1581150"/>
            <a:ext cx="10325100" cy="2295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3F7DA99B-B9EE-4306-BE12-7C0ACB152543}"/>
              </a:ext>
            </a:extLst>
          </p:cNvPr>
          <p:cNvSpPr>
            <a:spLocks xmlns:a="http://schemas.openxmlformats.org/drawingml/2006/main" noGrp="1"/>
          </p:cNvSpPr>
          <p:nvPr/>
        </p:nvSpPr>
        <p:spPr>
          <a:xfrm xmlns:a="http://schemas.openxmlformats.org/drawingml/2006/main">
            <a:off x="762000" y="4200144"/>
            <a:ext cx="10668000" cy="8477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E0C98C-D3B8-4B8E-A4C1-4EA173D14B14}"/>
              </a:ext>
            </a:extLst>
          </p:cNvPr>
          <p:cNvSpPr>
            <a:spLocks xmlns:a="http://schemas.openxmlformats.org/drawingml/2006/main" noGrp="1"/>
          </p:cNvSpPr>
          <p:nvPr/>
        </p:nvSpPr>
        <p:spPr>
          <a:xfrm xmlns:a="http://schemas.openxmlformats.org/drawingml/2006/main">
            <a:off x="933450" y="4257294"/>
            <a:ext cx="103251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Courier New"/>
                <a:ea typeface="Courier New"/>
                <a:cs typeface="Courier New"/>
              </a:defRPr>
            </a:defPPr>
          </a:lstStyle>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C = 12.0 cycles = [[0, 1], [2, 3], [4, 5]]</a:t>
            </a:r>
          </a:p>
        </p:txBody>
      </p:sp>
      <p:sp>
        <p:nvSpPr>
          <p:cNvPr id="9" name="">
            <a:extLst xmlns:a="http://schemas.openxmlformats.org/drawingml/2006/main">
              <a:ext uri="{FF2B5EF4-FFF2-40B4-BE49-F238E27FC236}">
                <a16:creationId xmlns:a16="http://schemas.microsoft.com/office/drawing/2014/main" id="{08D52319-A6EB-4AC4-9650-65759E9F0D0E}"/>
              </a:ext>
            </a:extLst>
          </p:cNvPr>
          <p:cNvSpPr>
            <a:spLocks xmlns:a="http://schemas.openxmlformats.org/drawingml/2006/main" noGrp="1"/>
          </p:cNvSpPr>
          <p:nvPr/>
        </p:nvSpPr>
        <p:spPr>
          <a:xfrm xmlns:a="http://schemas.openxmlformats.org/drawingml/2006/main">
            <a:off x="933450" y="158115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while True:</a:t>
            </a:r>
          </a:p>
        </p:txBody>
      </p:sp>
      <p:sp>
        <p:nvSpPr>
          <p:cNvPr id="10" name="">
            <a:extLst xmlns:a="http://schemas.openxmlformats.org/drawingml/2006/main">
              <a:ext uri="{FF2B5EF4-FFF2-40B4-BE49-F238E27FC236}">
                <a16:creationId xmlns:a16="http://schemas.microsoft.com/office/drawing/2014/main" id="{0D9BEF07-1392-44F9-9201-7C306784000F}"/>
              </a:ext>
            </a:extLst>
          </p:cNvPr>
          <p:cNvSpPr>
            <a:spLocks xmlns:a="http://schemas.openxmlformats.org/drawingml/2006/main" noGrp="1"/>
          </p:cNvSpPr>
          <p:nvPr/>
        </p:nvSpPr>
        <p:spPr>
          <a:xfrm xmlns:a="http://schemas.openxmlformats.org/drawingml/2006/main">
            <a:off x="933450" y="185851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 = milp(c, integrality=np.ones(len(arcs)),</a:t>
            </a:r>
          </a:p>
        </p:txBody>
      </p:sp>
      <p:sp>
        <p:nvSpPr>
          <p:cNvPr id="11" name="">
            <a:extLst xmlns:a="http://schemas.openxmlformats.org/drawingml/2006/main">
              <a:ext uri="{FF2B5EF4-FFF2-40B4-BE49-F238E27FC236}">
                <a16:creationId xmlns:a16="http://schemas.microsoft.com/office/drawing/2014/main" id="{C82D633A-FE7B-4F4A-BB3F-CBD2B497F833}"/>
              </a:ext>
            </a:extLst>
          </p:cNvPr>
          <p:cNvSpPr>
            <a:spLocks xmlns:a="http://schemas.openxmlformats.org/drawingml/2006/main" noGrp="1"/>
          </p:cNvSpPr>
          <p:nvPr/>
        </p:nvSpPr>
        <p:spPr>
          <a:xfrm xmlns:a="http://schemas.openxmlformats.org/drawingml/2006/main">
            <a:off x="933450" y="213588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bounds=Bounds(0, 1),</a:t>
            </a:r>
          </a:p>
        </p:txBody>
      </p:sp>
      <p:sp>
        <p:nvSpPr>
          <p:cNvPr id="12" name="">
            <a:extLst xmlns:a="http://schemas.openxmlformats.org/drawingml/2006/main">
              <a:ext uri="{FF2B5EF4-FFF2-40B4-BE49-F238E27FC236}">
                <a16:creationId xmlns:a16="http://schemas.microsoft.com/office/drawing/2014/main" id="{7D2EAA69-5FB7-4DAE-9C38-BB66A72DF07E}"/>
              </a:ext>
            </a:extLst>
          </p:cNvPr>
          <p:cNvSpPr>
            <a:spLocks xmlns:a="http://schemas.openxmlformats.org/drawingml/2006/main" noGrp="1"/>
          </p:cNvSpPr>
          <p:nvPr/>
        </p:nvSpPr>
        <p:spPr>
          <a:xfrm xmlns:a="http://schemas.openxmlformats.org/drawingml/2006/main">
            <a:off x="933450" y="2413254"/>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constraints=LinearConstraint(A, lo, hi),</a:t>
            </a:r>
          </a:p>
        </p:txBody>
      </p:sp>
      <p:sp>
        <p:nvSpPr>
          <p:cNvPr id="13" name="">
            <a:extLst xmlns:a="http://schemas.openxmlformats.org/drawingml/2006/main">
              <a:ext uri="{FF2B5EF4-FFF2-40B4-BE49-F238E27FC236}">
                <a16:creationId xmlns:a16="http://schemas.microsoft.com/office/drawing/2014/main" id="{18BAA395-39DC-4DD2-9D51-4FD9701B7345}"/>
              </a:ext>
            </a:extLst>
          </p:cNvPr>
          <p:cNvSpPr>
            <a:spLocks xmlns:a="http://schemas.openxmlformats.org/drawingml/2006/main" noGrp="1"/>
          </p:cNvSpPr>
          <p:nvPr/>
        </p:nvSpPr>
        <p:spPr>
          <a:xfrm xmlns:a="http://schemas.openxmlformats.org/drawingml/2006/main">
            <a:off x="933450" y="2690622"/>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options={"mip_rel_gap": 0.})</a:t>
            </a:r>
          </a:p>
        </p:txBody>
      </p:sp>
      <p:sp>
        <p:nvSpPr>
          <p:cNvPr id="14" name="">
            <a:extLst xmlns:a="http://schemas.openxmlformats.org/drawingml/2006/main">
              <a:ext uri="{FF2B5EF4-FFF2-40B4-BE49-F238E27FC236}">
                <a16:creationId xmlns:a16="http://schemas.microsoft.com/office/drawing/2014/main" id="{60260788-538C-4865-A7C9-524BFB4E627B}"/>
              </a:ext>
            </a:extLst>
          </p:cNvPr>
          <p:cNvSpPr>
            <a:spLocks xmlns:a="http://schemas.openxmlformats.org/drawingml/2006/main" noGrp="1"/>
          </p:cNvSpPr>
          <p:nvPr/>
        </p:nvSpPr>
        <p:spPr>
          <a:xfrm xmlns:a="http://schemas.openxmlformats.org/drawingml/2006/main">
            <a:off x="933450" y="296799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    assert r.success and r.x is not None, r.message</a:t>
            </a:r>
          </a:p>
        </p:txBody>
      </p:sp>
      <p:sp>
        <p:nvSpPr>
          <p:cNvPr id="15" name="">
            <a:extLst xmlns:a="http://schemas.openxmlformats.org/drawingml/2006/main">
              <a:ext uri="{FF2B5EF4-FFF2-40B4-BE49-F238E27FC236}">
                <a16:creationId xmlns:a16="http://schemas.microsoft.com/office/drawing/2014/main" id="{9D0E477E-FE9F-476E-BC80-46D777D6DEFE}"/>
              </a:ext>
            </a:extLst>
          </p:cNvPr>
          <p:cNvSpPr>
            <a:spLocks xmlns:a="http://schemas.openxmlformats.org/drawingml/2006/main" noGrp="1"/>
          </p:cNvSpPr>
          <p:nvPr/>
        </p:nvSpPr>
        <p:spPr>
          <a:xfrm xmlns:a="http://schemas.openxmlformats.org/drawingml/2006/main">
            <a:off x="933450" y="324535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cycles = find_cycles(r.x)</a:t>
            </a:r>
          </a:p>
        </p:txBody>
      </p:sp>
      <p:sp>
        <p:nvSpPr>
          <p:cNvPr id="16" name="">
            <a:extLst xmlns:a="http://schemas.openxmlformats.org/drawingml/2006/main">
              <a:ext uri="{FF2B5EF4-FFF2-40B4-BE49-F238E27FC236}">
                <a16:creationId xmlns:a16="http://schemas.microsoft.com/office/drawing/2014/main" id="{677EB318-9189-4A5C-9B31-556FE329AD61}"/>
              </a:ext>
            </a:extLst>
          </p:cNvPr>
          <p:cNvSpPr>
            <a:spLocks xmlns:a="http://schemas.openxmlformats.org/drawingml/2006/main" noGrp="1"/>
          </p:cNvSpPr>
          <p:nvPr/>
        </p:nvSpPr>
        <p:spPr>
          <a:xfrm xmlns:a="http://schemas.openxmlformats.org/drawingml/2006/main">
            <a:off x="933450" y="352272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    print("C =", r.fun, "cycles =", cycles)</a:t>
            </a:r>
          </a:p>
        </p:txBody>
      </p:sp>
    </p:spTree>
    <p:extLst>
      <p:ext uri="{BB962C8B-B14F-4D97-AF65-F5344CB8AC3E}">
        <p14:creationId xmlns:p14="http://schemas.microsoft.com/office/powerpoint/2010/main" val="626861122"/>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AB2E25-E041-465B-89D1-0E5C8CCC0CD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додавання одного відсічення</a:t>
            </a:r>
          </a:p>
        </p:txBody>
      </p:sp>
      <p:sp>
        <p:nvSpPr>
          <p:cNvPr id="2" name="">
            <a:extLst xmlns:a="http://schemas.openxmlformats.org/drawingml/2006/main">
              <a:ext uri="{FF2B5EF4-FFF2-40B4-BE49-F238E27FC236}">
                <a16:creationId xmlns:a16="http://schemas.microsoft.com/office/drawing/2014/main" id="{5B3FD618-D53A-47C8-9ED9-B23812C692F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Це продовження while True з попереднього слайда.</a:t>
            </a:r>
          </a:p>
        </p:txBody>
      </p:sp>
      <p:sp>
        <p:nvSpPr>
          <p:cNvPr id="3" name="">
            <a:extLst xmlns:a="http://schemas.openxmlformats.org/drawingml/2006/main">
              <a:ext uri="{FF2B5EF4-FFF2-40B4-BE49-F238E27FC236}">
                <a16:creationId xmlns:a16="http://schemas.microsoft.com/office/drawing/2014/main" id="{42D998E7-E5A3-43B3-BFEC-0A48F5A2CE55}"/>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78</a:t>
            </a:r>
          </a:p>
        </p:txBody>
      </p:sp>
      <p:sp>
        <p:nvSpPr>
          <p:cNvPr id="4" name="">
            <a:extLst xmlns:a="http://schemas.openxmlformats.org/drawingml/2006/main">
              <a:ext uri="{FF2B5EF4-FFF2-40B4-BE49-F238E27FC236}">
                <a16:creationId xmlns:a16="http://schemas.microsoft.com/office/drawing/2014/main" id="{B5DF6EC9-0BA9-422D-B1B0-82CF802D09AA}"/>
              </a:ext>
            </a:extLst>
          </p:cNvPr>
          <p:cNvSpPr>
            <a:spLocks xmlns:a="http://schemas.openxmlformats.org/drawingml/2006/main" noGrp="1"/>
          </p:cNvSpPr>
          <p:nvPr/>
        </p:nvSpPr>
        <p:spPr>
          <a:xfrm xmlns:a="http://schemas.openxmlformats.org/drawingml/2006/main">
            <a:off x="762000" y="1571625"/>
            <a:ext cx="10668000" cy="300228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0C24EA-19C8-4034-BEAD-8F2075FDB06D}"/>
              </a:ext>
            </a:extLst>
          </p:cNvPr>
          <p:cNvSpPr>
            <a:spLocks xmlns:a="http://schemas.openxmlformats.org/drawingml/2006/main" noGrp="1"/>
          </p:cNvSpPr>
          <p:nvPr/>
        </p:nvSpPr>
        <p:spPr>
          <a:xfrm xmlns:a="http://schemas.openxmlformats.org/drawingml/2006/main">
            <a:off x="933450" y="1647825"/>
            <a:ext cx="10325100" cy="2849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 Продовження того самого while True</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len(cycles) ==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route = cycles[0] + cycles[0][:1]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break                    # один спільний обхід</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S = set(cycles[0])            # знайдений підцикл</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row = [int(i in S and j in S) for i, j in arcs]</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A.append(row)</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lo.append(-np.inf)</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hi.append(len(S) - 1)</a:t>
            </a:r>
          </a:p>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 Далі новий виклик milp з оновленими A, lo, hi</a:t>
            </a:r>
          </a:p>
        </p:txBody>
      </p:sp>
    </p:spTree>
    <p:extLst>
      <p:ext uri="{BB962C8B-B14F-4D97-AF65-F5344CB8AC3E}">
        <p14:creationId xmlns:p14="http://schemas.microsoft.com/office/powerpoint/2010/main" val="504778059"/>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FC0853-CE14-47E3-AB62-DCAD47998A4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фактичний вивід кроків TSP</a:t>
            </a:r>
          </a:p>
        </p:txBody>
      </p:sp>
      <p:sp>
        <p:nvSpPr>
          <p:cNvPr id="2" name="">
            <a:extLst xmlns:a="http://schemas.openxmlformats.org/drawingml/2006/main">
              <a:ext uri="{FF2B5EF4-FFF2-40B4-BE49-F238E27FC236}">
                <a16:creationId xmlns:a16="http://schemas.microsoft.com/office/drawing/2014/main" id="{F55338FE-7D8D-4B17-9C44-05A618E1008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Повна траса є результатом виконання tsp_examples.py.</a:t>
            </a:r>
          </a:p>
        </p:txBody>
      </p:sp>
      <p:sp>
        <p:nvSpPr>
          <p:cNvPr id="3" name="">
            <a:extLst xmlns:a="http://schemas.openxmlformats.org/drawingml/2006/main">
              <a:ext uri="{FF2B5EF4-FFF2-40B4-BE49-F238E27FC236}">
                <a16:creationId xmlns:a16="http://schemas.microsoft.com/office/drawing/2014/main" id="{C67B55E3-E3A4-4341-9D43-53BC0F3C6FFF}"/>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79</a:t>
            </a:r>
          </a:p>
        </p:txBody>
      </p:sp>
      <p:sp>
        <p:nvSpPr>
          <p:cNvPr id="8" name="">
            <a:extLst xmlns:a="http://schemas.openxmlformats.org/drawingml/2006/main">
              <a:ext uri="{FF2B5EF4-FFF2-40B4-BE49-F238E27FC236}">
                <a16:creationId xmlns:a16="http://schemas.microsoft.com/office/drawing/2014/main" id="{840B269F-9BA4-4C99-9CD1-9A50F3D427EC}"/>
              </a:ext>
            </a:extLst>
          </p:cNvPr>
          <p:cNvSpPr>
            <a:spLocks xmlns:a="http://schemas.openxmlformats.org/drawingml/2006/main" noGrp="1"/>
          </p:cNvSpPr>
          <p:nvPr/>
        </p:nvSpPr>
        <p:spPr>
          <a:xfrm xmlns:a="http://schemas.openxmlformats.org/drawingml/2006/main">
            <a:off x="914400" y="15621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173047"/>
                </a:solidFill>
                <a:latin typeface="Courier New"/>
                <a:ea typeface="Courier New"/>
                <a:cs typeface="Courier New"/>
              </a:defRPr>
            </a:defPPr>
          </a:lstStyle>
          <a:p xmlns:a="http://schemas.openxmlformats.org/drawingml/2006/main">
            <a:pPr algn="l">
              <a:buNone/>
              <a:defRPr sz="1950" b="1">
                <a:solidFill>
                  <a:srgbClr val="173047"/>
                </a:solidFill>
                <a:latin typeface="Courier New"/>
                <a:ea typeface="Courier New"/>
                <a:cs typeface="Courier New"/>
              </a:defRPr>
            </a:pPr>
            <a:r>
              <a:rPr sz="1950" b="1">
                <a:solidFill>
                  <a:srgbClr val="173047"/>
                </a:solidFill>
                <a:latin typeface="Courier New"/>
                <a:ea typeface="Courier New"/>
                <a:cs typeface="Courier New"/>
              </a:rPr>
              <a:t>Крок 0: C=12; S-A-S / B-C-B / D-E-D</a:t>
            </a:r>
          </a:p>
        </p:txBody>
      </p:sp>
      <p:sp>
        <p:nvSpPr>
          <p:cNvPr id="9" name="">
            <a:extLst xmlns:a="http://schemas.openxmlformats.org/drawingml/2006/main">
              <a:ext uri="{FF2B5EF4-FFF2-40B4-BE49-F238E27FC236}">
                <a16:creationId xmlns:a16="http://schemas.microsoft.com/office/drawing/2014/main" id="{D566A833-5FD6-45B5-BD20-9D98D528C565}"/>
              </a:ext>
            </a:extLst>
          </p:cNvPr>
          <p:cNvSpPr>
            <a:spLocks xmlns:a="http://schemas.openxmlformats.org/drawingml/2006/main" noGrp="1"/>
          </p:cNvSpPr>
          <p:nvPr/>
        </p:nvSpPr>
        <p:spPr>
          <a:xfrm xmlns:a="http://schemas.openxmlformats.org/drawingml/2006/main">
            <a:off x="914400" y="20097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66779"/>
                </a:solidFill>
                <a:latin typeface="Courier New"/>
                <a:ea typeface="Courier New"/>
                <a:cs typeface="Courier New"/>
              </a:defRPr>
            </a:defPPr>
          </a:lstStyle>
          <a:p xmlns:a="http://schemas.openxmlformats.org/drawingml/2006/main">
            <a:pPr algn="l">
              <a:buNone/>
              <a:defRPr sz="1950" b="0">
                <a:solidFill>
                  <a:srgbClr val="566779"/>
                </a:solidFill>
                <a:latin typeface="Courier New"/>
                <a:ea typeface="Courier New"/>
                <a:cs typeface="Courier New"/>
              </a:defRPr>
            </a:pPr>
            <a:r>
              <a:rPr sz="1950" b="0">
                <a:solidFill>
                  <a:srgbClr val="566779"/>
                </a:solidFill>
                <a:latin typeface="Courier New"/>
                <a:ea typeface="Courier New"/>
                <a:cs typeface="Courier New"/>
              </a:rPr>
              <a:t>  Відсічення для {S,A}: сума внутрішніх дуг &lt;= 1</a:t>
            </a:r>
          </a:p>
        </p:txBody>
      </p:sp>
      <p:sp>
        <p:nvSpPr>
          <p:cNvPr id="10" name="">
            <a:extLst xmlns:a="http://schemas.openxmlformats.org/drawingml/2006/main">
              <a:ext uri="{FF2B5EF4-FFF2-40B4-BE49-F238E27FC236}">
                <a16:creationId xmlns:a16="http://schemas.microsoft.com/office/drawing/2014/main" id="{01F38346-0D69-4648-9EC2-D252A7EDF4A6}"/>
              </a:ext>
            </a:extLst>
          </p:cNvPr>
          <p:cNvSpPr>
            <a:spLocks xmlns:a="http://schemas.openxmlformats.org/drawingml/2006/main" noGrp="1"/>
          </p:cNvSpPr>
          <p:nvPr/>
        </p:nvSpPr>
        <p:spPr>
          <a:xfrm xmlns:a="http://schemas.openxmlformats.org/drawingml/2006/main">
            <a:off x="914400" y="24574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173047"/>
                </a:solidFill>
                <a:latin typeface="Courier New"/>
                <a:ea typeface="Courier New"/>
                <a:cs typeface="Courier New"/>
              </a:defRPr>
            </a:defPPr>
          </a:lstStyle>
          <a:p xmlns:a="http://schemas.openxmlformats.org/drawingml/2006/main">
            <a:pPr algn="l">
              <a:buNone/>
              <a:defRPr sz="1950" b="1">
                <a:solidFill>
                  <a:srgbClr val="173047"/>
                </a:solidFill>
                <a:latin typeface="Courier New"/>
                <a:ea typeface="Courier New"/>
                <a:cs typeface="Courier New"/>
              </a:defRPr>
            </a:pPr>
            <a:r>
              <a:rPr sz="1950" b="1">
                <a:solidFill>
                  <a:srgbClr val="173047"/>
                </a:solidFill>
                <a:latin typeface="Courier New"/>
                <a:ea typeface="Courier New"/>
                <a:cs typeface="Courier New"/>
              </a:rPr>
              <a:t>Крок 1: C=30; S-A-D-E-S / B-C-B</a:t>
            </a:r>
          </a:p>
        </p:txBody>
      </p:sp>
      <p:sp>
        <p:nvSpPr>
          <p:cNvPr id="11" name="">
            <a:extLst xmlns:a="http://schemas.openxmlformats.org/drawingml/2006/main">
              <a:ext uri="{FF2B5EF4-FFF2-40B4-BE49-F238E27FC236}">
                <a16:creationId xmlns:a16="http://schemas.microsoft.com/office/drawing/2014/main" id="{95F9AA4B-6456-4B6D-A866-6894CB91CBBC}"/>
              </a:ext>
            </a:extLst>
          </p:cNvPr>
          <p:cNvSpPr>
            <a:spLocks xmlns:a="http://schemas.openxmlformats.org/drawingml/2006/main" noGrp="1"/>
          </p:cNvSpPr>
          <p:nvPr/>
        </p:nvSpPr>
        <p:spPr>
          <a:xfrm xmlns:a="http://schemas.openxmlformats.org/drawingml/2006/main">
            <a:off x="914400" y="29051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66779"/>
                </a:solidFill>
                <a:latin typeface="Courier New"/>
                <a:ea typeface="Courier New"/>
                <a:cs typeface="Courier New"/>
              </a:defRPr>
            </a:defPPr>
          </a:lstStyle>
          <a:p xmlns:a="http://schemas.openxmlformats.org/drawingml/2006/main">
            <a:pPr algn="l">
              <a:buNone/>
              <a:defRPr sz="1950" b="0">
                <a:solidFill>
                  <a:srgbClr val="566779"/>
                </a:solidFill>
                <a:latin typeface="Courier New"/>
                <a:ea typeface="Courier New"/>
                <a:cs typeface="Courier New"/>
              </a:defRPr>
            </a:pPr>
            <a:r>
              <a:rPr sz="1950" b="0">
                <a:solidFill>
                  <a:srgbClr val="566779"/>
                </a:solidFill>
                <a:latin typeface="Courier New"/>
                <a:ea typeface="Courier New"/>
                <a:cs typeface="Courier New"/>
              </a:rPr>
              <a:t>  Відсічення для {S,A,D,E}: сума внутрішніх дуг &lt;= 3</a:t>
            </a:r>
          </a:p>
        </p:txBody>
      </p:sp>
      <p:sp>
        <p:nvSpPr>
          <p:cNvPr id="12" name="">
            <a:extLst xmlns:a="http://schemas.openxmlformats.org/drawingml/2006/main">
              <a:ext uri="{FF2B5EF4-FFF2-40B4-BE49-F238E27FC236}">
                <a16:creationId xmlns:a16="http://schemas.microsoft.com/office/drawing/2014/main" id="{5F941D21-42B1-4D26-A119-33884C563589}"/>
              </a:ext>
            </a:extLst>
          </p:cNvPr>
          <p:cNvSpPr>
            <a:spLocks xmlns:a="http://schemas.openxmlformats.org/drawingml/2006/main" noGrp="1"/>
          </p:cNvSpPr>
          <p:nvPr/>
        </p:nvSpPr>
        <p:spPr>
          <a:xfrm xmlns:a="http://schemas.openxmlformats.org/drawingml/2006/main">
            <a:off x="914400" y="33528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173047"/>
                </a:solidFill>
                <a:latin typeface="Courier New"/>
                <a:ea typeface="Courier New"/>
                <a:cs typeface="Courier New"/>
              </a:defRPr>
            </a:defPPr>
          </a:lstStyle>
          <a:p xmlns:a="http://schemas.openxmlformats.org/drawingml/2006/main">
            <a:pPr algn="l">
              <a:buNone/>
              <a:defRPr sz="1950" b="1">
                <a:solidFill>
                  <a:srgbClr val="173047"/>
                </a:solidFill>
                <a:latin typeface="Courier New"/>
                <a:ea typeface="Courier New"/>
                <a:cs typeface="Courier New"/>
              </a:defRPr>
            </a:pPr>
            <a:r>
              <a:rPr sz="1950" b="1">
                <a:solidFill>
                  <a:srgbClr val="173047"/>
                </a:solidFill>
                <a:latin typeface="Courier New"/>
                <a:ea typeface="Courier New"/>
                <a:cs typeface="Courier New"/>
              </a:rPr>
              <a:t>Крок 2: C=34; S-A-B-C-S / D-E-D</a:t>
            </a:r>
          </a:p>
        </p:txBody>
      </p:sp>
      <p:sp>
        <p:nvSpPr>
          <p:cNvPr id="13" name="">
            <a:extLst xmlns:a="http://schemas.openxmlformats.org/drawingml/2006/main">
              <a:ext uri="{FF2B5EF4-FFF2-40B4-BE49-F238E27FC236}">
                <a16:creationId xmlns:a16="http://schemas.microsoft.com/office/drawing/2014/main" id="{946CB947-F956-4AF5-96E7-7D164952AE62}"/>
              </a:ext>
            </a:extLst>
          </p:cNvPr>
          <p:cNvSpPr>
            <a:spLocks xmlns:a="http://schemas.openxmlformats.org/drawingml/2006/main" noGrp="1"/>
          </p:cNvSpPr>
          <p:nvPr/>
        </p:nvSpPr>
        <p:spPr>
          <a:xfrm xmlns:a="http://schemas.openxmlformats.org/drawingml/2006/main">
            <a:off x="914400" y="38004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66779"/>
                </a:solidFill>
                <a:latin typeface="Courier New"/>
                <a:ea typeface="Courier New"/>
                <a:cs typeface="Courier New"/>
              </a:defRPr>
            </a:defPPr>
          </a:lstStyle>
          <a:p xmlns:a="http://schemas.openxmlformats.org/drawingml/2006/main">
            <a:pPr algn="l">
              <a:buNone/>
              <a:defRPr sz="1950" b="0">
                <a:solidFill>
                  <a:srgbClr val="566779"/>
                </a:solidFill>
                <a:latin typeface="Courier New"/>
                <a:ea typeface="Courier New"/>
                <a:cs typeface="Courier New"/>
              </a:defRPr>
            </a:pPr>
            <a:r>
              <a:rPr sz="1950" b="0">
                <a:solidFill>
                  <a:srgbClr val="566779"/>
                </a:solidFill>
                <a:latin typeface="Courier New"/>
                <a:ea typeface="Courier New"/>
                <a:cs typeface="Courier New"/>
              </a:rPr>
              <a:t>  Відсічення для {S,A,B,C}: сума внутрішніх дуг &lt;= 3</a:t>
            </a:r>
          </a:p>
        </p:txBody>
      </p:sp>
      <p:sp>
        <p:nvSpPr>
          <p:cNvPr id="14" name="">
            <a:extLst xmlns:a="http://schemas.openxmlformats.org/drawingml/2006/main">
              <a:ext uri="{FF2B5EF4-FFF2-40B4-BE49-F238E27FC236}">
                <a16:creationId xmlns:a16="http://schemas.microsoft.com/office/drawing/2014/main" id="{90464EA7-FC6A-441B-9EE4-65F3E38C0AD2}"/>
              </a:ext>
            </a:extLst>
          </p:cNvPr>
          <p:cNvSpPr>
            <a:spLocks xmlns:a="http://schemas.openxmlformats.org/drawingml/2006/main" noGrp="1"/>
          </p:cNvSpPr>
          <p:nvPr/>
        </p:nvSpPr>
        <p:spPr>
          <a:xfrm xmlns:a="http://schemas.openxmlformats.org/drawingml/2006/main">
            <a:off x="762000" y="4248150"/>
            <a:ext cx="10668000" cy="4286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176F619-F700-4FDB-978D-EECFDE07A649}"/>
              </a:ext>
            </a:extLst>
          </p:cNvPr>
          <p:cNvSpPr>
            <a:spLocks xmlns:a="http://schemas.openxmlformats.org/drawingml/2006/main" noGrp="1"/>
          </p:cNvSpPr>
          <p:nvPr/>
        </p:nvSpPr>
        <p:spPr>
          <a:xfrm xmlns:a="http://schemas.openxmlformats.org/drawingml/2006/main">
            <a:off x="914400" y="42481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Крок 3: C=36; S-A-E-D-B-C-S</a:t>
            </a:r>
          </a:p>
        </p:txBody>
      </p:sp>
      <p:sp>
        <p:nvSpPr>
          <p:cNvPr id="16" name="">
            <a:extLst xmlns:a="http://schemas.openxmlformats.org/drawingml/2006/main">
              <a:ext uri="{FF2B5EF4-FFF2-40B4-BE49-F238E27FC236}">
                <a16:creationId xmlns:a16="http://schemas.microsoft.com/office/drawing/2014/main" id="{2239BA38-B623-4B6C-AE14-D3246371F9CE}"/>
              </a:ext>
            </a:extLst>
          </p:cNvPr>
          <p:cNvSpPr>
            <a:spLocks xmlns:a="http://schemas.openxmlformats.org/drawingml/2006/main" noGrp="1"/>
          </p:cNvSpPr>
          <p:nvPr/>
        </p:nvSpPr>
        <p:spPr>
          <a:xfrm xmlns:a="http://schemas.openxmlformats.org/drawingml/2006/main">
            <a:off x="762000" y="4695825"/>
            <a:ext cx="10668000" cy="4286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84068D7-A83B-471A-8F9B-56488DEA9A92}"/>
              </a:ext>
            </a:extLst>
          </p:cNvPr>
          <p:cNvSpPr>
            <a:spLocks xmlns:a="http://schemas.openxmlformats.org/drawingml/2006/main" noGrp="1"/>
          </p:cNvSpPr>
          <p:nvPr/>
        </p:nvSpPr>
        <p:spPr>
          <a:xfrm xmlns:a="http://schemas.openxmlformats.org/drawingml/2006/main">
            <a:off x="914400" y="46958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MILP: S-A-E-D-B-C-S; C=36; gap=0</a:t>
            </a:r>
          </a:p>
        </p:txBody>
      </p:sp>
      <p:sp>
        <p:nvSpPr>
          <p:cNvPr id="18" name="">
            <a:extLst xmlns:a="http://schemas.openxmlformats.org/drawingml/2006/main">
              <a:ext uri="{FF2B5EF4-FFF2-40B4-BE49-F238E27FC236}">
                <a16:creationId xmlns:a16="http://schemas.microsoft.com/office/drawing/2014/main" id="{1193D025-FF43-460C-8E8C-85683471414A}"/>
              </a:ext>
            </a:extLst>
          </p:cNvPr>
          <p:cNvSpPr>
            <a:spLocks xmlns:a="http://schemas.openxmlformats.org/drawingml/2006/main" noGrp="1"/>
          </p:cNvSpPr>
          <p:nvPr/>
        </p:nvSpPr>
        <p:spPr>
          <a:xfrm xmlns:a="http://schemas.openxmlformats.org/drawingml/2006/main">
            <a:off x="762000" y="53149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66779"/>
                </a:solidFill>
                <a:latin typeface="Arial"/>
                <a:ea typeface="Arial"/>
                <a:cs typeface="Arial"/>
              </a:defRPr>
            </a:defPPr>
          </a:lstStyle>
          <a:p xmlns:a="http://schemas.openxmlformats.org/drawingml/2006/main">
            <a:pPr algn="l">
              <a:buNone/>
              <a:defRPr sz="2175" b="0">
                <a:solidFill>
                  <a:srgbClr val="566779"/>
                </a:solidFill>
                <a:latin typeface="Arial"/>
                <a:ea typeface="Arial"/>
                <a:cs typeface="Arial"/>
              </a:defRPr>
            </a:pPr>
            <a:r>
              <a:rPr sz="2175" b="0">
                <a:solidFill>
                  <a:srgbClr val="566779"/>
                </a:solidFill>
                <a:latin typeface="Arial"/>
                <a:ea typeface="Arial"/>
                <a:cs typeface="Arial"/>
              </a:rPr>
              <a:t>Кожен крок повторно розв’язує уточнену модель</a:t>
            </a:r>
          </a:p>
        </p:txBody>
      </p:sp>
    </p:spTree>
    <p:extLst>
      <p:ext uri="{BB962C8B-B14F-4D97-AF65-F5344CB8AC3E}">
        <p14:creationId xmlns:p14="http://schemas.microsoft.com/office/powerpoint/2010/main" val="358830172"/>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7EFB1F-278D-40FB-95E7-B89FB764B1B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Незалежна перевірка: повний перебір</a:t>
            </a:r>
          </a:p>
        </p:txBody>
      </p:sp>
      <p:sp>
        <p:nvSpPr>
          <p:cNvPr id="2" name="">
            <a:extLst xmlns:a="http://schemas.openxmlformats.org/drawingml/2006/main">
              <a:ext uri="{FF2B5EF4-FFF2-40B4-BE49-F238E27FC236}">
                <a16:creationId xmlns:a16="http://schemas.microsoft.com/office/drawing/2014/main" id="{4F64CA15-3FA3-4DFB-BFCE-04373C0E7B5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Для шести вузлів перевіряємо 5! = 120 маршрутів.</a:t>
            </a:r>
          </a:p>
        </p:txBody>
      </p:sp>
      <p:sp>
        <p:nvSpPr>
          <p:cNvPr id="3" name="">
            <a:extLst xmlns:a="http://schemas.openxmlformats.org/drawingml/2006/main">
              <a:ext uri="{FF2B5EF4-FFF2-40B4-BE49-F238E27FC236}">
                <a16:creationId xmlns:a16="http://schemas.microsoft.com/office/drawing/2014/main" id="{EEC888F5-D8AE-46AA-B87D-BB9FC5C186DC}"/>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80</a:t>
            </a:r>
          </a:p>
        </p:txBody>
      </p:sp>
      <p:sp>
        <p:nvSpPr>
          <p:cNvPr id="4" name="">
            <a:extLst xmlns:a="http://schemas.openxmlformats.org/drawingml/2006/main">
              <a:ext uri="{FF2B5EF4-FFF2-40B4-BE49-F238E27FC236}">
                <a16:creationId xmlns:a16="http://schemas.microsoft.com/office/drawing/2014/main" id="{A2742C11-F179-4BCE-BBFF-041ED550D3D7}"/>
              </a:ext>
            </a:extLst>
          </p:cNvPr>
          <p:cNvSpPr>
            <a:spLocks xmlns:a="http://schemas.openxmlformats.org/drawingml/2006/main" noGrp="1"/>
          </p:cNvSpPr>
          <p:nvPr/>
        </p:nvSpPr>
        <p:spPr>
          <a:xfrm xmlns:a="http://schemas.openxmlformats.org/drawingml/2006/main">
            <a:off x="762000" y="1504950"/>
            <a:ext cx="10668000" cy="24475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944481-4451-433D-9695-A1FC3551E325}"/>
              </a:ext>
            </a:extLst>
          </p:cNvPr>
          <p:cNvSpPr>
            <a:spLocks xmlns:a="http://schemas.openxmlformats.org/drawingml/2006/main" noGrp="1"/>
          </p:cNvSpPr>
          <p:nvPr/>
        </p:nvSpPr>
        <p:spPr>
          <a:xfrm xmlns:a="http://schemas.openxmlformats.org/drawingml/2006/main">
            <a:off x="933450" y="1581150"/>
            <a:ext cx="10325100" cy="2295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961230D0-7A76-4E5A-B0DA-CA9E8EE33E9A}"/>
              </a:ext>
            </a:extLst>
          </p:cNvPr>
          <p:cNvSpPr>
            <a:spLocks xmlns:a="http://schemas.openxmlformats.org/drawingml/2006/main" noGrp="1"/>
          </p:cNvSpPr>
          <p:nvPr/>
        </p:nvSpPr>
        <p:spPr>
          <a:xfrm xmlns:a="http://schemas.openxmlformats.org/drawingml/2006/main">
            <a:off x="762000" y="4200144"/>
            <a:ext cx="10668000" cy="8096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12FC86-F5F4-41C9-80E4-F16882C87D8F}"/>
              </a:ext>
            </a:extLst>
          </p:cNvPr>
          <p:cNvSpPr>
            <a:spLocks xmlns:a="http://schemas.openxmlformats.org/drawingml/2006/main" noGrp="1"/>
          </p:cNvSpPr>
          <p:nvPr/>
        </p:nvSpPr>
        <p:spPr>
          <a:xfrm xmlns:a="http://schemas.openxmlformats.org/drawingml/2006/main">
            <a:off x="933450" y="4257294"/>
            <a:ext cx="10325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Courier New"/>
                <a:ea typeface="Courier New"/>
                <a:cs typeface="Courier New"/>
              </a:defRPr>
            </a:defPPr>
          </a:lstStyle>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120 36 [0, 1, 5, 4, 2, 3, 0]</a:t>
            </a:r>
          </a:p>
        </p:txBody>
      </p:sp>
      <p:sp>
        <p:nvSpPr>
          <p:cNvPr id="9" name="">
            <a:extLst xmlns:a="http://schemas.openxmlformats.org/drawingml/2006/main">
              <a:ext uri="{FF2B5EF4-FFF2-40B4-BE49-F238E27FC236}">
                <a16:creationId xmlns:a16="http://schemas.microsoft.com/office/drawing/2014/main" id="{4ED86CC7-AC2E-4845-99E5-0822200880B4}"/>
              </a:ext>
            </a:extLst>
          </p:cNvPr>
          <p:cNvSpPr>
            <a:spLocks xmlns:a="http://schemas.openxmlformats.org/drawingml/2006/main" noGrp="1"/>
          </p:cNvSpPr>
          <p:nvPr/>
        </p:nvSpPr>
        <p:spPr>
          <a:xfrm xmlns:a="http://schemas.openxmlformats.org/drawingml/2006/main">
            <a:off x="933450" y="158115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itertools import permutations</a:t>
            </a:r>
          </a:p>
        </p:txBody>
      </p:sp>
      <p:sp>
        <p:nvSpPr>
          <p:cNvPr id="10" name="">
            <a:extLst xmlns:a="http://schemas.openxmlformats.org/drawingml/2006/main">
              <a:ext uri="{FF2B5EF4-FFF2-40B4-BE49-F238E27FC236}">
                <a16:creationId xmlns:a16="http://schemas.microsoft.com/office/drawing/2014/main" id="{A28BEAB8-DAAC-48D2-9346-96ADDE27D132}"/>
              </a:ext>
            </a:extLst>
          </p:cNvPr>
          <p:cNvSpPr>
            <a:spLocks xmlns:a="http://schemas.openxmlformats.org/drawingml/2006/main" noGrp="1"/>
          </p:cNvSpPr>
          <p:nvPr/>
        </p:nvSpPr>
        <p:spPr>
          <a:xfrm xmlns:a="http://schemas.openxmlformats.org/drawingml/2006/main">
            <a:off x="933450" y="185851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plans = []</a:t>
            </a:r>
          </a:p>
        </p:txBody>
      </p:sp>
      <p:sp>
        <p:nvSpPr>
          <p:cNvPr id="11" name="">
            <a:extLst xmlns:a="http://schemas.openxmlformats.org/drawingml/2006/main">
              <a:ext uri="{FF2B5EF4-FFF2-40B4-BE49-F238E27FC236}">
                <a16:creationId xmlns:a16="http://schemas.microsoft.com/office/drawing/2014/main" id="{2F6544A5-8EF6-47E4-A454-5A88C8D41918}"/>
              </a:ext>
            </a:extLst>
          </p:cNvPr>
          <p:cNvSpPr>
            <a:spLocks xmlns:a="http://schemas.openxmlformats.org/drawingml/2006/main" noGrp="1"/>
          </p:cNvSpPr>
          <p:nvPr/>
        </p:nvSpPr>
        <p:spPr>
          <a:xfrm xmlns:a="http://schemas.openxmlformats.org/drawingml/2006/main">
            <a:off x="933450" y="213588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p in permutations(range(1, n)):</a:t>
            </a:r>
          </a:p>
        </p:txBody>
      </p:sp>
      <p:sp>
        <p:nvSpPr>
          <p:cNvPr id="12" name="">
            <a:extLst xmlns:a="http://schemas.openxmlformats.org/drawingml/2006/main">
              <a:ext uri="{FF2B5EF4-FFF2-40B4-BE49-F238E27FC236}">
                <a16:creationId xmlns:a16="http://schemas.microsoft.com/office/drawing/2014/main" id="{7413B4DB-1CAC-403C-AD80-F4C3BE6ABBA0}"/>
              </a:ext>
            </a:extLst>
          </p:cNvPr>
          <p:cNvSpPr>
            <a:spLocks xmlns:a="http://schemas.openxmlformats.org/drawingml/2006/main" noGrp="1"/>
          </p:cNvSpPr>
          <p:nvPr/>
        </p:nvSpPr>
        <p:spPr>
          <a:xfrm xmlns:a="http://schemas.openxmlformats.org/drawingml/2006/main">
            <a:off x="933450" y="2413254"/>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route = [0, *p, 0]</a:t>
            </a:r>
          </a:p>
        </p:txBody>
      </p:sp>
      <p:sp>
        <p:nvSpPr>
          <p:cNvPr id="13" name="">
            <a:extLst xmlns:a="http://schemas.openxmlformats.org/drawingml/2006/main">
              <a:ext uri="{FF2B5EF4-FFF2-40B4-BE49-F238E27FC236}">
                <a16:creationId xmlns:a16="http://schemas.microsoft.com/office/drawing/2014/main" id="{2DEE2A54-310E-45E7-9604-2521932E4D7B}"/>
              </a:ext>
            </a:extLst>
          </p:cNvPr>
          <p:cNvSpPr>
            <a:spLocks xmlns:a="http://schemas.openxmlformats.org/drawingml/2006/main" noGrp="1"/>
          </p:cNvSpPr>
          <p:nvPr/>
        </p:nvSpPr>
        <p:spPr>
          <a:xfrm xmlns:a="http://schemas.openxmlformats.org/drawingml/2006/main">
            <a:off x="933450" y="2690622"/>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value = sum(C[i,j] for i,j in zip(route,route[1:]))</a:t>
            </a:r>
          </a:p>
        </p:txBody>
      </p:sp>
      <p:sp>
        <p:nvSpPr>
          <p:cNvPr id="14" name="">
            <a:extLst xmlns:a="http://schemas.openxmlformats.org/drawingml/2006/main">
              <a:ext uri="{FF2B5EF4-FFF2-40B4-BE49-F238E27FC236}">
                <a16:creationId xmlns:a16="http://schemas.microsoft.com/office/drawing/2014/main" id="{1BF2CBEF-DE54-4A3A-93CA-05E9DE76C115}"/>
              </a:ext>
            </a:extLst>
          </p:cNvPr>
          <p:cNvSpPr>
            <a:spLocks xmlns:a="http://schemas.openxmlformats.org/drawingml/2006/main" noGrp="1"/>
          </p:cNvSpPr>
          <p:nvPr/>
        </p:nvSpPr>
        <p:spPr>
          <a:xfrm xmlns:a="http://schemas.openxmlformats.org/drawingml/2006/main">
            <a:off x="933450" y="296799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plans.append((value, route))</a:t>
            </a:r>
          </a:p>
        </p:txBody>
      </p:sp>
      <p:sp>
        <p:nvSpPr>
          <p:cNvPr id="15" name="">
            <a:extLst xmlns:a="http://schemas.openxmlformats.org/drawingml/2006/main">
              <a:ext uri="{FF2B5EF4-FFF2-40B4-BE49-F238E27FC236}">
                <a16:creationId xmlns:a16="http://schemas.microsoft.com/office/drawing/2014/main" id="{9ADE8A68-A530-472E-8C55-F1D765FB2E49}"/>
              </a:ext>
            </a:extLst>
          </p:cNvPr>
          <p:cNvSpPr>
            <a:spLocks xmlns:a="http://schemas.openxmlformats.org/drawingml/2006/main" noGrp="1"/>
          </p:cNvSpPr>
          <p:nvPr/>
        </p:nvSpPr>
        <p:spPr>
          <a:xfrm xmlns:a="http://schemas.openxmlformats.org/drawingml/2006/main">
            <a:off x="933450" y="324535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value, route = min(plans)</a:t>
            </a:r>
          </a:p>
        </p:txBody>
      </p:sp>
      <p:sp>
        <p:nvSpPr>
          <p:cNvPr id="16" name="">
            <a:extLst xmlns:a="http://schemas.openxmlformats.org/drawingml/2006/main">
              <a:ext uri="{FF2B5EF4-FFF2-40B4-BE49-F238E27FC236}">
                <a16:creationId xmlns:a16="http://schemas.microsoft.com/office/drawing/2014/main" id="{9D2A98BC-6189-40FD-B77D-E4081C5B46E7}"/>
              </a:ext>
            </a:extLst>
          </p:cNvPr>
          <p:cNvSpPr>
            <a:spLocks xmlns:a="http://schemas.openxmlformats.org/drawingml/2006/main" noGrp="1"/>
          </p:cNvSpPr>
          <p:nvPr/>
        </p:nvSpPr>
        <p:spPr>
          <a:xfrm xmlns:a="http://schemas.openxmlformats.org/drawingml/2006/main">
            <a:off x="933450" y="352272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print(len(plans), value, route)</a:t>
            </a:r>
          </a:p>
        </p:txBody>
      </p:sp>
    </p:spTree>
    <p:extLst>
      <p:ext uri="{BB962C8B-B14F-4D97-AF65-F5344CB8AC3E}">
        <p14:creationId xmlns:p14="http://schemas.microsoft.com/office/powerpoint/2010/main" val="1620668631"/>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7567A7-F426-484A-996E-55AE14BBC73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Динамічне програмування для TSP</a:t>
            </a:r>
          </a:p>
        </p:txBody>
      </p:sp>
      <p:sp>
        <p:nvSpPr>
          <p:cNvPr id="2" name="">
            <a:extLst xmlns:a="http://schemas.openxmlformats.org/drawingml/2006/main">
              <a:ext uri="{FF2B5EF4-FFF2-40B4-BE49-F238E27FC236}">
                <a16:creationId xmlns:a16="http://schemas.microsoft.com/office/drawing/2014/main" id="{00FD9FE2-DAAB-4DFE-A18E-8A7BFED993B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Стан містить поточний вузол і ще не відвідані вузли.</a:t>
            </a:r>
          </a:p>
        </p:txBody>
      </p:sp>
      <p:sp>
        <p:nvSpPr>
          <p:cNvPr id="3" name="">
            <a:extLst xmlns:a="http://schemas.openxmlformats.org/drawingml/2006/main">
              <a:ext uri="{FF2B5EF4-FFF2-40B4-BE49-F238E27FC236}">
                <a16:creationId xmlns:a16="http://schemas.microsoft.com/office/drawing/2014/main" id="{C6A8E5AC-180D-485D-891F-F7964CA2FE12}"/>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81</a:t>
            </a:r>
          </a:p>
        </p:txBody>
      </p:sp>
      <p:graphicFrame>
        <p:nvGraphicFramePr>
          <p:cNvPr id="4" name="">
            <a:extLst xmlns:a="http://schemas.openxmlformats.org/drawingml/2006/main">
              <a:ext uri="{FF2B5EF4-FFF2-40B4-BE49-F238E27FC236}">
                <a16:creationId xmlns:a16="http://schemas.microsoft.com/office/drawing/2014/main" id="{B53E6ACB-B42C-4328-8811-104D930AC555}"/>
              </a:ext>
            </a:extLst>
          </p:cNvPr>
          <p:cNvGraphicFramePr/>
          <p:nvPr/>
        </p:nvGraphicFramePr>
        <p:xfrm>
          <a:off xmlns:a="http://schemas.openxmlformats.org/drawingml/2006/main" x="762000" y="1543050"/>
          <a:ext xmlns:a="http://schemas.openxmlformats.org/drawingml/2006/main" cx="10668000" cy="3524250"/>
        </p:xfrm>
        <a:graphic xmlns:a="http://schemas.openxmlformats.org/drawingml/2006/main">
          <a:graphicData uri="http://schemas.openxmlformats.org/drawingml/2006/table">
            <a:tbl>
              <a:tblPr/>
              <a:tblGrid>
                <a:gridCol w="2286000"/>
                <a:gridCol w="2619375"/>
                <a:gridCol w="3714750"/>
                <a:gridCol w="2047875"/>
              </a:tblGrid>
              <a:tr h="704850">
                <a:tc>
                  <a:txBody>
                    <a:bodyPr/>
                    <a:lstStyle/>
                    <a:p>
                      <a:r>
                        <a:rPr sz="2175" b="1">
                          <a:solidFill>
                            <a:srgbClr val="FFFFFF"/>
                          </a:solidFill>
                          <a:latin typeface="Arial"/>
                          <a:ea typeface="Arial"/>
                          <a:cs typeface="Arial"/>
                        </a:rPr>
                        <a:t>Поточний вузол</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Ще відвідати</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Найкраще завершення</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Вартість</a:t>
                      </a:r>
                    </a:p>
                  </a:txBody>
                  <a:tcPr marL="114300" marR="114300" marT="66675" marB="66675" anchor="ctr">
                    <a:solidFill>
                      <a:srgbClr val="173047"/>
                    </a:solidFill>
                  </a:tcPr>
                </a:tc>
              </a:tr>
              <a:tr h="704850">
                <a:tc>
                  <a:txBody>
                    <a:bodyPr/>
                    <a:lstStyle/>
                    <a:p>
                      <a:r>
                        <a:rPr sz="2175">
                          <a:solidFill>
                            <a:srgbClr val="173047"/>
                          </a:solidFill>
                          <a:latin typeface="Arial"/>
                          <a:ea typeface="Arial"/>
                          <a:cs typeface="Arial"/>
                        </a:rPr>
                        <a:t>C</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Нікого</a:t>
                      </a:r>
                    </a:p>
                  </a:txBody>
                  <a:tcPr marL="114300" marR="114300" marT="66675" marB="66675" anchor="ctr">
                    <a:solidFill>
                      <a:srgbClr val="FFFFFF"/>
                    </a:solidFill>
                  </a:tcPr>
                </a:tc>
                <a:tc>
                  <a:txBody>
                    <a:bodyPr/>
                    <a:lstStyle/>
                    <a:p>
                      <a:r>
                        <a:rPr sz="2175">
                          <a:solidFill>
                            <a:srgbClr val="173047"/>
                          </a:solidFill>
                          <a:latin typeface="Arial"/>
                          <a:ea typeface="Arial"/>
                          <a:cs typeface="Arial"/>
                        </a:rPr>
                        <a:t>C-S</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11</a:t>
                      </a:r>
                    </a:p>
                  </a:txBody>
                  <a:tcPr marL="114300" marR="114300" marT="66675" marB="66675" anchor="ctr">
                    <a:solidFill>
                      <a:srgbClr val="FFFFFF"/>
                    </a:solidFill>
                  </a:tcPr>
                </a:tc>
              </a:tr>
              <a:tr h="704850">
                <a:tc>
                  <a:txBody>
                    <a:bodyPr/>
                    <a:lstStyle/>
                    <a:p>
                      <a:r>
                        <a:rPr sz="2175">
                          <a:solidFill>
                            <a:srgbClr val="173047"/>
                          </a:solidFill>
                          <a:latin typeface="Arial"/>
                          <a:ea typeface="Arial"/>
                          <a:cs typeface="Arial"/>
                        </a:rPr>
                        <a:t>B</a:t>
                      </a:r>
                    </a:p>
                  </a:txBody>
                  <a:tcPr marL="114300" marR="114300" marT="66675" marB="66675" anchor="ctr">
                    <a:solidFill>
                      <a:srgbClr val="F1F5F8"/>
                    </a:solidFill>
                  </a:tcPr>
                </a:tc>
                <a:tc>
                  <a:txBody>
                    <a:bodyPr/>
                    <a:lstStyle/>
                    <a:p>
                      <a:r>
                        <a:rPr sz="2175">
                          <a:solidFill>
                            <a:srgbClr val="173047"/>
                          </a:solidFill>
                          <a:latin typeface="Arial"/>
                          <a:ea typeface="Arial"/>
                          <a:cs typeface="Arial"/>
                        </a:rPr>
                        <a:t>C</a:t>
                      </a:r>
                    </a:p>
                  </a:txBody>
                  <a:tcPr marL="114300" marR="114300" marT="66675" marB="66675" anchor="ctr">
                    <a:solidFill>
                      <a:srgbClr val="F1F5F8"/>
                    </a:solidFill>
                  </a:tcPr>
                </a:tc>
                <a:tc>
                  <a:txBody>
                    <a:bodyPr/>
                    <a:lstStyle/>
                    <a:p>
                      <a:r>
                        <a:rPr sz="2175">
                          <a:solidFill>
                            <a:srgbClr val="173047"/>
                          </a:solidFill>
                          <a:latin typeface="Arial"/>
                          <a:ea typeface="Arial"/>
                          <a:cs typeface="Arial"/>
                        </a:rPr>
                        <a:t>B-C-S</a:t>
                      </a:r>
                    </a:p>
                  </a:txBody>
                  <a:tcPr marL="114300" marR="114300" marT="66675" marB="66675" anchor="ctr">
                    <a:solidFill>
                      <a:srgbClr val="F1F5F8"/>
                    </a:solidFill>
                  </a:tcPr>
                </a:tc>
                <a:tc>
                  <a:txBody>
                    <a:bodyPr/>
                    <a:lstStyle/>
                    <a:p>
                      <a:r>
                        <a:rPr sz="2175">
                          <a:solidFill>
                            <a:srgbClr val="173047"/>
                          </a:solidFill>
                          <a:latin typeface="Arial"/>
                          <a:ea typeface="Arial"/>
                          <a:cs typeface="Arial"/>
                        </a:rPr>
                        <a:t>13</a:t>
                      </a:r>
                    </a:p>
                  </a:txBody>
                  <a:tcPr marL="114300" marR="114300" marT="66675" marB="66675" anchor="ctr">
                    <a:solidFill>
                      <a:srgbClr val="F1F5F8"/>
                    </a:solidFill>
                  </a:tcPr>
                </a:tc>
              </a:tr>
              <a:tr h="704850">
                <a:tc>
                  <a:txBody>
                    <a:bodyPr/>
                    <a:lstStyle/>
                    <a:p>
                      <a:r>
                        <a:rPr sz="2175">
                          <a:solidFill>
                            <a:srgbClr val="173047"/>
                          </a:solidFill>
                          <a:latin typeface="Arial"/>
                          <a:ea typeface="Arial"/>
                          <a:cs typeface="Arial"/>
                        </a:rPr>
                        <a:t>D</a:t>
                      </a:r>
                    </a:p>
                  </a:txBody>
                  <a:tcPr marL="114300" marR="114300" marT="66675" marB="66675" anchor="ctr">
                    <a:solidFill>
                      <a:srgbClr val="FFFFFF"/>
                    </a:solidFill>
                  </a:tcPr>
                </a:tc>
                <a:tc>
                  <a:txBody>
                    <a:bodyPr/>
                    <a:lstStyle/>
                    <a:p>
                      <a:r>
                        <a:rPr sz="2175">
                          <a:solidFill>
                            <a:srgbClr val="173047"/>
                          </a:solidFill>
                          <a:latin typeface="Arial"/>
                          <a:ea typeface="Arial"/>
                          <a:cs typeface="Arial"/>
                        </a:rPr>
                        <a:t>B,C</a:t>
                      </a:r>
                    </a:p>
                  </a:txBody>
                  <a:tcPr marL="114300" marR="114300" marT="66675" marB="66675" anchor="ctr">
                    <a:solidFill>
                      <a:srgbClr val="FFFFFF"/>
                    </a:solidFill>
                  </a:tcPr>
                </a:tc>
                <a:tc>
                  <a:txBody>
                    <a:bodyPr/>
                    <a:lstStyle/>
                    <a:p>
                      <a:r>
                        <a:rPr sz="2175">
                          <a:solidFill>
                            <a:srgbClr val="173047"/>
                          </a:solidFill>
                          <a:latin typeface="Arial"/>
                          <a:ea typeface="Arial"/>
                          <a:cs typeface="Arial"/>
                        </a:rPr>
                        <a:t>D-B-C-S</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18</a:t>
                      </a:r>
                    </a:p>
                  </a:txBody>
                  <a:tcPr marL="114300" marR="114300" marT="66675" marB="66675" anchor="ctr">
                    <a:solidFill>
                      <a:srgbClr val="FFFFFF"/>
                    </a:solidFill>
                  </a:tcPr>
                </a:tc>
              </a:tr>
              <a:tr h="704850">
                <a:tc>
                  <a:txBody>
                    <a:bodyPr/>
                    <a:lstStyle/>
                    <a:p>
                      <a:r>
                        <a:rPr sz="2175">
                          <a:solidFill>
                            <a:srgbClr val="173047"/>
                          </a:solidFill>
                          <a:latin typeface="Arial"/>
                          <a:ea typeface="Arial"/>
                          <a:cs typeface="Arial"/>
                        </a:rPr>
                        <a:t>E</a:t>
                      </a:r>
                    </a:p>
                  </a:txBody>
                  <a:tcPr marL="114300" marR="114300" marT="66675" marB="66675" anchor="ctr">
                    <a:solidFill>
                      <a:srgbClr val="F1F5F8"/>
                    </a:solidFill>
                  </a:tcPr>
                </a:tc>
                <a:tc>
                  <a:txBody>
                    <a:bodyPr/>
                    <a:lstStyle/>
                    <a:p>
                      <a:r>
                        <a:rPr sz="2175">
                          <a:solidFill>
                            <a:srgbClr val="173047"/>
                          </a:solidFill>
                          <a:latin typeface="Arial"/>
                          <a:ea typeface="Arial"/>
                          <a:cs typeface="Arial"/>
                        </a:rPr>
                        <a:t>D,B,C</a:t>
                      </a:r>
                    </a:p>
                  </a:txBody>
                  <a:tcPr marL="114300" marR="114300" marT="66675" marB="66675" anchor="ctr">
                    <a:solidFill>
                      <a:srgbClr val="F1F5F8"/>
                    </a:solidFill>
                  </a:tcPr>
                </a:tc>
                <a:tc>
                  <a:txBody>
                    <a:bodyPr/>
                    <a:lstStyle/>
                    <a:p>
                      <a:r>
                        <a:rPr sz="2175">
                          <a:solidFill>
                            <a:srgbClr val="173047"/>
                          </a:solidFill>
                          <a:latin typeface="Arial"/>
                          <a:ea typeface="Arial"/>
                          <a:cs typeface="Arial"/>
                        </a:rPr>
                        <a:t>E-D-B-C-S</a:t>
                      </a:r>
                    </a:p>
                  </a:txBody>
                  <a:tcPr marL="114300" marR="114300" marT="66675" marB="66675" anchor="ctr">
                    <a:solidFill>
                      <a:srgbClr val="F1F5F8"/>
                    </a:solidFill>
                  </a:tcPr>
                </a:tc>
                <a:tc>
                  <a:txBody>
                    <a:bodyPr/>
                    <a:lstStyle/>
                    <a:p>
                      <a:r>
                        <a:rPr sz="2175">
                          <a:solidFill>
                            <a:srgbClr val="173047"/>
                          </a:solidFill>
                          <a:latin typeface="Arial"/>
                          <a:ea typeface="Arial"/>
                          <a:cs typeface="Arial"/>
                        </a:rPr>
                        <a:t>20</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2C60E5B7-D66E-410F-8DEA-8920FBF6E764}"/>
              </a:ext>
            </a:extLst>
          </p:cNvPr>
          <p:cNvSpPr>
            <a:spLocks xmlns:a="http://schemas.openxmlformats.org/drawingml/2006/main" noGrp="1"/>
          </p:cNvSpPr>
          <p:nvPr/>
        </p:nvSpPr>
        <p:spPr>
          <a:xfrm xmlns:a="http://schemas.openxmlformats.org/drawingml/2006/main">
            <a:off x="762000" y="53244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00857D"/>
                </a:solidFill>
                <a:latin typeface="Arial"/>
                <a:ea typeface="Arial"/>
                <a:cs typeface="Arial"/>
              </a:defRPr>
            </a:defPPr>
          </a:lstStyle>
          <a:p xmlns:a="http://schemas.openxmlformats.org/drawingml/2006/main">
            <a:pPr algn="l">
              <a:buNone/>
              <a:defRPr sz="2325" b="1">
                <a:solidFill>
                  <a:srgbClr val="00857D"/>
                </a:solidFill>
                <a:latin typeface="Arial"/>
                <a:ea typeface="Arial"/>
                <a:cs typeface="Arial"/>
              </a:defRPr>
            </a:pPr>
            <a:r>
              <a:rPr sz="2325" b="1">
                <a:solidFill>
                  <a:srgbClr val="00857D"/>
                </a:solidFill>
                <a:latin typeface="Arial"/>
                <a:ea typeface="Arial"/>
                <a:cs typeface="Arial"/>
              </a:rPr>
              <a:t>Кожен варіант: час до наступного вузла</a:t>
            </a:r>
          </a:p>
          <a:p xmlns:a="http://schemas.openxmlformats.org/drawingml/2006/main">
            <a:pPr algn="l">
              <a:buNone/>
              <a:defRPr sz="2325" b="1">
                <a:solidFill>
                  <a:srgbClr val="00857D"/>
                </a:solidFill>
                <a:latin typeface="Arial"/>
                <a:ea typeface="Arial"/>
                <a:cs typeface="Arial"/>
              </a:defRPr>
            </a:pPr>
            <a:r>
              <a:rPr sz="2325" b="1">
                <a:solidFill>
                  <a:srgbClr val="00857D"/>
                </a:solidFill>
                <a:latin typeface="Arial"/>
                <a:ea typeface="Arial"/>
                <a:cs typeface="Arial"/>
              </a:rPr>
              <a:t>плюс найкраще завершення з нового стану.</a:t>
            </a:r>
          </a:p>
        </p:txBody>
      </p:sp>
    </p:spTree>
    <p:extLst>
      <p:ext uri="{BB962C8B-B14F-4D97-AF65-F5344CB8AC3E}">
        <p14:creationId xmlns:p14="http://schemas.microsoft.com/office/powerpoint/2010/main" val="1597891412"/>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9C5FF54-7A8D-4CB0-8241-798D648033D8}"/>
              </a:ext>
            </a:extLst>
          </p:cNvPr>
          <p:cNvCxnSpPr>
            <a:stCxn xmlns:a="http://schemas.openxmlformats.org/drawingml/2006/main" id="4" idx="2"/>
            <a:endCxn xmlns:a="http://schemas.openxmlformats.org/drawingml/2006/main" id="8" idx="0"/>
          </p:cNvCxnSpPr>
          <p:nvPr/>
        </p:nvCxnSpPr>
        <p:spPr>
          <a:xfrm xmlns:a="http://schemas.openxmlformats.org/drawingml/2006/main">
            <a:off x="6096000" y="2466975"/>
            <a:ext cx="3143250" cy="800100"/>
          </a:xfrm>
          <a:prstGeom xmlns:a="http://schemas.openxmlformats.org/drawingml/2006/main" prst="straightConnector1">
            <a:avLst/>
          </a:prstGeom>
          <a:ln xmlns:a="http://schemas.openxmlformats.org/drawingml/2006/main" w="28575">
            <a:solidFill>
              <a:srgbClr val="566779"/>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B0B3616B-6FD0-43FB-97D5-4EF58DD25D67}"/>
              </a:ext>
            </a:extLst>
          </p:cNvPr>
          <p:cNvCxnSpPr>
            <a:stCxn xmlns:a="http://schemas.openxmlformats.org/drawingml/2006/main" id="4" idx="2"/>
            <a:endCxn xmlns:a="http://schemas.openxmlformats.org/drawingml/2006/main" id="6" idx="0"/>
          </p:cNvCxnSpPr>
          <p:nvPr/>
        </p:nvCxnSpPr>
        <p:spPr>
          <a:xfrm xmlns:a="http://schemas.openxmlformats.org/drawingml/2006/main" flipH="1">
            <a:off x="2952750" y="2466975"/>
            <a:ext cx="3143250" cy="800100"/>
          </a:xfrm>
          <a:prstGeom xmlns:a="http://schemas.openxmlformats.org/drawingml/2006/main" prst="straightConnector1">
            <a:avLst/>
          </a:prstGeom>
          <a:ln xmlns:a="http://schemas.openxmlformats.org/drawingml/2006/main" w="28575">
            <a:solidFill>
              <a:srgbClr val="00857D"/>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27E5F26A-B545-48EE-8D0D-65D06739F3D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DP: вибір наступного вузла</a:t>
            </a:r>
          </a:p>
        </p:txBody>
      </p:sp>
      <p:sp>
        <p:nvSpPr>
          <p:cNvPr id="2" name="">
            <a:extLst xmlns:a="http://schemas.openxmlformats.org/drawingml/2006/main">
              <a:ext uri="{FF2B5EF4-FFF2-40B4-BE49-F238E27FC236}">
                <a16:creationId xmlns:a16="http://schemas.microsoft.com/office/drawing/2014/main" id="{D0C955CA-77D2-4DE3-8589-EF40B3EEEB0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Оптимальне завершення з D через B і C коштує 18 хв.</a:t>
            </a:r>
          </a:p>
        </p:txBody>
      </p:sp>
      <p:sp>
        <p:nvSpPr>
          <p:cNvPr id="3" name="">
            <a:extLst xmlns:a="http://schemas.openxmlformats.org/drawingml/2006/main">
              <a:ext uri="{FF2B5EF4-FFF2-40B4-BE49-F238E27FC236}">
                <a16:creationId xmlns:a16="http://schemas.microsoft.com/office/drawing/2014/main" id="{00367B6D-79D8-4B91-A69A-BE32D83E5022}"/>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82</a:t>
            </a:r>
          </a:p>
        </p:txBody>
      </p:sp>
      <p:sp>
        <p:nvSpPr>
          <p:cNvPr id="4" name="">
            <a:extLst xmlns:a="http://schemas.openxmlformats.org/drawingml/2006/main">
              <a:ext uri="{FF2B5EF4-FFF2-40B4-BE49-F238E27FC236}">
                <a16:creationId xmlns:a16="http://schemas.microsoft.com/office/drawing/2014/main" id="{725891C5-AE6A-41D2-9A64-469C38EE8DAA}"/>
              </a:ext>
            </a:extLst>
          </p:cNvPr>
          <p:cNvSpPr>
            <a:spLocks xmlns:a="http://schemas.openxmlformats.org/drawingml/2006/main" noGrp="1"/>
          </p:cNvSpPr>
          <p:nvPr/>
        </p:nvSpPr>
        <p:spPr>
          <a:xfrm xmlns:a="http://schemas.openxmlformats.org/drawingml/2006/main">
            <a:off x="3476625" y="1476375"/>
            <a:ext cx="5238750" cy="990600"/>
          </a:xfrm>
          <a:prstGeom xmlns:a="http://schemas.openxmlformats.org/drawingml/2006/main" prst="rect">
            <a:avLst/>
          </a:prstGeom>
          <a:solidFill xmlns:a="http://schemas.openxmlformats.org/drawingml/2006/main">
            <a:srgbClr val="E9F1FB"/>
          </a:solidFill>
          <a:ln xmlns:a="http://schemas.openxmlformats.org/drawingml/2006/main" w="19050">
            <a:solidFill>
              <a:srgbClr val="CDD8E1"/>
            </a:solidFill>
          </a:ln>
        </p:spPr>
      </p:sp>
      <p:sp>
        <p:nvSpPr>
          <p:cNvPr id="5" name="">
            <a:extLst xmlns:a="http://schemas.openxmlformats.org/drawingml/2006/main">
              <a:ext uri="{FF2B5EF4-FFF2-40B4-BE49-F238E27FC236}">
                <a16:creationId xmlns:a16="http://schemas.microsoft.com/office/drawing/2014/main" id="{AB801C45-D80A-4205-ADF9-250A53258EC4}"/>
              </a:ext>
            </a:extLst>
          </p:cNvPr>
          <p:cNvSpPr>
            <a:spLocks xmlns:a="http://schemas.openxmlformats.org/drawingml/2006/main" noGrp="1"/>
          </p:cNvSpPr>
          <p:nvPr/>
        </p:nvSpPr>
        <p:spPr>
          <a:xfrm xmlns:a="http://schemas.openxmlformats.org/drawingml/2006/main">
            <a:off x="3629025" y="1552575"/>
            <a:ext cx="4933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1">
                <a:solidFill>
                  <a:srgbClr val="173047"/>
                </a:solidFill>
                <a:latin typeface="Arial"/>
                <a:ea typeface="Arial"/>
                <a:cs typeface="Arial"/>
              </a:defRPr>
            </a:defPPr>
          </a:lstStyle>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Стан: D</a:t>
            </a:r>
          </a:p>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Ще відвідати B, C</a:t>
            </a:r>
          </a:p>
        </p:txBody>
      </p:sp>
      <p:sp>
        <p:nvSpPr>
          <p:cNvPr id="6" name="">
            <a:extLst xmlns:a="http://schemas.openxmlformats.org/drawingml/2006/main">
              <a:ext uri="{FF2B5EF4-FFF2-40B4-BE49-F238E27FC236}">
                <a16:creationId xmlns:a16="http://schemas.microsoft.com/office/drawing/2014/main" id="{BABBCD4C-5B63-4D92-9219-642116C600DA}"/>
              </a:ext>
            </a:extLst>
          </p:cNvPr>
          <p:cNvSpPr>
            <a:spLocks xmlns:a="http://schemas.openxmlformats.org/drawingml/2006/main" noGrp="1"/>
          </p:cNvSpPr>
          <p:nvPr/>
        </p:nvSpPr>
        <p:spPr>
          <a:xfrm xmlns:a="http://schemas.openxmlformats.org/drawingml/2006/main">
            <a:off x="762000" y="3267075"/>
            <a:ext cx="4381500" cy="1076325"/>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7" name="">
            <a:extLst xmlns:a="http://schemas.openxmlformats.org/drawingml/2006/main">
              <a:ext uri="{FF2B5EF4-FFF2-40B4-BE49-F238E27FC236}">
                <a16:creationId xmlns:a16="http://schemas.microsoft.com/office/drawing/2014/main" id="{4B3C7BD3-B99A-4C6E-80F8-6A7C0DDB1A0F}"/>
              </a:ext>
            </a:extLst>
          </p:cNvPr>
          <p:cNvSpPr>
            <a:spLocks xmlns:a="http://schemas.openxmlformats.org/drawingml/2006/main" noGrp="1"/>
          </p:cNvSpPr>
          <p:nvPr/>
        </p:nvSpPr>
        <p:spPr>
          <a:xfrm xmlns:a="http://schemas.openxmlformats.org/drawingml/2006/main">
            <a:off x="914400" y="3343275"/>
            <a:ext cx="40767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1">
                <a:solidFill>
                  <a:srgbClr val="173047"/>
                </a:solidFill>
                <a:latin typeface="Arial"/>
                <a:ea typeface="Arial"/>
                <a:cs typeface="Arial"/>
              </a:defRPr>
            </a:defPPr>
          </a:lstStyle>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Наступний B</a:t>
            </a:r>
          </a:p>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f(B,{C}) = 13</a:t>
            </a:r>
          </a:p>
        </p:txBody>
      </p:sp>
      <p:sp>
        <p:nvSpPr>
          <p:cNvPr id="8" name="">
            <a:extLst xmlns:a="http://schemas.openxmlformats.org/drawingml/2006/main">
              <a:ext uri="{FF2B5EF4-FFF2-40B4-BE49-F238E27FC236}">
                <a16:creationId xmlns:a16="http://schemas.microsoft.com/office/drawing/2014/main" id="{81333CD4-713A-426A-BCE0-C47AF64A8DE5}"/>
              </a:ext>
            </a:extLst>
          </p:cNvPr>
          <p:cNvSpPr>
            <a:spLocks xmlns:a="http://schemas.openxmlformats.org/drawingml/2006/main" noGrp="1"/>
          </p:cNvSpPr>
          <p:nvPr/>
        </p:nvSpPr>
        <p:spPr>
          <a:xfrm xmlns:a="http://schemas.openxmlformats.org/drawingml/2006/main">
            <a:off x="7048500" y="3267075"/>
            <a:ext cx="4381500" cy="1076325"/>
          </a:xfrm>
          <a:prstGeom xmlns:a="http://schemas.openxmlformats.org/drawingml/2006/main" prst="rect">
            <a:avLst/>
          </a:prstGeom>
          <a:solidFill xmlns:a="http://schemas.openxmlformats.org/drawingml/2006/main">
            <a:srgbClr val="F1F5F8"/>
          </a:solidFill>
          <a:ln xmlns:a="http://schemas.openxmlformats.org/drawingml/2006/main" w="19050">
            <a:solidFill>
              <a:srgbClr val="CDD8E1"/>
            </a:solidFill>
          </a:ln>
        </p:spPr>
      </p:sp>
      <p:sp>
        <p:nvSpPr>
          <p:cNvPr id="9" name="">
            <a:extLst xmlns:a="http://schemas.openxmlformats.org/drawingml/2006/main">
              <a:ext uri="{FF2B5EF4-FFF2-40B4-BE49-F238E27FC236}">
                <a16:creationId xmlns:a16="http://schemas.microsoft.com/office/drawing/2014/main" id="{E37BAEF5-2840-40D8-AA4C-9949BCAE5E5F}"/>
              </a:ext>
            </a:extLst>
          </p:cNvPr>
          <p:cNvSpPr>
            <a:spLocks xmlns:a="http://schemas.openxmlformats.org/drawingml/2006/main" noGrp="1"/>
          </p:cNvSpPr>
          <p:nvPr/>
        </p:nvSpPr>
        <p:spPr>
          <a:xfrm xmlns:a="http://schemas.openxmlformats.org/drawingml/2006/main">
            <a:off x="7200900" y="3343275"/>
            <a:ext cx="40767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1">
                <a:solidFill>
                  <a:srgbClr val="173047"/>
                </a:solidFill>
                <a:latin typeface="Arial"/>
                <a:ea typeface="Arial"/>
                <a:cs typeface="Arial"/>
              </a:defRPr>
            </a:defPPr>
          </a:lstStyle>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Наступний C</a:t>
            </a:r>
          </a:p>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f(C,{B}) = 18</a:t>
            </a:r>
          </a:p>
        </p:txBody>
      </p:sp>
      <p:sp>
        <p:nvSpPr>
          <p:cNvPr id="12" name="">
            <a:extLst xmlns:a="http://schemas.openxmlformats.org/drawingml/2006/main">
              <a:ext uri="{FF2B5EF4-FFF2-40B4-BE49-F238E27FC236}">
                <a16:creationId xmlns:a16="http://schemas.microsoft.com/office/drawing/2014/main" id="{93C82B2C-1E67-4B7A-AE3A-8F5D695C3246}"/>
              </a:ext>
            </a:extLst>
          </p:cNvPr>
          <p:cNvSpPr>
            <a:spLocks xmlns:a="http://schemas.openxmlformats.org/drawingml/2006/main" noGrp="1"/>
          </p:cNvSpPr>
          <p:nvPr/>
        </p:nvSpPr>
        <p:spPr>
          <a:xfrm xmlns:a="http://schemas.openxmlformats.org/drawingml/2006/main">
            <a:off x="1581150" y="25908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Arial"/>
                <a:ea typeface="Arial"/>
                <a:cs typeface="Arial"/>
              </a:defRPr>
            </a:defPPr>
          </a:lstStyle>
          <a:p xmlns:a="http://schemas.openxmlformats.org/drawingml/2006/main">
            <a:pPr algn="l">
              <a:buNone/>
              <a:defRPr sz="2175" b="1">
                <a:solidFill>
                  <a:srgbClr val="00857D"/>
                </a:solidFill>
                <a:latin typeface="Arial"/>
                <a:ea typeface="Arial"/>
                <a:cs typeface="Arial"/>
              </a:defRPr>
            </a:pPr>
            <a:r>
              <a:rPr sz="2175" b="1">
                <a:solidFill>
                  <a:srgbClr val="00857D"/>
                </a:solidFill>
                <a:latin typeface="Arial"/>
                <a:ea typeface="Arial"/>
                <a:cs typeface="Arial"/>
              </a:rPr>
              <a:t>D-B: 5 хв</a:t>
            </a:r>
          </a:p>
        </p:txBody>
      </p:sp>
      <p:sp>
        <p:nvSpPr>
          <p:cNvPr id="13" name="">
            <a:extLst xmlns:a="http://schemas.openxmlformats.org/drawingml/2006/main">
              <a:ext uri="{FF2B5EF4-FFF2-40B4-BE49-F238E27FC236}">
                <a16:creationId xmlns:a16="http://schemas.microsoft.com/office/drawing/2014/main" id="{C8C367B8-F49B-4832-9CD4-5BE6DD6B7338}"/>
              </a:ext>
            </a:extLst>
          </p:cNvPr>
          <p:cNvSpPr>
            <a:spLocks xmlns:a="http://schemas.openxmlformats.org/drawingml/2006/main" noGrp="1"/>
          </p:cNvSpPr>
          <p:nvPr/>
        </p:nvSpPr>
        <p:spPr>
          <a:xfrm xmlns:a="http://schemas.openxmlformats.org/drawingml/2006/main">
            <a:off x="8858250" y="25908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66779"/>
                </a:solidFill>
                <a:latin typeface="Arial"/>
                <a:ea typeface="Arial"/>
                <a:cs typeface="Arial"/>
              </a:defRPr>
            </a:defPPr>
          </a:lstStyle>
          <a:p xmlns:a="http://schemas.openxmlformats.org/drawingml/2006/main">
            <a:pPr algn="l">
              <a:buNone/>
              <a:defRPr sz="2175" b="0">
                <a:solidFill>
                  <a:srgbClr val="566779"/>
                </a:solidFill>
                <a:latin typeface="Arial"/>
                <a:ea typeface="Arial"/>
                <a:cs typeface="Arial"/>
              </a:defRPr>
            </a:pPr>
            <a:r>
              <a:rPr sz="2175" b="0">
                <a:solidFill>
                  <a:srgbClr val="566779"/>
                </a:solidFill>
                <a:latin typeface="Arial"/>
                <a:ea typeface="Arial"/>
                <a:cs typeface="Arial"/>
              </a:rPr>
              <a:t>D-C: 12 хв</a:t>
            </a:r>
          </a:p>
        </p:txBody>
      </p:sp>
      <p:sp>
        <p:nvSpPr>
          <p:cNvPr id="14" name="">
            <a:extLst xmlns:a="http://schemas.openxmlformats.org/drawingml/2006/main">
              <a:ext uri="{FF2B5EF4-FFF2-40B4-BE49-F238E27FC236}">
                <a16:creationId xmlns:a16="http://schemas.microsoft.com/office/drawing/2014/main" id="{0BE5CCFE-E583-4CD0-A67C-F7E7D32D8D57}"/>
              </a:ext>
            </a:extLst>
          </p:cNvPr>
          <p:cNvSpPr>
            <a:spLocks xmlns:a="http://schemas.openxmlformats.org/drawingml/2006/main" noGrp="1"/>
          </p:cNvSpPr>
          <p:nvPr/>
        </p:nvSpPr>
        <p:spPr>
          <a:xfrm xmlns:a="http://schemas.openxmlformats.org/drawingml/2006/main">
            <a:off x="762000" y="45529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675" b="1">
                <a:solidFill>
                  <a:srgbClr val="00857D"/>
                </a:solidFill>
                <a:latin typeface="Arial"/>
                <a:ea typeface="Arial"/>
                <a:cs typeface="Arial"/>
              </a:defRPr>
            </a:defPPr>
          </a:lstStyle>
          <a:p xmlns:a="http://schemas.openxmlformats.org/drawingml/2006/main">
            <a:pPr algn="ctr">
              <a:buNone/>
              <a:defRPr sz="3675" b="1">
                <a:solidFill>
                  <a:srgbClr val="00857D"/>
                </a:solidFill>
                <a:latin typeface="Arial"/>
                <a:ea typeface="Arial"/>
                <a:cs typeface="Arial"/>
              </a:defRPr>
            </a:pPr>
            <a:r>
              <a:rPr sz="3675" b="1">
                <a:solidFill>
                  <a:srgbClr val="00857D"/>
                </a:solidFill>
                <a:latin typeface="Arial"/>
                <a:ea typeface="Arial"/>
                <a:cs typeface="Arial"/>
              </a:rPr>
              <a:t>5 + 13 = 18</a:t>
            </a:r>
          </a:p>
        </p:txBody>
      </p:sp>
      <p:sp>
        <p:nvSpPr>
          <p:cNvPr id="15" name="">
            <a:extLst xmlns:a="http://schemas.openxmlformats.org/drawingml/2006/main">
              <a:ext uri="{FF2B5EF4-FFF2-40B4-BE49-F238E27FC236}">
                <a16:creationId xmlns:a16="http://schemas.microsoft.com/office/drawing/2014/main" id="{205602F7-69D2-4420-B5E8-96A798C11C7E}"/>
              </a:ext>
            </a:extLst>
          </p:cNvPr>
          <p:cNvSpPr>
            <a:spLocks xmlns:a="http://schemas.openxmlformats.org/drawingml/2006/main" noGrp="1"/>
          </p:cNvSpPr>
          <p:nvPr/>
        </p:nvSpPr>
        <p:spPr>
          <a:xfrm xmlns:a="http://schemas.openxmlformats.org/drawingml/2006/main">
            <a:off x="7048500" y="45529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675" b="1">
                <a:solidFill>
                  <a:srgbClr val="566779"/>
                </a:solidFill>
                <a:latin typeface="Arial"/>
                <a:ea typeface="Arial"/>
                <a:cs typeface="Arial"/>
              </a:defRPr>
            </a:defPPr>
          </a:lstStyle>
          <a:p xmlns:a="http://schemas.openxmlformats.org/drawingml/2006/main">
            <a:pPr algn="ctr">
              <a:buNone/>
              <a:defRPr sz="3675" b="1">
                <a:solidFill>
                  <a:srgbClr val="566779"/>
                </a:solidFill>
                <a:latin typeface="Arial"/>
                <a:ea typeface="Arial"/>
                <a:cs typeface="Arial"/>
              </a:defRPr>
            </a:pPr>
            <a:r>
              <a:rPr sz="3675" b="1">
                <a:solidFill>
                  <a:srgbClr val="566779"/>
                </a:solidFill>
                <a:latin typeface="Arial"/>
                <a:ea typeface="Arial"/>
                <a:cs typeface="Arial"/>
              </a:rPr>
              <a:t>12 + 18 = 30</a:t>
            </a:r>
          </a:p>
        </p:txBody>
      </p:sp>
      <p:sp>
        <p:nvSpPr>
          <p:cNvPr id="16" name="">
            <a:extLst xmlns:a="http://schemas.openxmlformats.org/drawingml/2006/main">
              <a:ext uri="{FF2B5EF4-FFF2-40B4-BE49-F238E27FC236}">
                <a16:creationId xmlns:a16="http://schemas.microsoft.com/office/drawing/2014/main" id="{9AFB7CAB-7681-4572-9687-47A154880EBF}"/>
              </a:ext>
            </a:extLst>
          </p:cNvPr>
          <p:cNvSpPr>
            <a:spLocks xmlns:a="http://schemas.openxmlformats.org/drawingml/2006/main" noGrp="1"/>
          </p:cNvSpPr>
          <p:nvPr/>
        </p:nvSpPr>
        <p:spPr>
          <a:xfrm xmlns:a="http://schemas.openxmlformats.org/drawingml/2006/main">
            <a:off x="762000" y="5267325"/>
            <a:ext cx="438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75" b="1">
                <a:solidFill>
                  <a:srgbClr val="00857D"/>
                </a:solidFill>
                <a:latin typeface="Arial"/>
                <a:ea typeface="Arial"/>
                <a:cs typeface="Arial"/>
              </a:defRPr>
            </a:defPPr>
          </a:lstStyle>
          <a:p xmlns:a="http://schemas.openxmlformats.org/drawingml/2006/main">
            <a:pPr algn="ctr">
              <a:buNone/>
              <a:defRPr sz="2475" b="1">
                <a:solidFill>
                  <a:srgbClr val="00857D"/>
                </a:solidFill>
                <a:latin typeface="Arial"/>
                <a:ea typeface="Arial"/>
                <a:cs typeface="Arial"/>
              </a:defRPr>
            </a:pPr>
            <a:r>
              <a:rPr sz="2475" b="1">
                <a:solidFill>
                  <a:srgbClr val="00857D"/>
                </a:solidFill>
                <a:latin typeface="Arial"/>
                <a:ea typeface="Arial"/>
                <a:cs typeface="Arial"/>
              </a:rPr>
              <a:t>D-B-C-S</a:t>
            </a:r>
          </a:p>
        </p:txBody>
      </p:sp>
      <p:sp>
        <p:nvSpPr>
          <p:cNvPr id="17" name="">
            <a:extLst xmlns:a="http://schemas.openxmlformats.org/drawingml/2006/main">
              <a:ext uri="{FF2B5EF4-FFF2-40B4-BE49-F238E27FC236}">
                <a16:creationId xmlns:a16="http://schemas.microsoft.com/office/drawing/2014/main" id="{A2848BB8-4D81-406B-8605-7F17287665F6}"/>
              </a:ext>
            </a:extLst>
          </p:cNvPr>
          <p:cNvSpPr>
            <a:spLocks xmlns:a="http://schemas.openxmlformats.org/drawingml/2006/main" noGrp="1"/>
          </p:cNvSpPr>
          <p:nvPr/>
        </p:nvSpPr>
        <p:spPr>
          <a:xfrm xmlns:a="http://schemas.openxmlformats.org/drawingml/2006/main">
            <a:off x="7048500" y="5267325"/>
            <a:ext cx="438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75" b="1">
                <a:solidFill>
                  <a:srgbClr val="566779"/>
                </a:solidFill>
                <a:latin typeface="Arial"/>
                <a:ea typeface="Arial"/>
                <a:cs typeface="Arial"/>
              </a:defRPr>
            </a:defPPr>
          </a:lstStyle>
          <a:p xmlns:a="http://schemas.openxmlformats.org/drawingml/2006/main">
            <a:pPr algn="ctr">
              <a:buNone/>
              <a:defRPr sz="2475" b="1">
                <a:solidFill>
                  <a:srgbClr val="566779"/>
                </a:solidFill>
                <a:latin typeface="Arial"/>
                <a:ea typeface="Arial"/>
                <a:cs typeface="Arial"/>
              </a:defRPr>
            </a:pPr>
            <a:r>
              <a:rPr sz="2475" b="1">
                <a:solidFill>
                  <a:srgbClr val="566779"/>
                </a:solidFill>
                <a:latin typeface="Arial"/>
                <a:ea typeface="Arial"/>
                <a:cs typeface="Arial"/>
              </a:rPr>
              <a:t>D-C-B-S</a:t>
            </a:r>
          </a:p>
        </p:txBody>
      </p:sp>
    </p:spTree>
    <p:extLst>
      <p:ext uri="{BB962C8B-B14F-4D97-AF65-F5344CB8AC3E}">
        <p14:creationId xmlns:p14="http://schemas.microsoft.com/office/powerpoint/2010/main" val="2102614458"/>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D5703A-E76E-46CE-B063-F10380B54AEA}"/>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TSP: динамічне програмування в Python</a:t>
            </a:r>
          </a:p>
        </p:txBody>
      </p:sp>
      <p:sp>
        <p:nvSpPr>
          <p:cNvPr id="2" name="">
            <a:extLst xmlns:a="http://schemas.openxmlformats.org/drawingml/2006/main">
              <a:ext uri="{FF2B5EF4-FFF2-40B4-BE49-F238E27FC236}">
                <a16:creationId xmlns:a16="http://schemas.microsoft.com/office/drawing/2014/main" id="{07FF009B-C5C5-45F2-B55E-F601905D7EA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Кеш зберігає відповідь для кожної пари (i, remaining).</a:t>
            </a:r>
          </a:p>
        </p:txBody>
      </p:sp>
      <p:sp>
        <p:nvSpPr>
          <p:cNvPr id="3" name="">
            <a:extLst xmlns:a="http://schemas.openxmlformats.org/drawingml/2006/main">
              <a:ext uri="{FF2B5EF4-FFF2-40B4-BE49-F238E27FC236}">
                <a16:creationId xmlns:a16="http://schemas.microsoft.com/office/drawing/2014/main" id="{E9CE6BEE-502A-42CA-9C8B-702A313C51C4}"/>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83</a:t>
            </a:r>
          </a:p>
        </p:txBody>
      </p:sp>
      <p:sp>
        <p:nvSpPr>
          <p:cNvPr id="4" name="">
            <a:extLst xmlns:a="http://schemas.openxmlformats.org/drawingml/2006/main">
              <a:ext uri="{FF2B5EF4-FFF2-40B4-BE49-F238E27FC236}">
                <a16:creationId xmlns:a16="http://schemas.microsoft.com/office/drawing/2014/main" id="{932FD536-911C-4B57-8219-0854AC960712}"/>
              </a:ext>
            </a:extLst>
          </p:cNvPr>
          <p:cNvSpPr>
            <a:spLocks xmlns:a="http://schemas.openxmlformats.org/drawingml/2006/main" noGrp="1"/>
          </p:cNvSpPr>
          <p:nvPr/>
        </p:nvSpPr>
        <p:spPr>
          <a:xfrm xmlns:a="http://schemas.openxmlformats.org/drawingml/2006/main">
            <a:off x="762000" y="1495425"/>
            <a:ext cx="10668000" cy="330098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3EB9B9-913F-47F1-8AFE-8936EF0BE629}"/>
              </a:ext>
            </a:extLst>
          </p:cNvPr>
          <p:cNvSpPr>
            <a:spLocks xmlns:a="http://schemas.openxmlformats.org/drawingml/2006/main" noGrp="1"/>
          </p:cNvSpPr>
          <p:nvPr/>
        </p:nvSpPr>
        <p:spPr>
          <a:xfrm xmlns:a="http://schemas.openxmlformats.org/drawingml/2006/main">
            <a:off x="933450" y="1571625"/>
            <a:ext cx="10325100" cy="31485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22581E02-3292-42B1-90AA-F1E4F69609E3}"/>
              </a:ext>
            </a:extLst>
          </p:cNvPr>
          <p:cNvSpPr>
            <a:spLocks xmlns:a="http://schemas.openxmlformats.org/drawingml/2006/main" noGrp="1"/>
          </p:cNvSpPr>
          <p:nvPr/>
        </p:nvSpPr>
        <p:spPr>
          <a:xfrm xmlns:a="http://schemas.openxmlformats.org/drawingml/2006/main">
            <a:off x="762000" y="4977384"/>
            <a:ext cx="10668000" cy="63817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EC68167-3EC0-42C8-BEEE-CB61BFE31851}"/>
              </a:ext>
            </a:extLst>
          </p:cNvPr>
          <p:cNvSpPr>
            <a:spLocks xmlns:a="http://schemas.openxmlformats.org/drawingml/2006/main" noGrp="1"/>
          </p:cNvSpPr>
          <p:nvPr/>
        </p:nvSpPr>
        <p:spPr>
          <a:xfrm xmlns:a="http://schemas.openxmlformats.org/drawingml/2006/main">
            <a:off x="933450" y="5034534"/>
            <a:ext cx="1032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Courier New"/>
                <a:ea typeface="Courier New"/>
                <a:cs typeface="Courier New"/>
              </a:defRPr>
            </a:defPPr>
          </a:lstStyle>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36 [0, 1, 5, 4, 2, 3, 0] 81</a:t>
            </a:r>
          </a:p>
        </p:txBody>
      </p:sp>
      <p:sp>
        <p:nvSpPr>
          <p:cNvPr id="9" name="">
            <a:extLst xmlns:a="http://schemas.openxmlformats.org/drawingml/2006/main">
              <a:ext uri="{FF2B5EF4-FFF2-40B4-BE49-F238E27FC236}">
                <a16:creationId xmlns:a16="http://schemas.microsoft.com/office/drawing/2014/main" id="{D9AB83E0-F8E8-48DC-8464-8D1B4786A0D5}"/>
              </a:ext>
            </a:extLst>
          </p:cNvPr>
          <p:cNvSpPr>
            <a:spLocks xmlns:a="http://schemas.openxmlformats.org/drawingml/2006/main" noGrp="1"/>
          </p:cNvSpPr>
          <p:nvPr/>
        </p:nvSpPr>
        <p:spPr>
          <a:xfrm xmlns:a="http://schemas.openxmlformats.org/drawingml/2006/main">
            <a:off x="933450" y="1571625"/>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from functools import lru_cache</a:t>
            </a:r>
          </a:p>
        </p:txBody>
      </p:sp>
      <p:sp>
        <p:nvSpPr>
          <p:cNvPr id="10" name="">
            <a:extLst xmlns:a="http://schemas.openxmlformats.org/drawingml/2006/main">
              <a:ext uri="{FF2B5EF4-FFF2-40B4-BE49-F238E27FC236}">
                <a16:creationId xmlns:a16="http://schemas.microsoft.com/office/drawing/2014/main" id="{19052154-B271-489F-A477-642D697D1039}"/>
              </a:ext>
            </a:extLst>
          </p:cNvPr>
          <p:cNvSpPr>
            <a:spLocks xmlns:a="http://schemas.openxmlformats.org/drawingml/2006/main" noGrp="1"/>
          </p:cNvSpPr>
          <p:nvPr/>
        </p:nvSpPr>
        <p:spPr>
          <a:xfrm xmlns:a="http://schemas.openxmlformats.org/drawingml/2006/main">
            <a:off x="933450" y="1827657"/>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@lru_cache(None)</a:t>
            </a:r>
          </a:p>
        </p:txBody>
      </p:sp>
      <p:sp>
        <p:nvSpPr>
          <p:cNvPr id="11" name="">
            <a:extLst xmlns:a="http://schemas.openxmlformats.org/drawingml/2006/main">
              <a:ext uri="{FF2B5EF4-FFF2-40B4-BE49-F238E27FC236}">
                <a16:creationId xmlns:a16="http://schemas.microsoft.com/office/drawing/2014/main" id="{83B6F065-053E-4DE4-AF3E-D82359E50931}"/>
              </a:ext>
            </a:extLst>
          </p:cNvPr>
          <p:cNvSpPr>
            <a:spLocks xmlns:a="http://schemas.openxmlformats.org/drawingml/2006/main" noGrp="1"/>
          </p:cNvSpPr>
          <p:nvPr/>
        </p:nvSpPr>
        <p:spPr>
          <a:xfrm xmlns:a="http://schemas.openxmlformats.org/drawingml/2006/main">
            <a:off x="933450" y="2083689"/>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def dp(i, remaining):</a:t>
            </a:r>
          </a:p>
        </p:txBody>
      </p:sp>
      <p:sp>
        <p:nvSpPr>
          <p:cNvPr id="12" name="">
            <a:extLst xmlns:a="http://schemas.openxmlformats.org/drawingml/2006/main">
              <a:ext uri="{FF2B5EF4-FFF2-40B4-BE49-F238E27FC236}">
                <a16:creationId xmlns:a16="http://schemas.microsoft.com/office/drawing/2014/main" id="{4D3AA4D6-DA83-41EC-A9EA-3776C6D5CC01}"/>
              </a:ext>
            </a:extLst>
          </p:cNvPr>
          <p:cNvSpPr>
            <a:spLocks xmlns:a="http://schemas.openxmlformats.org/drawingml/2006/main" noGrp="1"/>
          </p:cNvSpPr>
          <p:nvPr/>
        </p:nvSpPr>
        <p:spPr>
          <a:xfrm xmlns:a="http://schemas.openxmlformats.org/drawingml/2006/main">
            <a:off x="933450" y="2339721"/>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if not remaining: return int(C[i,0]), (0,)</a:t>
            </a:r>
          </a:p>
        </p:txBody>
      </p:sp>
      <p:sp>
        <p:nvSpPr>
          <p:cNvPr id="13" name="">
            <a:extLst xmlns:a="http://schemas.openxmlformats.org/drawingml/2006/main">
              <a:ext uri="{FF2B5EF4-FFF2-40B4-BE49-F238E27FC236}">
                <a16:creationId xmlns:a16="http://schemas.microsoft.com/office/drawing/2014/main" id="{3D059AED-8B45-403B-AA0D-2391E6BFA26B}"/>
              </a:ext>
            </a:extLst>
          </p:cNvPr>
          <p:cNvSpPr>
            <a:spLocks xmlns:a="http://schemas.openxmlformats.org/drawingml/2006/main" noGrp="1"/>
          </p:cNvSpPr>
          <p:nvPr/>
        </p:nvSpPr>
        <p:spPr>
          <a:xfrm xmlns:a="http://schemas.openxmlformats.org/drawingml/2006/main">
            <a:off x="933450" y="2595753"/>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candidates = []</a:t>
            </a:r>
          </a:p>
        </p:txBody>
      </p:sp>
      <p:sp>
        <p:nvSpPr>
          <p:cNvPr id="14" name="">
            <a:extLst xmlns:a="http://schemas.openxmlformats.org/drawingml/2006/main">
              <a:ext uri="{FF2B5EF4-FFF2-40B4-BE49-F238E27FC236}">
                <a16:creationId xmlns:a16="http://schemas.microsoft.com/office/drawing/2014/main" id="{C5A5FDBA-971A-4CF0-BE8D-1392F1EF6617}"/>
              </a:ext>
            </a:extLst>
          </p:cNvPr>
          <p:cNvSpPr>
            <a:spLocks xmlns:a="http://schemas.openxmlformats.org/drawingml/2006/main" noGrp="1"/>
          </p:cNvSpPr>
          <p:nvPr/>
        </p:nvSpPr>
        <p:spPr>
          <a:xfrm xmlns:a="http://schemas.openxmlformats.org/drawingml/2006/main">
            <a:off x="933450" y="2851785"/>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for j in remaining:</a:t>
            </a:r>
          </a:p>
        </p:txBody>
      </p:sp>
      <p:sp>
        <p:nvSpPr>
          <p:cNvPr id="15" name="">
            <a:extLst xmlns:a="http://schemas.openxmlformats.org/drawingml/2006/main">
              <a:ext uri="{FF2B5EF4-FFF2-40B4-BE49-F238E27FC236}">
                <a16:creationId xmlns:a16="http://schemas.microsoft.com/office/drawing/2014/main" id="{C2282340-43D1-4336-8FF2-BDC303D5C680}"/>
              </a:ext>
            </a:extLst>
          </p:cNvPr>
          <p:cNvSpPr>
            <a:spLocks xmlns:a="http://schemas.openxmlformats.org/drawingml/2006/main" noGrp="1"/>
          </p:cNvSpPr>
          <p:nvPr/>
        </p:nvSpPr>
        <p:spPr>
          <a:xfrm xmlns:a="http://schemas.openxmlformats.org/drawingml/2006/main">
            <a:off x="933450" y="3107817"/>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rest = tuple(v for v in remaining if v != j)</a:t>
            </a:r>
          </a:p>
        </p:txBody>
      </p:sp>
      <p:sp>
        <p:nvSpPr>
          <p:cNvPr id="16" name="">
            <a:extLst xmlns:a="http://schemas.openxmlformats.org/drawingml/2006/main">
              <a:ext uri="{FF2B5EF4-FFF2-40B4-BE49-F238E27FC236}">
                <a16:creationId xmlns:a16="http://schemas.microsoft.com/office/drawing/2014/main" id="{EC5DC5BF-32BE-46D1-A417-7D2DB5FB062B}"/>
              </a:ext>
            </a:extLst>
          </p:cNvPr>
          <p:cNvSpPr>
            <a:spLocks xmlns:a="http://schemas.openxmlformats.org/drawingml/2006/main" noGrp="1"/>
          </p:cNvSpPr>
          <p:nvPr/>
        </p:nvSpPr>
        <p:spPr>
          <a:xfrm xmlns:a="http://schemas.openxmlformats.org/drawingml/2006/main">
            <a:off x="933450" y="3363849"/>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value, suffix = dp(j, rest)</a:t>
            </a:r>
          </a:p>
        </p:txBody>
      </p:sp>
      <p:sp>
        <p:nvSpPr>
          <p:cNvPr id="17" name="">
            <a:extLst xmlns:a="http://schemas.openxmlformats.org/drawingml/2006/main">
              <a:ext uri="{FF2B5EF4-FFF2-40B4-BE49-F238E27FC236}">
                <a16:creationId xmlns:a16="http://schemas.microsoft.com/office/drawing/2014/main" id="{1058868B-75DD-436F-8E10-57BBDD09DF7A}"/>
              </a:ext>
            </a:extLst>
          </p:cNvPr>
          <p:cNvSpPr>
            <a:spLocks xmlns:a="http://schemas.openxmlformats.org/drawingml/2006/main" noGrp="1"/>
          </p:cNvSpPr>
          <p:nvPr/>
        </p:nvSpPr>
        <p:spPr>
          <a:xfrm xmlns:a="http://schemas.openxmlformats.org/drawingml/2006/main">
            <a:off x="933450" y="3619881"/>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candidates.append((int(C[i,j])+value, (j,)+suffix))</a:t>
            </a:r>
          </a:p>
        </p:txBody>
      </p:sp>
      <p:sp>
        <p:nvSpPr>
          <p:cNvPr id="18" name="">
            <a:extLst xmlns:a="http://schemas.openxmlformats.org/drawingml/2006/main">
              <a:ext uri="{FF2B5EF4-FFF2-40B4-BE49-F238E27FC236}">
                <a16:creationId xmlns:a16="http://schemas.microsoft.com/office/drawing/2014/main" id="{52BDAA6A-7A94-4974-A008-D324A1079B3F}"/>
              </a:ext>
            </a:extLst>
          </p:cNvPr>
          <p:cNvSpPr>
            <a:spLocks xmlns:a="http://schemas.openxmlformats.org/drawingml/2006/main" noGrp="1"/>
          </p:cNvSpPr>
          <p:nvPr/>
        </p:nvSpPr>
        <p:spPr>
          <a:xfrm xmlns:a="http://schemas.openxmlformats.org/drawingml/2006/main">
            <a:off x="933450" y="3875913"/>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    return min(candidates)</a:t>
            </a:r>
          </a:p>
        </p:txBody>
      </p:sp>
      <p:sp>
        <p:nvSpPr>
          <p:cNvPr id="19" name="">
            <a:extLst xmlns:a="http://schemas.openxmlformats.org/drawingml/2006/main">
              <a:ext uri="{FF2B5EF4-FFF2-40B4-BE49-F238E27FC236}">
                <a16:creationId xmlns:a16="http://schemas.microsoft.com/office/drawing/2014/main" id="{1E4600C5-4275-4A51-81B8-1DABAEB909F6}"/>
              </a:ext>
            </a:extLst>
          </p:cNvPr>
          <p:cNvSpPr>
            <a:spLocks xmlns:a="http://schemas.openxmlformats.org/drawingml/2006/main" noGrp="1"/>
          </p:cNvSpPr>
          <p:nvPr/>
        </p:nvSpPr>
        <p:spPr>
          <a:xfrm xmlns:a="http://schemas.openxmlformats.org/drawingml/2006/main">
            <a:off x="933450" y="4131945"/>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047"/>
                </a:solidFill>
                <a:latin typeface="Courier New"/>
                <a:ea typeface="Courier New"/>
                <a:cs typeface="Courier New"/>
              </a:defRPr>
            </a:defPPr>
          </a:lstStyle>
          <a:p xmlns:a="http://schemas.openxmlformats.org/drawingml/2006/main">
            <a:pPr algn="l">
              <a:buNone/>
              <a:defRPr sz="1800" b="0">
                <a:solidFill>
                  <a:srgbClr val="173047"/>
                </a:solidFill>
                <a:latin typeface="Courier New"/>
                <a:ea typeface="Courier New"/>
                <a:cs typeface="Courier New"/>
              </a:defRPr>
            </a:pPr>
            <a:r>
              <a:rPr sz="1800" b="0">
                <a:solidFill>
                  <a:srgbClr val="173047"/>
                </a:solidFill>
                <a:latin typeface="Courier New"/>
                <a:ea typeface="Courier New"/>
                <a:cs typeface="Courier New"/>
              </a:rPr>
              <a:t>value, suffix = dp(0, tuple(range(1,n)))</a:t>
            </a:r>
          </a:p>
        </p:txBody>
      </p:sp>
      <p:sp>
        <p:nvSpPr>
          <p:cNvPr id="20" name="">
            <a:extLst xmlns:a="http://schemas.openxmlformats.org/drawingml/2006/main">
              <a:ext uri="{FF2B5EF4-FFF2-40B4-BE49-F238E27FC236}">
                <a16:creationId xmlns:a16="http://schemas.microsoft.com/office/drawing/2014/main" id="{CB9F6A9E-3888-486F-A58D-7A7E5775749D}"/>
              </a:ext>
            </a:extLst>
          </p:cNvPr>
          <p:cNvSpPr>
            <a:spLocks xmlns:a="http://schemas.openxmlformats.org/drawingml/2006/main" noGrp="1"/>
          </p:cNvSpPr>
          <p:nvPr/>
        </p:nvSpPr>
        <p:spPr>
          <a:xfrm xmlns:a="http://schemas.openxmlformats.org/drawingml/2006/main">
            <a:off x="933450" y="4387977"/>
            <a:ext cx="10325100" cy="27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0857D"/>
                </a:solidFill>
                <a:latin typeface="Courier New"/>
                <a:ea typeface="Courier New"/>
                <a:cs typeface="Courier New"/>
              </a:defRPr>
            </a:defPPr>
          </a:lstStyle>
          <a:p xmlns:a="http://schemas.openxmlformats.org/drawingml/2006/main">
            <a:pPr algn="l">
              <a:buNone/>
              <a:defRPr sz="1800" b="1">
                <a:solidFill>
                  <a:srgbClr val="00857D"/>
                </a:solidFill>
                <a:latin typeface="Courier New"/>
                <a:ea typeface="Courier New"/>
                <a:cs typeface="Courier New"/>
              </a:defRPr>
            </a:pPr>
            <a:r>
              <a:rPr sz="1800" b="1">
                <a:solidFill>
                  <a:srgbClr val="00857D"/>
                </a:solidFill>
                <a:latin typeface="Courier New"/>
                <a:ea typeface="Courier New"/>
                <a:cs typeface="Courier New"/>
              </a:rPr>
              <a:t>print(value, [0, *suffix], dp.cache_info().currsize)</a:t>
            </a:r>
          </a:p>
        </p:txBody>
      </p:sp>
    </p:spTree>
    <p:extLst>
      <p:ext uri="{BB962C8B-B14F-4D97-AF65-F5344CB8AC3E}">
        <p14:creationId xmlns:p14="http://schemas.microsoft.com/office/powerpoint/2010/main" val="193570012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3CA90F-226A-4BF2-9A99-0BCD14D5D91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Локальне поліпшення 2-opt</a:t>
            </a:r>
          </a:p>
        </p:txBody>
      </p:sp>
      <p:sp>
        <p:nvSpPr>
          <p:cNvPr id="2" name="">
            <a:extLst xmlns:a="http://schemas.openxmlformats.org/drawingml/2006/main">
              <a:ext uri="{FF2B5EF4-FFF2-40B4-BE49-F238E27FC236}">
                <a16:creationId xmlns:a16="http://schemas.microsoft.com/office/drawing/2014/main" id="{E4773629-C991-49C8-BA37-E621F44CF6D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У цьому прикладі локальний оптимум 43 гірший за точний 36.</a:t>
            </a:r>
          </a:p>
        </p:txBody>
      </p:sp>
      <p:sp>
        <p:nvSpPr>
          <p:cNvPr id="3" name="">
            <a:extLst xmlns:a="http://schemas.openxmlformats.org/drawingml/2006/main">
              <a:ext uri="{FF2B5EF4-FFF2-40B4-BE49-F238E27FC236}">
                <a16:creationId xmlns:a16="http://schemas.microsoft.com/office/drawing/2014/main" id="{D129F6B5-9CF2-4DBE-98F7-3464D22E9693}"/>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84</a:t>
            </a:r>
          </a:p>
        </p:txBody>
      </p:sp>
      <p:graphicFrame>
        <p:nvGraphicFramePr>
          <p:cNvPr id="4" name="">
            <a:extLst xmlns:a="http://schemas.openxmlformats.org/drawingml/2006/main">
              <a:ext uri="{FF2B5EF4-FFF2-40B4-BE49-F238E27FC236}">
                <a16:creationId xmlns:a16="http://schemas.microsoft.com/office/drawing/2014/main" id="{EFB8707A-B8C8-4366-8AC8-FA384CA93126}"/>
              </a:ext>
            </a:extLst>
          </p:cNvPr>
          <p:cNvGraphicFramePr/>
          <p:nvPr/>
        </p:nvGraphicFramePr>
        <p:xfrm>
          <a:off xmlns:a="http://schemas.openxmlformats.org/drawingml/2006/main" x="762000" y="1590675"/>
          <a:ext xmlns:a="http://schemas.openxmlformats.org/drawingml/2006/main" cx="10668000" cy="2876550"/>
        </p:xfrm>
        <a:graphic xmlns:a="http://schemas.openxmlformats.org/drawingml/2006/main">
          <a:graphicData uri="http://schemas.openxmlformats.org/drawingml/2006/table">
            <a:tbl>
              <a:tblPr/>
              <a:tblGrid>
                <a:gridCol w="2952750"/>
                <a:gridCol w="4191000"/>
                <a:gridCol w="3524250"/>
              </a:tblGrid>
              <a:tr h="719138">
                <a:tc>
                  <a:txBody>
                    <a:bodyPr/>
                    <a:lstStyle/>
                    <a:p>
                      <a:r>
                        <a:rPr sz="2475" b="1">
                          <a:solidFill>
                            <a:srgbClr val="FFFFFF"/>
                          </a:solidFill>
                          <a:latin typeface="Arial"/>
                          <a:ea typeface="Arial"/>
                          <a:cs typeface="Arial"/>
                        </a:rPr>
                        <a:t>Дія</a:t>
                      </a:r>
                    </a:p>
                  </a:txBody>
                  <a:tcPr marL="114300" marR="114300" marT="66675" marB="66675" anchor="ctr">
                    <a:solidFill>
                      <a:srgbClr val="173047"/>
                    </a:solidFill>
                  </a:tcPr>
                </a:tc>
                <a:tc>
                  <a:txBody>
                    <a:bodyPr/>
                    <a:lstStyle/>
                    <a:p>
                      <a:r>
                        <a:rPr sz="2475" b="1">
                          <a:solidFill>
                            <a:srgbClr val="FFFFFF"/>
                          </a:solidFill>
                          <a:latin typeface="Arial"/>
                          <a:ea typeface="Arial"/>
                          <a:cs typeface="Arial"/>
                        </a:rPr>
                        <a:t>Переходи</a:t>
                      </a:r>
                    </a:p>
                  </a:txBody>
                  <a:tcPr marL="114300" marR="114300" marT="66675" marB="66675" anchor="ctr">
                    <a:solidFill>
                      <a:srgbClr val="173047"/>
                    </a:solidFill>
                  </a:tcPr>
                </a:tc>
                <a:tc>
                  <a:txBody>
                    <a:bodyPr/>
                    <a:lstStyle/>
                    <a:p>
                      <a:r>
                        <a:rPr sz="2475" b="1">
                          <a:solidFill>
                            <a:srgbClr val="FFFFFF"/>
                          </a:solidFill>
                          <a:latin typeface="Arial"/>
                          <a:ea typeface="Arial"/>
                          <a:cs typeface="Arial"/>
                        </a:rPr>
                        <a:t>Сумарний час</a:t>
                      </a:r>
                    </a:p>
                  </a:txBody>
                  <a:tcPr marL="114300" marR="114300" marT="66675" marB="66675" anchor="ctr">
                    <a:solidFill>
                      <a:srgbClr val="173047"/>
                    </a:solidFill>
                  </a:tcPr>
                </a:tc>
              </a:tr>
              <a:tr h="719138">
                <a:tc>
                  <a:txBody>
                    <a:bodyPr/>
                    <a:lstStyle/>
                    <a:p>
                      <a:r>
                        <a:rPr sz="2475" b="0">
                          <a:solidFill>
                            <a:srgbClr val="173047"/>
                          </a:solidFill>
                          <a:latin typeface="Arial"/>
                          <a:ea typeface="Arial"/>
                          <a:cs typeface="Arial"/>
                        </a:rPr>
                        <a:t>Прибрати</a:t>
                      </a:r>
                    </a:p>
                  </a:txBody>
                  <a:tcPr marL="114300" marR="114300" marT="66675" marB="66675" anchor="ctr">
                    <a:solidFill>
                      <a:srgbClr val="FBECE8"/>
                    </a:solidFill>
                  </a:tcPr>
                </a:tc>
                <a:tc>
                  <a:txBody>
                    <a:bodyPr/>
                    <a:lstStyle/>
                    <a:p>
                      <a:r>
                        <a:rPr sz="2475" b="0">
                          <a:solidFill>
                            <a:srgbClr val="173047"/>
                          </a:solidFill>
                          <a:latin typeface="Arial"/>
                          <a:ea typeface="Arial"/>
                          <a:cs typeface="Arial"/>
                        </a:rPr>
                        <a:t>D-E та B-S</a:t>
                      </a:r>
                    </a:p>
                  </a:txBody>
                  <a:tcPr marL="114300" marR="114300" marT="66675" marB="66675" anchor="ctr">
                    <a:solidFill>
                      <a:srgbClr val="FBECE8"/>
                    </a:solidFill>
                  </a:tcPr>
                </a:tc>
                <a:tc>
                  <a:txBody>
                    <a:bodyPr/>
                    <a:lstStyle/>
                    <a:p>
                      <a:r>
                        <a:rPr sz="2475" b="0">
                          <a:solidFill>
                            <a:srgbClr val="173047"/>
                          </a:solidFill>
                          <a:latin typeface="Arial"/>
                          <a:ea typeface="Arial"/>
                          <a:cs typeface="Arial"/>
                        </a:rPr>
                        <a:t>2+16 = 18</a:t>
                      </a:r>
                    </a:p>
                  </a:txBody>
                  <a:tcPr marL="114300" marR="114300" marT="66675" marB="66675" anchor="ctr">
                    <a:solidFill>
                      <a:srgbClr val="FBECE8"/>
                    </a:solidFill>
                  </a:tcPr>
                </a:tc>
              </a:tr>
              <a:tr h="719138">
                <a:tc>
                  <a:txBody>
                    <a:bodyPr/>
                    <a:lstStyle/>
                    <a:p>
                      <a:r>
                        <a:rPr sz="2475" b="0">
                          <a:solidFill>
                            <a:srgbClr val="173047"/>
                          </a:solidFill>
                          <a:latin typeface="Arial"/>
                          <a:ea typeface="Arial"/>
                          <a:cs typeface="Arial"/>
                        </a:rPr>
                        <a:t>Додати</a:t>
                      </a:r>
                    </a:p>
                  </a:txBody>
                  <a:tcPr marL="114300" marR="114300" marT="66675" marB="66675" anchor="ctr">
                    <a:solidFill>
                      <a:srgbClr val="DDF3EC"/>
                    </a:solidFill>
                  </a:tcPr>
                </a:tc>
                <a:tc>
                  <a:txBody>
                    <a:bodyPr/>
                    <a:lstStyle/>
                    <a:p>
                      <a:r>
                        <a:rPr sz="2475" b="0">
                          <a:solidFill>
                            <a:srgbClr val="173047"/>
                          </a:solidFill>
                          <a:latin typeface="Arial"/>
                          <a:ea typeface="Arial"/>
                          <a:cs typeface="Arial"/>
                        </a:rPr>
                        <a:t>D-B та E-S</a:t>
                      </a:r>
                    </a:p>
                  </a:txBody>
                  <a:tcPr marL="114300" marR="114300" marT="66675" marB="66675" anchor="ctr">
                    <a:solidFill>
                      <a:srgbClr val="DDF3EC"/>
                    </a:solidFill>
                  </a:tcPr>
                </a:tc>
                <a:tc>
                  <a:txBody>
                    <a:bodyPr/>
                    <a:lstStyle/>
                    <a:p>
                      <a:r>
                        <a:rPr sz="2475" b="0">
                          <a:solidFill>
                            <a:srgbClr val="173047"/>
                          </a:solidFill>
                          <a:latin typeface="Arial"/>
                          <a:ea typeface="Arial"/>
                          <a:cs typeface="Arial"/>
                        </a:rPr>
                        <a:t>5+12 = 17</a:t>
                      </a:r>
                    </a:p>
                  </a:txBody>
                  <a:tcPr marL="114300" marR="114300" marT="66675" marB="66675" anchor="ctr">
                    <a:solidFill>
                      <a:srgbClr val="DDF3EC"/>
                    </a:solidFill>
                  </a:tcPr>
                </a:tc>
              </a:tr>
              <a:tr h="719138">
                <a:tc>
                  <a:txBody>
                    <a:bodyPr/>
                    <a:lstStyle/>
                    <a:p>
                      <a:r>
                        <a:rPr sz="2475" b="1">
                          <a:solidFill>
                            <a:srgbClr val="173047"/>
                          </a:solidFill>
                          <a:latin typeface="Arial"/>
                          <a:ea typeface="Arial"/>
                          <a:cs typeface="Arial"/>
                        </a:rPr>
                        <a:t>Зміна</a:t>
                      </a:r>
                    </a:p>
                  </a:txBody>
                  <a:tcPr marL="114300" marR="114300" marT="66675" marB="66675" anchor="ctr">
                    <a:solidFill>
                      <a:srgbClr val="DDF3EC"/>
                    </a:solidFill>
                  </a:tcPr>
                </a:tc>
                <a:tc>
                  <a:txBody>
                    <a:bodyPr/>
                    <a:lstStyle/>
                    <a:p>
                      <a:r>
                        <a:rPr sz="2475" b="1">
                          <a:solidFill>
                            <a:srgbClr val="173047"/>
                          </a:solidFill>
                          <a:latin typeface="Arial"/>
                          <a:ea typeface="Arial"/>
                          <a:cs typeface="Arial"/>
                        </a:rPr>
                        <a:t>44−18+17</a:t>
                      </a:r>
                    </a:p>
                  </a:txBody>
                  <a:tcPr marL="114300" marR="114300" marT="66675" marB="66675" anchor="ctr">
                    <a:solidFill>
                      <a:srgbClr val="DDF3EC"/>
                    </a:solidFill>
                  </a:tcPr>
                </a:tc>
                <a:tc>
                  <a:txBody>
                    <a:bodyPr/>
                    <a:lstStyle/>
                    <a:p>
                      <a:r>
                        <a:rPr sz="2475" b="1">
                          <a:solidFill>
                            <a:srgbClr val="173047"/>
                          </a:solidFill>
                          <a:latin typeface="Arial"/>
                          <a:ea typeface="Arial"/>
                          <a:cs typeface="Arial"/>
                        </a:rPr>
                        <a:t>43</a:t>
                      </a:r>
                    </a:p>
                  </a:txBody>
                  <a:tcPr marL="114300" marR="114300" marT="66675" marB="66675" anchor="ctr">
                    <a:solidFill>
                      <a:srgbClr val="DDF3EC"/>
                    </a:solidFill>
                  </a:tcPr>
                </a:tc>
              </a:tr>
            </a:tbl>
          </a:graphicData>
        </a:graphic>
      </p:graphicFrame>
      <p:sp>
        <p:nvSpPr>
          <p:cNvPr id="5" name="">
            <a:extLst xmlns:a="http://schemas.openxmlformats.org/drawingml/2006/main">
              <a:ext uri="{FF2B5EF4-FFF2-40B4-BE49-F238E27FC236}">
                <a16:creationId xmlns:a16="http://schemas.microsoft.com/office/drawing/2014/main" id="{AD95B6AB-2BEA-4E91-8342-9F5BDB2A3C50}"/>
              </a:ext>
            </a:extLst>
          </p:cNvPr>
          <p:cNvSpPr>
            <a:spLocks xmlns:a="http://schemas.openxmlformats.org/drawingml/2006/main" noGrp="1"/>
          </p:cNvSpPr>
          <p:nvPr/>
        </p:nvSpPr>
        <p:spPr>
          <a:xfrm xmlns:a="http://schemas.openxmlformats.org/drawingml/2006/main">
            <a:off x="762000" y="49149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00857D"/>
                </a:solidFill>
                <a:latin typeface="Courier New"/>
                <a:ea typeface="Courier New"/>
                <a:cs typeface="Courier New"/>
              </a:defRPr>
            </a:defPPr>
          </a:lstStyle>
          <a:p xmlns:a="http://schemas.openxmlformats.org/drawingml/2006/main">
            <a:pPr algn="l">
              <a:buNone/>
              <a:defRPr sz="2700" b="1">
                <a:solidFill>
                  <a:srgbClr val="00857D"/>
                </a:solidFill>
                <a:latin typeface="Courier New"/>
                <a:ea typeface="Courier New"/>
                <a:cs typeface="Courier New"/>
              </a:defRPr>
            </a:pPr>
            <a:r>
              <a:rPr sz="2700" b="1">
                <a:solidFill>
                  <a:srgbClr val="00857D"/>
                </a:solidFill>
                <a:latin typeface="Courier New"/>
                <a:ea typeface="Courier New"/>
                <a:cs typeface="Courier New"/>
              </a:rPr>
              <a:t>S-A-D-E-C-B-S</a:t>
            </a:r>
          </a:p>
          <a:p xmlns:a="http://schemas.openxmlformats.org/drawingml/2006/main">
            <a:pPr algn="l">
              <a:buNone/>
              <a:defRPr sz="2700" b="1">
                <a:solidFill>
                  <a:srgbClr val="00857D"/>
                </a:solidFill>
                <a:latin typeface="Courier New"/>
                <a:ea typeface="Courier New"/>
                <a:cs typeface="Courier New"/>
              </a:defRPr>
            </a:pPr>
            <a:r>
              <a:rPr sz="2700" b="1">
                <a:solidFill>
                  <a:srgbClr val="00857D"/>
                </a:solidFill>
                <a:latin typeface="Courier New"/>
                <a:ea typeface="Courier New"/>
                <a:cs typeface="Courier New"/>
              </a:rPr>
              <a:t>S-A-D-B-C-E-S</a:t>
            </a:r>
          </a:p>
        </p:txBody>
      </p:sp>
    </p:spTree>
    <p:extLst>
      <p:ext uri="{BB962C8B-B14F-4D97-AF65-F5344CB8AC3E}">
        <p14:creationId xmlns:p14="http://schemas.microsoft.com/office/powerpoint/2010/main" val="1810608526"/>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2" name="">
            <a:extLst xmlns:a="http://schemas.openxmlformats.org/drawingml/2006/main">
              <a:ext uri="{FF2B5EF4-FFF2-40B4-BE49-F238E27FC236}">
                <a16:creationId xmlns:a16="http://schemas.microsoft.com/office/drawing/2014/main" id="{A2C75764-EA2D-4689-9A3A-2770572E66FB}"/>
              </a:ext>
            </a:extLst>
          </p:cNvPr>
          <p:cNvCxnSpPr>
            <a:stCxn xmlns:a="http://schemas.openxmlformats.org/drawingml/2006/main" id="40" idx="2"/>
            <a:endCxn xmlns:a="http://schemas.openxmlformats.org/drawingml/2006/main" id="30" idx="6"/>
          </p:cNvCxnSpPr>
          <p:nvPr/>
        </p:nvCxnSpPr>
        <p:spPr>
          <a:xfrm xmlns:a="http://schemas.openxmlformats.org/drawingml/2006/main" flipH="1">
            <a:off x="7105650" y="2219325"/>
            <a:ext cx="2790825" cy="571500"/>
          </a:xfrm>
          <a:prstGeom xmlns:a="http://schemas.openxmlformats.org/drawingml/2006/main" prst="straightConnector1">
            <a:avLst/>
          </a:prstGeom>
          <a:ln xmlns:a="http://schemas.openxmlformats.org/drawingml/2006/main" w="19050">
            <a:solidFill>
              <a:srgbClr val="00857D"/>
            </a:solidFill>
            <a:prstDash val="solid"/>
            <a:tailEnd type="triangle" w="med" len="med"/>
          </a:ln>
        </p:spPr>
      </p:cxnSp>
      <p:cxnSp>
        <p:nvCxnSpPr>
          <p:cNvPr id="50" name="">
            <a:extLst xmlns:a="http://schemas.openxmlformats.org/drawingml/2006/main">
              <a:ext uri="{FF2B5EF4-FFF2-40B4-BE49-F238E27FC236}">
                <a16:creationId xmlns:a16="http://schemas.microsoft.com/office/drawing/2014/main" id="{7ECF5BDC-739D-4C85-A29A-F8F598AC4D74}"/>
              </a:ext>
            </a:extLst>
          </p:cNvPr>
          <p:cNvCxnSpPr>
            <a:stCxn xmlns:a="http://schemas.openxmlformats.org/drawingml/2006/main" id="36" idx="6"/>
            <a:endCxn xmlns:a="http://schemas.openxmlformats.org/drawingml/2006/main" id="40" idx="2"/>
          </p:cNvCxnSpPr>
          <p:nvPr/>
        </p:nvCxnSpPr>
        <p:spPr>
          <a:xfrm xmlns:a="http://schemas.openxmlformats.org/drawingml/2006/main" flipV="1">
            <a:off x="8391525" y="2219325"/>
            <a:ext cx="1504950" cy="1309688"/>
          </a:xfrm>
          <a:prstGeom xmlns:a="http://schemas.openxmlformats.org/drawingml/2006/main" prst="straightConnector1">
            <a:avLst/>
          </a:prstGeom>
          <a:ln xmlns:a="http://schemas.openxmlformats.org/drawingml/2006/main" w="19050">
            <a:solidFill>
              <a:srgbClr val="566779"/>
            </a:solidFill>
            <a:prstDash val="solid"/>
            <a:tailEnd type="triangle" w="med" len="med"/>
          </a:ln>
        </p:spPr>
      </p:cxnSp>
      <p:cxnSp>
        <p:nvCxnSpPr>
          <p:cNvPr id="48" name="">
            <a:extLst xmlns:a="http://schemas.openxmlformats.org/drawingml/2006/main">
              <a:ext uri="{FF2B5EF4-FFF2-40B4-BE49-F238E27FC236}">
                <a16:creationId xmlns:a16="http://schemas.microsoft.com/office/drawing/2014/main" id="{EA84778B-B27C-4FF4-AEAD-27C1F91B3031}"/>
              </a:ext>
            </a:extLst>
          </p:cNvPr>
          <p:cNvCxnSpPr>
            <a:stCxn xmlns:a="http://schemas.openxmlformats.org/drawingml/2006/main" id="34" idx="2"/>
            <a:endCxn xmlns:a="http://schemas.openxmlformats.org/drawingml/2006/main" id="36" idx="6"/>
          </p:cNvCxnSpPr>
          <p:nvPr/>
        </p:nvCxnSpPr>
        <p:spPr>
          <a:xfrm xmlns:a="http://schemas.openxmlformats.org/drawingml/2006/main" flipH="1">
            <a:off x="8391525" y="3529013"/>
            <a:ext cx="1504950" cy="0"/>
          </a:xfrm>
          <a:prstGeom xmlns:a="http://schemas.openxmlformats.org/drawingml/2006/main" prst="straightConnector1">
            <a:avLst/>
          </a:prstGeom>
          <a:ln xmlns:a="http://schemas.openxmlformats.org/drawingml/2006/main" w="19050">
            <a:solidFill>
              <a:srgbClr val="566779"/>
            </a:solidFill>
            <a:prstDash val="solid"/>
            <a:tailEnd type="triangle" w="med" len="med"/>
          </a:ln>
        </p:spPr>
      </p:cxnSp>
      <p:cxnSp>
        <p:nvCxnSpPr>
          <p:cNvPr id="46" name="">
            <a:extLst xmlns:a="http://schemas.openxmlformats.org/drawingml/2006/main">
              <a:ext uri="{FF2B5EF4-FFF2-40B4-BE49-F238E27FC236}">
                <a16:creationId xmlns:a16="http://schemas.microsoft.com/office/drawing/2014/main" id="{B593A2EE-C5ED-40F1-8E4D-254F557AD529}"/>
              </a:ext>
            </a:extLst>
          </p:cNvPr>
          <p:cNvCxnSpPr>
            <a:stCxn xmlns:a="http://schemas.openxmlformats.org/drawingml/2006/main" id="38" idx="2"/>
            <a:endCxn xmlns:a="http://schemas.openxmlformats.org/drawingml/2006/main" id="34" idx="6"/>
          </p:cNvCxnSpPr>
          <p:nvPr/>
        </p:nvCxnSpPr>
        <p:spPr>
          <a:xfrm xmlns:a="http://schemas.openxmlformats.org/drawingml/2006/main" flipH="1">
            <a:off x="10296525" y="2790825"/>
            <a:ext cx="838200" cy="738188"/>
          </a:xfrm>
          <a:prstGeom xmlns:a="http://schemas.openxmlformats.org/drawingml/2006/main" prst="straightConnector1">
            <a:avLst/>
          </a:prstGeom>
          <a:ln xmlns:a="http://schemas.openxmlformats.org/drawingml/2006/main" w="19050">
            <a:solidFill>
              <a:srgbClr val="00857D"/>
            </a:solidFill>
            <a:prstDash val="solid"/>
            <a:tailEnd type="triangle" w="med" len="med"/>
          </a:ln>
        </p:spPr>
      </p:cxnSp>
      <p:cxnSp>
        <p:nvCxnSpPr>
          <p:cNvPr id="44" name="">
            <a:extLst xmlns:a="http://schemas.openxmlformats.org/drawingml/2006/main">
              <a:ext uri="{FF2B5EF4-FFF2-40B4-BE49-F238E27FC236}">
                <a16:creationId xmlns:a16="http://schemas.microsoft.com/office/drawing/2014/main" id="{B18AD0C2-D4B2-4A9F-B3E6-3013FCBB016D}"/>
              </a:ext>
            </a:extLst>
          </p:cNvPr>
          <p:cNvCxnSpPr>
            <a:stCxn xmlns:a="http://schemas.openxmlformats.org/drawingml/2006/main" id="32" idx="6"/>
            <a:endCxn xmlns:a="http://schemas.openxmlformats.org/drawingml/2006/main" id="38" idx="2"/>
          </p:cNvCxnSpPr>
          <p:nvPr/>
        </p:nvCxnSpPr>
        <p:spPr>
          <a:xfrm xmlns:a="http://schemas.openxmlformats.org/drawingml/2006/main">
            <a:off x="8391525" y="2219325"/>
            <a:ext cx="2743200" cy="571500"/>
          </a:xfrm>
          <a:prstGeom xmlns:a="http://schemas.openxmlformats.org/drawingml/2006/main" prst="straightConnector1">
            <a:avLst/>
          </a:prstGeom>
          <a:ln xmlns:a="http://schemas.openxmlformats.org/drawingml/2006/main" w="19050">
            <a:solidFill>
              <a:srgbClr val="566779"/>
            </a:solidFill>
            <a:prstDash val="solid"/>
            <a:tailEnd type="triangle" w="med" len="med"/>
          </a:ln>
        </p:spPr>
      </p:cxnSp>
      <p:cxnSp>
        <p:nvCxnSpPr>
          <p:cNvPr id="42" name="">
            <a:extLst xmlns:a="http://schemas.openxmlformats.org/drawingml/2006/main">
              <a:ext uri="{FF2B5EF4-FFF2-40B4-BE49-F238E27FC236}">
                <a16:creationId xmlns:a16="http://schemas.microsoft.com/office/drawing/2014/main" id="{C8297D51-5C6B-491A-922D-2C7197A6862A}"/>
              </a:ext>
            </a:extLst>
          </p:cNvPr>
          <p:cNvCxnSpPr>
            <a:stCxn xmlns:a="http://schemas.openxmlformats.org/drawingml/2006/main" id="30" idx="6"/>
            <a:endCxn xmlns:a="http://schemas.openxmlformats.org/drawingml/2006/main" id="32" idx="2"/>
          </p:cNvCxnSpPr>
          <p:nvPr/>
        </p:nvCxnSpPr>
        <p:spPr>
          <a:xfrm xmlns:a="http://schemas.openxmlformats.org/drawingml/2006/main" flipV="1">
            <a:off x="7105650" y="2219325"/>
            <a:ext cx="885825" cy="571500"/>
          </a:xfrm>
          <a:prstGeom xmlns:a="http://schemas.openxmlformats.org/drawingml/2006/main" prst="straightConnector1">
            <a:avLst/>
          </a:prstGeom>
          <a:ln xmlns:a="http://schemas.openxmlformats.org/drawingml/2006/main" w="19050">
            <a:solidFill>
              <a:srgbClr val="566779"/>
            </a:solidFill>
            <a:prstDash val="solid"/>
            <a:tailEnd type="triangle" w="med" len="med"/>
          </a:ln>
        </p:spPr>
      </p:cxnSp>
      <p:cxnSp>
        <p:nvCxnSpPr>
          <p:cNvPr id="28" name="">
            <a:extLst xmlns:a="http://schemas.openxmlformats.org/drawingml/2006/main">
              <a:ext uri="{FF2B5EF4-FFF2-40B4-BE49-F238E27FC236}">
                <a16:creationId xmlns:a16="http://schemas.microsoft.com/office/drawing/2014/main" id="{BF2DF5A6-BCA5-4511-86CE-D8F64052DD15}"/>
              </a:ext>
            </a:extLst>
          </p:cNvPr>
          <p:cNvCxnSpPr>
            <a:stCxn xmlns:a="http://schemas.openxmlformats.org/drawingml/2006/main" id="10" idx="2"/>
            <a:endCxn xmlns:a="http://schemas.openxmlformats.org/drawingml/2006/main" id="6" idx="6"/>
          </p:cNvCxnSpPr>
          <p:nvPr/>
        </p:nvCxnSpPr>
        <p:spPr>
          <a:xfrm xmlns:a="http://schemas.openxmlformats.org/drawingml/2006/main" flipH="1" flipV="1">
            <a:off x="1200150" y="2790825"/>
            <a:ext cx="2790825" cy="738188"/>
          </a:xfrm>
          <a:prstGeom xmlns:a="http://schemas.openxmlformats.org/drawingml/2006/main" prst="straightConnector1">
            <a:avLst/>
          </a:prstGeom>
          <a:ln xmlns:a="http://schemas.openxmlformats.org/drawingml/2006/main" w="19050">
            <a:solidFill>
              <a:srgbClr val="B64436"/>
            </a:solidFill>
            <a:prstDash val="dash"/>
            <a:tailEnd type="triangle" w="med" len="med"/>
          </a:ln>
        </p:spPr>
      </p:cxnSp>
      <p:cxnSp>
        <p:nvCxnSpPr>
          <p:cNvPr id="26" name="">
            <a:extLst xmlns:a="http://schemas.openxmlformats.org/drawingml/2006/main">
              <a:ext uri="{FF2B5EF4-FFF2-40B4-BE49-F238E27FC236}">
                <a16:creationId xmlns:a16="http://schemas.microsoft.com/office/drawing/2014/main" id="{7000AAD9-BE41-4981-A1D3-67C4C5069312}"/>
              </a:ext>
            </a:extLst>
          </p:cNvPr>
          <p:cNvCxnSpPr>
            <a:stCxn xmlns:a="http://schemas.openxmlformats.org/drawingml/2006/main" id="12" idx="6"/>
            <a:endCxn xmlns:a="http://schemas.openxmlformats.org/drawingml/2006/main" id="10" idx="2"/>
          </p:cNvCxnSpPr>
          <p:nvPr/>
        </p:nvCxnSpPr>
        <p:spPr>
          <a:xfrm xmlns:a="http://schemas.openxmlformats.org/drawingml/2006/main">
            <a:off x="2486025" y="3529013"/>
            <a:ext cx="1504950" cy="0"/>
          </a:xfrm>
          <a:prstGeom xmlns:a="http://schemas.openxmlformats.org/drawingml/2006/main" prst="straightConnector1">
            <a:avLst/>
          </a:prstGeom>
          <a:ln xmlns:a="http://schemas.openxmlformats.org/drawingml/2006/main" w="19050">
            <a:solidFill>
              <a:srgbClr val="566779"/>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F9C3E860-382A-4987-AB65-E8CE4DF5935C}"/>
              </a:ext>
            </a:extLst>
          </p:cNvPr>
          <p:cNvCxnSpPr>
            <a:stCxn xmlns:a="http://schemas.openxmlformats.org/drawingml/2006/main" id="16" idx="2"/>
            <a:endCxn xmlns:a="http://schemas.openxmlformats.org/drawingml/2006/main" id="12" idx="6"/>
          </p:cNvCxnSpPr>
          <p:nvPr/>
        </p:nvCxnSpPr>
        <p:spPr>
          <a:xfrm xmlns:a="http://schemas.openxmlformats.org/drawingml/2006/main" flipH="1">
            <a:off x="2486025" y="2219325"/>
            <a:ext cx="1504950" cy="1309688"/>
          </a:xfrm>
          <a:prstGeom xmlns:a="http://schemas.openxmlformats.org/drawingml/2006/main" prst="straightConnector1">
            <a:avLst/>
          </a:prstGeom>
          <a:ln xmlns:a="http://schemas.openxmlformats.org/drawingml/2006/main" w="19050">
            <a:solidFill>
              <a:srgbClr val="566779"/>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2F13CE5B-F465-4F53-8BBD-D44056594D80}"/>
              </a:ext>
            </a:extLst>
          </p:cNvPr>
          <p:cNvCxnSpPr>
            <a:stCxn xmlns:a="http://schemas.openxmlformats.org/drawingml/2006/main" id="14" idx="2"/>
            <a:endCxn xmlns:a="http://schemas.openxmlformats.org/drawingml/2006/main" id="16" idx="6"/>
          </p:cNvCxnSpPr>
          <p:nvPr/>
        </p:nvCxnSpPr>
        <p:spPr>
          <a:xfrm xmlns:a="http://schemas.openxmlformats.org/drawingml/2006/main" flipH="1" flipV="1">
            <a:off x="4391025" y="2219325"/>
            <a:ext cx="838200" cy="571500"/>
          </a:xfrm>
          <a:prstGeom xmlns:a="http://schemas.openxmlformats.org/drawingml/2006/main" prst="straightConnector1">
            <a:avLst/>
          </a:prstGeom>
          <a:ln xmlns:a="http://schemas.openxmlformats.org/drawingml/2006/main" w="19050">
            <a:solidFill>
              <a:srgbClr val="B64436"/>
            </a:solidFill>
            <a:prstDash val="dash"/>
            <a:tailEnd type="triangle" w="med" len="med"/>
          </a:ln>
        </p:spPr>
      </p:cxnSp>
      <p:cxnSp>
        <p:nvCxnSpPr>
          <p:cNvPr id="20" name="">
            <a:extLst xmlns:a="http://schemas.openxmlformats.org/drawingml/2006/main">
              <a:ext uri="{FF2B5EF4-FFF2-40B4-BE49-F238E27FC236}">
                <a16:creationId xmlns:a16="http://schemas.microsoft.com/office/drawing/2014/main" id="{53B6B487-976A-4E41-BE72-BBC04004EE80}"/>
              </a:ext>
            </a:extLst>
          </p:cNvPr>
          <p:cNvCxnSpPr>
            <a:stCxn xmlns:a="http://schemas.openxmlformats.org/drawingml/2006/main" id="8" idx="6"/>
            <a:endCxn xmlns:a="http://schemas.openxmlformats.org/drawingml/2006/main" id="14" idx="2"/>
          </p:cNvCxnSpPr>
          <p:nvPr/>
        </p:nvCxnSpPr>
        <p:spPr>
          <a:xfrm xmlns:a="http://schemas.openxmlformats.org/drawingml/2006/main">
            <a:off x="2486025" y="2219325"/>
            <a:ext cx="2743200" cy="571500"/>
          </a:xfrm>
          <a:prstGeom xmlns:a="http://schemas.openxmlformats.org/drawingml/2006/main" prst="straightConnector1">
            <a:avLst/>
          </a:prstGeom>
          <a:ln xmlns:a="http://schemas.openxmlformats.org/drawingml/2006/main" w="19050">
            <a:solidFill>
              <a:srgbClr val="566779"/>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A66BDDE9-7D91-4B50-B4FF-7E549EF04030}"/>
              </a:ext>
            </a:extLst>
          </p:cNvPr>
          <p:cNvCxnSpPr>
            <a:stCxn xmlns:a="http://schemas.openxmlformats.org/drawingml/2006/main" id="6" idx="6"/>
            <a:endCxn xmlns:a="http://schemas.openxmlformats.org/drawingml/2006/main" id="8" idx="2"/>
          </p:cNvCxnSpPr>
          <p:nvPr/>
        </p:nvCxnSpPr>
        <p:spPr>
          <a:xfrm xmlns:a="http://schemas.openxmlformats.org/drawingml/2006/main" flipV="1">
            <a:off x="1200150" y="2219325"/>
            <a:ext cx="885825" cy="571500"/>
          </a:xfrm>
          <a:prstGeom xmlns:a="http://schemas.openxmlformats.org/drawingml/2006/main" prst="straightConnector1">
            <a:avLst/>
          </a:prstGeom>
          <a:ln xmlns:a="http://schemas.openxmlformats.org/drawingml/2006/main" w="19050">
            <a:solidFill>
              <a:srgbClr val="566779"/>
            </a:solidFill>
            <a:prstDash val="solid"/>
            <a:tailEnd type="triangle" w="med" len="med"/>
          </a:ln>
        </p:spPr>
      </p:cxnSp>
      <p:sp>
        <p:nvSpPr>
          <p:cNvPr id="57" name="">
            <a:extLst xmlns:a="http://schemas.openxmlformats.org/drawingml/2006/main">
              <a:ext uri="{FF2B5EF4-FFF2-40B4-BE49-F238E27FC236}">
                <a16:creationId xmlns:a16="http://schemas.microsoft.com/office/drawing/2014/main" id="{C519F5E1-01EA-478A-8393-96C6E9FF883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2-opt: маршрути до і після обміну</a:t>
            </a:r>
          </a:p>
        </p:txBody>
      </p:sp>
      <p:sp>
        <p:nvSpPr>
          <p:cNvPr id="2" name="">
            <a:extLst xmlns:a="http://schemas.openxmlformats.org/drawingml/2006/main">
              <a:ext uri="{FF2B5EF4-FFF2-40B4-BE49-F238E27FC236}">
                <a16:creationId xmlns:a16="http://schemas.microsoft.com/office/drawing/2014/main" id="{79B627C7-9B08-49AF-BB2B-FF6C41D6825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Прибираємо 18 хв, додаємо 17 хв. Вартість зменшується на 1 хв.</a:t>
            </a:r>
          </a:p>
        </p:txBody>
      </p:sp>
      <p:sp>
        <p:nvSpPr>
          <p:cNvPr id="3" name="">
            <a:extLst xmlns:a="http://schemas.openxmlformats.org/drawingml/2006/main">
              <a:ext uri="{FF2B5EF4-FFF2-40B4-BE49-F238E27FC236}">
                <a16:creationId xmlns:a16="http://schemas.microsoft.com/office/drawing/2014/main" id="{7D218A17-2B14-483C-ADB5-F872228D6268}"/>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85</a:t>
            </a:r>
          </a:p>
        </p:txBody>
      </p:sp>
      <p:sp>
        <p:nvSpPr>
          <p:cNvPr id="4" name="">
            <a:extLst xmlns:a="http://schemas.openxmlformats.org/drawingml/2006/main">
              <a:ext uri="{FF2B5EF4-FFF2-40B4-BE49-F238E27FC236}">
                <a16:creationId xmlns:a16="http://schemas.microsoft.com/office/drawing/2014/main" id="{9F68EF34-180A-4F93-AADF-D86007E1CCCC}"/>
              </a:ext>
            </a:extLst>
          </p:cNvPr>
          <p:cNvSpPr>
            <a:spLocks xmlns:a="http://schemas.openxmlformats.org/drawingml/2006/main" noGrp="1"/>
          </p:cNvSpPr>
          <p:nvPr/>
        </p:nvSpPr>
        <p:spPr>
          <a:xfrm xmlns:a="http://schemas.openxmlformats.org/drawingml/2006/main">
            <a:off x="762000" y="13906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A96B00"/>
                </a:solidFill>
                <a:latin typeface="Arial"/>
                <a:ea typeface="Arial"/>
                <a:cs typeface="Arial"/>
              </a:defRPr>
            </a:defPPr>
          </a:lstStyle>
          <a:p xmlns:a="http://schemas.openxmlformats.org/drawingml/2006/main">
            <a:pPr algn="l">
              <a:buNone/>
              <a:defRPr sz="2925" b="1">
                <a:solidFill>
                  <a:srgbClr val="A96B00"/>
                </a:solidFill>
                <a:latin typeface="Arial"/>
                <a:ea typeface="Arial"/>
                <a:cs typeface="Arial"/>
              </a:defRPr>
            </a:pPr>
            <a:r>
              <a:rPr sz="2925" b="1">
                <a:solidFill>
                  <a:srgbClr val="A96B00"/>
                </a:solidFill>
                <a:latin typeface="Arial"/>
                <a:ea typeface="Arial"/>
                <a:cs typeface="Arial"/>
              </a:rPr>
              <a:t>До: C = 44</a:t>
            </a:r>
          </a:p>
        </p:txBody>
      </p:sp>
      <p:sp>
        <p:nvSpPr>
          <p:cNvPr id="5" name="">
            <a:extLst xmlns:a="http://schemas.openxmlformats.org/drawingml/2006/main">
              <a:ext uri="{FF2B5EF4-FFF2-40B4-BE49-F238E27FC236}">
                <a16:creationId xmlns:a16="http://schemas.microsoft.com/office/drawing/2014/main" id="{C5064BC7-58F3-42C9-8177-FFE141559125}"/>
              </a:ext>
            </a:extLst>
          </p:cNvPr>
          <p:cNvSpPr>
            <a:spLocks xmlns:a="http://schemas.openxmlformats.org/drawingml/2006/main" noGrp="1"/>
          </p:cNvSpPr>
          <p:nvPr/>
        </p:nvSpPr>
        <p:spPr>
          <a:xfrm xmlns:a="http://schemas.openxmlformats.org/drawingml/2006/main">
            <a:off x="6762750" y="139065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00857D"/>
                </a:solidFill>
                <a:latin typeface="Arial"/>
                <a:ea typeface="Arial"/>
                <a:cs typeface="Arial"/>
              </a:defRPr>
            </a:defPPr>
          </a:lstStyle>
          <a:p xmlns:a="http://schemas.openxmlformats.org/drawingml/2006/main">
            <a:pPr algn="l">
              <a:buNone/>
              <a:defRPr sz="2925" b="1">
                <a:solidFill>
                  <a:srgbClr val="00857D"/>
                </a:solidFill>
                <a:latin typeface="Arial"/>
                <a:ea typeface="Arial"/>
                <a:cs typeface="Arial"/>
              </a:defRPr>
            </a:pPr>
            <a:r>
              <a:rPr sz="2925" b="1">
                <a:solidFill>
                  <a:srgbClr val="00857D"/>
                </a:solidFill>
                <a:latin typeface="Arial"/>
                <a:ea typeface="Arial"/>
                <a:cs typeface="Arial"/>
              </a:rPr>
              <a:t>Після: C = 43</a:t>
            </a:r>
          </a:p>
        </p:txBody>
      </p:sp>
      <p:sp>
        <p:nvSpPr>
          <p:cNvPr id="6" name="">
            <a:extLst xmlns:a="http://schemas.openxmlformats.org/drawingml/2006/main">
              <a:ext uri="{FF2B5EF4-FFF2-40B4-BE49-F238E27FC236}">
                <a16:creationId xmlns:a16="http://schemas.microsoft.com/office/drawing/2014/main" id="{25378E56-ACD4-403D-BCA4-25D56EA6C8F0}"/>
              </a:ext>
            </a:extLst>
          </p:cNvPr>
          <p:cNvSpPr>
            <a:spLocks xmlns:a="http://schemas.openxmlformats.org/drawingml/2006/main" noGrp="1"/>
          </p:cNvSpPr>
          <p:nvPr/>
        </p:nvSpPr>
        <p:spPr>
          <a:xfrm xmlns:a="http://schemas.openxmlformats.org/drawingml/2006/main">
            <a:off x="800100" y="2590800"/>
            <a:ext cx="400050" cy="400050"/>
          </a:xfrm>
          <a:prstGeom xmlns:a="http://schemas.openxmlformats.org/drawingml/2006/main" prst="ellipse">
            <a:avLst/>
          </a:prstGeom>
          <a:solidFill xmlns:a="http://schemas.openxmlformats.org/drawingml/2006/main">
            <a:srgbClr val="E9F1FB"/>
          </a:solidFill>
          <a:ln xmlns:a="http://schemas.openxmlformats.org/drawingml/2006/main" w="19050">
            <a:solidFill>
              <a:srgbClr val="173047"/>
            </a:solidFill>
          </a:ln>
        </p:spPr>
      </p:sp>
      <p:sp>
        <p:nvSpPr>
          <p:cNvPr id="7" name="">
            <a:extLst xmlns:a="http://schemas.openxmlformats.org/drawingml/2006/main">
              <a:ext uri="{FF2B5EF4-FFF2-40B4-BE49-F238E27FC236}">
                <a16:creationId xmlns:a16="http://schemas.microsoft.com/office/drawing/2014/main" id="{A2182F5B-13EE-4997-A442-9325102259AF}"/>
              </a:ext>
            </a:extLst>
          </p:cNvPr>
          <p:cNvSpPr>
            <a:spLocks xmlns:a="http://schemas.openxmlformats.org/drawingml/2006/main" noGrp="1"/>
          </p:cNvSpPr>
          <p:nvPr/>
        </p:nvSpPr>
        <p:spPr>
          <a:xfrm xmlns:a="http://schemas.openxmlformats.org/drawingml/2006/main">
            <a:off x="838200" y="2628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S</a:t>
            </a:r>
          </a:p>
        </p:txBody>
      </p:sp>
      <p:sp>
        <p:nvSpPr>
          <p:cNvPr id="8" name="">
            <a:extLst xmlns:a="http://schemas.openxmlformats.org/drawingml/2006/main">
              <a:ext uri="{FF2B5EF4-FFF2-40B4-BE49-F238E27FC236}">
                <a16:creationId xmlns:a16="http://schemas.microsoft.com/office/drawing/2014/main" id="{5C8E5D98-2842-4952-9217-853A45600ED7}"/>
              </a:ext>
            </a:extLst>
          </p:cNvPr>
          <p:cNvSpPr>
            <a:spLocks xmlns:a="http://schemas.openxmlformats.org/drawingml/2006/main" noGrp="1"/>
          </p:cNvSpPr>
          <p:nvPr/>
        </p:nvSpPr>
        <p:spPr>
          <a:xfrm xmlns:a="http://schemas.openxmlformats.org/drawingml/2006/main">
            <a:off x="2085975" y="20193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9" name="">
            <a:extLst xmlns:a="http://schemas.openxmlformats.org/drawingml/2006/main">
              <a:ext uri="{FF2B5EF4-FFF2-40B4-BE49-F238E27FC236}">
                <a16:creationId xmlns:a16="http://schemas.microsoft.com/office/drawing/2014/main" id="{E86576AC-5667-4D94-9367-6C30CF284E8B}"/>
              </a:ext>
            </a:extLst>
          </p:cNvPr>
          <p:cNvSpPr>
            <a:spLocks xmlns:a="http://schemas.openxmlformats.org/drawingml/2006/main" noGrp="1"/>
          </p:cNvSpPr>
          <p:nvPr/>
        </p:nvSpPr>
        <p:spPr>
          <a:xfrm xmlns:a="http://schemas.openxmlformats.org/drawingml/2006/main">
            <a:off x="2124075" y="20574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A</a:t>
            </a:r>
          </a:p>
        </p:txBody>
      </p:sp>
      <p:sp>
        <p:nvSpPr>
          <p:cNvPr id="10" name="">
            <a:extLst xmlns:a="http://schemas.openxmlformats.org/drawingml/2006/main">
              <a:ext uri="{FF2B5EF4-FFF2-40B4-BE49-F238E27FC236}">
                <a16:creationId xmlns:a16="http://schemas.microsoft.com/office/drawing/2014/main" id="{3D63ADB1-E655-4CA1-9F61-E715BBCB1899}"/>
              </a:ext>
            </a:extLst>
          </p:cNvPr>
          <p:cNvSpPr>
            <a:spLocks xmlns:a="http://schemas.openxmlformats.org/drawingml/2006/main" noGrp="1"/>
          </p:cNvSpPr>
          <p:nvPr/>
        </p:nvSpPr>
        <p:spPr>
          <a:xfrm xmlns:a="http://schemas.openxmlformats.org/drawingml/2006/main">
            <a:off x="3990975" y="3328988"/>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1" name="">
            <a:extLst xmlns:a="http://schemas.openxmlformats.org/drawingml/2006/main">
              <a:ext uri="{FF2B5EF4-FFF2-40B4-BE49-F238E27FC236}">
                <a16:creationId xmlns:a16="http://schemas.microsoft.com/office/drawing/2014/main" id="{4E512ED2-0BC9-4331-A54F-F7257A3CB276}"/>
              </a:ext>
            </a:extLst>
          </p:cNvPr>
          <p:cNvSpPr>
            <a:spLocks xmlns:a="http://schemas.openxmlformats.org/drawingml/2006/main" noGrp="1"/>
          </p:cNvSpPr>
          <p:nvPr/>
        </p:nvSpPr>
        <p:spPr>
          <a:xfrm xmlns:a="http://schemas.openxmlformats.org/drawingml/2006/main">
            <a:off x="4029075" y="3367088"/>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B</a:t>
            </a:r>
          </a:p>
        </p:txBody>
      </p:sp>
      <p:sp>
        <p:nvSpPr>
          <p:cNvPr id="12" name="">
            <a:extLst xmlns:a="http://schemas.openxmlformats.org/drawingml/2006/main">
              <a:ext uri="{FF2B5EF4-FFF2-40B4-BE49-F238E27FC236}">
                <a16:creationId xmlns:a16="http://schemas.microsoft.com/office/drawing/2014/main" id="{D9882C3F-5994-4D89-82D8-A2B3C752A4B3}"/>
              </a:ext>
            </a:extLst>
          </p:cNvPr>
          <p:cNvSpPr>
            <a:spLocks xmlns:a="http://schemas.openxmlformats.org/drawingml/2006/main" noGrp="1"/>
          </p:cNvSpPr>
          <p:nvPr/>
        </p:nvSpPr>
        <p:spPr>
          <a:xfrm xmlns:a="http://schemas.openxmlformats.org/drawingml/2006/main">
            <a:off x="2085975" y="3328988"/>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3" name="">
            <a:extLst xmlns:a="http://schemas.openxmlformats.org/drawingml/2006/main">
              <a:ext uri="{FF2B5EF4-FFF2-40B4-BE49-F238E27FC236}">
                <a16:creationId xmlns:a16="http://schemas.microsoft.com/office/drawing/2014/main" id="{0D560701-298C-4507-837B-6830C9FBAB3F}"/>
              </a:ext>
            </a:extLst>
          </p:cNvPr>
          <p:cNvSpPr>
            <a:spLocks xmlns:a="http://schemas.openxmlformats.org/drawingml/2006/main" noGrp="1"/>
          </p:cNvSpPr>
          <p:nvPr/>
        </p:nvSpPr>
        <p:spPr>
          <a:xfrm xmlns:a="http://schemas.openxmlformats.org/drawingml/2006/main">
            <a:off x="2124075" y="3367088"/>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C</a:t>
            </a:r>
          </a:p>
        </p:txBody>
      </p:sp>
      <p:sp>
        <p:nvSpPr>
          <p:cNvPr id="14" name="">
            <a:extLst xmlns:a="http://schemas.openxmlformats.org/drawingml/2006/main">
              <a:ext uri="{FF2B5EF4-FFF2-40B4-BE49-F238E27FC236}">
                <a16:creationId xmlns:a16="http://schemas.microsoft.com/office/drawing/2014/main" id="{C1685FCD-4CDE-49E3-9BB0-A798CFB21959}"/>
              </a:ext>
            </a:extLst>
          </p:cNvPr>
          <p:cNvSpPr>
            <a:spLocks xmlns:a="http://schemas.openxmlformats.org/drawingml/2006/main" noGrp="1"/>
          </p:cNvSpPr>
          <p:nvPr/>
        </p:nvSpPr>
        <p:spPr>
          <a:xfrm xmlns:a="http://schemas.openxmlformats.org/drawingml/2006/main">
            <a:off x="5229225" y="25908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5" name="">
            <a:extLst xmlns:a="http://schemas.openxmlformats.org/drawingml/2006/main">
              <a:ext uri="{FF2B5EF4-FFF2-40B4-BE49-F238E27FC236}">
                <a16:creationId xmlns:a16="http://schemas.microsoft.com/office/drawing/2014/main" id="{22E96B70-4E46-49C6-8731-B40E1572E878}"/>
              </a:ext>
            </a:extLst>
          </p:cNvPr>
          <p:cNvSpPr>
            <a:spLocks xmlns:a="http://schemas.openxmlformats.org/drawingml/2006/main" noGrp="1"/>
          </p:cNvSpPr>
          <p:nvPr/>
        </p:nvSpPr>
        <p:spPr>
          <a:xfrm xmlns:a="http://schemas.openxmlformats.org/drawingml/2006/main">
            <a:off x="5267325" y="2628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D</a:t>
            </a:r>
          </a:p>
        </p:txBody>
      </p:sp>
      <p:sp>
        <p:nvSpPr>
          <p:cNvPr id="16" name="">
            <a:extLst xmlns:a="http://schemas.openxmlformats.org/drawingml/2006/main">
              <a:ext uri="{FF2B5EF4-FFF2-40B4-BE49-F238E27FC236}">
                <a16:creationId xmlns:a16="http://schemas.microsoft.com/office/drawing/2014/main" id="{E093153E-DAE2-48D1-BCAA-AC221526A4D9}"/>
              </a:ext>
            </a:extLst>
          </p:cNvPr>
          <p:cNvSpPr>
            <a:spLocks xmlns:a="http://schemas.openxmlformats.org/drawingml/2006/main" noGrp="1"/>
          </p:cNvSpPr>
          <p:nvPr/>
        </p:nvSpPr>
        <p:spPr>
          <a:xfrm xmlns:a="http://schemas.openxmlformats.org/drawingml/2006/main">
            <a:off x="3990975" y="20193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17" name="">
            <a:extLst xmlns:a="http://schemas.openxmlformats.org/drawingml/2006/main">
              <a:ext uri="{FF2B5EF4-FFF2-40B4-BE49-F238E27FC236}">
                <a16:creationId xmlns:a16="http://schemas.microsoft.com/office/drawing/2014/main" id="{E145E149-7522-44E9-8C39-BDB979175337}"/>
              </a:ext>
            </a:extLst>
          </p:cNvPr>
          <p:cNvSpPr>
            <a:spLocks xmlns:a="http://schemas.openxmlformats.org/drawingml/2006/main" noGrp="1"/>
          </p:cNvSpPr>
          <p:nvPr/>
        </p:nvSpPr>
        <p:spPr>
          <a:xfrm xmlns:a="http://schemas.openxmlformats.org/drawingml/2006/main">
            <a:off x="4029075" y="20574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E</a:t>
            </a:r>
          </a:p>
        </p:txBody>
      </p:sp>
      <p:sp>
        <p:nvSpPr>
          <p:cNvPr id="19" name="">
            <a:extLst xmlns:a="http://schemas.openxmlformats.org/drawingml/2006/main">
              <a:ext uri="{FF2B5EF4-FFF2-40B4-BE49-F238E27FC236}">
                <a16:creationId xmlns:a16="http://schemas.microsoft.com/office/drawing/2014/main" id="{75C4DB5B-CC9F-49EC-9B59-D00C8BBD8C8A}"/>
              </a:ext>
            </a:extLst>
          </p:cNvPr>
          <p:cNvSpPr>
            <a:spLocks xmlns:a="http://schemas.openxmlformats.org/drawingml/2006/main" noGrp="1"/>
          </p:cNvSpPr>
          <p:nvPr/>
        </p:nvSpPr>
        <p:spPr>
          <a:xfrm xmlns:a="http://schemas.openxmlformats.org/drawingml/2006/main">
            <a:off x="1490663" y="2390775"/>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566779"/>
                </a:solidFill>
                <a:latin typeface="Arial"/>
                <a:ea typeface="Arial"/>
                <a:cs typeface="Arial"/>
              </a:defRPr>
            </a:defPPr>
          </a:lstStyle>
          <a:p xmlns:a="http://schemas.openxmlformats.org/drawingml/2006/main">
            <a:pPr algn="ctr">
              <a:buNone/>
              <a:defRPr sz="1800" b="1">
                <a:solidFill>
                  <a:srgbClr val="566779"/>
                </a:solidFill>
                <a:latin typeface="Arial"/>
                <a:ea typeface="Arial"/>
                <a:cs typeface="Arial"/>
              </a:defRPr>
            </a:pPr>
            <a:r>
              <a:rPr sz="1800" b="1">
                <a:solidFill>
                  <a:srgbClr val="566779"/>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F3A4DA42-07D8-4241-878B-118C4027438C}"/>
              </a:ext>
            </a:extLst>
          </p:cNvPr>
          <p:cNvSpPr>
            <a:spLocks xmlns:a="http://schemas.openxmlformats.org/drawingml/2006/main" noGrp="1"/>
          </p:cNvSpPr>
          <p:nvPr/>
        </p:nvSpPr>
        <p:spPr>
          <a:xfrm xmlns:a="http://schemas.openxmlformats.org/drawingml/2006/main">
            <a:off x="3705225" y="2390775"/>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566779"/>
                </a:solidFill>
                <a:latin typeface="Arial"/>
                <a:ea typeface="Arial"/>
                <a:cs typeface="Arial"/>
              </a:defRPr>
            </a:defPPr>
          </a:lstStyle>
          <a:p xmlns:a="http://schemas.openxmlformats.org/drawingml/2006/main">
            <a:pPr algn="ctr">
              <a:buNone/>
              <a:defRPr sz="1800" b="1">
                <a:solidFill>
                  <a:srgbClr val="566779"/>
                </a:solidFill>
                <a:latin typeface="Arial"/>
                <a:ea typeface="Arial"/>
                <a:cs typeface="Arial"/>
              </a:defRPr>
            </a:pPr>
            <a:r>
              <a:rPr sz="1800" b="1">
                <a:solidFill>
                  <a:srgbClr val="566779"/>
                </a:solidFill>
                <a:latin typeface="Arial"/>
                <a:ea typeface="Arial"/>
                <a:cs typeface="Arial"/>
              </a:rPr>
              <a:t>10</a:t>
            </a:r>
          </a:p>
        </p:txBody>
      </p:sp>
      <p:sp>
        <p:nvSpPr>
          <p:cNvPr id="23" name="">
            <a:extLst xmlns:a="http://schemas.openxmlformats.org/drawingml/2006/main">
              <a:ext uri="{FF2B5EF4-FFF2-40B4-BE49-F238E27FC236}">
                <a16:creationId xmlns:a16="http://schemas.microsoft.com/office/drawing/2014/main" id="{1C52A36D-AFEA-43CA-BC6C-F8E390DC905E}"/>
              </a:ext>
            </a:extLst>
          </p:cNvPr>
          <p:cNvSpPr>
            <a:spLocks xmlns:a="http://schemas.openxmlformats.org/drawingml/2006/main" noGrp="1"/>
          </p:cNvSpPr>
          <p:nvPr/>
        </p:nvSpPr>
        <p:spPr>
          <a:xfrm xmlns:a="http://schemas.openxmlformats.org/drawingml/2006/main">
            <a:off x="4657725" y="2390775"/>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B64436"/>
                </a:solidFill>
                <a:latin typeface="Arial"/>
                <a:ea typeface="Arial"/>
                <a:cs typeface="Arial"/>
              </a:defRPr>
            </a:defPPr>
          </a:lstStyle>
          <a:p xmlns:a="http://schemas.openxmlformats.org/drawingml/2006/main">
            <a:pPr algn="ctr">
              <a:buNone/>
              <a:defRPr sz="1800" b="1">
                <a:solidFill>
                  <a:srgbClr val="B64436"/>
                </a:solidFill>
                <a:latin typeface="Arial"/>
                <a:ea typeface="Arial"/>
                <a:cs typeface="Arial"/>
              </a:defRPr>
            </a:pPr>
            <a:r>
              <a:rPr sz="1800" b="1">
                <a:solidFill>
                  <a:srgbClr val="B64436"/>
                </a:solidFill>
                <a:latin typeface="Arial"/>
                <a:ea typeface="Arial"/>
                <a:cs typeface="Arial"/>
              </a:rPr>
              <a:t>2</a:t>
            </a:r>
          </a:p>
        </p:txBody>
      </p:sp>
      <p:sp>
        <p:nvSpPr>
          <p:cNvPr id="25" name="">
            <a:extLst xmlns:a="http://schemas.openxmlformats.org/drawingml/2006/main">
              <a:ext uri="{FF2B5EF4-FFF2-40B4-BE49-F238E27FC236}">
                <a16:creationId xmlns:a16="http://schemas.microsoft.com/office/drawing/2014/main" id="{30C1F97A-5ED5-4741-ABC3-740B0485055B}"/>
              </a:ext>
            </a:extLst>
          </p:cNvPr>
          <p:cNvSpPr>
            <a:spLocks xmlns:a="http://schemas.openxmlformats.org/drawingml/2006/main" noGrp="1"/>
          </p:cNvSpPr>
          <p:nvPr/>
        </p:nvSpPr>
        <p:spPr>
          <a:xfrm xmlns:a="http://schemas.openxmlformats.org/drawingml/2006/main">
            <a:off x="3086100" y="2759869"/>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566779"/>
                </a:solidFill>
                <a:latin typeface="Arial"/>
                <a:ea typeface="Arial"/>
                <a:cs typeface="Arial"/>
              </a:defRPr>
            </a:defPPr>
          </a:lstStyle>
          <a:p xmlns:a="http://schemas.openxmlformats.org/drawingml/2006/main">
            <a:pPr algn="ctr">
              <a:buNone/>
              <a:defRPr sz="1800" b="1">
                <a:solidFill>
                  <a:srgbClr val="566779"/>
                </a:solidFill>
                <a:latin typeface="Arial"/>
                <a:ea typeface="Arial"/>
                <a:cs typeface="Arial"/>
              </a:defRPr>
            </a:pPr>
            <a:r>
              <a:rPr sz="1800" b="1">
                <a:solidFill>
                  <a:srgbClr val="566779"/>
                </a:solidFill>
                <a:latin typeface="Arial"/>
                <a:ea typeface="Arial"/>
                <a:cs typeface="Arial"/>
              </a:rPr>
              <a:t>12</a:t>
            </a:r>
          </a:p>
        </p:txBody>
      </p:sp>
      <p:sp>
        <p:nvSpPr>
          <p:cNvPr id="27" name="">
            <a:extLst xmlns:a="http://schemas.openxmlformats.org/drawingml/2006/main">
              <a:ext uri="{FF2B5EF4-FFF2-40B4-BE49-F238E27FC236}">
                <a16:creationId xmlns:a16="http://schemas.microsoft.com/office/drawing/2014/main" id="{DC88FBF7-2FA1-4037-9CB5-F9968742F3B1}"/>
              </a:ext>
            </a:extLst>
          </p:cNvPr>
          <p:cNvSpPr>
            <a:spLocks xmlns:a="http://schemas.openxmlformats.org/drawingml/2006/main" noGrp="1"/>
          </p:cNvSpPr>
          <p:nvPr/>
        </p:nvSpPr>
        <p:spPr>
          <a:xfrm xmlns:a="http://schemas.openxmlformats.org/drawingml/2006/main">
            <a:off x="3086100" y="3414713"/>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566779"/>
                </a:solidFill>
                <a:latin typeface="Arial"/>
                <a:ea typeface="Arial"/>
                <a:cs typeface="Arial"/>
              </a:defRPr>
            </a:defPPr>
          </a:lstStyle>
          <a:p xmlns:a="http://schemas.openxmlformats.org/drawingml/2006/main">
            <a:pPr algn="ctr">
              <a:buNone/>
              <a:defRPr sz="1800" b="1">
                <a:solidFill>
                  <a:srgbClr val="566779"/>
                </a:solidFill>
                <a:latin typeface="Arial"/>
                <a:ea typeface="Arial"/>
                <a:cs typeface="Arial"/>
              </a:defRPr>
            </a:pPr>
            <a:r>
              <a:rPr sz="1800" b="1">
                <a:solidFill>
                  <a:srgbClr val="566779"/>
                </a:solidFill>
                <a:latin typeface="Arial"/>
                <a:ea typeface="Arial"/>
                <a:cs typeface="Arial"/>
              </a:rPr>
              <a:t>2</a:t>
            </a:r>
          </a:p>
        </p:txBody>
      </p:sp>
      <p:sp>
        <p:nvSpPr>
          <p:cNvPr id="29" name="">
            <a:extLst xmlns:a="http://schemas.openxmlformats.org/drawingml/2006/main">
              <a:ext uri="{FF2B5EF4-FFF2-40B4-BE49-F238E27FC236}">
                <a16:creationId xmlns:a16="http://schemas.microsoft.com/office/drawing/2014/main" id="{876093F4-FDCA-4BEE-A804-0DAFDD788173}"/>
              </a:ext>
            </a:extLst>
          </p:cNvPr>
          <p:cNvSpPr>
            <a:spLocks xmlns:a="http://schemas.openxmlformats.org/drawingml/2006/main" noGrp="1"/>
          </p:cNvSpPr>
          <p:nvPr/>
        </p:nvSpPr>
        <p:spPr>
          <a:xfrm xmlns:a="http://schemas.openxmlformats.org/drawingml/2006/main">
            <a:off x="2443163" y="3045619"/>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B64436"/>
                </a:solidFill>
                <a:latin typeface="Arial"/>
                <a:ea typeface="Arial"/>
                <a:cs typeface="Arial"/>
              </a:defRPr>
            </a:defPPr>
          </a:lstStyle>
          <a:p xmlns:a="http://schemas.openxmlformats.org/drawingml/2006/main">
            <a:pPr algn="ctr">
              <a:buNone/>
              <a:defRPr sz="1800" b="1">
                <a:solidFill>
                  <a:srgbClr val="B64436"/>
                </a:solidFill>
                <a:latin typeface="Arial"/>
                <a:ea typeface="Arial"/>
                <a:cs typeface="Arial"/>
              </a:defRPr>
            </a:pPr>
            <a:r>
              <a:rPr sz="1800" b="1">
                <a:solidFill>
                  <a:srgbClr val="B64436"/>
                </a:solidFill>
                <a:latin typeface="Arial"/>
                <a:ea typeface="Arial"/>
                <a:cs typeface="Arial"/>
              </a:rPr>
              <a:t>16</a:t>
            </a:r>
          </a:p>
        </p:txBody>
      </p:sp>
      <p:sp>
        <p:nvSpPr>
          <p:cNvPr id="30" name="">
            <a:extLst xmlns:a="http://schemas.openxmlformats.org/drawingml/2006/main">
              <a:ext uri="{FF2B5EF4-FFF2-40B4-BE49-F238E27FC236}">
                <a16:creationId xmlns:a16="http://schemas.microsoft.com/office/drawing/2014/main" id="{6587D6A6-11C8-4690-AFF7-0920615745FD}"/>
              </a:ext>
            </a:extLst>
          </p:cNvPr>
          <p:cNvSpPr>
            <a:spLocks xmlns:a="http://schemas.openxmlformats.org/drawingml/2006/main" noGrp="1"/>
          </p:cNvSpPr>
          <p:nvPr/>
        </p:nvSpPr>
        <p:spPr>
          <a:xfrm xmlns:a="http://schemas.openxmlformats.org/drawingml/2006/main">
            <a:off x="6705600" y="2590800"/>
            <a:ext cx="400050" cy="400050"/>
          </a:xfrm>
          <a:prstGeom xmlns:a="http://schemas.openxmlformats.org/drawingml/2006/main" prst="ellipse">
            <a:avLst/>
          </a:prstGeom>
          <a:solidFill xmlns:a="http://schemas.openxmlformats.org/drawingml/2006/main">
            <a:srgbClr val="E9F1FB"/>
          </a:solidFill>
          <a:ln xmlns:a="http://schemas.openxmlformats.org/drawingml/2006/main" w="19050">
            <a:solidFill>
              <a:srgbClr val="173047"/>
            </a:solidFill>
          </a:ln>
        </p:spPr>
      </p:sp>
      <p:sp>
        <p:nvSpPr>
          <p:cNvPr id="31" name="">
            <a:extLst xmlns:a="http://schemas.openxmlformats.org/drawingml/2006/main">
              <a:ext uri="{FF2B5EF4-FFF2-40B4-BE49-F238E27FC236}">
                <a16:creationId xmlns:a16="http://schemas.microsoft.com/office/drawing/2014/main" id="{86D6BEC0-E115-42ED-B068-2ED19CC85B6E}"/>
              </a:ext>
            </a:extLst>
          </p:cNvPr>
          <p:cNvSpPr>
            <a:spLocks xmlns:a="http://schemas.openxmlformats.org/drawingml/2006/main" noGrp="1"/>
          </p:cNvSpPr>
          <p:nvPr/>
        </p:nvSpPr>
        <p:spPr>
          <a:xfrm xmlns:a="http://schemas.openxmlformats.org/drawingml/2006/main">
            <a:off x="6743700" y="2628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S</a:t>
            </a:r>
          </a:p>
        </p:txBody>
      </p:sp>
      <p:sp>
        <p:nvSpPr>
          <p:cNvPr id="32" name="">
            <a:extLst xmlns:a="http://schemas.openxmlformats.org/drawingml/2006/main">
              <a:ext uri="{FF2B5EF4-FFF2-40B4-BE49-F238E27FC236}">
                <a16:creationId xmlns:a16="http://schemas.microsoft.com/office/drawing/2014/main" id="{1399362E-3F2F-488E-AD17-6B665AA4A16D}"/>
              </a:ext>
            </a:extLst>
          </p:cNvPr>
          <p:cNvSpPr>
            <a:spLocks xmlns:a="http://schemas.openxmlformats.org/drawingml/2006/main" noGrp="1"/>
          </p:cNvSpPr>
          <p:nvPr/>
        </p:nvSpPr>
        <p:spPr>
          <a:xfrm xmlns:a="http://schemas.openxmlformats.org/drawingml/2006/main">
            <a:off x="7991475" y="20193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3" name="">
            <a:extLst xmlns:a="http://schemas.openxmlformats.org/drawingml/2006/main">
              <a:ext uri="{FF2B5EF4-FFF2-40B4-BE49-F238E27FC236}">
                <a16:creationId xmlns:a16="http://schemas.microsoft.com/office/drawing/2014/main" id="{D1B2E0D3-8ABA-4F2A-9649-1ADEA81A8BA3}"/>
              </a:ext>
            </a:extLst>
          </p:cNvPr>
          <p:cNvSpPr>
            <a:spLocks xmlns:a="http://schemas.openxmlformats.org/drawingml/2006/main" noGrp="1"/>
          </p:cNvSpPr>
          <p:nvPr/>
        </p:nvSpPr>
        <p:spPr>
          <a:xfrm xmlns:a="http://schemas.openxmlformats.org/drawingml/2006/main">
            <a:off x="8029575" y="20574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A</a:t>
            </a:r>
          </a:p>
        </p:txBody>
      </p:sp>
      <p:sp>
        <p:nvSpPr>
          <p:cNvPr id="34" name="">
            <a:extLst xmlns:a="http://schemas.openxmlformats.org/drawingml/2006/main">
              <a:ext uri="{FF2B5EF4-FFF2-40B4-BE49-F238E27FC236}">
                <a16:creationId xmlns:a16="http://schemas.microsoft.com/office/drawing/2014/main" id="{3347FCED-3549-4518-B4A2-C0726004D4B8}"/>
              </a:ext>
            </a:extLst>
          </p:cNvPr>
          <p:cNvSpPr>
            <a:spLocks xmlns:a="http://schemas.openxmlformats.org/drawingml/2006/main" noGrp="1"/>
          </p:cNvSpPr>
          <p:nvPr/>
        </p:nvSpPr>
        <p:spPr>
          <a:xfrm xmlns:a="http://schemas.openxmlformats.org/drawingml/2006/main">
            <a:off x="9896475" y="3328988"/>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5" name="">
            <a:extLst xmlns:a="http://schemas.openxmlformats.org/drawingml/2006/main">
              <a:ext uri="{FF2B5EF4-FFF2-40B4-BE49-F238E27FC236}">
                <a16:creationId xmlns:a16="http://schemas.microsoft.com/office/drawing/2014/main" id="{76D062A4-6919-44F7-A056-B5A20062C1EF}"/>
              </a:ext>
            </a:extLst>
          </p:cNvPr>
          <p:cNvSpPr>
            <a:spLocks xmlns:a="http://schemas.openxmlformats.org/drawingml/2006/main" noGrp="1"/>
          </p:cNvSpPr>
          <p:nvPr/>
        </p:nvSpPr>
        <p:spPr>
          <a:xfrm xmlns:a="http://schemas.openxmlformats.org/drawingml/2006/main">
            <a:off x="9934575" y="3367088"/>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B</a:t>
            </a:r>
          </a:p>
        </p:txBody>
      </p:sp>
      <p:sp>
        <p:nvSpPr>
          <p:cNvPr id="36" name="">
            <a:extLst xmlns:a="http://schemas.openxmlformats.org/drawingml/2006/main">
              <a:ext uri="{FF2B5EF4-FFF2-40B4-BE49-F238E27FC236}">
                <a16:creationId xmlns:a16="http://schemas.microsoft.com/office/drawing/2014/main" id="{B76235EC-5AF6-4B91-B61A-BA640FDA5C6D}"/>
              </a:ext>
            </a:extLst>
          </p:cNvPr>
          <p:cNvSpPr>
            <a:spLocks xmlns:a="http://schemas.openxmlformats.org/drawingml/2006/main" noGrp="1"/>
          </p:cNvSpPr>
          <p:nvPr/>
        </p:nvSpPr>
        <p:spPr>
          <a:xfrm xmlns:a="http://schemas.openxmlformats.org/drawingml/2006/main">
            <a:off x="7991475" y="3328988"/>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7" name="">
            <a:extLst xmlns:a="http://schemas.openxmlformats.org/drawingml/2006/main">
              <a:ext uri="{FF2B5EF4-FFF2-40B4-BE49-F238E27FC236}">
                <a16:creationId xmlns:a16="http://schemas.microsoft.com/office/drawing/2014/main" id="{F7357AB8-2634-4BF1-BD07-8946E52980D8}"/>
              </a:ext>
            </a:extLst>
          </p:cNvPr>
          <p:cNvSpPr>
            <a:spLocks xmlns:a="http://schemas.openxmlformats.org/drawingml/2006/main" noGrp="1"/>
          </p:cNvSpPr>
          <p:nvPr/>
        </p:nvSpPr>
        <p:spPr>
          <a:xfrm xmlns:a="http://schemas.openxmlformats.org/drawingml/2006/main">
            <a:off x="8029575" y="3367088"/>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C</a:t>
            </a:r>
          </a:p>
        </p:txBody>
      </p:sp>
      <p:sp>
        <p:nvSpPr>
          <p:cNvPr id="38" name="">
            <a:extLst xmlns:a="http://schemas.openxmlformats.org/drawingml/2006/main">
              <a:ext uri="{FF2B5EF4-FFF2-40B4-BE49-F238E27FC236}">
                <a16:creationId xmlns:a16="http://schemas.microsoft.com/office/drawing/2014/main" id="{C355AE6F-ACCF-40C1-98DB-4BCC909C6E2E}"/>
              </a:ext>
            </a:extLst>
          </p:cNvPr>
          <p:cNvSpPr>
            <a:spLocks xmlns:a="http://schemas.openxmlformats.org/drawingml/2006/main" noGrp="1"/>
          </p:cNvSpPr>
          <p:nvPr/>
        </p:nvSpPr>
        <p:spPr>
          <a:xfrm xmlns:a="http://schemas.openxmlformats.org/drawingml/2006/main">
            <a:off x="11134725" y="25908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39" name="">
            <a:extLst xmlns:a="http://schemas.openxmlformats.org/drawingml/2006/main">
              <a:ext uri="{FF2B5EF4-FFF2-40B4-BE49-F238E27FC236}">
                <a16:creationId xmlns:a16="http://schemas.microsoft.com/office/drawing/2014/main" id="{020F4704-6D16-4E7E-A203-ED1FC49548A7}"/>
              </a:ext>
            </a:extLst>
          </p:cNvPr>
          <p:cNvSpPr>
            <a:spLocks xmlns:a="http://schemas.openxmlformats.org/drawingml/2006/main" noGrp="1"/>
          </p:cNvSpPr>
          <p:nvPr/>
        </p:nvSpPr>
        <p:spPr>
          <a:xfrm xmlns:a="http://schemas.openxmlformats.org/drawingml/2006/main">
            <a:off x="11172825" y="26289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D</a:t>
            </a:r>
          </a:p>
        </p:txBody>
      </p:sp>
      <p:sp>
        <p:nvSpPr>
          <p:cNvPr id="40" name="">
            <a:extLst xmlns:a="http://schemas.openxmlformats.org/drawingml/2006/main">
              <a:ext uri="{FF2B5EF4-FFF2-40B4-BE49-F238E27FC236}">
                <a16:creationId xmlns:a16="http://schemas.microsoft.com/office/drawing/2014/main" id="{B560C3AF-02EC-4206-A10E-5088B4F77694}"/>
              </a:ext>
            </a:extLst>
          </p:cNvPr>
          <p:cNvSpPr>
            <a:spLocks xmlns:a="http://schemas.openxmlformats.org/drawingml/2006/main" noGrp="1"/>
          </p:cNvSpPr>
          <p:nvPr/>
        </p:nvSpPr>
        <p:spPr>
          <a:xfrm xmlns:a="http://schemas.openxmlformats.org/drawingml/2006/main">
            <a:off x="9896475" y="2019300"/>
            <a:ext cx="400050" cy="400050"/>
          </a:xfrm>
          <a:prstGeom xmlns:a="http://schemas.openxmlformats.org/drawingml/2006/main" prst="ellipse">
            <a:avLst/>
          </a:prstGeom>
          <a:solidFill xmlns:a="http://schemas.openxmlformats.org/drawingml/2006/main">
            <a:srgbClr val="F1F5F8"/>
          </a:solidFill>
          <a:ln xmlns:a="http://schemas.openxmlformats.org/drawingml/2006/main" w="19050">
            <a:solidFill>
              <a:srgbClr val="173047"/>
            </a:solidFill>
          </a:ln>
        </p:spPr>
      </p:sp>
      <p:sp>
        <p:nvSpPr>
          <p:cNvPr id="41" name="">
            <a:extLst xmlns:a="http://schemas.openxmlformats.org/drawingml/2006/main">
              <a:ext uri="{FF2B5EF4-FFF2-40B4-BE49-F238E27FC236}">
                <a16:creationId xmlns:a16="http://schemas.microsoft.com/office/drawing/2014/main" id="{CC823460-987D-4CEF-9B50-DDEE47B332F1}"/>
              </a:ext>
            </a:extLst>
          </p:cNvPr>
          <p:cNvSpPr>
            <a:spLocks xmlns:a="http://schemas.openxmlformats.org/drawingml/2006/main" noGrp="1"/>
          </p:cNvSpPr>
          <p:nvPr/>
        </p:nvSpPr>
        <p:spPr>
          <a:xfrm xmlns:a="http://schemas.openxmlformats.org/drawingml/2006/main">
            <a:off x="9934575" y="20574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173047"/>
                </a:solidFill>
                <a:latin typeface="Arial"/>
                <a:ea typeface="Arial"/>
                <a:cs typeface="Arial"/>
              </a:defRPr>
            </a:defPPr>
          </a:lstStyle>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E</a:t>
            </a:r>
          </a:p>
        </p:txBody>
      </p:sp>
      <p:sp>
        <p:nvSpPr>
          <p:cNvPr id="43" name="">
            <a:extLst xmlns:a="http://schemas.openxmlformats.org/drawingml/2006/main">
              <a:ext uri="{FF2B5EF4-FFF2-40B4-BE49-F238E27FC236}">
                <a16:creationId xmlns:a16="http://schemas.microsoft.com/office/drawing/2014/main" id="{2B4869B3-313C-4CBA-82D3-1808CB6093BE}"/>
              </a:ext>
            </a:extLst>
          </p:cNvPr>
          <p:cNvSpPr>
            <a:spLocks xmlns:a="http://schemas.openxmlformats.org/drawingml/2006/main" noGrp="1"/>
          </p:cNvSpPr>
          <p:nvPr/>
        </p:nvSpPr>
        <p:spPr>
          <a:xfrm xmlns:a="http://schemas.openxmlformats.org/drawingml/2006/main">
            <a:off x="7396163" y="2390775"/>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566779"/>
                </a:solidFill>
                <a:latin typeface="Arial"/>
                <a:ea typeface="Arial"/>
                <a:cs typeface="Arial"/>
              </a:defRPr>
            </a:defPPr>
          </a:lstStyle>
          <a:p xmlns:a="http://schemas.openxmlformats.org/drawingml/2006/main">
            <a:pPr algn="ctr">
              <a:buNone/>
              <a:defRPr sz="1800" b="1">
                <a:solidFill>
                  <a:srgbClr val="566779"/>
                </a:solidFill>
                <a:latin typeface="Arial"/>
                <a:ea typeface="Arial"/>
                <a:cs typeface="Arial"/>
              </a:defRPr>
            </a:pPr>
            <a:r>
              <a:rPr sz="1800" b="1">
                <a:solidFill>
                  <a:srgbClr val="566779"/>
                </a:solidFill>
                <a:latin typeface="Arial"/>
                <a:ea typeface="Arial"/>
                <a:cs typeface="Arial"/>
              </a:rPr>
              <a:t>2</a:t>
            </a:r>
          </a:p>
        </p:txBody>
      </p:sp>
      <p:sp>
        <p:nvSpPr>
          <p:cNvPr id="45" name="">
            <a:extLst xmlns:a="http://schemas.openxmlformats.org/drawingml/2006/main">
              <a:ext uri="{FF2B5EF4-FFF2-40B4-BE49-F238E27FC236}">
                <a16:creationId xmlns:a16="http://schemas.microsoft.com/office/drawing/2014/main" id="{268B1208-C299-4781-8BEA-44C57EFADF3A}"/>
              </a:ext>
            </a:extLst>
          </p:cNvPr>
          <p:cNvSpPr>
            <a:spLocks xmlns:a="http://schemas.openxmlformats.org/drawingml/2006/main" noGrp="1"/>
          </p:cNvSpPr>
          <p:nvPr/>
        </p:nvSpPr>
        <p:spPr>
          <a:xfrm xmlns:a="http://schemas.openxmlformats.org/drawingml/2006/main">
            <a:off x="9610725" y="2390775"/>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566779"/>
                </a:solidFill>
                <a:latin typeface="Arial"/>
                <a:ea typeface="Arial"/>
                <a:cs typeface="Arial"/>
              </a:defRPr>
            </a:defPPr>
          </a:lstStyle>
          <a:p xmlns:a="http://schemas.openxmlformats.org/drawingml/2006/main">
            <a:pPr algn="ctr">
              <a:buNone/>
              <a:defRPr sz="1800" b="1">
                <a:solidFill>
                  <a:srgbClr val="566779"/>
                </a:solidFill>
                <a:latin typeface="Arial"/>
                <a:ea typeface="Arial"/>
                <a:cs typeface="Arial"/>
              </a:defRPr>
            </a:pPr>
            <a:r>
              <a:rPr sz="1800" b="1">
                <a:solidFill>
                  <a:srgbClr val="566779"/>
                </a:solidFill>
                <a:latin typeface="Arial"/>
                <a:ea typeface="Arial"/>
                <a:cs typeface="Arial"/>
              </a:rPr>
              <a:t>10</a:t>
            </a:r>
          </a:p>
        </p:txBody>
      </p:sp>
      <p:sp>
        <p:nvSpPr>
          <p:cNvPr id="47" name="">
            <a:extLst xmlns:a="http://schemas.openxmlformats.org/drawingml/2006/main">
              <a:ext uri="{FF2B5EF4-FFF2-40B4-BE49-F238E27FC236}">
                <a16:creationId xmlns:a16="http://schemas.microsoft.com/office/drawing/2014/main" id="{56ED8F2E-6A4A-46C0-9D0D-7F1A740AFF9B}"/>
              </a:ext>
            </a:extLst>
          </p:cNvPr>
          <p:cNvSpPr>
            <a:spLocks xmlns:a="http://schemas.openxmlformats.org/drawingml/2006/main" noGrp="1"/>
          </p:cNvSpPr>
          <p:nvPr/>
        </p:nvSpPr>
        <p:spPr>
          <a:xfrm xmlns:a="http://schemas.openxmlformats.org/drawingml/2006/main">
            <a:off x="10563225" y="3045619"/>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00857D"/>
                </a:solidFill>
                <a:latin typeface="Arial"/>
                <a:ea typeface="Arial"/>
                <a:cs typeface="Arial"/>
              </a:defRPr>
            </a:defPPr>
          </a:lstStyle>
          <a:p xmlns:a="http://schemas.openxmlformats.org/drawingml/2006/main">
            <a:pPr algn="ctr">
              <a:buNone/>
              <a:defRPr sz="1800" b="1">
                <a:solidFill>
                  <a:srgbClr val="00857D"/>
                </a:solidFill>
                <a:latin typeface="Arial"/>
                <a:ea typeface="Arial"/>
                <a:cs typeface="Arial"/>
              </a:defRPr>
            </a:pPr>
            <a:r>
              <a:rPr sz="1800" b="1">
                <a:solidFill>
                  <a:srgbClr val="00857D"/>
                </a:solidFill>
                <a:latin typeface="Arial"/>
                <a:ea typeface="Arial"/>
                <a:cs typeface="Arial"/>
              </a:rPr>
              <a:t>5</a:t>
            </a:r>
          </a:p>
        </p:txBody>
      </p:sp>
      <p:sp>
        <p:nvSpPr>
          <p:cNvPr id="49" name="">
            <a:extLst xmlns:a="http://schemas.openxmlformats.org/drawingml/2006/main">
              <a:ext uri="{FF2B5EF4-FFF2-40B4-BE49-F238E27FC236}">
                <a16:creationId xmlns:a16="http://schemas.microsoft.com/office/drawing/2014/main" id="{480F6587-5B84-4464-9B5C-682F046B7DD3}"/>
              </a:ext>
            </a:extLst>
          </p:cNvPr>
          <p:cNvSpPr>
            <a:spLocks xmlns:a="http://schemas.openxmlformats.org/drawingml/2006/main" noGrp="1"/>
          </p:cNvSpPr>
          <p:nvPr/>
        </p:nvSpPr>
        <p:spPr>
          <a:xfrm xmlns:a="http://schemas.openxmlformats.org/drawingml/2006/main">
            <a:off x="8991600" y="3414713"/>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566779"/>
                </a:solidFill>
                <a:latin typeface="Arial"/>
                <a:ea typeface="Arial"/>
                <a:cs typeface="Arial"/>
              </a:defRPr>
            </a:defPPr>
          </a:lstStyle>
          <a:p xmlns:a="http://schemas.openxmlformats.org/drawingml/2006/main">
            <a:pPr algn="ctr">
              <a:buNone/>
              <a:defRPr sz="1800" b="1">
                <a:solidFill>
                  <a:srgbClr val="566779"/>
                </a:solidFill>
                <a:latin typeface="Arial"/>
                <a:ea typeface="Arial"/>
                <a:cs typeface="Arial"/>
              </a:defRPr>
            </a:pPr>
            <a:r>
              <a:rPr sz="1800" b="1">
                <a:solidFill>
                  <a:srgbClr val="566779"/>
                </a:solidFill>
                <a:latin typeface="Arial"/>
                <a:ea typeface="Arial"/>
                <a:cs typeface="Arial"/>
              </a:rPr>
              <a:t>2</a:t>
            </a:r>
          </a:p>
        </p:txBody>
      </p:sp>
      <p:sp>
        <p:nvSpPr>
          <p:cNvPr id="51" name="">
            <a:extLst xmlns:a="http://schemas.openxmlformats.org/drawingml/2006/main">
              <a:ext uri="{FF2B5EF4-FFF2-40B4-BE49-F238E27FC236}">
                <a16:creationId xmlns:a16="http://schemas.microsoft.com/office/drawing/2014/main" id="{56451102-1123-4BA9-AA31-7855C5B61D65}"/>
              </a:ext>
            </a:extLst>
          </p:cNvPr>
          <p:cNvSpPr>
            <a:spLocks xmlns:a="http://schemas.openxmlformats.org/drawingml/2006/main" noGrp="1"/>
          </p:cNvSpPr>
          <p:nvPr/>
        </p:nvSpPr>
        <p:spPr>
          <a:xfrm xmlns:a="http://schemas.openxmlformats.org/drawingml/2006/main">
            <a:off x="8991600" y="2759869"/>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566779"/>
                </a:solidFill>
                <a:latin typeface="Arial"/>
                <a:ea typeface="Arial"/>
                <a:cs typeface="Arial"/>
              </a:defRPr>
            </a:defPPr>
          </a:lstStyle>
          <a:p xmlns:a="http://schemas.openxmlformats.org/drawingml/2006/main">
            <a:pPr algn="ctr">
              <a:buNone/>
              <a:defRPr sz="1800" b="1">
                <a:solidFill>
                  <a:srgbClr val="566779"/>
                </a:solidFill>
                <a:latin typeface="Arial"/>
                <a:ea typeface="Arial"/>
                <a:cs typeface="Arial"/>
              </a:defRPr>
            </a:pPr>
            <a:r>
              <a:rPr sz="1800" b="1">
                <a:solidFill>
                  <a:srgbClr val="566779"/>
                </a:solidFill>
                <a:latin typeface="Arial"/>
                <a:ea typeface="Arial"/>
                <a:cs typeface="Arial"/>
              </a:rPr>
              <a:t>12</a:t>
            </a:r>
          </a:p>
        </p:txBody>
      </p:sp>
      <p:sp>
        <p:nvSpPr>
          <p:cNvPr id="53" name="">
            <a:extLst xmlns:a="http://schemas.openxmlformats.org/drawingml/2006/main">
              <a:ext uri="{FF2B5EF4-FFF2-40B4-BE49-F238E27FC236}">
                <a16:creationId xmlns:a16="http://schemas.microsoft.com/office/drawing/2014/main" id="{368D6237-30BD-48CC-A243-F6BCFBBA9902}"/>
              </a:ext>
            </a:extLst>
          </p:cNvPr>
          <p:cNvSpPr>
            <a:spLocks xmlns:a="http://schemas.openxmlformats.org/drawingml/2006/main" noGrp="1"/>
          </p:cNvSpPr>
          <p:nvPr/>
        </p:nvSpPr>
        <p:spPr>
          <a:xfrm xmlns:a="http://schemas.openxmlformats.org/drawingml/2006/main">
            <a:off x="8348663" y="2390775"/>
            <a:ext cx="304800" cy="214313"/>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00857D"/>
                </a:solidFill>
                <a:latin typeface="Arial"/>
                <a:ea typeface="Arial"/>
                <a:cs typeface="Arial"/>
              </a:defRPr>
            </a:defPPr>
          </a:lstStyle>
          <a:p xmlns:a="http://schemas.openxmlformats.org/drawingml/2006/main">
            <a:pPr algn="ctr">
              <a:buNone/>
              <a:defRPr sz="1800" b="1">
                <a:solidFill>
                  <a:srgbClr val="00857D"/>
                </a:solidFill>
                <a:latin typeface="Arial"/>
                <a:ea typeface="Arial"/>
                <a:cs typeface="Arial"/>
              </a:defRPr>
            </a:pPr>
            <a:r>
              <a:rPr sz="1800" b="1">
                <a:solidFill>
                  <a:srgbClr val="00857D"/>
                </a:solidFill>
                <a:latin typeface="Arial"/>
                <a:ea typeface="Arial"/>
                <a:cs typeface="Arial"/>
              </a:rPr>
              <a:t>12</a:t>
            </a:r>
          </a:p>
        </p:txBody>
      </p:sp>
      <p:sp>
        <p:nvSpPr>
          <p:cNvPr id="54" name="">
            <a:extLst xmlns:a="http://schemas.openxmlformats.org/drawingml/2006/main">
              <a:ext uri="{FF2B5EF4-FFF2-40B4-BE49-F238E27FC236}">
                <a16:creationId xmlns:a16="http://schemas.microsoft.com/office/drawing/2014/main" id="{DDBF67C3-5FA8-4232-B374-FEFD7A45808A}"/>
              </a:ext>
            </a:extLst>
          </p:cNvPr>
          <p:cNvSpPr>
            <a:spLocks xmlns:a="http://schemas.openxmlformats.org/drawingml/2006/main" noGrp="1"/>
          </p:cNvSpPr>
          <p:nvPr/>
        </p:nvSpPr>
        <p:spPr>
          <a:xfrm xmlns:a="http://schemas.openxmlformats.org/drawingml/2006/main">
            <a:off x="762000" y="4400550"/>
            <a:ext cx="5238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B64436"/>
                </a:solidFill>
                <a:latin typeface="Arial"/>
                <a:ea typeface="Arial"/>
                <a:cs typeface="Arial"/>
              </a:defRPr>
            </a:defPPr>
          </a:lstStyle>
          <a:p xmlns:a="http://schemas.openxmlformats.org/drawingml/2006/main">
            <a:pPr algn="l">
              <a:buNone/>
              <a:defRPr sz="2175" b="1">
                <a:solidFill>
                  <a:srgbClr val="B64436"/>
                </a:solidFill>
                <a:latin typeface="Arial"/>
                <a:ea typeface="Arial"/>
                <a:cs typeface="Arial"/>
              </a:defRPr>
            </a:pPr>
            <a:r>
              <a:rPr sz="2175" b="1">
                <a:solidFill>
                  <a:srgbClr val="B64436"/>
                </a:solidFill>
                <a:latin typeface="Arial"/>
                <a:ea typeface="Arial"/>
                <a:cs typeface="Arial"/>
              </a:rPr>
              <a:t>Прибираємо: D-E (2), B-S (16)</a:t>
            </a:r>
          </a:p>
        </p:txBody>
      </p:sp>
      <p:sp>
        <p:nvSpPr>
          <p:cNvPr id="55" name="">
            <a:extLst xmlns:a="http://schemas.openxmlformats.org/drawingml/2006/main">
              <a:ext uri="{FF2B5EF4-FFF2-40B4-BE49-F238E27FC236}">
                <a16:creationId xmlns:a16="http://schemas.microsoft.com/office/drawing/2014/main" id="{24F16A23-AA3E-4DCC-8B48-A27A0569F2DD}"/>
              </a:ext>
            </a:extLst>
          </p:cNvPr>
          <p:cNvSpPr>
            <a:spLocks xmlns:a="http://schemas.openxmlformats.org/drawingml/2006/main" noGrp="1"/>
          </p:cNvSpPr>
          <p:nvPr/>
        </p:nvSpPr>
        <p:spPr>
          <a:xfrm xmlns:a="http://schemas.openxmlformats.org/drawingml/2006/main">
            <a:off x="6762750" y="4400550"/>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Arial"/>
                <a:ea typeface="Arial"/>
                <a:cs typeface="Arial"/>
              </a:defRPr>
            </a:defPPr>
          </a:lstStyle>
          <a:p xmlns:a="http://schemas.openxmlformats.org/drawingml/2006/main">
            <a:pPr algn="l">
              <a:buNone/>
              <a:defRPr sz="2175" b="1">
                <a:solidFill>
                  <a:srgbClr val="00857D"/>
                </a:solidFill>
                <a:latin typeface="Arial"/>
                <a:ea typeface="Arial"/>
                <a:cs typeface="Arial"/>
              </a:defRPr>
            </a:pPr>
            <a:r>
              <a:rPr sz="2175" b="1">
                <a:solidFill>
                  <a:srgbClr val="00857D"/>
                </a:solidFill>
                <a:latin typeface="Arial"/>
                <a:ea typeface="Arial"/>
                <a:cs typeface="Arial"/>
              </a:rPr>
              <a:t>Додаємо: D-B (5), E-S (12)</a:t>
            </a:r>
          </a:p>
        </p:txBody>
      </p:sp>
      <p:sp>
        <p:nvSpPr>
          <p:cNvPr id="56" name="">
            <a:extLst xmlns:a="http://schemas.openxmlformats.org/drawingml/2006/main">
              <a:ext uri="{FF2B5EF4-FFF2-40B4-BE49-F238E27FC236}">
                <a16:creationId xmlns:a16="http://schemas.microsoft.com/office/drawing/2014/main" id="{98CE75C5-B7C0-49B7-A990-DA3CE35DE009}"/>
              </a:ext>
            </a:extLst>
          </p:cNvPr>
          <p:cNvSpPr>
            <a:spLocks xmlns:a="http://schemas.openxmlformats.org/drawingml/2006/main" noGrp="1"/>
          </p:cNvSpPr>
          <p:nvPr/>
        </p:nvSpPr>
        <p:spPr>
          <a:xfrm xmlns:a="http://schemas.openxmlformats.org/drawingml/2006/main">
            <a:off x="762000" y="52197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150" b="1">
                <a:solidFill>
                  <a:srgbClr val="173047"/>
                </a:solidFill>
                <a:latin typeface="Arial"/>
                <a:ea typeface="Arial"/>
                <a:cs typeface="Arial"/>
              </a:defRPr>
            </a:defPPr>
          </a:lstStyle>
          <a:p xmlns:a="http://schemas.openxmlformats.org/drawingml/2006/main">
            <a:pPr algn="ctr">
              <a:buNone/>
              <a:defRPr sz="3150" b="1">
                <a:solidFill>
                  <a:srgbClr val="173047"/>
                </a:solidFill>
                <a:latin typeface="Arial"/>
                <a:ea typeface="Arial"/>
                <a:cs typeface="Arial"/>
              </a:defRPr>
            </a:pPr>
            <a:r>
              <a:rPr sz="3150" b="1">
                <a:solidFill>
                  <a:srgbClr val="173047"/>
                </a:solidFill>
                <a:latin typeface="Arial"/>
                <a:ea typeface="Arial"/>
                <a:cs typeface="Arial"/>
              </a:rPr>
              <a:t>44 − 18 + 17 = 43</a:t>
            </a:r>
          </a:p>
        </p:txBody>
      </p:sp>
    </p:spTree>
    <p:extLst>
      <p:ext uri="{BB962C8B-B14F-4D97-AF65-F5344CB8AC3E}">
        <p14:creationId xmlns:p14="http://schemas.microsoft.com/office/powerpoint/2010/main" val="391622039"/>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E89842-E9D6-44DF-9C80-2F2BBF26B8B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2-opt: Python для одного поліпшення</a:t>
            </a:r>
          </a:p>
        </p:txBody>
      </p:sp>
      <p:sp>
        <p:nvSpPr>
          <p:cNvPr id="2" name="">
            <a:extLst xmlns:a="http://schemas.openxmlformats.org/drawingml/2006/main">
              <a:ext uri="{FF2B5EF4-FFF2-40B4-BE49-F238E27FC236}">
                <a16:creationId xmlns:a16="http://schemas.microsoft.com/office/drawing/2014/main" id="{F4A4A7ED-E185-46CE-9F55-81CD18D50B3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Зміна порядку зберігає всі вузли в одному маршруті.</a:t>
            </a:r>
          </a:p>
        </p:txBody>
      </p:sp>
      <p:sp>
        <p:nvSpPr>
          <p:cNvPr id="3" name="">
            <a:extLst xmlns:a="http://schemas.openxmlformats.org/drawingml/2006/main">
              <a:ext uri="{FF2B5EF4-FFF2-40B4-BE49-F238E27FC236}">
                <a16:creationId xmlns:a16="http://schemas.microsoft.com/office/drawing/2014/main" id="{3942D5D4-DF09-4C9F-9721-FD92B3660FD2}"/>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86</a:t>
            </a:r>
          </a:p>
        </p:txBody>
      </p:sp>
      <p:sp>
        <p:nvSpPr>
          <p:cNvPr id="4" name="">
            <a:extLst xmlns:a="http://schemas.openxmlformats.org/drawingml/2006/main">
              <a:ext uri="{FF2B5EF4-FFF2-40B4-BE49-F238E27FC236}">
                <a16:creationId xmlns:a16="http://schemas.microsoft.com/office/drawing/2014/main" id="{F38333A1-C71A-465A-8093-A723BD796FE0}"/>
              </a:ext>
            </a:extLst>
          </p:cNvPr>
          <p:cNvSpPr>
            <a:spLocks xmlns:a="http://schemas.openxmlformats.org/drawingml/2006/main" noGrp="1"/>
          </p:cNvSpPr>
          <p:nvPr/>
        </p:nvSpPr>
        <p:spPr>
          <a:xfrm xmlns:a="http://schemas.openxmlformats.org/drawingml/2006/main">
            <a:off x="762000" y="1504950"/>
            <a:ext cx="10668000" cy="2170176"/>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E0B997-B8BF-4685-9FBE-0EE1B06EA695}"/>
              </a:ext>
            </a:extLst>
          </p:cNvPr>
          <p:cNvSpPr>
            <a:spLocks xmlns:a="http://schemas.openxmlformats.org/drawingml/2006/main" noGrp="1"/>
          </p:cNvSpPr>
          <p:nvPr/>
        </p:nvSpPr>
        <p:spPr>
          <a:xfrm xmlns:a="http://schemas.openxmlformats.org/drawingml/2006/main">
            <a:off x="933450" y="1581150"/>
            <a:ext cx="10325100" cy="2017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E42CF440-22B0-41F9-9410-C67B0A473D40}"/>
              </a:ext>
            </a:extLst>
          </p:cNvPr>
          <p:cNvSpPr>
            <a:spLocks xmlns:a="http://schemas.openxmlformats.org/drawingml/2006/main" noGrp="1"/>
          </p:cNvSpPr>
          <p:nvPr/>
        </p:nvSpPr>
        <p:spPr>
          <a:xfrm xmlns:a="http://schemas.openxmlformats.org/drawingml/2006/main">
            <a:off x="762000" y="3922776"/>
            <a:ext cx="10668000" cy="99060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EE61DB6-B80F-4F92-9F6B-2452A0CD0D1B}"/>
              </a:ext>
            </a:extLst>
          </p:cNvPr>
          <p:cNvSpPr>
            <a:spLocks xmlns:a="http://schemas.openxmlformats.org/drawingml/2006/main" noGrp="1"/>
          </p:cNvSpPr>
          <p:nvPr/>
        </p:nvSpPr>
        <p:spPr>
          <a:xfrm xmlns:a="http://schemas.openxmlformats.org/drawingml/2006/main">
            <a:off x="933450" y="3979926"/>
            <a:ext cx="10325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Courier New"/>
                <a:ea typeface="Courier New"/>
                <a:cs typeface="Courier New"/>
              </a:defRPr>
            </a:defPPr>
          </a:lstStyle>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44 43</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[0, 1, 4, 2, 3, 5, 0]</a:t>
            </a:r>
          </a:p>
        </p:txBody>
      </p:sp>
      <p:sp>
        <p:nvSpPr>
          <p:cNvPr id="9" name="">
            <a:extLst xmlns:a="http://schemas.openxmlformats.org/drawingml/2006/main">
              <a:ext uri="{FF2B5EF4-FFF2-40B4-BE49-F238E27FC236}">
                <a16:creationId xmlns:a16="http://schemas.microsoft.com/office/drawing/2014/main" id="{DA2D299B-8330-4B54-B06A-81D74D0D4801}"/>
              </a:ext>
            </a:extLst>
          </p:cNvPr>
          <p:cNvSpPr>
            <a:spLocks xmlns:a="http://schemas.openxmlformats.org/drawingml/2006/main" noGrp="1"/>
          </p:cNvSpPr>
          <p:nvPr/>
        </p:nvSpPr>
        <p:spPr>
          <a:xfrm xmlns:a="http://schemas.openxmlformats.org/drawingml/2006/main">
            <a:off x="933450" y="158115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def route_cost(route):</a:t>
            </a:r>
          </a:p>
        </p:txBody>
      </p:sp>
      <p:sp>
        <p:nvSpPr>
          <p:cNvPr id="10" name="">
            <a:extLst xmlns:a="http://schemas.openxmlformats.org/drawingml/2006/main">
              <a:ext uri="{FF2B5EF4-FFF2-40B4-BE49-F238E27FC236}">
                <a16:creationId xmlns:a16="http://schemas.microsoft.com/office/drawing/2014/main" id="{AD2BAF6D-4C38-4FCF-AAE8-917F11989370}"/>
              </a:ext>
            </a:extLst>
          </p:cNvPr>
          <p:cNvSpPr>
            <a:spLocks xmlns:a="http://schemas.openxmlformats.org/drawingml/2006/main" noGrp="1"/>
          </p:cNvSpPr>
          <p:nvPr/>
        </p:nvSpPr>
        <p:spPr>
          <a:xfrm xmlns:a="http://schemas.openxmlformats.org/drawingml/2006/main">
            <a:off x="933450" y="185851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return sum(C[i,j] for i,j in zip(route,route[1:]))</a:t>
            </a:r>
          </a:p>
        </p:txBody>
      </p:sp>
      <p:sp>
        <p:nvSpPr>
          <p:cNvPr id="11" name="">
            <a:extLst xmlns:a="http://schemas.openxmlformats.org/drawingml/2006/main">
              <a:ext uri="{FF2B5EF4-FFF2-40B4-BE49-F238E27FC236}">
                <a16:creationId xmlns:a16="http://schemas.microsoft.com/office/drawing/2014/main" id="{507FA59C-5A7D-4222-8F81-84476360F640}"/>
              </a:ext>
            </a:extLst>
          </p:cNvPr>
          <p:cNvSpPr>
            <a:spLocks xmlns:a="http://schemas.openxmlformats.org/drawingml/2006/main" noGrp="1"/>
          </p:cNvSpPr>
          <p:nvPr/>
        </p:nvSpPr>
        <p:spPr>
          <a:xfrm xmlns:a="http://schemas.openxmlformats.org/drawingml/2006/main">
            <a:off x="933450" y="213588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 = [0, 1, 4, 5, 3, 2, 0]       # S-A-D-E-C-B-S</a:t>
            </a:r>
          </a:p>
        </p:txBody>
      </p:sp>
      <p:sp>
        <p:nvSpPr>
          <p:cNvPr id="12" name="">
            <a:extLst xmlns:a="http://schemas.openxmlformats.org/drawingml/2006/main">
              <a:ext uri="{FF2B5EF4-FFF2-40B4-BE49-F238E27FC236}">
                <a16:creationId xmlns:a16="http://schemas.microsoft.com/office/drawing/2014/main" id="{3B435EAF-C1AC-42C6-B78C-FE4B83897F08}"/>
              </a:ext>
            </a:extLst>
          </p:cNvPr>
          <p:cNvSpPr>
            <a:spLocks xmlns:a="http://schemas.openxmlformats.org/drawingml/2006/main" noGrp="1"/>
          </p:cNvSpPr>
          <p:nvPr/>
        </p:nvSpPr>
        <p:spPr>
          <a:xfrm xmlns:a="http://schemas.openxmlformats.org/drawingml/2006/main">
            <a:off x="933450" y="2413254"/>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q = p[:3] + p[3:6][::-1] + p[6:] # обертаємо E-C-B</a:t>
            </a:r>
          </a:p>
        </p:txBody>
      </p:sp>
      <p:sp>
        <p:nvSpPr>
          <p:cNvPr id="13" name="">
            <a:extLst xmlns:a="http://schemas.openxmlformats.org/drawingml/2006/main">
              <a:ext uri="{FF2B5EF4-FFF2-40B4-BE49-F238E27FC236}">
                <a16:creationId xmlns:a16="http://schemas.microsoft.com/office/drawing/2014/main" id="{C7B5BEF6-F7C3-47DC-B791-931BFB60FB0F}"/>
              </a:ext>
            </a:extLst>
          </p:cNvPr>
          <p:cNvSpPr>
            <a:spLocks xmlns:a="http://schemas.openxmlformats.org/drawingml/2006/main" noGrp="1"/>
          </p:cNvSpPr>
          <p:nvPr/>
        </p:nvSpPr>
        <p:spPr>
          <a:xfrm xmlns:a="http://schemas.openxmlformats.org/drawingml/2006/main">
            <a:off x="933450" y="2690622"/>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sorted(q[:-1]) == list(range(n))</a:t>
            </a:r>
          </a:p>
        </p:txBody>
      </p:sp>
      <p:sp>
        <p:nvSpPr>
          <p:cNvPr id="14" name="">
            <a:extLst xmlns:a="http://schemas.openxmlformats.org/drawingml/2006/main">
              <a:ext uri="{FF2B5EF4-FFF2-40B4-BE49-F238E27FC236}">
                <a16:creationId xmlns:a16="http://schemas.microsoft.com/office/drawing/2014/main" id="{C257AD11-312C-405A-B5F9-33DC36C1EE29}"/>
              </a:ext>
            </a:extLst>
          </p:cNvPr>
          <p:cNvSpPr>
            <a:spLocks xmlns:a="http://schemas.openxmlformats.org/drawingml/2006/main" noGrp="1"/>
          </p:cNvSpPr>
          <p:nvPr/>
        </p:nvSpPr>
        <p:spPr>
          <a:xfrm xmlns:a="http://schemas.openxmlformats.org/drawingml/2006/main">
            <a:off x="933450" y="296799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print(route_cost(p), route_cost(q))</a:t>
            </a:r>
          </a:p>
        </p:txBody>
      </p:sp>
      <p:sp>
        <p:nvSpPr>
          <p:cNvPr id="15" name="">
            <a:extLst xmlns:a="http://schemas.openxmlformats.org/drawingml/2006/main">
              <a:ext uri="{FF2B5EF4-FFF2-40B4-BE49-F238E27FC236}">
                <a16:creationId xmlns:a16="http://schemas.microsoft.com/office/drawing/2014/main" id="{0B670375-7E87-45BB-A582-ACFEB699580B}"/>
              </a:ext>
            </a:extLst>
          </p:cNvPr>
          <p:cNvSpPr>
            <a:spLocks xmlns:a="http://schemas.openxmlformats.org/drawingml/2006/main" noGrp="1"/>
          </p:cNvSpPr>
          <p:nvPr/>
        </p:nvSpPr>
        <p:spPr>
          <a:xfrm xmlns:a="http://schemas.openxmlformats.org/drawingml/2006/main">
            <a:off x="933450" y="324535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print(q)</a:t>
            </a:r>
          </a:p>
        </p:txBody>
      </p:sp>
    </p:spTree>
    <p:extLst>
      <p:ext uri="{BB962C8B-B14F-4D97-AF65-F5344CB8AC3E}">
        <p14:creationId xmlns:p14="http://schemas.microsoft.com/office/powerpoint/2010/main" val="127777220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D7AE1F-6BA1-482C-A617-B9C0F9BD69FA}"/>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Чи можна використати механізми ЛП?</a:t>
            </a:r>
          </a:p>
        </p:txBody>
      </p:sp>
      <p:sp>
        <p:nvSpPr>
          <p:cNvPr id="2" name="">
            <a:extLst xmlns:a="http://schemas.openxmlformats.org/drawingml/2006/main">
              <a:ext uri="{FF2B5EF4-FFF2-40B4-BE49-F238E27FC236}">
                <a16:creationId xmlns:a16="http://schemas.microsoft.com/office/drawing/2014/main" id="{7D90AE8D-E080-4413-9371-2BB4BCEA266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LP дає нижню оцінку min-задачі. Цілочисельність потрібна окремо.</a:t>
            </a:r>
          </a:p>
        </p:txBody>
      </p:sp>
      <p:sp>
        <p:nvSpPr>
          <p:cNvPr id="3" name="">
            <a:extLst xmlns:a="http://schemas.openxmlformats.org/drawingml/2006/main">
              <a:ext uri="{FF2B5EF4-FFF2-40B4-BE49-F238E27FC236}">
                <a16:creationId xmlns:a16="http://schemas.microsoft.com/office/drawing/2014/main" id="{D9187E2E-2B2C-4AB8-9352-F83D6D455E4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87</a:t>
            </a:r>
          </a:p>
        </p:txBody>
      </p:sp>
      <p:graphicFrame>
        <p:nvGraphicFramePr>
          <p:cNvPr id="4" name="">
            <a:extLst xmlns:a="http://schemas.openxmlformats.org/drawingml/2006/main">
              <a:ext uri="{FF2B5EF4-FFF2-40B4-BE49-F238E27FC236}">
                <a16:creationId xmlns:a16="http://schemas.microsoft.com/office/drawing/2014/main" id="{646C2F25-3382-4119-AC0D-7D685A92A029}"/>
              </a:ext>
            </a:extLst>
          </p:cNvPr>
          <p:cNvGraphicFramePr/>
          <p:nvPr/>
        </p:nvGraphicFramePr>
        <p:xfrm>
          <a:off xmlns:a="http://schemas.openxmlformats.org/drawingml/2006/main" x="762000" y="1581150"/>
          <a:ext xmlns:a="http://schemas.openxmlformats.org/drawingml/2006/main" cx="10668000" cy="3086100"/>
        </p:xfrm>
        <a:graphic xmlns:a="http://schemas.openxmlformats.org/drawingml/2006/main">
          <a:graphicData uri="http://schemas.openxmlformats.org/drawingml/2006/table">
            <a:tbl>
              <a:tblPr/>
              <a:tblGrid>
                <a:gridCol w="3571875"/>
                <a:gridCol w="3429000"/>
                <a:gridCol w="3667125"/>
              </a:tblGrid>
              <a:tr h="771525">
                <a:tc>
                  <a:txBody>
                    <a:bodyPr/>
                    <a:lstStyle/>
                    <a:p>
                      <a:r>
                        <a:rPr sz="2175" b="1">
                          <a:solidFill>
                            <a:srgbClr val="FFFFFF"/>
                          </a:solidFill>
                          <a:latin typeface="Arial"/>
                          <a:ea typeface="Arial"/>
                          <a:cs typeface="Arial"/>
                        </a:rPr>
                        <a:t>Модель</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Результат тут</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Висновок</a:t>
                      </a:r>
                    </a:p>
                  </a:txBody>
                  <a:tcPr marL="114300" marR="114300" marT="66675" marB="66675" anchor="ctr">
                    <a:solidFill>
                      <a:srgbClr val="173047"/>
                    </a:solidFill>
                  </a:tcPr>
                </a:tc>
              </a:tr>
              <a:tr h="771525">
                <a:tc>
                  <a:txBody>
                    <a:bodyPr/>
                    <a:lstStyle/>
                    <a:p>
                      <a:r>
                        <a:rPr sz="2175">
                          <a:solidFill>
                            <a:srgbClr val="173047"/>
                          </a:solidFill>
                          <a:latin typeface="Arial"/>
                          <a:ea typeface="Arial"/>
                          <a:cs typeface="Arial"/>
                        </a:rPr>
                        <a:t>Лише входи й виходи</a:t>
                      </a:r>
                    </a:p>
                  </a:txBody>
                  <a:tcPr marL="114300" marR="114300" marT="66675" marB="66675" anchor="ctr">
                    <a:solidFill>
                      <a:srgbClr val="FFFFFF"/>
                    </a:solidFill>
                  </a:tcPr>
                </a:tc>
                <a:tc>
                  <a:txBody>
                    <a:bodyPr/>
                    <a:lstStyle/>
                    <a:p>
                      <a:r>
                        <a:rPr sz="2175">
                          <a:solidFill>
                            <a:srgbClr val="173047"/>
                          </a:solidFill>
                          <a:latin typeface="Arial"/>
                          <a:ea typeface="Arial"/>
                          <a:cs typeface="Arial"/>
                        </a:rPr>
                        <a:t>C=12, три цикли</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Зв’язність не забезпечено</a:t>
                      </a:r>
                    </a:p>
                  </a:txBody>
                  <a:tcPr marL="114300" marR="114300" marT="66675" marB="66675" anchor="ctr">
                    <a:solidFill>
                      <a:srgbClr val="FFFFFF"/>
                    </a:solidFill>
                  </a:tcPr>
                </a:tc>
              </a:tr>
              <a:tr h="771525">
                <a:tc>
                  <a:txBody>
                    <a:bodyPr/>
                    <a:lstStyle/>
                    <a:p>
                      <a:r>
                        <a:rPr sz="2175">
                          <a:solidFill>
                            <a:srgbClr val="173047"/>
                          </a:solidFill>
                          <a:latin typeface="Arial"/>
                          <a:ea typeface="Arial"/>
                          <a:cs typeface="Arial"/>
                        </a:rPr>
                        <a:t>LP: умови підциклів</a:t>
                      </a:r>
                    </a:p>
                  </a:txBody>
                  <a:tcPr marL="114300" marR="114300" marT="66675" marB="66675" anchor="ctr">
                    <a:solidFill>
                      <a:srgbClr val="F1F5F8"/>
                    </a:solidFill>
                  </a:tcPr>
                </a:tc>
                <a:tc>
                  <a:txBody>
                    <a:bodyPr/>
                    <a:lstStyle/>
                    <a:p>
                      <a:r>
                        <a:rPr sz="2175">
                          <a:solidFill>
                            <a:srgbClr val="173047"/>
                          </a:solidFill>
                          <a:latin typeface="Arial"/>
                          <a:ea typeface="Arial"/>
                          <a:cs typeface="Arial"/>
                        </a:rPr>
                        <a:t>C=36</a:t>
                      </a:r>
                    </a:p>
                  </a:txBody>
                  <a:tcPr marL="114300" marR="114300" marT="66675" marB="66675" anchor="ctr">
                    <a:solidFill>
                      <a:srgbClr val="F1F5F8"/>
                    </a:solidFill>
                  </a:tcPr>
                </a:tc>
                <a:tc>
                  <a:txBody>
                    <a:bodyPr/>
                    <a:lstStyle/>
                    <a:p>
                      <a:r>
                        <a:rPr sz="2175">
                          <a:solidFill>
                            <a:srgbClr val="173047"/>
                          </a:solidFill>
                          <a:latin typeface="Arial"/>
                          <a:ea typeface="Arial"/>
                          <a:cs typeface="Arial"/>
                        </a:rPr>
                        <a:t>Точна оцінка в цьому прикладі</a:t>
                      </a:r>
                    </a:p>
                  </a:txBody>
                  <a:tcPr marL="114300" marR="114300" marT="66675" marB="66675" anchor="ctr">
                    <a:solidFill>
                      <a:srgbClr val="F1F5F8"/>
                    </a:solidFill>
                  </a:tcPr>
                </a:tc>
              </a:tr>
              <a:tr h="771525">
                <a:tc>
                  <a:txBody>
                    <a:bodyPr/>
                    <a:lstStyle/>
                    <a:p>
                      <a:r>
                        <a:rPr sz="2175">
                          <a:solidFill>
                            <a:srgbClr val="173047"/>
                          </a:solidFill>
                          <a:latin typeface="Arial"/>
                          <a:ea typeface="Arial"/>
                          <a:cs typeface="Arial"/>
                        </a:rPr>
                        <a:t>MILP: умови підциклів</a:t>
                      </a:r>
                    </a:p>
                  </a:txBody>
                  <a:tcPr marL="114300" marR="114300" marT="66675" marB="66675" anchor="ctr">
                    <a:solidFill>
                      <a:srgbClr val="FFFFFF"/>
                    </a:solidFill>
                  </a:tcPr>
                </a:tc>
                <a:tc>
                  <a:txBody>
                    <a:bodyPr/>
                    <a:lstStyle/>
                    <a:p>
                      <a:r>
                        <a:rPr sz="2175">
                          <a:solidFill>
                            <a:srgbClr val="173047"/>
                          </a:solidFill>
                          <a:latin typeface="Arial"/>
                          <a:ea typeface="Arial"/>
                          <a:cs typeface="Arial"/>
                        </a:rPr>
                        <a:t>C=36, один цикл</a:t>
                      </a:r>
                    </a:p>
                  </a:txBody>
                  <a:tcPr marL="114300" marR="114300" marT="66675" marB="66675" anchor="ctr">
                    <a:solidFill>
                      <a:srgbClr val="FFFFFF"/>
                    </a:solidFill>
                  </a:tcPr>
                </a:tc>
                <a:tc>
                  <a:txBody>
                    <a:bodyPr/>
                    <a:lstStyle/>
                    <a:p>
                      <a:r>
                        <a:rPr sz="2175">
                          <a:solidFill>
                            <a:srgbClr val="173047"/>
                          </a:solidFill>
                          <a:latin typeface="Arial"/>
                          <a:ea typeface="Arial"/>
                          <a:cs typeface="Arial"/>
                        </a:rPr>
                        <a:t>Точний дискретний маршрут</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B67C4F9-6F0C-4CC0-BBC4-8F3579C41117}"/>
              </a:ext>
            </a:extLst>
          </p:cNvPr>
          <p:cNvSpPr>
            <a:spLocks xmlns:a="http://schemas.openxmlformats.org/drawingml/2006/main" noGrp="1"/>
          </p:cNvSpPr>
          <p:nvPr/>
        </p:nvSpPr>
        <p:spPr>
          <a:xfrm xmlns:a="http://schemas.openxmlformats.org/drawingml/2006/main">
            <a:off x="762000" y="51435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566779"/>
                </a:solidFill>
                <a:latin typeface="Arial"/>
                <a:ea typeface="Arial"/>
                <a:cs typeface="Arial"/>
              </a:defRPr>
            </a:defPPr>
          </a:lstStyle>
          <a:p xmlns:a="http://schemas.openxmlformats.org/drawingml/2006/main">
            <a:pPr algn="l">
              <a:buNone/>
              <a:defRPr sz="2325" b="0">
                <a:solidFill>
                  <a:srgbClr val="566779"/>
                </a:solidFill>
                <a:latin typeface="Arial"/>
                <a:ea typeface="Arial"/>
                <a:cs typeface="Arial"/>
              </a:defRPr>
            </a:pPr>
            <a:r>
              <a:rPr sz="2325" b="0">
                <a:solidFill>
                  <a:srgbClr val="566779"/>
                </a:solidFill>
                <a:latin typeface="Arial"/>
                <a:ea typeface="Arial"/>
                <a:cs typeface="Arial"/>
              </a:rPr>
              <a:t>Збіг LP та MILP у цьому прикладі</a:t>
            </a:r>
          </a:p>
          <a:p xmlns:a="http://schemas.openxmlformats.org/drawingml/2006/main">
            <a:pPr algn="l">
              <a:buNone/>
              <a:defRPr sz="2325" b="0">
                <a:solidFill>
                  <a:srgbClr val="566779"/>
                </a:solidFill>
                <a:latin typeface="Arial"/>
                <a:ea typeface="Arial"/>
                <a:cs typeface="Arial"/>
              </a:defRPr>
            </a:pPr>
            <a:r>
              <a:rPr sz="2325" b="0">
                <a:solidFill>
                  <a:srgbClr val="566779"/>
                </a:solidFill>
                <a:latin typeface="Arial"/>
                <a:ea typeface="Arial"/>
                <a:cs typeface="Arial"/>
              </a:rPr>
              <a:t>не гарантує такого збігу для будь-якого TSP.</a:t>
            </a:r>
          </a:p>
        </p:txBody>
      </p:sp>
    </p:spTree>
    <p:extLst>
      <p:ext uri="{BB962C8B-B14F-4D97-AF65-F5344CB8AC3E}">
        <p14:creationId xmlns:p14="http://schemas.microsoft.com/office/powerpoint/2010/main" val="364938851"/>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53D995-4831-4B17-87EF-055D57E325EA}"/>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linprog для неперервної релаксації TSP</a:t>
            </a:r>
          </a:p>
        </p:txBody>
      </p:sp>
      <p:sp>
        <p:nvSpPr>
          <p:cNvPr id="2" name="">
            <a:extLst xmlns:a="http://schemas.openxmlformats.org/drawingml/2006/main">
              <a:ext uri="{FF2B5EF4-FFF2-40B4-BE49-F238E27FC236}">
                <a16:creationId xmlns:a16="http://schemas.microsoft.com/office/drawing/2014/main" id="{4EE13350-7C80-4DEE-AFC1-09C4018D2E4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У цьому запуску LP-план цілий. Загалом він може бути дробовим.</a:t>
            </a:r>
          </a:p>
        </p:txBody>
      </p:sp>
      <p:sp>
        <p:nvSpPr>
          <p:cNvPr id="3" name="">
            <a:extLst xmlns:a="http://schemas.openxmlformats.org/drawingml/2006/main">
              <a:ext uri="{FF2B5EF4-FFF2-40B4-BE49-F238E27FC236}">
                <a16:creationId xmlns:a16="http://schemas.microsoft.com/office/drawing/2014/main" id="{DEDFF131-D7C1-41DD-8B8F-8869AFB26E3B}"/>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88</a:t>
            </a:r>
          </a:p>
        </p:txBody>
      </p:sp>
      <p:sp>
        <p:nvSpPr>
          <p:cNvPr id="4" name="">
            <a:extLst xmlns:a="http://schemas.openxmlformats.org/drawingml/2006/main">
              <a:ext uri="{FF2B5EF4-FFF2-40B4-BE49-F238E27FC236}">
                <a16:creationId xmlns:a16="http://schemas.microsoft.com/office/drawing/2014/main" id="{98C09875-D3AD-49A3-AF3B-48BA9EFCB469}"/>
              </a:ext>
            </a:extLst>
          </p:cNvPr>
          <p:cNvSpPr>
            <a:spLocks xmlns:a="http://schemas.openxmlformats.org/drawingml/2006/main" noGrp="1"/>
          </p:cNvSpPr>
          <p:nvPr/>
        </p:nvSpPr>
        <p:spPr>
          <a:xfrm xmlns:a="http://schemas.openxmlformats.org/drawingml/2006/main">
            <a:off x="762000" y="1504950"/>
            <a:ext cx="10668000" cy="2724912"/>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FA531F-7D1F-407D-8FD5-255812D27CAF}"/>
              </a:ext>
            </a:extLst>
          </p:cNvPr>
          <p:cNvSpPr>
            <a:spLocks xmlns:a="http://schemas.openxmlformats.org/drawingml/2006/main" noGrp="1"/>
          </p:cNvSpPr>
          <p:nvPr/>
        </p:nvSpPr>
        <p:spPr>
          <a:xfrm xmlns:a="http://schemas.openxmlformats.org/drawingml/2006/main">
            <a:off x="933450" y="1581150"/>
            <a:ext cx="10325100" cy="2572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BAB4C70D-3935-48D5-8E1B-9000C301FED1}"/>
              </a:ext>
            </a:extLst>
          </p:cNvPr>
          <p:cNvSpPr>
            <a:spLocks xmlns:a="http://schemas.openxmlformats.org/drawingml/2006/main" noGrp="1"/>
          </p:cNvSpPr>
          <p:nvPr/>
        </p:nvSpPr>
        <p:spPr>
          <a:xfrm xmlns:a="http://schemas.openxmlformats.org/drawingml/2006/main">
            <a:off x="762000" y="4477512"/>
            <a:ext cx="10668000" cy="97155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63A802-7414-428E-B651-B19965BDBA28}"/>
              </a:ext>
            </a:extLst>
          </p:cNvPr>
          <p:cNvSpPr>
            <a:spLocks xmlns:a="http://schemas.openxmlformats.org/drawingml/2006/main" noGrp="1"/>
          </p:cNvSpPr>
          <p:nvPr/>
        </p:nvSpPr>
        <p:spPr>
          <a:xfrm xmlns:a="http://schemas.openxmlformats.org/drawingml/2006/main">
            <a:off x="933450" y="4534662"/>
            <a:ext cx="10325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Courier New"/>
                <a:ea typeface="Courier New"/>
                <a:cs typeface="Courier New"/>
              </a:defRPr>
            </a:defPPr>
          </a:lstStyle>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LP: 36.0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MILP: 36.0</a:t>
            </a:r>
          </a:p>
        </p:txBody>
      </p:sp>
      <p:sp>
        <p:nvSpPr>
          <p:cNvPr id="9" name="">
            <a:extLst xmlns:a="http://schemas.openxmlformats.org/drawingml/2006/main">
              <a:ext uri="{FF2B5EF4-FFF2-40B4-BE49-F238E27FC236}">
                <a16:creationId xmlns:a16="http://schemas.microsoft.com/office/drawing/2014/main" id="{A010BF04-DD28-4582-B228-48020C639F68}"/>
              </a:ext>
            </a:extLst>
          </p:cNvPr>
          <p:cNvSpPr>
            <a:spLocks xmlns:a="http://schemas.openxmlformats.org/drawingml/2006/main" noGrp="1"/>
          </p:cNvSpPr>
          <p:nvPr/>
        </p:nvSpPr>
        <p:spPr>
          <a:xfrm xmlns:a="http://schemas.openxmlformats.org/drawingml/2006/main">
            <a:off x="933450" y="158115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scipy.optimize import linprog</a:t>
            </a:r>
          </a:p>
        </p:txBody>
      </p:sp>
      <p:sp>
        <p:nvSpPr>
          <p:cNvPr id="10" name="">
            <a:extLst xmlns:a="http://schemas.openxmlformats.org/drawingml/2006/main">
              <a:ext uri="{FF2B5EF4-FFF2-40B4-BE49-F238E27FC236}">
                <a16:creationId xmlns:a16="http://schemas.microsoft.com/office/drawing/2014/main" id="{49946342-BBD8-42CB-897D-21BABAECB031}"/>
              </a:ext>
            </a:extLst>
          </p:cNvPr>
          <p:cNvSpPr>
            <a:spLocks xmlns:a="http://schemas.openxmlformats.org/drawingml/2006/main" noGrp="1"/>
          </p:cNvSpPr>
          <p:nvPr/>
        </p:nvSpPr>
        <p:spPr>
          <a:xfrm xmlns:a="http://schemas.openxmlformats.org/drawingml/2006/main">
            <a:off x="933450" y="185851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66779"/>
                </a:solidFill>
                <a:latin typeface="Courier New"/>
                <a:ea typeface="Courier New"/>
                <a:cs typeface="Courier New"/>
              </a:defRPr>
            </a:defPPr>
          </a:lstStyle>
          <a:p xmlns:a="http://schemas.openxmlformats.org/drawingml/2006/main">
            <a:pPr algn="l">
              <a:buNone/>
              <a:defRPr sz="1950" b="0">
                <a:solidFill>
                  <a:srgbClr val="566779"/>
                </a:solidFill>
                <a:latin typeface="Courier New"/>
                <a:ea typeface="Courier New"/>
                <a:cs typeface="Courier New"/>
              </a:defRPr>
            </a:pPr>
            <a:r>
              <a:rPr sz="1950" b="0">
                <a:solidFill>
                  <a:srgbClr val="566779"/>
                </a:solidFill>
                <a:latin typeface="Courier New"/>
                <a:ea typeface="Courier New"/>
                <a:cs typeface="Courier New"/>
              </a:rPr>
              <a:t># A, hi та r залишилися після циклу з відсіченнями</a:t>
            </a:r>
          </a:p>
        </p:txBody>
      </p:sp>
      <p:sp>
        <p:nvSpPr>
          <p:cNvPr id="11" name="">
            <a:extLst xmlns:a="http://schemas.openxmlformats.org/drawingml/2006/main">
              <a:ext uri="{FF2B5EF4-FFF2-40B4-BE49-F238E27FC236}">
                <a16:creationId xmlns:a16="http://schemas.microsoft.com/office/drawing/2014/main" id="{D85BBE68-F11F-4CC7-9F32-BFDF9ACB09D3}"/>
              </a:ext>
            </a:extLst>
          </p:cNvPr>
          <p:cNvSpPr>
            <a:spLocks xmlns:a="http://schemas.openxmlformats.org/drawingml/2006/main" noGrp="1"/>
          </p:cNvSpPr>
          <p:nvPr/>
        </p:nvSpPr>
        <p:spPr>
          <a:xfrm xmlns:a="http://schemas.openxmlformats.org/drawingml/2006/main">
            <a:off x="933450" y="213588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r_lp = linprog(c,</a:t>
            </a:r>
          </a:p>
        </p:txBody>
      </p:sp>
      <p:sp>
        <p:nvSpPr>
          <p:cNvPr id="12" name="">
            <a:extLst xmlns:a="http://schemas.openxmlformats.org/drawingml/2006/main">
              <a:ext uri="{FF2B5EF4-FFF2-40B4-BE49-F238E27FC236}">
                <a16:creationId xmlns:a16="http://schemas.microsoft.com/office/drawing/2014/main" id="{268DF496-BA92-4DE0-8EDE-D85F17D6AC27}"/>
              </a:ext>
            </a:extLst>
          </p:cNvPr>
          <p:cNvSpPr>
            <a:spLocks xmlns:a="http://schemas.openxmlformats.org/drawingml/2006/main" noGrp="1"/>
          </p:cNvSpPr>
          <p:nvPr/>
        </p:nvSpPr>
        <p:spPr>
          <a:xfrm xmlns:a="http://schemas.openxmlformats.org/drawingml/2006/main">
            <a:off x="933450" y="2413254"/>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A_eq=A[:2*n], b_eq=np.ones(2*n),</a:t>
            </a:r>
          </a:p>
        </p:txBody>
      </p:sp>
      <p:sp>
        <p:nvSpPr>
          <p:cNvPr id="13" name="">
            <a:extLst xmlns:a="http://schemas.openxmlformats.org/drawingml/2006/main">
              <a:ext uri="{FF2B5EF4-FFF2-40B4-BE49-F238E27FC236}">
                <a16:creationId xmlns:a16="http://schemas.microsoft.com/office/drawing/2014/main" id="{0F50B264-EFF0-487F-95C3-FACF3481E19E}"/>
              </a:ext>
            </a:extLst>
          </p:cNvPr>
          <p:cNvSpPr>
            <a:spLocks xmlns:a="http://schemas.openxmlformats.org/drawingml/2006/main" noGrp="1"/>
          </p:cNvSpPr>
          <p:nvPr/>
        </p:nvSpPr>
        <p:spPr>
          <a:xfrm xmlns:a="http://schemas.openxmlformats.org/drawingml/2006/main">
            <a:off x="933450" y="2690622"/>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A_ub=A[2*n:], b_ub=hi[2*n:],</a:t>
            </a:r>
          </a:p>
        </p:txBody>
      </p:sp>
      <p:sp>
        <p:nvSpPr>
          <p:cNvPr id="14" name="">
            <a:extLst xmlns:a="http://schemas.openxmlformats.org/drawingml/2006/main">
              <a:ext uri="{FF2B5EF4-FFF2-40B4-BE49-F238E27FC236}">
                <a16:creationId xmlns:a16="http://schemas.microsoft.com/office/drawing/2014/main" id="{D8695D94-46BE-424C-BB33-AA67EC25F1DA}"/>
              </a:ext>
            </a:extLst>
          </p:cNvPr>
          <p:cNvSpPr>
            <a:spLocks xmlns:a="http://schemas.openxmlformats.org/drawingml/2006/main" noGrp="1"/>
          </p:cNvSpPr>
          <p:nvPr/>
        </p:nvSpPr>
        <p:spPr>
          <a:xfrm xmlns:a="http://schemas.openxmlformats.org/drawingml/2006/main">
            <a:off x="933450" y="296799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bounds=(0, 1), method="highs")</a:t>
            </a:r>
          </a:p>
        </p:txBody>
      </p:sp>
      <p:sp>
        <p:nvSpPr>
          <p:cNvPr id="15" name="">
            <a:extLst xmlns:a="http://schemas.openxmlformats.org/drawingml/2006/main">
              <a:ext uri="{FF2B5EF4-FFF2-40B4-BE49-F238E27FC236}">
                <a16:creationId xmlns:a16="http://schemas.microsoft.com/office/drawing/2014/main" id="{C9C8567E-65F5-496F-97FB-EA5825BD1B3A}"/>
              </a:ext>
            </a:extLst>
          </p:cNvPr>
          <p:cNvSpPr>
            <a:spLocks xmlns:a="http://schemas.openxmlformats.org/drawingml/2006/main" noGrp="1"/>
          </p:cNvSpPr>
          <p:nvPr/>
        </p:nvSpPr>
        <p:spPr>
          <a:xfrm xmlns:a="http://schemas.openxmlformats.org/drawingml/2006/main">
            <a:off x="933450" y="324535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r_lp.success, r_lp.message</a:t>
            </a:r>
          </a:p>
        </p:txBody>
      </p:sp>
      <p:sp>
        <p:nvSpPr>
          <p:cNvPr id="16" name="">
            <a:extLst xmlns:a="http://schemas.openxmlformats.org/drawingml/2006/main">
              <a:ext uri="{FF2B5EF4-FFF2-40B4-BE49-F238E27FC236}">
                <a16:creationId xmlns:a16="http://schemas.microsoft.com/office/drawing/2014/main" id="{8B174B50-2CD6-4208-9DEE-4DBAA31175FD}"/>
              </a:ext>
            </a:extLst>
          </p:cNvPr>
          <p:cNvSpPr>
            <a:spLocks xmlns:a="http://schemas.openxmlformats.org/drawingml/2006/main" noGrp="1"/>
          </p:cNvSpPr>
          <p:nvPr/>
        </p:nvSpPr>
        <p:spPr>
          <a:xfrm xmlns:a="http://schemas.openxmlformats.org/drawingml/2006/main">
            <a:off x="933450" y="352272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print("LP:", r_lp.fun)</a:t>
            </a:r>
          </a:p>
        </p:txBody>
      </p:sp>
      <p:sp>
        <p:nvSpPr>
          <p:cNvPr id="17" name="">
            <a:extLst xmlns:a="http://schemas.openxmlformats.org/drawingml/2006/main">
              <a:ext uri="{FF2B5EF4-FFF2-40B4-BE49-F238E27FC236}">
                <a16:creationId xmlns:a16="http://schemas.microsoft.com/office/drawing/2014/main" id="{9E19FB49-9C12-4F35-A697-D30B28FD3D12}"/>
              </a:ext>
            </a:extLst>
          </p:cNvPr>
          <p:cNvSpPr>
            <a:spLocks xmlns:a="http://schemas.openxmlformats.org/drawingml/2006/main" noGrp="1"/>
          </p:cNvSpPr>
          <p:nvPr/>
        </p:nvSpPr>
        <p:spPr>
          <a:xfrm xmlns:a="http://schemas.openxmlformats.org/drawingml/2006/main">
            <a:off x="933450" y="3800094"/>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print("MILP:", r.fun)</a:t>
            </a:r>
          </a:p>
        </p:txBody>
      </p:sp>
    </p:spTree>
    <p:extLst>
      <p:ext uri="{BB962C8B-B14F-4D97-AF65-F5344CB8AC3E}">
        <p14:creationId xmlns:p14="http://schemas.microsoft.com/office/powerpoint/2010/main" val="288578961"/>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0BC2FD-4314-42E7-AF44-C0AE2029950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SciPy: повна функція milp</a:t>
            </a:r>
          </a:p>
        </p:txBody>
      </p:sp>
      <p:sp>
        <p:nvSpPr>
          <p:cNvPr id="2" name="">
            <a:extLst xmlns:a="http://schemas.openxmlformats.org/drawingml/2006/main">
              <a:ext uri="{FF2B5EF4-FFF2-40B4-BE49-F238E27FC236}">
                <a16:creationId xmlns:a16="http://schemas.microsoft.com/office/drawing/2014/main" id="{63CFF914-73C4-4C2D-BB66-16E7E9BF9B2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Без integrality усі змінні за замовчуванням неперервні.</a:t>
            </a:r>
          </a:p>
        </p:txBody>
      </p:sp>
      <p:sp>
        <p:nvSpPr>
          <p:cNvPr id="3" name="">
            <a:extLst xmlns:a="http://schemas.openxmlformats.org/drawingml/2006/main">
              <a:ext uri="{FF2B5EF4-FFF2-40B4-BE49-F238E27FC236}">
                <a16:creationId xmlns:a16="http://schemas.microsoft.com/office/drawing/2014/main" id="{6439FF5D-C3A3-4D6E-AB87-F1E1D86F7E71}"/>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89</a:t>
            </a:r>
          </a:p>
        </p:txBody>
      </p:sp>
      <p:sp>
        <p:nvSpPr>
          <p:cNvPr id="4" name="">
            <a:extLst xmlns:a="http://schemas.openxmlformats.org/drawingml/2006/main">
              <a:ext uri="{FF2B5EF4-FFF2-40B4-BE49-F238E27FC236}">
                <a16:creationId xmlns:a16="http://schemas.microsoft.com/office/drawing/2014/main" id="{59442DEB-F716-4CBE-9941-8A4AFA21F730}"/>
              </a:ext>
            </a:extLst>
          </p:cNvPr>
          <p:cNvSpPr>
            <a:spLocks xmlns:a="http://schemas.openxmlformats.org/drawingml/2006/main" noGrp="1"/>
          </p:cNvSpPr>
          <p:nvPr/>
        </p:nvSpPr>
        <p:spPr>
          <a:xfrm xmlns:a="http://schemas.openxmlformats.org/drawingml/2006/main">
            <a:off x="762000" y="1457325"/>
            <a:ext cx="10668000" cy="8473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AFC216-E217-4A62-8B71-E3A8C3397379}"/>
              </a:ext>
            </a:extLst>
          </p:cNvPr>
          <p:cNvSpPr>
            <a:spLocks xmlns:a="http://schemas.openxmlformats.org/drawingml/2006/main" noGrp="1"/>
          </p:cNvSpPr>
          <p:nvPr/>
        </p:nvSpPr>
        <p:spPr>
          <a:xfrm xmlns:a="http://schemas.openxmlformats.org/drawingml/2006/main">
            <a:off x="933450" y="1533525"/>
            <a:ext cx="10325100" cy="6949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73047"/>
                </a:solidFill>
                <a:latin typeface="Courier New"/>
                <a:ea typeface="Courier New"/>
                <a:cs typeface="Courier New"/>
              </a:defRPr>
            </a:defPPr>
          </a:lstStyle>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
            </a:r>
          </a:p>
        </p:txBody>
      </p:sp>
      <p:graphicFrame>
        <p:nvGraphicFramePr>
          <p:cNvPr id="6" name="">
            <a:extLst xmlns:a="http://schemas.openxmlformats.org/drawingml/2006/main">
              <a:ext uri="{FF2B5EF4-FFF2-40B4-BE49-F238E27FC236}">
                <a16:creationId xmlns:a16="http://schemas.microsoft.com/office/drawing/2014/main" id="{D43C8AA7-B537-472C-AC0B-E2DEEE86B971}"/>
              </a:ext>
            </a:extLst>
          </p:cNvPr>
          <p:cNvGraphicFramePr/>
          <p:nvPr/>
        </p:nvGraphicFramePr>
        <p:xfrm>
          <a:off xmlns:a="http://schemas.openxmlformats.org/drawingml/2006/main" x="762000" y="2638425"/>
          <a:ext xmlns:a="http://schemas.openxmlformats.org/drawingml/2006/main" cx="10668000" cy="2981325"/>
        </p:xfrm>
        <a:graphic xmlns:a="http://schemas.openxmlformats.org/drawingml/2006/main">
          <a:graphicData uri="http://schemas.openxmlformats.org/drawingml/2006/table">
            <a:tbl>
              <a:tblPr/>
              <a:tblGrid>
                <a:gridCol w="3143250"/>
                <a:gridCol w="7524750"/>
              </a:tblGrid>
              <a:tr h="496888">
                <a:tc>
                  <a:txBody>
                    <a:bodyPr/>
                    <a:lstStyle/>
                    <a:p>
                      <a:r>
                        <a:rPr sz="2100" b="1">
                          <a:solidFill>
                            <a:srgbClr val="FFFFFF"/>
                          </a:solidFill>
                          <a:latin typeface="Arial"/>
                          <a:ea typeface="Arial"/>
                          <a:cs typeface="Arial"/>
                        </a:rPr>
                        <a:t>Параметр</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Для чого</a:t>
                      </a:r>
                    </a:p>
                  </a:txBody>
                  <a:tcPr marL="114300" marR="114300" marT="66675" marB="66675" anchor="ctr">
                    <a:solidFill>
                      <a:srgbClr val="173047"/>
                    </a:solidFill>
                  </a:tcPr>
                </a:tc>
              </a:tr>
              <a:tr h="496888">
                <a:tc>
                  <a:txBody>
                    <a:bodyPr/>
                    <a:lstStyle/>
                    <a:p>
                      <a:r>
                        <a:rPr sz="2100">
                          <a:solidFill>
                            <a:srgbClr val="173047"/>
                          </a:solidFill>
                          <a:latin typeface="Arial"/>
                          <a:ea typeface="Arial"/>
                          <a:cs typeface="Arial"/>
                        </a:rPr>
                        <a:t>c</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Вектор коефіцієнтів мінімізованої цілі</a:t>
                      </a:r>
                    </a:p>
                  </a:txBody>
                  <a:tcPr marL="114300" marR="114300" marT="66675" marB="66675" anchor="ctr">
                    <a:solidFill>
                      <a:srgbClr val="FFFFFF"/>
                    </a:solidFill>
                  </a:tcPr>
                </a:tc>
              </a:tr>
              <a:tr h="496888">
                <a:tc>
                  <a:txBody>
                    <a:bodyPr/>
                    <a:lstStyle/>
                    <a:p>
                      <a:r>
                        <a:rPr sz="2100">
                          <a:solidFill>
                            <a:srgbClr val="173047"/>
                          </a:solidFill>
                          <a:latin typeface="Arial"/>
                          <a:ea typeface="Arial"/>
                          <a:cs typeface="Arial"/>
                        </a:rPr>
                        <a:t>integrality</a:t>
                      </a:r>
                    </a:p>
                  </a:txBody>
                  <a:tcPr marL="114300" marR="114300" marT="66675" marB="66675" anchor="ctr">
                    <a:solidFill>
                      <a:srgbClr val="F1F5F8"/>
                    </a:solidFill>
                  </a:tcPr>
                </a:tc>
                <a:tc>
                  <a:txBody>
                    <a:bodyPr/>
                    <a:lstStyle/>
                    <a:p>
                      <a:r>
                        <a:rPr sz="2100">
                          <a:solidFill>
                            <a:srgbClr val="173047"/>
                          </a:solidFill>
                          <a:latin typeface="Arial"/>
                          <a:ea typeface="Arial"/>
                          <a:cs typeface="Arial"/>
                        </a:rPr>
                        <a:t>0: неперервна, 1: ціла змінна</a:t>
                      </a:r>
                    </a:p>
                  </a:txBody>
                  <a:tcPr marL="114300" marR="114300" marT="66675" marB="66675" anchor="ctr">
                    <a:solidFill>
                      <a:srgbClr val="F1F5F8"/>
                    </a:solidFill>
                  </a:tcPr>
                </a:tc>
              </a:tr>
              <a:tr h="496888">
                <a:tc>
                  <a:txBody>
                    <a:bodyPr/>
                    <a:lstStyle/>
                    <a:p>
                      <a:r>
                        <a:rPr sz="2100">
                          <a:solidFill>
                            <a:srgbClr val="173047"/>
                          </a:solidFill>
                          <a:latin typeface="Arial"/>
                          <a:ea typeface="Arial"/>
                          <a:cs typeface="Arial"/>
                        </a:rPr>
                        <a:t>bounds</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Нижні та верхні межі змінних</a:t>
                      </a:r>
                    </a:p>
                  </a:txBody>
                  <a:tcPr marL="114300" marR="114300" marT="66675" marB="66675" anchor="ctr">
                    <a:solidFill>
                      <a:srgbClr val="FFFFFF"/>
                    </a:solidFill>
                  </a:tcPr>
                </a:tc>
              </a:tr>
              <a:tr h="496888">
                <a:tc>
                  <a:txBody>
                    <a:bodyPr/>
                    <a:lstStyle/>
                    <a:p>
                      <a:r>
                        <a:rPr sz="2100">
                          <a:solidFill>
                            <a:srgbClr val="173047"/>
                          </a:solidFill>
                          <a:latin typeface="Arial"/>
                          <a:ea typeface="Arial"/>
                          <a:cs typeface="Arial"/>
                        </a:rPr>
                        <a:t>constraints</a:t>
                      </a:r>
                    </a:p>
                  </a:txBody>
                  <a:tcPr marL="114300" marR="114300" marT="66675" marB="66675" anchor="ctr">
                    <a:solidFill>
                      <a:srgbClr val="F1F5F8"/>
                    </a:solidFill>
                  </a:tcPr>
                </a:tc>
                <a:tc>
                  <a:txBody>
                    <a:bodyPr/>
                    <a:lstStyle/>
                    <a:p>
                      <a:r>
                        <a:rPr sz="2100">
                          <a:solidFill>
                            <a:srgbClr val="173047"/>
                          </a:solidFill>
                          <a:latin typeface="Arial"/>
                          <a:ea typeface="Arial"/>
                          <a:cs typeface="Arial"/>
                        </a:rPr>
                        <a:t>Лінійні рівності й нерівності</a:t>
                      </a:r>
                    </a:p>
                  </a:txBody>
                  <a:tcPr marL="114300" marR="114300" marT="66675" marB="66675" anchor="ctr">
                    <a:solidFill>
                      <a:srgbClr val="F1F5F8"/>
                    </a:solidFill>
                  </a:tcPr>
                </a:tc>
              </a:tr>
              <a:tr h="496888">
                <a:tc>
                  <a:txBody>
                    <a:bodyPr/>
                    <a:lstStyle/>
                    <a:p>
                      <a:r>
                        <a:rPr sz="2100">
                          <a:solidFill>
                            <a:srgbClr val="173047"/>
                          </a:solidFill>
                          <a:latin typeface="Arial"/>
                          <a:ea typeface="Arial"/>
                          <a:cs typeface="Arial"/>
                        </a:rPr>
                        <a:t>options</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Журнал, час, ліміт вузлів, допуск gap</a:t>
                      </a:r>
                    </a:p>
                  </a:txBody>
                  <a:tcPr marL="114300" marR="114300" marT="66675" marB="66675"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027C2F4-5050-48D8-8635-AF775D0242AA}"/>
              </a:ext>
            </a:extLst>
          </p:cNvPr>
          <p:cNvSpPr>
            <a:spLocks xmlns:a="http://schemas.openxmlformats.org/drawingml/2006/main" noGrp="1"/>
          </p:cNvSpPr>
          <p:nvPr/>
        </p:nvSpPr>
        <p:spPr>
          <a:xfrm xmlns:a="http://schemas.openxmlformats.org/drawingml/2006/main">
            <a:off x="933450" y="1533525"/>
            <a:ext cx="103251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73047"/>
                </a:solidFill>
                <a:latin typeface="Courier New"/>
                <a:ea typeface="Courier New"/>
                <a:cs typeface="Courier New"/>
              </a:defRPr>
            </a:defPPr>
          </a:lstStyle>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milp(c, *, integrality=None, bounds=None,</a:t>
            </a:r>
          </a:p>
        </p:txBody>
      </p:sp>
      <p:sp>
        <p:nvSpPr>
          <p:cNvPr id="9" name="">
            <a:extLst xmlns:a="http://schemas.openxmlformats.org/drawingml/2006/main">
              <a:ext uri="{FF2B5EF4-FFF2-40B4-BE49-F238E27FC236}">
                <a16:creationId xmlns:a16="http://schemas.microsoft.com/office/drawing/2014/main" id="{D6090B4E-5E83-4F32-99A4-9F9D434653B5}"/>
              </a:ext>
            </a:extLst>
          </p:cNvPr>
          <p:cNvSpPr>
            <a:spLocks xmlns:a="http://schemas.openxmlformats.org/drawingml/2006/main" noGrp="1"/>
          </p:cNvSpPr>
          <p:nvPr/>
        </p:nvSpPr>
        <p:spPr>
          <a:xfrm xmlns:a="http://schemas.openxmlformats.org/drawingml/2006/main">
            <a:off x="933450" y="1842897"/>
            <a:ext cx="10325100" cy="328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73047"/>
                </a:solidFill>
                <a:latin typeface="Courier New"/>
                <a:ea typeface="Courier New"/>
                <a:cs typeface="Courier New"/>
              </a:defRPr>
            </a:defPPr>
          </a:lstStyle>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     constraints=None, options=None)</a:t>
            </a:r>
          </a:p>
        </p:txBody>
      </p:sp>
    </p:spTree>
    <p:extLst>
      <p:ext uri="{BB962C8B-B14F-4D97-AF65-F5344CB8AC3E}">
        <p14:creationId xmlns:p14="http://schemas.microsoft.com/office/powerpoint/2010/main" val="356868899"/>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7CBE1C-7CC0-4493-A684-FDF3FA69A5BA}"/>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Bounds і LinearConstraint</a:t>
            </a:r>
          </a:p>
        </p:txBody>
      </p:sp>
      <p:sp>
        <p:nvSpPr>
          <p:cNvPr id="2" name="">
            <a:extLst xmlns:a="http://schemas.openxmlformats.org/drawingml/2006/main">
              <a:ext uri="{FF2B5EF4-FFF2-40B4-BE49-F238E27FC236}">
                <a16:creationId xmlns:a16="http://schemas.microsoft.com/office/drawing/2014/main" id="{457C81E5-1B6D-441F-AE20-7EFEB0AA867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Бінарність: інтегральність 1 разом із Bounds(0,1).</a:t>
            </a:r>
          </a:p>
        </p:txBody>
      </p:sp>
      <p:sp>
        <p:nvSpPr>
          <p:cNvPr id="3" name="">
            <a:extLst xmlns:a="http://schemas.openxmlformats.org/drawingml/2006/main">
              <a:ext uri="{FF2B5EF4-FFF2-40B4-BE49-F238E27FC236}">
                <a16:creationId xmlns:a16="http://schemas.microsoft.com/office/drawing/2014/main" id="{8A8ED42B-3DC2-495A-BD1D-B63BEA6EA725}"/>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90</a:t>
            </a:r>
          </a:p>
        </p:txBody>
      </p:sp>
      <p:graphicFrame>
        <p:nvGraphicFramePr>
          <p:cNvPr id="4" name="">
            <a:extLst xmlns:a="http://schemas.openxmlformats.org/drawingml/2006/main">
              <a:ext uri="{FF2B5EF4-FFF2-40B4-BE49-F238E27FC236}">
                <a16:creationId xmlns:a16="http://schemas.microsoft.com/office/drawing/2014/main" id="{15E078FC-CBA0-4576-A5F3-6D1B55E60C40}"/>
              </a:ext>
            </a:extLst>
          </p:cNvPr>
          <p:cNvGraphicFramePr/>
          <p:nvPr/>
        </p:nvGraphicFramePr>
        <p:xfrm>
          <a:off xmlns:a="http://schemas.openxmlformats.org/drawingml/2006/main" x="762000" y="1571625"/>
          <a:ext xmlns:a="http://schemas.openxmlformats.org/drawingml/2006/main" cx="10668000" cy="3952875"/>
        </p:xfrm>
        <a:graphic xmlns:a="http://schemas.openxmlformats.org/drawingml/2006/main">
          <a:graphicData uri="http://schemas.openxmlformats.org/drawingml/2006/table">
            <a:tbl>
              <a:tblPr/>
              <a:tblGrid>
                <a:gridCol w="5619750"/>
                <a:gridCol w="5048250"/>
              </a:tblGrid>
              <a:tr h="790575">
                <a:tc>
                  <a:txBody>
                    <a:bodyPr/>
                    <a:lstStyle/>
                    <a:p>
                      <a:r>
                        <a:rPr sz="2325" b="1">
                          <a:solidFill>
                            <a:srgbClr val="FFFFFF"/>
                          </a:solidFill>
                          <a:latin typeface="Arial"/>
                          <a:ea typeface="Arial"/>
                          <a:cs typeface="Arial"/>
                        </a:rPr>
                        <a:t>Запис Python</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Математичний зміст</a:t>
                      </a:r>
                    </a:p>
                  </a:txBody>
                  <a:tcPr marL="114300" marR="114300" marT="66675" marB="66675" anchor="ctr">
                    <a:solidFill>
                      <a:srgbClr val="173047"/>
                    </a:solidFill>
                  </a:tcPr>
                </a:tc>
              </a:tr>
              <a:tr h="790575">
                <a:tc>
                  <a:txBody>
                    <a:bodyPr/>
                    <a:lstStyle/>
                    <a:p>
                      <a:r>
                        <a:rPr sz="2325">
                          <a:solidFill>
                            <a:srgbClr val="173047"/>
                          </a:solidFill>
                          <a:latin typeface="Arial"/>
                          <a:ea typeface="Arial"/>
                          <a:cs typeface="Arial"/>
                        </a:rPr>
                        <a:t>Bounds(0,1)</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 ≤ кожна змінна ≤ 1</a:t>
                      </a:r>
                    </a:p>
                  </a:txBody>
                  <a:tcPr marL="114300" marR="114300" marT="66675" marB="66675" anchor="ctr">
                    <a:solidFill>
                      <a:srgbClr val="FFFFFF"/>
                    </a:solidFill>
                  </a:tcPr>
                </a:tc>
              </a:tr>
              <a:tr h="790575">
                <a:tc>
                  <a:txBody>
                    <a:bodyPr/>
                    <a:lstStyle/>
                    <a:p>
                      <a:r>
                        <a:rPr sz="2325">
                          <a:solidFill>
                            <a:srgbClr val="173047"/>
                          </a:solidFill>
                          <a:latin typeface="Arial"/>
                          <a:ea typeface="Arial"/>
                          <a:cs typeface="Arial"/>
                        </a:rPr>
                        <a:t>LinearConstraint(A,lo,hi)</a:t>
                      </a:r>
                    </a:p>
                  </a:txBody>
                  <a:tcPr marL="114300" marR="114300" marT="66675" marB="66675" anchor="ctr">
                    <a:solidFill>
                      <a:srgbClr val="F1F5F8"/>
                    </a:solidFill>
                  </a:tcPr>
                </a:tc>
                <a:tc>
                  <a:txBody>
                    <a:bodyPr/>
                    <a:lstStyle/>
                    <a:p>
                      <a:r>
                        <a:rPr sz="2325">
                          <a:solidFill>
                            <a:srgbClr val="173047"/>
                          </a:solidFill>
                          <a:latin typeface="Arial"/>
                          <a:ea typeface="Arial"/>
                          <a:cs typeface="Arial"/>
                        </a:rPr>
                        <a:t>lo ≤ Ax ≤ hi</a:t>
                      </a:r>
                    </a:p>
                  </a:txBody>
                  <a:tcPr marL="114300" marR="114300" marT="66675" marB="66675" anchor="ctr">
                    <a:solidFill>
                      <a:srgbClr val="F1F5F8"/>
                    </a:solidFill>
                  </a:tcPr>
                </a:tc>
              </a:tr>
              <a:tr h="790575">
                <a:tc>
                  <a:txBody>
                    <a:bodyPr/>
                    <a:lstStyle/>
                    <a:p>
                      <a:r>
                        <a:rPr sz="2325">
                          <a:solidFill>
                            <a:srgbClr val="173047"/>
                          </a:solidFill>
                          <a:latin typeface="Arial"/>
                          <a:ea typeface="Arial"/>
                          <a:cs typeface="Arial"/>
                        </a:rPr>
                        <a:t>lo=hi=1</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Рівність рядка Ax=1</a:t>
                      </a:r>
                    </a:p>
                  </a:txBody>
                  <a:tcPr marL="114300" marR="114300" marT="66675" marB="66675" anchor="ctr">
                    <a:solidFill>
                      <a:srgbClr val="FFFFFF"/>
                    </a:solidFill>
                  </a:tcPr>
                </a:tc>
              </a:tr>
              <a:tr h="790575">
                <a:tc>
                  <a:txBody>
                    <a:bodyPr/>
                    <a:lstStyle/>
                    <a:p>
                      <a:r>
                        <a:rPr sz="2325">
                          <a:solidFill>
                            <a:srgbClr val="173047"/>
                          </a:solidFill>
                          <a:latin typeface="Arial"/>
                          <a:ea typeface="Arial"/>
                          <a:cs typeface="Arial"/>
                        </a:rPr>
                        <a:t>lo=−np.inf, hi=3</a:t>
                      </a:r>
                    </a:p>
                  </a:txBody>
                  <a:tcPr marL="114300" marR="114300" marT="66675" marB="66675" anchor="ctr">
                    <a:solidFill>
                      <a:srgbClr val="F1F5F8"/>
                    </a:solidFill>
                  </a:tcPr>
                </a:tc>
                <a:tc>
                  <a:txBody>
                    <a:bodyPr/>
                    <a:lstStyle/>
                    <a:p>
                      <a:r>
                        <a:rPr sz="2325">
                          <a:solidFill>
                            <a:srgbClr val="173047"/>
                          </a:solidFill>
                          <a:latin typeface="Arial"/>
                          <a:ea typeface="Arial"/>
                          <a:cs typeface="Arial"/>
                        </a:rPr>
                        <a:t>Верхня нерівність Ax≤3</a:t>
                      </a:r>
                    </a:p>
                  </a:txBody>
                  <a:tcPr marL="114300" marR="114300" marT="66675" marB="66675" anchor="ctr">
                    <a:solidFill>
                      <a:srgbClr val="F1F5F8"/>
                    </a:solidFill>
                  </a:tcPr>
                </a:tc>
              </a:tr>
            </a:tbl>
          </a:graphicData>
        </a:graphic>
      </p:graphicFrame>
    </p:spTree>
    <p:extLst>
      <p:ext uri="{BB962C8B-B14F-4D97-AF65-F5344CB8AC3E}">
        <p14:creationId xmlns:p14="http://schemas.microsoft.com/office/powerpoint/2010/main" val="1642946506"/>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A07864-92E8-4678-A08D-BF8BA16C872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Результат r та фактичний журнал</a:t>
            </a:r>
          </a:p>
        </p:txBody>
      </p:sp>
      <p:sp>
        <p:nvSpPr>
          <p:cNvPr id="2" name="">
            <a:extLst xmlns:a="http://schemas.openxmlformats.org/drawingml/2006/main">
              <a:ext uri="{FF2B5EF4-FFF2-40B4-BE49-F238E27FC236}">
                <a16:creationId xmlns:a16="http://schemas.microsoft.com/office/drawing/2014/main" id="{1DF26B1A-63D3-423B-A6A0-66A41A484F3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Журнал солвера й навчальна траса відповідають на різні питання.</a:t>
            </a:r>
          </a:p>
        </p:txBody>
      </p:sp>
      <p:sp>
        <p:nvSpPr>
          <p:cNvPr id="3" name="">
            <a:extLst xmlns:a="http://schemas.openxmlformats.org/drawingml/2006/main">
              <a:ext uri="{FF2B5EF4-FFF2-40B4-BE49-F238E27FC236}">
                <a16:creationId xmlns:a16="http://schemas.microsoft.com/office/drawing/2014/main" id="{043CF04F-734E-4F45-956D-A69CFE636A62}"/>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91</a:t>
            </a:r>
          </a:p>
        </p:txBody>
      </p:sp>
      <p:graphicFrame>
        <p:nvGraphicFramePr>
          <p:cNvPr id="4" name="">
            <a:extLst xmlns:a="http://schemas.openxmlformats.org/drawingml/2006/main">
              <a:ext uri="{FF2B5EF4-FFF2-40B4-BE49-F238E27FC236}">
                <a16:creationId xmlns:a16="http://schemas.microsoft.com/office/drawing/2014/main" id="{C80E8A33-360C-4DDD-AC59-FC4B0BC81229}"/>
              </a:ext>
            </a:extLst>
          </p:cNvPr>
          <p:cNvGraphicFramePr/>
          <p:nvPr/>
        </p:nvGraphicFramePr>
        <p:xfrm>
          <a:off xmlns:a="http://schemas.openxmlformats.org/drawingml/2006/main" x="762000" y="1562100"/>
          <a:ext xmlns:a="http://schemas.openxmlformats.org/drawingml/2006/main" cx="10668000" cy="4086225"/>
        </p:xfrm>
        <a:graphic xmlns:a="http://schemas.openxmlformats.org/drawingml/2006/main">
          <a:graphicData uri="http://schemas.openxmlformats.org/drawingml/2006/table">
            <a:tbl>
              <a:tblPr/>
              <a:tblGrid>
                <a:gridCol w="4667250"/>
                <a:gridCol w="6000750"/>
              </a:tblGrid>
              <a:tr h="681038">
                <a:tc>
                  <a:txBody>
                    <a:bodyPr/>
                    <a:lstStyle/>
                    <a:p>
                      <a:r>
                        <a:rPr sz="2175" b="1">
                          <a:solidFill>
                            <a:srgbClr val="FFFFFF"/>
                          </a:solidFill>
                          <a:latin typeface="Arial"/>
                          <a:ea typeface="Arial"/>
                          <a:cs typeface="Arial"/>
                        </a:rPr>
                        <a:t>Поле або опція</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Зміст</a:t>
                      </a:r>
                    </a:p>
                  </a:txBody>
                  <a:tcPr marL="114300" marR="114300" marT="66675" marB="66675" anchor="ctr">
                    <a:solidFill>
                      <a:srgbClr val="173047"/>
                    </a:solidFill>
                  </a:tcPr>
                </a:tc>
              </a:tr>
              <a:tr h="681038">
                <a:tc>
                  <a:txBody>
                    <a:bodyPr/>
                    <a:lstStyle/>
                    <a:p>
                      <a:r>
                        <a:rPr sz="2175">
                          <a:solidFill>
                            <a:srgbClr val="173047"/>
                          </a:solidFill>
                          <a:latin typeface="Arial"/>
                          <a:ea typeface="Arial"/>
                          <a:cs typeface="Arial"/>
                        </a:rPr>
                        <a:t>success, status, message</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Причина й успішність завершення</a:t>
                      </a:r>
                    </a:p>
                  </a:txBody>
                  <a:tcPr marL="114300" marR="114300" marT="66675" marB="66675" anchor="ctr">
                    <a:solidFill>
                      <a:srgbClr val="FFFFFF"/>
                    </a:solidFill>
                  </a:tcPr>
                </a:tc>
              </a:tr>
              <a:tr h="681038">
                <a:tc>
                  <a:txBody>
                    <a:bodyPr/>
                    <a:lstStyle/>
                    <a:p>
                      <a:r>
                        <a:rPr sz="2175">
                          <a:solidFill>
                            <a:srgbClr val="173047"/>
                          </a:solidFill>
                          <a:latin typeface="Arial"/>
                          <a:ea typeface="Arial"/>
                          <a:cs typeface="Arial"/>
                        </a:rPr>
                        <a:t>x, fun</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План та значення min-цілі</a:t>
                      </a:r>
                    </a:p>
                  </a:txBody>
                  <a:tcPr marL="114300" marR="114300" marT="66675" marB="66675" anchor="ctr">
                    <a:solidFill>
                      <a:srgbClr val="F1F5F8"/>
                    </a:solidFill>
                  </a:tcPr>
                </a:tc>
              </a:tr>
              <a:tr h="681038">
                <a:tc>
                  <a:txBody>
                    <a:bodyPr/>
                    <a:lstStyle/>
                    <a:p>
                      <a:r>
                        <a:rPr sz="2175">
                          <a:solidFill>
                            <a:srgbClr val="173047"/>
                          </a:solidFill>
                          <a:latin typeface="Arial"/>
                          <a:ea typeface="Arial"/>
                          <a:cs typeface="Arial"/>
                        </a:rPr>
                        <a:t>mip_dual_bound, mip_gap</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Нижня межа та розрив до плану</a:t>
                      </a:r>
                    </a:p>
                  </a:txBody>
                  <a:tcPr marL="114300" marR="114300" marT="66675" marB="66675" anchor="ctr">
                    <a:solidFill>
                      <a:srgbClr val="FFFFFF"/>
                    </a:solidFill>
                  </a:tcPr>
                </a:tc>
              </a:tr>
              <a:tr h="681038">
                <a:tc>
                  <a:txBody>
                    <a:bodyPr/>
                    <a:lstStyle/>
                    <a:p>
                      <a:r>
                        <a:rPr sz="2175">
                          <a:solidFill>
                            <a:srgbClr val="173047"/>
                          </a:solidFill>
                          <a:latin typeface="Arial"/>
                          <a:ea typeface="Arial"/>
                          <a:cs typeface="Arial"/>
                        </a:rPr>
                        <a:t>mip_node_count</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Оброблені MIP-вузли</a:t>
                      </a:r>
                    </a:p>
                  </a:txBody>
                  <a:tcPr marL="114300" marR="114300" marT="66675" marB="66675" anchor="ctr">
                    <a:solidFill>
                      <a:srgbClr val="F1F5F8"/>
                    </a:solidFill>
                  </a:tcPr>
                </a:tc>
              </a:tr>
              <a:tr h="681038">
                <a:tc>
                  <a:txBody>
                    <a:bodyPr/>
                    <a:lstStyle/>
                    <a:p>
                      <a:r>
                        <a:rPr sz="2175">
                          <a:solidFill>
                            <a:srgbClr val="173047"/>
                          </a:solidFill>
                          <a:latin typeface="Arial"/>
                          <a:ea typeface="Arial"/>
                          <a:cs typeface="Arial"/>
                        </a:rPr>
                        <a:t>options={"disp":True}</a:t>
                      </a:r>
                    </a:p>
                  </a:txBody>
                  <a:tcPr marL="114300" marR="114300" marT="66675" marB="66675" anchor="ctr">
                    <a:solidFill>
                      <a:srgbClr val="FFFFFF"/>
                    </a:solidFill>
                  </a:tcPr>
                </a:tc>
                <a:tc>
                  <a:txBody>
                    <a:bodyPr/>
                    <a:lstStyle/>
                    <a:p>
                      <a:r>
                        <a:rPr sz="2175">
                          <a:solidFill>
                            <a:srgbClr val="173047"/>
                          </a:solidFill>
                          <a:latin typeface="Arial"/>
                          <a:ea typeface="Arial"/>
                          <a:cs typeface="Arial"/>
                        </a:rPr>
                        <a:t>Фактичний журнал HiGHS</a:t>
                      </a:r>
                    </a:p>
                  </a:txBody>
                  <a:tcPr marL="114300" marR="114300" marT="66675" marB="66675" anchor="ctr">
                    <a:solidFill>
                      <a:srgbClr val="FFFFFF"/>
                    </a:solidFill>
                  </a:tcPr>
                </a:tc>
              </a:tr>
            </a:tbl>
          </a:graphicData>
        </a:graphic>
      </p:graphicFrame>
    </p:spTree>
    <p:extLst>
      <p:ext uri="{BB962C8B-B14F-4D97-AF65-F5344CB8AC3E}">
        <p14:creationId xmlns:p14="http://schemas.microsoft.com/office/powerpoint/2010/main" val="672333241"/>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3E4ED9-F2AE-466F-8113-C58C011E76AF}"/>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HiGHS: фактичний звіт останнього виклику</a:t>
            </a:r>
          </a:p>
        </p:txBody>
      </p:sp>
      <p:sp>
        <p:nvSpPr>
          <p:cNvPr id="2" name="">
            <a:extLst xmlns:a="http://schemas.openxmlformats.org/drawingml/2006/main">
              <a:ext uri="{FF2B5EF4-FFF2-40B4-BE49-F238E27FC236}">
                <a16:creationId xmlns:a16="http://schemas.microsoft.com/office/drawing/2014/main" id="{A89B65DD-5613-4FCB-8124-FE2CB6E0C2D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Окремо перевіряємо, що знайдений план має один спільний цикл.</a:t>
            </a:r>
          </a:p>
        </p:txBody>
      </p:sp>
      <p:sp>
        <p:nvSpPr>
          <p:cNvPr id="3" name="">
            <a:extLst xmlns:a="http://schemas.openxmlformats.org/drawingml/2006/main">
              <a:ext uri="{FF2B5EF4-FFF2-40B4-BE49-F238E27FC236}">
                <a16:creationId xmlns:a16="http://schemas.microsoft.com/office/drawing/2014/main" id="{080FEF3D-7A1D-47BC-8EE1-8A8045C91311}"/>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92</a:t>
            </a:r>
          </a:p>
        </p:txBody>
      </p:sp>
      <p:sp>
        <p:nvSpPr>
          <p:cNvPr id="4" name="">
            <a:extLst xmlns:a="http://schemas.openxmlformats.org/drawingml/2006/main">
              <a:ext uri="{FF2B5EF4-FFF2-40B4-BE49-F238E27FC236}">
                <a16:creationId xmlns:a16="http://schemas.microsoft.com/office/drawing/2014/main" id="{413043E2-18D3-442E-B66D-FF4BD8CA3BFB}"/>
              </a:ext>
            </a:extLst>
          </p:cNvPr>
          <p:cNvSpPr>
            <a:spLocks xmlns:a="http://schemas.openxmlformats.org/drawingml/2006/main" noGrp="1"/>
          </p:cNvSpPr>
          <p:nvPr/>
        </p:nvSpPr>
        <p:spPr>
          <a:xfrm xmlns:a="http://schemas.openxmlformats.org/drawingml/2006/main">
            <a:off x="762000" y="1571625"/>
            <a:ext cx="10668000" cy="30956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AA2456-1DCB-47D7-B2D9-8200C62A51F3}"/>
              </a:ext>
            </a:extLst>
          </p:cNvPr>
          <p:cNvSpPr>
            <a:spLocks xmlns:a="http://schemas.openxmlformats.org/drawingml/2006/main" noGrp="1"/>
          </p:cNvSpPr>
          <p:nvPr/>
        </p:nvSpPr>
        <p:spPr>
          <a:xfrm xmlns:a="http://schemas.openxmlformats.org/drawingml/2006/main">
            <a:off x="933450" y="1628775"/>
            <a:ext cx="103251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00857D"/>
                </a:solidFill>
                <a:latin typeface="Courier New"/>
                <a:ea typeface="Courier New"/>
                <a:cs typeface="Courier New"/>
              </a:defRPr>
            </a:defPPr>
          </a:lstStyle>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Status            Optimal</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Primal bound      36</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Dual bound        36</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Gap               0%</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Nodes             1</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LP iterations     14 (total)</a:t>
            </a:r>
          </a:p>
        </p:txBody>
      </p:sp>
      <p:sp>
        <p:nvSpPr>
          <p:cNvPr id="6" name="">
            <a:extLst xmlns:a="http://schemas.openxmlformats.org/drawingml/2006/main">
              <a:ext uri="{FF2B5EF4-FFF2-40B4-BE49-F238E27FC236}">
                <a16:creationId xmlns:a16="http://schemas.microsoft.com/office/drawing/2014/main" id="{D0B382E0-15E8-4BAB-ADE5-3BC62C27CD59}"/>
              </a:ext>
            </a:extLst>
          </p:cNvPr>
          <p:cNvSpPr>
            <a:spLocks xmlns:a="http://schemas.openxmlformats.org/drawingml/2006/main" noGrp="1"/>
          </p:cNvSpPr>
          <p:nvPr/>
        </p:nvSpPr>
        <p:spPr>
          <a:xfrm xmlns:a="http://schemas.openxmlformats.org/drawingml/2006/main">
            <a:off x="762000" y="50577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Primal bound: вартість знайденого плану</a:t>
            </a:r>
          </a:p>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Dual bound: нижня межа поточної моделі</a:t>
            </a:r>
          </a:p>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Gap 0%: ці оцінки збіглися</a:t>
            </a:r>
          </a:p>
        </p:txBody>
      </p:sp>
    </p:spTree>
    <p:extLst>
      <p:ext uri="{BB962C8B-B14F-4D97-AF65-F5344CB8AC3E}">
        <p14:creationId xmlns:p14="http://schemas.microsoft.com/office/powerpoint/2010/main" val="20610266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616164-451F-4938-95A5-E31307134B4F}"/>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Перевірка маршруту після розв’язання</a:t>
            </a:r>
          </a:p>
        </p:txBody>
      </p:sp>
      <p:sp>
        <p:nvSpPr>
          <p:cNvPr id="2" name="">
            <a:extLst xmlns:a="http://schemas.openxmlformats.org/drawingml/2006/main">
              <a:ext uri="{FF2B5EF4-FFF2-40B4-BE49-F238E27FC236}">
                <a16:creationId xmlns:a16="http://schemas.microsoft.com/office/drawing/2014/main" id="{3F64FDBD-5C5C-404F-ACA3-C3710BF09BF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Один вхід і один вихід ще не доводять, що маршрут спільний.</a:t>
            </a:r>
          </a:p>
        </p:txBody>
      </p:sp>
      <p:sp>
        <p:nvSpPr>
          <p:cNvPr id="3" name="">
            <a:extLst xmlns:a="http://schemas.openxmlformats.org/drawingml/2006/main">
              <a:ext uri="{FF2B5EF4-FFF2-40B4-BE49-F238E27FC236}">
                <a16:creationId xmlns:a16="http://schemas.microsoft.com/office/drawing/2014/main" id="{7ED32F1F-A716-487B-91D6-957CCA907168}"/>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93</a:t>
            </a:r>
          </a:p>
        </p:txBody>
      </p:sp>
      <p:sp>
        <p:nvSpPr>
          <p:cNvPr id="4" name="">
            <a:extLst xmlns:a="http://schemas.openxmlformats.org/drawingml/2006/main">
              <a:ext uri="{FF2B5EF4-FFF2-40B4-BE49-F238E27FC236}">
                <a16:creationId xmlns:a16="http://schemas.microsoft.com/office/drawing/2014/main" id="{D28D4F9B-D1F0-4197-A48B-34A9C6964207}"/>
              </a:ext>
            </a:extLst>
          </p:cNvPr>
          <p:cNvSpPr>
            <a:spLocks xmlns:a="http://schemas.openxmlformats.org/drawingml/2006/main" noGrp="1"/>
          </p:cNvSpPr>
          <p:nvPr/>
        </p:nvSpPr>
        <p:spPr>
          <a:xfrm xmlns:a="http://schemas.openxmlformats.org/drawingml/2006/main">
            <a:off x="762000" y="1504950"/>
            <a:ext cx="10668000" cy="24475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C695BC-9956-4AAE-9F3A-337CF59D721A}"/>
              </a:ext>
            </a:extLst>
          </p:cNvPr>
          <p:cNvSpPr>
            <a:spLocks xmlns:a="http://schemas.openxmlformats.org/drawingml/2006/main" noGrp="1"/>
          </p:cNvSpPr>
          <p:nvPr/>
        </p:nvSpPr>
        <p:spPr>
          <a:xfrm xmlns:a="http://schemas.openxmlformats.org/drawingml/2006/main">
            <a:off x="933450" y="1581150"/>
            <a:ext cx="10325100" cy="2295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r>
          </a:p>
        </p:txBody>
      </p:sp>
      <p:sp>
        <p:nvSpPr>
          <p:cNvPr id="6" name="">
            <a:extLst xmlns:a="http://schemas.openxmlformats.org/drawingml/2006/main">
              <a:ext uri="{FF2B5EF4-FFF2-40B4-BE49-F238E27FC236}">
                <a16:creationId xmlns:a16="http://schemas.microsoft.com/office/drawing/2014/main" id="{EF770F03-4824-4F81-B47E-6EE4AAD1654A}"/>
              </a:ext>
            </a:extLst>
          </p:cNvPr>
          <p:cNvSpPr>
            <a:spLocks xmlns:a="http://schemas.openxmlformats.org/drawingml/2006/main" noGrp="1"/>
          </p:cNvSpPr>
          <p:nvPr/>
        </p:nvSpPr>
        <p:spPr>
          <a:xfrm xmlns:a="http://schemas.openxmlformats.org/drawingml/2006/main">
            <a:off x="762000" y="4200144"/>
            <a:ext cx="10668000" cy="7334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9CC1FC-8116-4268-87A1-A02EC04829DC}"/>
              </a:ext>
            </a:extLst>
          </p:cNvPr>
          <p:cNvSpPr>
            <a:spLocks xmlns:a="http://schemas.openxmlformats.org/drawingml/2006/main" noGrp="1"/>
          </p:cNvSpPr>
          <p:nvPr/>
        </p:nvSpPr>
        <p:spPr>
          <a:xfrm xmlns:a="http://schemas.openxmlformats.org/drawingml/2006/main">
            <a:off x="933450" y="4257294"/>
            <a:ext cx="10325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857D"/>
                </a:solidFill>
                <a:latin typeface="Courier New"/>
                <a:ea typeface="Courier New"/>
                <a:cs typeface="Courier New"/>
              </a:defRPr>
            </a:defPPr>
          </a:lstStyle>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Усі вузли, один цикл, C = 36</a:t>
            </a:r>
          </a:p>
        </p:txBody>
      </p:sp>
      <p:sp>
        <p:nvSpPr>
          <p:cNvPr id="9" name="">
            <a:extLst xmlns:a="http://schemas.openxmlformats.org/drawingml/2006/main">
              <a:ext uri="{FF2B5EF4-FFF2-40B4-BE49-F238E27FC236}">
                <a16:creationId xmlns:a16="http://schemas.microsoft.com/office/drawing/2014/main" id="{BE5BAF26-660E-4218-B4C4-2A4BA1562BF1}"/>
              </a:ext>
            </a:extLst>
          </p:cNvPr>
          <p:cNvSpPr>
            <a:spLocks xmlns:a="http://schemas.openxmlformats.org/drawingml/2006/main" noGrp="1"/>
          </p:cNvSpPr>
          <p:nvPr/>
        </p:nvSpPr>
        <p:spPr>
          <a:xfrm xmlns:a="http://schemas.openxmlformats.org/drawingml/2006/main">
            <a:off x="933450" y="158115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66779"/>
                </a:solidFill>
                <a:latin typeface="Courier New"/>
                <a:ea typeface="Courier New"/>
                <a:cs typeface="Courier New"/>
              </a:defRPr>
            </a:defPPr>
          </a:lstStyle>
          <a:p xmlns:a="http://schemas.openxmlformats.org/drawingml/2006/main">
            <a:pPr algn="l">
              <a:buNone/>
              <a:defRPr sz="1950" b="0">
                <a:solidFill>
                  <a:srgbClr val="566779"/>
                </a:solidFill>
                <a:latin typeface="Courier New"/>
                <a:ea typeface="Courier New"/>
                <a:cs typeface="Courier New"/>
              </a:defRPr>
            </a:pPr>
            <a:r>
              <a:rPr sz="1950" b="0">
                <a:solidFill>
                  <a:srgbClr val="566779"/>
                </a:solidFill>
                <a:latin typeface="Courier New"/>
                <a:ea typeface="Courier New"/>
                <a:cs typeface="Courier New"/>
              </a:rPr>
              <a:t># route — відновлений обхід, r — результат milp</a:t>
            </a:r>
          </a:p>
        </p:txBody>
      </p:sp>
      <p:sp>
        <p:nvSpPr>
          <p:cNvPr id="10" name="">
            <a:extLst xmlns:a="http://schemas.openxmlformats.org/drawingml/2006/main">
              <a:ext uri="{FF2B5EF4-FFF2-40B4-BE49-F238E27FC236}">
                <a16:creationId xmlns:a16="http://schemas.microsoft.com/office/drawing/2014/main" id="{1DF80521-A081-480F-AC78-0509EDA73A93}"/>
              </a:ext>
            </a:extLst>
          </p:cNvPr>
          <p:cNvSpPr>
            <a:spLocks xmlns:a="http://schemas.openxmlformats.org/drawingml/2006/main" noGrp="1"/>
          </p:cNvSpPr>
          <p:nvPr/>
        </p:nvSpPr>
        <p:spPr>
          <a:xfrm xmlns:a="http://schemas.openxmlformats.org/drawingml/2006/main">
            <a:off x="933450" y="185851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r.x is not None, r.message</a:t>
            </a:r>
          </a:p>
        </p:txBody>
      </p:sp>
      <p:sp>
        <p:nvSpPr>
          <p:cNvPr id="11" name="">
            <a:extLst xmlns:a="http://schemas.openxmlformats.org/drawingml/2006/main">
              <a:ext uri="{FF2B5EF4-FFF2-40B4-BE49-F238E27FC236}">
                <a16:creationId xmlns:a16="http://schemas.microsoft.com/office/drawing/2014/main" id="{6FAF197D-F6DD-4018-94FF-D20924360662}"/>
              </a:ext>
            </a:extLst>
          </p:cNvPr>
          <p:cNvSpPr>
            <a:spLocks xmlns:a="http://schemas.openxmlformats.org/drawingml/2006/main" noGrp="1"/>
          </p:cNvSpPr>
          <p:nvPr/>
        </p:nvSpPr>
        <p:spPr>
          <a:xfrm xmlns:a="http://schemas.openxmlformats.org/drawingml/2006/main">
            <a:off x="933450" y="213588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len(route) == n + 1</a:t>
            </a:r>
          </a:p>
        </p:txBody>
      </p:sp>
      <p:sp>
        <p:nvSpPr>
          <p:cNvPr id="12" name="">
            <a:extLst xmlns:a="http://schemas.openxmlformats.org/drawingml/2006/main">
              <a:ext uri="{FF2B5EF4-FFF2-40B4-BE49-F238E27FC236}">
                <a16:creationId xmlns:a16="http://schemas.microsoft.com/office/drawing/2014/main" id="{61310D35-6635-4427-9A92-E502E7B27FD7}"/>
              </a:ext>
            </a:extLst>
          </p:cNvPr>
          <p:cNvSpPr>
            <a:spLocks xmlns:a="http://schemas.openxmlformats.org/drawingml/2006/main" noGrp="1"/>
          </p:cNvSpPr>
          <p:nvPr/>
        </p:nvSpPr>
        <p:spPr>
          <a:xfrm xmlns:a="http://schemas.openxmlformats.org/drawingml/2006/main">
            <a:off x="933450" y="2413254"/>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route[0] == route[-1] == 0</a:t>
            </a:r>
          </a:p>
        </p:txBody>
      </p:sp>
      <p:sp>
        <p:nvSpPr>
          <p:cNvPr id="13" name="">
            <a:extLst xmlns:a="http://schemas.openxmlformats.org/drawingml/2006/main">
              <a:ext uri="{FF2B5EF4-FFF2-40B4-BE49-F238E27FC236}">
                <a16:creationId xmlns:a16="http://schemas.microsoft.com/office/drawing/2014/main" id="{518470F7-8A04-4DB7-9561-DF3FF7E54496}"/>
              </a:ext>
            </a:extLst>
          </p:cNvPr>
          <p:cNvSpPr>
            <a:spLocks xmlns:a="http://schemas.openxmlformats.org/drawingml/2006/main" noGrp="1"/>
          </p:cNvSpPr>
          <p:nvPr/>
        </p:nvSpPr>
        <p:spPr>
          <a:xfrm xmlns:a="http://schemas.openxmlformats.org/drawingml/2006/main">
            <a:off x="933450" y="2690622"/>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sorted(route[:-1]) == list(range(n))</a:t>
            </a:r>
          </a:p>
        </p:txBody>
      </p:sp>
      <p:sp>
        <p:nvSpPr>
          <p:cNvPr id="14" name="">
            <a:extLst xmlns:a="http://schemas.openxmlformats.org/drawingml/2006/main">
              <a:ext uri="{FF2B5EF4-FFF2-40B4-BE49-F238E27FC236}">
                <a16:creationId xmlns:a16="http://schemas.microsoft.com/office/drawing/2014/main" id="{5EEAF6F8-09F0-406D-8C44-C45F58574A09}"/>
              </a:ext>
            </a:extLst>
          </p:cNvPr>
          <p:cNvSpPr>
            <a:spLocks xmlns:a="http://schemas.openxmlformats.org/drawingml/2006/main" noGrp="1"/>
          </p:cNvSpPr>
          <p:nvPr/>
        </p:nvSpPr>
        <p:spPr>
          <a:xfrm xmlns:a="http://schemas.openxmlformats.org/drawingml/2006/main">
            <a:off x="933450" y="2967990"/>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buNone/>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value = sum(C[i,j] for i,j in zip(route,route[1:]))</a:t>
            </a:r>
          </a:p>
        </p:txBody>
      </p:sp>
      <p:sp>
        <p:nvSpPr>
          <p:cNvPr id="15" name="">
            <a:extLst xmlns:a="http://schemas.openxmlformats.org/drawingml/2006/main">
              <a:ext uri="{FF2B5EF4-FFF2-40B4-BE49-F238E27FC236}">
                <a16:creationId xmlns:a16="http://schemas.microsoft.com/office/drawing/2014/main" id="{94284FB1-BC17-43E3-BFBD-8FC1435DCAD7}"/>
              </a:ext>
            </a:extLst>
          </p:cNvPr>
          <p:cNvSpPr>
            <a:spLocks xmlns:a="http://schemas.openxmlformats.org/drawingml/2006/main" noGrp="1"/>
          </p:cNvSpPr>
          <p:nvPr/>
        </p:nvSpPr>
        <p:spPr>
          <a:xfrm xmlns:a="http://schemas.openxmlformats.org/drawingml/2006/main">
            <a:off x="933450" y="3245358"/>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2868AF"/>
                </a:solidFill>
                <a:latin typeface="Courier New"/>
                <a:ea typeface="Courier New"/>
                <a:cs typeface="Courier New"/>
              </a:defRPr>
            </a:defPPr>
          </a:lstStyle>
          <a:p xmlns:a="http://schemas.openxmlformats.org/drawingml/2006/main">
            <a:pPr algn="l">
              <a:buNone/>
              <a:defRPr sz="1950" b="0">
                <a:solidFill>
                  <a:srgbClr val="2868AF"/>
                </a:solidFill>
                <a:latin typeface="Courier New"/>
                <a:ea typeface="Courier New"/>
                <a:cs typeface="Courier New"/>
              </a:defRPr>
            </a:pPr>
            <a:r>
              <a:rPr sz="1950" b="0">
                <a:solidFill>
                  <a:srgbClr val="2868AF"/>
                </a:solidFill>
                <a:latin typeface="Courier New"/>
                <a:ea typeface="Courier New"/>
                <a:cs typeface="Courier New"/>
              </a:rPr>
              <a:t>assert np.isclose(value, r.fun)</a:t>
            </a:r>
          </a:p>
        </p:txBody>
      </p:sp>
      <p:sp>
        <p:nvSpPr>
          <p:cNvPr id="16" name="">
            <a:extLst xmlns:a="http://schemas.openxmlformats.org/drawingml/2006/main">
              <a:ext uri="{FF2B5EF4-FFF2-40B4-BE49-F238E27FC236}">
                <a16:creationId xmlns:a16="http://schemas.microsoft.com/office/drawing/2014/main" id="{68B6E2D4-71CD-4F14-90D6-6617194C04F9}"/>
              </a:ext>
            </a:extLst>
          </p:cNvPr>
          <p:cNvSpPr>
            <a:spLocks xmlns:a="http://schemas.openxmlformats.org/drawingml/2006/main" noGrp="1"/>
          </p:cNvSpPr>
          <p:nvPr/>
        </p:nvSpPr>
        <p:spPr>
          <a:xfrm xmlns:a="http://schemas.openxmlformats.org/drawingml/2006/main">
            <a:off x="933450" y="3522726"/>
            <a:ext cx="10325100" cy="2964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00857D"/>
                </a:solidFill>
                <a:latin typeface="Courier New"/>
                <a:ea typeface="Courier New"/>
                <a:cs typeface="Courier New"/>
              </a:defRPr>
            </a:defPPr>
          </a:lstStyle>
          <a:p xmlns:a="http://schemas.openxmlformats.org/drawingml/2006/main">
            <a:pPr algn="l">
              <a:buNone/>
              <a:defRPr sz="1950" b="1">
                <a:solidFill>
                  <a:srgbClr val="00857D"/>
                </a:solidFill>
                <a:latin typeface="Courier New"/>
                <a:ea typeface="Courier New"/>
                <a:cs typeface="Courier New"/>
              </a:defRPr>
            </a:pPr>
            <a:r>
              <a:rPr sz="1950" b="1">
                <a:solidFill>
                  <a:srgbClr val="00857D"/>
                </a:solidFill>
                <a:latin typeface="Courier New"/>
                <a:ea typeface="Courier New"/>
                <a:cs typeface="Courier New"/>
              </a:rPr>
              <a:t>print("Усі вузли, один цикл, C =", value)</a:t>
            </a:r>
          </a:p>
        </p:txBody>
      </p:sp>
    </p:spTree>
    <p:extLst>
      <p:ext uri="{BB962C8B-B14F-4D97-AF65-F5344CB8AC3E}">
        <p14:creationId xmlns:p14="http://schemas.microsoft.com/office/powerpoint/2010/main" val="736364831"/>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D633C3-8F3A-4531-8279-2AAA0CDA46C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Методи TSP: гарантія та обсяг пошуку</a:t>
            </a:r>
          </a:p>
        </p:txBody>
      </p:sp>
      <p:sp>
        <p:nvSpPr>
          <p:cNvPr id="2" name="">
            <a:extLst xmlns:a="http://schemas.openxmlformats.org/drawingml/2006/main">
              <a:ext uri="{FF2B5EF4-FFF2-40B4-BE49-F238E27FC236}">
                <a16:creationId xmlns:a16="http://schemas.microsoft.com/office/drawing/2014/main" id="{D3249FDE-275D-4FA5-A6C7-B7CD11BBDEE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Якість допустимого плану й доказ оптимальності оцінюємо окремо.</a:t>
            </a:r>
          </a:p>
        </p:txBody>
      </p:sp>
      <p:sp>
        <p:nvSpPr>
          <p:cNvPr id="3" name="">
            <a:extLst xmlns:a="http://schemas.openxmlformats.org/drawingml/2006/main">
              <a:ext uri="{FF2B5EF4-FFF2-40B4-BE49-F238E27FC236}">
                <a16:creationId xmlns:a16="http://schemas.microsoft.com/office/drawing/2014/main" id="{BB17C216-3C99-4F37-920B-D758E66E64CF}"/>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94</a:t>
            </a:r>
          </a:p>
        </p:txBody>
      </p:sp>
      <p:graphicFrame>
        <p:nvGraphicFramePr>
          <p:cNvPr id="4" name="">
            <a:extLst xmlns:a="http://schemas.openxmlformats.org/drawingml/2006/main">
              <a:ext uri="{FF2B5EF4-FFF2-40B4-BE49-F238E27FC236}">
                <a16:creationId xmlns:a16="http://schemas.microsoft.com/office/drawing/2014/main" id="{9093E50B-FD4A-422A-B890-E012195B1BEF}"/>
              </a:ext>
            </a:extLst>
          </p:cNvPr>
          <p:cNvGraphicFramePr/>
          <p:nvPr/>
        </p:nvGraphicFramePr>
        <p:xfrm>
          <a:off xmlns:a="http://schemas.openxmlformats.org/drawingml/2006/main" x="762000" y="1524000"/>
          <a:ext xmlns:a="http://schemas.openxmlformats.org/drawingml/2006/main" cx="10668000" cy="4800600"/>
        </p:xfrm>
        <a:graphic xmlns:a="http://schemas.openxmlformats.org/drawingml/2006/main">
          <a:graphicData uri="http://schemas.openxmlformats.org/drawingml/2006/table">
            <a:tbl>
              <a:tblPr/>
              <a:tblGrid>
                <a:gridCol w="4286250"/>
                <a:gridCol w="1857375"/>
                <a:gridCol w="4524375"/>
              </a:tblGrid>
              <a:tr h="571500">
                <a:tc>
                  <a:txBody>
                    <a:bodyPr/>
                    <a:lstStyle/>
                    <a:p>
                      <a:r>
                        <a:rPr sz="2175" b="1">
                          <a:solidFill>
                            <a:srgbClr val="FFFFFF"/>
                          </a:solidFill>
                          <a:latin typeface="Arial"/>
                          <a:ea typeface="Arial"/>
                          <a:cs typeface="Arial"/>
                        </a:rPr>
                        <a:t>Метод</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Ціль</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Гарантія</a:t>
                      </a:r>
                    </a:p>
                  </a:txBody>
                  <a:tcPr marL="114300" marR="114300" marT="66675" marB="66675" anchor="ctr">
                    <a:solidFill>
                      <a:srgbClr val="173047"/>
                    </a:solidFill>
                  </a:tcPr>
                </a:tc>
              </a:tr>
              <a:tr h="571500">
                <a:tc>
                  <a:txBody>
                    <a:bodyPr/>
                    <a:lstStyle/>
                    <a:p>
                      <a:r>
                        <a:rPr sz="2175">
                          <a:solidFill>
                            <a:srgbClr val="173047"/>
                          </a:solidFill>
                          <a:latin typeface="Arial"/>
                          <a:ea typeface="Arial"/>
                          <a:cs typeface="Arial"/>
                        </a:rPr>
                        <a:t>Найближчий сусід</a:t>
                      </a:r>
                    </a:p>
                  </a:txBody>
                  <a:tcPr marL="114300" marR="114300" marT="66675" marB="66675" anchor="ctr">
                    <a:solidFill>
                      <a:srgbClr val="FFFFFF"/>
                    </a:solidFill>
                  </a:tcPr>
                </a:tc>
                <a:tc>
                  <a:txBody>
                    <a:bodyPr/>
                    <a:lstStyle/>
                    <a:p>
                      <a:r>
                        <a:rPr sz="2175">
                          <a:solidFill>
                            <a:srgbClr val="173047"/>
                          </a:solidFill>
                          <a:latin typeface="Arial"/>
                          <a:ea typeface="Arial"/>
                          <a:cs typeface="Arial"/>
                        </a:rPr>
                        <a:t>44</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Допустимий маршрут</a:t>
                      </a:r>
                    </a:p>
                  </a:txBody>
                  <a:tcPr marL="114300" marR="114300" marT="66675" marB="66675" anchor="ctr">
                    <a:solidFill>
                      <a:srgbClr val="FFFFFF"/>
                    </a:solidFill>
                  </a:tcPr>
                </a:tc>
              </a:tr>
              <a:tr h="571500">
                <a:tc>
                  <a:txBody>
                    <a:bodyPr/>
                    <a:lstStyle/>
                    <a:p>
                      <a:r>
                        <a:rPr sz="2175">
                          <a:solidFill>
                            <a:srgbClr val="173047"/>
                          </a:solidFill>
                          <a:latin typeface="Arial"/>
                          <a:ea typeface="Arial"/>
                          <a:cs typeface="Arial"/>
                        </a:rPr>
                        <a:t>Локальний 2-opt</a:t>
                      </a:r>
                    </a:p>
                  </a:txBody>
                  <a:tcPr marL="114300" marR="114300" marT="66675" marB="66675" anchor="ctr">
                    <a:solidFill>
                      <a:srgbClr val="F1F5F8"/>
                    </a:solidFill>
                  </a:tcPr>
                </a:tc>
                <a:tc>
                  <a:txBody>
                    <a:bodyPr/>
                    <a:lstStyle/>
                    <a:p>
                      <a:r>
                        <a:rPr sz="2175">
                          <a:solidFill>
                            <a:srgbClr val="173047"/>
                          </a:solidFill>
                          <a:latin typeface="Arial"/>
                          <a:ea typeface="Arial"/>
                          <a:cs typeface="Arial"/>
                        </a:rPr>
                        <a:t>43</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Локальний оптимум</a:t>
                      </a:r>
                    </a:p>
                  </a:txBody>
                  <a:tcPr marL="114300" marR="114300" marT="66675" marB="66675" anchor="ctr">
                    <a:solidFill>
                      <a:srgbClr val="F1F5F8"/>
                    </a:solidFill>
                  </a:tcPr>
                </a:tc>
              </a:tr>
              <a:tr h="571500">
                <a:tc>
                  <a:txBody>
                    <a:bodyPr/>
                    <a:lstStyle/>
                    <a:p>
                      <a:r>
                        <a:rPr sz="2175" b="1">
                          <a:solidFill>
                            <a:srgbClr val="173047"/>
                          </a:solidFill>
                          <a:latin typeface="Arial"/>
                          <a:ea typeface="Arial"/>
                          <a:cs typeface="Arial"/>
                        </a:rPr>
                        <a:t>MILP + відсічення</a:t>
                      </a:r>
                    </a:p>
                  </a:txBody>
                  <a:tcPr marL="114300" marR="114300" marT="66675" marB="66675" anchor="ctr">
                    <a:solidFill>
                      <a:srgbClr val="DDF3EC"/>
                    </a:solidFill>
                  </a:tcPr>
                </a:tc>
                <a:tc>
                  <a:txBody>
                    <a:bodyPr/>
                    <a:lstStyle/>
                    <a:p>
                      <a:r>
                        <a:rPr sz="2175" b="1">
                          <a:solidFill>
                            <a:srgbClr val="173047"/>
                          </a:solidFill>
                          <a:latin typeface="Arial"/>
                          <a:ea typeface="Arial"/>
                          <a:cs typeface="Arial"/>
                        </a:rPr>
                        <a:t>36</a:t>
                      </a:r>
                    </a:p>
                  </a:txBody>
                  <a:tcPr marL="114300" marR="114300" marT="66675" marB="66675" anchor="ctr">
                    <a:solidFill>
                      <a:srgbClr val="DDF3EC"/>
                    </a:solidFill>
                  </a:tcPr>
                </a:tc>
                <a:tc>
                  <a:txBody>
                    <a:bodyPr/>
                    <a:lstStyle/>
                    <a:p>
                      <a:r>
                        <a:rPr sz="2175" b="1">
                          <a:solidFill>
                            <a:srgbClr val="173047"/>
                          </a:solidFill>
                          <a:latin typeface="Arial"/>
                          <a:ea typeface="Arial"/>
                          <a:cs typeface="Arial"/>
                        </a:rPr>
                        <a:t>Глобальний оптимум</a:t>
                      </a:r>
                    </a:p>
                  </a:txBody>
                  <a:tcPr marL="114300" marR="114300" marT="66675" marB="66675" anchor="ctr">
                    <a:solidFill>
                      <a:srgbClr val="DDF3EC"/>
                    </a:solidFill>
                  </a:tcPr>
                </a:tc>
              </a:tr>
              <a:tr h="571500">
                <a:tc>
                  <a:txBody>
                    <a:bodyPr/>
                    <a:lstStyle/>
                    <a:p>
                      <a:r>
                        <a:rPr sz="2175" b="1">
                          <a:solidFill>
                            <a:srgbClr val="00857D"/>
                          </a:solidFill>
                          <a:latin typeface="Arial"/>
                          <a:ea typeface="Arial"/>
                          <a:cs typeface="Arial"/>
                        </a:rPr>
                        <a:t>Алгоритм Літтла</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36</a:t>
                      </a:r>
                    </a:p>
                  </a:txBody>
                  <a:tcPr marL="114300" marR="114300" marT="66675" marB="66675" anchor="ctr">
                    <a:solidFill>
                      <a:srgbClr val="DDF3EC"/>
                    </a:solidFill>
                  </a:tcPr>
                </a:tc>
                <a:tc>
                  <a:txBody>
                    <a:bodyPr/>
                    <a:lstStyle/>
                    <a:p>
                      <a:r>
                        <a:rPr sz="2175" b="1">
                          <a:solidFill>
                            <a:srgbClr val="00857D"/>
                          </a:solidFill>
                          <a:latin typeface="Arial"/>
                          <a:ea typeface="Arial"/>
                          <a:cs typeface="Arial"/>
                        </a:rPr>
                        <a:t>Глобальний оптимум</a:t>
                      </a:r>
                    </a:p>
                  </a:txBody>
                  <a:tcPr marL="114300" marR="114300" marT="66675" marB="66675" anchor="ctr">
                    <a:solidFill>
                      <a:srgbClr val="DDF3EC"/>
                    </a:solidFill>
                  </a:tcPr>
                </a:tc>
              </a:tr>
              <a:tr h="571500">
                <a:tc>
                  <a:txBody>
                    <a:bodyPr/>
                    <a:lstStyle/>
                    <a:p>
                      <a:r>
                        <a:rPr sz="2175" b="0">
                          <a:solidFill>
                            <a:srgbClr val="173047"/>
                          </a:solidFill>
                          <a:latin typeface="Arial"/>
                          <a:ea typeface="Arial"/>
                          <a:cs typeface="Arial"/>
                        </a:rPr>
                        <a:t>Повний перебір</a:t>
                      </a:r>
                    </a:p>
                  </a:txBody>
                  <a:tcPr marL="114300" marR="114300" marT="66675" marB="66675" anchor="ctr">
                    <a:solidFill>
                      <a:srgbClr val="DDF3EC"/>
                    </a:solidFill>
                  </a:tcPr>
                </a:tc>
                <a:tc>
                  <a:txBody>
                    <a:bodyPr/>
                    <a:lstStyle/>
                    <a:p>
                      <a:r>
                        <a:rPr sz="2175" b="0">
                          <a:solidFill>
                            <a:srgbClr val="173047"/>
                          </a:solidFill>
                          <a:latin typeface="Arial"/>
                          <a:ea typeface="Arial"/>
                          <a:cs typeface="Arial"/>
                        </a:rPr>
                        <a:t>36</a:t>
                      </a:r>
                    </a:p>
                  </a:txBody>
                  <a:tcPr marL="114300" marR="114300" marT="66675" marB="66675" anchor="ctr">
                    <a:solidFill>
                      <a:srgbClr val="DDF3EC"/>
                    </a:solidFill>
                  </a:tcPr>
                </a:tc>
                <a:tc>
                  <a:txBody>
                    <a:bodyPr/>
                    <a:lstStyle/>
                    <a:p>
                      <a:r>
                        <a:rPr sz="2175" b="0">
                          <a:solidFill>
                            <a:srgbClr val="173047"/>
                          </a:solidFill>
                          <a:latin typeface="Arial"/>
                          <a:ea typeface="Arial"/>
                          <a:cs typeface="Arial"/>
                        </a:rPr>
                        <a:t>Точний, тут 120 маршрутів</a:t>
                      </a:r>
                    </a:p>
                  </a:txBody>
                  <a:tcPr marL="114300" marR="114300" marT="66675" marB="66675" anchor="ctr">
                    <a:solidFill>
                      <a:srgbClr val="DDF3EC"/>
                    </a:solidFill>
                  </a:tcPr>
                </a:tc>
              </a:tr>
              <a:tr h="571500">
                <a:tc>
                  <a:txBody>
                    <a:bodyPr/>
                    <a:lstStyle/>
                    <a:p>
                      <a:r>
                        <a:rPr sz="2175" b="0">
                          <a:solidFill>
                            <a:srgbClr val="173047"/>
                          </a:solidFill>
                          <a:latin typeface="Arial"/>
                          <a:ea typeface="Arial"/>
                          <a:cs typeface="Arial"/>
                        </a:rPr>
                        <a:t>Динамічне програмування</a:t>
                      </a:r>
                    </a:p>
                  </a:txBody>
                  <a:tcPr marL="114300" marR="114300" marT="66675" marB="66675" anchor="ctr">
                    <a:solidFill>
                      <a:srgbClr val="DDF3EC"/>
                    </a:solidFill>
                  </a:tcPr>
                </a:tc>
                <a:tc>
                  <a:txBody>
                    <a:bodyPr/>
                    <a:lstStyle/>
                    <a:p>
                      <a:r>
                        <a:rPr sz="2175" b="0">
                          <a:solidFill>
                            <a:srgbClr val="173047"/>
                          </a:solidFill>
                          <a:latin typeface="Arial"/>
                          <a:ea typeface="Arial"/>
                          <a:cs typeface="Arial"/>
                        </a:rPr>
                        <a:t>36</a:t>
                      </a:r>
                    </a:p>
                  </a:txBody>
                  <a:tcPr marL="114300" marR="114300" marT="66675" marB="66675" anchor="ctr">
                    <a:solidFill>
                      <a:srgbClr val="DDF3EC"/>
                    </a:solidFill>
                  </a:tcPr>
                </a:tc>
                <a:tc>
                  <a:txBody>
                    <a:bodyPr/>
                    <a:lstStyle/>
                    <a:p>
                      <a:r>
                        <a:rPr sz="2175" b="0">
                          <a:solidFill>
                            <a:srgbClr val="173047"/>
                          </a:solidFill>
                          <a:latin typeface="Arial"/>
                          <a:ea typeface="Arial"/>
                          <a:cs typeface="Arial"/>
                        </a:rPr>
                        <a:t>Точний, ріст O(n²2ⁿ)</a:t>
                      </a:r>
                    </a:p>
                  </a:txBody>
                  <a:tcPr marL="114300" marR="114300" marT="66675" marB="66675" anchor="ctr">
                    <a:solidFill>
                      <a:srgbClr val="DDF3EC"/>
                    </a:solidFill>
                  </a:tcPr>
                </a:tc>
              </a:tr>
            </a:tbl>
          </a:graphicData>
        </a:graphic>
      </p:graphicFrame>
    </p:spTree>
    <p:extLst>
      <p:ext uri="{BB962C8B-B14F-4D97-AF65-F5344CB8AC3E}">
        <p14:creationId xmlns:p14="http://schemas.microsoft.com/office/powerpoint/2010/main" val="117492033"/>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468C8A-6C8E-4F16-9C7B-D05966EAC6E6}"/>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Якість маршрутів на одній матриці</a:t>
            </a:r>
          </a:p>
        </p:txBody>
      </p:sp>
      <p:sp>
        <p:nvSpPr>
          <p:cNvPr id="2" name="">
            <a:extLst xmlns:a="http://schemas.openxmlformats.org/drawingml/2006/main">
              <a:ext uri="{FF2B5EF4-FFF2-40B4-BE49-F238E27FC236}">
                <a16:creationId xmlns:a16="http://schemas.microsoft.com/office/drawing/2014/main" id="{0763D1BB-51EA-449E-8444-D4D8E3B9C0F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Точний оптимум: 36 хв. Найближчий сусід додає 8 хв, 2-opt додає 7 хв.</a:t>
            </a:r>
          </a:p>
        </p:txBody>
      </p:sp>
      <p:sp>
        <p:nvSpPr>
          <p:cNvPr id="3" name="">
            <a:extLst xmlns:a="http://schemas.openxmlformats.org/drawingml/2006/main">
              <a:ext uri="{FF2B5EF4-FFF2-40B4-BE49-F238E27FC236}">
                <a16:creationId xmlns:a16="http://schemas.microsoft.com/office/drawing/2014/main" id="{FC1476DC-0D93-43D0-8699-1F74CF3B399F}"/>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t>95</a:t>
            </a:r>
          </a:p>
        </p:txBody>
      </p:sp>
      <p:graphicFrame>
        <p:nvGraphicFramePr>
          <p:cNvPr id="4" name="Chart">
            <a:extLst xmlns:a="http://schemas.openxmlformats.org/drawingml/2006/main">
              <a:ext uri="{FF2B5EF4-FFF2-40B4-BE49-F238E27FC236}">
                <a16:creationId xmlns:a16="http://schemas.microsoft.com/office/drawing/2014/main" id="{6A6A51E1-B868-47B9-997E-1F56B47EF4DF}"/>
              </a:ext>
            </a:extLst>
          </p:cNvPr>
          <p:cNvGraphicFramePr/>
          <p:nvPr/>
        </p:nvGraphicFramePr>
        <p:xfrm>
          <a:off xmlns:a="http://schemas.openxmlformats.org/drawingml/2006/main" x="762000" y="1619250"/>
          <a:ext xmlns:a="http://schemas.openxmlformats.org/drawingml/2006/main" cx="7620000" cy="3971925"/>
        </p:xfrm>
        <a:graphic xmlns:a="http://schemas.openxmlformats.org/drawingml/2006/main">
          <a:graphicData uri="http://schemas.openxmlformats.org/drawingml/2006/chart">
            <c:chart xmlns:r="http://schemas.openxmlformats.org/officeDocument/2006/relationships" xmlns:c="http://schemas.openxmlformats.org/drawingml/2006/chart" r:id="R61f86e2d7f54415a"/>
          </a:graphicData>
        </a:graphic>
      </p:graphicFrame>
      <p:sp>
        <p:nvSpPr>
          <p:cNvPr id="5" name="">
            <a:extLst xmlns:a="http://schemas.openxmlformats.org/drawingml/2006/main">
              <a:ext uri="{FF2B5EF4-FFF2-40B4-BE49-F238E27FC236}">
                <a16:creationId xmlns:a16="http://schemas.microsoft.com/office/drawing/2014/main" id="{BA2CC6FE-D689-4133-B3E3-2830E6AC468F}"/>
              </a:ext>
            </a:extLst>
          </p:cNvPr>
          <p:cNvSpPr>
            <a:spLocks xmlns:a="http://schemas.openxmlformats.org/drawingml/2006/main" noGrp="1"/>
          </p:cNvSpPr>
          <p:nvPr/>
        </p:nvSpPr>
        <p:spPr>
          <a:xfrm xmlns:a="http://schemas.openxmlformats.org/drawingml/2006/main">
            <a:off x="8810625" y="1866900"/>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4725" b="1">
                <a:solidFill>
                  <a:srgbClr val="A96B00"/>
                </a:solidFill>
                <a:latin typeface="Arial"/>
                <a:ea typeface="Arial"/>
                <a:cs typeface="Arial"/>
              </a:defRPr>
            </a:defPPr>
          </a:lstStyle>
          <a:p xmlns:a="http://schemas.openxmlformats.org/drawingml/2006/main">
            <a:pPr algn="l">
              <a:buNone/>
              <a:defRPr sz="4725" b="1">
                <a:solidFill>
                  <a:srgbClr val="A96B00"/>
                </a:solidFill>
                <a:latin typeface="Arial"/>
                <a:ea typeface="Arial"/>
                <a:cs typeface="Arial"/>
              </a:defRPr>
            </a:pPr>
            <a:r>
              <a:rPr sz="4725" b="1">
                <a:solidFill>
                  <a:srgbClr val="A96B00"/>
                </a:solidFill>
                <a:latin typeface="Arial"/>
                <a:ea typeface="Arial"/>
                <a:cs typeface="Arial"/>
              </a:rPr>
              <a:t>8 хв</a:t>
            </a:r>
          </a:p>
        </p:txBody>
      </p:sp>
      <p:sp>
        <p:nvSpPr>
          <p:cNvPr id="6" name="">
            <a:extLst xmlns:a="http://schemas.openxmlformats.org/drawingml/2006/main">
              <a:ext uri="{FF2B5EF4-FFF2-40B4-BE49-F238E27FC236}">
                <a16:creationId xmlns:a16="http://schemas.microsoft.com/office/drawing/2014/main" id="{55513197-AFC7-42FD-B22F-CA2EFD4D7156}"/>
              </a:ext>
            </a:extLst>
          </p:cNvPr>
          <p:cNvSpPr>
            <a:spLocks xmlns:a="http://schemas.openxmlformats.org/drawingml/2006/main" noGrp="1"/>
          </p:cNvSpPr>
          <p:nvPr/>
        </p:nvSpPr>
        <p:spPr>
          <a:xfrm xmlns:a="http://schemas.openxmlformats.org/drawingml/2006/main">
            <a:off x="8810625" y="2590800"/>
            <a:ext cx="2619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66779"/>
                </a:solidFill>
                <a:latin typeface="Arial"/>
                <a:ea typeface="Arial"/>
                <a:cs typeface="Arial"/>
              </a:defRPr>
            </a:defPPr>
          </a:lstStyle>
          <a:p xmlns:a="http://schemas.openxmlformats.org/drawingml/2006/main">
            <a:pPr algn="l">
              <a:buNone/>
              <a:defRPr sz="2175" b="0">
                <a:solidFill>
                  <a:srgbClr val="566779"/>
                </a:solidFill>
                <a:latin typeface="Arial"/>
                <a:ea typeface="Arial"/>
                <a:cs typeface="Arial"/>
              </a:defRPr>
            </a:pPr>
            <a:r>
              <a:rPr sz="2175" b="0">
                <a:solidFill>
                  <a:srgbClr val="566779"/>
                </a:solidFill>
                <a:latin typeface="Arial"/>
                <a:ea typeface="Arial"/>
                <a:cs typeface="Arial"/>
              </a:rPr>
              <a:t>Зайві у маршруті</a:t>
            </a:r>
          </a:p>
          <a:p xmlns:a="http://schemas.openxmlformats.org/drawingml/2006/main">
            <a:pPr algn="l">
              <a:buNone/>
              <a:defRPr sz="2175" b="0">
                <a:solidFill>
                  <a:srgbClr val="566779"/>
                </a:solidFill>
                <a:latin typeface="Arial"/>
                <a:ea typeface="Arial"/>
                <a:cs typeface="Arial"/>
              </a:defRPr>
            </a:pPr>
            <a:r>
              <a:rPr sz="2175" b="0">
                <a:solidFill>
                  <a:srgbClr val="566779"/>
                </a:solidFill>
                <a:latin typeface="Arial"/>
                <a:ea typeface="Arial"/>
                <a:cs typeface="Arial"/>
              </a:rPr>
              <a:t>найближчого сусіда</a:t>
            </a:r>
          </a:p>
        </p:txBody>
      </p:sp>
      <p:sp>
        <p:nvSpPr>
          <p:cNvPr id="7" name="">
            <a:extLst xmlns:a="http://schemas.openxmlformats.org/drawingml/2006/main">
              <a:ext uri="{FF2B5EF4-FFF2-40B4-BE49-F238E27FC236}">
                <a16:creationId xmlns:a16="http://schemas.microsoft.com/office/drawing/2014/main" id="{94DE1BFB-19C6-47DE-A8BE-B63E00FF2582}"/>
              </a:ext>
            </a:extLst>
          </p:cNvPr>
          <p:cNvSpPr>
            <a:spLocks xmlns:a="http://schemas.openxmlformats.org/drawingml/2006/main" noGrp="1"/>
          </p:cNvSpPr>
          <p:nvPr/>
        </p:nvSpPr>
        <p:spPr>
          <a:xfrm xmlns:a="http://schemas.openxmlformats.org/drawingml/2006/main">
            <a:off x="8810625" y="397192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4725" b="1">
                <a:solidFill>
                  <a:srgbClr val="2868AF"/>
                </a:solidFill>
                <a:latin typeface="Arial"/>
                <a:ea typeface="Arial"/>
                <a:cs typeface="Arial"/>
              </a:defRPr>
            </a:defPPr>
          </a:lstStyle>
          <a:p xmlns:a="http://schemas.openxmlformats.org/drawingml/2006/main">
            <a:pPr algn="l">
              <a:buNone/>
              <a:defRPr sz="4725" b="1">
                <a:solidFill>
                  <a:srgbClr val="2868AF"/>
                </a:solidFill>
                <a:latin typeface="Arial"/>
                <a:ea typeface="Arial"/>
                <a:cs typeface="Arial"/>
              </a:defRPr>
            </a:pPr>
            <a:r>
              <a:rPr sz="4725" b="1">
                <a:solidFill>
                  <a:srgbClr val="2868AF"/>
                </a:solidFill>
                <a:latin typeface="Arial"/>
                <a:ea typeface="Arial"/>
                <a:cs typeface="Arial"/>
              </a:rPr>
              <a:t>7 хв</a:t>
            </a:r>
          </a:p>
        </p:txBody>
      </p:sp>
      <p:sp>
        <p:nvSpPr>
          <p:cNvPr id="8" name="">
            <a:extLst xmlns:a="http://schemas.openxmlformats.org/drawingml/2006/main">
              <a:ext uri="{FF2B5EF4-FFF2-40B4-BE49-F238E27FC236}">
                <a16:creationId xmlns:a16="http://schemas.microsoft.com/office/drawing/2014/main" id="{3CAF4549-D277-4C5C-B04E-57CD4D7FA757}"/>
              </a:ext>
            </a:extLst>
          </p:cNvPr>
          <p:cNvSpPr>
            <a:spLocks xmlns:a="http://schemas.openxmlformats.org/drawingml/2006/main" noGrp="1"/>
          </p:cNvSpPr>
          <p:nvPr/>
        </p:nvSpPr>
        <p:spPr>
          <a:xfrm xmlns:a="http://schemas.openxmlformats.org/drawingml/2006/main">
            <a:off x="8810625" y="4762500"/>
            <a:ext cx="2619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66779"/>
                </a:solidFill>
                <a:latin typeface="Arial"/>
                <a:ea typeface="Arial"/>
                <a:cs typeface="Arial"/>
              </a:defRPr>
            </a:defPPr>
          </a:lstStyle>
          <a:p xmlns:a="http://schemas.openxmlformats.org/drawingml/2006/main">
            <a:pPr algn="l">
              <a:buNone/>
              <a:defRPr sz="2175" b="0">
                <a:solidFill>
                  <a:srgbClr val="566779"/>
                </a:solidFill>
                <a:latin typeface="Arial"/>
                <a:ea typeface="Arial"/>
                <a:cs typeface="Arial"/>
              </a:defRPr>
            </a:pPr>
            <a:r>
              <a:rPr sz="2175" b="0">
                <a:solidFill>
                  <a:srgbClr val="566779"/>
                </a:solidFill>
                <a:latin typeface="Arial"/>
                <a:ea typeface="Arial"/>
                <a:cs typeface="Arial"/>
              </a:rPr>
              <a:t>Зайві після 2-opt</a:t>
            </a:r>
          </a:p>
        </p:txBody>
      </p:sp>
    </p:spTree>
    <p:extLst>
      <p:ext uri="{BB962C8B-B14F-4D97-AF65-F5344CB8AC3E}">
        <p14:creationId xmlns:p14="http://schemas.microsoft.com/office/powerpoint/2010/main" val="198896927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F5CBF7-8920-4B71-BDC0-3C5E134A3B98}"/>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Методи ШІ для дискретного пошуку</a:t>
            </a:r>
          </a:p>
        </p:txBody>
      </p:sp>
      <p:sp>
        <p:nvSpPr>
          <p:cNvPr id="2" name="">
            <a:extLst xmlns:a="http://schemas.openxmlformats.org/drawingml/2006/main">
              <a:ext uri="{FF2B5EF4-FFF2-40B4-BE49-F238E27FC236}">
                <a16:creationId xmlns:a16="http://schemas.microsoft.com/office/drawing/2014/main" id="{57663B3C-AA57-4EA0-B79C-E13CF2E6877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Загального доказу оптимальності ці евристики не дають.</a:t>
            </a:r>
          </a:p>
        </p:txBody>
      </p:sp>
      <p:sp>
        <p:nvSpPr>
          <p:cNvPr id="3" name="">
            <a:extLst xmlns:a="http://schemas.openxmlformats.org/drawingml/2006/main">
              <a:ext uri="{FF2B5EF4-FFF2-40B4-BE49-F238E27FC236}">
                <a16:creationId xmlns:a16="http://schemas.microsoft.com/office/drawing/2014/main" id="{A6E27C4D-0339-4A0A-9947-E58C82798941}"/>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96</a:t>
            </a:r>
          </a:p>
        </p:txBody>
      </p:sp>
      <p:graphicFrame>
        <p:nvGraphicFramePr>
          <p:cNvPr id="4" name="">
            <a:extLst xmlns:a="http://schemas.openxmlformats.org/drawingml/2006/main">
              <a:ext uri="{FF2B5EF4-FFF2-40B4-BE49-F238E27FC236}">
                <a16:creationId xmlns:a16="http://schemas.microsoft.com/office/drawing/2014/main" id="{E4346EE4-0441-4FA3-A469-C62A8B91D02E}"/>
              </a:ext>
            </a:extLst>
          </p:cNvPr>
          <p:cNvGraphicFramePr/>
          <p:nvPr/>
        </p:nvGraphicFramePr>
        <p:xfrm>
          <a:off xmlns:a="http://schemas.openxmlformats.org/drawingml/2006/main" x="762000" y="1562100"/>
          <a:ext xmlns:a="http://schemas.openxmlformats.org/drawingml/2006/main" cx="10668000" cy="3400425"/>
        </p:xfrm>
        <a:graphic xmlns:a="http://schemas.openxmlformats.org/drawingml/2006/main">
          <a:graphicData uri="http://schemas.openxmlformats.org/drawingml/2006/table">
            <a:tbl>
              <a:tblPr/>
              <a:tblGrid>
                <a:gridCol w="3952875"/>
                <a:gridCol w="6715125"/>
              </a:tblGrid>
              <a:tr h="619125">
                <a:tc>
                  <a:txBody>
                    <a:bodyPr/>
                    <a:lstStyle/>
                    <a:p>
                      <a:r>
                        <a:rPr sz="2175" b="1">
                          <a:solidFill>
                            <a:srgbClr val="FFFFFF"/>
                          </a:solidFill>
                          <a:latin typeface="Arial"/>
                          <a:ea typeface="Arial"/>
                          <a:cs typeface="Arial"/>
                        </a:rPr>
                        <a:t>Метод</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Як змінює маршрут</a:t>
                      </a:r>
                    </a:p>
                  </a:txBody>
                  <a:tcPr marL="114300" marR="114300" marT="66675" marB="66675" anchor="ctr">
                    <a:solidFill>
                      <a:srgbClr val="173047"/>
                    </a:solidFill>
                  </a:tcPr>
                </a:tc>
              </a:tr>
              <a:tr h="619125">
                <a:tc>
                  <a:txBody>
                    <a:bodyPr/>
                    <a:lstStyle/>
                    <a:p>
                      <a:r>
                        <a:rPr sz="2175">
                          <a:solidFill>
                            <a:srgbClr val="173047"/>
                          </a:solidFill>
                          <a:latin typeface="Arial"/>
                          <a:ea typeface="Arial"/>
                          <a:cs typeface="Arial"/>
                        </a:rPr>
                        <a:t>Випадковий пошук</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Перебирає випадкові перестановки</a:t>
                      </a:r>
                    </a:p>
                  </a:txBody>
                  <a:tcPr marL="114300" marR="114300" marT="66675" marB="66675" anchor="ctr">
                    <a:solidFill>
                      <a:srgbClr val="FFFFFF"/>
                    </a:solidFill>
                  </a:tcPr>
                </a:tc>
              </a:tr>
              <a:tr h="866775">
                <a:tc>
                  <a:txBody>
                    <a:bodyPr/>
                    <a:lstStyle/>
                    <a:p>
                      <a:r>
                        <a:rPr sz="2175">
                          <a:solidFill>
                            <a:srgbClr val="173047"/>
                          </a:solidFill>
                          <a:latin typeface="Arial"/>
                          <a:ea typeface="Arial"/>
                          <a:cs typeface="Arial"/>
                        </a:rPr>
                        <a:t>Імітація відпалу</a:t>
                      </a:r>
                    </a:p>
                  </a:txBody>
                  <a:tcPr marL="114300" marR="114300" marT="66675" marB="66675" anchor="ctr">
                    <a:solidFill>
                      <a:srgbClr val="F1F5F8"/>
                    </a:solidFill>
                  </a:tcPr>
                </a:tc>
                <a:tc>
                  <a:txBody>
                    <a:bodyPr/>
                    <a:lstStyle/>
                    <a:p>
                      <a:r>
                        <a:rPr sz="2175">
                          <a:solidFill>
                            <a:srgbClr val="173047"/>
                          </a:solidFill>
                          <a:latin typeface="Arial"/>
                          <a:ea typeface="Arial"/>
                          <a:cs typeface="Arial"/>
                        </a:rPr>
                        <a:t>Іноді приймає погіршення, щоб вийти з локального мінімуму</a:t>
                      </a:r>
                    </a:p>
                  </a:txBody>
                  <a:tcPr marL="114300" marR="114300" marT="66675" marB="66675" anchor="ctr">
                    <a:solidFill>
                      <a:srgbClr val="F1F5F8"/>
                    </a:solidFill>
                  </a:tcPr>
                </a:tc>
              </a:tr>
              <a:tr h="647700">
                <a:tc>
                  <a:txBody>
                    <a:bodyPr/>
                    <a:lstStyle/>
                    <a:p>
                      <a:r>
                        <a:rPr sz="2175">
                          <a:solidFill>
                            <a:srgbClr val="173047"/>
                          </a:solidFill>
                          <a:latin typeface="Arial"/>
                          <a:ea typeface="Arial"/>
                          <a:cs typeface="Arial"/>
                        </a:rPr>
                        <a:t>Генетичний алгоритм</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Поєднує й змінює маршрути в популяції</a:t>
                      </a:r>
                    </a:p>
                  </a:txBody>
                  <a:tcPr marL="114300" marR="114300" marT="66675" marB="66675" anchor="ctr">
                    <a:solidFill>
                      <a:srgbClr val="FFFFFF"/>
                    </a:solidFill>
                  </a:tcPr>
                </a:tc>
              </a:tr>
              <a:tr h="647700">
                <a:tc>
                  <a:txBody>
                    <a:bodyPr/>
                    <a:lstStyle/>
                    <a:p>
                      <a:r>
                        <a:rPr sz="2175">
                          <a:solidFill>
                            <a:srgbClr val="173047"/>
                          </a:solidFill>
                          <a:latin typeface="Arial"/>
                          <a:ea typeface="Arial"/>
                          <a:cs typeface="Arial"/>
                        </a:rPr>
                        <a:t>Мурашиний алгоритм</a:t>
                      </a:r>
                    </a:p>
                  </a:txBody>
                  <a:tcPr marL="114300" marR="114300" marT="66675" marB="66675" anchor="ctr">
                    <a:solidFill>
                      <a:srgbClr val="F1F5F8"/>
                    </a:solidFill>
                  </a:tcPr>
                </a:tc>
                <a:tc>
                  <a:txBody>
                    <a:bodyPr/>
                    <a:lstStyle/>
                    <a:p>
                      <a:r>
                        <a:rPr sz="2175">
                          <a:solidFill>
                            <a:srgbClr val="173047"/>
                          </a:solidFill>
                          <a:latin typeface="Arial"/>
                          <a:ea typeface="Arial"/>
                          <a:cs typeface="Arial"/>
                        </a:rPr>
                        <a:t>Будує маршрут за вартістю та феромоном</a:t>
                      </a:r>
                    </a:p>
                  </a:txBody>
                  <a:tcPr marL="114300" marR="114300" marT="66675" marB="66675" anchor="ctr">
                    <a:solidFill>
                      <a:srgbClr val="F1F5F8"/>
                    </a:solidFill>
                  </a:tcPr>
                </a:tc>
              </a:tr>
            </a:tbl>
          </a:graphicData>
        </a:graphic>
      </p:graphicFrame>
      <p:sp>
        <p:nvSpPr>
          <p:cNvPr id="5" name="">
            <a:extLst xmlns:a="http://schemas.openxmlformats.org/drawingml/2006/main">
              <a:ext uri="{FF2B5EF4-FFF2-40B4-BE49-F238E27FC236}">
                <a16:creationId xmlns:a16="http://schemas.microsoft.com/office/drawing/2014/main" id="{A7D4018B-F50D-4516-9E87-A05BE1C8AC88}"/>
              </a:ext>
            </a:extLst>
          </p:cNvPr>
          <p:cNvSpPr>
            <a:spLocks xmlns:a="http://schemas.openxmlformats.org/drawingml/2006/main" noGrp="1"/>
          </p:cNvSpPr>
          <p:nvPr/>
        </p:nvSpPr>
        <p:spPr>
          <a:xfrm xmlns:a="http://schemas.openxmlformats.org/drawingml/2006/main">
            <a:off x="762000" y="51339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Порівняння: одна матриця, однаковий час,</a:t>
            </a:r>
          </a:p>
          <a:p xmlns:a="http://schemas.openxmlformats.org/drawingml/2006/main">
            <a:pPr algn="l">
              <a:buNone/>
              <a:defRPr sz="2250" b="0">
                <a:solidFill>
                  <a:srgbClr val="566779"/>
                </a:solidFill>
                <a:latin typeface="Arial"/>
                <a:ea typeface="Arial"/>
                <a:cs typeface="Arial"/>
              </a:defRPr>
            </a:pPr>
            <a:r>
              <a:rPr sz="2250" b="0">
                <a:solidFill>
                  <a:srgbClr val="566779"/>
                </a:solidFill>
                <a:latin typeface="Arial"/>
                <a:ea typeface="Arial"/>
                <a:cs typeface="Arial"/>
              </a:rPr>
              <a:t>кілька запусків і перевірка допустимості.</a:t>
            </a:r>
          </a:p>
        </p:txBody>
      </p:sp>
    </p:spTree>
    <p:extLst>
      <p:ext uri="{BB962C8B-B14F-4D97-AF65-F5344CB8AC3E}">
        <p14:creationId xmlns:p14="http://schemas.microsoft.com/office/powerpoint/2010/main" val="444674412"/>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283C40-75B6-498C-87E8-7CF6E5B5D137}"/>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Практична робота: свій сценарій TSP</a:t>
            </a:r>
          </a:p>
        </p:txBody>
      </p:sp>
      <p:sp>
        <p:nvSpPr>
          <p:cNvPr id="2" name="">
            <a:extLst xmlns:a="http://schemas.openxmlformats.org/drawingml/2006/main">
              <a:ext uri="{FF2B5EF4-FFF2-40B4-BE49-F238E27FC236}">
                <a16:creationId xmlns:a16="http://schemas.microsoft.com/office/drawing/2014/main" id="{2E7C15A5-BD63-49EF-B15D-F1A12F4796A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Звіт пояснює зміну плану, а не лише показує відповідь.</a:t>
            </a:r>
          </a:p>
        </p:txBody>
      </p:sp>
      <p:sp>
        <p:nvSpPr>
          <p:cNvPr id="3" name="">
            <a:extLst xmlns:a="http://schemas.openxmlformats.org/drawingml/2006/main">
              <a:ext uri="{FF2B5EF4-FFF2-40B4-BE49-F238E27FC236}">
                <a16:creationId xmlns:a16="http://schemas.microsoft.com/office/drawing/2014/main" id="{CDE1FD6B-4DD5-457C-8345-FF9B08D24694}"/>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97</a:t>
            </a:r>
          </a:p>
        </p:txBody>
      </p:sp>
      <p:sp>
        <p:nvSpPr>
          <p:cNvPr id="4" name="">
            <a:extLst xmlns:a="http://schemas.openxmlformats.org/drawingml/2006/main">
              <a:ext uri="{FF2B5EF4-FFF2-40B4-BE49-F238E27FC236}">
                <a16:creationId xmlns:a16="http://schemas.microsoft.com/office/drawing/2014/main" id="{02E4F961-4716-49D2-B887-8F3E9A7CBA72}"/>
              </a:ext>
            </a:extLst>
          </p:cNvPr>
          <p:cNvSpPr>
            <a:spLocks xmlns:a="http://schemas.openxmlformats.org/drawingml/2006/main" noGrp="1"/>
          </p:cNvSpPr>
          <p:nvPr/>
        </p:nvSpPr>
        <p:spPr>
          <a:xfrm xmlns:a="http://schemas.openxmlformats.org/drawingml/2006/main">
            <a:off x="762000" y="1476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1. Обґрунтуйте, які ІТ-майданчики треба відвідати</a:t>
            </a:r>
          </a:p>
        </p:txBody>
      </p:sp>
      <p:sp>
        <p:nvSpPr>
          <p:cNvPr id="5" name="">
            <a:extLst xmlns:a="http://schemas.openxmlformats.org/drawingml/2006/main">
              <a:ext uri="{FF2B5EF4-FFF2-40B4-BE49-F238E27FC236}">
                <a16:creationId xmlns:a16="http://schemas.microsoft.com/office/drawing/2014/main" id="{C26F60DE-CFDA-4ECC-9F9C-101C229DB9FE}"/>
              </a:ext>
            </a:extLst>
          </p:cNvPr>
          <p:cNvSpPr>
            <a:spLocks xmlns:a="http://schemas.openxmlformats.org/drawingml/2006/main" noGrp="1"/>
          </p:cNvSpPr>
          <p:nvPr/>
        </p:nvSpPr>
        <p:spPr>
          <a:xfrm xmlns:a="http://schemas.openxmlformats.org/drawingml/2006/main">
            <a:off x="762000" y="24669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2. Змініть одну пару вартостей і повторіть розв’язання</a:t>
            </a:r>
          </a:p>
        </p:txBody>
      </p:sp>
      <p:sp>
        <p:nvSpPr>
          <p:cNvPr id="6" name="">
            <a:extLst xmlns:a="http://schemas.openxmlformats.org/drawingml/2006/main">
              <a:ext uri="{FF2B5EF4-FFF2-40B4-BE49-F238E27FC236}">
                <a16:creationId xmlns:a16="http://schemas.microsoft.com/office/drawing/2014/main" id="{2AF75B21-272D-4CAF-977C-4CFF19485B40}"/>
              </a:ext>
            </a:extLst>
          </p:cNvPr>
          <p:cNvSpPr>
            <a:spLocks xmlns:a="http://schemas.openxmlformats.org/drawingml/2006/main" noGrp="1"/>
          </p:cNvSpPr>
          <p:nvPr/>
        </p:nvSpPr>
        <p:spPr>
          <a:xfrm xmlns:a="http://schemas.openxmlformats.org/drawingml/2006/main">
            <a:off x="762000" y="34575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3. Порівняйте евристику з точним оптимумом</a:t>
            </a:r>
          </a:p>
        </p:txBody>
      </p:sp>
      <p:sp>
        <p:nvSpPr>
          <p:cNvPr id="7" name="">
            <a:extLst xmlns:a="http://schemas.openxmlformats.org/drawingml/2006/main">
              <a:ext uri="{FF2B5EF4-FFF2-40B4-BE49-F238E27FC236}">
                <a16:creationId xmlns:a16="http://schemas.microsoft.com/office/drawing/2014/main" id="{74C4D977-4051-42DA-9D01-48067794BB72}"/>
              </a:ext>
            </a:extLst>
          </p:cNvPr>
          <p:cNvSpPr>
            <a:spLocks xmlns:a="http://schemas.openxmlformats.org/drawingml/2006/main" noGrp="1"/>
          </p:cNvSpPr>
          <p:nvPr/>
        </p:nvSpPr>
        <p:spPr>
          <a:xfrm xmlns:a="http://schemas.openxmlformats.org/drawingml/2006/main">
            <a:off x="762000" y="44481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4. Поясніть кожне відсічення та перевірте маршрут</a:t>
            </a:r>
          </a:p>
        </p:txBody>
      </p:sp>
    </p:spTree>
    <p:extLst>
      <p:ext uri="{BB962C8B-B14F-4D97-AF65-F5344CB8AC3E}">
        <p14:creationId xmlns:p14="http://schemas.microsoft.com/office/powerpoint/2010/main" val="603864700"/>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4FB2B6-930C-4A58-8FAE-AC4B5D127869}"/>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Самоперевірка</a:t>
            </a:r>
          </a:p>
        </p:txBody>
      </p:sp>
      <p:sp>
        <p:nvSpPr>
          <p:cNvPr id="2" name="">
            <a:extLst xmlns:a="http://schemas.openxmlformats.org/drawingml/2006/main">
              <a:ext uri="{FF2B5EF4-FFF2-40B4-BE49-F238E27FC236}">
                <a16:creationId xmlns:a16="http://schemas.microsoft.com/office/drawing/2014/main" id="{F629C703-AFF7-4B0B-AD4D-CC3097BDC82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Пояснення підциклу важливіше за запам’ятовування параметрів.</a:t>
            </a:r>
          </a:p>
        </p:txBody>
      </p:sp>
      <p:sp>
        <p:nvSpPr>
          <p:cNvPr id="3" name="">
            <a:extLst xmlns:a="http://schemas.openxmlformats.org/drawingml/2006/main">
              <a:ext uri="{FF2B5EF4-FFF2-40B4-BE49-F238E27FC236}">
                <a16:creationId xmlns:a16="http://schemas.microsoft.com/office/drawing/2014/main" id="{B22BC612-E00E-4D16-8646-B26BACB1D87A}"/>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98</a:t>
            </a:r>
          </a:p>
        </p:txBody>
      </p:sp>
      <p:sp>
        <p:nvSpPr>
          <p:cNvPr id="4" name="">
            <a:extLst xmlns:a="http://schemas.openxmlformats.org/drawingml/2006/main">
              <a:ext uri="{FF2B5EF4-FFF2-40B4-BE49-F238E27FC236}">
                <a16:creationId xmlns:a16="http://schemas.microsoft.com/office/drawing/2014/main" id="{4E18CC2B-9EBC-4137-B8FA-C90886D31FB6}"/>
              </a:ext>
            </a:extLst>
          </p:cNvPr>
          <p:cNvSpPr>
            <a:spLocks xmlns:a="http://schemas.openxmlformats.org/drawingml/2006/main" noGrp="1"/>
          </p:cNvSpPr>
          <p:nvPr/>
        </p:nvSpPr>
        <p:spPr>
          <a:xfrm xmlns:a="http://schemas.openxmlformats.org/drawingml/2006/main">
            <a:off x="762000" y="14954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Чому план вартістю 12 не розв’язує TSP?</a:t>
            </a:r>
          </a:p>
        </p:txBody>
      </p:sp>
      <p:sp>
        <p:nvSpPr>
          <p:cNvPr id="5" name="">
            <a:extLst xmlns:a="http://schemas.openxmlformats.org/drawingml/2006/main">
              <a:ext uri="{FF2B5EF4-FFF2-40B4-BE49-F238E27FC236}">
                <a16:creationId xmlns:a16="http://schemas.microsoft.com/office/drawing/2014/main" id="{E29D97C1-A30D-4485-A080-218E8D9D6561}"/>
              </a:ext>
            </a:extLst>
          </p:cNvPr>
          <p:cNvSpPr>
            <a:spLocks xmlns:a="http://schemas.openxmlformats.org/drawingml/2006/main" noGrp="1"/>
          </p:cNvSpPr>
          <p:nvPr/>
        </p:nvSpPr>
        <p:spPr>
          <a:xfrm xmlns:a="http://schemas.openxmlformats.org/drawingml/2006/main">
            <a:off x="762000" y="24860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Чому x(S,A)+x(A,S)≤1 є коректною умовою?</a:t>
            </a:r>
          </a:p>
        </p:txBody>
      </p:sp>
      <p:sp>
        <p:nvSpPr>
          <p:cNvPr id="6" name="">
            <a:extLst xmlns:a="http://schemas.openxmlformats.org/drawingml/2006/main">
              <a:ext uri="{FF2B5EF4-FFF2-40B4-BE49-F238E27FC236}">
                <a16:creationId xmlns:a16="http://schemas.microsoft.com/office/drawing/2014/main" id="{1AAF9C65-9759-4AD8-9E42-3F76A45DCEB0}"/>
              </a:ext>
            </a:extLst>
          </p:cNvPr>
          <p:cNvSpPr>
            <a:spLocks xmlns:a="http://schemas.openxmlformats.org/drawingml/2006/main" noGrp="1"/>
          </p:cNvSpPr>
          <p:nvPr/>
        </p:nvSpPr>
        <p:spPr>
          <a:xfrm xmlns:a="http://schemas.openxmlformats.org/drawingml/2006/main">
            <a:off x="762000" y="3476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Чому локальний оптимум 43 не є глобальним?</a:t>
            </a:r>
          </a:p>
        </p:txBody>
      </p:sp>
      <p:sp>
        <p:nvSpPr>
          <p:cNvPr id="7" name="">
            <a:extLst xmlns:a="http://schemas.openxmlformats.org/drawingml/2006/main">
              <a:ext uri="{FF2B5EF4-FFF2-40B4-BE49-F238E27FC236}">
                <a16:creationId xmlns:a16="http://schemas.microsoft.com/office/drawing/2014/main" id="{4526E330-778D-4463-9A58-FB785CFE2307}"/>
              </a:ext>
            </a:extLst>
          </p:cNvPr>
          <p:cNvSpPr>
            <a:spLocks xmlns:a="http://schemas.openxmlformats.org/drawingml/2006/main" noGrp="1"/>
          </p:cNvSpPr>
          <p:nvPr/>
        </p:nvSpPr>
        <p:spPr>
          <a:xfrm xmlns:a="http://schemas.openxmlformats.org/drawingml/2006/main">
            <a:off x="762000" y="44672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Які дві оцінки доводять оптимальність 36?</a:t>
            </a:r>
          </a:p>
        </p:txBody>
      </p:sp>
    </p:spTree>
    <p:extLst>
      <p:ext uri="{BB962C8B-B14F-4D97-AF65-F5344CB8AC3E}">
        <p14:creationId xmlns:p14="http://schemas.microsoft.com/office/powerpoint/2010/main" val="241717870"/>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CFE1CE-27A6-46F6-B853-E20732ECA47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Що треба вміти після лекції</a:t>
            </a:r>
          </a:p>
        </p:txBody>
      </p:sp>
      <p:sp>
        <p:nvSpPr>
          <p:cNvPr id="2" name="">
            <a:extLst xmlns:a="http://schemas.openxmlformats.org/drawingml/2006/main">
              <a:ext uri="{FF2B5EF4-FFF2-40B4-BE49-F238E27FC236}">
                <a16:creationId xmlns:a16="http://schemas.microsoft.com/office/drawing/2014/main" id="{05BF5DE9-E11D-487D-BFA5-225C427A15C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Модель, алгоритм, код і перевірка мають узгоджуватися.</a:t>
            </a:r>
          </a:p>
        </p:txBody>
      </p:sp>
      <p:sp>
        <p:nvSpPr>
          <p:cNvPr id="3" name="">
            <a:extLst xmlns:a="http://schemas.openxmlformats.org/drawingml/2006/main">
              <a:ext uri="{FF2B5EF4-FFF2-40B4-BE49-F238E27FC236}">
                <a16:creationId xmlns:a16="http://schemas.microsoft.com/office/drawing/2014/main" id="{21F7A04D-CF38-4895-9893-E27ABB1E2B84}"/>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99</a:t>
            </a:r>
          </a:p>
        </p:txBody>
      </p:sp>
      <p:graphicFrame>
        <p:nvGraphicFramePr>
          <p:cNvPr id="4" name="">
            <a:extLst xmlns:a="http://schemas.openxmlformats.org/drawingml/2006/main">
              <a:ext uri="{FF2B5EF4-FFF2-40B4-BE49-F238E27FC236}">
                <a16:creationId xmlns:a16="http://schemas.microsoft.com/office/drawing/2014/main" id="{10DD97B8-82C9-410C-BD9D-4DC2C9C8B431}"/>
              </a:ext>
            </a:extLst>
          </p:cNvPr>
          <p:cNvGraphicFramePr/>
          <p:nvPr/>
        </p:nvGraphicFramePr>
        <p:xfrm>
          <a:off xmlns:a="http://schemas.openxmlformats.org/drawingml/2006/main" x="762000" y="1533525"/>
          <a:ext xmlns:a="http://schemas.openxmlformats.org/drawingml/2006/main" cx="10668000" cy="4095750"/>
        </p:xfrm>
        <a:graphic xmlns:a="http://schemas.openxmlformats.org/drawingml/2006/main">
          <a:graphicData uri="http://schemas.openxmlformats.org/drawingml/2006/table">
            <a:tbl>
              <a:tblPr/>
              <a:tblGrid>
                <a:gridCol w="4048125"/>
                <a:gridCol w="6619875"/>
              </a:tblGrid>
              <a:tr h="682625">
                <a:tc>
                  <a:txBody>
                    <a:bodyPr/>
                    <a:lstStyle/>
                    <a:p>
                      <a:r>
                        <a:rPr sz="2250" b="1">
                          <a:solidFill>
                            <a:srgbClr val="FFFFFF"/>
                          </a:solidFill>
                          <a:latin typeface="Arial"/>
                          <a:ea typeface="Arial"/>
                          <a:cs typeface="Arial"/>
                        </a:rPr>
                        <a:t>Уміння</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Перевірюваний результат</a:t>
                      </a:r>
                    </a:p>
                  </a:txBody>
                  <a:tcPr marL="114300" marR="114300" marT="66675" marB="66675" anchor="ctr">
                    <a:solidFill>
                      <a:srgbClr val="173047"/>
                    </a:solidFill>
                  </a:tcPr>
                </a:tc>
              </a:tr>
              <a:tr h="682625">
                <a:tc>
                  <a:txBody>
                    <a:bodyPr/>
                    <a:lstStyle/>
                    <a:p>
                      <a:r>
                        <a:rPr sz="2250">
                          <a:solidFill>
                            <a:srgbClr val="173047"/>
                          </a:solidFill>
                          <a:latin typeface="Arial"/>
                          <a:ea typeface="Arial"/>
                          <a:cs typeface="Arial"/>
                        </a:rPr>
                        <a:t>Вибрати типи змінних</a:t>
                      </a:r>
                    </a:p>
                  </a:txBody>
                  <a:tcPr marL="114300" marR="114300" marT="66675" marB="66675" anchor="ctr">
                    <a:solidFill>
                      <a:srgbClr val="FFFFFF"/>
                    </a:solidFill>
                  </a:tcPr>
                </a:tc>
                <a:tc>
                  <a:txBody>
                    <a:bodyPr/>
                    <a:lstStyle/>
                    <a:p>
                      <a:r>
                        <a:rPr sz="2250">
                          <a:solidFill>
                            <a:srgbClr val="173047"/>
                          </a:solidFill>
                          <a:latin typeface="Arial"/>
                          <a:ea typeface="Arial"/>
                          <a:cs typeface="Arial"/>
                        </a:rPr>
                        <a:t>Цілі кількості або бінарні переходи</a:t>
                      </a:r>
                    </a:p>
                  </a:txBody>
                  <a:tcPr marL="114300" marR="114300" marT="66675" marB="66675" anchor="ctr">
                    <a:solidFill>
                      <a:srgbClr val="FFFFFF"/>
                    </a:solidFill>
                  </a:tcPr>
                </a:tc>
              </a:tr>
              <a:tr h="682625">
                <a:tc>
                  <a:txBody>
                    <a:bodyPr/>
                    <a:lstStyle/>
                    <a:p>
                      <a:r>
                        <a:rPr sz="2250">
                          <a:solidFill>
                            <a:srgbClr val="173047"/>
                          </a:solidFill>
                          <a:latin typeface="Arial"/>
                          <a:ea typeface="Arial"/>
                          <a:cs typeface="Arial"/>
                        </a:rPr>
                        <a:t>Побудувати модель</a:t>
                      </a:r>
                    </a:p>
                  </a:txBody>
                  <a:tcPr marL="114300" marR="114300" marT="66675" marB="66675" anchor="ctr">
                    <a:solidFill>
                      <a:srgbClr val="F1F5F8"/>
                    </a:solidFill>
                  </a:tcPr>
                </a:tc>
                <a:tc>
                  <a:txBody>
                    <a:bodyPr/>
                    <a:lstStyle/>
                    <a:p>
                      <a:r>
                        <a:rPr sz="2250">
                          <a:solidFill>
                            <a:srgbClr val="173047"/>
                          </a:solidFill>
                          <a:latin typeface="Arial"/>
                          <a:ea typeface="Arial"/>
                          <a:cs typeface="Arial"/>
                        </a:rPr>
                        <a:t>Ціль, входи/виходи, умови підциклів</a:t>
                      </a:r>
                    </a:p>
                  </a:txBody>
                  <a:tcPr marL="114300" marR="114300" marT="66675" marB="66675" anchor="ctr">
                    <a:solidFill>
                      <a:srgbClr val="F1F5F8"/>
                    </a:solidFill>
                  </a:tcPr>
                </a:tc>
              </a:tr>
              <a:tr h="682625">
                <a:tc>
                  <a:txBody>
                    <a:bodyPr/>
                    <a:lstStyle/>
                    <a:p>
                      <a:r>
                        <a:rPr sz="2250">
                          <a:solidFill>
                            <a:srgbClr val="173047"/>
                          </a:solidFill>
                          <a:latin typeface="Arial"/>
                          <a:ea typeface="Arial"/>
                          <a:cs typeface="Arial"/>
                        </a:rPr>
                        <a:t>Пояснити метод</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Гілка, межа або нове відсічення</a:t>
                      </a:r>
                    </a:p>
                  </a:txBody>
                  <a:tcPr marL="114300" marR="114300" marT="66675" marB="66675" anchor="ctr">
                    <a:solidFill>
                      <a:srgbClr val="FFFFFF"/>
                    </a:solidFill>
                  </a:tcPr>
                </a:tc>
              </a:tr>
              <a:tr h="682625">
                <a:tc>
                  <a:txBody>
                    <a:bodyPr/>
                    <a:lstStyle/>
                    <a:p>
                      <a:r>
                        <a:rPr sz="2250">
                          <a:solidFill>
                            <a:srgbClr val="173047"/>
                          </a:solidFill>
                          <a:latin typeface="Arial"/>
                          <a:ea typeface="Arial"/>
                          <a:cs typeface="Arial"/>
                        </a:rPr>
                        <a:t>Запустити Python</a:t>
                      </a:r>
                    </a:p>
                  </a:txBody>
                  <a:tcPr marL="114300" marR="114300" marT="66675" marB="66675" anchor="ctr">
                    <a:solidFill>
                      <a:srgbClr val="F1F5F8"/>
                    </a:solidFill>
                  </a:tcPr>
                </a:tc>
                <a:tc>
                  <a:txBody>
                    <a:bodyPr/>
                    <a:lstStyle/>
                    <a:p>
                      <a:r>
                        <a:rPr sz="2250">
                          <a:solidFill>
                            <a:srgbClr val="173047"/>
                          </a:solidFill>
                          <a:latin typeface="Arial"/>
                          <a:ea typeface="Arial"/>
                          <a:cs typeface="Arial"/>
                        </a:rPr>
                        <a:t>Допустимий план, статус і значення цілі</a:t>
                      </a:r>
                    </a:p>
                  </a:txBody>
                  <a:tcPr marL="114300" marR="114300" marT="66675" marB="66675" anchor="ctr">
                    <a:solidFill>
                      <a:srgbClr val="F1F5F8"/>
                    </a:solidFill>
                  </a:tcPr>
                </a:tc>
              </a:tr>
              <a:tr h="682625">
                <a:tc>
                  <a:txBody>
                    <a:bodyPr/>
                    <a:lstStyle/>
                    <a:p>
                      <a:r>
                        <a:rPr sz="2250">
                          <a:solidFill>
                            <a:srgbClr val="173047"/>
                          </a:solidFill>
                          <a:latin typeface="Arial"/>
                          <a:ea typeface="Arial"/>
                          <a:cs typeface="Arial"/>
                        </a:rPr>
                        <a:t>Перевірити якість</a:t>
                      </a:r>
                    </a:p>
                  </a:txBody>
                  <a:tcPr marL="114300" marR="114300" marT="66675" marB="66675" anchor="ctr">
                    <a:solidFill>
                      <a:srgbClr val="FFFFFF"/>
                    </a:solidFill>
                  </a:tcPr>
                </a:tc>
                <a:tc>
                  <a:txBody>
                    <a:bodyPr/>
                    <a:lstStyle/>
                    <a:p>
                      <a:r>
                        <a:rPr sz="2250">
                          <a:solidFill>
                            <a:srgbClr val="173047"/>
                          </a:solidFill>
                          <a:latin typeface="Arial"/>
                          <a:ea typeface="Arial"/>
                          <a:cs typeface="Arial"/>
                        </a:rPr>
                        <a:t>Точний оптимум або обґрунтована оцінка</a:t>
                      </a:r>
                    </a:p>
                  </a:txBody>
                  <a:tcPr marL="114300" marR="114300" marT="66675" marB="66675" anchor="ctr">
                    <a:solidFill>
                      <a:srgbClr val="FFFFFF"/>
                    </a:solidFill>
                  </a:tcPr>
                </a:tc>
              </a:tr>
            </a:tbl>
          </a:graphicData>
        </a:graphic>
      </p:graphicFrame>
    </p:spTree>
    <p:extLst>
      <p:ext uri="{BB962C8B-B14F-4D97-AF65-F5344CB8AC3E}">
        <p14:creationId xmlns:p14="http://schemas.microsoft.com/office/powerpoint/2010/main" val="128913236"/>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15085A-B5FC-42BC-AF14-207F41FBEBDA}"/>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Джерела та матеріали практикуму</a:t>
            </a:r>
          </a:p>
        </p:txBody>
      </p:sp>
      <p:sp>
        <p:nvSpPr>
          <p:cNvPr id="2" name="">
            <a:extLst xmlns:a="http://schemas.openxmlformats.org/drawingml/2006/main">
              <a:ext uri="{FF2B5EF4-FFF2-40B4-BE49-F238E27FC236}">
                <a16:creationId xmlns:a16="http://schemas.microsoft.com/office/drawing/2014/main" id="{DF459E8C-9448-46DF-AA29-596FBE1D09F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Повні посилання наведено в нотатках.</a:t>
            </a:r>
          </a:p>
        </p:txBody>
      </p:sp>
      <p:sp>
        <p:nvSpPr>
          <p:cNvPr id="3" name="">
            <a:extLst xmlns:a="http://schemas.openxmlformats.org/drawingml/2006/main">
              <a:ext uri="{FF2B5EF4-FFF2-40B4-BE49-F238E27FC236}">
                <a16:creationId xmlns:a16="http://schemas.microsoft.com/office/drawing/2014/main" id="{A4F0D0AF-EAE3-4CFB-B5D2-7159C88B9236}"/>
              </a:ext>
            </a:extLst>
          </p:cNvPr>
          <p:cNvSpPr>
            <a:spLocks xmlns:a="http://schemas.openxmlformats.org/drawingml/2006/main" noGrp="1"/>
          </p:cNvSpPr>
          <p:nvPr/>
        </p:nvSpPr>
        <p:spPr>
          <a:xfrm xmlns:a="http://schemas.openxmlformats.org/drawingml/2006/main">
            <a:off x="11144250" y="64770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100</a:t>
            </a:r>
          </a:p>
        </p:txBody>
      </p:sp>
      <p:graphicFrame>
        <p:nvGraphicFramePr>
          <p:cNvPr id="4" name="">
            <a:extLst xmlns:a="http://schemas.openxmlformats.org/drawingml/2006/main">
              <a:ext uri="{FF2B5EF4-FFF2-40B4-BE49-F238E27FC236}">
                <a16:creationId xmlns:a16="http://schemas.microsoft.com/office/drawing/2014/main" id="{31081E1B-FC74-4B8A-B5D9-8B6A19D4EE44}"/>
              </a:ext>
            </a:extLst>
          </p:cNvPr>
          <p:cNvGraphicFramePr/>
          <p:nvPr/>
        </p:nvGraphicFramePr>
        <p:xfrm>
          <a:off xmlns:a="http://schemas.openxmlformats.org/drawingml/2006/main" x="762000" y="1524000"/>
          <a:ext xmlns:a="http://schemas.openxmlformats.org/drawingml/2006/main" cx="10668000" cy="3467100"/>
        </p:xfrm>
        <a:graphic xmlns:a="http://schemas.openxmlformats.org/drawingml/2006/main">
          <a:graphicData uri="http://schemas.openxmlformats.org/drawingml/2006/table">
            <a:tbl>
              <a:tblPr/>
              <a:tblGrid>
                <a:gridCol w="5429250"/>
                <a:gridCol w="5238750"/>
              </a:tblGrid>
              <a:tr h="577850">
                <a:tc>
                  <a:txBody>
                    <a:bodyPr/>
                    <a:lstStyle/>
                    <a:p>
                      <a:r>
                        <a:rPr sz="2250" b="1">
                          <a:solidFill>
                            <a:srgbClr val="FFFFFF"/>
                          </a:solidFill>
                          <a:latin typeface="Arial"/>
                          <a:ea typeface="Arial"/>
                          <a:cs typeface="Arial"/>
                        </a:rPr>
                        <a:t>Матеріал</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Джерело</a:t>
                      </a:r>
                    </a:p>
                  </a:txBody>
                  <a:tcPr marL="114300" marR="114300" marT="66675" marB="66675" anchor="ctr">
                    <a:solidFill>
                      <a:srgbClr val="173047"/>
                    </a:solidFill>
                  </a:tcPr>
                </a:tc>
              </a:tr>
              <a:tr h="577850">
                <a:tc>
                  <a:txBody>
                    <a:bodyPr/>
                    <a:lstStyle/>
                    <a:p>
                      <a:r>
                        <a:rPr sz="2250">
                          <a:solidFill>
                            <a:srgbClr val="173047"/>
                          </a:solidFill>
                          <a:latin typeface="Arial"/>
                          <a:ea typeface="Arial"/>
                          <a:cs typeface="Arial"/>
                        </a:rPr>
                        <a:t>Модель TSP та підцикли</a:t>
                      </a:r>
                    </a:p>
                  </a:txBody>
                  <a:tcPr marL="114300" marR="114300" marT="66675" marB="66675" anchor="ctr">
                    <a:solidFill>
                      <a:srgbClr val="FFFFFF"/>
                    </a:solidFill>
                  </a:tcPr>
                </a:tc>
                <a:tc>
                  <a:txBody>
                    <a:bodyPr/>
                    <a:lstStyle/>
                    <a:p>
                      <a:r>
                        <a:rPr sz="2250">
                          <a:solidFill>
                            <a:srgbClr val="173047"/>
                          </a:solidFill>
                          <a:latin typeface="Arial"/>
                          <a:ea typeface="Arial"/>
                          <a:cs typeface="Arial"/>
                        </a:rPr>
                        <a:t>MIT 15.053, Lecture 14</a:t>
                      </a:r>
                    </a:p>
                  </a:txBody>
                  <a:tcPr marL="114300" marR="114300" marT="66675" marB="66675" anchor="ctr">
                    <a:solidFill>
                      <a:srgbClr val="FFFFFF"/>
                    </a:solidFill>
                  </a:tcPr>
                </a:tc>
              </a:tr>
              <a:tr h="577850">
                <a:tc>
                  <a:txBody>
                    <a:bodyPr/>
                    <a:lstStyle/>
                    <a:p>
                      <a:r>
                        <a:rPr sz="2250">
                          <a:solidFill>
                            <a:srgbClr val="173047"/>
                          </a:solidFill>
                          <a:latin typeface="Arial"/>
                          <a:ea typeface="Arial"/>
                          <a:cs typeface="Arial"/>
                        </a:rPr>
                        <a:t>Евристики TSP</a:t>
                      </a:r>
                    </a:p>
                  </a:txBody>
                  <a:tcPr marL="114300" marR="114300" marT="66675" marB="66675" anchor="ctr">
                    <a:solidFill>
                      <a:srgbClr val="F1F5F8"/>
                    </a:solidFill>
                  </a:tcPr>
                </a:tc>
                <a:tc>
                  <a:txBody>
                    <a:bodyPr/>
                    <a:lstStyle/>
                    <a:p>
                      <a:r>
                        <a:rPr sz="2250">
                          <a:solidFill>
                            <a:srgbClr val="173047"/>
                          </a:solidFill>
                          <a:latin typeface="Arial"/>
                          <a:ea typeface="Arial"/>
                          <a:cs typeface="Arial"/>
                        </a:rPr>
                        <a:t>MIT 15.053, Lecture 17</a:t>
                      </a:r>
                    </a:p>
                  </a:txBody>
                  <a:tcPr marL="114300" marR="114300" marT="66675" marB="66675" anchor="ctr">
                    <a:solidFill>
                      <a:srgbClr val="F1F5F8"/>
                    </a:solidFill>
                  </a:tcPr>
                </a:tc>
              </a:tr>
              <a:tr h="577850">
                <a:tc>
                  <a:txBody>
                    <a:bodyPr/>
                    <a:lstStyle/>
                    <a:p>
                      <a:r>
                        <a:rPr sz="2250">
                          <a:solidFill>
                            <a:srgbClr val="173047"/>
                          </a:solidFill>
                          <a:latin typeface="Arial"/>
                          <a:ea typeface="Arial"/>
                          <a:cs typeface="Arial"/>
                        </a:rPr>
                        <a:t>Гілки й межі</a:t>
                      </a:r>
                    </a:p>
                  </a:txBody>
                  <a:tcPr marL="114300" marR="114300" marT="66675" marB="66675" anchor="ctr">
                    <a:solidFill>
                      <a:srgbClr val="FFFFFF"/>
                    </a:solidFill>
                  </a:tcPr>
                </a:tc>
                <a:tc>
                  <a:txBody>
                    <a:bodyPr/>
                    <a:lstStyle/>
                    <a:p>
                      <a:r>
                        <a:rPr sz="2250">
                          <a:solidFill>
                            <a:srgbClr val="173047"/>
                          </a:solidFill>
                          <a:latin typeface="Arial"/>
                          <a:ea typeface="Arial"/>
                          <a:cs typeface="Arial"/>
                        </a:rPr>
                        <a:t>MIT 15.053, Lecture 12</a:t>
                      </a:r>
                    </a:p>
                  </a:txBody>
                  <a:tcPr marL="114300" marR="114300" marT="66675" marB="66675" anchor="ctr">
                    <a:solidFill>
                      <a:srgbClr val="FFFFFF"/>
                    </a:solidFill>
                  </a:tcPr>
                </a:tc>
              </a:tr>
              <a:tr h="577850">
                <a:tc>
                  <a:txBody>
                    <a:bodyPr/>
                    <a:lstStyle/>
                    <a:p>
                      <a:r>
                        <a:rPr sz="2250">
                          <a:solidFill>
                            <a:srgbClr val="173047"/>
                          </a:solidFill>
                          <a:latin typeface="Arial"/>
                          <a:ea typeface="Arial"/>
                          <a:cs typeface="Arial"/>
                        </a:rPr>
                        <a:t>Динамічне програмування</a:t>
                      </a:r>
                    </a:p>
                  </a:txBody>
                  <a:tcPr marL="114300" marR="114300" marT="66675" marB="66675" anchor="ctr">
                    <a:solidFill>
                      <a:srgbClr val="F1F5F8"/>
                    </a:solidFill>
                  </a:tcPr>
                </a:tc>
                <a:tc>
                  <a:txBody>
                    <a:bodyPr/>
                    <a:lstStyle/>
                    <a:p>
                      <a:r>
                        <a:rPr sz="2250">
                          <a:solidFill>
                            <a:srgbClr val="173047"/>
                          </a:solidFill>
                          <a:latin typeface="Arial"/>
                          <a:ea typeface="Arial"/>
                          <a:cs typeface="Arial"/>
                        </a:rPr>
                        <a:t>A. Artale, Bozen-Bolzano</a:t>
                      </a:r>
                    </a:p>
                  </a:txBody>
                  <a:tcPr marL="114300" marR="114300" marT="66675" marB="66675" anchor="ctr">
                    <a:solidFill>
                      <a:srgbClr val="F1F5F8"/>
                    </a:solidFill>
                  </a:tcPr>
                </a:tc>
              </a:tr>
              <a:tr h="577850">
                <a:tc>
                  <a:txBody>
                    <a:bodyPr/>
                    <a:lstStyle/>
                    <a:p>
                      <a:r>
                        <a:rPr sz="2250">
                          <a:solidFill>
                            <a:srgbClr val="173047"/>
                          </a:solidFill>
                          <a:latin typeface="Arial"/>
                          <a:ea typeface="Arial"/>
                          <a:cs typeface="Arial"/>
                        </a:rPr>
                        <a:t>milp та параметри</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Документація SciPy 1.17.0</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87E54DF-BD93-4ABD-B62F-54983AF82888}"/>
              </a:ext>
            </a:extLst>
          </p:cNvPr>
          <p:cNvSpPr>
            <a:spLocks xmlns:a="http://schemas.openxmlformats.org/drawingml/2006/main" noGrp="1"/>
          </p:cNvSpPr>
          <p:nvPr/>
        </p:nvSpPr>
        <p:spPr>
          <a:xfrm xmlns:a="http://schemas.openxmlformats.org/drawingml/2006/main">
            <a:off x="762000" y="52578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66779"/>
                </a:solidFill>
                <a:latin typeface="Courier New"/>
                <a:ea typeface="Courier New"/>
                <a:cs typeface="Courier New"/>
              </a:defRPr>
            </a:defPPr>
          </a:lstStyle>
          <a:p xmlns:a="http://schemas.openxmlformats.org/drawingml/2006/main">
            <a:pPr algn="l">
              <a:buNone/>
              <a:defRPr sz="2025" b="0">
                <a:solidFill>
                  <a:srgbClr val="566779"/>
                </a:solidFill>
                <a:latin typeface="Courier New"/>
                <a:ea typeface="Courier New"/>
                <a:cs typeface="Courier New"/>
              </a:defRPr>
            </a:pPr>
            <a:r>
              <a:rPr sz="2025" b="0">
                <a:solidFill>
                  <a:srgbClr val="566779"/>
                </a:solidFill>
                <a:latin typeface="Courier New"/>
                <a:ea typeface="Courier New"/>
                <a:cs typeface="Courier New"/>
              </a:rPr>
              <a:t>Практикум: tsp_examples.py, vm_gpu_examples.py</a:t>
            </a:r>
          </a:p>
          <a:p xmlns:a="http://schemas.openxmlformats.org/drawingml/2006/main">
            <a:pPr algn="l">
              <a:buNone/>
              <a:defRPr sz="2025" b="0">
                <a:solidFill>
                  <a:srgbClr val="566779"/>
                </a:solidFill>
                <a:latin typeface="Courier New"/>
                <a:ea typeface="Courier New"/>
                <a:cs typeface="Courier New"/>
              </a:defRPr>
            </a:pPr>
            <a:r>
              <a:rPr sz="2025" b="0">
                <a:solidFill>
                  <a:srgbClr val="566779"/>
                </a:solidFill>
                <a:latin typeface="Courier New"/>
                <a:ea typeface="Courier New"/>
                <a:cs typeface="Courier New"/>
              </a:rPr>
              <a:t>Навчальне дерево: branch_bound_steps.py</a:t>
            </a:r>
          </a:p>
        </p:txBody>
      </p:sp>
    </p:spTree>
    <p:extLst>
      <p:ext uri="{BB962C8B-B14F-4D97-AF65-F5344CB8AC3E}">
        <p14:creationId xmlns:p14="http://schemas.microsoft.com/office/powerpoint/2010/main" val="810629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2026-10-12T12:33:08.6440000Z</dcterms:created>
  <dcterms:modified xsi:type="dcterms:W3CDTF">2026-10-12T12:33:08.6440000Z</dcterms:modified>
</coreProperties>
</file>