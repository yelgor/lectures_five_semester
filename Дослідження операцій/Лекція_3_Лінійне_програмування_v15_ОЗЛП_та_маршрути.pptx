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416a25fad54dd2" /><Relationship Type="http://schemas.openxmlformats.org/officeDocument/2006/relationships/extended-properties" Target="/docProps/app.xml" Id="Rb38418d34cad407e" /><Relationship Type="http://schemas.openxmlformats.org/officeDocument/2006/relationships/officeDocument" Target="/ppt/presentation.xml" Id="R25fe09a3692749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7c93aa40c41bc"/>
  </p:sldMasterIdLst>
  <p:notesMasterIdLst>
    <p:notesMasterId xmlns:r="http://schemas.openxmlformats.org/officeDocument/2006/relationships" r:id="Rebebbdef8b604724"/>
  </p:notesMasterIdLst>
  <p:sldIdLst>
    <p:sldId xmlns:r="http://schemas.openxmlformats.org/officeDocument/2006/relationships" id="256" r:id="R9cd853167adf48d7"/>
    <p:sldId xmlns:r="http://schemas.openxmlformats.org/officeDocument/2006/relationships" id="257" r:id="Rf47129e3b1a244df"/>
    <p:sldId xmlns:r="http://schemas.openxmlformats.org/officeDocument/2006/relationships" id="258" r:id="R144bd78901d84fa6"/>
    <p:sldId xmlns:r="http://schemas.openxmlformats.org/officeDocument/2006/relationships" id="259" r:id="Ra0a328c09ddb4fd5"/>
    <p:sldId xmlns:r="http://schemas.openxmlformats.org/officeDocument/2006/relationships" id="260" r:id="Rb1687d1ba9f74a43"/>
    <p:sldId xmlns:r="http://schemas.openxmlformats.org/officeDocument/2006/relationships" id="261" r:id="Rb11913ea33a0420f"/>
    <p:sldId xmlns:r="http://schemas.openxmlformats.org/officeDocument/2006/relationships" id="262" r:id="Rcda9e5c9f69c476d"/>
    <p:sldId xmlns:r="http://schemas.openxmlformats.org/officeDocument/2006/relationships" id="263" r:id="R6bd2a0fa86fe4e6b"/>
    <p:sldId xmlns:r="http://schemas.openxmlformats.org/officeDocument/2006/relationships" id="264" r:id="R634cca086d554b8c"/>
    <p:sldId xmlns:r="http://schemas.openxmlformats.org/officeDocument/2006/relationships" id="265" r:id="Ra86dcdbf9a4c4feb"/>
    <p:sldId xmlns:r="http://schemas.openxmlformats.org/officeDocument/2006/relationships" id="266" r:id="R671a535dec2a4d18"/>
    <p:sldId xmlns:r="http://schemas.openxmlformats.org/officeDocument/2006/relationships" id="267" r:id="Rb8d10bdb24c94d44"/>
    <p:sldId xmlns:r="http://schemas.openxmlformats.org/officeDocument/2006/relationships" id="268" r:id="R74ccd4030be246e2"/>
    <p:sldId xmlns:r="http://schemas.openxmlformats.org/officeDocument/2006/relationships" id="269" r:id="Ra35696cc08fc4ffd"/>
    <p:sldId xmlns:r="http://schemas.openxmlformats.org/officeDocument/2006/relationships" id="270" r:id="R09ad02eee13b41d6"/>
    <p:sldId xmlns:r="http://schemas.openxmlformats.org/officeDocument/2006/relationships" id="271" r:id="Raeefa0c944c74bb2"/>
    <p:sldId xmlns:r="http://schemas.openxmlformats.org/officeDocument/2006/relationships" id="272" r:id="Rb34bbb3154f546e4"/>
    <p:sldId xmlns:r="http://schemas.openxmlformats.org/officeDocument/2006/relationships" id="273" r:id="Re52214e913754269"/>
    <p:sldId xmlns:r="http://schemas.openxmlformats.org/officeDocument/2006/relationships" id="274" r:id="R11a1b0be48664974"/>
    <p:sldId xmlns:r="http://schemas.openxmlformats.org/officeDocument/2006/relationships" id="275" r:id="R34cc5bef0c03439c"/>
    <p:sldId xmlns:r="http://schemas.openxmlformats.org/officeDocument/2006/relationships" id="276" r:id="Ra35f6814aa514a8f"/>
    <p:sldId xmlns:r="http://schemas.openxmlformats.org/officeDocument/2006/relationships" id="277" r:id="R0d86ab751a9a4110"/>
    <p:sldId xmlns:r="http://schemas.openxmlformats.org/officeDocument/2006/relationships" id="278" r:id="Rc34237d49ee7488d"/>
    <p:sldId xmlns:r="http://schemas.openxmlformats.org/officeDocument/2006/relationships" id="279" r:id="R921ccb583f0d463a"/>
    <p:sldId xmlns:r="http://schemas.openxmlformats.org/officeDocument/2006/relationships" id="280" r:id="R08b1e50a48554d5b"/>
    <p:sldId xmlns:r="http://schemas.openxmlformats.org/officeDocument/2006/relationships" id="281" r:id="R3042a1123d6d4932"/>
    <p:sldId xmlns:r="http://schemas.openxmlformats.org/officeDocument/2006/relationships" id="282" r:id="R5a78b74833974c91"/>
    <p:sldId xmlns:r="http://schemas.openxmlformats.org/officeDocument/2006/relationships" id="283" r:id="R8d054ca822524231"/>
    <p:sldId xmlns:r="http://schemas.openxmlformats.org/officeDocument/2006/relationships" id="284" r:id="R54568574c2d24759"/>
    <p:sldId xmlns:r="http://schemas.openxmlformats.org/officeDocument/2006/relationships" id="285" r:id="Rdd7ad7fe60174a9f"/>
    <p:sldId xmlns:r="http://schemas.openxmlformats.org/officeDocument/2006/relationships" id="286" r:id="R17f21d70a9ad49a2"/>
    <p:sldId xmlns:r="http://schemas.openxmlformats.org/officeDocument/2006/relationships" id="287" r:id="R1a3b5be98b9e438a"/>
    <p:sldId xmlns:r="http://schemas.openxmlformats.org/officeDocument/2006/relationships" id="288" r:id="R6a8138a0c6c24c50"/>
    <p:sldId xmlns:r="http://schemas.openxmlformats.org/officeDocument/2006/relationships" id="289" r:id="Rbb05fc04a8864b80"/>
    <p:sldId xmlns:r="http://schemas.openxmlformats.org/officeDocument/2006/relationships" id="290" r:id="Rbd91ba1c10dd4d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7c34d77a344021" /><Relationship Type="http://schemas.openxmlformats.org/officeDocument/2006/relationships/slideMaster" Target="/ppt/slideMasters/slideMaster1.xml" Id="R73f7c93aa40c41bc" /><Relationship Type="http://schemas.openxmlformats.org/officeDocument/2006/relationships/notesMaster" Target="/ppt/notesMasters/notesMaster1.xml" Id="Rebebbdef8b604724" /><Relationship Type="http://schemas.openxmlformats.org/officeDocument/2006/relationships/presProps" Target="/ppt/presProps.xml" Id="Rd6528f90dde746cc" /><Relationship Type="http://schemas.openxmlformats.org/officeDocument/2006/relationships/tableStyles" Target="/ppt/tableStyles.xml" Id="Rf336bce7cd594251" /><Relationship Type="http://schemas.openxmlformats.org/officeDocument/2006/relationships/slide" Target="/ppt/slides/slide1.xml" Id="R9cd853167adf48d7" /><Relationship Type="http://schemas.openxmlformats.org/officeDocument/2006/relationships/slide" Target="/ppt/slides/slide2.xml" Id="Rf47129e3b1a244df" /><Relationship Type="http://schemas.openxmlformats.org/officeDocument/2006/relationships/slide" Target="/ppt/slides/slide3.xml" Id="R144bd78901d84fa6" /><Relationship Type="http://schemas.openxmlformats.org/officeDocument/2006/relationships/slide" Target="/ppt/slides/slide4.xml" Id="Ra0a328c09ddb4fd5" /><Relationship Type="http://schemas.openxmlformats.org/officeDocument/2006/relationships/slide" Target="/ppt/slides/slide5.xml" Id="Rb1687d1ba9f74a43" /><Relationship Type="http://schemas.openxmlformats.org/officeDocument/2006/relationships/slide" Target="/ppt/slides/slide6.xml" Id="Rb11913ea33a0420f" /><Relationship Type="http://schemas.openxmlformats.org/officeDocument/2006/relationships/slide" Target="/ppt/slides/slide7.xml" Id="Rcda9e5c9f69c476d" /><Relationship Type="http://schemas.openxmlformats.org/officeDocument/2006/relationships/slide" Target="/ppt/slides/slide8.xml" Id="R6bd2a0fa86fe4e6b" /><Relationship Type="http://schemas.openxmlformats.org/officeDocument/2006/relationships/slide" Target="/ppt/slides/slide9.xml" Id="R634cca086d554b8c" /><Relationship Type="http://schemas.openxmlformats.org/officeDocument/2006/relationships/slide" Target="/ppt/slides/slide10.xml" Id="Ra86dcdbf9a4c4feb" /><Relationship Type="http://schemas.openxmlformats.org/officeDocument/2006/relationships/slide" Target="/ppt/slides/slide11.xml" Id="R671a535dec2a4d18" /><Relationship Type="http://schemas.openxmlformats.org/officeDocument/2006/relationships/slide" Target="/ppt/slides/slide12.xml" Id="Rb8d10bdb24c94d44" /><Relationship Type="http://schemas.openxmlformats.org/officeDocument/2006/relationships/slide" Target="/ppt/slides/slide13.xml" Id="R74ccd4030be246e2" /><Relationship Type="http://schemas.openxmlformats.org/officeDocument/2006/relationships/slide" Target="/ppt/slides/slide14.xml" Id="Ra35696cc08fc4ffd" /><Relationship Type="http://schemas.openxmlformats.org/officeDocument/2006/relationships/slide" Target="/ppt/slides/slide15.xml" Id="R09ad02eee13b41d6" /><Relationship Type="http://schemas.openxmlformats.org/officeDocument/2006/relationships/slide" Target="/ppt/slides/slide16.xml" Id="Raeefa0c944c74bb2" /><Relationship Type="http://schemas.openxmlformats.org/officeDocument/2006/relationships/slide" Target="/ppt/slides/slide17.xml" Id="Rb34bbb3154f546e4" /><Relationship Type="http://schemas.openxmlformats.org/officeDocument/2006/relationships/slide" Target="/ppt/slides/slide18.xml" Id="Re52214e913754269" /><Relationship Type="http://schemas.openxmlformats.org/officeDocument/2006/relationships/slide" Target="/ppt/slides/slide19.xml" Id="R11a1b0be48664974" /><Relationship Type="http://schemas.openxmlformats.org/officeDocument/2006/relationships/slide" Target="/ppt/slides/slide20.xml" Id="R34cc5bef0c03439c" /><Relationship Type="http://schemas.openxmlformats.org/officeDocument/2006/relationships/slide" Target="/ppt/slides/slide21.xml" Id="Ra35f6814aa514a8f" /><Relationship Type="http://schemas.openxmlformats.org/officeDocument/2006/relationships/slide" Target="/ppt/slides/slide22.xml" Id="R0d86ab751a9a4110" /><Relationship Type="http://schemas.openxmlformats.org/officeDocument/2006/relationships/slide" Target="/ppt/slides/slide23.xml" Id="Rc34237d49ee7488d" /><Relationship Type="http://schemas.openxmlformats.org/officeDocument/2006/relationships/slide" Target="/ppt/slides/slide24.xml" Id="R921ccb583f0d463a" /><Relationship Type="http://schemas.openxmlformats.org/officeDocument/2006/relationships/slide" Target="/ppt/slides/slide25.xml" Id="R08b1e50a48554d5b" /><Relationship Type="http://schemas.openxmlformats.org/officeDocument/2006/relationships/slide" Target="/ppt/slides/slide26.xml" Id="R3042a1123d6d4932" /><Relationship Type="http://schemas.openxmlformats.org/officeDocument/2006/relationships/slide" Target="/ppt/slides/slide27.xml" Id="R5a78b74833974c91" /><Relationship Type="http://schemas.openxmlformats.org/officeDocument/2006/relationships/slide" Target="/ppt/slides/slide28.xml" Id="R8d054ca822524231" /><Relationship Type="http://schemas.openxmlformats.org/officeDocument/2006/relationships/slide" Target="/ppt/slides/slide29.xml" Id="R54568574c2d24759" /><Relationship Type="http://schemas.openxmlformats.org/officeDocument/2006/relationships/slide" Target="/ppt/slides/slide30.xml" Id="Rdd7ad7fe60174a9f" /><Relationship Type="http://schemas.openxmlformats.org/officeDocument/2006/relationships/slide" Target="/ppt/slides/slide31.xml" Id="R17f21d70a9ad49a2" /><Relationship Type="http://schemas.openxmlformats.org/officeDocument/2006/relationships/slide" Target="/ppt/slides/slide32.xml" Id="R1a3b5be98b9e438a" /><Relationship Type="http://schemas.openxmlformats.org/officeDocument/2006/relationships/slide" Target="/ppt/slides/slide33.xml" Id="R6a8138a0c6c24c50" /><Relationship Type="http://schemas.openxmlformats.org/officeDocument/2006/relationships/slide" Target="/ppt/slides/slide34.xml" Id="Rbb05fc04a8864b80" /><Relationship Type="http://schemas.openxmlformats.org/officeDocument/2006/relationships/slide" Target="/ppt/slides/slide35.xml" Id="Rbd91ba1c10dd4d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c79ea8abc42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ecb9d5ea04ad9" /><Relationship Type="http://schemas.openxmlformats.org/officeDocument/2006/relationships/notesMaster" Target="/ppt/notesMasters/notesMaster1.xml" Id="R133c62084f5442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06f385701a4b1f" /><Relationship Type="http://schemas.openxmlformats.org/officeDocument/2006/relationships/notesMaster" Target="/ppt/notesMasters/notesMaster1.xml" Id="R7122cd1f8e894e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b5f73d60274619" /><Relationship Type="http://schemas.openxmlformats.org/officeDocument/2006/relationships/notesMaster" Target="/ppt/notesMasters/notesMaster1.xml" Id="Rd42cad19836147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18d913b9b34e66" /><Relationship Type="http://schemas.openxmlformats.org/officeDocument/2006/relationships/notesMaster" Target="/ppt/notesMasters/notesMaster1.xml" Id="R3c6f145e478848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81dd0da4894ef3" /><Relationship Type="http://schemas.openxmlformats.org/officeDocument/2006/relationships/notesMaster" Target="/ppt/notesMasters/notesMaster1.xml" Id="R27500a26251946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e7e8a75bbc4b61" /><Relationship Type="http://schemas.openxmlformats.org/officeDocument/2006/relationships/notesMaster" Target="/ppt/notesMasters/notesMaster1.xml" Id="R9a235e45583740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03a7f3ac104274" /><Relationship Type="http://schemas.openxmlformats.org/officeDocument/2006/relationships/notesMaster" Target="/ppt/notesMasters/notesMaster1.xml" Id="R76c0a24f59f547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ff9c36f9374ac1" /><Relationship Type="http://schemas.openxmlformats.org/officeDocument/2006/relationships/notesMaster" Target="/ppt/notesMasters/notesMaster1.xml" Id="R08d93f54561a45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acc4422cba4e17" /><Relationship Type="http://schemas.openxmlformats.org/officeDocument/2006/relationships/notesMaster" Target="/ppt/notesMasters/notesMaster1.xml" Id="Rd467572e028044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daaa01778a4996" /><Relationship Type="http://schemas.openxmlformats.org/officeDocument/2006/relationships/notesMaster" Target="/ppt/notesMasters/notesMaster1.xml" Id="R3801244ad22148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0b6dd90227401d" /><Relationship Type="http://schemas.openxmlformats.org/officeDocument/2006/relationships/notesMaster" Target="/ppt/notesMasters/notesMaster1.xml" Id="R1906db20f1ca4d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7d60a110024566" /><Relationship Type="http://schemas.openxmlformats.org/officeDocument/2006/relationships/notesMaster" Target="/ppt/notesMasters/notesMaster1.xml" Id="R0fbffcad859743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31c077e7834aec" /><Relationship Type="http://schemas.openxmlformats.org/officeDocument/2006/relationships/notesMaster" Target="/ppt/notesMasters/notesMaster1.xml" Id="Rf87445d4757549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b76f1ce35e4859" /><Relationship Type="http://schemas.openxmlformats.org/officeDocument/2006/relationships/notesMaster" Target="/ppt/notesMasters/notesMaster1.xml" Id="R77ec9254b51747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85bb4baedc4f51" /><Relationship Type="http://schemas.openxmlformats.org/officeDocument/2006/relationships/notesMaster" Target="/ppt/notesMasters/notesMaster1.xml" Id="Rdbb7ddfafbdf4a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03dba295ad49b2" /><Relationship Type="http://schemas.openxmlformats.org/officeDocument/2006/relationships/notesMaster" Target="/ppt/notesMasters/notesMaster1.xml" Id="Rc6b7032666cb49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dfb3b6a65b4c73" /><Relationship Type="http://schemas.openxmlformats.org/officeDocument/2006/relationships/notesMaster" Target="/ppt/notesMasters/notesMaster1.xml" Id="R40a66a7c8f5a43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45e6bba1fb4c02" /><Relationship Type="http://schemas.openxmlformats.org/officeDocument/2006/relationships/notesMaster" Target="/ppt/notesMasters/notesMaster1.xml" Id="Rcafda355d4eb4b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73e078c5004d81" /><Relationship Type="http://schemas.openxmlformats.org/officeDocument/2006/relationships/notesMaster" Target="/ppt/notesMasters/notesMaster1.xml" Id="R3e67ab80ba1845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f5c24d42344824" /><Relationship Type="http://schemas.openxmlformats.org/officeDocument/2006/relationships/notesMaster" Target="/ppt/notesMasters/notesMaster1.xml" Id="Rcb5ee75662a540d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fb128e9a454c26" /><Relationship Type="http://schemas.openxmlformats.org/officeDocument/2006/relationships/notesMaster" Target="/ppt/notesMasters/notesMaster1.xml" Id="R8b4780532f854f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6532c67c2f4a4e" /><Relationship Type="http://schemas.openxmlformats.org/officeDocument/2006/relationships/notesMaster" Target="/ppt/notesMasters/notesMaster1.xml" Id="R09519246b7d74b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ea275ed372c469a" /><Relationship Type="http://schemas.openxmlformats.org/officeDocument/2006/relationships/notesMaster" Target="/ppt/notesMasters/notesMaster1.xml" Id="R7e19540e46b647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2585440f234fa5" /><Relationship Type="http://schemas.openxmlformats.org/officeDocument/2006/relationships/notesMaster" Target="/ppt/notesMasters/notesMaster1.xml" Id="R9a88e65329c74a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3682d25f97b4e70" /><Relationship Type="http://schemas.openxmlformats.org/officeDocument/2006/relationships/notesMaster" Target="/ppt/notesMasters/notesMaster1.xml" Id="Rbd1d8134ec954a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070e0c7c0845e5" /><Relationship Type="http://schemas.openxmlformats.org/officeDocument/2006/relationships/notesMaster" Target="/ppt/notesMasters/notesMaster1.xml" Id="R9af0111b4049457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0e36a7e94441df" /><Relationship Type="http://schemas.openxmlformats.org/officeDocument/2006/relationships/notesMaster" Target="/ppt/notesMasters/notesMaster1.xml" Id="R1c9f6cdb52e44cd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63fe1fb91734b7b" /><Relationship Type="http://schemas.openxmlformats.org/officeDocument/2006/relationships/notesMaster" Target="/ppt/notesMasters/notesMaster1.xml" Id="R50bf4a3764a0497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f07b50b5383423f" /><Relationship Type="http://schemas.openxmlformats.org/officeDocument/2006/relationships/notesMaster" Target="/ppt/notesMasters/notesMaster1.xml" Id="R280a60987f144bb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d6fe26d2d442ff" /><Relationship Type="http://schemas.openxmlformats.org/officeDocument/2006/relationships/notesMaster" Target="/ppt/notesMasters/notesMaster1.xml" Id="Rce653bb794764d9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b5f60bcf4e54d03" /><Relationship Type="http://schemas.openxmlformats.org/officeDocument/2006/relationships/notesMaster" Target="/ppt/notesMasters/notesMaster1.xml" Id="R049fb95bf6284b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294558e8a4848e7" /><Relationship Type="http://schemas.openxmlformats.org/officeDocument/2006/relationships/notesMaster" Target="/ppt/notesMasters/notesMaster1.xml" Id="R5684729b11a842e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d82f16d90f54b66" /><Relationship Type="http://schemas.openxmlformats.org/officeDocument/2006/relationships/notesMaster" Target="/ppt/notesMasters/notesMaster1.xml" Id="R20bce2a2b3e9454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1bad94f478c4616" /><Relationship Type="http://schemas.openxmlformats.org/officeDocument/2006/relationships/notesMaster" Target="/ppt/notesMasters/notesMaster1.xml" Id="R6b7ffcbf71f5490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31662c5f01d4c34" /><Relationship Type="http://schemas.openxmlformats.org/officeDocument/2006/relationships/notesMaster" Target="/ppt/notesMasters/notesMaster1.xml" Id="R5c16adeb197141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Попросити групу сформулювати операційне рішення словами. Числові дані вигадані для навчання.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Ключова мета: пояснення рішення; символи з’являються лише після змістовної постановки.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Інференс: готова модель обробляє запит і повертає прогноз, навчання моделі не відбувається. Аналітика: пакетна обробка даних для звіту. Усі витрати ресурсів і бали — синтетичні. Запитайте, який ресурс стане вузьким місцем.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Попросити студентів порівняти три плани до показу формул. Показник користі не має сенсу для недопустимого плану.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Кожен пакет інференсу потребує 2 CPU, тому x₁ одиниць CPU дають x₁/2 пакетів. Аналітичний пакет потребує 1 CPU. Запаси CPU й пам’яті далі запишемо як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 містить виділені одиниці CPU. Для інференсу одна одиниця CPU дає 2 бали користі та потребує 0,5 одиниці пам’яті; для аналітики — 3 бали та 2 одиниці пам’яті. Зіставити з початковою таблицею на пакет.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Кожен рядок A — ресурсне обмеження, кожен стовпець — напрям розподілу CPU. x — вектор керованого розподілу, b — наявні запаси CPU та пам’яті. cᵀx — скалярна користь.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Перший рядок A дорівнює (1,1). Множення на x дає x₁+x₂, порівняння зі 100 відтворює обмеження CPU. Для пам’яті коефіцієнти становлять 0,5 і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Є. С. Вентцелем, «Исследование операций», §8: ОЗЛП має невід’ємні змінні, обмеження-рівності й максимізує лінійну функцію. Нерівність типу ≤ перетворюємо на рівність введенням невід’ємної додаткової змінної. Джерело: https://systems-analysis.ru/assets/operation-research_venttsel.pdf (розділ 8, друковані с. 60–62). У прикладі s_CPU та s_MEM означають невикористані запаси; це не новий ресурс. Тому цільова функція не змінюється.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Є. С. Вентцелем, «Исследование операций», §8, основна задача ЛП: максимум лінійної функції за умов невід’ємності змінних і лінійних рівностей. Джерело: https://systems-analysis.ru/assets/operation-research_venttsel.pdf . Повна процедура: 1) якщо змінна довільного знака, замінити x=x⁺−x⁻, x⁺,x⁻≥0; для нижньої межі x≥l можна ввести y=x−l≥0 і зробити підстановку; 2) min f перетворити на max (−f); 3) для ≤ додати невід’ємний залишок +s, для ≥ відняти невід’ємний надлишок −s, рівність залишити; 4) якщо права частина від’ємна, спершу помножити всю строку на −1, змінивши напрям нерівності; 5) перевірити всі рівності та невід’ємність, відновити знак початкової мети. У цільовій функції нові додаткові змінні мають нульовий коефіцієнт. Після цього задача еквівалентна початковій, але базисне припустиме рішення не обов’язково відразу відоме.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Координати — виділені одиниці CPU. Зелена межа відповідає пам’яті, синя — запасу CPU. У точці x=(80,20) обидва запаси вичерпані.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Є. С. Вентцелем, «Исследование операций», §9: кожне лінійне обмеження з двома змінними задає півплощину; область припустимих розв’язків є перетином усіх таких півплощин із невід’ємною чвертю. Вона може бути порожньою; за певних умов — необмеженою. Джерело: https://systems-analysis.ru/assets/operation-research_venttsel.pdf (розділ 9, друковані с. 63–68). На попередньому рисунку показано конкретну обмежену область, не універсальну форму ОПР.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Координати вершин — розподіл CPU. Значення 220 отримано для x=(80,20): це 40 пакетів інференсу та 20 аналітики. Лінійна ціль на цій замкненій обмеженій області досягає максимуму в одній з вершин.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Червоні паралельні прямі показують однакову користь. Зсуваємо їх у бік більших значень до останнього контакту з допустимою областю. Це інтуїція, не повне доведення теореми.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Граничний випадок для обговорення: x₁,x₂ ≥ 0; доступна сумарна потужність не більш ніж 40 одиниць CPU, але мінімальне завантаження двох сервісів разом не менш ніж 60. Півплощини x₁+x₂≤40 і x₁+x₂≥60 не перетинаються. Отже, припустимих планів немає і оптимального плану також немає. Це саме несумісність обмежень, а не необмеженість цільової функції. За Вентцелем, «Исследование операций», §9, ОПР як перетин півплощин може бути порожньою: https://systems-analysis.ru/assets/operation-research_venttsel.pdf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Залишаємо ті самі обмеження CPU x₁+x₂≤100, пам’ять 0,5x₁+2x₂≤80 і невід’ємність. Лише для цієї ілюстрації замінюємо функцію користі на max(x₁+x₂). На межі CPU x₁+x₂=100 припустимий відрізок від (80,20) до (100,0); кожна його точка дає той самий максимум 100. Цей випадок не змінює первісного розв’язку max(2x₁+3x₂)=(80,20). За геометричною інтерпретацією у Вентцеля, «Исследование операций», §9: https://systems-analysis.ru/assets/operation-research_venttsel.pdf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вектор розподілу CPU, а потім перекласти його у кількість пакетів. Ресурси витрачено повністю. Порівняно з x=(100,0) отримано 220 замість 200 умовних балів.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Окрема задача лінійного програмування, незалежна від CPU-прикладу. Потрібно передати рівно 60 Мбіт/с протягом зміни. x₁ та x₂ — виділені обсяги трафіку, а не число пакетів. Витрати лінійні, задані умовними одиницями на 1 Мбіт/с. Для швидкої перевірки запропонувати план (30,30): 210 одиниць витрат.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ілюструє два альтернативні маршрути між датацентром і сервісом. Верхнім маршрутом A проходить x₁ Мбіт/с, нижнім B проходить x₂ Мбіт/с. Шляхи розділені для спрощення навчального прикладу. Числа на слайді відповідають таблиці задачі.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Почати з рішення: x₁ Мбіт/с через A та x₂ Мбіт/с через B протягом однакової зміни. Умовні витрати за одиницю пропускної здатності є сталими. Показати приклад плану x=(30,30): 30×2+30×5=210. Дві складові додаються, оскільки обидва маршрути використовують ресурси. Мінімізуємо сумарні витрати, а не окремий маршрут.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Попросити пояснити кожний знак. Умова x₁+x₂=60 означає, що весь потрібний трафік відправлено; «=» використано тому, що треба передати рівно 60 Мбіт/с. x₁≤40 та x₂≤50 — фізичні межі пропускної здатності. Невід’ємність забороняє від’ємний потік. Наприклад, (30,30) задовольняє всі умови; (50,10) порушує межу 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попередньому слайді задача з двома маршрутами. x=(x₁,x₂)ᵀ — трафік по маршрутах A та B у Мбіт/с. Вартість 2x₁+5x₂ мінімізуємо. Рівність забезпечує доставку всіх 60 Мбіт/с; дві нерівності враховують пропускні здатності. У матричній формі A≤ — одинична матриця, b≤=(40,50)ᵀ; A= — рядок (1,1), b= — скаляр 60. Оптимум x=(40,20), витрати 180. Порівняти з планом (30,30): 210.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Початковий варіант: min(2x₁+5x₂), x₁+x₂=60, x₁≤40, x₂≤50, x₁,x₂≥0. ОЗЛП: max(−2x₁−5x₂), x₁+x₂=60, x₁+sA=40, x₂+sB=50, x₁,x₂,sA,sB≥0. sA,sB — невикористана пропускна здатність маршрутів A і B. На оптимальному плані x=(40,20), s=(0,30), нова ціль −180; вихідна мінімальна вартість 180. Цей слайд показує, що наявна рівність попиту не змінюється, а знак цільової функції треба відновити при інтерпретації відповіді. Правила приведення до ОЗЛП: Є. С. Вентцель, «Исследование операций», §8, https://systems-analysis.ru/assets/operation-research_venttsel.pdf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Два мережеві маршрути: x₁+x₂=60 Мбіт/с, 0≤x₁≤40 для A, 0≤x₂≤50 для B. Пряма повного передавання має припустимий відрізок між (10,50) і (40,20); за межами відрізка порушується одна з пропускних здатностей. Мінімізуємо C=2x₁+5x₂. На відрізку C=300−3x₁, отже мінімум у (40,20) із витратами 180; в (10,50) витрати 270. Графік створено з формул і чисел попередніх слайдів цієї лекції.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Графічний розв’язок задачі маршрутизації. Обмеження: x₁+x₂=60, 0≤x₁≤40, 0≤x₂≤50. ОПР — відрізок від (10,50) до (40,20). Прямі рівних витрат C=2x₁+5x₂ мають однаковий нахил −2/5: C=270 перетинає ОПР у (10,50); C=210 у (30,30); C=180 у (40,20). При зменшенні C пряма зсувається донизу ліворуч. Значення C&lt;180 вже не перетинають ОПР. Еквівалентна перевірка: на x₂=60−x₁ маємо C=300−3x₁, тому на припустимому інтервалі x₁∈[10,40] мінімум досягається при x₁=40, x₂=20.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Перевірити розрахунок: x=(40,20), сумарний трафік 60; A завантажено на 40 з 40, B на 20 з 50. Витрати 2×40+5×20=180. Порівняння з допустимим планом (30,30) дає 210. Оскільки A дешевший, мінімізація за фіксованої суми спрямовує максимум можливого трафіку через A. За x₁+x₂=60, C=2x₁+5(60−x₁)=300−3x₁, тому C спадає до x₁=40.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Обговорення перед обчисленням: чи збільшиться користь, якщо додати CPU, залишивши пам’ять без змін? Новий перетин: x=(320/3,40/3)≈(106,7;13,3), користь Z=760/3≈253,3. Це 53,3 пакета інференсу та 13,3 аналітики за умови подільного навантаження. Старий x=(80,20) лишається допустимим.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Розмежувати математичну правильність і адекватність реальній системі. Синтетична шкала користі не є виміряним доходом.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практиці №3 студенти побудують масиви c, A_ub, b_ub і bounds у SciPy. На лекції достатньо перевірити, що програмний результат відтворює ручний приклад.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x=(40,30): CPU 70, пам’ять 80, користь 170. Запитайте окремо, чи можна оголосити його оптимальним. Друге запитання: навіщо потрібні коефіцієнти зі знаком мінус у linprog? Відповідь у додатку.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Модель: x=(80,20) одиниць CPU, або 40 пакетів інференсу та 20 аналітики. Наступна практика — побудова та програмна перевірка ЛП у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Додаток призначений для практики №3. Мінус перед коефіцієнтами перетворює максимум користі на мінімум протилежного значення.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потреби на дошці розв’язати систему двох рівнянь. Запитати про альтернативні оптимуми та про необхідність цілочисельної моделі за неподільності задач.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Є. С. Вентцелем, «Исследование операций», §8: якщо є r незалежних рівнянь серед n змінних, r змінних можна виразити через n−r інших. Вентцель називає їх базисними та вільними. Джерело: https://systems-analysis.ru/assets/operation-research_venttsel.pdf (розділ 8, друковані с. 61–62). Важлива термінологічна примітка для викладача: тут «вільні» означає незалежні у вибраному базисі, а не змінні довільного знака; невід’ємність зберігається. При зміні базису ролі змінних можуть змінюватися. Рекомендується як необов’язковий місток до симплекс-методу.</a:t>
            </a:r>
          </a:p>
          <a:p xmlns:a="http://schemas.openxmlformats.org/drawingml/2006/main">
            <a:r>
              <a:t>Графік показує ОПР вихідної задачі: вершини (0,0), (100,0), (80,20), (0,40). При початковому базисі вільні x₁=x₂=0, базисні залишки (100,80). Для оптимального базису вільні залишки дорівнюють нулю, базисні x₁=80, x₂=20. Цільова функція вихідної задачі max(2x₁+3x₂).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Розширення вихідної задачі розподілу CPU: додано мережевий ліміт 2x₁+x₂≤120, а sCPU, sMEM, sNET — невикористані частини відповідних ресурсів. Матриця коефіцієнтів при трьох залишках утворює одиничну матрицю, тому три рівняння незалежні, а ці залишки можна вибрати базисними. Якщо вільні x₁=x₂=0, базисний припустимий план s=(100,80,120). Для перевірки розуміння можна взяти x=(40,20): тоді s=(40,20,20); це припустимий план, але не базисний план для показаного базису, оскільки вільні змінні не дорівнюють нулю. Терміни базисні/вільні — за Є. С. Вентцелем, «Исследование операций», §8: https://systems-analysis.ru/assets/operation-research_venttsel.pdf . Невід’ємність потрібна для всіх змінних.</a:t>
            </a:r>
          </a:p>
          <a:p xmlns:a="http://schemas.openxmlformats.org/drawingml/2006/main">
            <a:r>
              <a:t>На графіку світло-сірий контур — попередня ОПР для обмежень CPU та пам’яті, зелена заливка — нова ОПР після мережевого ліміту 2x₁+x₂≤120. Нові вершини: (0,0), (60,0), (320/7,200/7), (0,40). Перетин пам’яті та мережі: (320/7,200/7)≈(45,71;28,57). CPU-обмеження в цій версії не утворює межу нової ОПР, проте рівняння з додатковою змінною зберігається. Вільні x₁=x₂=0, базисні sCPU=100, sMEM=80, sNET=120.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2996a8656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301dd676554530" /><Relationship Type="http://schemas.openxmlformats.org/officeDocument/2006/relationships/slideLayout" Target="/ppt/slideLayouts/slideLayout1.xml" Id="R5936ed67f2ba40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36ed67f2ba40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cf4d883f04da6" /><Relationship Type="http://schemas.openxmlformats.org/officeDocument/2006/relationships/notesSlide" Target="/ppt/notesSlides/notesSlide1.xml" Id="R387767b2953c4d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d9e2bece94e33" /><Relationship Type="http://schemas.openxmlformats.org/officeDocument/2006/relationships/notesSlide" Target="/ppt/notesSlides/notesSlide2.xml" Id="Re12d56b00e9049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e92ce227a4028" /><Relationship Type="http://schemas.openxmlformats.org/officeDocument/2006/relationships/notesSlide" Target="/ppt/notesSlides/notesSlide3.xml" Id="R19f39fe8144c41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47afc937c455b" /><Relationship Type="http://schemas.openxmlformats.org/officeDocument/2006/relationships/notesSlide" Target="/ppt/notesSlides/notesSlide4.xml" Id="R082351d4337448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12da9deb34d33" /><Relationship Type="http://schemas.openxmlformats.org/officeDocument/2006/relationships/notesSlide" Target="/ppt/notesSlides/notesSlide5.xml" Id="R0b1798a7d64742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ca0b1c04d4890" /><Relationship Type="http://schemas.openxmlformats.org/officeDocument/2006/relationships/notesSlide" Target="/ppt/notesSlides/notesSlide6.xml" Id="R66366dbb1d3a47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1da17d3fc4765" /><Relationship Type="http://schemas.openxmlformats.org/officeDocument/2006/relationships/notesSlide" Target="/ppt/notesSlides/notesSlide7.xml" Id="R9dd6040d32064a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ec2544f104cdf" /><Relationship Type="http://schemas.openxmlformats.org/officeDocument/2006/relationships/notesSlide" Target="/ppt/notesSlides/notesSlide8.xml" Id="R16a3e83d15f54d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bdad514834a3f" /><Relationship Type="http://schemas.openxmlformats.org/officeDocument/2006/relationships/notesSlide" Target="/ppt/notesSlides/notesSlide9.xml" Id="R3965648e8fd04d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8c7700b334c67" /><Relationship Type="http://schemas.openxmlformats.org/officeDocument/2006/relationships/notesSlide" Target="/ppt/notesSlides/notesSlide10.xml" Id="R1278035f56eb41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862c989f04e9b" /><Relationship Type="http://schemas.openxmlformats.org/officeDocument/2006/relationships/notesSlide" Target="/ppt/notesSlides/notesSlide11.xml" Id="Rcc64ff082bc44c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db61bf10945cd" /><Relationship Type="http://schemas.openxmlformats.org/officeDocument/2006/relationships/notesSlide" Target="/ppt/notesSlides/notesSlide12.xml" Id="R8cf255b0bfe34c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9ad63018b4e59" /><Relationship Type="http://schemas.openxmlformats.org/officeDocument/2006/relationships/notesSlide" Target="/ppt/notesSlides/notesSlide13.xml" Id="Rce4ea6508b224b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b136ca1e243f0" /><Relationship Type="http://schemas.openxmlformats.org/officeDocument/2006/relationships/notesSlide" Target="/ppt/notesSlides/notesSlide14.xml" Id="Rba30f0590ec04f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120341b234e82" /><Relationship Type="http://schemas.openxmlformats.org/officeDocument/2006/relationships/notesSlide" Target="/ppt/notesSlides/notesSlide15.xml" Id="R515ecc2ec8cf4f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308369b5344fb" /><Relationship Type="http://schemas.openxmlformats.org/officeDocument/2006/relationships/notesSlide" Target="/ppt/notesSlides/notesSlide16.xml" Id="R9fe6aeace31a4e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9621cbcaf47d4" /><Relationship Type="http://schemas.openxmlformats.org/officeDocument/2006/relationships/notesSlide" Target="/ppt/notesSlides/notesSlide17.xml" Id="Rd6aa019fae7e44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8ccb747d54c25" /><Relationship Type="http://schemas.openxmlformats.org/officeDocument/2006/relationships/notesSlide" Target="/ppt/notesSlides/notesSlide18.xml" Id="R31483384a15f41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270b5535249ac" /><Relationship Type="http://schemas.openxmlformats.org/officeDocument/2006/relationships/image" Target="/ppt/media/image.png" Id="R6b10ae30c8404460" /><Relationship Type="http://schemas.openxmlformats.org/officeDocument/2006/relationships/notesSlide" Target="/ppt/notesSlides/notesSlide19.xml" Id="R5cf3759daa1b4f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590bbf2ae45b4" /><Relationship Type="http://schemas.openxmlformats.org/officeDocument/2006/relationships/notesSlide" Target="/ppt/notesSlides/notesSlide20.xml" Id="R5e05e0266c6641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9de6d2652400f" /><Relationship Type="http://schemas.openxmlformats.org/officeDocument/2006/relationships/notesSlide" Target="/ppt/notesSlides/notesSlide21.xml" Id="R0bbeb7f3dde748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4e282acc34f75" /><Relationship Type="http://schemas.openxmlformats.org/officeDocument/2006/relationships/notesSlide" Target="/ppt/notesSlides/notesSlide22.xml" Id="R3f0861fe2bdd469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e22ed5c234b62" /><Relationship Type="http://schemas.openxmlformats.org/officeDocument/2006/relationships/notesSlide" Target="/ppt/notesSlides/notesSlide23.xml" Id="R24543b61132e420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ffdd0a61c4449" /><Relationship Type="http://schemas.openxmlformats.org/officeDocument/2006/relationships/notesSlide" Target="/ppt/notesSlides/notesSlide24.xml" Id="R0b1a182afff24e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29ddee93444e4" /><Relationship Type="http://schemas.openxmlformats.org/officeDocument/2006/relationships/notesSlide" Target="/ppt/notesSlides/notesSlide25.xml" Id="Rc7ccf25be9324a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ff32f5f1426a" /><Relationship Type="http://schemas.openxmlformats.org/officeDocument/2006/relationships/notesSlide" Target="/ppt/notesSlides/notesSlide26.xml" Id="Rc3d7a50ea13145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c340aad554386" /><Relationship Type="http://schemas.openxmlformats.org/officeDocument/2006/relationships/notesSlide" Target="/ppt/notesSlides/notesSlide27.xml" Id="Re2dd0400f8bc4b4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eb9d298243bd" /><Relationship Type="http://schemas.openxmlformats.org/officeDocument/2006/relationships/notesSlide" Target="/ppt/notesSlides/notesSlide28.xml" Id="Rd63062eecde341c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85a094d7149f7" /><Relationship Type="http://schemas.openxmlformats.org/officeDocument/2006/relationships/notesSlide" Target="/ppt/notesSlides/notesSlide29.xml" Id="Rc2d525d2eaef4a3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8ed24415647ce" /><Relationship Type="http://schemas.openxmlformats.org/officeDocument/2006/relationships/notesSlide" Target="/ppt/notesSlides/notesSlide30.xml" Id="R0e7dac6c0f3b431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ee75885c24fd9" /><Relationship Type="http://schemas.openxmlformats.org/officeDocument/2006/relationships/notesSlide" Target="/ppt/notesSlides/notesSlide31.xml" Id="R99618cf5d44e4c9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32b54dbf14698" /><Relationship Type="http://schemas.openxmlformats.org/officeDocument/2006/relationships/notesSlide" Target="/ppt/notesSlides/notesSlide32.xml" Id="Rc4af01898b5d42a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7207e874d42db" /><Relationship Type="http://schemas.openxmlformats.org/officeDocument/2006/relationships/notesSlide" Target="/ppt/notesSlides/notesSlide33.xml" Id="R9b1be79322e4490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831c4c6dc4e72" /><Relationship Type="http://schemas.openxmlformats.org/officeDocument/2006/relationships/notesSlide" Target="/ppt/notesSlides/notesSlide34.xml" Id="Rb761134cdbbb493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0bae98a2c4094" /><Relationship Type="http://schemas.openxmlformats.org/officeDocument/2006/relationships/notesSlide" Target="/ppt/notesSlides/notesSlide35.xml" Id="Rafffb089d70249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74CED-A0DC-4AC3-BB6C-B21CE4A0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Лекція 3  Лінійне програмування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1B169-7102-4500-BEDB-92C281E2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A97E-5BFF-4338-BB45-CA53F40D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Питання лекції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F3859-4E6D-4E17-A8EF-B90D2917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Як розподілити CPU між двома типами задач за обмеженої пам’яті?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EAF57-C2F9-4A0C-9DC6-B8ACBEAD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Навчальний приклад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B3A08-8845-4518-ABCD-D235C0F5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Планування запитів до готової моделі машинного навчання та пакетної аналітики за одну зміну.</a:t>
            </a:r>
          </a:p>
        </p:txBody>
      </p:sp>
    </p:spTree>
    <p:extLst>
      <p:ext uri="{BB962C8B-B14F-4D97-AF65-F5344CB8AC3E}">
        <p14:creationId xmlns:p14="http://schemas.microsoft.com/office/powerpoint/2010/main" val="2105594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45F22-FE5C-47F8-849E-3BB08EA3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Результат лекції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6E554-3C26-4023-BD5D-89CF83DB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B1AFE-4267-4C20-9EC0-7A1AC656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Студент розпізнає рішення, ресурси і показник користі в ІТ-задачі.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346DB-C911-4B46-ACC5-7DF9978F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Перевіряє, чи можна виконати запропонований план.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7C518-8880-45CD-A22A-66E7D6C4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Пояснює область припустимих розв’язків і вибір найкращого плану на рисунку.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479DB-2645-4CE7-8BC8-93310D04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Перетворює модель ЛП до ОЗЛП та пояснює значення залишків ресурсів.</a:t>
            </a:r>
          </a:p>
        </p:txBody>
      </p:sp>
    </p:spTree>
    <p:extLst>
      <p:ext uri="{BB962C8B-B14F-4D97-AF65-F5344CB8AC3E}">
        <p14:creationId xmlns:p14="http://schemas.microsoft.com/office/powerpoint/2010/main" val="1168495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BF4F4-CE65-47B9-939E-D157437D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Одна зміна, два типи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8F933-07C9-42B0-BB85-865725DF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14375" y="1619250"/>
          <a:ext xmlns:a="http://schemas.openxmlformats.org/drawingml/2006/main" cx="10763250" cy="2476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90813"/>
                <a:gridCol w="2690813"/>
                <a:gridCol w="2690813"/>
                <a:gridCol w="2690813"/>
              </a:tblGrid>
              <a:tr h="825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Тип пакета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 на пакет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Пам’ять на пакет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Умовна користь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Інференс моделі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бали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Пакетна аналітика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бали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DE7B0-7DB4-43CC-A189-DC2746A6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На зміну доступно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3D62D-27E7-42D4-A48F-A73609B9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100 одиниць CPU     80 одиниць пам’яті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F8321-7684-4AAD-BF64-2688CF1E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Інференс: модель дає прогноз. Аналітика: дані обробляють для звіту.</a:t>
            </a:r>
          </a:p>
        </p:txBody>
      </p:sp>
    </p:spTree>
    <p:extLst>
      <p:ext uri="{BB962C8B-B14F-4D97-AF65-F5344CB8AC3E}">
        <p14:creationId xmlns:p14="http://schemas.microsoft.com/office/powerpoint/2010/main" val="1981056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28F49-7523-45E4-A98D-85DBE2F6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Перевірка запропонованих планів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487F6-1722-41F7-892B-A72C6A43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04850" y="1581150"/>
          <a:ext xmlns:a="http://schemas.openxmlformats.org/drawingml/2006/main" cx="107823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95575"/>
                <a:gridCol w="2695575"/>
                <a:gridCol w="2695575"/>
                <a:gridCol w="2695575"/>
              </a:tblGrid>
              <a:tr h="833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Розподіл CPU: x₁, x₂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 використано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Пам’ять використано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Висновок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60, 10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 з 100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з 80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Допустимий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100, 20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 зі 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з 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Недопустимий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80, 20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 зі 100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 з 80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Допустимий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6FEF1-A8F0-4639-A049-7CAC2412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451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45144"/>
                </a:solidFill>
                <a:latin typeface="DejaVu Sans"/>
                <a:ea typeface="DejaVu Sans"/>
                <a:cs typeface="DejaVu Sans"/>
              </a:rPr>
              <a:t>План із перевищенням хоча б одного ліміту відкидаємо.</a:t>
            </a:r>
          </a:p>
        </p:txBody>
      </p:sp>
    </p:spTree>
    <p:extLst>
      <p:ext uri="{BB962C8B-B14F-4D97-AF65-F5344CB8AC3E}">
        <p14:creationId xmlns:p14="http://schemas.microsoft.com/office/powerpoint/2010/main" val="567332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3300C-45FA-417E-91C9-D9306B6B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Вектор рішення: розподіл CPU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AE180-13B4-43C5-9FF7-8684030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4E14C-B50D-428C-9F27-127C6E9A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— одиниці CPU для інференсу; x₂ — одиниці CPU для аналітики.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3B9D3-3B78-40F3-8D8C-13C1877C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 = (x₁, x₂)ᵀ — вектор розподілу CPU.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C6931-B3A6-4FB4-BCF8-FCFF5B27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Кількість пакетів: інференс x₁ / 2; аналітика x₂.</a:t>
            </a:r>
          </a:p>
        </p:txBody>
      </p:sp>
    </p:spTree>
    <p:extLst>
      <p:ext uri="{BB962C8B-B14F-4D97-AF65-F5344CB8AC3E}">
        <p14:creationId xmlns:p14="http://schemas.microsoft.com/office/powerpoint/2010/main" val="601806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616CE-23EB-4C2E-9080-214CE37E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Звичайна форма моделі ЛП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D6C89-B6BD-4112-AD9D-F8820A31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D109A-CE3D-463A-9C62-EBC16AE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x₁ — CPU інференсу      x₂ — CPU аналітики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612E4-75B0-40D3-830D-10E11B0A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Максимізувати користь:    2x₁ + 3x₂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6AA07-C7A3-4D23-830B-29394CA6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952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CPU:       x₁ + x₂ ≤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3A03F-88A2-4F57-A0C8-87E4AAB9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952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Пам’ять:   0,5x₁ + 2x₂ ≤ 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6FC7F-323A-4A4E-A5B3-26EBC2F7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952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Розподіл CPU: x₁ ≥ 0, x₂ ≥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F4E8D-3CB2-4D66-9489-E0B231E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На один CPU інференсу припадає пів одиниці пам’яті.</a:t>
            </a:r>
          </a:p>
        </p:txBody>
      </p:sp>
    </p:spTree>
    <p:extLst>
      <p:ext uri="{BB962C8B-B14F-4D97-AF65-F5344CB8AC3E}">
        <p14:creationId xmlns:p14="http://schemas.microsoft.com/office/powerpoint/2010/main" val="2111570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0D54A-9688-4647-A066-1E80DD1C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Матрична форма тієї самої задачі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A4567-2485-4D9A-93A6-10FB3CB7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46422-2391-4481-9ACD-854BB33B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max cᵀx     за умов Ax ≤ b, x ≥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9076F-3E76-4D5E-9641-62C228D3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x = (x₁, x₂)ᵀ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08D0D-E043-4CFA-9B62-52ACD01B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955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c = (2, 3)ᵀ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4ADC8-D344-4AE6-9332-6A5C572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955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b = (100, 80)ᵀ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62000" y="3667125"/>
          <a:ext xmlns:a="http://schemas.openxmlformats.org/drawingml/2006/main" cx="10477500" cy="21050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2619375"/>
                <a:gridCol w="2619375"/>
                <a:gridCol w="2619375"/>
              </a:tblGrid>
              <a:tr h="701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Матриця A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Інференс x₁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Аналітика x₂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Запас b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Пам’ять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8773A-F2B7-4F2D-ACF3-175FE327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 — виділені CPU; b — доступні запаси двох ресурсів.</a:t>
            </a:r>
          </a:p>
        </p:txBody>
      </p:sp>
    </p:spTree>
    <p:extLst>
      <p:ext uri="{BB962C8B-B14F-4D97-AF65-F5344CB8AC3E}">
        <p14:creationId xmlns:p14="http://schemas.microsoft.com/office/powerpoint/2010/main" val="356685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37344-59E5-4255-B320-884334F6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Як читати рядок матриці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9FAB6-1D6E-44AD-9D2E-DBC7C2A9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9C8B7-EB9F-4CA1-836F-E7BD3F40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Перший рядок: CPU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56141-19A4-4B6D-B3B4-B87430D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1 CPU для інференсу  +  1 CPU для аналітики  ≤ 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434B4-8447-468F-A4CA-C4880977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57575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Результат: сумарна витрата CPU не перевищує запас.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556C-10C4-4A04-9952-6F414686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054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Другий рядок так само описує пам’ять.</a:t>
            </a:r>
          </a:p>
        </p:txBody>
      </p:sp>
    </p:spTree>
    <p:extLst>
      <p:ext uri="{BB962C8B-B14F-4D97-AF65-F5344CB8AC3E}">
        <p14:creationId xmlns:p14="http://schemas.microsoft.com/office/powerpoint/2010/main" val="6232918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2FFF2-A192-4851-AC6B-7C62CB2A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Основна задача ЛП (ОЗЛП)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37DDC-15D0-484E-9102-2D30501D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FBA0A-6F55-42B9-B5CD-EDFE1A07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Нерівності: ресурс можна використати не повністю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CEEB9-B2C0-41AB-A8A9-073F91A0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857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39DFD-46AF-4916-9543-25B7886C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5048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3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A7F67-A237-4704-A923-201309FC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764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Початкова 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CA2AA-0013-4CAD-9DA7-3EC7BB0F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76550"/>
            <a:ext cx="43815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+ x₂ ≤ 100</a:t>
            </a:r>
          </a:p>
          <a:p xmlns:a="http://schemas.openxmlformats.org/drawingml/2006/main">
            <a:pPr>
              <a:buNone/>
              <a:def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0,5x₁ + 2x₂ ≤ 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C8A6E-A903-4F52-86DD-2659624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Та сама модель як рівності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469E6-06A1-43C1-9570-319B0BD2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4572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+ x₂ + sCPU = 100</a:t>
            </a:r>
          </a:p>
          <a:p xmlns:a="http://schemas.openxmlformats.org/drawingml/2006/main">
            <a:pPr>
              <a:buNone/>
              <a:def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0,5x₁ + 2x₂ + sMEM =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37DFA-CB08-4DCB-A893-5EA8A9B3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sCPU і sMEM — невикористані CPU та пам’ять.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24CD2-0B2C-47D3-9C6D-DA895203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Максимізуємо 2x₁ + 3x₂; усі x₁, x₂, sCPU, sMEM ≥ 0.</a:t>
            </a:r>
          </a:p>
        </p:txBody>
      </p:sp>
    </p:spTree>
    <p:extLst>
      <p:ext uri="{BB962C8B-B14F-4D97-AF65-F5344CB8AC3E}">
        <p14:creationId xmlns:p14="http://schemas.microsoft.com/office/powerpoint/2010/main" val="9687184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1C574-C34E-43EF-A3BE-C1225011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Алгоритм: від задачі ЛП до ОЗЛП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D4DAD-B23B-41D0-89CE-624A2951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578D5-A680-4882-A5C7-724EE82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ОЗЛП: максимум, обмеження-рівності, усі змінні ≥ 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1FBAB-D9B7-4652-B7B7-870CDC99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50768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30E8D-219D-48DD-8B27-81E32A38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5076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F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859DD-E235-4B56-B45B-D308A042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1. Перевіряємо змінні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83E3F-F2C6-4F62-A318-CEB85E93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4686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Якщо знак x довільний:</a:t>
            </a:r>
          </a:p>
          <a:p xmlns:a="http://schemas.openxmlformats.org/drawingml/2006/main">
            <a:pPr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 = x⁺ − x⁻,  x⁺, x⁻ ≥ 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66615-B96E-4837-AA41-86810B8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0768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3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B8058-5849-46F1-8736-59E58E09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076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6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7D3C5-E4A9-48EC-B81E-ECBB00D5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9552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2. Змінюємо напрям мети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8C678-3D1C-4FC7-A42E-1FFB977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09875"/>
            <a:ext cx="4686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min f(x)  →  max [−f(x)].</a:t>
            </a:r>
          </a:p>
          <a:p xmlns:a="http://schemas.openxmlformats.org/drawingml/2006/main">
            <a:pPr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Значення мети потім повертаємо.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4A535-8E80-468C-93DB-824744F3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50768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48513-D090-4F79-8619-94477B8F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5076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F9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75BD5-084A-4208-841C-BC41723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3. Замінюємо нерівності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27C60-B775-4599-BBEB-2E8BD426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4686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≤ : додаємо s;  ≥ : віднімаємо s.</a:t>
            </a:r>
          </a:p>
          <a:p xmlns:a="http://schemas.openxmlformats.org/drawingml/2006/main">
            <a:pPr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Рівність залишаємо без змін.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88360-E9DE-4778-A0AF-8155F7FF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05250"/>
            <a:ext cx="50768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3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B96FD-80B6-4A45-B9B1-3E2FE9F3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05250"/>
            <a:ext cx="5076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6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59EDE-CF6F-4376-A487-1E2DF57F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338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4. Перевіряємо запис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570EF-096C-48A5-B7C4-C01A6A74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48200"/>
            <a:ext cx="4686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Усі нові s ≥ 0. Підстановка</a:t>
            </a:r>
          </a:p>
          <a:p xmlns:a="http://schemas.openxmlformats.org/drawingml/2006/main">
            <a:pPr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відтворює початкові обмеження.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19FB1-344D-4826-98F4-59E6C997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s — запас для ≤ або надлишок для ≥; у меті коефіцієнт 0.</a:t>
            </a:r>
          </a:p>
        </p:txBody>
      </p:sp>
    </p:spTree>
    <p:extLst>
      <p:ext uri="{BB962C8B-B14F-4D97-AF65-F5344CB8AC3E}">
        <p14:creationId xmlns:p14="http://schemas.microsoft.com/office/powerpoint/2010/main" val="250336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E9461-1626-410A-8A7F-7610968D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Область припустимих розв’язків (ОПР)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C87E5-CE27-404D-A733-1F451E76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9807D-46A9-4AFD-A341-515D0AD3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52750"/>
            <a:ext cx="3810000" cy="2286000"/>
          </a:xfrm>
          <a:custGeom xmlns:a="http://schemas.openxmlformats.org/drawingml/2006/main">
            <a:pathLst>
              <a:path w="3810000" h="2286000">
                <a:moveTo>
                  <a:pt x="0" y="2286000"/>
                </a:moveTo>
                <a:lnTo>
                  <a:pt x="3810000" y="2286000"/>
                </a:lnTo>
                <a:lnTo>
                  <a:pt x="3048000" y="1143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4F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7EE10-FB62-43DB-832A-6769F23B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3875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7AD18-ECF1-4A92-B77F-E370A320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07AFE-57D9-4CDC-B35E-8A501B1A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52750"/>
            <a:ext cx="30480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8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E3449-D306-4E52-9768-C91EA4F8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95750"/>
            <a:ext cx="7620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6F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340A4-A3A0-4821-94B5-F8FC9E91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91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2E327-5E56-479E-B33F-9D362DFA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91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C7DD7-2FD7-49E0-B36F-815434E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F8827-DFC9-4285-B3C3-BE334CF3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480A1-CBDD-4782-A632-44BFE347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52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80, 20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6B24C-34D9-49DD-9BBB-357371C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65451-04C7-472B-84CA-0F0486C1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13415-5482-43F1-A352-4BD7913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38750"/>
            <a:ext cx="3762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x₁  CPU для інференсу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2D215-5D73-4FB2-9354-8B083AAE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002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x₂  CPU для аналітики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A3347-8FC1-4EF3-ACAD-8372DBD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67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Пам’ять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8DEB2-A65D-4B59-8F3A-264EEA4C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434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CPU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1915B-7FEF-4911-BABD-F041904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Зафарбована ОПР: припустимий розподіл CPU</a:t>
            </a:r>
          </a:p>
        </p:txBody>
      </p:sp>
    </p:spTree>
    <p:extLst>
      <p:ext uri="{BB962C8B-B14F-4D97-AF65-F5344CB8AC3E}">
        <p14:creationId xmlns:p14="http://schemas.microsoft.com/office/powerpoint/2010/main" val="8765422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A7D84-3499-4D86-921B-D2CA8B34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ОПР — спільна частина обмежень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1CC27-8AD1-4465-B23A-1D1F199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48D0D-0064-4E66-8F90-3C88985F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Кожна умова залишає лише частину площини: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EA889-EEA0-4DFD-8F1B-DF42E2A2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FEE16-072D-410D-B5EE-2B192835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F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3FF00-7DE4-43AF-8E68-82B1B8DA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1. Невід’ємність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65B84-6DAE-4F58-A486-87F20D42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3028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x₁, x₂ ≥ 0</a:t>
            </a:r>
          </a:p>
          <a:p xmlns:a="http://schemas.openxmlformats.org/drawingml/2006/main">
            <a:pPr>
              <a:buNone/>
              <a:def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перша чверть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232D1-585B-42EF-A23F-CB5CB76D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24075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20719-69B7-49D7-BD95-7A78FCD6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24075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F9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0A703-0629-46E7-8F14-DDB4D02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7172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2. Ліміт CPU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0F628-2930-4473-AE0B-9A7E623F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3028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+ x₂ ≤ 100</a:t>
            </a:r>
          </a:p>
          <a:p xmlns:a="http://schemas.openxmlformats.org/drawingml/2006/main">
            <a:pPr>
              <a:buNone/>
              <a:def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частина нижче межі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B9D71-721F-47B3-83B6-BF628682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24075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10448-A5A6-41B9-B55A-36201918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24075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6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2F503-A16D-4628-99DB-100F614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7172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3. Ліміт пам’яті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21252-40C5-426F-9965-7B85DAF9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43225"/>
            <a:ext cx="3028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0,5x₁ + 2x₂ ≤ 80</a:t>
            </a:r>
          </a:p>
          <a:p xmlns:a="http://schemas.openxmlformats.org/drawingml/2006/main">
            <a:pPr>
              <a:buNone/>
              <a:def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ще звужує область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AE6B3-5D52-4355-ADAC-DF81E353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ОПР = плани, що проходять усі три перевірки одночасно.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1A2CD-4FEA-48BF-B1F3-140DDCB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Наприклад, (60, 10) ∈ ОПР: CPU 70/100, пам’ять 50/80.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C68EA-E1E7-4148-B2C3-25C904E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AD4C3E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AD4C3E"/>
                </a:solidFill>
                <a:latin typeface="DejaVu Sans"/>
                <a:ea typeface="DejaVu Sans"/>
                <a:cs typeface="DejaVu Sans"/>
              </a:rPr>
              <a:t>(90, 30) ∉ ОПР: CPU 120/100, пам’ять 105/80.</a:t>
            </a:r>
          </a:p>
        </p:txBody>
      </p:sp>
    </p:spTree>
    <p:extLst>
      <p:ext uri="{BB962C8B-B14F-4D97-AF65-F5344CB8AC3E}">
        <p14:creationId xmlns:p14="http://schemas.microsoft.com/office/powerpoint/2010/main" val="19444085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323A6-54C6-49A3-994E-6B7E655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Кутові плани і користь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49DAF-999F-436D-A4FE-2568E637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47725" y="1609725"/>
          <a:ext xmlns:a="http://schemas.openxmlformats.org/drawingml/2006/main" cx="7905750" cy="3752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35250"/>
                <a:gridCol w="2635250"/>
                <a:gridCol w="2635250"/>
              </a:tblGrid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CPU: інференс x₁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CPU: аналітика x₂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Користь у балах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D1016-501F-47FA-82D0-9F429275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Найкраща вершина: x = (80, 20) одиниць CPU.</a:t>
            </a:r>
          </a:p>
        </p:txBody>
      </p:sp>
    </p:spTree>
    <p:extLst>
      <p:ext uri="{BB962C8B-B14F-4D97-AF65-F5344CB8AC3E}">
        <p14:creationId xmlns:p14="http://schemas.microsoft.com/office/powerpoint/2010/main" val="3905006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97B86-F17B-436D-82C0-F92D849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Чому оптимум саме тут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5B80C-8F54-44B1-B063-6677F1E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5E527-272E-4B3E-8D26-36AFBC6B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52750"/>
            <a:ext cx="3810000" cy="2286000"/>
          </a:xfrm>
          <a:custGeom xmlns:a="http://schemas.openxmlformats.org/drawingml/2006/main">
            <a:pathLst>
              <a:path w="3810000" h="2286000">
                <a:moveTo>
                  <a:pt x="0" y="2286000"/>
                </a:moveTo>
                <a:lnTo>
                  <a:pt x="3810000" y="2286000"/>
                </a:lnTo>
                <a:lnTo>
                  <a:pt x="3048000" y="1143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4F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241DF-7AFC-4115-A98C-1168A6CF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3875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CBE96-690F-49F3-9ACD-3BB05B81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CFA55-7AE0-4B62-872D-53095483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52750"/>
            <a:ext cx="30480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8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69483-5EBA-46C7-931C-90B31CC5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95750"/>
            <a:ext cx="7620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6F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80EA9-1BA2-4BA0-94CE-9452186C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91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0088D-0D75-4883-85DE-B7237DBC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91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14B26-6917-463E-9D24-F44757A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2CCF0-D315-4AF1-A728-F6DDCA9B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B16D3-54DA-43D3-BF16-21913F3A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52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80, 20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4C311-0385-4351-9EA3-53F4A0D6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6A3D6-DB0E-4662-A17F-646C5698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0CB47-A66C-450B-8B0E-51E37575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38750"/>
            <a:ext cx="3762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x₁  CPU для інференсу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C02EF-C569-4EF2-A208-4ECC01AF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002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x₂  CPU для аналітики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53E03-953A-44BE-BC9A-D61FDB9C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670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Пам’ять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2D9C9-8554-4DE2-8735-06A24AC2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434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CPU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DE886-6AC5-4879-893F-01E52DD0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52750"/>
            <a:ext cx="228600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51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EC73A-039E-4A8E-B64A-54B2D55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95750"/>
            <a:ext cx="11430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1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9B134-2054-4716-B0E2-53B60A5C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14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09032-0B37-4B06-BFBD-031A34B4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C451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45144"/>
                </a:solidFill>
                <a:latin typeface="DejaVu Sans"/>
                <a:ea typeface="DejaVu Sans"/>
                <a:cs typeface="DejaVu Sans"/>
              </a:rPr>
              <a:t>Оптимум: x = (80, 20)</a:t>
            </a:r>
          </a:p>
          <a:p xmlns:a="http://schemas.openxmlformats.org/drawingml/2006/main">
            <a:pPr>
              <a:buNone/>
              <a:defRPr sz="2025" b="1">
                <a:solidFill>
                  <a:srgbClr val="C451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45144"/>
                </a:solidFill>
                <a:latin typeface="DejaVu Sans"/>
                <a:ea typeface="DejaVu Sans"/>
                <a:cs typeface="DejaVu Sans"/>
              </a:rPr>
              <a:t>одиниць CPU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CA170-CC73-4271-ADBB-22F330BE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814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Корисність 220 балів</a:t>
            </a:r>
          </a:p>
        </p:txBody>
      </p:sp>
    </p:spTree>
    <p:extLst>
      <p:ext uri="{BB962C8B-B14F-4D97-AF65-F5344CB8AC3E}">
        <p14:creationId xmlns:p14="http://schemas.microsoft.com/office/powerpoint/2010/main" val="11037541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99B60-3532-479A-B916-07C588C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0 оптимальних планів: ОПР порожня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69D2-4DD5-4680-9B2B-59C24DD7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4BC07-B90F-466C-86E6-D4210892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1905000" cy="1905000"/>
          </a:xfrm>
          <a:custGeom xmlns:a="http://schemas.openxmlformats.org/drawingml/2006/main">
            <a:pathLst>
              <a:path w="1905000" h="1905000">
                <a:moveTo>
                  <a:pt x="0" y="1905000"/>
                </a:moveTo>
                <a:lnTo>
                  <a:pt x="1905000" y="1905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2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C364D-14E6-4A61-90A9-90831133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810000" cy="3810000"/>
          </a:xfrm>
          <a:custGeom xmlns:a="http://schemas.openxmlformats.org/drawingml/2006/main">
            <a:pathLst>
              <a:path w="3810000" h="3810000">
                <a:moveTo>
                  <a:pt x="0" y="952500"/>
                </a:moveTo>
                <a:lnTo>
                  <a:pt x="0" y="0"/>
                </a:lnTo>
                <a:lnTo>
                  <a:pt x="3810000" y="0"/>
                </a:lnTo>
                <a:lnTo>
                  <a:pt x="3810000" y="3810000"/>
                </a:lnTo>
                <a:lnTo>
                  <a:pt x="2857500" y="3810000"/>
                </a:lnTo>
                <a:close/>
              </a:path>
            </a:pathLst>
          </a:custGeom>
          <a:solidFill xmlns:a="http://schemas.openxmlformats.org/drawingml/2006/main">
            <a:srgbClr val="E1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29CB5-0EAB-4649-A42B-E4A6C3BB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810000" cy="3810000"/>
          </a:xfrm>
          <a:custGeom xmlns:a="http://schemas.openxmlformats.org/drawingml/2006/main">
            <a:pathLst>
              <a:path w="3810000" h="3810000">
                <a:moveTo>
                  <a:pt x="0" y="0"/>
                </a:moveTo>
                <a:lnTo>
                  <a:pt x="0" y="3810000"/>
                </a:lnTo>
                <a:lnTo>
                  <a:pt x="3810000" y="3810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D1E97-F301-42C4-A23E-80D8B28A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054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x₁  CPU для інференсу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D7078-CC54-4F71-93A2-8F969EDF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066800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x₂  CPU для аналітики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3F938-9500-48DF-B562-A6A4657F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39CD2-B359-46B7-BE73-C885B465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1905000" cy="1905000"/>
          </a:xfrm>
          <a:custGeom xmlns:a="http://schemas.openxmlformats.org/drawingml/2006/main">
            <a:pathLst>
              <a:path w="1905000" h="1905000">
                <a:moveTo>
                  <a:pt x="0" y="0"/>
                </a:moveTo>
                <a:lnTo>
                  <a:pt x="1905000" y="19050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86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0CCAF-5A88-48C8-8531-804CD056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2857500" cy="2857500"/>
          </a:xfrm>
          <a:custGeom xmlns:a="http://schemas.openxmlformats.org/drawingml/2006/main">
            <a:pathLst>
              <a:path w="2857500" h="2857500">
                <a:moveTo>
                  <a:pt x="0" y="0"/>
                </a:moveTo>
                <a:lnTo>
                  <a:pt x="285750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878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51606-BFA5-4D39-AF9B-36E94FA0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E506D-D229-46D9-8883-22C96185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26906-1D15-4707-BDD6-BEA4FCC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10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4DC38-925F-4B6E-8ADC-BACD9021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10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FD345-8DF6-4793-B2EA-ACD46A05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838325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E9EFF-4D47-43DE-8436-A08DBB7D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43125"/>
            <a:ext cx="95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F9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3CF1E-CCCF-4645-8643-1A8199CB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Можемо дати ≤ 40 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699B7-24C0-4340-AB1B-A4FDE350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48000"/>
            <a:ext cx="95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6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65FB7-B035-4FA7-AF9E-E00301FF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003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Потрібно ≥ 60 CPU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65356-8E5B-4331-ACE6-63C7A7D2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719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AD4C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D4C3E"/>
                </a:solidFill>
                <a:latin typeface="DejaVu Sans"/>
                <a:ea typeface="DejaVu Sans"/>
                <a:cs typeface="DejaVu Sans"/>
              </a:rPr>
              <a:t>Спільних точок немає.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BE0EE-FDDB-439A-8CF7-8140359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D4C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D4C3E"/>
                </a:solidFill>
                <a:latin typeface="DejaVu Sans"/>
                <a:ea typeface="DejaVu Sans"/>
                <a:cs typeface="DejaVu Sans"/>
              </a:rPr>
              <a:t>ОПР = ∅  ⇒  оптимуму немає.</a:t>
            </a:r>
          </a:p>
        </p:txBody>
      </p:sp>
    </p:spTree>
    <p:extLst>
      <p:ext uri="{BB962C8B-B14F-4D97-AF65-F5344CB8AC3E}">
        <p14:creationId xmlns:p14="http://schemas.microsoft.com/office/powerpoint/2010/main" val="31242532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2ECD2-9233-4DE0-AFD2-7E5A5A60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Нескінченно багато оптимальних планів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7F7C9-7418-4A8B-97F9-87311D65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2F759-B7BB-4D2C-BEA0-5103EA17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8900"/>
            <a:ext cx="4286250" cy="2667000"/>
          </a:xfrm>
          <a:custGeom xmlns:a="http://schemas.openxmlformats.org/drawingml/2006/main">
            <a:pathLst>
              <a:path w="4286250" h="2667000">
                <a:moveTo>
                  <a:pt x="0" y="2667000"/>
                </a:moveTo>
                <a:lnTo>
                  <a:pt x="4286250" y="2667000"/>
                </a:lnTo>
                <a:lnTo>
                  <a:pt x="3429000" y="1333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E96CD-8618-4C2D-B40B-66B57E68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52625"/>
            <a:ext cx="4714875" cy="3343275"/>
          </a:xfrm>
          <a:custGeom xmlns:a="http://schemas.openxmlformats.org/drawingml/2006/main">
            <a:pathLst>
              <a:path w="4714875" h="3343275">
                <a:moveTo>
                  <a:pt x="0" y="0"/>
                </a:moveTo>
                <a:lnTo>
                  <a:pt x="0" y="3343275"/>
                </a:lnTo>
                <a:lnTo>
                  <a:pt x="4714875" y="3343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EFE61-1F60-4D36-8435-AC8E3167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673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x₁  CPU для інференсу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249C0-4B94-438D-B9CC-B6B4CC37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9542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x₂  CPU для аналітики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5128F-DB1B-4C62-BED3-45585136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57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C8E4A-D2D1-48C3-B7FF-529BDE97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8900"/>
            <a:ext cx="3429000" cy="1333500"/>
          </a:xfrm>
          <a:custGeom xmlns:a="http://schemas.openxmlformats.org/drawingml/2006/main">
            <a:pathLst>
              <a:path w="3429000" h="1333500">
                <a:moveTo>
                  <a:pt x="0" y="0"/>
                </a:moveTo>
                <a:lnTo>
                  <a:pt x="342900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8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13488-DBB0-4FD2-9027-4732FF53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62400"/>
            <a:ext cx="857250" cy="1333500"/>
          </a:xfrm>
          <a:custGeom xmlns:a="http://schemas.openxmlformats.org/drawingml/2006/main">
            <a:pathLst>
              <a:path w="857250" h="1333500">
                <a:moveTo>
                  <a:pt x="0" y="0"/>
                </a:moveTo>
                <a:lnTo>
                  <a:pt x="85725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086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6555E-9C82-4C7E-9766-84126B3D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463" y="39004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16109-E8D6-43C8-9989-D7E115B3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713" y="52339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D7912-9932-47F3-B16A-716EE9FE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147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(80, 20)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D3F0E-F193-4EBC-9FB5-A2B09DFA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291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(100, 0)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5F170-0067-430F-9147-B05A668B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62225"/>
            <a:ext cx="1762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Пам’ять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6B8C8-88F6-4D80-9196-7833791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FA7E1-85E9-4A4C-B9CF-9B3BF1CD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39052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A82C8-49F1-4CA4-A6B1-9EC55728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81225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Ті самі обмеження.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0FDA4-C785-4FC1-9E28-D7625C7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3448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Нова мета:</a:t>
            </a:r>
          </a:p>
          <a:p xmlns:a="http://schemas.openxmlformats.org/drawingml/2006/main">
            <a:pPr>
              <a:buNone/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max (x₁ + x₂)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9A9D8-1ADF-4A2F-8714-77569C30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3476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На виділеному відрізку</a:t>
            </a:r>
          </a:p>
          <a:p xmlns:a="http://schemas.openxmlformats.org/drawingml/2006/main">
            <a:pPr>
              <a:buNone/>
              <a:def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+ x₂ = 100.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A856E-5A66-4754-943E-87588F71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Кожна його точка оптимальна.</a:t>
            </a:r>
          </a:p>
        </p:txBody>
      </p:sp>
    </p:spTree>
    <p:extLst>
      <p:ext uri="{BB962C8B-B14F-4D97-AF65-F5344CB8AC3E}">
        <p14:creationId xmlns:p14="http://schemas.microsoft.com/office/powerpoint/2010/main" val="14394316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70AF7-5480-46A8-8984-F28BFB72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Результат мовою оператора сервісу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25874-8E3A-40FE-8487-5EC6CB95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A1E3F-DF03-404D-A5D5-8C5054F3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Рекомендація на одну зміну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BD5DE-D0A2-421B-AA99-53DA75CE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 = (80, 20) одиниць CPU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D8711-151D-4F44-90D7-ED7B0157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Це 40 пакетів інференсу та 20 аналітики.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7CD6E-44D3-42C4-B385-CCF8BB74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CPU: 100 зі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51B7B-BF72-4DF7-A2A5-C0F2651A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766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Пам’ять: 80 з 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F2F8C-EDD9-4B6F-945E-79841FB7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Користь: 220 умовних балів</a:t>
            </a:r>
          </a:p>
        </p:txBody>
      </p:sp>
    </p:spTree>
    <p:extLst>
      <p:ext uri="{BB962C8B-B14F-4D97-AF65-F5344CB8AC3E}">
        <p14:creationId xmlns:p14="http://schemas.microsoft.com/office/powerpoint/2010/main" val="14714938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05D1D-5772-4078-ABEB-EF424AAC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Ще одна задача: два мережеві маршрути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10418-4EB2-434B-A461-1EDEFF7D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DAFC0-EAAB-47B5-A0B1-0C89BB43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Від датацентру до сервісу треба передати 60 Мбіт/с.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466975"/>
          <a:ext xmlns:a="http://schemas.openxmlformats.org/drawingml/2006/main" cx="10668000" cy="2352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56000"/>
                <a:gridCol w="3556000"/>
                <a:gridCol w="3556000"/>
              </a:tblGrid>
              <a:tr h="784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Маршрут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Пропускна здатність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Витрати на 1 Мбіт/с</a:t>
                      </a:r>
                    </a:p>
                  </a:txBody>
                  <a:tcPr marL="91440" marR="91440" marT="45720" marB="45720">
                    <a:solidFill>
                      <a:srgbClr val="152C42"/>
                    </a:solidFill>
                  </a:tcPr>
                </a:tc>
              </a:tr>
              <a:tr h="784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 більш ніж 40 Мбіт/с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умовні одиниці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784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 більш ніж 50 Мбіт/с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C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умовних одиниць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6B206-5B01-4E36-B188-7B173EB9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Завдання: розподілити трафік між маршрутами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4D227-A18B-49F5-BE36-5E712FCD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так, щоб передати всі 60 Мбіт/с з найменшими витратами.</a:t>
            </a:r>
          </a:p>
        </p:txBody>
      </p:sp>
    </p:spTree>
    <p:extLst>
      <p:ext uri="{BB962C8B-B14F-4D97-AF65-F5344CB8AC3E}">
        <p14:creationId xmlns:p14="http://schemas.microsoft.com/office/powerpoint/2010/main" val="19085493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0ae30c840446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C3C81-60EE-4126-BA65-CC3DB162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Як розподілити 60 Мбіт/с?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E7C55-48C2-4B77-BBF1-5BF7B125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390650"/>
            <a:ext cx="4067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A: до 40 Мбіт/с, витрати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C5CCA-8746-4537-A6FE-68429A09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5777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B: до 50 Мбіт/с, витрати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2EB07-D19C-405B-911A-4610A511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596462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A443F-79EA-487F-AF15-993D6056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Звідки береться цільова функція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D80CE-338E-4926-A42D-8E5D154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6D469-19F8-45C3-B79F-8250B14F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x₁ — Мбіт/с через A;   x₂ — Мбіт/с через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5DD91-AB46-4170-98CC-F684B0AD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Маршрут A: 2 за кожен Мбіт/с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4559B-21A4-4BB8-B710-AE5CE174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Його витрати за зміну: 2 × x₁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38420-F98A-4E6F-9D0C-8FFDCBE4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Маршрут B: 5 за кожен Мбіт/с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F7254-0151-4FC9-92D1-30724F71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Його витрати за зміну: 5 × x₂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25D20-B76A-499F-81B6-6C5ED4D4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Загальні витрати: C(x) = 2x₁ + 5x₂  →  мінімум</a:t>
            </a:r>
          </a:p>
        </p:txBody>
      </p:sp>
    </p:spTree>
    <p:extLst>
      <p:ext uri="{BB962C8B-B14F-4D97-AF65-F5344CB8AC3E}">
        <p14:creationId xmlns:p14="http://schemas.microsoft.com/office/powerpoint/2010/main" val="7384245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8814C-5130-47FF-959B-F3887A6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Звідки беруться обмеження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37620-8881-4CC0-846E-C4EF2234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EB109-4576-4FB7-B828-DF75B24D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Увесь трафік треба передати: 60 Мбіт/с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31330-3736-42D1-BD7F-57899963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Потоки двома маршрутами разом: x₁ + x₂ = 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24627-A323-4EF2-9E60-3E643BDF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Маршрут A пропускає до 40 Мбіт/с: x₁ ≤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2E177-9DFC-444F-A2FE-D2F52C3C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Маршрут B пропускає до 50 Мбіт/с: x₂ ≤ 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4C219-D1D6-4368-BB04-B976EE1D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Від’ємний трафік не має змісту: x₁ ≥ 0, x₂ ≥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C3579-6418-42F0-A68D-DEA044C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Перевірка: (30, 30) допустимий; (50, 10) перевантажує A.</a:t>
            </a:r>
          </a:p>
        </p:txBody>
      </p:sp>
    </p:spTree>
    <p:extLst>
      <p:ext uri="{BB962C8B-B14F-4D97-AF65-F5344CB8AC3E}">
        <p14:creationId xmlns:p14="http://schemas.microsoft.com/office/powerpoint/2010/main" val="12322688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EFCB1-D3E8-43C6-AA77-A48F10DA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Формалізація задачі про маршрути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DDF12-AB55-421C-9736-85B7F6E7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E6FE0-0EE7-4AC0-A270-9E380F5F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x = (x₁, x₂)ᵀ  — трафік маршрутами A і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03402-D6B1-459C-AA2F-547BE28B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Звичайний запис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B0FAF-49DC-4B67-801C-A468803D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min  2x₁ + 5x₂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30F96-87CC-4CAD-9F3F-D472B1CB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+ x₂ =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6B7EA-627A-42D6-BC1A-DEAA8ED8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≤ 40,   x₂ ≤ 50,   x₁, x₂ ≥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B4C03-756D-480B-AEC4-A3C3AD40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Матричний запис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7D815-2E8D-423A-A2AD-B65D2367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min cᵀx,    c = (2, 5)ᵀ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AACB5-C2F1-4EA8-BC97-5F163F9E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A≤x ≤ b≤:   I₂x ≤ (40, 50)ᵀ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B7AD7-476F-4A90-B798-114FEA15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A₌x = b₌:   (1, 1)x = 60</a:t>
            </a:r>
          </a:p>
        </p:txBody>
      </p:sp>
    </p:spTree>
    <p:extLst>
      <p:ext uri="{BB962C8B-B14F-4D97-AF65-F5344CB8AC3E}">
        <p14:creationId xmlns:p14="http://schemas.microsoft.com/office/powerpoint/2010/main" val="77861315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61F20-B0A3-42C7-B8C1-FDC0FE44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Маршрути: від мінімізації до ОЗЛП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6FC7D-035E-4E33-8EF9-3C1E4FC7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9603E-B974-45BC-AD8B-C6D8A961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Той самий розподіл трафіку, інший запис моделі.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B4828-EFA4-4180-AC74-2119EB0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4867275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636C6-AD39-41EA-B255-635C8D67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50673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3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312A2-1CA8-472C-AACF-6C972FC6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371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Початкова задача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055D6-FA9E-4E4E-944B-B4E3FB08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400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min  2x₁ + 5x₂</a:t>
            </a:r>
          </a:p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+ x₂ = 60</a:t>
            </a:r>
          </a:p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≤ 40,  x₂ ≤ 50</a:t>
            </a:r>
          </a:p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x₁, x₂ ≥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36C72-437D-41E2-97B9-6D96EA90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4591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ОЗЛП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1AF7F-7AE4-47A9-AFF4-DC3396C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max  (−2x₁ − 5x₂)</a:t>
            </a:r>
          </a:p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+ x₂ = 60</a:t>
            </a:r>
          </a:p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 + sA = 40,  x₂ + sB = 50</a:t>
            </a:r>
          </a:p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x₁, x₂, sA, sB ≥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52D6E-6B0A-47C7-8C47-7B30D7F1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sA і sB — невикористана пропускна здатність маршрутів.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8FC84-F407-47FD-B936-22066FD7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Для x = (40, 20):  s = (0, 30),  max = −180  ⇒  початковий min = 180.</a:t>
            </a:r>
          </a:p>
        </p:txBody>
      </p:sp>
    </p:spTree>
    <p:extLst>
      <p:ext uri="{BB962C8B-B14F-4D97-AF65-F5344CB8AC3E}">
        <p14:creationId xmlns:p14="http://schemas.microsoft.com/office/powerpoint/2010/main" val="1234576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E638A-6FC8-4913-B139-9330868F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Маршрути: ОПР є відрізком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808D9-461F-414A-B253-97F92C13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0BCFB-E674-4410-A4E4-431683B9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3571875" cy="3571875"/>
          </a:xfrm>
          <a:custGeom xmlns:a="http://schemas.openxmlformats.org/drawingml/2006/main">
            <a:pathLst>
              <a:path w="3571875" h="3571875">
                <a:moveTo>
                  <a:pt x="0" y="0"/>
                </a:moveTo>
                <a:lnTo>
                  <a:pt x="0" y="3571875"/>
                </a:lnTo>
                <a:lnTo>
                  <a:pt x="3571875" y="3571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2C0F6-94B3-4D91-96D9-245C5127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007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x₁  маршрут A, Мбіт/с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C265C-3E94-4C72-BBD9-E99B2321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001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x₂  маршрут B, Мбіт/с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6D7BC-0430-450D-9490-BA7FEA8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DAFED-77C4-482F-9D90-34C72F4A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3429000" cy="3429000"/>
          </a:xfrm>
          <a:custGeom xmlns:a="http://schemas.openxmlformats.org/drawingml/2006/main">
            <a:pathLst>
              <a:path w="3429000" h="3429000">
                <a:moveTo>
                  <a:pt x="0" y="0"/>
                </a:moveTo>
                <a:lnTo>
                  <a:pt x="3429000" y="3429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5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94CB4-ADA6-4755-BD37-CB8AC67A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9525" cy="3429000"/>
          </a:xfrm>
          <a:custGeom xmlns:a="http://schemas.openxmlformats.org/drawingml/2006/main">
            <a:pathLst>
              <a:path w="9525" h="3429000">
                <a:moveTo>
                  <a:pt x="0" y="3429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6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58248-AE8D-4491-9D63-9706C54E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3429000" cy="9525"/>
          </a:xfrm>
          <a:custGeom xmlns:a="http://schemas.openxmlformats.org/drawingml/2006/main"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6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5BB54-EF67-4474-9D4E-3F4B20C7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1714500" cy="1714500"/>
          </a:xfrm>
          <a:custGeom xmlns:a="http://schemas.openxmlformats.org/drawingml/2006/main">
            <a:pathLst>
              <a:path w="1714500" h="1714500">
                <a:moveTo>
                  <a:pt x="0" y="0"/>
                </a:moveTo>
                <a:lnTo>
                  <a:pt x="171450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0878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37DDA-C21B-404C-BA52-EA7B71B2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05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02793-3BA2-4F18-A393-7C3B0815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420528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6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21297-0304-4B42-B9AB-528B12A9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240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(10, 50)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9FD2C-6709-40ED-A29E-E76F16FE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576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(40, 20)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30315-FAA7-4ABA-80E4-9A3B6CB3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717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x₂ = 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523A0-FBD3-4DAD-9AC2-515FAA99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x₁ = 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00A80-A9BA-4B0A-A9F9-4AA0CD1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39624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9497A-DAC0-44FD-B78A-BA7C9656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Усі 60 Мбіт/с передаємо: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61DD7-B7EA-4DA2-BD88-DA45380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x₁ + x₂ = 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E5517-9539-4FFF-B3A6-2E53F9FA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Межі: x₁ ≤ 40, x₂ ≤ 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6962F-7192-48EC-8525-A09EC11E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Зелений відрізок — ОПР.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2E930-7743-4FE5-A47F-4A97E84A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Мінімум: (40, 20), витрати 180.</a:t>
            </a:r>
          </a:p>
        </p:txBody>
      </p:sp>
    </p:spTree>
    <p:extLst>
      <p:ext uri="{BB962C8B-B14F-4D97-AF65-F5344CB8AC3E}">
        <p14:creationId xmlns:p14="http://schemas.microsoft.com/office/powerpoint/2010/main" val="177339708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95537-FC32-4D35-A5B7-4682502F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Графічно знаходимо найменші витрати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00BBC-39ED-49E1-B417-35CBAD29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ОПР — зелений відрізок; червоні прямі показують однакові витрати.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3B4B0-7748-409B-915F-D21D48A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3676650" cy="3543300"/>
          </a:xfrm>
          <a:custGeom xmlns:a="http://schemas.openxmlformats.org/drawingml/2006/main">
            <a:pathLst>
              <a:path w="3676650" h="3543300">
                <a:moveTo>
                  <a:pt x="0" y="0"/>
                </a:moveTo>
                <a:lnTo>
                  <a:pt x="0" y="3543300"/>
                </a:lnTo>
                <a:lnTo>
                  <a:pt x="3676650" y="3543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ABD3E-BB18-4D76-A519-62BD62BB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930F2-3F93-4B05-9DBC-784AF37F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66900"/>
            <a:ext cx="331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x₂  маршрут B, Мбіт/с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B445E-2E2E-4692-A123-6BB126CB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8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x₁  маршрут A, Мбіт/с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C9791-E29E-4273-8415-7122DD65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62150"/>
            <a:ext cx="3429000" cy="3429000"/>
          </a:xfrm>
          <a:custGeom xmlns:a="http://schemas.openxmlformats.org/drawingml/2006/main">
            <a:pathLst>
              <a:path w="3429000" h="3429000">
                <a:moveTo>
                  <a:pt x="0" y="0"/>
                </a:moveTo>
                <a:lnTo>
                  <a:pt x="3429000" y="34290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3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B44D8-A112-4ED2-A2CA-C42720E6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05050"/>
            <a:ext cx="3429000" cy="1371600"/>
          </a:xfrm>
          <a:custGeom xmlns:a="http://schemas.openxmlformats.org/drawingml/2006/main">
            <a:pathLst>
              <a:path w="3429000" h="1371600">
                <a:moveTo>
                  <a:pt x="0" y="0"/>
                </a:moveTo>
                <a:lnTo>
                  <a:pt x="34290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6A8A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9003C-CF41-4C5A-AE5C-647C2A76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505200"/>
            <a:ext cx="1438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6A8A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6A8A1"/>
                </a:solidFill>
                <a:latin typeface="DejaVu Sans"/>
                <a:ea typeface="DejaVu Sans"/>
                <a:cs typeface="DejaVu Sans"/>
              </a:rPr>
              <a:t>C = 270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17B50-686A-48E3-86DF-76479F18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3429000" cy="1371600"/>
          </a:xfrm>
          <a:custGeom xmlns:a="http://schemas.openxmlformats.org/drawingml/2006/main">
            <a:pathLst>
              <a:path w="3429000" h="1371600">
                <a:moveTo>
                  <a:pt x="0" y="0"/>
                </a:moveTo>
                <a:lnTo>
                  <a:pt x="34290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6A8A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772FE-C764-4C1F-8470-9453EF29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191000"/>
            <a:ext cx="1438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6A8A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6A8A1"/>
                </a:solidFill>
                <a:latin typeface="DejaVu Sans"/>
                <a:ea typeface="DejaVu Sans"/>
                <a:cs typeface="DejaVu Sans"/>
              </a:rPr>
              <a:t>C = 210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084B0-15AC-411A-BDB3-9EDF497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3429000" cy="1371600"/>
          </a:xfrm>
          <a:custGeom xmlns:a="http://schemas.openxmlformats.org/drawingml/2006/main">
            <a:pathLst>
              <a:path w="3429000" h="1371600">
                <a:moveTo>
                  <a:pt x="0" y="0"/>
                </a:moveTo>
                <a:lnTo>
                  <a:pt x="34290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AD4C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C3D89-9639-40FA-BFB9-354A9A79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533900"/>
            <a:ext cx="1438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AD4C3E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AD4C3E"/>
                </a:solidFill>
                <a:latin typeface="DejaVu Sans"/>
                <a:ea typeface="DejaVu Sans"/>
                <a:cs typeface="DejaVu Sans"/>
              </a:rPr>
              <a:t>C = 180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73CC9-6FFB-4CA9-99C4-30A4A5D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714500" cy="1714500"/>
          </a:xfrm>
          <a:custGeom xmlns:a="http://schemas.openxmlformats.org/drawingml/2006/main">
            <a:pathLst>
              <a:path w="1714500" h="1714500">
                <a:moveTo>
                  <a:pt x="0" y="0"/>
                </a:moveTo>
                <a:lnTo>
                  <a:pt x="171450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0878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D1E27-AF2D-440E-82CB-2E767B4C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338" y="24717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95352-7EE7-4F76-9DEF-0635E0B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(10, 50)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78500-6788-411C-931D-7734B7D1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147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141CF-FF8B-4B91-A58B-1EF9D427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480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(30, 30)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FB993-F00A-4BCE-97ED-F01EA69D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4167188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6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EB2BA-553B-4235-82A9-86572441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81400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(40, 20)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35D4A-A51F-4945-A3C6-708A1EA2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71675"/>
            <a:ext cx="41624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27741-74B3-44D7-B691-0EDD8DF7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288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Лінії рівних витрат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A6AC3-9057-4CEE-830C-4F2FE616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765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4C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D4C3E"/>
                </a:solidFill>
                <a:latin typeface="DejaVu Sans"/>
                <a:ea typeface="DejaVu Sans"/>
                <a:cs typeface="DejaVu Sans"/>
              </a:rPr>
              <a:t>270  →  (10, 50)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1895D-2933-44AA-8FD9-122F823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385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4C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D4C3E"/>
                </a:solidFill>
                <a:latin typeface="DejaVu Sans"/>
                <a:ea typeface="DejaVu Sans"/>
                <a:cs typeface="DejaVu Sans"/>
              </a:rPr>
              <a:t>210  →  (30, 30)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E7AE7-0A47-43CD-8956-216846E7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00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180  →  (40, 20)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E4E6B-F1E7-45C8-8E0F-A06590B5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9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Зменшуємо C до останнього</a:t>
            </a:r>
          </a:p>
          <a:p xmlns:a="http://schemas.openxmlformats.org/drawingml/2006/main">
            <a:pPr>
              <a:buNone/>
              <a:def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дотику з ОПР.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24CE5-0147-4756-9AFF-3359AD54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Оптимум: A — 40, B — 20 Мбіт/с; витрати 180.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9CD47-C75E-40F0-A3CF-2DF0484B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647970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386FF-2811-418B-AB79-AF29DA6C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Що дає модель маршрутизації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40FD3-CE40-4931-9866-206EEC0C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DB9C1-831B-4F96-9E0B-5E777838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x = (40, 20) Мбіт/с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2E2D7-C721-4525-951A-A94C166D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Передано: 40 + 20 = 60 Мбіт/с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F0FCA-96EB-4860-8135-2DC4CF70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Межі: A використовує 40 з 40; B — 20 з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E15DE-D6C2-4977-B62E-72665EC9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Витрати: 2 × 40 + 5 × 20 = 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0FB61-6232-49C3-BC41-2919326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Маршрут A дешевший, тому заповнюємо його до межі.</a:t>
            </a:r>
          </a:p>
        </p:txBody>
      </p:sp>
    </p:spTree>
    <p:extLst>
      <p:ext uri="{BB962C8B-B14F-4D97-AF65-F5344CB8AC3E}">
        <p14:creationId xmlns:p14="http://schemas.microsoft.com/office/powerpoint/2010/main" val="16481203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54649-1F90-4E21-8F1B-451B6C24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Малий експеримент  більше CPU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D6BA1-2976-4754-A0F7-B89806D4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B4C8E-7C68-4C11-85F4-77072FD8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Було: 100 CPU та 80 пам’яті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E6A03-FDA7-4795-BC85-A3C809B6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Стало: 120 CPU та 80 пам’яті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C5010-2367-466F-8D36-109B3BE8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Чи зросте найбільша користь? Чи залишиться x = (80, 20) найкращим?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96084-8866-4067-B7FD-DC7D6BC5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Перевірка: x ≈ (106,7; 13,3), користь ≈ 253,3 бала.</a:t>
            </a:r>
          </a:p>
        </p:txBody>
      </p:sp>
    </p:spTree>
    <p:extLst>
      <p:ext uri="{BB962C8B-B14F-4D97-AF65-F5344CB8AC3E}">
        <p14:creationId xmlns:p14="http://schemas.microsoft.com/office/powerpoint/2010/main" val="17777956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56E6B-587D-42E9-A843-4C2CFAA4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Межі навчальної моделі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B9208-57D2-4868-8049-3FB43D8C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A5DDA-91C7-41DE-B4F4-DCDC7B3A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Корисність одного пакета та витрати ресурсів вважаємо сталими.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51F2E-FD98-4000-88FF-5F3C937A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Дробові значення x трактуємо як подільний розподіл CPU й навантаження.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03F8A-C0B2-43AB-9E82-0EDED02A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Якщо пакети неподільні або завдання мають пріоритети, модель потрібно змінити.</a:t>
            </a:r>
          </a:p>
        </p:txBody>
      </p:sp>
    </p:spTree>
    <p:extLst>
      <p:ext uri="{BB962C8B-B14F-4D97-AF65-F5344CB8AC3E}">
        <p14:creationId xmlns:p14="http://schemas.microsoft.com/office/powerpoint/2010/main" val="19311339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6D276-C10F-41A5-91E0-F5B3FB92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Програмне розв’язання на практиці №3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F0B10-C19C-494C-A959-BF03EA0C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5D118-16A9-4AD8-A35C-2F85AC24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Вхідні дані та модель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E07DD-B495-41BF-B32B-FC4D4535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2892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Чисельний розв’язок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95810-6743-4976-ACD2-C018BD2D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147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Окрема перевірка допустимості й користі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DF7AA-A9A7-45DF-B2F3-7BA5B44C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91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Контроль: x = (80, 20) CPU; 40 і 20 пакетів; 220 балів.</a:t>
            </a:r>
          </a:p>
        </p:txBody>
      </p:sp>
    </p:spTree>
    <p:extLst>
      <p:ext uri="{BB962C8B-B14F-4D97-AF65-F5344CB8AC3E}">
        <p14:creationId xmlns:p14="http://schemas.microsoft.com/office/powerpoint/2010/main" val="4238092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1DE50-D1BE-4AE1-A9A6-1573B3F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Перевірка розуміння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182F0-F88E-486E-B91D-38273B5F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A3EC9-C8F7-4665-87D7-E0F302C0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10191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План: x = (40, 30) одиниць CPU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3CCD3-DAD8-4D03-AAB5-C78E6416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Він допустимий?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2E90A-69E7-460A-9A02-B394395E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Він найкращий?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79A0C-AFD1-45DF-BC25-AE4E47D8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Який один розрахунок підтвердить вашу відповідь?</a:t>
            </a:r>
          </a:p>
        </p:txBody>
      </p:sp>
    </p:spTree>
    <p:extLst>
      <p:ext uri="{BB962C8B-B14F-4D97-AF65-F5344CB8AC3E}">
        <p14:creationId xmlns:p14="http://schemas.microsoft.com/office/powerpoint/2010/main" val="13386058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3C9DE-E86E-46D3-B866-775DF0BD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Підсумок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48A99-F04B-45B6-A33A-05E6C5F3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941F9-F387-4869-8DE1-FE8A8B0C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Вектор x задає розподіл CPU; вектор b — запаси CPU та пам’яті.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07F56-4F21-43A7-9D6E-33B9260D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Матричний і звичайний записи описують ту саму задачу.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C2B7F-4B6F-4EB6-9FA3-F7AF2DB5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Оптимальний план допустимий і має найкраще значення цільової функції.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71124-9DE3-43D7-9ED3-141DC3C6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ОЗЛП: максимум, рівності та невід’ємні змінні.</a:t>
            </a:r>
          </a:p>
        </p:txBody>
      </p:sp>
    </p:spTree>
    <p:extLst>
      <p:ext uri="{BB962C8B-B14F-4D97-AF65-F5344CB8AC3E}">
        <p14:creationId xmlns:p14="http://schemas.microsoft.com/office/powerpoint/2010/main" val="6952609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9B815-F39F-47E4-8A7E-5E39F40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Додаток  Параметри SciPy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C599C-948E-4ECC-AE43-25F024D8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940B9-91F9-40D5-8169-B5C2EEB5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linprog розв’язує мінімізацію: c = (−2, −3).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A0F90-5CB4-4C53-B761-C38CD930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A_ub = [[1, 1], [0.5, 2]]; b_ub = [100, 80].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1475B-C322-403F-96DB-3BC69D05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bounds = [(0, None), (0, None)].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BA553-DFDA-4878-8DF5-6D6449B0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Після запуску перевірити статус, змінні, −fun і запаси ресурсів.</a:t>
            </a:r>
          </a:p>
        </p:txBody>
      </p:sp>
    </p:spTree>
    <p:extLst>
      <p:ext uri="{BB962C8B-B14F-4D97-AF65-F5344CB8AC3E}">
        <p14:creationId xmlns:p14="http://schemas.microsoft.com/office/powerpoint/2010/main" val="1046645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D3967-14BC-4E69-8ABA-10F668E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Додаток  Контроль ручного розрахунку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39666-D7CF-41C3-91D1-85512A2D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EBDDA-C00D-4E44-BC2B-CE05CD57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Точка перетину меж CPU і пам’яті: x = (80, 20).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1A370-416D-46C9-A79E-5AF4997F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 обох ресурсних умовах підстановка дає рівність.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E2CE7-FDAE-4154-B018-8C1BB074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Порівняння чотирьох кутових планів дає найбільшу користь 220.</a:t>
            </a:r>
          </a:p>
        </p:txBody>
      </p:sp>
    </p:spTree>
    <p:extLst>
      <p:ext uri="{BB962C8B-B14F-4D97-AF65-F5344CB8AC3E}">
        <p14:creationId xmlns:p14="http://schemas.microsoft.com/office/powerpoint/2010/main" val="184952000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60A5B-9DEE-492A-9CE2-B49BDCB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Додаток: базисні та вільні змінні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FA3B1-973A-491E-8227-6F824BD3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На графіку два кутові плани. При переході між ними змінюється вибір базису.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C2E46-0702-48AE-A5EE-1F401C9B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54EDD-B138-4994-902A-52526F8C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33675"/>
            <a:ext cx="3810000" cy="2362200"/>
          </a:xfrm>
          <a:custGeom xmlns:a="http://schemas.openxmlformats.org/drawingml/2006/main">
            <a:pathLst>
              <a:path w="3810000" h="2362200">
                <a:moveTo>
                  <a:pt x="0" y="2362200"/>
                </a:moveTo>
                <a:lnTo>
                  <a:pt x="3810000" y="2362200"/>
                </a:lnTo>
                <a:lnTo>
                  <a:pt x="3048000" y="1181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846EA-55D0-4CD0-A3D0-15D0EAD1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38375"/>
            <a:ext cx="4381500" cy="2857500"/>
          </a:xfrm>
          <a:custGeom xmlns:a="http://schemas.openxmlformats.org/drawingml/2006/main">
            <a:pathLst>
              <a:path w="4381500" h="2857500">
                <a:moveTo>
                  <a:pt x="0" y="0"/>
                </a:moveTo>
                <a:lnTo>
                  <a:pt x="0" y="2857500"/>
                </a:lnTo>
                <a:lnTo>
                  <a:pt x="438150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D9348-A08A-4CC6-B36A-DDF66CDA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48F8E-97EF-4B6C-B0AE-91E9F6D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33675"/>
            <a:ext cx="3048000" cy="1181100"/>
          </a:xfrm>
          <a:custGeom xmlns:a="http://schemas.openxmlformats.org/drawingml/2006/main">
            <a:pathLst>
              <a:path w="3048000" h="1181100">
                <a:moveTo>
                  <a:pt x="0" y="0"/>
                </a:moveTo>
                <a:lnTo>
                  <a:pt x="3048000" y="1181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8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C3BF5-485F-475A-864A-15B3B4A8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14775"/>
            <a:ext cx="762000" cy="1181100"/>
          </a:xfrm>
          <a:custGeom xmlns:a="http://schemas.openxmlformats.org/drawingml/2006/main">
            <a:pathLst>
              <a:path w="762000" h="1181100">
                <a:moveTo>
                  <a:pt x="0" y="0"/>
                </a:moveTo>
                <a:lnTo>
                  <a:pt x="762000" y="1181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6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64AF7-C479-4436-9446-FF342D83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F9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14859-1A87-47EC-B471-B936650F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38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6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4EF6F-00C0-4169-A3AE-C9F9CF6A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(0, 0)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EDE12-A23B-4F67-8E62-0D9CF87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575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(80, 20)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07828-C943-4B2F-9CA3-72610433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14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Пам’ять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A5EC5-AEBB-4E94-959A-53F050FB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1960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CPU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C4157-B2D5-4153-8C15-C3BC36C6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3875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x₁  CPU для інференсу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8B494-0A38-4B8B-B75A-AB91F9AA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19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x₂  CPU для аналітики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7FF77-94D4-447C-A2EE-C18C852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52437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ECF0C-1CBC-4328-AA7D-2AB6CBA8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4067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Початковий кут  (0, 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83569-995C-4D29-9FBE-D7B8860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4076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Вільні: x₁ = x₂ = 0</a:t>
            </a:r>
          </a:p>
          <a:p xmlns:a="http://schemas.openxmlformats.org/drawingml/2006/main">
            <a:pPr>
              <a:buNone/>
              <a:def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Базисні: sCPU = 100, sMEM = 80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E40DE-2080-4AF3-857D-66EB0C9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4067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Оптимум  (80, 20)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0F069-5F6F-438E-A413-81A77187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33875"/>
            <a:ext cx="4067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Вільні: sCPU = sMEM = 0</a:t>
            </a:r>
          </a:p>
          <a:p xmlns:a="http://schemas.openxmlformats.org/drawingml/2006/main">
            <a:pPr>
              <a:buNone/>
              <a:def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Базисні: x₁ = 80, x₂ = 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52951-E7D6-4063-BDDA-DA6C814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«Вільні» тут ≠ довільного знака: усі змінні ≥ 0.</a:t>
            </a:r>
          </a:p>
        </p:txBody>
      </p:sp>
    </p:spTree>
    <p:extLst>
      <p:ext uri="{BB962C8B-B14F-4D97-AF65-F5344CB8AC3E}">
        <p14:creationId xmlns:p14="http://schemas.microsoft.com/office/powerpoint/2010/main" val="112300264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E32FE-90B7-40F1-B453-C52FBB08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Додаток: 3 рівняння і 5 змінних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93E38-AA9E-42F2-A428-BF3ABFF4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До CPU й пам’яті додали мережевий ліміт. ОПР звузилася, а початковий базис зберігся.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8616C-9534-4A35-804F-68F3DA8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53175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67C70-85BD-4AD5-B5C6-3085510C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56197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208A7-5DB1-4FE9-BDA1-1E44C808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Рівняння ресурсів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3B85B-C8BB-470E-91BC-24038CC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CPU:      x₁ + x₂ + sCPU =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19745-E980-41C8-ACD7-7E63CBA0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Пам’ять: 0,5x₁ + 2x₂ + sMEM = 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F22B4-17A8-4F80-9F5F-87C67623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672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Мережа:  2x₁ + x₂ + sNET = 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5B95D-F227-4137-9E56-86CC650C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При x₁ = x₂ = 0:   s = (100, 80, 120)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0BDEA-9968-41C3-B475-64A829C3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05125"/>
            <a:ext cx="3457575" cy="2286000"/>
          </a:xfrm>
          <a:custGeom xmlns:a="http://schemas.openxmlformats.org/drawingml/2006/main">
            <a:pathLst>
              <a:path w="3457575" h="2286000">
                <a:moveTo>
                  <a:pt x="0" y="2286000"/>
                </a:moveTo>
                <a:lnTo>
                  <a:pt x="3457575" y="2286000"/>
                </a:lnTo>
                <a:lnTo>
                  <a:pt x="2766060" y="1143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6A8BD-B2C5-4D10-AD64-21FBD6BF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05125"/>
            <a:ext cx="2074545" cy="2286000"/>
          </a:xfrm>
          <a:custGeom xmlns:a="http://schemas.openxmlformats.org/drawingml/2006/main">
            <a:pathLst>
              <a:path w="2074545" h="2286000">
                <a:moveTo>
                  <a:pt x="0" y="2286000"/>
                </a:moveTo>
                <a:lnTo>
                  <a:pt x="2074545" y="2286000"/>
                </a:lnTo>
                <a:lnTo>
                  <a:pt x="1580606" y="6531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DA61D-973D-4F71-858D-90BC075E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3762375" cy="2943225"/>
          </a:xfrm>
          <a:custGeom xmlns:a="http://schemas.openxmlformats.org/drawingml/2006/main">
            <a:pathLst>
              <a:path w="3762375" h="2943225">
                <a:moveTo>
                  <a:pt x="0" y="0"/>
                </a:moveTo>
                <a:lnTo>
                  <a:pt x="0" y="2943225"/>
                </a:lnTo>
                <a:lnTo>
                  <a:pt x="3762375" y="2943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2C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E2DAC-E124-4941-8601-DB7A7C8F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53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7D981-5092-49D8-BBCC-0E7857A3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05125"/>
            <a:ext cx="2766060" cy="1143000"/>
          </a:xfrm>
          <a:custGeom xmlns:a="http://schemas.openxmlformats.org/drawingml/2006/main">
            <a:pathLst>
              <a:path w="2766060" h="1143000">
                <a:moveTo>
                  <a:pt x="0" y="0"/>
                </a:moveTo>
                <a:lnTo>
                  <a:pt x="276606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8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F35E5-4149-4FD5-8678-AFAD4D63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010" y="4048125"/>
            <a:ext cx="691515" cy="1143000"/>
          </a:xfrm>
          <a:custGeom xmlns:a="http://schemas.openxmlformats.org/drawingml/2006/main">
            <a:pathLst>
              <a:path w="691515" h="1143000">
                <a:moveTo>
                  <a:pt x="0" y="0"/>
                </a:moveTo>
                <a:lnTo>
                  <a:pt x="691515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3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C365A-5B75-4587-812F-C60EB514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980" y="2905125"/>
            <a:ext cx="691515" cy="2286000"/>
          </a:xfrm>
          <a:custGeom xmlns:a="http://schemas.openxmlformats.org/drawingml/2006/main">
            <a:pathLst>
              <a:path w="691515" h="2286000">
                <a:moveTo>
                  <a:pt x="0" y="0"/>
                </a:moveTo>
                <a:lnTo>
                  <a:pt x="691515" y="22860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86F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92ED0-019E-4A04-A842-37A9C390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038" y="51292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C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2802C-E362-44FF-A203-BC67E6BB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06" y="350111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6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F954D-A999-466E-BF34-A65E1141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166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Пам’ять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76269-A400-4E17-946D-38B85D80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744" y="39052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6F9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6F9F"/>
                </a:solidFill>
                <a:latin typeface="DejaVu Sans"/>
                <a:ea typeface="DejaVu Sans"/>
                <a:cs typeface="DejaVu Sans"/>
              </a:rPr>
              <a:t>Мережа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47CA0-FB42-4678-A411-E5D86FF0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717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Було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C51D1-D117-4066-A19F-009D0386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Нова ОПР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08690-E16F-4C88-A07C-B634637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38700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C4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52C42"/>
                </a:solidFill>
                <a:latin typeface="DejaVu Sans"/>
                <a:ea typeface="DejaVu Sans"/>
                <a:cs typeface="DejaVu Sans"/>
              </a:rPr>
              <a:t>(0, 0)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8E7D0-4847-4503-965B-2399F66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05425"/>
            <a:ext cx="2905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x₁  CPU для інференсу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31261-BA55-4A71-8B6D-798D177D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75B6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75B6C"/>
                </a:solidFill>
                <a:latin typeface="DejaVu Sans"/>
                <a:ea typeface="DejaVu Sans"/>
                <a:cs typeface="DejaVu Sans"/>
              </a:rPr>
              <a:t>x₂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1CD8B-CA7A-4B01-9225-6AB1B295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86F"/>
                </a:solidFill>
                <a:latin typeface="DejaVu Sans"/>
                <a:ea typeface="DejaVu Sans"/>
                <a:cs typeface="DejaVu Sans"/>
              </a:rPr>
              <a:t>3 незалежні рівняння → 3 базисні + 2 вільні змінні.</a:t>
            </a:r>
          </a:p>
        </p:txBody>
      </p:sp>
    </p:spTree>
    <p:extLst>
      <p:ext uri="{BB962C8B-B14F-4D97-AF65-F5344CB8AC3E}">
        <p14:creationId xmlns:p14="http://schemas.microsoft.com/office/powerpoint/2010/main" val="279286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2026-09-28T11:59:47.6150000Z</dcterms:created>
  <dcterms:modified xsi:type="dcterms:W3CDTF">2026-09-28T11:59:47.6150000Z</dcterms:modified>
</coreProperties>
</file>