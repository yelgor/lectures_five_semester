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82d2c69534655" /><Relationship Type="http://schemas.openxmlformats.org/officeDocument/2006/relationships/extended-properties" Target="/docProps/app.xml" Id="R59ddaafd5cc34231" /><Relationship Type="http://schemas.openxmlformats.org/officeDocument/2006/relationships/officeDocument" Target="/ppt/presentation.xml" Id="R94477f89d67d43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512bd3e9c4872"/>
  </p:sldMasterIdLst>
  <p:notesMasterIdLst>
    <p:notesMasterId xmlns:r="http://schemas.openxmlformats.org/officeDocument/2006/relationships" r:id="R01cb41690d094ace"/>
  </p:notesMasterIdLst>
  <p:sldIdLst>
    <p:sldId xmlns:r="http://schemas.openxmlformats.org/officeDocument/2006/relationships" id="256" r:id="R5311cf209f2247ad"/>
    <p:sldId xmlns:r="http://schemas.openxmlformats.org/officeDocument/2006/relationships" id="257" r:id="R8fa98bea07074fa3"/>
    <p:sldId xmlns:r="http://schemas.openxmlformats.org/officeDocument/2006/relationships" id="258" r:id="R47452d541de748e3"/>
    <p:sldId xmlns:r="http://schemas.openxmlformats.org/officeDocument/2006/relationships" id="259" r:id="R3b46169566d54d71"/>
    <p:sldId xmlns:r="http://schemas.openxmlformats.org/officeDocument/2006/relationships" id="260" r:id="R1e52187529dd46b5"/>
    <p:sldId xmlns:r="http://schemas.openxmlformats.org/officeDocument/2006/relationships" id="261" r:id="Rb2f2b5acba154661"/>
    <p:sldId xmlns:r="http://schemas.openxmlformats.org/officeDocument/2006/relationships" id="262" r:id="R8675c3443bf642ba"/>
    <p:sldId xmlns:r="http://schemas.openxmlformats.org/officeDocument/2006/relationships" id="263" r:id="R7c8f441355634104"/>
    <p:sldId xmlns:r="http://schemas.openxmlformats.org/officeDocument/2006/relationships" id="264" r:id="R64f97e5692c242a8"/>
    <p:sldId xmlns:r="http://schemas.openxmlformats.org/officeDocument/2006/relationships" id="265" r:id="R7af050786a7f4f3b"/>
    <p:sldId xmlns:r="http://schemas.openxmlformats.org/officeDocument/2006/relationships" id="266" r:id="Rd417a4034b5646b5"/>
    <p:sldId xmlns:r="http://schemas.openxmlformats.org/officeDocument/2006/relationships" id="267" r:id="Rf62d756d7ec541c3"/>
    <p:sldId xmlns:r="http://schemas.openxmlformats.org/officeDocument/2006/relationships" id="268" r:id="Rcfe753375418415d"/>
    <p:sldId xmlns:r="http://schemas.openxmlformats.org/officeDocument/2006/relationships" id="269" r:id="R6003843b627d42dc"/>
    <p:sldId xmlns:r="http://schemas.openxmlformats.org/officeDocument/2006/relationships" id="270" r:id="Rff08c5a69ed84d26"/>
    <p:sldId xmlns:r="http://schemas.openxmlformats.org/officeDocument/2006/relationships" id="271" r:id="R9e55f7e99a184a59"/>
    <p:sldId xmlns:r="http://schemas.openxmlformats.org/officeDocument/2006/relationships" id="272" r:id="R5e19771f76164cd0"/>
    <p:sldId xmlns:r="http://schemas.openxmlformats.org/officeDocument/2006/relationships" id="273" r:id="Recb97441311c4d1e"/>
    <p:sldId xmlns:r="http://schemas.openxmlformats.org/officeDocument/2006/relationships" id="274" r:id="R737e6061202047a1"/>
    <p:sldId xmlns:r="http://schemas.openxmlformats.org/officeDocument/2006/relationships" id="275" r:id="R5788e3f938dc466a"/>
    <p:sldId xmlns:r="http://schemas.openxmlformats.org/officeDocument/2006/relationships" id="276" r:id="R7b54f234304c4051"/>
    <p:sldId xmlns:r="http://schemas.openxmlformats.org/officeDocument/2006/relationships" id="277" r:id="Rd647114ade374976"/>
    <p:sldId xmlns:r="http://schemas.openxmlformats.org/officeDocument/2006/relationships" id="278" r:id="R94a7cb6b5c6b4fe2"/>
    <p:sldId xmlns:r="http://schemas.openxmlformats.org/officeDocument/2006/relationships" id="279" r:id="R63f108c687d046e3"/>
    <p:sldId xmlns:r="http://schemas.openxmlformats.org/officeDocument/2006/relationships" id="280" r:id="Rd9f054b103d54c78"/>
    <p:sldId xmlns:r="http://schemas.openxmlformats.org/officeDocument/2006/relationships" id="281" r:id="R41c43a0d42d54e6f"/>
    <p:sldId xmlns:r="http://schemas.openxmlformats.org/officeDocument/2006/relationships" id="282" r:id="Rd6f9fb2dd92140da"/>
    <p:sldId xmlns:r="http://schemas.openxmlformats.org/officeDocument/2006/relationships" id="283" r:id="R3ba25bf5490e4e60"/>
    <p:sldId xmlns:r="http://schemas.openxmlformats.org/officeDocument/2006/relationships" id="284" r:id="R2918b7cd0c674dc5"/>
    <p:sldId xmlns:r="http://schemas.openxmlformats.org/officeDocument/2006/relationships" id="285" r:id="R6089fc4108944974"/>
    <p:sldId xmlns:r="http://schemas.openxmlformats.org/officeDocument/2006/relationships" id="286" r:id="R16719078c8144dae"/>
    <p:sldId xmlns:r="http://schemas.openxmlformats.org/officeDocument/2006/relationships" id="287" r:id="R00958bf12e964166"/>
    <p:sldId xmlns:r="http://schemas.openxmlformats.org/officeDocument/2006/relationships" id="288" r:id="R7eb852f347154ffe"/>
    <p:sldId xmlns:r="http://schemas.openxmlformats.org/officeDocument/2006/relationships" id="289" r:id="Rbfc065efa0f645d2"/>
    <p:sldId xmlns:r="http://schemas.openxmlformats.org/officeDocument/2006/relationships" id="290" r:id="R477fd94aafa447ed"/>
    <p:sldId xmlns:r="http://schemas.openxmlformats.org/officeDocument/2006/relationships" id="291" r:id="R1655980c259f42d2"/>
    <p:sldId xmlns:r="http://schemas.openxmlformats.org/officeDocument/2006/relationships" id="292" r:id="R84f50a8381cd4b8e"/>
    <p:sldId xmlns:r="http://schemas.openxmlformats.org/officeDocument/2006/relationships" id="293" r:id="R77e476d39faf4077"/>
    <p:sldId xmlns:r="http://schemas.openxmlformats.org/officeDocument/2006/relationships" id="294" r:id="R5deb1e40ce4a488e"/>
    <p:sldId xmlns:r="http://schemas.openxmlformats.org/officeDocument/2006/relationships" id="295" r:id="Rbf3532b6ad7047d4"/>
    <p:sldId xmlns:r="http://schemas.openxmlformats.org/officeDocument/2006/relationships" id="296" r:id="R36b0ffdb80df458f"/>
    <p:sldId xmlns:r="http://schemas.openxmlformats.org/officeDocument/2006/relationships" id="297" r:id="R7213dc5377774d0b"/>
    <p:sldId xmlns:r="http://schemas.openxmlformats.org/officeDocument/2006/relationships" id="298" r:id="R77f8934165094f2e"/>
    <p:sldId xmlns:r="http://schemas.openxmlformats.org/officeDocument/2006/relationships" id="299" r:id="R3e129097d63f4117"/>
    <p:sldId xmlns:r="http://schemas.openxmlformats.org/officeDocument/2006/relationships" id="300" r:id="R06723b88f4e7484e"/>
    <p:sldId xmlns:r="http://schemas.openxmlformats.org/officeDocument/2006/relationships" id="301" r:id="R34581e4968b04308"/>
    <p:sldId xmlns:r="http://schemas.openxmlformats.org/officeDocument/2006/relationships" id="302" r:id="R09132547ba734b29"/>
    <p:sldId xmlns:r="http://schemas.openxmlformats.org/officeDocument/2006/relationships" id="303" r:id="Rac1cd6dc45d243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d16bc6c1f4606" /><Relationship Type="http://schemas.openxmlformats.org/officeDocument/2006/relationships/slideMaster" Target="/ppt/slideMasters/slideMaster1.xml" Id="Rd85512bd3e9c4872" /><Relationship Type="http://schemas.openxmlformats.org/officeDocument/2006/relationships/notesMaster" Target="/ppt/notesMasters/notesMaster1.xml" Id="R01cb41690d094ace" /><Relationship Type="http://schemas.openxmlformats.org/officeDocument/2006/relationships/presProps" Target="/ppt/presProps.xml" Id="R64464ee866bc487b" /><Relationship Type="http://schemas.openxmlformats.org/officeDocument/2006/relationships/viewProps" Target="/ppt/viewProps.xml" Id="R7b9f951baadf4f64" /><Relationship Type="http://schemas.openxmlformats.org/officeDocument/2006/relationships/tableStyles" Target="/ppt/tableStyles.xml" Id="R89e1a4812a6b4010" /><Relationship Type="http://schemas.openxmlformats.org/officeDocument/2006/relationships/slide" Target="/ppt/slides/slide1.xml" Id="R5311cf209f2247ad" /><Relationship Type="http://schemas.openxmlformats.org/officeDocument/2006/relationships/slide" Target="/ppt/slides/slide2.xml" Id="R8fa98bea07074fa3" /><Relationship Type="http://schemas.openxmlformats.org/officeDocument/2006/relationships/slide" Target="/ppt/slides/slide3.xml" Id="R47452d541de748e3" /><Relationship Type="http://schemas.openxmlformats.org/officeDocument/2006/relationships/slide" Target="/ppt/slides/slide4.xml" Id="R3b46169566d54d71" /><Relationship Type="http://schemas.openxmlformats.org/officeDocument/2006/relationships/slide" Target="/ppt/slides/slide5.xml" Id="R1e52187529dd46b5" /><Relationship Type="http://schemas.openxmlformats.org/officeDocument/2006/relationships/slide" Target="/ppt/slides/slide6.xml" Id="Rb2f2b5acba154661" /><Relationship Type="http://schemas.openxmlformats.org/officeDocument/2006/relationships/slide" Target="/ppt/slides/slide7.xml" Id="R8675c3443bf642ba" /><Relationship Type="http://schemas.openxmlformats.org/officeDocument/2006/relationships/slide" Target="/ppt/slides/slide8.xml" Id="R7c8f441355634104" /><Relationship Type="http://schemas.openxmlformats.org/officeDocument/2006/relationships/slide" Target="/ppt/slides/slide9.xml" Id="R64f97e5692c242a8" /><Relationship Type="http://schemas.openxmlformats.org/officeDocument/2006/relationships/slide" Target="/ppt/slides/slide10.xml" Id="R7af050786a7f4f3b" /><Relationship Type="http://schemas.openxmlformats.org/officeDocument/2006/relationships/slide" Target="/ppt/slides/slide11.xml" Id="Rd417a4034b5646b5" /><Relationship Type="http://schemas.openxmlformats.org/officeDocument/2006/relationships/slide" Target="/ppt/slides/slide12.xml" Id="Rf62d756d7ec541c3" /><Relationship Type="http://schemas.openxmlformats.org/officeDocument/2006/relationships/slide" Target="/ppt/slides/slide13.xml" Id="Rcfe753375418415d" /><Relationship Type="http://schemas.openxmlformats.org/officeDocument/2006/relationships/slide" Target="/ppt/slides/slide14.xml" Id="R6003843b627d42dc" /><Relationship Type="http://schemas.openxmlformats.org/officeDocument/2006/relationships/slide" Target="/ppt/slides/slide15.xml" Id="Rff08c5a69ed84d26" /><Relationship Type="http://schemas.openxmlformats.org/officeDocument/2006/relationships/slide" Target="/ppt/slides/slide16.xml" Id="R9e55f7e99a184a59" /><Relationship Type="http://schemas.openxmlformats.org/officeDocument/2006/relationships/slide" Target="/ppt/slides/slide17.xml" Id="R5e19771f76164cd0" /><Relationship Type="http://schemas.openxmlformats.org/officeDocument/2006/relationships/slide" Target="/ppt/slides/slide18.xml" Id="Recb97441311c4d1e" /><Relationship Type="http://schemas.openxmlformats.org/officeDocument/2006/relationships/slide" Target="/ppt/slides/slide19.xml" Id="R737e6061202047a1" /><Relationship Type="http://schemas.openxmlformats.org/officeDocument/2006/relationships/slide" Target="/ppt/slides/slide20.xml" Id="R5788e3f938dc466a" /><Relationship Type="http://schemas.openxmlformats.org/officeDocument/2006/relationships/slide" Target="/ppt/slides/slide21.xml" Id="R7b54f234304c4051" /><Relationship Type="http://schemas.openxmlformats.org/officeDocument/2006/relationships/slide" Target="/ppt/slides/slide22.xml" Id="Rd647114ade374976" /><Relationship Type="http://schemas.openxmlformats.org/officeDocument/2006/relationships/slide" Target="/ppt/slides/slide23.xml" Id="R94a7cb6b5c6b4fe2" /><Relationship Type="http://schemas.openxmlformats.org/officeDocument/2006/relationships/slide" Target="/ppt/slides/slide24.xml" Id="R63f108c687d046e3" /><Relationship Type="http://schemas.openxmlformats.org/officeDocument/2006/relationships/slide" Target="/ppt/slides/slide25.xml" Id="Rd9f054b103d54c78" /><Relationship Type="http://schemas.openxmlformats.org/officeDocument/2006/relationships/slide" Target="/ppt/slides/slide26.xml" Id="R41c43a0d42d54e6f" /><Relationship Type="http://schemas.openxmlformats.org/officeDocument/2006/relationships/slide" Target="/ppt/slides/slide27.xml" Id="Rd6f9fb2dd92140da" /><Relationship Type="http://schemas.openxmlformats.org/officeDocument/2006/relationships/slide" Target="/ppt/slides/slide28.xml" Id="R3ba25bf5490e4e60" /><Relationship Type="http://schemas.openxmlformats.org/officeDocument/2006/relationships/slide" Target="/ppt/slides/slide29.xml" Id="R2918b7cd0c674dc5" /><Relationship Type="http://schemas.openxmlformats.org/officeDocument/2006/relationships/slide" Target="/ppt/slides/slide30.xml" Id="R6089fc4108944974" /><Relationship Type="http://schemas.openxmlformats.org/officeDocument/2006/relationships/slide" Target="/ppt/slides/slide31.xml" Id="R16719078c8144dae" /><Relationship Type="http://schemas.openxmlformats.org/officeDocument/2006/relationships/slide" Target="/ppt/slides/slide32.xml" Id="R00958bf12e964166" /><Relationship Type="http://schemas.openxmlformats.org/officeDocument/2006/relationships/slide" Target="/ppt/slides/slide33.xml" Id="R7eb852f347154ffe" /><Relationship Type="http://schemas.openxmlformats.org/officeDocument/2006/relationships/slide" Target="/ppt/slides/slide34.xml" Id="Rbfc065efa0f645d2" /><Relationship Type="http://schemas.openxmlformats.org/officeDocument/2006/relationships/slide" Target="/ppt/slides/slide35.xml" Id="R477fd94aafa447ed" /><Relationship Type="http://schemas.openxmlformats.org/officeDocument/2006/relationships/slide" Target="/ppt/slides/slide36.xml" Id="R1655980c259f42d2" /><Relationship Type="http://schemas.openxmlformats.org/officeDocument/2006/relationships/slide" Target="/ppt/slides/slide37.xml" Id="R84f50a8381cd4b8e" /><Relationship Type="http://schemas.openxmlformats.org/officeDocument/2006/relationships/slide" Target="/ppt/slides/slide38.xml" Id="R77e476d39faf4077" /><Relationship Type="http://schemas.openxmlformats.org/officeDocument/2006/relationships/slide" Target="/ppt/slides/slide39.xml" Id="R5deb1e40ce4a488e" /><Relationship Type="http://schemas.openxmlformats.org/officeDocument/2006/relationships/slide" Target="/ppt/slides/slide40.xml" Id="Rbf3532b6ad7047d4" /><Relationship Type="http://schemas.openxmlformats.org/officeDocument/2006/relationships/slide" Target="/ppt/slides/slide41.xml" Id="R36b0ffdb80df458f" /><Relationship Type="http://schemas.openxmlformats.org/officeDocument/2006/relationships/slide" Target="/ppt/slides/slide42.xml" Id="R7213dc5377774d0b" /><Relationship Type="http://schemas.openxmlformats.org/officeDocument/2006/relationships/slide" Target="/ppt/slides/slide43.xml" Id="R77f8934165094f2e" /><Relationship Type="http://schemas.openxmlformats.org/officeDocument/2006/relationships/slide" Target="/ppt/slides/slide44.xml" Id="R3e129097d63f4117" /><Relationship Type="http://schemas.openxmlformats.org/officeDocument/2006/relationships/slide" Target="/ppt/slides/slide45.xml" Id="R06723b88f4e7484e" /><Relationship Type="http://schemas.openxmlformats.org/officeDocument/2006/relationships/slide" Target="/ppt/slides/slide46.xml" Id="R34581e4968b04308" /><Relationship Type="http://schemas.openxmlformats.org/officeDocument/2006/relationships/slide" Target="/ppt/slides/slide47.xml" Id="R09132547ba734b29" /><Relationship Type="http://schemas.openxmlformats.org/officeDocument/2006/relationships/slide" Target="/ppt/slides/slide48.xml" Id="Rac1cd6dc45d243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d50fc77da48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8dad6bf76488b" /><Relationship Type="http://schemas.openxmlformats.org/officeDocument/2006/relationships/notesMaster" Target="/ppt/notesMasters/notesMaster1.xml" Id="R6eec95931ee140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11c5de97f45b6" /><Relationship Type="http://schemas.openxmlformats.org/officeDocument/2006/relationships/notesMaster" Target="/ppt/notesMasters/notesMaster1.xml" Id="R06b91187d79245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daa21608440f1" /><Relationship Type="http://schemas.openxmlformats.org/officeDocument/2006/relationships/notesMaster" Target="/ppt/notesMasters/notesMaster1.xml" Id="R43646a2100ba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8c28f72e5d469f" /><Relationship Type="http://schemas.openxmlformats.org/officeDocument/2006/relationships/notesMaster" Target="/ppt/notesMasters/notesMaster1.xml" Id="Rd9cf1ed0de31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b10c8da4e24bbe" /><Relationship Type="http://schemas.openxmlformats.org/officeDocument/2006/relationships/notesMaster" Target="/ppt/notesMasters/notesMaster1.xml" Id="Ra15d9c13cd1e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c3b35a40b14807" /><Relationship Type="http://schemas.openxmlformats.org/officeDocument/2006/relationships/notesMaster" Target="/ppt/notesMasters/notesMaster1.xml" Id="Rfe97fa8c608745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ab7ba5886e472d" /><Relationship Type="http://schemas.openxmlformats.org/officeDocument/2006/relationships/notesMaster" Target="/ppt/notesMasters/notesMaster1.xml" Id="R96801412dacf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030a684559426d" /><Relationship Type="http://schemas.openxmlformats.org/officeDocument/2006/relationships/notesMaster" Target="/ppt/notesMasters/notesMaster1.xml" Id="R1bce6ff5b751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4a7327ec4f413f" /><Relationship Type="http://schemas.openxmlformats.org/officeDocument/2006/relationships/notesMaster" Target="/ppt/notesMasters/notesMaster1.xml" Id="R0a188a7220d24c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240b8db0ca432a" /><Relationship Type="http://schemas.openxmlformats.org/officeDocument/2006/relationships/notesMaster" Target="/ppt/notesMasters/notesMaster1.xml" Id="R7ad106356ca94b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8ce21316404ba5" /><Relationship Type="http://schemas.openxmlformats.org/officeDocument/2006/relationships/notesMaster" Target="/ppt/notesMasters/notesMaster1.xml" Id="Ra317754e3cbb42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982b1d300e4bfc" /><Relationship Type="http://schemas.openxmlformats.org/officeDocument/2006/relationships/notesMaster" Target="/ppt/notesMasters/notesMaster1.xml" Id="R9f431bdcdf4f46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d07da1007f4c5f" /><Relationship Type="http://schemas.openxmlformats.org/officeDocument/2006/relationships/notesMaster" Target="/ppt/notesMasters/notesMaster1.xml" Id="Rc141fadf46034d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7034a3c9e94563" /><Relationship Type="http://schemas.openxmlformats.org/officeDocument/2006/relationships/notesMaster" Target="/ppt/notesMasters/notesMaster1.xml" Id="R558a30520b3f4f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4cc86c22c74eb1" /><Relationship Type="http://schemas.openxmlformats.org/officeDocument/2006/relationships/notesMaster" Target="/ppt/notesMasters/notesMaster1.xml" Id="R5cedc4e1f8fe49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54dc43fb454cc0" /><Relationship Type="http://schemas.openxmlformats.org/officeDocument/2006/relationships/notesMaster" Target="/ppt/notesMasters/notesMaster1.xml" Id="R481e8b65938149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0f0dd456934a89" /><Relationship Type="http://schemas.openxmlformats.org/officeDocument/2006/relationships/notesMaster" Target="/ppt/notesMasters/notesMaster1.xml" Id="Rc679f15629c74d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dc66b8bd5742e4" /><Relationship Type="http://schemas.openxmlformats.org/officeDocument/2006/relationships/notesMaster" Target="/ppt/notesMasters/notesMaster1.xml" Id="R8bb635c9ee1a4a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405ba0d26b4f91" /><Relationship Type="http://schemas.openxmlformats.org/officeDocument/2006/relationships/notesMaster" Target="/ppt/notesMasters/notesMaster1.xml" Id="Rf32f98a35bf149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d5dfd8a8014ec1" /><Relationship Type="http://schemas.openxmlformats.org/officeDocument/2006/relationships/notesMaster" Target="/ppt/notesMasters/notesMaster1.xml" Id="R91fcd4e4f60d4f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f6592d7a29400a" /><Relationship Type="http://schemas.openxmlformats.org/officeDocument/2006/relationships/notesMaster" Target="/ppt/notesMasters/notesMaster1.xml" Id="Rbcef90c8b31c4b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9e536d6b9a4804" /><Relationship Type="http://schemas.openxmlformats.org/officeDocument/2006/relationships/notesMaster" Target="/ppt/notesMasters/notesMaster1.xml" Id="Rf9b89369e79c46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890a715ecb4240" /><Relationship Type="http://schemas.openxmlformats.org/officeDocument/2006/relationships/notesMaster" Target="/ppt/notesMasters/notesMaster1.xml" Id="Rcf53a59db10a4a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88801b1e184f75" /><Relationship Type="http://schemas.openxmlformats.org/officeDocument/2006/relationships/notesMaster" Target="/ppt/notesMasters/notesMaster1.xml" Id="R9b9168f93b6145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7e2266217f4924" /><Relationship Type="http://schemas.openxmlformats.org/officeDocument/2006/relationships/notesMaster" Target="/ppt/notesMasters/notesMaster1.xml" Id="Rda0ba3960a774e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2e30b44a13e4c8b" /><Relationship Type="http://schemas.openxmlformats.org/officeDocument/2006/relationships/notesMaster" Target="/ppt/notesMasters/notesMaster1.xml" Id="R17417373f06f46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953cf9c49f4c9b" /><Relationship Type="http://schemas.openxmlformats.org/officeDocument/2006/relationships/notesMaster" Target="/ppt/notesMasters/notesMaster1.xml" Id="R161145c41b1c451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6ff859145004341" /><Relationship Type="http://schemas.openxmlformats.org/officeDocument/2006/relationships/notesMaster" Target="/ppt/notesMasters/notesMaster1.xml" Id="R396d2f4f48d34a2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085009daa642a0" /><Relationship Type="http://schemas.openxmlformats.org/officeDocument/2006/relationships/notesMaster" Target="/ppt/notesMasters/notesMaster1.xml" Id="R5b5a252789a244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aaf9672a89b4794" /><Relationship Type="http://schemas.openxmlformats.org/officeDocument/2006/relationships/notesMaster" Target="/ppt/notesMasters/notesMaster1.xml" Id="Rea808623da524b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9cd5b698724178" /><Relationship Type="http://schemas.openxmlformats.org/officeDocument/2006/relationships/notesMaster" Target="/ppt/notesMasters/notesMaster1.xml" Id="R48964120dabf42a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866979e789649a4" /><Relationship Type="http://schemas.openxmlformats.org/officeDocument/2006/relationships/notesMaster" Target="/ppt/notesMasters/notesMaster1.xml" Id="R966ffc3f58d348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dc8445720c64833" /><Relationship Type="http://schemas.openxmlformats.org/officeDocument/2006/relationships/notesMaster" Target="/ppt/notesMasters/notesMaster1.xml" Id="R85472e0f414643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bdcb43fead34b0e" /><Relationship Type="http://schemas.openxmlformats.org/officeDocument/2006/relationships/notesMaster" Target="/ppt/notesMasters/notesMaster1.xml" Id="Rc870e3b9c6ab4a9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9a383268df48a5" /><Relationship Type="http://schemas.openxmlformats.org/officeDocument/2006/relationships/notesMaster" Target="/ppt/notesMasters/notesMaster1.xml" Id="R6ef4a35557f241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7c21d0325645a1" /><Relationship Type="http://schemas.openxmlformats.org/officeDocument/2006/relationships/notesMaster" Target="/ppt/notesMasters/notesMaster1.xml" Id="Rb6a43d09e09d4e1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ab041f0e4b4d34" /><Relationship Type="http://schemas.openxmlformats.org/officeDocument/2006/relationships/notesMaster" Target="/ppt/notesMasters/notesMaster1.xml" Id="R1706ef87aaa843f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2073bdee1244cf" /><Relationship Type="http://schemas.openxmlformats.org/officeDocument/2006/relationships/notesMaster" Target="/ppt/notesMasters/notesMaster1.xml" Id="R4f639592d946408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414dcd1d074217" /><Relationship Type="http://schemas.openxmlformats.org/officeDocument/2006/relationships/notesMaster" Target="/ppt/notesMasters/notesMaster1.xml" Id="R118d7f32822f44a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92595aeb83149cf" /><Relationship Type="http://schemas.openxmlformats.org/officeDocument/2006/relationships/notesMaster" Target="/ppt/notesMasters/notesMaster1.xml" Id="Rb93a525b93a34ab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7fbf2523ddf43de" /><Relationship Type="http://schemas.openxmlformats.org/officeDocument/2006/relationships/notesMaster" Target="/ppt/notesMasters/notesMaster1.xml" Id="R18d1a0f573a24de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4de952cb0f44cb9" /><Relationship Type="http://schemas.openxmlformats.org/officeDocument/2006/relationships/notesMaster" Target="/ppt/notesMasters/notesMaster1.xml" Id="R7861ecf84a05486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63b38b755442a4" /><Relationship Type="http://schemas.openxmlformats.org/officeDocument/2006/relationships/notesMaster" Target="/ppt/notesMasters/notesMaster1.xml" Id="Recaaf090421b46a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26a7c18e863401d" /><Relationship Type="http://schemas.openxmlformats.org/officeDocument/2006/relationships/notesMaster" Target="/ppt/notesMasters/notesMaster1.xml" Id="R45ea8ae50fb44fb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e3714f920bd4470" /><Relationship Type="http://schemas.openxmlformats.org/officeDocument/2006/relationships/notesMaster" Target="/ppt/notesMasters/notesMaster1.xml" Id="R958df31f3d6245e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de9e04e026e4361" /><Relationship Type="http://schemas.openxmlformats.org/officeDocument/2006/relationships/notesMaster" Target="/ppt/notesMasters/notesMaster1.xml" Id="R395b8b8a79f04a1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41f6b707e184182" /><Relationship Type="http://schemas.openxmlformats.org/officeDocument/2006/relationships/notesMaster" Target="/ppt/notesMasters/notesMaster1.xml" Id="R7afc06f35d2a40e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e5989dbd620479b" /><Relationship Type="http://schemas.openxmlformats.org/officeDocument/2006/relationships/notesMaster" Target="/ppt/notesMasters/notesMaster1.xml" Id="Rc6c31827b582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Лекція вчить не запам’ятовувати назви алгоритмів, а розпізнавати структуру задачі. Для кожного класу спочатку формулюємо питання людською мовою, потім показуємо, як воно виникає зі спільної математичної оболонки.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с. 25–51.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лекція про постановку, а не про детальний розв’язок кожної моделі. Важлива навичка — пояснити перехід від предметної мови до змінних, обмежень і критерію.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§§4–6, с. 25–51.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Запис узагальнює формули Вентцель W=W(a,x) і W=W(a,x,ξ). extr означає max або min. Оператор ℛξ потрібний для сучасного єдиного запису: тотожність у детермінованій задачі, математичне сподівання, квантиль або найгірший випадок за невизначеності.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§4, с. 27–29; §5, с. 29–41.</a:t>
            </a:r>
          </a:p>
          <a:p xmlns:a="http://schemas.openxmlformats.org/drawingml/2006/main">
            <a:r>
              <a:t>- NEOS Guide, Optimization Problem Types: https://neos-guide.org/guide/types/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Запис узагальнює формули Вентцель W=W(a,x) і W=W(a,x,ξ). extr означає max або min. Оператор ℛξ потрібний для сучасного єдиного запису: тотожність у детермінованій задачі, математичне сподівання, квантиль або найгірший випадок за невизначеності.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§4, с. 27–29; §5, с. 29–41.</a:t>
            </a:r>
          </a:p>
          <a:p xmlns:a="http://schemas.openxmlformats.org/drawingml/2006/main">
            <a:r>
              <a:t>- NEOS Guide, Optimization Problem Types: https://neos-guide.org/guide/types/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Запис узагальнює формули Вентцель W=W(a,x) і W=W(a,x,ξ). extr означає max або min. Оператор ℛξ потрібний для сучасного єдиного запису: тотожність у детермінованій задачі, математичне сподівання, квантиль або найгірший випадок за невизначеності.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§4, с. 27–29; §5, с. 29–41.</a:t>
            </a:r>
          </a:p>
          <a:p xmlns:a="http://schemas.openxmlformats.org/drawingml/2006/main">
            <a:r>
              <a:t>- NEOS Guide, Optimization Problem Types: https://neos-guide.org/guide/types/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Вентцель послідовно розглядає прямі й обернені задачі, детерміновані та невизначені умови, багатокритеріальність і системний підхід. Це не взаємовиключні розділи дерева, а властивості будь-якої постановки.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§§4–6, с. 25–51.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навмисно розділяє класи математичних моделей і методи розв’язання. Транспортна задача та класичне призначення мають спеціальну мережеву структуру ЛП. IP означає цілочислове програмування; MILP — змішане цілочислове лінійне програмування. ДП — принцип декомпозиції багатоетапних задач, а не ще один різновид ЛП.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операцій», гл. 2–4.</a:t>
            </a:r>
          </a:p>
          <a:p xmlns:a="http://schemas.openxmlformats.org/drawingml/2006/main">
            <a:r>
              <a:t>- NEOS Guide, Optimization Problem Types: https://neos-guide.org/guide/types/</a:t>
            </a:r>
          </a:p>
          <a:p xmlns:a="http://schemas.openxmlformats.org/drawingml/2006/main">
            <a:r>
              <a:t>- D. P. Bertsekas, Network Optimization: https://www.mit.edu/~dimitrib/net.html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Вентцель послідовно розглядає прямі й обернені задачі, детерміновані та невизначені умови, багатокритеріальність і системний підхід. Це не взаємовиключні розділи дерева, а властивості будь-якої постановки.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§§4–6, с. 25–51.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«ЛП»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§§7–8, с. 52–65.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§§7–8, с. 52–65.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«Транспортна задача»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§10, с. 70–79.</a:t>
            </a:r>
          </a:p>
          <a:p xmlns:a="http://schemas.openxmlformats.org/drawingml/2006/main">
            <a:r>
              <a:t>- Bertsekas, Network Optimization: https://www.mit.edu/~dimitrib/net.html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§10, с. 70–79.</a:t>
            </a:r>
          </a:p>
          <a:p xmlns:a="http://schemas.openxmlformats.org/drawingml/2006/main">
            <a:r>
              <a:t>- Bertsekas, Network Optimization: https://www.mit.edu/~dimitrib/net.html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«Призначення»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§11, с. 80–83.</a:t>
            </a:r>
          </a:p>
          <a:p xmlns:a="http://schemas.openxmlformats.org/drawingml/2006/main">
            <a:r>
              <a:t>- MIT DIMACS Assignment Problem: https://web.mit.edu/lpsolve/doc/DIMACS_asn.htm</a:t>
            </a:r>
          </a:p>
          <a:p xmlns:a="http://schemas.openxmlformats.org/drawingml/2006/main">
            <a:r>
              <a:t>- Kubernetes Scheduler: https://kubernetes.io/docs/concepts/scheduling-eviction/kube-scheduler/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§11, с. 80–83.</a:t>
            </a:r>
          </a:p>
          <a:p xmlns:a="http://schemas.openxmlformats.org/drawingml/2006/main">
            <a:r>
              <a:t>- MIT DIMACS Assignment Problem: https://web.mit.edu/lpsolve/doc/DIMACS_asn.htm</a:t>
            </a:r>
          </a:p>
          <a:p xmlns:a="http://schemas.openxmlformats.org/drawingml/2006/main">
            <a:r>
              <a:t>- Kubernetes Scheduler: https://kubernetes.io/docs/concepts/scheduling-eviction/kube-scheduler/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«Мережа»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§10, с. 70–79.</a:t>
            </a:r>
          </a:p>
          <a:p xmlns:a="http://schemas.openxmlformats.org/drawingml/2006/main">
            <a:r>
              <a:t>- Bertsekas, Network Optimization: https://www.mit.edu/~dimitrib/net.html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§10, с. 70–79.</a:t>
            </a:r>
          </a:p>
          <a:p xmlns:a="http://schemas.openxmlformats.org/drawingml/2006/main">
            <a:r>
              <a:t>- Bertsekas, Network Optimization: https://www.mit.edu/~dimitrib/net.html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задача складання розкладу: рішення визначає не лише виконавця, а й порядок та час старту. ДП застосовне до деяких спеціальних scheduling-моделей, але загальна задача з призначенням, precedence та неперекриттям зазвичай формулюється як MILP або constraint programming.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операцій», гл. 4, §§12–14.</a:t>
            </a:r>
          </a:p>
          <a:p xmlns:a="http://schemas.openxmlformats.org/drawingml/2006/main">
            <a:r>
              <a:t>- Pinedo, Scheduling: Theory, Algorithms, and Systems, Springer.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4, §§12–14, с. 84–111.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Найважливіша поправка до дерева: назви задач і назви алгоритмічних підходів не треба ставити в один ряд без пояснення. Кінцеву MDP можна розв’язувати ДП або подати як LP; рюкзак має MILP-модель, але класичний псевдополіноміальний алгоритм є ДП.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операцій», гл. 4, §§12–14.</a:t>
            </a:r>
          </a:p>
          <a:p xmlns:a="http://schemas.openxmlformats.org/drawingml/2006/main">
            <a:r>
              <a:t>- M. L. Puterman, Markov Decision Processes, Wiley, 1994.</a:t>
            </a:r>
          </a:p>
          <a:p xmlns:a="http://schemas.openxmlformats.org/drawingml/2006/main">
            <a:r>
              <a:t>- D. P. Bertsekas, Dynamic Programming and Optimal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скласти два повні шляхи від A до G. Шлях через backend має 21 день, шлях через frontend — 20. Отже A–B–C–E–F–G критичний, а робота D має один день резерву за цієї спрощеної мережі.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J. E. Kelley Jr., M. R. Walker, Critical-Path Planning and Scheduling, 1959: https://dl.acm.org/doi/10.1145/1460299.1460318</a:t>
            </a:r>
          </a:p>
          <a:p xmlns:a="http://schemas.openxmlformats.org/drawingml/2006/main">
            <a:r>
              <a:t>- Числовий приклад створено для навчальної задачі з розробки ПЗ.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Чому в LP стоїть min T, хоча ми шукаємо найдовший шлях? Обмеження t_j≥t_i+d_i змушують часові мітки бути не меншими за довжину будь-якого попереднього шляху. Мінімізація T притискає їх до точних ранніх строків; кінцева мітка дорівнює довжині найдовшого шляху.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J. E. Kelley Jr., M. R. Walker, Critical-Path Planning and Scheduling, 1959: https://dl.acm.org/doi/10.1145/1460299.1460318</a:t>
            </a:r>
          </a:p>
          <a:p xmlns:a="http://schemas.openxmlformats.org/drawingml/2006/main">
            <a:r>
              <a:t>- D. P. Bertsekas, Network Optimization: https://www.mit.edu/~dimitrib/net.html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PERT використовує ту саму precedence-мережу, але тривалість кожної роботи вважається невизначеною. На слайді наведено повний набір трійок a/m/b, тому студент може обчислити очікування та дисперсії без додаткових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D. G. Malcolm, J. H. Roseboom, C. E. Clark, W. Fazar, Application of a Technique for Research and Development Program Evaluation, Operations Research 7(5), 1959, DOI 10.1287/opre.7.5.646: https://pubsonline.informs.org/doi/10.1287/opre.7.5.646</a:t>
            </a:r>
          </a:p>
          <a:p xmlns:a="http://schemas.openxmlformats.org/drawingml/2006/main">
            <a:r>
              <a:t>- Числовий приклад створено для навчальної задачі з розробки ПЗ.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Очікувана тривалість критичного шляху дорівнює приблизно 22,17 дня, сума дисперсій — 2,36, стандартне відхилення — 1,54. Для дедлайну 24 дні z≈1,19, що за нормальною апроксимацією дає близько 0,88. Наголосіть: випадковий критичний шлях може змінюватися, тому Monte Carlo надійніший за класичне наближення.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Malcolm et al., PERT, Operations Research 7(5), 1959, DOI 10.1287/opre.7.5.646: https://pubsonline.informs.org/doi/10.1287/opre.7.5.646</a:t>
            </a:r>
          </a:p>
          <a:p xmlns:a="http://schemas.openxmlformats.org/drawingml/2006/main">
            <a:r>
              <a:t>- Числові результати обчислено з даних попереднього слайда.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project crashing нашого прикладу можна ввести y_i — скорочення роботи. За цілі T≤19 обидва шляхи мають бути не довші 19. Якщо скорочення неперервні, отримуємо LP; якщо лише ціле число днів — ILP. RCPSP додає обмежені команди, тому зазвичай є MILP або constraint-programming задачею.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Kelley and Walker, Critical-Path Planning and Scheduling, 1959: https://dl.acm.org/doi/10.1145/1460299.1460318</a:t>
            </a:r>
          </a:p>
          <a:p xmlns:a="http://schemas.openxmlformats.org/drawingml/2006/main">
            <a:r>
              <a:t>- Malcolm et al., PERT, 1959: https://pubsonline.informs.org/doi/10.1287/opre.7.5.646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«Черги»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6, §§18–21, с. 132–160.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6, §§18–21, с. 132–160.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детермінованій частині EOQ визначає економічну партію Q. У стохастичному розширенні (Q,r) точка r покриває очікуваний попит за строк поставки та страховий запас. При I≤r замовляємо Q одиниць.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операцій», гл. 2, §5; задачі управління запасами.</a:t>
            </a:r>
          </a:p>
          <a:p xmlns:a="http://schemas.openxmlformats.org/drawingml/2006/main">
            <a:r>
              <a:t>- F. S. Hillier, G. J. Lieberman, Introduction to Operations Research, Inventory Theory chapter.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EOQ отримуємо диференціюванням TC(Q): похідна −KD/Q²+h/2 дорівнює нулю. Точка повторного замовлення r складається з очікуваного попиту за L днів та страхового запасу zσ√L. За наведеними даними Q*=500, r≈230.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операцій», гл. 2, §5.</a:t>
            </a:r>
          </a:p>
          <a:p xmlns:a="http://schemas.openxmlformats.org/drawingml/2006/main">
            <a:r>
              <a:t>- F. S. Hillier, G. J. Lieberman, Introduction to Operations Research, Inventory Theory chapter.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«Марковська модель»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5, §§15–17, с. 112–131.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5, §§15–17, с. 112–131.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«Динамічна задача»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4, §§12–14, с. 84–111.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4, §§12–14, с. 84–111.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«Невизначеність»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§5, с. 29–41.</a:t>
            </a:r>
          </a:p>
          <a:p xmlns:a="http://schemas.openxmlformats.org/drawingml/2006/main">
            <a:r>
              <a:t>- NEOS Guide: https://neos-guide.org/guide/types/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§5, с. 29–41.</a:t>
            </a:r>
          </a:p>
          <a:p xmlns:a="http://schemas.openxmlformats.org/drawingml/2006/main">
            <a:r>
              <a:t>- NEOS Guide: https://neos-guide.org/guide/types/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«Імітація»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7, §§22–24, с. 161–172.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7, §§22–24, с. 161–172.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«Нелінійна задача»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§11, с. 80–83; сучасна IT-адаптація.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3, §11, с. 80–83; сучасна IT-адаптація.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«Багато критеріїв»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§6, с. 42–51.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§6, с. 42–51.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«Теорія ігор»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8, §§25–26, с. 173–186.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8, §§25–26, с. 173–186.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Неформальна постановка класу «Гра з природою» показує предметний зміст без перевантаження символами. Попросіть студентів назвати кероване рішення, задані умови, невизначені фактори та бажаний результат до переходу на наступний слайд.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§5, с. 29–41; гл. 8, §27, с. 187–194.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Формальний слайд робить явну підстановку в універсальну оболонку. Зверніть увагу не лише на цільову функцію: саме тип змінної та структура множини X найчастіше визначають математичний клас і допустимі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§5, с. 29–41; гл. 8, §27, с. 187–194.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зведення повертає всі формули до однієї оболонки. Воно не замінює попередні формальні слайди, а показує, які частини загального запису конкретизуються.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узагальнення гл. 2–8.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Цей слайд запобігає типовій помилці «Kubernetes — це одна задача». Одна система одночасно породжує placement, scheduling, flow, queueing, capacity planning і надійність.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системний підхід, гл. 2, §6, с. 49–51.</a:t>
            </a:r>
          </a:p>
          <a:p xmlns:a="http://schemas.openxmlformats.org/drawingml/2006/main">
            <a:r>
              <a:t>- Kubernetes Scheduler: https://kubernetes.io/docs/concepts/scheduling-eviction/kube-scheduler/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Завершіть лекцію короткою вправою: дайте будь-який IT-кейс і попросіть студентів записати спочатку універсальну, а потім спеціалізовану форму.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узагальнення гл.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Видимий текст українською; оригінальну назву на обкладинці збережено як бібліографічний артефакт. Формули сучасних класів подано як узагальнення, а не як дослівні цитати.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Є. С. Вентцель, «Дослідження операцій» (назву перекладено), гл. 2, с. 25–51.</a:t>
            </a:r>
          </a:p>
          <a:p xmlns:a="http://schemas.openxmlformats.org/drawingml/2006/main">
            <a:r>
              <a:t>- IFORS: https://www.ifors.org/what-is-or/</a:t>
            </a:r>
          </a:p>
          <a:p xmlns:a="http://schemas.openxmlformats.org/drawingml/2006/main">
            <a:r>
              <a:t>- NEOS Guide: https://neos-guide.org/guide/types/</a:t>
            </a:r>
          </a:p>
          <a:p xmlns:a="http://schemas.openxmlformats.org/drawingml/2006/main">
            <a:r>
              <a:t>- MIT OCW: https://ocw.mit.edu/courses/15-760b-introduction-to-operations-management-spring-2004/pages/lecture-notes/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88193e9aa44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b8528167643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ec5c305404b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c3080c13b4d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5b606e37844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e6655bbc746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61016f9454a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6bbeb159542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02a13039c49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51f6c27b347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7775dac36412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6E8437-E716-4102-9C2A-8BEFA20A59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007359-1A3A-4BFD-ADC1-1012B6DF2B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1A4327-8324-4900-8071-3E3F4B9986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5934E1-3FE4-4A34-AE7D-629E40024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CF1834-C40B-404E-B722-CC9471956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32201-1C5A-429C-8925-BAA387833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45E8D2-6480-49E2-B781-DC63AE833C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3DD68A-92A9-433B-BDE7-D1AE344C02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3480FB-11AC-4B45-8AFD-69AC602E6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BEC156-2B10-40DE-B362-43F2B182CD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F057B5-352B-4305-9B4E-32B75CD31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766B74-BC18-4BBA-A29D-8B16C55D2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4D06AF-26B4-4325-A0D9-BABF896F79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B52937-8C26-425E-92AC-BBAEEF5820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7E3419-6B4B-4DB1-81EE-78A8EBFE0B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86BF4D-25D5-4D2C-AD22-9B8242921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E8CBFA-8745-42AF-9855-4A7C8D220A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474E74-E7A5-4F24-90B6-194CB972DF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88F4C3C-1453-4511-B253-27C4DD461F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7F7CD-8531-4CAD-87CA-986E722A12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32FCF1-EFDE-4490-9334-39C8D33C6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A86DC4-55A7-43A1-9891-C8455731F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5B8235-EF86-421F-848D-CB7A8AE22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160991-9DF2-4CF0-BA51-AB818432D3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020C15-35A4-4157-AF86-8C0E05BA7C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D15CEDC-D433-4BBF-B5A4-9216D4079E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9864066-E291-43F9-946E-6F4082C979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6E0B8A3-9800-4E5C-B706-B6029553AF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13DE34-68CD-4D4A-A01F-F01F2A9162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80C083-0FD4-4B19-B1E4-FDE7490DC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5DBBDD2-8A4D-475D-8688-AC22C45942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A943D2C-826A-4517-80F9-C886BCD05B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8CE1CA4-F24F-4835-A93B-6C3DF2105A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58FDBE0-E18D-4565-9F89-12C919873D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B3450AD-6AF1-44AF-8AFA-737C786AD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DBC9680-DA46-459B-891E-005CAF1E1C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F418EC-2DCA-4EC3-8977-1D8175F2C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961C40-3104-4265-B7F2-1C00B11A43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BBD11C3-D622-40EB-9DD8-151E71306C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992D142-9532-4E15-A4C9-D3AC7E8C3F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183CAC-4E1D-450F-B376-6E0AE89FC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EDD050-48E3-4634-B329-ED09B60088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E02F14-7033-4137-BFAC-6B16CED7A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F76315C-823D-4B39-877E-05682BEEE9D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8CF8CC-6EC9-4DF8-A7F2-71C6DC32B3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B50E2A-4EB8-4389-BC5D-6FF964A4B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787FE8-2C41-4B1F-8919-AAFB81C3D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735893-37FB-479D-88F4-DC6894B3F1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B3ED68-4184-418D-A7BD-584301CD7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409172-5A1A-4E33-B744-299DEEF617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F8D9AC-0DF8-4870-8DB9-034DCFDEE0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0C7749-19B8-45CE-BC55-2777B7C7F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667058-9D7B-4CC4-9409-F4C0CA7F7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1DB68E9-25AB-4671-88D7-53D271097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F9265E-DA07-4BB9-A63D-64C8421735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A15FF8-A2BA-464B-B6A0-84BA7AD44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C216C-493B-47CF-A922-366BCFAED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5C1494-E9BA-4741-B461-AF8F3C8E4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6f73977d64a66" /><Relationship Type="http://schemas.openxmlformats.org/officeDocument/2006/relationships/slideLayout" Target="/ppt/slideLayouts/slideLayout1.xml" Id="R13714a1f724d4a3a" /><Relationship Type="http://schemas.openxmlformats.org/officeDocument/2006/relationships/slideLayout" Target="/ppt/slideLayouts/slideLayout2.xml" Id="R71b1d584122643d3" /><Relationship Type="http://schemas.openxmlformats.org/officeDocument/2006/relationships/slideLayout" Target="/ppt/slideLayouts/slideLayout3.xml" Id="Rdd1a9388580d4d78" /><Relationship Type="http://schemas.openxmlformats.org/officeDocument/2006/relationships/slideLayout" Target="/ppt/slideLayouts/slideLayout4.xml" Id="R94553ea04fc5465c" /><Relationship Type="http://schemas.openxmlformats.org/officeDocument/2006/relationships/slideLayout" Target="/ppt/slideLayouts/slideLayout5.xml" Id="R2bb668eac7a945f7" /><Relationship Type="http://schemas.openxmlformats.org/officeDocument/2006/relationships/slideLayout" Target="/ppt/slideLayouts/slideLayout6.xml" Id="R0c5b228baced444e" /><Relationship Type="http://schemas.openxmlformats.org/officeDocument/2006/relationships/slideLayout" Target="/ppt/slideLayouts/slideLayout7.xml" Id="Rfcf44622d74f4ca7" /><Relationship Type="http://schemas.openxmlformats.org/officeDocument/2006/relationships/slideLayout" Target="/ppt/slideLayouts/slideLayout8.xml" Id="Rdb01253aac074b9f" /><Relationship Type="http://schemas.openxmlformats.org/officeDocument/2006/relationships/slideLayout" Target="/ppt/slideLayouts/slideLayout9.xml" Id="R1b0f44f845f4432d" /><Relationship Type="http://schemas.openxmlformats.org/officeDocument/2006/relationships/slideLayout" Target="/ppt/slideLayouts/slideLayout10.xml" Id="Rc96cd97f102a4b6d" /><Relationship Type="http://schemas.openxmlformats.org/officeDocument/2006/relationships/slideLayout" Target="/ppt/slideLayouts/slideLayout11.xml" Id="R25c7136377ed48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ED85931-8000-46A4-AB5C-8282C08E5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C69C74-9FA2-4D27-BA77-BECF1BB93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DFDB5D-9486-4105-B312-3C8EB74BE40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2F4131-3958-412D-89A2-705DC4550C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138BFA-B9FD-4E9F-8060-3E4E837F01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714a1f724d4a3a"/>
    <p:sldLayoutId xmlns:r="http://schemas.openxmlformats.org/officeDocument/2006/relationships" id="2147483650" r:id="R71b1d584122643d3"/>
    <p:sldLayoutId xmlns:r="http://schemas.openxmlformats.org/officeDocument/2006/relationships" id="2147483651" r:id="Rdd1a9388580d4d78"/>
    <p:sldLayoutId xmlns:r="http://schemas.openxmlformats.org/officeDocument/2006/relationships" id="2147483652" r:id="R94553ea04fc5465c"/>
    <p:sldLayoutId xmlns:r="http://schemas.openxmlformats.org/officeDocument/2006/relationships" id="2147483653" r:id="R2bb668eac7a945f7"/>
    <p:sldLayoutId xmlns:r="http://schemas.openxmlformats.org/officeDocument/2006/relationships" id="2147483654" r:id="R0c5b228baced444e"/>
    <p:sldLayoutId xmlns:r="http://schemas.openxmlformats.org/officeDocument/2006/relationships" id="2147483655" r:id="Rfcf44622d74f4ca7"/>
    <p:sldLayoutId xmlns:r="http://schemas.openxmlformats.org/officeDocument/2006/relationships" id="2147483656" r:id="Rdb01253aac074b9f"/>
    <p:sldLayoutId xmlns:r="http://schemas.openxmlformats.org/officeDocument/2006/relationships" id="2147483657" r:id="R1b0f44f845f4432d"/>
    <p:sldLayoutId xmlns:r="http://schemas.openxmlformats.org/officeDocument/2006/relationships" id="2147483658" r:id="Rc96cd97f102a4b6d"/>
    <p:sldLayoutId xmlns:r="http://schemas.openxmlformats.org/officeDocument/2006/relationships" id="2147483659" r:id="R25c7136377ed48c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2224722b994b1c" /><Relationship Type="http://schemas.openxmlformats.org/officeDocument/2006/relationships/notesSlide" Target="/ppt/notesSlides/notesSlide1.xml" Id="Rd3850b6b098442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0971e0c8624284" /><Relationship Type="http://schemas.openxmlformats.org/officeDocument/2006/relationships/image" Target="/ppt/media/image.png" Id="R1e03f89b3ac34c76" /><Relationship Type="http://schemas.openxmlformats.org/officeDocument/2006/relationships/image" Target="/ppt/media/image2.png" Id="R92394dc3496f4a0a" /><Relationship Type="http://schemas.openxmlformats.org/officeDocument/2006/relationships/image" Target="/ppt/media/image3.png" Id="R30e28c610e764d0c" /><Relationship Type="http://schemas.openxmlformats.org/officeDocument/2006/relationships/notesSlide" Target="/ppt/notesSlides/notesSlide2.xml" Id="Rde8a2b36da17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44d60d11024891" /><Relationship Type="http://schemas.openxmlformats.org/officeDocument/2006/relationships/image" Target="/ppt/media/image.png" Id="R3ad90e9964ae41b0" /><Relationship Type="http://schemas.openxmlformats.org/officeDocument/2006/relationships/image" Target="/ppt/media/image4.png" Id="Rc5b7aff0c2ad4835" /><Relationship Type="http://schemas.openxmlformats.org/officeDocument/2006/relationships/image" Target="/ppt/media/image5.png" Id="R4a5685cf16a04481" /><Relationship Type="http://schemas.openxmlformats.org/officeDocument/2006/relationships/notesSlide" Target="/ppt/notesSlides/notesSlide3.xml" Id="Rf7da06d2b53c45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228c13afda46d3" /><Relationship Type="http://schemas.openxmlformats.org/officeDocument/2006/relationships/image" Target="/ppt/media/image.png" Id="R162ec2d2e28e4eca" /><Relationship Type="http://schemas.openxmlformats.org/officeDocument/2006/relationships/image" Target="/ppt/media/image4.png" Id="R45a117b86cc04e64" /><Relationship Type="http://schemas.openxmlformats.org/officeDocument/2006/relationships/image" Target="/ppt/media/image5.png" Id="R947d6677bbd44bbc" /><Relationship Type="http://schemas.openxmlformats.org/officeDocument/2006/relationships/notesSlide" Target="/ppt/notesSlides/notesSlide4.xml" Id="R169ccce48ca849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6afd703aae4adb" /><Relationship Type="http://schemas.openxmlformats.org/officeDocument/2006/relationships/image" Target="/ppt/media/image.png" Id="Rf5bd56986d03484e" /><Relationship Type="http://schemas.openxmlformats.org/officeDocument/2006/relationships/image" Target="/ppt/media/image4.png" Id="R0d9d642e3a004fc4" /><Relationship Type="http://schemas.openxmlformats.org/officeDocument/2006/relationships/image" Target="/ppt/media/image5.png" Id="Rde4ecfaccbd44d71" /><Relationship Type="http://schemas.openxmlformats.org/officeDocument/2006/relationships/notesSlide" Target="/ppt/notesSlides/notesSlide5.xml" Id="R8db28723d591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daf7af31ec4f9c" /><Relationship Type="http://schemas.openxmlformats.org/officeDocument/2006/relationships/image" Target="/ppt/media/image.png" Id="R8c15f2ccd9be4d50" /><Relationship Type="http://schemas.openxmlformats.org/officeDocument/2006/relationships/notesSlide" Target="/ppt/notesSlides/notesSlide6.xml" Id="R973d1e6f2eee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ebfc78c27644ff" /><Relationship Type="http://schemas.openxmlformats.org/officeDocument/2006/relationships/image" Target="/ppt/media/image.png" Id="R4eb3128c181c45cf" /><Relationship Type="http://schemas.openxmlformats.org/officeDocument/2006/relationships/notesSlide" Target="/ppt/notesSlides/notesSlide7.xml" Id="Rd83a7774819b4e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dcb65ea9924f27" /><Relationship Type="http://schemas.openxmlformats.org/officeDocument/2006/relationships/image" Target="/ppt/media/image.png" Id="R72a1a4185a5847c3" /><Relationship Type="http://schemas.openxmlformats.org/officeDocument/2006/relationships/notesSlide" Target="/ppt/notesSlides/notesSlide8.xml" Id="R65471115981f46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030b77458147c6" /><Relationship Type="http://schemas.openxmlformats.org/officeDocument/2006/relationships/image" Target="/ppt/media/image.png" Id="Rd68dc6579d414092" /><Relationship Type="http://schemas.openxmlformats.org/officeDocument/2006/relationships/image" Target="/ppt/media/image6.png" Id="Rd9e0b3ba06024959" /><Relationship Type="http://schemas.openxmlformats.org/officeDocument/2006/relationships/image" Target="/ppt/media/image7.png" Id="R6d12d529d2bb4196" /><Relationship Type="http://schemas.openxmlformats.org/officeDocument/2006/relationships/image" Target="/ppt/media/image3.png" Id="R79068ea45cf94e55" /><Relationship Type="http://schemas.openxmlformats.org/officeDocument/2006/relationships/notesSlide" Target="/ppt/notesSlides/notesSlide9.xml" Id="Rb55854d9449140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a156c86c0d4fb7" /><Relationship Type="http://schemas.openxmlformats.org/officeDocument/2006/relationships/image" Target="/ppt/media/image.png" Id="Rb9ee9ef986b248d8" /><Relationship Type="http://schemas.openxmlformats.org/officeDocument/2006/relationships/image" Target="/ppt/media/image6.png" Id="Re9cc2476ee0f4da4" /><Relationship Type="http://schemas.openxmlformats.org/officeDocument/2006/relationships/image" Target="/ppt/media/image7.png" Id="R1b0e8b222d3e4b8a" /><Relationship Type="http://schemas.openxmlformats.org/officeDocument/2006/relationships/image" Target="/ppt/media/image3.png" Id="R8dc3518cf2f2413e" /><Relationship Type="http://schemas.openxmlformats.org/officeDocument/2006/relationships/notesSlide" Target="/ppt/notesSlides/notesSlide10.xml" Id="R9428e503bf444f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4fcf26bb454bd2" /><Relationship Type="http://schemas.openxmlformats.org/officeDocument/2006/relationships/image" Target="/ppt/media/image.png" Id="Rfc72e9c6940c4769" /><Relationship Type="http://schemas.openxmlformats.org/officeDocument/2006/relationships/image" Target="/ppt/media/image6.png" Id="R6c141cb4689240c9" /><Relationship Type="http://schemas.openxmlformats.org/officeDocument/2006/relationships/image" Target="/ppt/media/image7.png" Id="Ra5816242c5fe47d6" /><Relationship Type="http://schemas.openxmlformats.org/officeDocument/2006/relationships/image" Target="/ppt/media/image3.png" Id="R4bcaee2ad24e4cc8" /><Relationship Type="http://schemas.openxmlformats.org/officeDocument/2006/relationships/notesSlide" Target="/ppt/notesSlides/notesSlide11.xml" Id="R67f06d973a964e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34d6da8cfc4cfb" /><Relationship Type="http://schemas.openxmlformats.org/officeDocument/2006/relationships/image" Target="/ppt/media/image.png" Id="R2be6e68dab004c38" /><Relationship Type="http://schemas.openxmlformats.org/officeDocument/2006/relationships/image" Target="/ppt/media/image6.png" Id="R6027bba4681d4fb0" /><Relationship Type="http://schemas.openxmlformats.org/officeDocument/2006/relationships/image" Target="/ppt/media/image7.png" Id="R3995267af1f640ed" /><Relationship Type="http://schemas.openxmlformats.org/officeDocument/2006/relationships/image" Target="/ppt/media/image3.png" Id="R0b1ec09d81984d03" /><Relationship Type="http://schemas.openxmlformats.org/officeDocument/2006/relationships/notesSlide" Target="/ppt/notesSlides/notesSlide12.xml" Id="R4c935eacbf5445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4977526aa64440" /><Relationship Type="http://schemas.openxmlformats.org/officeDocument/2006/relationships/image" Target="/ppt/media/image.png" Id="Rcdd01c7d5632491a" /><Relationship Type="http://schemas.openxmlformats.org/officeDocument/2006/relationships/image" Target="/ppt/media/image6.png" Id="R411632afa95b43ee" /><Relationship Type="http://schemas.openxmlformats.org/officeDocument/2006/relationships/image" Target="/ppt/media/image7.png" Id="R322ae258b9d64d6e" /><Relationship Type="http://schemas.openxmlformats.org/officeDocument/2006/relationships/image" Target="/ppt/media/image3.png" Id="R88710d8b92654807" /><Relationship Type="http://schemas.openxmlformats.org/officeDocument/2006/relationships/notesSlide" Target="/ppt/notesSlides/notesSlide13.xml" Id="R467d01371aa449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0387f8c4d543fb" /><Relationship Type="http://schemas.openxmlformats.org/officeDocument/2006/relationships/image" Target="/ppt/media/image.png" Id="R5e8f71ea8ce14425" /><Relationship Type="http://schemas.openxmlformats.org/officeDocument/2006/relationships/image" Target="/ppt/media/image6.png" Id="R91c17c5b991c4f6e" /><Relationship Type="http://schemas.openxmlformats.org/officeDocument/2006/relationships/image" Target="/ppt/media/image7.png" Id="R87ad4ffa13c7446e" /><Relationship Type="http://schemas.openxmlformats.org/officeDocument/2006/relationships/image" Target="/ppt/media/image3.png" Id="Rebc35eb439684458" /><Relationship Type="http://schemas.openxmlformats.org/officeDocument/2006/relationships/notesSlide" Target="/ppt/notesSlides/notesSlide14.xml" Id="Ra6df9ec9ccae4c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f639e8aeb345cb" /><Relationship Type="http://schemas.openxmlformats.org/officeDocument/2006/relationships/image" Target="/ppt/media/image.png" Id="Rdf48103df24e4a7c" /><Relationship Type="http://schemas.openxmlformats.org/officeDocument/2006/relationships/image" Target="/ppt/media/image6.png" Id="R87026486838d45ae" /><Relationship Type="http://schemas.openxmlformats.org/officeDocument/2006/relationships/image" Target="/ppt/media/image7.png" Id="R60287b8b92ff4c3f" /><Relationship Type="http://schemas.openxmlformats.org/officeDocument/2006/relationships/image" Target="/ppt/media/image3.png" Id="R0fe22a5f68d24512" /><Relationship Type="http://schemas.openxmlformats.org/officeDocument/2006/relationships/notesSlide" Target="/ppt/notesSlides/notesSlide15.xml" Id="R39157988dc844b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6c4d4e182b4fd2" /><Relationship Type="http://schemas.openxmlformats.org/officeDocument/2006/relationships/image" Target="/ppt/media/image.png" Id="R2edd21f57fc744e0" /><Relationship Type="http://schemas.openxmlformats.org/officeDocument/2006/relationships/image" Target="/ppt/media/image6.png" Id="R29d2d2aca5294c9c" /><Relationship Type="http://schemas.openxmlformats.org/officeDocument/2006/relationships/image" Target="/ppt/media/image7.png" Id="Rafbb8404b10e48bb" /><Relationship Type="http://schemas.openxmlformats.org/officeDocument/2006/relationships/image" Target="/ppt/media/image3.png" Id="Rf9d722ec3ac1454d" /><Relationship Type="http://schemas.openxmlformats.org/officeDocument/2006/relationships/notesSlide" Target="/ppt/notesSlides/notesSlide16.xml" Id="Rd2051a4ee72947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200878972145c3" /><Relationship Type="http://schemas.openxmlformats.org/officeDocument/2006/relationships/image" Target="/ppt/media/image.png" Id="Ra346720a55104dc8" /><Relationship Type="http://schemas.openxmlformats.org/officeDocument/2006/relationships/image" Target="/ppt/media/image6.png" Id="R87c620ba2166452f" /><Relationship Type="http://schemas.openxmlformats.org/officeDocument/2006/relationships/image" Target="/ppt/media/image7.png" Id="R943df79e6d124a52" /><Relationship Type="http://schemas.openxmlformats.org/officeDocument/2006/relationships/image" Target="/ppt/media/image3.png" Id="R00990dbbad3a481d" /><Relationship Type="http://schemas.openxmlformats.org/officeDocument/2006/relationships/notesSlide" Target="/ppt/notesSlides/notesSlide17.xml" Id="R6cf50f2b07d64b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f0d88a5a7c4401" /><Relationship Type="http://schemas.openxmlformats.org/officeDocument/2006/relationships/image" Target="/ppt/media/image.png" Id="Rffa265a03d3d4c62" /><Relationship Type="http://schemas.openxmlformats.org/officeDocument/2006/relationships/image" Target="/ppt/media/image6.png" Id="R21db84b52c1d4025" /><Relationship Type="http://schemas.openxmlformats.org/officeDocument/2006/relationships/image" Target="/ppt/media/image7.png" Id="Rc38afc0fbe224baf" /><Relationship Type="http://schemas.openxmlformats.org/officeDocument/2006/relationships/image" Target="/ppt/media/image3.png" Id="Re7ea0343393d42aa" /><Relationship Type="http://schemas.openxmlformats.org/officeDocument/2006/relationships/notesSlide" Target="/ppt/notesSlides/notesSlide18.xml" Id="Ra539020d38ba4d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55c14b079e446c" /><Relationship Type="http://schemas.openxmlformats.org/officeDocument/2006/relationships/image" Target="/ppt/media/image.png" Id="Rdcea3a3dbcda4833" /><Relationship Type="http://schemas.openxmlformats.org/officeDocument/2006/relationships/notesSlide" Target="/ppt/notesSlides/notesSlide19.xml" Id="R8cf8f154e9cb4b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02cce088d34491" /><Relationship Type="http://schemas.openxmlformats.org/officeDocument/2006/relationships/image" Target="/ppt/media/image.png" Id="R6f07fff9ac3b4459" /><Relationship Type="http://schemas.openxmlformats.org/officeDocument/2006/relationships/image" Target="/ppt/media/image6.png" Id="R6532d063cd544233" /><Relationship Type="http://schemas.openxmlformats.org/officeDocument/2006/relationships/image" Target="/ppt/media/image7.png" Id="R0165dbd5cee042e2" /><Relationship Type="http://schemas.openxmlformats.org/officeDocument/2006/relationships/image" Target="/ppt/media/image3.png" Id="R443c63ac3d414d35" /><Relationship Type="http://schemas.openxmlformats.org/officeDocument/2006/relationships/notesSlide" Target="/ppt/notesSlides/notesSlide20.xml" Id="Recb3429f394242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dac3ad019b4bb0" /><Relationship Type="http://schemas.openxmlformats.org/officeDocument/2006/relationships/image" Target="/ppt/media/image.png" Id="R1cb3ef9d571643ec" /><Relationship Type="http://schemas.openxmlformats.org/officeDocument/2006/relationships/image" Target="/ppt/media/image6.png" Id="R3d57c7758b0a453b" /><Relationship Type="http://schemas.openxmlformats.org/officeDocument/2006/relationships/image" Target="/ppt/media/image7.png" Id="R20d7bcb1f561413e" /><Relationship Type="http://schemas.openxmlformats.org/officeDocument/2006/relationships/image" Target="/ppt/media/image3.png" Id="Re836dc59de3f422d" /><Relationship Type="http://schemas.openxmlformats.org/officeDocument/2006/relationships/notesSlide" Target="/ppt/notesSlides/notesSlide21.xml" Id="R96d3690e59eb4d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c5ac0ca71d46ea" /><Relationship Type="http://schemas.openxmlformats.org/officeDocument/2006/relationships/image" Target="/ppt/media/image.png" Id="R884d48ed80d544d5" /><Relationship Type="http://schemas.openxmlformats.org/officeDocument/2006/relationships/image" Target="/ppt/media/image6.png" Id="R56c34db3d4244d8c" /><Relationship Type="http://schemas.openxmlformats.org/officeDocument/2006/relationships/image" Target="/ppt/media/image7.png" Id="R08c0548b393c4e4d" /><Relationship Type="http://schemas.openxmlformats.org/officeDocument/2006/relationships/image" Target="/ppt/media/image3.png" Id="R2f65c1c613f947f1" /><Relationship Type="http://schemas.openxmlformats.org/officeDocument/2006/relationships/notesSlide" Target="/ppt/notesSlides/notesSlide22.xml" Id="R309e925a8ffe4a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2e2d64a8df4313" /><Relationship Type="http://schemas.openxmlformats.org/officeDocument/2006/relationships/image" Target="/ppt/media/image.png" Id="R8fe04f4b8efd4c39" /><Relationship Type="http://schemas.openxmlformats.org/officeDocument/2006/relationships/image" Target="/ppt/media/image6.png" Id="Ra2cce6ff95064a9b" /><Relationship Type="http://schemas.openxmlformats.org/officeDocument/2006/relationships/image" Target="/ppt/media/image7.png" Id="R01125bf1c5844429" /><Relationship Type="http://schemas.openxmlformats.org/officeDocument/2006/relationships/image" Target="/ppt/media/image3.png" Id="R9078812c78924348" /><Relationship Type="http://schemas.openxmlformats.org/officeDocument/2006/relationships/notesSlide" Target="/ppt/notesSlides/notesSlide23.xml" Id="R8cda589aa9ae49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033297a1884f50" /><Relationship Type="http://schemas.openxmlformats.org/officeDocument/2006/relationships/image" Target="/ppt/media/image.png" Id="R4dd87afec69e4b50" /><Relationship Type="http://schemas.openxmlformats.org/officeDocument/2006/relationships/notesSlide" Target="/ppt/notesSlides/notesSlide24.xml" Id="Rf4632626d67c4a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4d3d32f2c64570" /><Relationship Type="http://schemas.openxmlformats.org/officeDocument/2006/relationships/image" Target="/ppt/media/image.png" Id="R9f958f0ef69e49cc" /><Relationship Type="http://schemas.openxmlformats.org/officeDocument/2006/relationships/image" Target="/ppt/media/image6.png" Id="R3adf107626614fa1" /><Relationship Type="http://schemas.openxmlformats.org/officeDocument/2006/relationships/image" Target="/ppt/media/image7.png" Id="R84ca2ba1281f455a" /><Relationship Type="http://schemas.openxmlformats.org/officeDocument/2006/relationships/image" Target="/ppt/media/image3.png" Id="R2ec79c53cb194ef6" /><Relationship Type="http://schemas.openxmlformats.org/officeDocument/2006/relationships/notesSlide" Target="/ppt/notesSlides/notesSlide25.xml" Id="Rdc48e2bf7cfa49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1010bca0054d8b" /><Relationship Type="http://schemas.openxmlformats.org/officeDocument/2006/relationships/image" Target="/ppt/media/image.png" Id="R3d605a1a30964205" /><Relationship Type="http://schemas.openxmlformats.org/officeDocument/2006/relationships/image" Target="/ppt/media/image6.png" Id="Re6dd23b0d45b4732" /><Relationship Type="http://schemas.openxmlformats.org/officeDocument/2006/relationships/image" Target="/ppt/media/image7.png" Id="Rdfc5b19db94045a1" /><Relationship Type="http://schemas.openxmlformats.org/officeDocument/2006/relationships/image" Target="/ppt/media/image3.png" Id="R747d918745df41d3" /><Relationship Type="http://schemas.openxmlformats.org/officeDocument/2006/relationships/notesSlide" Target="/ppt/notesSlides/notesSlide26.xml" Id="Rca1d05b771424dc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25e6258a7749ff" /><Relationship Type="http://schemas.openxmlformats.org/officeDocument/2006/relationships/image" Target="/ppt/media/image.png" Id="R83bebeb744c44e9f" /><Relationship Type="http://schemas.openxmlformats.org/officeDocument/2006/relationships/image" Target="/ppt/media/image6.png" Id="Rf3cb97ac50b3441d" /><Relationship Type="http://schemas.openxmlformats.org/officeDocument/2006/relationships/image" Target="/ppt/media/image7.png" Id="Rb2f4113c3ef847c9" /><Relationship Type="http://schemas.openxmlformats.org/officeDocument/2006/relationships/image" Target="/ppt/media/image3.png" Id="Re0d72d1b52b64e47" /><Relationship Type="http://schemas.openxmlformats.org/officeDocument/2006/relationships/notesSlide" Target="/ppt/notesSlides/notesSlide27.xml" Id="Rc4db317a2ad945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898305a9ca4833" /><Relationship Type="http://schemas.openxmlformats.org/officeDocument/2006/relationships/image" Target="/ppt/media/image.png" Id="R44d456ea33494d08" /><Relationship Type="http://schemas.openxmlformats.org/officeDocument/2006/relationships/image" Target="/ppt/media/image6.png" Id="Rd28db8a19ced4f3c" /><Relationship Type="http://schemas.openxmlformats.org/officeDocument/2006/relationships/image" Target="/ppt/media/image7.png" Id="Rc96284e3d7a94486" /><Relationship Type="http://schemas.openxmlformats.org/officeDocument/2006/relationships/image" Target="/ppt/media/image3.png" Id="R74fc857d31f2421c" /><Relationship Type="http://schemas.openxmlformats.org/officeDocument/2006/relationships/notesSlide" Target="/ppt/notesSlides/notesSlide28.xml" Id="R9403957f4e8545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c7704443c44794" /><Relationship Type="http://schemas.openxmlformats.org/officeDocument/2006/relationships/image" Target="/ppt/media/image.png" Id="R14214a3a4c1a4afd" /><Relationship Type="http://schemas.openxmlformats.org/officeDocument/2006/relationships/image" Target="/ppt/media/image6.png" Id="R5a016de5c457471e" /><Relationship Type="http://schemas.openxmlformats.org/officeDocument/2006/relationships/image" Target="/ppt/media/image7.png" Id="R924aad75cba040f7" /><Relationship Type="http://schemas.openxmlformats.org/officeDocument/2006/relationships/image" Target="/ppt/media/image3.png" Id="R04a72be1521e4dbb" /><Relationship Type="http://schemas.openxmlformats.org/officeDocument/2006/relationships/notesSlide" Target="/ppt/notesSlides/notesSlide29.xml" Id="Rdee24c22cc8b4db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8b5c32359a4aa9" /><Relationship Type="http://schemas.openxmlformats.org/officeDocument/2006/relationships/image" Target="/ppt/media/image.png" Id="R12e974f03b2943ae" /><Relationship Type="http://schemas.openxmlformats.org/officeDocument/2006/relationships/image" Target="/ppt/media/image6.png" Id="Rfbfc448cfc5d43ea" /><Relationship Type="http://schemas.openxmlformats.org/officeDocument/2006/relationships/image" Target="/ppt/media/image7.png" Id="R64d6848fed754d26" /><Relationship Type="http://schemas.openxmlformats.org/officeDocument/2006/relationships/image" Target="/ppt/media/image3.png" Id="Rf3e10bbe41b04894" /><Relationship Type="http://schemas.openxmlformats.org/officeDocument/2006/relationships/notesSlide" Target="/ppt/notesSlides/notesSlide30.xml" Id="Rb26195a0d4e149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73e7c35a134bb5" /><Relationship Type="http://schemas.openxmlformats.org/officeDocument/2006/relationships/image" Target="/ppt/media/image.png" Id="R0c5e3492641f4c62" /><Relationship Type="http://schemas.openxmlformats.org/officeDocument/2006/relationships/image" Target="/ppt/media/image6.png" Id="R26ab3d988152405d" /><Relationship Type="http://schemas.openxmlformats.org/officeDocument/2006/relationships/image" Target="/ppt/media/image7.png" Id="R5bcffcf067ed4957" /><Relationship Type="http://schemas.openxmlformats.org/officeDocument/2006/relationships/image" Target="/ppt/media/image3.png" Id="R33457f10e8df4d5f" /><Relationship Type="http://schemas.openxmlformats.org/officeDocument/2006/relationships/notesSlide" Target="/ppt/notesSlides/notesSlide31.xml" Id="Re84e3e32521140e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25e24c763841bb" /><Relationship Type="http://schemas.openxmlformats.org/officeDocument/2006/relationships/image" Target="/ppt/media/image.png" Id="R09d12dafd3574e7d" /><Relationship Type="http://schemas.openxmlformats.org/officeDocument/2006/relationships/image" Target="/ppt/media/image6.png" Id="R66c4d71cd49d4b90" /><Relationship Type="http://schemas.openxmlformats.org/officeDocument/2006/relationships/image" Target="/ppt/media/image7.png" Id="R9e41745a8f324757" /><Relationship Type="http://schemas.openxmlformats.org/officeDocument/2006/relationships/image" Target="/ppt/media/image3.png" Id="Rb402f6892a884f41" /><Relationship Type="http://schemas.openxmlformats.org/officeDocument/2006/relationships/notesSlide" Target="/ppt/notesSlides/notesSlide32.xml" Id="R55722acfa09542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c2aa8e3630460e" /><Relationship Type="http://schemas.openxmlformats.org/officeDocument/2006/relationships/image" Target="/ppt/media/image.png" Id="Re6a5394b07af4ad6" /><Relationship Type="http://schemas.openxmlformats.org/officeDocument/2006/relationships/image" Target="/ppt/media/image6.png" Id="R428ccb07fc614208" /><Relationship Type="http://schemas.openxmlformats.org/officeDocument/2006/relationships/image" Target="/ppt/media/image7.png" Id="R182c85960c2c47eb" /><Relationship Type="http://schemas.openxmlformats.org/officeDocument/2006/relationships/image" Target="/ppt/media/image3.png" Id="Rd7b63d0ca22a46a1" /><Relationship Type="http://schemas.openxmlformats.org/officeDocument/2006/relationships/notesSlide" Target="/ppt/notesSlides/notesSlide33.xml" Id="R6e2b944cb5df431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802f50589c4fa5" /><Relationship Type="http://schemas.openxmlformats.org/officeDocument/2006/relationships/image" Target="/ppt/media/image.png" Id="R27b50869791e479a" /><Relationship Type="http://schemas.openxmlformats.org/officeDocument/2006/relationships/image" Target="/ppt/media/image6.png" Id="R9f2b892e01cb4e4a" /><Relationship Type="http://schemas.openxmlformats.org/officeDocument/2006/relationships/image" Target="/ppt/media/image7.png" Id="Rdfb21a8b05a44977" /><Relationship Type="http://schemas.openxmlformats.org/officeDocument/2006/relationships/image" Target="/ppt/media/image3.png" Id="R0bf4bc470f2947f3" /><Relationship Type="http://schemas.openxmlformats.org/officeDocument/2006/relationships/notesSlide" Target="/ppt/notesSlides/notesSlide34.xml" Id="Rb6e5f374da5042e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24ee7e8ca04976" /><Relationship Type="http://schemas.openxmlformats.org/officeDocument/2006/relationships/image" Target="/ppt/media/image.png" Id="R5791c28edfe44148" /><Relationship Type="http://schemas.openxmlformats.org/officeDocument/2006/relationships/image" Target="/ppt/media/image6.png" Id="R9a8f269181734dfe" /><Relationship Type="http://schemas.openxmlformats.org/officeDocument/2006/relationships/image" Target="/ppt/media/image7.png" Id="Rba977abb5cdc4b3b" /><Relationship Type="http://schemas.openxmlformats.org/officeDocument/2006/relationships/image" Target="/ppt/media/image3.png" Id="Ra3c4549fa09247df" /><Relationship Type="http://schemas.openxmlformats.org/officeDocument/2006/relationships/notesSlide" Target="/ppt/notesSlides/notesSlide35.xml" Id="R7286f5933e6541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d8300bee4c412a" /><Relationship Type="http://schemas.openxmlformats.org/officeDocument/2006/relationships/image" Target="/ppt/media/image.png" Id="R176028d0ec2349d1" /><Relationship Type="http://schemas.openxmlformats.org/officeDocument/2006/relationships/image" Target="/ppt/media/image6.png" Id="R835934191cd94c4b" /><Relationship Type="http://schemas.openxmlformats.org/officeDocument/2006/relationships/image" Target="/ppt/media/image7.png" Id="Rffaa56ba721842a9" /><Relationship Type="http://schemas.openxmlformats.org/officeDocument/2006/relationships/image" Target="/ppt/media/image3.png" Id="R27009d39b4d54944" /><Relationship Type="http://schemas.openxmlformats.org/officeDocument/2006/relationships/notesSlide" Target="/ppt/notesSlides/notesSlide36.xml" Id="Rdc0b9919cdc64e4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fcc4d20e97497f" /><Relationship Type="http://schemas.openxmlformats.org/officeDocument/2006/relationships/image" Target="/ppt/media/image.png" Id="R6c841b1e2cab4366" /><Relationship Type="http://schemas.openxmlformats.org/officeDocument/2006/relationships/image" Target="/ppt/media/image6.png" Id="R4a550c87526b4d9e" /><Relationship Type="http://schemas.openxmlformats.org/officeDocument/2006/relationships/image" Target="/ppt/media/image7.png" Id="Ra3e38f6c9e304a25" /><Relationship Type="http://schemas.openxmlformats.org/officeDocument/2006/relationships/image" Target="/ppt/media/image3.png" Id="Rf39f4401d3ad4755" /><Relationship Type="http://schemas.openxmlformats.org/officeDocument/2006/relationships/notesSlide" Target="/ppt/notesSlides/notesSlide37.xml" Id="R326e3599f2934ca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b9b36e0de74ea1" /><Relationship Type="http://schemas.openxmlformats.org/officeDocument/2006/relationships/image" Target="/ppt/media/image.png" Id="R2b2faddbfc7b42be" /><Relationship Type="http://schemas.openxmlformats.org/officeDocument/2006/relationships/image" Target="/ppt/media/image6.png" Id="Re604d9774ec5412c" /><Relationship Type="http://schemas.openxmlformats.org/officeDocument/2006/relationships/image" Target="/ppt/media/image7.png" Id="R15543692b40548e8" /><Relationship Type="http://schemas.openxmlformats.org/officeDocument/2006/relationships/image" Target="/ppt/media/image3.png" Id="Rf2b3b166a82645c9" /><Relationship Type="http://schemas.openxmlformats.org/officeDocument/2006/relationships/notesSlide" Target="/ppt/notesSlides/notesSlide38.xml" Id="Rd17a3c2b595843e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0a99ead215430d" /><Relationship Type="http://schemas.openxmlformats.org/officeDocument/2006/relationships/image" Target="/ppt/media/image.png" Id="Rca2c49d1e60c4c39" /><Relationship Type="http://schemas.openxmlformats.org/officeDocument/2006/relationships/image" Target="/ppt/media/image6.png" Id="Rac0a39e17956443c" /><Relationship Type="http://schemas.openxmlformats.org/officeDocument/2006/relationships/image" Target="/ppt/media/image7.png" Id="R4c754db125274c5b" /><Relationship Type="http://schemas.openxmlformats.org/officeDocument/2006/relationships/image" Target="/ppt/media/image3.png" Id="R8c612a2806cd43fb" /><Relationship Type="http://schemas.openxmlformats.org/officeDocument/2006/relationships/notesSlide" Target="/ppt/notesSlides/notesSlide39.xml" Id="Ra1d8342e8b9f435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e845856a9b41c8" /><Relationship Type="http://schemas.openxmlformats.org/officeDocument/2006/relationships/image" Target="/ppt/media/image.png" Id="Rf9c87fc06f35457a" /><Relationship Type="http://schemas.openxmlformats.org/officeDocument/2006/relationships/image" Target="/ppt/media/image6.png" Id="R8603da351bfd4f62" /><Relationship Type="http://schemas.openxmlformats.org/officeDocument/2006/relationships/image" Target="/ppt/media/image7.png" Id="R260c6bc4b43b47f4" /><Relationship Type="http://schemas.openxmlformats.org/officeDocument/2006/relationships/image" Target="/ppt/media/image3.png" Id="Rb15a518ac6b948e7" /><Relationship Type="http://schemas.openxmlformats.org/officeDocument/2006/relationships/notesSlide" Target="/ppt/notesSlides/notesSlide40.xml" Id="R2bf4700294c5431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60d1e1413f4dde" /><Relationship Type="http://schemas.openxmlformats.org/officeDocument/2006/relationships/image" Target="/ppt/media/image.png" Id="R846d4120275342ee" /><Relationship Type="http://schemas.openxmlformats.org/officeDocument/2006/relationships/image" Target="/ppt/media/image6.png" Id="Rdfd3ce8fb0374f1e" /><Relationship Type="http://schemas.openxmlformats.org/officeDocument/2006/relationships/image" Target="/ppt/media/image7.png" Id="R33cc68a324424a5e" /><Relationship Type="http://schemas.openxmlformats.org/officeDocument/2006/relationships/image" Target="/ppt/media/image3.png" Id="R7d6b13ad52c24d38" /><Relationship Type="http://schemas.openxmlformats.org/officeDocument/2006/relationships/notesSlide" Target="/ppt/notesSlides/notesSlide41.xml" Id="R0c5fd828e46f4d1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38f97d6a054d6f" /><Relationship Type="http://schemas.openxmlformats.org/officeDocument/2006/relationships/image" Target="/ppt/media/image.png" Id="R622e84edc49e4545" /><Relationship Type="http://schemas.openxmlformats.org/officeDocument/2006/relationships/image" Target="/ppt/media/image6.png" Id="Raeeb2cf1a1dc44a0" /><Relationship Type="http://schemas.openxmlformats.org/officeDocument/2006/relationships/image" Target="/ppt/media/image7.png" Id="R6e061f16945b4864" /><Relationship Type="http://schemas.openxmlformats.org/officeDocument/2006/relationships/image" Target="/ppt/media/image3.png" Id="Rd6872b817363490d" /><Relationship Type="http://schemas.openxmlformats.org/officeDocument/2006/relationships/notesSlide" Target="/ppt/notesSlides/notesSlide42.xml" Id="R385fbd0f878e4ce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f05a8988e64988" /><Relationship Type="http://schemas.openxmlformats.org/officeDocument/2006/relationships/image" Target="/ppt/media/image.png" Id="R118bf368159d4248" /><Relationship Type="http://schemas.openxmlformats.org/officeDocument/2006/relationships/image" Target="/ppt/media/image6.png" Id="R82fe0a9df57e47e6" /><Relationship Type="http://schemas.openxmlformats.org/officeDocument/2006/relationships/image" Target="/ppt/media/image7.png" Id="Rc4aed1f94ffb4f2c" /><Relationship Type="http://schemas.openxmlformats.org/officeDocument/2006/relationships/image" Target="/ppt/media/image3.png" Id="Rf6c00219218a461b" /><Relationship Type="http://schemas.openxmlformats.org/officeDocument/2006/relationships/notesSlide" Target="/ppt/notesSlides/notesSlide43.xml" Id="R9b43c570e0f6463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126a6a8ca848fa" /><Relationship Type="http://schemas.openxmlformats.org/officeDocument/2006/relationships/image" Target="/ppt/media/image.png" Id="R8f26c605d8944248" /><Relationship Type="http://schemas.openxmlformats.org/officeDocument/2006/relationships/image" Target="/ppt/media/image6.png" Id="R49abe1c5631e4ef1" /><Relationship Type="http://schemas.openxmlformats.org/officeDocument/2006/relationships/image" Target="/ppt/media/image7.png" Id="R35267522fb6740e4" /><Relationship Type="http://schemas.openxmlformats.org/officeDocument/2006/relationships/image" Target="/ppt/media/image3.png" Id="Rbb431eee0c5a44e9" /><Relationship Type="http://schemas.openxmlformats.org/officeDocument/2006/relationships/notesSlide" Target="/ppt/notesSlides/notesSlide44.xml" Id="Rb9510b98fcd7485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f2f195ebad4beb" /><Relationship Type="http://schemas.openxmlformats.org/officeDocument/2006/relationships/image" Target="/ppt/media/image.png" Id="R4295249dca2d46df" /><Relationship Type="http://schemas.openxmlformats.org/officeDocument/2006/relationships/notesSlide" Target="/ppt/notesSlides/notesSlide45.xml" Id="R1997c88e47ca41e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845ab478d2439e" /><Relationship Type="http://schemas.openxmlformats.org/officeDocument/2006/relationships/image" Target="/ppt/media/image.png" Id="R5946ed42174e4dcd" /><Relationship Type="http://schemas.openxmlformats.org/officeDocument/2006/relationships/image" Target="/ppt/media/image6.png" Id="R4152897d2a824a0a" /><Relationship Type="http://schemas.openxmlformats.org/officeDocument/2006/relationships/image" Target="/ppt/media/image7.png" Id="R63c37f7627444e02" /><Relationship Type="http://schemas.openxmlformats.org/officeDocument/2006/relationships/image" Target="/ppt/media/image3.png" Id="R7d19e5f0d76246e0" /><Relationship Type="http://schemas.openxmlformats.org/officeDocument/2006/relationships/notesSlide" Target="/ppt/notesSlides/notesSlide46.xml" Id="R1b13869402f34b5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7d497df22640cb" /><Relationship Type="http://schemas.openxmlformats.org/officeDocument/2006/relationships/image" Target="/ppt/media/image.png" Id="Rc4c0581be7684253" /><Relationship Type="http://schemas.openxmlformats.org/officeDocument/2006/relationships/image" Target="/ppt/media/image2.png" Id="Rffaff19dc14844f9" /><Relationship Type="http://schemas.openxmlformats.org/officeDocument/2006/relationships/image" Target="/ppt/media/image3.png" Id="Rb712ec9ea74f487e" /><Relationship Type="http://schemas.openxmlformats.org/officeDocument/2006/relationships/notesSlide" Target="/ppt/notesSlides/notesSlide47.xml" Id="R8cb939a302db437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412c3167e74455" /><Relationship Type="http://schemas.openxmlformats.org/officeDocument/2006/relationships/image" Target="/ppt/media/image.png" Id="R2c43125efc074e8f" /><Relationship Type="http://schemas.openxmlformats.org/officeDocument/2006/relationships/image" Target="/ppt/media/image8.png" Id="Re7f9bb54255249d8" /><Relationship Type="http://schemas.openxmlformats.org/officeDocument/2006/relationships/notesSlide" Target="/ppt/notesSlides/notesSlide48.xml" Id="R3724a37d575341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6912E1-CD44-4164-8771-8BA54C24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3202"/>
            <a:ext cx="6126703" cy="122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30"/>
              </a:lnSpc>
              <a:buNone/>
              <a:defRPr sz="3000"/>
            </a:pPr>
            <a:r>
              <a:rPr sz="3000" b="1" i="0" u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Класи та формалізація задач ДО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9838-F407-4756-BB2A-EB0F1E8B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70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015F7-2DE3-410B-BEF4-08F676E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52850"/>
            <a:ext cx="7858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82A0"/>
                </a:solidFill>
              </a:defRPr>
            </a:pPr>
            <a:r>
              <a:rPr sz="1350" b="0">
                <a:solidFill>
                  <a:srgbClr val="7182A0"/>
                </a:solidFill>
              </a:rPr>
              <a:t>Неформальна постановка → універсальна модель → спеціалізована формула.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C7281-C993-406A-A845-3BEAFA4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190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EEF2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200" b="1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V12</a:t>
            </a:r>
          </a:p>
        </p:txBody>
      </p:sp>
    </p:spTree>
    <p:extLst>
      <p:ext uri="{BB962C8B-B14F-4D97-AF65-F5344CB8AC3E}">
        <p14:creationId xmlns:p14="http://schemas.microsoft.com/office/powerpoint/2010/main" val="1202192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f89b3ac34c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94dc3496f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938462"/>
            <a:ext cx="4419600" cy="189547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8C2504-1CDF-4B98-BBE2-BD0DE527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2"/>
            <a:ext cx="365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00"/>
              </a:lnSpc>
              <a:buNone/>
            </a:pPr>
            <a:r>
              <a:rPr sz="6000" b="1" i="0" u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4CF0CC-2324-44B2-BE1E-1884E30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4337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 i="0" u="none">
                <a:solidFill>
                  <a:srgbClr val="C7D2FE"/>
                </a:solidFill>
                <a:latin typeface="Inter Medium"/>
                <a:ea typeface="Inter Medium"/>
                <a:cs typeface="Inter Medium"/>
              </a:rPr>
              <a:t>кроки формалізації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158767-3BD3-409E-9AD0-A343853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7386"/>
            <a:ext cx="68199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Студент переводить практичну задачу в узагальнену математичну модель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22EE908-478D-4BFA-9E64-4A54467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6011"/>
            <a:ext cx="66294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Для кожного прикладу студент уміє: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DDE674-3566-4E46-AC7A-225E5BC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16808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1. Сказати неформально: що потрібно вирішити?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0E9E71-EE8B-44A9-BA4B-5778D83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9119"/>
            <a:ext cx="63436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2. Відокремити a, кероване x та невизначене ξ.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446E6B-5FDA-4BE4-A489-A5F3ED2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0391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3. Побудувати X і показник W.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6658B41-D742-421E-BF69-3184893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2702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4. Отримати спеціалізовану формулу класу.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BAC67D-4A41-47ED-8622-A289E6C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Результат лекції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E00220-15F9-4971-8B7E-E3DA2F0E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28c610e764d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535858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28c610e764d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928169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28c610e764d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4579441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28c610e764d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4971752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57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90e9964ae41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aff0c2ad4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708201"/>
            <a:ext cx="5357812" cy="1537096"/>
          </a:xfrm>
          <a:prstGeom xmlns:a="http://schemas.openxmlformats.org/drawingml/2006/main" prst="rect">
            <a:avLst/>
          </a:prstGeom>
        </p:spPr>
      </p:pic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685cf16a0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687" y="3708201"/>
            <a:ext cx="5357812" cy="1537096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081076-041D-4671-85F0-9FA0F1F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Змінні моделі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5A7607-3AE2-4560-AE13-4F739FBB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32101"/>
            <a:ext cx="4767262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— відомі параметри; x — кероване рішення; W — критерій ефективності.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1E8797-CC36-4625-B4DD-0A70BD0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Допустимість рішення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7A2529-0578-4F2E-AD69-17FF2A5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432101"/>
            <a:ext cx="4767262" cy="7768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gᵢ задають нерівності, hⱼ — рівності. Разом вони формують множину X(a).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913DF1-6BC9-44DA-82D5-ECF980B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E293B"/>
                </a:solidFill>
                <a:latin typeface="Poppins"/>
                <a:ea typeface="Poppins"/>
                <a:cs typeface="Poppins"/>
              </a:defRPr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Детермінована модель задачі ДО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6EBF69-8C93-4274-8ABD-42E3191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9FE2C-D5C7-4DF3-9AA2-F08572A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7145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1. Критерій ефективності: W(a,x)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2. Допустима множина: X(a)={x | gᵢ(a,x)≤0; hⱼ(a,x)=0}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3. Функції обмежень: i=1,…,m; j=1,…,r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72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4. Оптимальне рішення: x*∈arg maxₓ∈X(a) W(a,x)</a:t>
            </a:r>
          </a:p>
        </p:txBody>
      </p:sp>
    </p:spTree>
    <p:extLst>
      <p:ext uri="{BB962C8B-B14F-4D97-AF65-F5344CB8AC3E}">
        <p14:creationId xmlns:p14="http://schemas.microsoft.com/office/powerpoint/2010/main" val="1880144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ec2d2e28e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117b86cc0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708201"/>
            <a:ext cx="5357812" cy="1537096"/>
          </a:xfrm>
          <a:prstGeom xmlns:a="http://schemas.openxmlformats.org/drawingml/2006/main" prst="rect">
            <a:avLst/>
          </a:prstGeom>
        </p:spPr>
      </p:pic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d6677bbd44b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687" y="3708201"/>
            <a:ext cx="5357812" cy="1537096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081076-041D-4671-85F0-9FA0F1F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Випадковий фактор ξ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5A7607-3AE2-4560-AE13-4F739FBB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32101"/>
            <a:ext cx="4767262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ξ описує попит, тривалість, відмови або інші невідомі умови з відомим розподілом.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1E8797-CC36-4625-B4DD-0A70BD0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Два способи врахування ризику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7A2529-0578-4F2E-AD69-17FF2A5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432101"/>
            <a:ext cx="4767262" cy="7768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Математичне сподівання оптимізує середній результат, а β задає потрібну надійність обмеження.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913DF1-6BC9-44DA-82D5-ECF980B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E293B"/>
                </a:solidFill>
                <a:latin typeface="Poppins"/>
                <a:ea typeface="Poppins"/>
                <a:cs typeface="Poppins"/>
              </a:defRPr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Модель за випадкових умов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6EBF69-8C93-4274-8ABD-42E3191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9FE2C-D5C7-4DF3-9AA2-F08572A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7145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1. Випадковий результат: W(a,x,ξ)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2. Критерій за середнім: x*∈arg maxₓ∈X(a) Eξ[W(a,x,ξ)]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3. Імовірнісне обмеження: Pξ{T(a,x,ξ)≤t₀}≥β</a:t>
            </a:r>
          </a:p>
        </p:txBody>
      </p:sp>
    </p:spTree>
    <p:extLst>
      <p:ext uri="{BB962C8B-B14F-4D97-AF65-F5344CB8AC3E}">
        <p14:creationId xmlns:p14="http://schemas.microsoft.com/office/powerpoint/2010/main" val="1880144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d56986d03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d642e3a004f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708201"/>
            <a:ext cx="5357812" cy="1537096"/>
          </a:xfrm>
          <a:prstGeom xmlns:a="http://schemas.openxmlformats.org/drawingml/2006/main" prst="rect">
            <a:avLst/>
          </a:prstGeom>
        </p:spPr>
      </p:pic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ecfaccbd4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687" y="3708201"/>
            <a:ext cx="5357812" cy="1537096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081076-041D-4671-85F0-9FA0F1F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Стратегії гравців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5A7607-3AE2-4560-AE13-4F739FBB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32101"/>
            <a:ext cx="4767262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 обирає перший гравець, y — другий. Кожен враховує можливу відповідь суперника.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1E8797-CC36-4625-B4DD-0A70BD0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Ціна гри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7A2529-0578-4F2E-AD69-17FF2A5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432101"/>
            <a:ext cx="4767262" cy="7768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Завжди W⁻≤W⁺. Якщо W⁻=W⁺ і оптимуми досягаються, гра має сідлову точку.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913DF1-6BC9-44DA-82D5-ECF980B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E293B"/>
                </a:solidFill>
                <a:latin typeface="Poppins"/>
                <a:ea typeface="Poppins"/>
                <a:cs typeface="Poppins"/>
              </a:defRPr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Модель задачі в теорії ігор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6EBF69-8C93-4274-8ABD-42E3191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9FE2C-D5C7-4DF3-9AA2-F08572A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7145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1. Виграш першого гравця: W(a,x,y)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2. Максимін: W⁻=maxₓ∈X(a) minᵧ∈Y(a) W(a,x,y)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 b="1">
                <a:solidFill>
                  <a:srgbClr val="172033"/>
                </a:solidFill>
                <a:latin typeface="Poppins SemiBold"/>
                <a:ea typeface="Poppins SemiBold"/>
                <a:cs typeface="Poppins SemiBold"/>
              </a:rPr>
              <a:t>3. Мінімакс: W⁺=minᵧ∈Y(a) maxₓ∈X(a) W(a,x,y)</a:t>
            </a:r>
          </a:p>
        </p:txBody>
      </p:sp>
    </p:spTree>
    <p:extLst>
      <p:ext uri="{BB962C8B-B14F-4D97-AF65-F5344CB8AC3E}">
        <p14:creationId xmlns:p14="http://schemas.microsoft.com/office/powerpoint/2010/main" val="1880144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5f2ccd9be4d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2F1C2F-9B59-4784-8DCF-3D08BF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1454"/>
            <a:ext cx="1974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42CF8-F2A1-4021-9C26-CDB7FCE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301454"/>
            <a:ext cx="4491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149AD8-FC3A-4F37-AC20-8F3B180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301454"/>
            <a:ext cx="4563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AA8B4-D729-483C-93FF-0541F5B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9027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BC0F8B-C450-4BD4-AEA5-3FF6EF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889027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C334AF-9DAA-4243-B4B8-B8602F6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889027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BE82E-D553-466B-BC2A-5A3507E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62313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541DD9-1E74-48A4-B048-1F7319E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4462313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7B760-73C6-4423-A42C-8C8DB7E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4462313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E293B"/>
                </a:solidFill>
                <a:latin typeface="Poppins"/>
                <a:ea typeface="Poppins"/>
                <a:cs typeface="Poppins"/>
              </a:defRPr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Порівняння моделей невизначеності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3905250"/>
              </a:tblGrid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</a:rPr>
                        <a:t>Підхід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</a:rPr>
                        <a:t>Як подано невідоме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</a:rPr>
                        <a:t>Критерій або гарантія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Детермінована модель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Усі параметри a задані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maxₓ∈X(a) W(a,x)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Стохастична модель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ξ має відомий розподіл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maxₓ∈X(a) Eξ[W(a,x,ξ)]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Імовірнісне обмеження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Контролюємо ризик перевищення t₀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Pξ{T(a,x,ξ)≤t₀}≥β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Теорія ігор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Суперник цілеспрямовано обирає 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maxₓ minᵧ W; minᵧ maxₓ W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63C4-412A-4DFC-9B6D-57354C8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425" b="1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</a:rPr>
              <a:t>Вибір моделі визначає спосіб врахування невідомого: фіксовані умови, розподіл ξ або цілеспрямована відповідь y.</a:t>
            </a: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3128c181c45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Карта основних задач і підходів ДО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63C4-412A-4DFC-9B6D-57354C8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4572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47857"/>
                </a:solidFill>
              </a:defRPr>
            </a:pPr>
            <a:r>
              <a:rPr sz="1088" b="1">
                <a:solidFill>
                  <a:srgbClr val="047857"/>
                </a:solidFill>
              </a:rPr>
              <a:t>IP — цілочислове програмування; MILP — змішане цілочислове лінійне програмування. ДП — метод розв’язання багатоетапних задач.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834E8-FCB4-4370-B83A-B72ED694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24250" y="1619250"/>
            <a:ext cx="25717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19F33-1A2F-4D24-9444-95B9D023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619250"/>
            <a:ext cx="20002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143D3-F9D0-41A1-AFF1-ACA1D14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619250"/>
            <a:ext cx="44767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2271C-02A3-4751-83A7-6B48A84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24000" y="2266950"/>
            <a:ext cx="20002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95D01-6C29-428A-8011-B1620EC6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266950"/>
            <a:ext cx="476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A3F23-E66B-4472-B244-CE4AE23E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266950"/>
            <a:ext cx="204787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3A30A-E352-4906-A355-6B990BBD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19200"/>
            <a:ext cx="2571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ЗАДАЧІ ТА МЕТОДИ ДО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8D2B4-3C11-4CED-84B8-69BEC0C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66900"/>
            <a:ext cx="6191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ОПТИМІЗАЦІЯ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71765-84F4-4CAB-A515-47D1FC86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2428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СТОХАСТИЧНІ СИСТЕМИ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9FDBE1-6A9B-4073-9DC8-164D5815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3336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2400E"/>
                </a:solidFill>
              </a:defRPr>
            </a:pPr>
            <a:r>
              <a:rPr sz="1050" b="1">
                <a:solidFill>
                  <a:srgbClr val="92400E"/>
                </a:solidFill>
              </a:rPr>
              <a:t>РІШЕННЯ ТА ВЗАЄМОДІЯ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C875F-0879-49A4-BE31-B21A8D3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905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72033"/>
                </a:solidFill>
              </a:defRPr>
            </a:pPr>
            <a:r>
              <a:rPr sz="788" b="1">
                <a:solidFill>
                  <a:srgbClr val="172033"/>
                </a:solidFill>
              </a:rPr>
              <a:t>МАТЕМАТИЧНЕ ПРОГРАМУВАННЯ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02836-B9EC-4ED0-BB8E-1356345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ЛП — загальна модель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7E6642-0CD1-4520-BC5B-02B0C4C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↳ транспортна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D6189F-BA0F-4621-9063-4D41D33A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24275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↳ класичне призначення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26FB0C-62A7-478E-8264-8F0AA84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3385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нелінійне програмування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B8E125-D960-4AF5-A65C-72FA441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905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72033"/>
                </a:solidFill>
              </a:defRPr>
            </a:pPr>
            <a:r>
              <a:rPr sz="788" b="1">
                <a:solidFill>
                  <a:srgbClr val="172033"/>
                </a:solidFill>
              </a:rPr>
              <a:t>ДИСКРЕТНА / КОМБІНАТОРНА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8F9C0F-C26B-42DC-9D8E-4F351294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72033"/>
                </a:solidFill>
              </a:defRPr>
            </a:pPr>
            <a:r>
              <a:rPr sz="788" b="1">
                <a:solidFill>
                  <a:srgbClr val="172033"/>
                </a:solidFill>
              </a:rPr>
              <a:t>IP: x∈ℤ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3A9FE-3EE0-440A-A6DF-E294FA9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MILP: x∈ℤ, y∈ℝ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58DA27-F194-4AFA-AE5C-5734D6B8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24275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розклади / scheduling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25528D-577C-4D82-BE2C-783C673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3385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packing · facility · knapsack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A160E-F6D9-4BE0-A8E1-F62AE91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1905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МЕРЕЖЕВА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008488-9619-44CD-9B23-1A25D47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найкоротший шлях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D6578F-D41D-4EF8-839A-FA6A1208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1470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max / min-cost 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0613F3-CC3D-4CE2-AE26-7AEEDACB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24275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transport · assignment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B92160-27E1-4A1C-A310-E8BA0A6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3385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CPM / PERT · Steiner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C7EFD9-5588-48A6-BB5C-DF25880A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21431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ВИПАДКОВІ ПРОЦЕСИ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108A20-07F7-4E7E-A941-5AA3B4B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марковські моделі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757533-305E-42AD-8354-65650D5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теорія черг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991188-C7D1-4F4D-B9CE-53FFE930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24275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запаси / надійність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96F886-1955-4313-BAFC-1EAFD94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імітація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6BB144-8E0B-4AA9-894F-5409765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стохастична / робастна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467057-325F-4D35-BF00-10CA7E0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21431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ВИБІР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3C1970-59B9-465F-AAC2-3B005AF1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05125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багатокритеріальна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6FAFBB-B791-43AA-B931-7F1F74B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теорія ігор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913869-04AA-47CD-AF73-E766DEBF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24275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ігри з природою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8E4A3A-7C33-4A8B-A745-06B71BDC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2143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сценарний аналіз</a:t>
            </a: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1a4185a58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2F1C2F-9B59-4784-8DCF-3D08BF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1454"/>
            <a:ext cx="1974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42CF8-F2A1-4021-9C26-CDB7FCE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301454"/>
            <a:ext cx="4491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149AD8-FC3A-4F37-AC20-8F3B180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301454"/>
            <a:ext cx="4563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AA8B4-D729-483C-93FF-0541F5B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9027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BC0F8B-C450-4BD4-AEA5-3FF6EF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889027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C334AF-9DAA-4243-B4B8-B8602F6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889027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BE82E-D553-466B-BC2A-5A3507E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62313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541DD9-1E74-48A4-B048-1F7319E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4462313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7B760-73C6-4423-A42C-8C8DB7E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4462313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Класифікація задач ДО: чотири незалежні осі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3905250"/>
              </a:tblGrid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</a:rPr>
                        <a:t>Ознака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</a:rPr>
                        <a:t>Варіанти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</a:rPr>
                        <a:t>Що змінюється у формулі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Мета аналізу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пряма / обернена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обчислити W(x) / знайти x*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Знання умов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детермінована / невизначена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W(a,x) / W(a,x,ξ)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Кількість цілей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одна / багато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скаляр W / вектор 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Межа об’єкта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локальна / системна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C5D78"/>
                          </a:solidFill>
                        </a:rPr>
                        <a:t>X і W підсистеми / всієї системи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63C4-412A-4DFC-9B6D-57354C8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47857"/>
                </a:solidFill>
              </a:defRPr>
            </a:pPr>
            <a:r>
              <a:rPr sz="1500" b="1">
                <a:solidFill>
                  <a:srgbClr val="047857"/>
                </a:solidFill>
              </a:rPr>
              <a:t>Ці осі перетинають усі математичні класи: мережева задача може бути стохастичною, багатокритеріальною й оберненою.</a:t>
            </a: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dc6579d4140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0b3ba060249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Є 100 CPU-од. і 80 RAM-од. Сервіс A споживає (2;1) та дає 8 користі; B — (1;2) та дає 6.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НЕПЕРЕРВНІ ОБСЯГИ</a:t>
            </a:r>
          </a:p>
        </p:txBody>
      </p:sp>
      <p:pic>
        <p:nvPicPr>
          <p:cNvPr id="3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2d529d2bb4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xA,xB≥0 — обсяги запуску сервісів A і B.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2xA+xB≤100; xA+2xB≤80.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Максимізувати 8xA+6xB.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ЛП · Неформально: поділити обмежений ресурс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68ea45cf94e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68ea45cf94e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68ea45cf94e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06492-3AE8-4E1B-AD85-44B69E8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47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100 CPU-годин  ·  80 GB 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8D0FA-C52A-4EFB-B140-25223285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5715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CF725-66B1-47C2-80BA-3C82D631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1952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Сервіс A · xA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2 CPU + 1 RAM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користь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84DDD-DB43-4746-95FB-E0CC2422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1952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Сервіс B · xB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1 CPU + 2 RAM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користь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8AA0A-0E85-4569-85E4-C822FBAF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Неперервні обсяги: xA,xB ≥ 0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e9ef986b2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c2476ee0f4d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У загальній формулі обираємо x∈ℝⁿ, ℛξ=Id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e8b222d3e4b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x=(xA,xB)∈ℝ²₊ — неперервні обсяги.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X={x≥0: 2xA+xB≤100; xA+2xB≤80}.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W(x)=8xA+6xB → max.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ЛП · Формально: лінійні W та X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3518cf2f2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3518cf2f2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3518cf2f2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A64CE-EB23-4CF0-8A65-3A644345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EA0E6-ADD4-4352-80D2-5408D86F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66A14-DDA7-40EA-B8ED-14DDE5D4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max   8xA + 6xB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2xA+xB≤100;  xA+2xB≤80;  xA,xB≥0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21525-6377-4BB4-82AD-05D2EF8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a=(100,80; 2,1; 1,2), ξ немає; x неперервне ⇒ детермінована задача ЛП.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2e9c6940c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41cb4689240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Як доставити 100 ТБ із трьох DC у чотири регіони?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СПЕЦІАЛЬНА МЕРЕЖЕВА ЗАДАЧА ЛП · НЕПЕРЕРВНИЙ ПОТІК</a:t>
            </a:r>
          </a:p>
        </p:txBody>
      </p:sp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16242c5fe47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Рішення: xᵢⱼ — скільки ТБ передати з DC i до регіону j.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Запаси DC: 40, 35, 25; попит регіонів: 20, 30, 25, 25 ТБ.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сумарну вартість за матрицею cᵢⱼ.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Транспортна задача · Неформально: джерела → споживачі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aee2ad24e4c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aee2ad24e4c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aee2ad24e4c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26335-228B-490F-AD29-3A26A3EA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42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Вартість cᵢⱼ за 1 ТБ · запаси s=(40,35,25)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EB067-9CDD-4A26-959E-D13C673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6381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R1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FFA71-654A-4993-9AA7-2EAC3348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52750"/>
            <a:ext cx="6381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R2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38277-2654-4DD9-8B60-D2EE03F6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6381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R3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016D3-43E3-475A-BF54-71D5095D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52750"/>
            <a:ext cx="6381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R4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7B2EB-6298-40F8-A7AD-B5824017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7429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DC1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B3DB7-9C12-424E-A120-06484D91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BAE7B-15E6-41F4-A0F1-C17BB0DA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7662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FE563-6453-473E-821B-E9B910D4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7662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2A173-9EC3-43C8-B0E9-67F60C83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7662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50EDF-DB14-4A1D-A933-193ED915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7429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DC2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35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70F19-1A4B-4238-96FD-79D80C0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9550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9F014-ADD1-4B01-89DF-84B7162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19550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06099-6BEB-478B-969C-0A329381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9550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905A2-35FD-4408-A5D4-BECB6BF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019550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E8AC3-FDA0-44A9-8DA5-95B7D463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62475"/>
            <a:ext cx="7429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DC3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F9FC80-6098-447D-A3AF-D75EF496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6247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7C234E-AFFD-4B1C-9FCD-AD474A2D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6247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87627-BB65-4993-8409-9504EF7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6247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F2E5A-6864-46C2-89A6-D02033D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562475"/>
            <a:ext cx="6381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60F683-8FD1-4F52-9252-F3FF0075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4338CA"/>
                </a:solidFill>
              </a:defRPr>
            </a:pPr>
            <a:r>
              <a:rPr sz="1088" b="1">
                <a:solidFill>
                  <a:srgbClr val="4338CA"/>
                </a:solidFill>
              </a:rPr>
              <a:t>Σsᵢ = Σdⱼ = 100 ТБ: задача збалансована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6e68dab004c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7bba4681d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Спеціалізація ЛП: x — матриця невід’ємних потоків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5267af1f640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xᵢⱼ≥0 — обсяг перевезення / передавання.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Σⱼxᵢⱼ=sᵢ; Σᵢxᵢⱼ=dⱼ; Σsᵢ=Σdⱼ=100.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W(x)=ΣᵢΣⱼcᵢⱼxᵢⱼ → min.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Транспортна задача · Формально: баланс supply–demand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ec09d81984d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ec09d81984d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ec09d81984d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B1730-D5D1-43BD-A114-C749F052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B4E32-65AE-4CB4-BF31-E8BDABBF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404E4-F088-4F54-BBAB-32A582FC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min   ΣᵢΣⱼ cᵢⱼxᵢⱼ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Σⱼxᵢⱼ=sᵢ;  Σᵢxᵢⱼ=dⱼ;  xᵢⱼ≥0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BE401-1B24-4A09-AE94-22EDA00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ЛП + мережевий баланс. Якщо sᵢ=dⱼ=1 і xᵢⱼ∈{0,1}, отримуємо класичне призначення.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01c7d563249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632afa95b43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4 роботи J1–J4 треба виконати на 4 серверах S1–S4; матриця показує час у хвилинах.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ДИСКРЕТНИЙ ВИБІР</a:t>
            </a:r>
          </a:p>
        </p:txBody>
      </p:sp>
      <p:pic>
        <p:nvPicPr>
          <p:cNvPr id="5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ae258b9d64d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xᵢⱼ=1, якщо роботу Ji виконує сервер Sj.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Кожній роботі — один сервер; кожному серверу — одна робота.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сумарний час усіх чотирьох призначень.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Призначення · Неформально: об’єкт → виконавець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10d8b9265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10d8b9265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10d8b9265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DC946-2C75-4529-8504-080563E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146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Вартість cᵢⱼ: Job i → Server j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8C908-5E22-4BD5-AA3B-2F860F6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S1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EB124-CB72-4D0A-8DCA-C01F59D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S2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2C98E-205B-4AF6-A7AB-83217E6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28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S3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FF3FC-CEB5-4200-9759-C13B03E9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28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S4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3C927-F196-46EB-A46F-A7B3A96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623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J1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9AF34-52BD-44F5-B0F1-403CA93B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5E8CF-8F33-4CB4-8BF2-065EEC1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D284E-0E88-475D-994D-4094B625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DABCA-F493-4ABF-B388-66E7C4EA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3375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AE5FC-FF82-461D-AA48-06021A5C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J2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E22C6-26E5-4DFA-9FD4-EAAFA7DD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3857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7BB5E-5A63-4B6D-850F-69ECDC5E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3857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9D495-5CAD-44BD-8D02-1567744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3857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B6E90-8A37-4495-B150-8A468A17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CC560-F827-43FD-B871-4CFB4B0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71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J3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762FBE-79A6-43C3-A962-E5DA3653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42601-C983-4525-B000-5C4300C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B1B09F-59E5-4399-8B36-4C4F6224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4340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87D81-8D0A-463D-AB23-6937A8D5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43400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4210CB-2523-4CAF-B0C8-38179E7B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J4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D3EF7-5239-457C-A575-8502DC3D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4822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ABF26A-376C-40D9-9B91-2ECEB2E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4822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0E7F44-CAF7-44BE-81B2-4285A68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4822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4C5D78"/>
                </a:solidFill>
              </a:defRPr>
            </a:pPr>
            <a:r>
              <a:rPr sz="1125" b="0">
                <a:solidFill>
                  <a:srgbClr val="4C5D78"/>
                </a:solidFill>
              </a:rPr>
              <a:t>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82D5E3-3BF7-4100-85EA-4F7D2FB1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48225"/>
            <a:ext cx="57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0AEABF-C4B1-4174-87BD-DF8C6411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292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1↔1: спеціальний випадок транспортної задачі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f71ea8ce14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17c5b991c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x у загальній формулі стає матрицею 0–1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d4ffa13c7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xᵢⱼ∈{0,1}, i,j=1…4.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Σⱼxᵢⱼ=1 для всіх i; Σᵢxᵢⱼ=1 для всіх j.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W(x)=ΣᵢΣⱼcᵢⱼxᵢⱼ → min.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Призначення · Формально: бінарна матриця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35eb43968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35eb43968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35eb43968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2F81D-2A4F-4B1F-9B54-5E53940F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2D024-B3F3-4BE1-87FA-7DA842CB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06978-1636-4B69-894E-7000ABCF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min   ΣᵢΣⱼ cᵢⱼxᵢⱼ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Σⱼxᵢⱼ=1;  Σᵢxᵢⱼ=1;  xᵢⱼ∈{0,1}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A0EF6-34D5-450F-9679-39428B18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Класичне 1↔1 — збалансована транспортна задача. VM/Pod placement з capacity — generalized assignment / bin packing (MILP).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103df24e4a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26486838d45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Передати 12 Гбіт/с від s до t. На кожному ребрі задано ціну c та місткість u як c/u.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ГРАФ І БАЛАНС ПОТОКУ</a:t>
            </a:r>
          </a:p>
        </p:txBody>
      </p:sp>
      <p:pic>
        <p:nvPicPr>
          <p:cNvPr id="5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87b8b92ff4c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fᵢⱼ — трафік на кожному каналі мережі.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0≤fᵢⱼ≤uᵢⱼ; у проміжному вузлі вхідний потік дорівнює вихідному.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сумарну ціну передачі 12 Гбіт/с.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Мережа · Неформально: провести потік через граф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2a5f68d2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2a5f68d2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2a5f68d2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117BF-1C0E-49E6-A4B7-868329BF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8500" y="2809875"/>
            <a:ext cx="104775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46B9F-0486-4E61-9192-2A2C0A4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3713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2/8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48FC2-13B2-402B-A9C1-B7DB2C8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0" y="3619500"/>
            <a:ext cx="104775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3E6C4-9341-4BF6-BFC6-C4847CC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3/6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5B126-94CD-4923-9E4E-8C3AC5D4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2809875"/>
            <a:ext cx="13335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D1651-BE42-462F-B133-E336AD72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95588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2/5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421A6-BE87-4036-92D4-52445D5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2809875"/>
            <a:ext cx="133350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20328-AA2C-4739-8C16-C3491AF5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90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4/3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29C77-6A2C-46DC-9AD7-AD8C2F1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0" y="3143250"/>
            <a:ext cx="133350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E4FE5-2540-4B8C-BF27-4806633A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290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3/4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725D1-BE77-4117-A6E3-68D5095B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0" y="4333875"/>
            <a:ext cx="133350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B3CBD-2C09-4227-914C-CB1ECFA8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24338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2/9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DEC6D3-DD04-485A-AB89-AFA84D4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9750" y="3143250"/>
            <a:ext cx="12382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A95BF-83B8-4636-9BD6-1CCD26B1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1/7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701A2C-7908-41F8-8D0E-60B7DEDB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29750" y="3619500"/>
            <a:ext cx="123825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A3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BB751-6D71-4FA0-B10D-B9E98F7C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95713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2/8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CFC48-31C8-45A2-9068-BA63536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62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83F306-BE3E-4DAF-A362-0AD2854D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52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A14B3-111E-40C1-8B41-42D010B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19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A8A283-A042-4AC6-BBFD-38EE0BD4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860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19EB9B-AB76-4B8E-A970-491429F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FF939E-2EE3-4899-8E6A-1A75A7D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362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2D3CDF-C256-4B82-B63D-14B6B1F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95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4338CA"/>
                </a:solidFill>
              </a:defRPr>
            </a:pPr>
            <a:r>
              <a:rPr sz="1088" b="1">
                <a:solidFill>
                  <a:srgbClr val="4338CA"/>
                </a:solidFill>
              </a:rPr>
              <a:t>Мітка ребра c/u = ціна / місткість · передати 12 Гбіт/с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d21f57fc7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2d2aca5294c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x стає потоком f на ребрах 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b8404b10e48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f=(fᵢⱼ) — неперервний потік на ребрах 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Bf=d, де dₛ=12, dₜ=−12; 0≤f≤u.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W(f)=Σ(i,j)∈E cᵢⱼfᵢⱼ → min.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Мережеві потоки · Формально: баланс на графі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22ec3ac1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22ec3ac1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22ec3ac1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04826-A02B-4FAD-9930-7A6270D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CF2F5-A630-4ABC-954C-9D37A87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D9D0A-6904-48BB-932D-2C82FECF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min   Σ(i,j)∈E cᵢⱼfᵢⱼ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Bf=d;  dₛ=12; dₜ=−12;  0≤fᵢⱼ≤uᵢⱼ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53E85-4EDA-4195-8014-D8F4F35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Ті самі балансові рівняння породжують shortest path, max-flow, transport і transshipment.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6720a55104d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620ba216645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/>
            </a:pPr>
            <a:r>
              <a:rPr sz="120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5 процесів з p=(3,5,2,4,1) виконуються на 2 CPU; залежності P1→P3→P5 та P2→P4.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ПОРЯДОК І ЧАС</a:t>
            </a:r>
          </a:p>
        </p:txBody>
      </p:sp>
      <p:pic>
        <p:nvPicPr>
          <p:cNvPr id="4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df79e6d12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Обрати CPU, порядок і час старту sᵢ для кожного процесу.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Процеси на одному CPU не перекриваються; виконуються дві задані precedence-ланки.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Cmax — час завершення останнього процесу.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Розклади · Неформально: хто, коли і на якому CPU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90dbbad3a48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90dbbad3a48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90dbbad3a48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CF352-95BE-497F-87EB-A86411E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C5D78"/>
                </a:solidFill>
              </a:defRPr>
            </a:pPr>
            <a:r>
              <a:rPr sz="1125" b="1">
                <a:solidFill>
                  <a:srgbClr val="4C5D78"/>
                </a:solidFill>
              </a:rPr>
              <a:t>CPU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9FF3F-9CC3-4573-8E59-0EC35C5A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C5D78"/>
                </a:solidFill>
              </a:defRPr>
            </a:pPr>
            <a:r>
              <a:rPr sz="1125" b="1">
                <a:solidFill>
                  <a:srgbClr val="4C5D78"/>
                </a:solidFill>
              </a:rPr>
              <a:t>CPU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C1D1D-636F-4107-A64B-D67D3F9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3190875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3F4C5-91A1-4A2C-BA90-8AA3371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4238625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1D021-59EA-40E3-9745-7B953074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114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548E8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C30AE-B635-4E01-9D07-3197FA6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714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45A67-90ED-48FB-A0F9-A71EB736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857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B5F5D-C506-42E0-BD7A-ED2A5719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1905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00728-8859-4757-A7FC-7546224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548E8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5F97B-1D84-4379-B540-EF640DDD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C5D78"/>
                </a:solidFill>
              </a:defRPr>
            </a:pPr>
            <a:r>
              <a:rPr sz="900" b="0">
                <a:solidFill>
                  <a:srgbClr val="4C5D78"/>
                </a:solidFill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D93DD-8F79-41F0-8FDD-B52BB7F0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C5D78"/>
                </a:solidFill>
              </a:defRPr>
            </a:pPr>
            <a:r>
              <a:rPr sz="900" b="0">
                <a:solidFill>
                  <a:srgbClr val="4C5D78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C1DDD-E016-4496-8A1C-02629D1E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C5D78"/>
                </a:solidFill>
              </a:defRPr>
            </a:pPr>
            <a:r>
              <a:rPr sz="900" b="0">
                <a:solidFill>
                  <a:srgbClr val="4C5D78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0C804B-AACD-4B4E-BC8F-4111B851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C5D78"/>
                </a:solidFill>
              </a:defRPr>
            </a:pPr>
            <a:r>
              <a:rPr sz="900" b="0">
                <a:solidFill>
                  <a:srgbClr val="4C5D78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B56BF-9ADD-4EBB-85FC-D8B170CA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76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C5D78"/>
                </a:solidFill>
              </a:defRPr>
            </a:pPr>
            <a:r>
              <a:rPr sz="900" b="0">
                <a:solidFill>
                  <a:srgbClr val="4C5D78"/>
                </a:solidFill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42B2FA-C5FF-4B55-AACD-DC9BE389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C5D78"/>
                </a:solidFill>
              </a:defRPr>
            </a:pPr>
            <a:r>
              <a:rPr sz="900" b="0">
                <a:solidFill>
                  <a:srgbClr val="4C5D78"/>
                </a:solidFill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59D79-E1BB-4B01-BAE2-34C63896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05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338CA"/>
                </a:solidFill>
              </a:defRPr>
            </a:pPr>
            <a:r>
              <a:rPr sz="1050" b="1">
                <a:solidFill>
                  <a:srgbClr val="4338CA"/>
                </a:solidFill>
              </a:rPr>
              <a:t>p=(3,5,2,4,1) · P1→P3→P5 · P2→P4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4338CA"/>
                </a:solidFill>
              </a:defRPr>
            </a:pPr>
            <a:r>
              <a:rPr sz="1050" b="1">
                <a:solidFill>
                  <a:srgbClr val="4338CA"/>
                </a:solidFill>
              </a:rPr>
              <a:t>мета: мінімізувати Cmax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265a03d3d4c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b84b52c1d40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x містить бінарні призначення та start times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afc0fbe22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xᵢₖ∈{0,1}; sᵢ≥0; p=(3,5,2,4,1).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Σₖxᵢₖ=1; no-overlap; s3≥s1+3; s5≥s3+2; s4≥s2+5.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Cmax≥sᵢ+pᵢ; Cmax→min.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Розклади: формальна модель призначення і часу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a0343393d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a0343393d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a0343393d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2D738-8141-462D-A445-DF21210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02592-7301-47D6-8462-4C8C949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5A720-63ED-4A2B-A238-B53299B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min Cmax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Σₖxᵢₖ=1; precedence; no-overlap; Cmax≥sᵢ+pᵢ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F6230-A861-492A-BBC5-9807FECB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Дискретне призначення + порядок + неперервний час ⇒ комбінаторна scheduling-модель.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a3a3dbcda4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3E17AE3-CFB0-4BED-BED7-F034F4A0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/>
            </a:pPr>
            <a:r>
              <a:rPr sz="19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LP, IP, MILP і ДП: що саме означають скорочення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8813511-DDDE-4A86-A6B8-CF3BA36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143250"/>
                <a:gridCol w="1571625"/>
                <a:gridCol w="1571625"/>
                <a:gridCol w="1619250"/>
              </a:tblGrid>
              <a:tr h="585107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Структура x і X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Критерій W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Клас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Невизначеність ξ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IT-приклад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x∈ℝⁿ, Ax≤b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cᵀx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ЛП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xᵢⱼ≥0 + баланс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Σcᵢⱼxᵢⱼ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транспортна ЛП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можлива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DC → Region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xᵢⱼ∈{0,1}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Σcᵢⱼxᵢⱼ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assignment / MILP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можлива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Job/VM → Node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потік f, Bf=d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cᵀf або F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мережевий потік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λ, відмови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routing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time / queue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Cmax або E[Wq]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розклад / СМО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час, arrivals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CPU / канал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policy / vector / player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Bellman; Pareto; minimax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динамічна / рішення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явна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scale / SLA / security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C5A81-2030-42B1-BFE9-D1C58C9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C5D78"/>
                </a:solidFill>
              </a:defRPr>
            </a:pPr>
            <a:r>
              <a:rPr sz="1275" b="0">
                <a:solidFill>
                  <a:srgbClr val="4C5D78"/>
                </a:solidFill>
              </a:rPr>
              <a:t>Клас визначає не предметна назва задачі, а математична структура x, X, W та 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817C7-03E2-4F4C-9912-5E78EF5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DEBA1-4E16-4DA0-AC83-BCD3D095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LP · ЛІНІЙНЕ ПРОГРАМУВАННЯ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x∈ℝⁿ; лінійні ціль і обмеження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Приклад: транспортна задача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5798A-27BD-4DB2-A0C7-DC0CC0C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IP · ЦІЛОЧИСЛОВЕ ПРОГРАМУВАННЯ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x∈ℤⁿ або x∈{0,1}ⁿ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Приклад: призначити Pod на 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3700D-17C6-4FE8-B035-BD65FD1F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5238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72033"/>
                </a:solidFill>
              </a:defRPr>
            </a:pPr>
            <a:r>
              <a:rPr sz="1163" b="1">
                <a:solidFill>
                  <a:srgbClr val="172033"/>
                </a:solidFill>
              </a:rPr>
              <a:t>MILP · ЗМІШАНЕ ЦІЛОЧИСЛОВЕ ЛП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172033"/>
                </a:solidFill>
              </a:defRPr>
            </a:pPr>
            <a:r>
              <a:rPr sz="1163" b="1">
                <a:solidFill>
                  <a:srgbClr val="172033"/>
                </a:solidFill>
              </a:rPr>
              <a:t>частина змінних — цілі, частина — неперервні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172033"/>
                </a:solidFill>
              </a:defRPr>
            </a:pPr>
            <a:r>
              <a:rPr sz="1163" b="1">
                <a:solidFill>
                  <a:srgbClr val="172033"/>
                </a:solidFill>
              </a:rPr>
              <a:t>Приклад: увімкнути сервер + розподілити CPU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C1302-284A-4B4C-9976-1533213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38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ДП · ДИНАМІЧНЕ ПРОГРАМУВАННЯ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метод: стан → дія → наступний стан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Приклади: рюкзак, shortest path, MDP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71642-E59D-4AA3-8AE4-BC2C6FCB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LP / IP / MILP — класи моделей. ДП — принцип і метод розв’язання; інколи ту саму задачу можна подати і як LP/MILP.</a:t>
            </a:r>
          </a:p>
        </p:txBody>
      </p:sp>
    </p:spTree>
    <p:extLst>
      <p:ext uri="{BB962C8B-B14F-4D97-AF65-F5344CB8AC3E}">
        <p14:creationId xmlns:p14="http://schemas.microsoft.com/office/powerpoint/2010/main" val="7010332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7fff9ac3b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2d063cd544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/>
            </a:pPr>
            <a:r>
              <a:rPr sz="120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Роботи, дні: A вимоги—3; B архітектура—4; C backend—6; D frontend—5; E інтеграція—3; F тестування—4; G deployment—1.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СІТЬОВЕ ПЛАНУВАННЯ · ВІДОМІ ТРИВАЛОСТІ</a:t>
            </a:r>
          </a:p>
        </p:txBody>
      </p:sp>
      <p:pic>
        <p:nvPicPr>
          <p:cNvPr id="6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dbd5cee042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Пряма задача: обчислити ранні строки, критичний шлях і резерв робіт.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Залежності: A→B; B→C,D; C,D→E; E→F; F→G.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Визначити найраніший строк завершення всього релізу.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CPM · Неформально: критичний шлях проєкту розробки ПЗ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c63ac3d414d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c63ac3d414d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c63ac3d414d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00EEC-CC17-41E1-95CE-1AE786E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619500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A2766A-B61C-477F-9C39-54F2C6FC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20000" y="2714625"/>
            <a:ext cx="10953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1B04E1-A73E-4290-B47A-98E57802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3619500"/>
            <a:ext cx="109537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08C797-CCF4-4C24-99E8-1193992F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5375" y="2714625"/>
            <a:ext cx="10953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7877EF-F03C-4189-81F4-625A5012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15375" y="3619500"/>
            <a:ext cx="109537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31101C-2960-4D29-AAE7-52915151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10750" y="36195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77545A-2468-4C1E-A07A-9A3CF1CA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3619500"/>
            <a:ext cx="76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74DA60-CF21-4448-AC9D-555F4E3D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A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3C4B2C-1F0A-45C8-8235-D2A5F0BD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B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B8B040-AD35-42BC-B4F3-E65EDC8F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C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F698F-BF55-468C-9770-A832D604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D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4560FE-49E9-4930-9039-E0B8ECE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26833C-1E33-4840-AEBE-6D89FD2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F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CDE6BD-EAD6-498E-905E-111FFBA4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G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92294C-E4AD-4BD2-B30C-7AE972C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Критичний шлях виділено індиго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31C2FA-5E20-4C56-A4A8-5654AC7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4338CA"/>
                </a:solidFill>
              </a:defRPr>
            </a:pPr>
            <a:r>
              <a:rPr sz="1013" b="1">
                <a:solidFill>
                  <a:srgbClr val="4338CA"/>
                </a:solidFill>
              </a:rPr>
              <a:t>A–B–C–E–F–G = 21 день · A–B–D–E–F–G = 20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3ef9d571643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7c7758b0a45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/>
            </a:pPr>
            <a:r>
              <a:rPr sz="13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Змінні tᵢ — найраніші моменти початку робіт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7bcb1f561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tA=0; d=(3,4,6,5,3,4,1).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Для кожної дуги i→j: tⱼ−tᵢ≥dᵢ.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T≥tG+1; знайти мінімальне допустиме 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CPM: формальна модель критичного шляху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6dc59de3f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6dc59de3f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6dc59de3f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2D738-8141-462D-A445-DF21210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CPM: longest path у DAG  ⇔  мережева 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02592-7301-47D6-8462-4C8C949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5A720-63ED-4A2B-A238-B53299B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min 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tA=0;  tⱼ−tᵢ≥dᵢ  ∀(i,j)∈E;  T≥tG+1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F6230-A861-492A-BBC5-9807FECB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Оптимум T*=21. Критичний шлях A–B–C–E–F–G; шлях через D має резерв 1 день.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C494F-0677-485A-AAFB-4E57BE5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152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181E4-3B44-4F1D-ABA2-E7BEAC44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CPM: формальна модель критичного шляху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d48ed80d544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34db3d4244d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/>
            </a:pPr>
            <a:r>
              <a:rPr sz="120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Для робіт A–G задано три оцінки тривалості: оптимістичну a, найбільш імовірну m та песимістичну b.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СТОХАСТИЧНА МЕРЕЖЕВА МОДЕЛЬ · ТРИ ОЦІНКИ</a:t>
            </a:r>
          </a:p>
        </p:txBody>
      </p:sp>
      <p:pic>
        <p:nvPicPr>
          <p:cNvPr id="6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0548b393c4e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Обчислити очікувані тривалості робіт і очікуваний критичний шлях.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Трійки: A 2/3/4; B 3/4/8; C 4/6/10; D 3/5/9; E 2/3/4; F 3/4/7; G 1/1/1.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Оцінити ймовірність завершення проєкту не пізніше 24-го дня.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PERT · Неформально: оцінити ризик строку релізу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c1c613f9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c1c613f9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c1c613f9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680684-B73D-424F-8ED1-C6B92AF6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619500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231E45-079D-4F4F-BEA1-915EC8AB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20000" y="2714625"/>
            <a:ext cx="10953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0A2A04-9318-4001-BC5E-D67F0D35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3619500"/>
            <a:ext cx="109537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908447-E2C5-4780-A6A7-08019441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5375" y="2714625"/>
            <a:ext cx="10953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FB7B6C-DD9E-4958-B890-F75BB0B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15375" y="3619500"/>
            <a:ext cx="109537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FAE1EA-D685-4AF4-BC21-EB180C8F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10750" y="36195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AA7B8F-923D-4F8A-A30F-BBF63D5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3619500"/>
            <a:ext cx="76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0EA2A8-4BA3-4FF6-86D4-96A9C44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A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2/3/4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511778-6B34-4D78-85A4-87F7AF90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B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3/4/8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DB02F-02FB-471C-87A8-56DEE40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C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4/6/10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F62CF8-D543-4F3B-A079-052B31BA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D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3/5/9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935209-E73B-4D79-90EA-59BD2B93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E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2/3/4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A6BDC4-8531-4BB0-BB81-F1791F6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F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3/4/7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32ED3C-2A0A-4C23-BE9D-CC1B266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32422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G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1/1/1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7D4564-E8CC-4177-86A2-1A899D53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Три оцінки роботи: a / m / b, дні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94178C-BC42-4443-ACD8-E0FE3F34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4338CA"/>
                </a:solidFill>
              </a:defRPr>
            </a:pPr>
            <a:r>
              <a:rPr sz="1013" b="1">
                <a:solidFill>
                  <a:srgbClr val="4338CA"/>
                </a:solidFill>
              </a:rPr>
              <a:t>A — вимоги · B — архітектура · C/D — backend/frontend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4338CA"/>
                </a:solidFill>
              </a:defRPr>
            </a:pPr>
            <a:r>
              <a:rPr sz="1013" b="1">
                <a:solidFill>
                  <a:srgbClr val="4338CA"/>
                </a:solidFill>
              </a:rPr>
              <a:t>E — інтеграція · F — тестування · G — deployment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04f4b8efd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ce6ff95064a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/>
            </a:pPr>
            <a:r>
              <a:rPr sz="1313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PERT є прямою стохастичною оцінкою, а не підвидом ЛП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25bf1c5844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Для роботи i:  μᵢ=(aᵢ+4mᵢ+bᵢ)/6.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Дисперсія: σᵢ²=((bᵢ−aᵢ)/6)²; на шляху підсумовуємо μᵢ та σᵢ².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Для строку D=24: z=(24−μCP)/σCP.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PERT: очікуваний час і ризик дедлайну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8812c7892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8812c7892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8812c7892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2D738-8141-462D-A445-DF21210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PERT: випадкові тривалості + мережева структура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02592-7301-47D6-8462-4C8C949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5A720-63ED-4A2B-A238-B53299B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μCP=22,17;  σCP²=2,36;  σCP=1,54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z=(24−22,17)/1,54=1,19;  P{T≤24}≈Φ(1,19)≈0,88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F6230-A861-492A-BBC5-9807FECB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Очікуваний критичний шлях: A–B–C–E–F–G. Нормальна оцінка ≈88% є наближенням.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81529-3A42-45BA-8021-832E43F2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152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58AD30-DFC2-474F-B0D8-9DF124D5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PERT: очікуваний час і ризик дедлайну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87afec69e4b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3E17AE3-CFB0-4BED-BED7-F034F4A0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/>
            </a:pPr>
            <a:r>
              <a:rPr sz="19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Сімейство задач мережевого планування проєкту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8813511-DDDE-4A86-A6B8-CF3BA36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143250"/>
                <a:gridCol w="1571625"/>
                <a:gridCol w="1571625"/>
                <a:gridCol w="1619250"/>
              </a:tblGrid>
              <a:tr h="585107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Структура x і X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Критерій W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Клас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Невизначеність ξ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IT-приклад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x∈ℝⁿ, Ax≤b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cᵀx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ЛП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xᵢⱼ≥0 + баланс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Σcᵢⱼxᵢⱼ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транспортна ЛП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можлива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DC → Region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xᵢⱼ∈{0,1}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Σcᵢⱼxᵢⱼ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assignment / MILP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можлива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Job/VM → Node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потік f, Bf=d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cᵀf або F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мережевий потік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λ, відмови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routing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time / queue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Cmax або E[Wq]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розклад / СМО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час, arrivals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CPU / канал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policy / vector / player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Bellman; Pareto; minimax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динамічна / рішення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явна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scale / SLA / security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C5A81-2030-42B1-BFE9-D1C58C9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C5D78"/>
                </a:solidFill>
              </a:defRPr>
            </a:pPr>
            <a:r>
              <a:rPr sz="1275" b="0">
                <a:solidFill>
                  <a:srgbClr val="4C5D78"/>
                </a:solidFill>
              </a:rPr>
              <a:t>Клас визначає не предметна назва задачі, а математична структура x, X, W та 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41309-4575-4634-BE9D-1FE5B38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8E4CF-211D-4C4D-929A-F1C3728C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CPM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Точні тривалості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Критичний шлях і резерви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longest path / network 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DCDDD-FBBA-4D5B-A2BC-32463D3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Оцінки a / m / b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Очікуваний строк і ризик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стохастична мережа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69E62-8239-4B31-B8DF-689B19A0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 CRASHING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Ціна скорочення робіт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Мінімум вартості за дедлайну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LP або ILP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065BC-E1F3-4910-867F-5FE3E7E5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RCPSP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Обмежені команди й ресурси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Старт, порядок, виконавець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MILP / constraint programming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179BC-C9D9-4543-9B24-62B5648F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ДП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Стан, дія, етап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Оптимальна політика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рекуренція Беллмана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15ECF-4757-46FC-93EF-9720BD96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MONTE CARLO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Розподіли тривалостей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Розподіл строку проєкту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імітаційна перевірка PERT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9A1F2-3EA5-4F10-BEF8-B7C9976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923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4338CA"/>
                </a:solidFill>
              </a:defRPr>
            </a:pPr>
            <a:r>
              <a:rPr sz="1088" b="1">
                <a:solidFill>
                  <a:srgbClr val="4338CA"/>
                </a:solidFill>
              </a:rPr>
              <a:t>CPM може мати точну LP-форму; PERT моделює невизначеність; crashing і RCPSP додають керовані рішення та ресурси.</a:t>
            </a:r>
          </a:p>
        </p:txBody>
      </p:sp>
    </p:spTree>
    <p:extLst>
      <p:ext uri="{BB962C8B-B14F-4D97-AF65-F5344CB8AC3E}">
        <p14:creationId xmlns:p14="http://schemas.microsoft.com/office/powerpoint/2010/main" val="7010332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58f0ef69e49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f10762661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Три джерела дають λ=(30,20,15) пакетів/с; канал μ=80 пакетів/с; буфер B=20.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ВИПАДКОВИЙ ПОТІК ЗАЯВОК</a:t>
            </a:r>
          </a:p>
        </p:txBody>
      </p:sp>
      <p:pic>
        <p:nvPicPr>
          <p:cNvPr id="4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a2ba1281f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Обрати FIFO, priority або WFQ; за потреби змінити μ чи B.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Σλ=65&lt;80; керівні пакети мають пріоритет; SLA: P(Wq&gt;50 мс)≤0,01.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p95 затримки та втрати без зайвої вартості каналу.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Черги · Неформально: заявки очікують на сервіс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79c53cb194e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79c53cb194e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6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79c53cb194e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4BF5E-0428-4DB2-9960-B650438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Три джерела пакетів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5F027-A3A6-458F-A2FB-C878A963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4338CA"/>
                </a:solidFill>
              </a:defRPr>
            </a:pPr>
            <a:r>
              <a:rPr sz="938" b="1">
                <a:solidFill>
                  <a:srgbClr val="4338CA"/>
                </a:solidFill>
              </a:rPr>
              <a:t>λ1=30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97F89-EB44-4DFA-A1F1-EE6E78BB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D9E41-670F-4A52-8820-095AD159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897F8-A1F9-4FB9-918D-309BD66A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DF8C7-A7A5-4E62-A6E4-2AFA7283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EE043-63BD-4AAA-99D4-A9DBE30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338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047857"/>
                </a:solidFill>
              </a:defRPr>
            </a:pPr>
            <a:r>
              <a:rPr sz="938" b="1">
                <a:solidFill>
                  <a:srgbClr val="047857"/>
                </a:solidFill>
              </a:rPr>
              <a:t>λ2=20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6A244-7340-4494-AEC7-F8478F31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7B517-014B-4EA2-8668-49395FA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DC03E-88CA-43BE-8791-84BC95C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F10F4-9C30-4E6C-AF10-BE4DB427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AC9263-EAF2-4014-805D-7520407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24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59E0B"/>
                </a:solidFill>
              </a:defRPr>
            </a:pPr>
            <a:r>
              <a:rPr sz="938" b="1">
                <a:solidFill>
                  <a:srgbClr val="F59E0B"/>
                </a:solidFill>
              </a:rPr>
              <a:t>λ3=15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028C1-2990-45CE-8736-9DAE57B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1D8AB-7D8E-4873-94EA-81E6B456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24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C914CF-6D9A-47E0-94CE-F85997C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24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ACB743-7DC5-426A-B22D-9C75479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549BA5-8E30-4B25-8F05-F79AC94D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62375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3743F3-6F95-44CE-B805-F5BB2AC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1619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Канал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μ=80 пакетів/с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B=20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B49551-F856-4657-965A-7FD6D21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6237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44D8D-F62D-4A72-8948-D4F2145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4C5D78"/>
                </a:solidFill>
              </a:defRPr>
            </a:pPr>
            <a:r>
              <a:rPr sz="1088" b="1">
                <a:solidFill>
                  <a:srgbClr val="4C5D78"/>
                </a:solidFill>
              </a:rPr>
              <a:t>Σλ=65&lt;80 · рішення: FIFO / priority / WFQ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05a1a3096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d23b0d45b4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W обчислюється зі стаціонарного режиму СМО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5b19db94045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x=(μ,B,π), де π — дисципліна черги.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65&lt;μ; B≤20; P{Wq(x,ξ)&gt;0,05}≤0,01.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min c(μ,B)+β·P(loss), за виконання SLA.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Теорія черг · Формально: пряма або обернена задача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d918745df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d918745df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d918745df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71DE4-6BF0-4CD6-8BD6-EE855335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551F5-B2C8-4ABC-BDB1-067DFB6B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DAE36-239A-4590-90DD-36C631E7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min₍μ,B,π₎ c(μ,B)+βP(loss)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65&lt;μ; B≤20; P{Wq&gt;0,05}≤0,01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CEE02-2C85-4264-8D5D-C9E250E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ξ — моменти надходження і service times; пряма СМО оцінює Wq, обернена підбирає capacity/policy.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ebeb744c44e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b97ac50b344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/>
            </a:pPr>
            <a:r>
              <a:rPr sz="120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ІТ-склад споживає D=10 000 SSD на рік. Оформлення замовлення K=500 грн; зберігання h=40 грн за SSD на рік.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EOQ + ТОЧКА ПОВТОРНОГО ЗАМОВЛЕННЯ</a:t>
            </a:r>
          </a:p>
        </p:txBody>
      </p:sp>
      <p:pic>
        <p:nvPicPr>
          <p:cNvPr id="6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4113c3ef847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250 робочих днів: середній попит d=40 SSD/день; строк поставки L=5 днів.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Стандартне відхилення денного попиту σ=8; бажаний рівень обслуговування 95%.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Знайти партію Q і точку повторного замовлення r: мінімум витрат без частого дефіциту.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Запаси · Неформально: коли і скільки замовляти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2d1b52b6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2d1b52b6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2d1b52b6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58812-AF6B-4170-89A7-C5A21AB2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2333625"/>
            <a:ext cx="952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8F5B48-2464-4753-94CF-E2411F6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4762500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37805D-1CB8-4931-8EF4-2A3F67E6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запас I(t)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3935F6-BF80-4650-989B-D0FAEA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101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час 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8A84F7-A744-4B5C-9272-4BB3504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695700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9DE85E-D456-4E83-BDC4-47FE7BE4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71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r ≈ 230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944559-5A42-453D-9442-DE0CB414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2571750"/>
            <a:ext cx="142875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170F22-71E5-44B3-93E5-AC42564A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2571750"/>
            <a:ext cx="9525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5DFC41-9F3F-4734-84AD-D6BD22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2571750"/>
            <a:ext cx="142875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ACC832-09D1-49D1-84BB-5497A95E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715500" y="2571750"/>
            <a:ext cx="9525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84B9A4-DF8F-4E2E-A2EF-38FDCE91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2571750"/>
            <a:ext cx="142875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48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DCCD53-5DF5-4CCA-A6BE-5A145F3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38CA"/>
                </a:solidFill>
              </a:defRPr>
            </a:pPr>
            <a:r>
              <a:rPr sz="975" b="1">
                <a:solidFill>
                  <a:srgbClr val="4338CA"/>
                </a:solidFill>
              </a:rPr>
              <a:t>Q=500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55E3AC-743B-4951-A850-92655216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62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047857"/>
                </a:solidFill>
              </a:defRPr>
            </a:pPr>
            <a:r>
              <a:rPr sz="938" b="1">
                <a:solidFill>
                  <a:srgbClr val="047857"/>
                </a:solidFill>
              </a:rPr>
              <a:t>замовлення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2A55EF-6074-479A-BC4E-F45B7D64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59E0B"/>
                </a:solidFill>
              </a:defRPr>
            </a:pPr>
            <a:r>
              <a:rPr sz="938" b="1">
                <a:solidFill>
                  <a:srgbClr val="F59E0B"/>
                </a:solidFill>
              </a:rPr>
              <a:t>поставка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A7E001-D7A5-49C5-9C67-8658270D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86375"/>
            <a:ext cx="3524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72033"/>
                </a:solidFill>
              </a:defRPr>
            </a:pPr>
            <a:r>
              <a:rPr sz="1013" b="1">
                <a:solidFill>
                  <a:srgbClr val="172033"/>
                </a:solidFill>
              </a:rPr>
              <a:t>Пилообразний запас: при I≤r робимо замовлення Q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456ea3349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b8a19ced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/>
            </a:pPr>
            <a:r>
              <a:rPr sz="13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Рішення x=(Q,r): партія і момент замовлення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284e3d7a9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Q&gt;0; D=10 000/рік; K=500; h=40; d=40/день.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L=5 днів; σ=8/день; z₀․₉₅=1,645.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TC(Q)=KD/Q+hQ/2 → min;  r=dL+zσ√L.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</a:defRPr>
            </a:pPr>
            <a:r>
              <a:rPr sz="1875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Запаси: EOQ і точка повторного замовлення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c857d31f2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c857d31f2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c857d31f2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A9322-F6B2-4F37-A417-CE5F407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формула ДО  →  детермінована EOQ + страховий запас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022C9-2B60-46D9-9578-E3874682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D6455-53C3-4E0F-BC49-750E884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Q*=√(2KD/h)=√(2·500·10 000/40)=500 SSD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r*=40·5+1,645·8√5≈230 SSD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7E2AE-B07D-4C15-83C1-A62D7B0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Замовляємо 500 SSD, коли inventory position знижується до ≈230. Цикл ≈12,5 робочих днів.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14a3a4c1a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16de5c457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Щогодини сервер має стан H, D або F; переходи задані числовою матрицею P.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СТАНИ ТА ПЕРЕХОДИ</a:t>
            </a:r>
          </a:p>
        </p:txBody>
      </p:sp>
      <p:pic>
        <p:nvPicPr>
          <p:cNvPr id="4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aad75cba0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Пряма задача: знайти розподіл станів через t годин і довгострокову availability.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p0=(1,0,0); усі Pᵢⱼ≥0; сума кожного рядка P дорівнює 1.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Обчислити π і availability=πH+πD; окремо оцінити πF.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Марковська модель · Неформально: система переходить між станами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72be1521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72be1521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72be1521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08AEF-A06E-44D4-B3DF-C20BC3CA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Матриця переходів P за 1 годину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38394-256C-4FE3-951D-83404B1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7048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4A65C-6C66-4AAF-BF88-BD70C888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7048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4506B-9562-463F-AF32-F315CC68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7048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76C97-5D29-44C0-9C81-1C07872A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781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H healthy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5EB66-3909-4558-9B43-DC84598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72033"/>
                </a:solidFill>
              </a:defRPr>
            </a:pPr>
            <a:r>
              <a:rPr sz="1013" b="1">
                <a:solidFill>
                  <a:srgbClr val="172033"/>
                </a:solidFill>
              </a:rPr>
              <a:t>0.92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57C34-EC17-4C50-984F-57B7E08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242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172033"/>
                </a:solidFill>
              </a:defRPr>
            </a:pPr>
            <a:r>
              <a:rPr sz="1013" b="0">
                <a:solidFill>
                  <a:srgbClr val="172033"/>
                </a:solidFill>
              </a:rPr>
              <a:t>0.06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BF458-8D02-45C5-BB2E-183C8C64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172033"/>
                </a:solidFill>
              </a:defRPr>
            </a:pPr>
            <a:r>
              <a:rPr sz="1013" b="0">
                <a:solidFill>
                  <a:srgbClr val="172033"/>
                </a:solidFill>
              </a:rPr>
              <a:t>0.02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18DA3-AE07-4EDD-9B0C-95B6BC78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781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D degraded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0FBFF-8940-47CB-9119-6FCD11B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172033"/>
                </a:solidFill>
              </a:defRPr>
            </a:pPr>
            <a:r>
              <a:rPr sz="1013" b="0">
                <a:solidFill>
                  <a:srgbClr val="172033"/>
                </a:solidFill>
              </a:rPr>
              <a:t>0.25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AC299-6E8A-41F6-A86C-D8E69AC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72033"/>
                </a:solidFill>
              </a:defRPr>
            </a:pPr>
            <a:r>
              <a:rPr sz="1013" b="1">
                <a:solidFill>
                  <a:srgbClr val="172033"/>
                </a:solidFill>
              </a:rPr>
              <a:t>0.65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9D0B2D-8ED8-494D-934F-AB6824EC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172033"/>
                </a:solidFill>
              </a:defRPr>
            </a:pPr>
            <a:r>
              <a:rPr sz="1013" b="0">
                <a:solidFill>
                  <a:srgbClr val="172033"/>
                </a:solidFill>
              </a:rPr>
              <a:t>0.10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474D8-CCA8-4EE2-980E-2AA2C6B0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781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F failed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67DFA-3D0E-4793-B770-432D67E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172033"/>
                </a:solidFill>
              </a:defRPr>
            </a:pPr>
            <a:r>
              <a:rPr sz="1013" b="0">
                <a:solidFill>
                  <a:srgbClr val="172033"/>
                </a:solidFill>
              </a:rPr>
              <a:t>0.40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4356D-57DD-43A3-885D-DE65329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172033"/>
                </a:solidFill>
              </a:defRPr>
            </a:pPr>
            <a:r>
              <a:rPr sz="1013" b="0">
                <a:solidFill>
                  <a:srgbClr val="172033"/>
                </a:solidFill>
              </a:rPr>
              <a:t>0.10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938AA-1B76-4234-95AD-8F26CCD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291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72033"/>
                </a:solidFill>
              </a:defRPr>
            </a:pPr>
            <a:r>
              <a:rPr sz="1013" b="1">
                <a:solidFill>
                  <a:srgbClr val="172033"/>
                </a:solidFill>
              </a:rPr>
              <a:t>0.50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12E53B-3519-40A2-93F0-FC14B3D2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34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4338CA"/>
                </a:solidFill>
              </a:defRPr>
            </a:pPr>
            <a:r>
              <a:rPr sz="1088" b="1">
                <a:solidFill>
                  <a:srgbClr val="4338CA"/>
                </a:solidFill>
              </a:rPr>
              <a:t>Рядки сумуються до 1 · старт: p0=(1,0,0)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974f03b29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c448cfc5d43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ξ задає випадковий перехід між станами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6848fed754d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pₜ=(pH,pD,pF) — розподіл стану.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P=[[.92,.06,.02],[.25,.65,.10],[.40,.10,.50]].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pₜ₊₁=pₜP; π=πP; A=πH+πD.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Марковська модель · Формально: матриця переходів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10bbe41b0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10bbe41b0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10bbe41b0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7C47C-6C5D-418A-A933-A48E1391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F2EA3-6343-4400-93D4-929D796F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41BC8-A27F-407C-835D-698A0792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pₜ₊₁=pₜP,  p0=(1,0,0)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π=πP;  Σπᵢ=1;  availability=πH+πD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B704F-4E9A-4595-B393-B7614930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Це пряма стохастична задача: extr відсутній. Керування додало б вибір дії та матриці P(a).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e3492641f4c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b3d98815240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На 3 інтервалах потрібно 4, 8 і 5 реплік; стартуємо з 4, за крок можна змінити число на −1/0/+1.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ПОСЛІДОВНІ РІШЕННЯ</a:t>
            </a:r>
          </a:p>
        </p:txBody>
      </p:sp>
      <p:pic>
        <p:nvPicPr>
          <p:cNvPr id="3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ffcf067ed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У кожному t обрати aₜ∈{−1,0,+1}.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1≤sₜ≤10; sₜ₊₁=sₜ+aₜ; ціна репліки 0,2, перемикання 0,5, дефіциту 3.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витрати трьох інтервалів з урахуванням майбутніх станів.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Динамічна задача · Неформально: сьогоднішня дія змінює завтра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57f10e8df4d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57f10e8df4d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57f10e8df4d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3D8D0-3BBE-4B60-A480-0FE7B9CA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475F3-F333-447C-828F-900ACBE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2425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B85C1-36FD-4589-AD40-685E6A15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1095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Стан sₜ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черга, VM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BC537-413E-4C85-A19F-27DA158E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1095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Дія aₜ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± replica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A388A-DF42-4F30-87A0-DA47D95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95625"/>
            <a:ext cx="13811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Стан sₜ₊₁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нова черга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5269-9FB5-4BFC-A5A6-882C311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338CA"/>
                </a:solidFill>
              </a:defRPr>
            </a:pPr>
            <a:r>
              <a:rPr sz="1200" b="1">
                <a:solidFill>
                  <a:srgbClr val="4338CA"/>
                </a:solidFill>
              </a:rPr>
              <a:t>Поточна дія змінює майбутні витрати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12dafd357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4d71cd49d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x стає політикою дій за станами і часом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1745a8f324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Стан sₜ — активні репліки; дія aₜ∈{−1,0,+1}.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sₜ₊₁=sₜ+aₜ; d=(4,8,5); 1≤sₜ≤10.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gₜ=0,2sₜ+0,5|aₜ|+3(dₜ−sₜ)⁺.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Динамічне програмування · Формально: рівняння Беллмана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2f6892a88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2f6892a88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2f6892a88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B769D-014B-4BA5-B821-FA1E1B93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72FC4-2526-47AA-9728-CDD9A65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9C244-F799-4C8A-808C-9226C69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Vₜ(s)=minₐ {0,2s+0,5|a|+3(dₜ−s)⁺+Vₜ₊₁(s+a)}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2448C-7CEE-4B3A-B3F7-BF791906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x — політика (a1,a2,a3); W розкладається за часом; Bellman враховує наслідки поточної дії.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5394b07af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ccb07fc61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Обрати q∈{60,80,100} інстансів; попит D∈{60,90,120} з p=(0,3;0,5;0,2).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РИЗИК І СТІЙКІСТЬ</a:t>
            </a:r>
          </a:p>
        </p:txBody>
      </p:sp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c85960c2c47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Рішення q приймається до реалізації попиту D.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Надлишок коштує 1 за інстанс, дефіцит — 8; бюджет обмежує q≤100.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Порівняти мінімум очікуваних витрат і мінімум найгірших витрат.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Невизначеність · Неформально: дані майбутнього невідомі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3d0ca22a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3d0ca22a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3d0ca22a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89D9C-C78A-43BE-BB88-1B2448B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4318"/>
            <a:ext cx="266700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446BB-4C79-4B44-8601-D3F236B0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48075"/>
            <a:ext cx="266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1B0EF-BF5A-4C50-BCE9-81EAF51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5156"/>
            <a:ext cx="266700" cy="1369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18D6F-B9EE-4C0D-8FEF-3882F6E8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483769"/>
            <a:ext cx="266700" cy="1040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00363-0091-4932-BDA0-27A98AC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9058"/>
            <a:ext cx="266700" cy="6353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B30AA-3A91-4F13-A620-7952BDC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36081"/>
            <a:ext cx="266700" cy="15882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FC051-29BE-4295-9026-2B23DDC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9463"/>
            <a:ext cx="266700" cy="1204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837D8-DB60-4147-98DE-9736EB2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757613"/>
            <a:ext cx="266700" cy="766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25662-4C86-4458-84CF-BEB6271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78480"/>
            <a:ext cx="266700" cy="1445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2BF2B-E781-439A-BFAB-D03473A1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560445"/>
            <a:ext cx="266700" cy="963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67C21-3F21-4C5A-9C50-2F15F02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4524375"/>
            <a:ext cx="4714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2FEB2-D4A8-4CCA-B263-B2DAB39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2857500"/>
            <a:ext cx="9525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C345B-21EE-41DF-B180-B939B5F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3333750"/>
            <a:ext cx="4714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A1704-D84F-47F0-A3F7-738DBD85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capacity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67F2AD-160D-4691-B292-5521AC7F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Вихід моделі — розподіл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E[T], p95, P(SLA)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50869791e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b892e01cb4e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Спеціалізацію визначає спосіб опису ξ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21a8b05a4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x=q∈{60,80,100}; ξ=D.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D∈{60,90,120}; p=(.3,.5,.2); q≤100.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W(q,D)=(q−D)⁺+8(D−q)⁺.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Стохастична / робастна · Формально: вибір оператора ℛξ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4bc470f29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4bc470f29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4bc470f29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974DC-AAE0-4BA0-BA1B-7D9B657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15E78-2902-42E9-AA93-DA576B6C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A05E0-2DB7-4170-A177-BA4FE96D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stochastic: minq E[W(q,D)]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robust: minq maxD∈{60,90,120} W(q,D)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63AA4-14A4-4499-874F-0E520527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Одна таблиця сценаріїв, але різні ℛξ дають різні оптимальні рішення і ставлення до ризику.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1c28edfe44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f269181734d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8 workers обслуговують λ=72 запити/с; service time логнормальний із середнім 11 мс.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ЧИСЕЛЬНИЙ ЕКСПЕРИМЕНТ</a:t>
            </a:r>
          </a:p>
        </p:txBody>
      </p:sp>
      <p:pic>
        <p:nvPicPr>
          <p:cNvPr id="3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77abb5cdc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Для конфігурації x=(8 workers, policy) виконати N=10 000 прогонів.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Однаковий seed-план, warm-up 60 с, горизонт 1 год; SLA latency≤100 мс.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Оцінити mean, p95 та P(latency&gt;100 мс) з довірчим інтервалом.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Імітація · Неформально: програти роботу системи багато разів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4549fa092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4549fa092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4549fa092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9074D-A855-4E59-9164-335B895A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78D23-6AE6-4BC6-AB62-A6EFCF61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BBF0F-CFF4-413C-BECB-2975DF9F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ξᵏ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сценарій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77B97-B1D5-4350-B0C4-26C67A32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1238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Модель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системи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3806B-A5C2-44A9-B7A9-1A41045B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Wᵏ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час, SLA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C7558-DF50-4716-A73A-3F6DCA85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338CA"/>
                </a:solidFill>
              </a:defRPr>
            </a:pPr>
            <a:r>
              <a:rPr sz="1200" b="1">
                <a:solidFill>
                  <a:srgbClr val="4338CA"/>
                </a:solidFill>
              </a:rPr>
              <a:t>k = 1…N → розподіл результатів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028d0ec2349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934191cd9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Аналітичне W замінює статистична оцінка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a56ba7218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 — конфігурація; ξʳ — r-та траєкторія надходжень і сервісу.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N=10 000; λ=72/с; E[S]=11 мс; m=8.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ĴN(x)=N⁻¹ΣW(x,ξʳ); окремо оцінюється q0.95.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Імітація · Формально: оцінювач прямої задачі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09d39b4d5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09d39b4d5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09d39b4d5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6E3D5-BE74-4194-B430-6A2FF2A8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44845-96F7-4DF0-9A93-BA90F11A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138F3-6AFD-4798-8DB1-7B115E97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Ĵ10000(x)=10⁻⁴ΣᵣW(x,ξʳ)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P̂{latency&gt;0,1}=10⁻⁴Σᵣ1{Wʳ&gt;0,1}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158D6-7001-4962-AE2A-39F2401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Симуляція оцінює задане x; оптимізація поверх симуляції порівнює кілька конфігурацій.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41b1e2cab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0c87526b4d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Навчити модель з 1,3 млрд ваг на 100 млн токенів, використовуючи 8 GPU по 80 GB.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ВИСОКОВИМІРНА ОПТИМІЗАЦІЯ</a:t>
            </a:r>
          </a:p>
        </p:txBody>
      </p:sp>
      <p:pic>
        <p:nvPicPr>
          <p:cNvPr id="6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38f6c9e304a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Підібрати ваги θ; системно — batch size, розподіл шарів і розклад GPU.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Пам’ять кожної GPU≤80 GB; 8 GPU; енергетичний бюджет 24 GPU·год.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Мінімізувати cross-entropy, не порушивши ресурсних обмежень.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Нелінійна задача · Неформально: навчити LLM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f4401d3ad4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f4401d3ad4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f4401d3ad4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7F973-BA9B-4E08-836C-2A91E89C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2857500"/>
            <a:ext cx="128587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B6721-89DB-4A9C-94F5-887A1DB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3143250"/>
            <a:ext cx="128587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F5FD1-CAF5-42BD-B6BC-9754AFE5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3143250"/>
            <a:ext cx="128587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E9C9F-1CB7-4B6D-A411-83FD7A7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3143250"/>
            <a:ext cx="128587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370DA-888B-472A-8BF4-69C1A7D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2857500"/>
            <a:ext cx="128587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051A1-BEBC-4E45-9411-CE8CBCB5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3429000"/>
            <a:ext cx="12858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DE482-8906-49BE-B341-C6A73DE4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3810000"/>
            <a:ext cx="128587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840A2-A939-401C-9021-A84A229A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3810000"/>
            <a:ext cx="1285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BFA6E-09CA-4B13-BF79-42EB460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2857500"/>
            <a:ext cx="128587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C5BA5-1924-4ADB-97A6-6BBD23A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3429000"/>
            <a:ext cx="1285875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E8174-0DFB-4D60-944A-29DE9EE7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4000500"/>
            <a:ext cx="128587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D19BB-6D56-4AA9-AB06-DD45981F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4476750"/>
            <a:ext cx="1285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282ED-3D89-4538-BBB4-F999A62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2857500"/>
            <a:ext cx="1333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FC1E3-A5DF-4E34-919F-43D5746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2857500"/>
            <a:ext cx="1333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51CD24-0495-40E1-9D6E-1D874C4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2857500"/>
            <a:ext cx="133350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F5FFA6-993C-45B2-A688-3078158A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048000"/>
            <a:ext cx="13335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F93FF-5607-4B8F-B4F1-2D1DB2FA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3429000"/>
            <a:ext cx="13335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D584F-F015-442E-ABE8-76AE933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3429000"/>
            <a:ext cx="13335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74B54E-89B9-4A7F-A0B4-E60CC0E5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048000"/>
            <a:ext cx="1333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470886-8190-4F49-8D1F-917045E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810000"/>
            <a:ext cx="1333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B21222-8446-464C-8684-F32B6FA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4000500"/>
            <a:ext cx="13335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35AA8B-ABEC-44E7-908E-6B6D008F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048000"/>
            <a:ext cx="133350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3DC929-B002-4801-9C64-E08A698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810000"/>
            <a:ext cx="1333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07A3C-6C7D-40A7-97F7-CD0E0E16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4572000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77B7EF-27F9-4EF5-8FBE-B95CCEF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0250" y="3048000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6EB1DB-BF64-4634-8122-6F942B0E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0250" y="38100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5F5608-2D4A-478F-9691-ADD0F60D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20250" y="3810000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221BEE-8EC4-4DA7-8D07-76B8D28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7FF924-44D4-456B-BBC2-6E83C992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593A43-FF00-4A25-8AB9-2B72347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C50C82-DFB1-4511-BE98-560073B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14D2F1-34C5-4683-955D-1C5BC6F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E1DCEA-B846-4289-BEA4-114021EF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A1F9A7-2922-4251-9D39-CB666174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38D05F-1AB8-47EB-9B76-FB74BBA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FA3D07-BBFA-432F-9E4C-C86A609D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9D4B4A-F902-4797-BEAD-46BDD484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38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CA868C-96DA-4FE6-B602-612ED7F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E631FC-BF7B-4CE5-AE3B-12C94230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Ваги θ змінюються так, щоб зменшити Loss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faddbfc7b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4d9774ec5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x у загальній формулі стає вектором ваг θ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43692b40548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θ∈ℝ¹·³ᴮ — ваги; h — гіперпараметри розподіленого навчання.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memoryg(θ,h)≤80 GB; g=1…8; time(h)≤24 год.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L(θ)=−N⁻¹Σlog pθ(yₙ|xₙ)+λR(θ) → min.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LLM training · Формально: нелінійна стохастична ціль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3b166a826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3b166a826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3b166a826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B668F-B8A2-4A64-8797-E0D3D585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6C8AE-BCD7-4588-AED4-4395C27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D9D1B-371D-4007-8011-E906ADB6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800" b="1">
                <a:solidFill>
                  <a:srgbClr val="4338CA"/>
                </a:solidFill>
              </a:rPr>
              <a:t>Мінімізувати: L(θ)=−N⁻¹Σₙ log pθ(yₙ|xₙ)+λR(θ)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800" b="1">
                <a:solidFill>
                  <a:srgbClr val="4338CA"/>
                </a:solidFill>
              </a:rPr>
              <a:t>за умов: memory_g(θ,h)≤80 GB; time(h)≤24 год; g=1,…,8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2C55F-5A2B-4AD2-91D9-ED97EF6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Нелінійна стохастична оптимізація ваг + дискретне scheduling/placement обчислень.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c49d1e60c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a39e17956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Обрати A=(8$/год;180 мс;99,9%), B=(11;110;99,95%), C=(15;75;99,99%).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КОМПРОМІС</a:t>
            </a:r>
          </a:p>
        </p:txBody>
      </p:sp>
      <p:pic>
        <p:nvPicPr>
          <p:cNvPr id="5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54db12527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Вибрати одну cloud-конфігурацію A, B або C.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Варіант має вкладатися в бюджет 13$/год і давати availability≥99,95%.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Одночасно мінімізувати cost та latency, максимізувати availability.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Багато критеріїв · Неформально: одна мета суперечить іншій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12a2806cd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12a2806cd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12a2806cd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1A15E-395D-49F4-A80E-1082216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4762500"/>
            <a:ext cx="4429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742D1-F555-48E8-920E-941241EC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1809750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2F494-7C9A-4C87-B982-0C50448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57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Надійність 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43520-5E13-4D96-9913-32A4F2D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Швидкість 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FF26E-D4C7-4A40-AA25-A6F9000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39000" y="2238375"/>
            <a:ext cx="8572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48E8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0CAF8-528C-48BA-BA61-FAC83487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0" y="2047875"/>
            <a:ext cx="10001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48E8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E7AF3-0418-47AE-BE73-8578FB1E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96375" y="1952625"/>
            <a:ext cx="1238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48E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A80F7-2CD2-4186-BE2A-2AD6EA24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14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E8D7A-58D7-434E-A675-FFAAE9AB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8F086-6EA6-4693-9853-AD9C585C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33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1F11F9-F632-41E3-809F-DF48A3D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57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6A327-B86D-4476-8D56-ED542A7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27B03-1F75-44AD-8DE8-4620A752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81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2212A4-4EC4-4FD6-9BC9-1282468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B44418-9863-482A-88DE-B4CFD556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62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1E409-DFD8-44DC-8AAE-B41811A8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6E1FA3-92D5-4A03-B501-05031723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909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EB55D-7AFE-4130-B950-7CE96176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CA1E4-32FF-4688-962E-BBBDA79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71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32117-0824-4202-8747-B600B736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29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B977D-1A0D-476B-A0EE-1003FC17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52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C5D78"/>
                </a:solidFill>
              </a:defRPr>
            </a:pPr>
            <a:r>
              <a:rPr sz="975" b="0">
                <a:solidFill>
                  <a:srgbClr val="4C5D78"/>
                </a:solidFill>
              </a:rPr>
              <a:t>x₁₂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540B8-80D1-49AE-ABEE-D6BE748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9525">
            <a:solidFill>
              <a:srgbClr val="5548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F75E87-B08E-4F9B-8FC1-D4F2D7A4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24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38CA"/>
                </a:solidFill>
              </a:defRPr>
            </a:pPr>
            <a:r>
              <a:rPr sz="975" b="1">
                <a:solidFill>
                  <a:srgbClr val="4338CA"/>
                </a:solidFill>
              </a:rPr>
              <a:t>x₂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077F3A-B63D-4F4B-BC10-11C8444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62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9525">
            <a:solidFill>
              <a:srgbClr val="554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92E04D-4912-490C-9D48-C1DA52FB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38CA"/>
                </a:solidFill>
              </a:defRPr>
            </a:pPr>
            <a:r>
              <a:rPr sz="975" b="1">
                <a:solidFill>
                  <a:srgbClr val="4338CA"/>
                </a:solidFill>
              </a:rPr>
              <a:t>x₅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391A45-21A5-4E7C-9F9B-F9C0DA3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7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9525">
            <a:solidFill>
              <a:srgbClr val="5548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A6E6DF-D45D-4E26-A830-24AC6AEE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95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38CA"/>
                </a:solidFill>
              </a:defRPr>
            </a:pPr>
            <a:r>
              <a:rPr sz="975" b="1">
                <a:solidFill>
                  <a:srgbClr val="4338CA"/>
                </a:solidFill>
              </a:rPr>
              <a:t>x₁₀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89BBAD-2CF9-491C-9BCD-B5016B51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876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9525">
            <a:solidFill>
              <a:srgbClr val="5548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16CF15-2C29-42FA-A8B1-1131D8B5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00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38CA"/>
                </a:solidFill>
              </a:defRPr>
            </a:pPr>
            <a:r>
              <a:rPr sz="975" b="1">
                <a:solidFill>
                  <a:srgbClr val="4338CA"/>
                </a:solidFill>
              </a:rPr>
              <a:t>x₁₁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981491-72C4-496D-89C4-D4F59E7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00037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338CA"/>
                </a:solidFill>
              </a:defRPr>
            </a:pPr>
            <a:r>
              <a:rPr sz="1200" b="1">
                <a:solidFill>
                  <a:srgbClr val="4338CA"/>
                </a:solidFill>
              </a:rPr>
              <a:t>Фронт Парето: x₂, x₅, x₁₀, x₁₁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87fc06f3545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3da351bfd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Скаляр W замінюється вектором критеріїв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c6bc4b43b47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x∈{A,B,C}; W(x)=(cost,latency,−availability).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cost≤13; availability≥99,95%.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Знайти недоміновані допустимі конфігурації.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Багатокритеріальна · Формально: вектор W і Парето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a518ac6b9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a518ac6b9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a518ac6b9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B85EE-7609-48E9-A2DB-7C420B07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515AA-6B47-446C-8C1C-B7738D2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C07C2-2E31-4D1F-8896-1731D79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minPareto (cost(x), latency(x), −availability(x))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x∈{A,B,C}; cost≤13; availability≥99,95%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72CD4-CAEF-4233-A711-790F52B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Обмеження відсікають A і C; B — допустиме. Без budget усі три можуть бути Парето-альтернативами.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d41202753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3ce8fb0374f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Захисник обирає D1 або D2, атакувальник — A1 або A2; виграші захисту: [[−8,−2],[−4,−6]].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АКТИВНИЙ СУПЕРНИК</a:t>
            </a:r>
          </a:p>
        </p:txBody>
      </p:sp>
      <p:pic>
        <p:nvPicPr>
          <p:cNvPr id="3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c68a32442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Обрати чисту або змішану стратегію захисту до дії супротивника.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p1+p2=1; q1+q2=1; p,q≥0.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Максимізувати гарантований виграш захисту в найгіршій відповіді атакувальника.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Теорія ігор · Неформально: противник реагує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b13ad52c2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b13ad52c2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b13ad52c2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3EA30-27B8-4905-A625-3922182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F4444"/>
                </a:solidFill>
              </a:defRPr>
            </a:pPr>
            <a:r>
              <a:rPr sz="1200" b="1">
                <a:solidFill>
                  <a:srgbClr val="EF4444"/>
                </a:solidFill>
              </a:rPr>
              <a:t>Атакувальник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ABE9D-93A7-4A92-8B28-DA389C5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A₁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9EE23-99E1-49C8-BCFD-26E57B42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956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A₂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1B4A2-33AE-4A1C-84D2-7BA5BB33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D₁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90423-E3CA-41CB-9D7E-D2AFF8C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D₂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A4943-F128-493D-887E-A67272B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−8, +8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7FB78-25F3-4315-B483-35801A2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−2, +2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0230B-62D5-47E2-9C6D-BCF3BBA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−4, +4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25F65-6262-40EB-80FE-0DC4FC3B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38625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−6, +6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0CB73-6580-404B-806D-2C45AEF0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100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Захист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9A985-594B-4AB1-8C40-F27D5137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338CA"/>
                </a:solidFill>
              </a:defRPr>
            </a:pPr>
            <a:r>
              <a:rPr sz="1125" b="1">
                <a:solidFill>
                  <a:srgbClr val="4338CA"/>
                </a:solidFill>
              </a:rPr>
              <a:t>Рішення залежить від реакції іншої сторони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e84edc49e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b2cf1a1dc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ξ вже не природа, а рішення іншого гравця 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61f16945b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p=(p1,p2), q=(q1,q2) — змішані стратегії.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p,q∈Δ²; A=[[-8,-2],[-4,-6]].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maxp minq pᵀAq.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Гра двох осіб · Формально: мінімакс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72b817363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72b817363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72b817363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EA826-500D-4069-A293-67463F2C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Загальна модель: x*∈arg optₓ∈X(a,ξ) ℛξ[W(a,x,ξ)]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694A5-BC3F-4F49-BF7E-B38308D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10C6A-FA74-4B51-A01A-EC5FF62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maxp∈Δ² minq∈Δ² pᵀAq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A=[[-8,−2],[−4,−6]]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F8D1C-7B71-4539-BCC6-5D7E1528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На відміну від природи, q вибирається цілеспрямовано проти p; результат — гарантована ціна гри.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bf368159d4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e0a9df57e47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Резервувати 4, 6 або 8 GPU; стани попиту: низький, середній, піковий; виграші задані матрицею.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НЕФОРМАЛЬНА ПОСТАНОВКА · ПАСИВНЕ СЕРЕДОВИЩЕ</a:t>
            </a:r>
          </a:p>
        </p:txBody>
      </p:sp>
      <p:pic>
        <p:nvPicPr>
          <p:cNvPr id="4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ed1f94ffb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Обрати один резерв до спостереження стану природи.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A=[[12,9,−20],[8,11,3],[2,7,10]]; для Байєса p=(0,3;0,5;0,2).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Порівняти критерії Байєса, Вальда, Севіджа та Гурвіца α=0,6.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Гра з природою · Неформально: середовище не має власної мети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00219218a46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00219218a46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00219218a46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A2EA6-B93C-4EF9-8594-2CF2FB82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Стан природи 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E2C51-8937-4CC9-9D82-050CD617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низький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61C51-4E59-4CC2-9D51-45DD250D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575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середній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41F9F-F426-457E-A110-B7DEE1E5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піковий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4A480-96AA-4353-B32D-77CE011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Резерв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AAF1A-C693-4669-8E07-AB710C9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Резерв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E8980-41FC-4556-8A11-4873FC7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C5D78"/>
                </a:solidFill>
              </a:defRPr>
            </a:pPr>
            <a:r>
              <a:rPr sz="975" b="1">
                <a:solidFill>
                  <a:srgbClr val="4C5D78"/>
                </a:solidFill>
              </a:rPr>
              <a:t>Резерв 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6B8AD-03D2-4BD5-969E-A732DB61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EB02D-CE86-49A2-B31C-551BD540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861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E833B9-8A27-43D0-A3E9-6867F2DC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−20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A5438-4385-4960-A82E-79D6E072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719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39917-29C1-4AA0-992C-392FF8AA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719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81831-6646-40F7-828F-EE5EC0C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28141-3BAA-44AD-8962-F18B7465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577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DDAF5-A674-4B2F-936B-08D9F8EF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577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51C38A-4FD4-4DD1-B037-0918C325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57725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6258D-5B43-45FD-AAF6-179F42E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338CA"/>
                </a:solidFill>
              </a:defRPr>
            </a:pPr>
            <a:r>
              <a:rPr sz="1050" b="1">
                <a:solidFill>
                  <a:srgbClr val="4338CA"/>
                </a:solidFill>
              </a:rPr>
              <a:t>Природа не оптимізує проти нас — вона лише реалізує стан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6c605d8944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be1c5631e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Рішення i оцінюється за станами ξⱼ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ЗАГАЛЬНА ФОРМУЛА → СПЕЦІАЛІЗОВАНА МОДЕЛЬ</a:t>
            </a:r>
          </a:p>
        </p:txBody>
      </p:sp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67522fb6740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i∈{4,6,8} — альтернатива резерву; ξ∈{low,mid,peak}.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Виграші aᵢⱼ задані; p відомі лише для критерію Байєса.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Критерій перетворює рядок матриці на одну оцінку.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</a:defRPr>
            </a:pPr>
            <a:r>
              <a:rPr sz="1950" b="1" i="0" u="none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Гра з природою · Формально: матриця та критерій вибору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31eee0c5a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31eee0c5a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31eee0c5a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2BBC4-0AEE-4D91-B044-ABCE74D4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05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x* ∈ Arg extrₓ∈X(a)  ℛξ[ W(a,x,ξ) 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A246D-1A67-456B-9883-372DB587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47925"/>
            <a:ext cx="552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AB6B9-E415-4445-B186-F41A364B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05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Bayes: maxᵢΣⱼpⱼaᵢⱼ;  Wald: maxᵢminⱼaᵢⱼ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Savage: minᵢmaxⱼrᵢⱼ;  Hurwicz α=0,6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9EF78-9607-434E-A6C1-194CB2D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429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Одна матриця рішень; різні правила ℛξ відображають різне ставлення до невизначеності.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5249dca2d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3E17AE3-CFB0-4BED-BED7-F034F4A0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Одна оболонка — різні спеціалізації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8813511-DDDE-4A86-A6B8-CF3BA36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143250"/>
                <a:gridCol w="1571625"/>
                <a:gridCol w="1571625"/>
                <a:gridCol w="1619250"/>
              </a:tblGrid>
              <a:tr h="585107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Структура x і X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Критерій W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Клас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Невизначеність ξ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72033"/>
                          </a:solidFill>
                        </a:rPr>
                        <a:t>IT-приклад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x∈ℝⁿ, Ax≤b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cᵀx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ЛП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xᵢⱼ≥0 + баланс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Σcᵢⱼxᵢⱼ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транспортна ЛП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можлива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DC → Region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xᵢⱼ∈{0,1}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Σcᵢⱼxᵢⱼ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assignment / MILP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можлива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Job/VM → Node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потік f, Bf=d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cᵀf або F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мережевий потік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λ, відмови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routing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time / queue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Cmax або E[Wq]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розклад / СМО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час, arrivals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CPU / канал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policy / vector / player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Bellman; Pareto; minimax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динамічна / рішення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явна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4C5D78"/>
                          </a:solidFill>
                        </a:rPr>
                        <a:t>scale / SLA / security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C5A81-2030-42B1-BFE9-D1C58C9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C5D78"/>
                </a:solidFill>
              </a:defRPr>
            </a:pPr>
            <a:r>
              <a:rPr sz="1275" b="0">
                <a:solidFill>
                  <a:srgbClr val="4C5D78"/>
                </a:solidFill>
              </a:rPr>
              <a:t>Клас визначає не предметна назва задачі, а математична структура x, X, W та ξ.</a:t>
            </a:r>
          </a:p>
        </p:txBody>
      </p:sp>
    </p:spTree>
    <p:extLst>
      <p:ext uri="{BB962C8B-B14F-4D97-AF65-F5344CB8AC3E}">
        <p14:creationId xmlns:p14="http://schemas.microsoft.com/office/powerpoint/2010/main" val="7010332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6ed42174e4d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2897d2a82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GPU-кластер обслуговує LLM training та inference workloads.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Клас залежить від питання, яке ми ставимо до тієї самої системи.</a:t>
            </a:r>
          </a:p>
        </p:txBody>
      </p:sp>
      <p:pic>
        <p:nvPicPr>
          <p:cNvPr id="3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37f7627444e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VM/Pod → Node: призначення та packing.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Пакети → канал: мережевий потік і черга.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GPU jobs → час: scheduling; replicas → SLA: stochastic.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Один дата-центр — багато різних класів задач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9e5f0d762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9e5f0d762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9e5f0d762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47380-F23F-41A7-89FC-F16DD54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25717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ADB63-A7E4-442A-ABA3-CB570A3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44767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6A9DF-EA84-4E5D-81BD-B729187C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VM/Pod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69EC2-52A8-475B-83AC-75D7F233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xᵢⱼ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5039D-77B2-4AAC-BF93-A68148CF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00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ILP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4B48D-EAED-4AFB-A59F-2A5EE1DB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Пакети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1F8E5-4890-4AD7-AD6E-6F2FDCE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fᵢⱼ, 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7FACC-4549-46FC-8933-C5C9647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05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flow / СМО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94BA7-46B8-4BA6-A10F-D3EDAA54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47875"/>
            <a:ext cx="762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338CA"/>
                </a:solidFill>
              </a:defRPr>
            </a:pPr>
            <a:r>
              <a:rPr sz="1425" b="1">
                <a:solidFill>
                  <a:srgbClr val="4338CA"/>
                </a:solidFill>
              </a:rPr>
              <a:t>GPU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4338CA"/>
                </a:solidFill>
              </a:defRPr>
            </a:pPr>
            <a:r>
              <a:rPr sz="1425" b="1">
                <a:solidFill>
                  <a:srgbClr val="4338CA"/>
                </a:solidFill>
              </a:rPr>
              <a:t>jobs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F0A2D-BEB8-4079-946B-25F7A8E3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52875"/>
            <a:ext cx="762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Cmax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4ED91-3E8E-48A9-B9CE-107C1AB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Спочатку формулюємо питання — потім називаємо клас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0581be768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ff19dc148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938462"/>
            <a:ext cx="4419600" cy="189547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8C2504-1CDF-4B98-BBE2-BD0DE527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2"/>
            <a:ext cx="365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00"/>
              </a:lnSpc>
              <a:buNone/>
            </a:pPr>
            <a:r>
              <a:rPr sz="6000" b="1" i="0" u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4CF0CC-2324-44B2-BE1E-1884E30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4337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 i="0" u="none">
                <a:solidFill>
                  <a:srgbClr val="C7D2FE"/>
                </a:solidFill>
                <a:latin typeface="Inter Medium"/>
                <a:ea typeface="Inter Medium"/>
                <a:cs typeface="Inter Medium"/>
              </a:rPr>
              <a:t>питання перед solver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158767-3BD3-409E-9AD0-A343853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7386"/>
            <a:ext cx="68199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Спеціалізована формула має бути наслідком постановки, а не здогадкою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22EE908-478D-4BFA-9E64-4A54467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6011"/>
            <a:ext cx="66294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Для нової задачі послідовно перевірте: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DDE674-3566-4E46-AC7A-225E5BC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16808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1. Що є x і чи воно неперервне, дискретне, часовe або політика?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0E9E71-EE8B-44A9-BA4B-5778D83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9119"/>
            <a:ext cx="63436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2. Які a, ξ та обмеження утворюють X?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446E6B-5FDA-4BE4-A489-A5F3ED2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0391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3. Який W і як оцінюється ризик ℛξ?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6658B41-D742-421E-BF69-3184893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2702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4. Яка спеціалізована формула точно відтворює питання?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BAC67D-4A41-47ED-8622-A289E6C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Підсумок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E00220-15F9-4971-8B7E-E3DA2F0E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2ec9ea74f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535858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2ec9ea74f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928169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2ec9ea74f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4579441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2ec9ea74f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4971752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5745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3125efc07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4C9405-E205-4AC3-ACB9-0DE28D9D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0604"/>
            <a:ext cx="560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Основне джерело та розширення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6798A3-29F5-49F8-AFDE-60CB94F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0679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DFCA8F-1264-412B-B3B7-CE8A60E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004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Є. С. Вентцель — «Дослідження операцій»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5BF917-D1A0-4179-AF3D-75A0806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3629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Основа лекції: глава 2 «Різновиди задач дослідження операцій і підходів до їх розв’язання», с. 25–51.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665F2E-B245-4805-B133-5B48A7A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0512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Дерево розширено за змістом глав 3–8, IFORS, NEOS Guide та MIT OCW; IT-приклади — навчальна адаптація.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9bb54255249d8"/>
          <a:stretch xmlns:a="http://schemas.openxmlformats.org/drawingml/2006/main"/>
        </p:blipFill>
        <p:spPr>
          <a:xfrm xmlns:a="http://schemas.openxmlformats.org/drawingml/2006/main">
            <a:off x="6806790" y="381000"/>
            <a:ext cx="4293419" cy="609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46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2026-09-14T13:15:48.7460000Z</dcterms:created>
  <dcterms:modified xsi:type="dcterms:W3CDTF">2026-09-14T13:15:48.7470000Z</dcterms:modified>
</coreProperties>
</file>