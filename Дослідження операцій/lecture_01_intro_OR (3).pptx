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c3969f95194e90" /><Relationship Type="http://schemas.openxmlformats.org/officeDocument/2006/relationships/extended-properties" Target="/docProps/app.xml" Id="R3b1b9b6c770e4a7f" /><Relationship Type="http://schemas.openxmlformats.org/officeDocument/2006/relationships/officeDocument" Target="/ppt/presentation.xml" Id="R9bf157cad37145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aa609094db4378"/>
  </p:sldMasterIdLst>
  <p:notesMasterIdLst>
    <p:notesMasterId xmlns:r="http://schemas.openxmlformats.org/officeDocument/2006/relationships" r:id="Rf7627fd959b04452"/>
  </p:notesMasterIdLst>
  <p:sldIdLst>
    <p:sldId xmlns:r="http://schemas.openxmlformats.org/officeDocument/2006/relationships" id="256" r:id="R1d48a342cfbb4a9b"/>
    <p:sldId xmlns:r="http://schemas.openxmlformats.org/officeDocument/2006/relationships" id="257" r:id="R0d731cb86efd4140"/>
    <p:sldId xmlns:r="http://schemas.openxmlformats.org/officeDocument/2006/relationships" id="258" r:id="R5e9fdb1fca544c64"/>
    <p:sldId xmlns:r="http://schemas.openxmlformats.org/officeDocument/2006/relationships" id="259" r:id="R27fa00e6fd844732"/>
    <p:sldId xmlns:r="http://schemas.openxmlformats.org/officeDocument/2006/relationships" id="260" r:id="Re9a007a4d1f24f90"/>
    <p:sldId xmlns:r="http://schemas.openxmlformats.org/officeDocument/2006/relationships" id="261" r:id="R250e9e50995f4660"/>
    <p:sldId xmlns:r="http://schemas.openxmlformats.org/officeDocument/2006/relationships" id="262" r:id="R20ca3870a9634907"/>
    <p:sldId xmlns:r="http://schemas.openxmlformats.org/officeDocument/2006/relationships" id="263" r:id="R1ef4c18232df496a"/>
    <p:sldId xmlns:r="http://schemas.openxmlformats.org/officeDocument/2006/relationships" id="264" r:id="R94745aa40fd545fb"/>
    <p:sldId xmlns:r="http://schemas.openxmlformats.org/officeDocument/2006/relationships" id="265" r:id="Rc723dfe4a580477d"/>
    <p:sldId xmlns:r="http://schemas.openxmlformats.org/officeDocument/2006/relationships" id="266" r:id="Reda71e047f194829"/>
    <p:sldId xmlns:r="http://schemas.openxmlformats.org/officeDocument/2006/relationships" id="267" r:id="Rb0e667cce1034ae9"/>
    <p:sldId xmlns:r="http://schemas.openxmlformats.org/officeDocument/2006/relationships" id="268" r:id="Re92b207e3de645c9"/>
    <p:sldId xmlns:r="http://schemas.openxmlformats.org/officeDocument/2006/relationships" id="269" r:id="R7df3a0143dab4038"/>
    <p:sldId xmlns:r="http://schemas.openxmlformats.org/officeDocument/2006/relationships" id="270" r:id="Rd2e379333b174a8a"/>
    <p:sldId xmlns:r="http://schemas.openxmlformats.org/officeDocument/2006/relationships" id="271" r:id="R13867dc230ea477b"/>
    <p:sldId xmlns:r="http://schemas.openxmlformats.org/officeDocument/2006/relationships" id="272" r:id="R42a8168cb7db4b40"/>
    <p:sldId xmlns:r="http://schemas.openxmlformats.org/officeDocument/2006/relationships" id="273" r:id="R4ef8e6613ff04260"/>
    <p:sldId xmlns:r="http://schemas.openxmlformats.org/officeDocument/2006/relationships" id="274" r:id="Rf02434dca5d840fa"/>
    <p:sldId xmlns:r="http://schemas.openxmlformats.org/officeDocument/2006/relationships" id="275" r:id="Ra14c3ef33f784eb9"/>
    <p:sldId xmlns:r="http://schemas.openxmlformats.org/officeDocument/2006/relationships" id="276" r:id="R404df1ed6bd04441"/>
    <p:sldId xmlns:r="http://schemas.openxmlformats.org/officeDocument/2006/relationships" id="277" r:id="R451a048402044b3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ffdc5ff17db4b16" /><Relationship Type="http://schemas.openxmlformats.org/officeDocument/2006/relationships/slideMaster" Target="/ppt/slideMasters/slideMaster1.xml" Id="Rbbaa609094db4378" /><Relationship Type="http://schemas.openxmlformats.org/officeDocument/2006/relationships/notesMaster" Target="/ppt/notesMasters/notesMaster1.xml" Id="Rf7627fd959b04452" /><Relationship Type="http://schemas.openxmlformats.org/officeDocument/2006/relationships/presProps" Target="/ppt/presProps.xml" Id="R57cbb530b5ad4ae3" /><Relationship Type="http://schemas.openxmlformats.org/officeDocument/2006/relationships/viewProps" Target="/ppt/viewProps.xml" Id="Raf119da447ab4d34" /><Relationship Type="http://schemas.openxmlformats.org/officeDocument/2006/relationships/tableStyles" Target="/ppt/tableStyles.xml" Id="R09dd038419724d9b" /><Relationship Type="http://schemas.openxmlformats.org/officeDocument/2006/relationships/slide" Target="/ppt/slides/slide1.xml" Id="R1d48a342cfbb4a9b" /><Relationship Type="http://schemas.openxmlformats.org/officeDocument/2006/relationships/slide" Target="/ppt/slides/slide2.xml" Id="R0d731cb86efd4140" /><Relationship Type="http://schemas.openxmlformats.org/officeDocument/2006/relationships/slide" Target="/ppt/slides/slide3.xml" Id="R5e9fdb1fca544c64" /><Relationship Type="http://schemas.openxmlformats.org/officeDocument/2006/relationships/slide" Target="/ppt/slides/slide4.xml" Id="R27fa00e6fd844732" /><Relationship Type="http://schemas.openxmlformats.org/officeDocument/2006/relationships/slide" Target="/ppt/slides/slide5.xml" Id="Re9a007a4d1f24f90" /><Relationship Type="http://schemas.openxmlformats.org/officeDocument/2006/relationships/slide" Target="/ppt/slides/slide6.xml" Id="R250e9e50995f4660" /><Relationship Type="http://schemas.openxmlformats.org/officeDocument/2006/relationships/slide" Target="/ppt/slides/slide7.xml" Id="R20ca3870a9634907" /><Relationship Type="http://schemas.openxmlformats.org/officeDocument/2006/relationships/slide" Target="/ppt/slides/slide8.xml" Id="R1ef4c18232df496a" /><Relationship Type="http://schemas.openxmlformats.org/officeDocument/2006/relationships/slide" Target="/ppt/slides/slide9.xml" Id="R94745aa40fd545fb" /><Relationship Type="http://schemas.openxmlformats.org/officeDocument/2006/relationships/slide" Target="/ppt/slides/slide10.xml" Id="Rc723dfe4a580477d" /><Relationship Type="http://schemas.openxmlformats.org/officeDocument/2006/relationships/slide" Target="/ppt/slides/slide11.xml" Id="Reda71e047f194829" /><Relationship Type="http://schemas.openxmlformats.org/officeDocument/2006/relationships/slide" Target="/ppt/slides/slide12.xml" Id="Rb0e667cce1034ae9" /><Relationship Type="http://schemas.openxmlformats.org/officeDocument/2006/relationships/slide" Target="/ppt/slides/slide13.xml" Id="Re92b207e3de645c9" /><Relationship Type="http://schemas.openxmlformats.org/officeDocument/2006/relationships/slide" Target="/ppt/slides/slide14.xml" Id="R7df3a0143dab4038" /><Relationship Type="http://schemas.openxmlformats.org/officeDocument/2006/relationships/slide" Target="/ppt/slides/slide15.xml" Id="Rd2e379333b174a8a" /><Relationship Type="http://schemas.openxmlformats.org/officeDocument/2006/relationships/slide" Target="/ppt/slides/slide16.xml" Id="R13867dc230ea477b" /><Relationship Type="http://schemas.openxmlformats.org/officeDocument/2006/relationships/slide" Target="/ppt/slides/slide17.xml" Id="R42a8168cb7db4b40" /><Relationship Type="http://schemas.openxmlformats.org/officeDocument/2006/relationships/slide" Target="/ppt/slides/slide18.xml" Id="R4ef8e6613ff04260" /><Relationship Type="http://schemas.openxmlformats.org/officeDocument/2006/relationships/slide" Target="/ppt/slides/slide19.xml" Id="Rf02434dca5d840fa" /><Relationship Type="http://schemas.openxmlformats.org/officeDocument/2006/relationships/slide" Target="/ppt/slides/slide20.xml" Id="Ra14c3ef33f784eb9" /><Relationship Type="http://schemas.openxmlformats.org/officeDocument/2006/relationships/slide" Target="/ppt/slides/slide21.xml" Id="R404df1ed6bd04441" /><Relationship Type="http://schemas.openxmlformats.org/officeDocument/2006/relationships/slide" Target="/ppt/slides/slide22.xml" Id="R451a048402044b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5fa16372c242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17f32a0ba74228" /><Relationship Type="http://schemas.openxmlformats.org/officeDocument/2006/relationships/notesMaster" Target="/ppt/notesMasters/notesMaster1.xml" Id="Ra37b5549543b48f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7ed9b1c79a412b" /><Relationship Type="http://schemas.openxmlformats.org/officeDocument/2006/relationships/notesMaster" Target="/ppt/notesMasters/notesMaster1.xml" Id="R11f6ea63291d4f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2168dccf36044bf" /><Relationship Type="http://schemas.openxmlformats.org/officeDocument/2006/relationships/notesMaster" Target="/ppt/notesMasters/notesMaster1.xml" Id="Rf8844259ee6f4d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f58d339eb74316" /><Relationship Type="http://schemas.openxmlformats.org/officeDocument/2006/relationships/notesMaster" Target="/ppt/notesMasters/notesMaster1.xml" Id="R14e135217ec4404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c370ff86444f3c" /><Relationship Type="http://schemas.openxmlformats.org/officeDocument/2006/relationships/notesMaster" Target="/ppt/notesMasters/notesMaster1.xml" Id="Rc71006bfaa7441a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ee12910c11e474b" /><Relationship Type="http://schemas.openxmlformats.org/officeDocument/2006/relationships/notesMaster" Target="/ppt/notesMasters/notesMaster1.xml" Id="R8d2e16af52e9454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6ef0b458a5646b5" /><Relationship Type="http://schemas.openxmlformats.org/officeDocument/2006/relationships/notesMaster" Target="/ppt/notesMasters/notesMaster1.xml" Id="R9c940f664797401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68a6e991fa94959" /><Relationship Type="http://schemas.openxmlformats.org/officeDocument/2006/relationships/notesMaster" Target="/ppt/notesMasters/notesMaster1.xml" Id="R817be03670c7427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34915ba3b224c84" /><Relationship Type="http://schemas.openxmlformats.org/officeDocument/2006/relationships/notesMaster" Target="/ppt/notesMasters/notesMaster1.xml" Id="R8a9d9df258ba428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8ba6e52642c4651" /><Relationship Type="http://schemas.openxmlformats.org/officeDocument/2006/relationships/notesMaster" Target="/ppt/notesMasters/notesMaster1.xml" Id="R9da1e65432314a2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0c5a5e866364b21" /><Relationship Type="http://schemas.openxmlformats.org/officeDocument/2006/relationships/notesMaster" Target="/ppt/notesMasters/notesMaster1.xml" Id="R40eedc2448204f5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686804b2c744d2e" /><Relationship Type="http://schemas.openxmlformats.org/officeDocument/2006/relationships/notesMaster" Target="/ppt/notesMasters/notesMaster1.xml" Id="R78b8d17c876e4b1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0fec08c131d45ea" /><Relationship Type="http://schemas.openxmlformats.org/officeDocument/2006/relationships/notesMaster" Target="/ppt/notesMasters/notesMaster1.xml" Id="R992f253f4c0a465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9a953d08ebb420c" /><Relationship Type="http://schemas.openxmlformats.org/officeDocument/2006/relationships/notesMaster" Target="/ppt/notesMasters/notesMaster1.xml" Id="R3700b6f23cd44a6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113a60a35944e09" /><Relationship Type="http://schemas.openxmlformats.org/officeDocument/2006/relationships/notesMaster" Target="/ppt/notesMasters/notesMaster1.xml" Id="R508c96c4491b4fa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8aa0043526c494f" /><Relationship Type="http://schemas.openxmlformats.org/officeDocument/2006/relationships/notesMaster" Target="/ppt/notesMasters/notesMaster1.xml" Id="R178fdb4e0f3e427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66c8023bd964d4f" /><Relationship Type="http://schemas.openxmlformats.org/officeDocument/2006/relationships/notesMaster" Target="/ppt/notesMasters/notesMaster1.xml" Id="R4e55fbf21eb5473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9f666e420fe4f64" /><Relationship Type="http://schemas.openxmlformats.org/officeDocument/2006/relationships/notesMaster" Target="/ppt/notesMasters/notesMaster1.xml" Id="R2a2413bb251f426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2c4f4b131b14bec" /><Relationship Type="http://schemas.openxmlformats.org/officeDocument/2006/relationships/notesMaster" Target="/ppt/notesMasters/notesMaster1.xml" Id="R312e04509e134cc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8d2850a407e4f01" /><Relationship Type="http://schemas.openxmlformats.org/officeDocument/2006/relationships/notesMaster" Target="/ppt/notesMasters/notesMaster1.xml" Id="R437b9d6fd609451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9cff932ff9849b2" /><Relationship Type="http://schemas.openxmlformats.org/officeDocument/2006/relationships/notesMaster" Target="/ppt/notesMasters/notesMaster1.xml" Id="R36e999e2fdc64ae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377d1e2e32e4779" /><Relationship Type="http://schemas.openxmlformats.org/officeDocument/2006/relationships/notesMaster" Target="/ppt/notesMasters/notesMaster1.xml" Id="Ra07c9c6178d74a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Почніть із питання: яке рішення тут треба прийняти? Числа подано як навчальний кейс, а не як галузеву статистику.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Навчальний кейс сформовано для курсу.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Технології самі по собі не задають план. Задача ДО — вибрати черговість винесення сервісів і розподілити обмежені ресурси.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Kubernetes documentation: https://kubernetes.io/docs/</a:t>
            </a:r>
          </a:p>
          <a:p xmlns:a="http://schemas.openxmlformats.org/drawingml/2006/main">
            <a:r>
              <a:t>- GitLab CI/CD documentation: https://docs.gitlab.com/ci/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Strangler Fig зменшує ризик великого одноразового переходу. У задачі ДО оптимізуються послідовність робіт, використання команди та ризик простою.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Martin Fowler, Strangler Fig Application: https://martinfowler.com/bliki/StranglerFigApplication.html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Показники до/після — цільові значення навчального кейсу. DORA-метрики дають операційний зворотний зв’язок, а ROI переводить ефект у бізнесову площину.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DORA metrics: https://dora.dev/guides/dora-metrics-four-keys/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Kubernetes планує Pod на Node за запитами ресурсів і правилами сумісності. На слайді критерій W(x) подано як навчальну модель ДО: залежно від постановки можна мінімізувати latency, дисбаланс, вартість чи енергію. Це не означає, що стандартний kube-scheduler розв’язує одну глобальну функцію оптимізації.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Kubernetes, kube-scheduler: https://kubernetes.io/docs/concepts/scheduling-eviction/kube-scheduler/</a:t>
            </a:r>
          </a:p>
          <a:p xmlns:a="http://schemas.openxmlformats.org/drawingml/2006/main">
            <a:r>
              <a:t>- Kubernetes, Resource Management for Pods and Containers: https://kubernetes.io/docs/concepts/configuration/manage-resources-containers/</a:t>
            </a:r>
          </a:p>
          <a:p xmlns:a="http://schemas.openxmlformats.org/drawingml/2006/main">
            <a:r>
              <a:t>- Kubernetes, Assigning Pods to Nodes: https://kubernetes.io/docs/concepts/scheduling-eviction/assign-pod-node/</a:t>
            </a:r>
          </a:p>
          <a:p xmlns:a="http://schemas.openxmlformats.org/drawingml/2006/main">
            <a:r>
              <a:t>- Ілюстрація розміщення workload створена для курсу.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 реальному kube-scheduler один цикл вибирає Node для Pod: Filter plugins відсікають непридатні вузли, Score plugins ранжують ті, що залишилися, а Bind застосовує рішення. Після нормалізації оцінки лежать у діапазоні до MaxNodeScore = 100. ILP на слайді — не опис стандартної реалізації Kubernetes, а навчальна формалізація задачі розміщення: кожен Pod призначається одному Node, а сума потреб не перевищує місткість.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Kubernetes, Scheduling Framework: https://kubernetes.io/docs/concepts/scheduling-eviction/scheduling-framework/</a:t>
            </a:r>
          </a:p>
          <a:p xmlns:a="http://schemas.openxmlformats.org/drawingml/2006/main">
            <a:r>
              <a:t>- Kubernetes, kube-scheduler: https://kubernetes.io/docs/concepts/scheduling-eviction/kube-scheduler/</a:t>
            </a:r>
          </a:p>
          <a:p xmlns:a="http://schemas.openxmlformats.org/drawingml/2006/main">
            <a:r>
              <a:t>- Kubernetes source, MaxNodeScore in scheduler framework: https://github.com/kubernetes/kubernetes</a:t>
            </a:r>
          </a:p>
          <a:p xmlns:a="http://schemas.openxmlformats.org/drawingml/2006/main">
            <a:r>
              <a:t>- Офіційна ілюстрація Scheduling Framework: https://kubernetes.io/docs/concepts/scheduling-eviction/scheduling-framework/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графі показано один найкоротший шлях. Google Maps, OSPF/IS-IS і traffic engineering використовують різні ваги та додаткові обмеження, але спільна ідея — вибір допустимого маршруту з найкращим критерієм.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Google Maps Platform Routes API: https://developers.google.com/maps/documentation/routes</a:t>
            </a:r>
          </a:p>
          <a:p xmlns:a="http://schemas.openxmlformats.org/drawingml/2006/main">
            <a:r>
              <a:t>- IETF RFC 2328, OSPFv2: https://www.rfc-editor.org/rfc/rfc2328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Процеси — заявки, CPU — обслуговуючий прилад, планувальник — дисципліна обслуговування. Порівняйте FCFS, SJF/SRTF, Round Robin, Priority і MLFQ. Числа burst time є навчальними.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Linux kernel CFS scheduler design: https://docs.kernel.org/scheduler/sched-design-CFS.html</a:t>
            </a:r>
          </a:p>
          <a:p xmlns:a="http://schemas.openxmlformats.org/drawingml/2006/main">
            <a:r>
              <a:t>- Operating Systems: Three Easy Pieces: https://pages.cs.wisc.edu/~remzi/OSTEP/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FIFO — лише одна можлива дисципліна. Для класів трафіку порівняйте strict priority, WFQ/DRR та flow queueing. Рішення визначає порядок і частку каналу, критерії конфліктують.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RFC 8290: https://www.rfc-editor.org/rfc/rfc8290</a:t>
            </a:r>
          </a:p>
          <a:p xmlns:a="http://schemas.openxmlformats.org/drawingml/2006/main">
            <a:r>
              <a:t>- RFC 2309: https://www.rfc-editor.org/rfc/rfc2309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Коректне формулювання: навчання нейромережі містить оптимізаційну задачу, а інфраструктура додає задачі планування та розподілу ресурсів. Це не означає, що весь процес зводиться до одного класичного солвера.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PyTorch Distributed overview: https://pytorch.org/tutorials/beginner/dist_overview.html</a:t>
            </a:r>
          </a:p>
          <a:p xmlns:a="http://schemas.openxmlformats.org/drawingml/2006/main">
            <a:r>
              <a:t>- Megatron-LM: https://arxiv.org/abs/1909.08053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Поясніть різницю між прогнозом моделі та операційним serving. Continuous batching і керування KV cache — задачі онлайн-планування під випадковим потоком запитів.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vLLM / PagedAttention: https://arxiv.org/abs/2309.06180</a:t>
            </a:r>
          </a:p>
          <a:p xmlns:a="http://schemas.openxmlformats.org/drawingml/2006/main">
            <a:r>
              <a:t>- Speculative Decoding: https://arxiv.org/abs/2211.17192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Квантоване представлення ваг зменшує пам’ять і обчислення, але допустима втрата якості залежить від workload. Тому рішення оцінюють за Pareto-компромісом, а не за однією універсальною метрикою.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GPTQ: https://arxiv.org/abs/2210.17323</a:t>
            </a:r>
          </a:p>
          <a:p xmlns:a="http://schemas.openxmlformats.org/drawingml/2006/main">
            <a:r>
              <a:t>- Kubernetes autoscaling: https://kubernetes.io/docs/concepts/workloads/autoscaling/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Синергія має чіткий поділ ролей. ML оцінює невідомі параметри: час руху, імовірність затору, ETA та попит. ДО отримує ці прогнози як вхідні дані й обирає кероване рішення: який кур’єр виконає замовлення, в якій послідовності відвідати точки та коли перепланувати маршрут. Route Optimization API формалізує цілі й обмеження та повертає призначення задач транспортним засобам і послідовності відвідувань.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Google Maps Platform, Route Optimization API overview: https://developers.google.com/maps/documentation/route-optimization/overview</a:t>
            </a:r>
          </a:p>
          <a:p xmlns:a="http://schemas.openxmlformats.org/drawingml/2006/main">
            <a:r>
              <a:t>- Google Maps Platform, optimizeTours: https://developers.google.com/maps/documentation/route-optimization/reference/rest/v1/projects.locations/optimizeTours</a:t>
            </a:r>
          </a:p>
          <a:p xmlns:a="http://schemas.openxmlformats.org/drawingml/2006/main">
            <a:r>
              <a:t>- Ілюстрація маршрутів: Google Maps Platform Route Optimization documentation.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Формулювання на слайді — україномовні змістові парафрази, а не дослівні цитати.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Е. С. Вентцель, Исследование операций: задачи, принципы, методология.</a:t>
            </a:r>
          </a:p>
          <a:p xmlns:a="http://schemas.openxmlformats.org/drawingml/2006/main">
            <a:r>
              <a:t>- Hillier &amp; Lieberman, Introduction to Operations Research.</a:t>
            </a:r>
          </a:p>
          <a:p xmlns:a="http://schemas.openxmlformats.org/drawingml/2006/main">
            <a:r>
              <a:t>- Hamdy A. Taha, Operations Research: An Introduction.</a:t>
            </a:r>
          </a:p>
          <a:p xmlns:a="http://schemas.openxmlformats.org/drawingml/2006/main">
            <a:r>
              <a:t>- INFORMS, What is Operations Research: https://www.informs.org/Explore/Operations-Research-Analytics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 головна тріада першої лекції: змінні рішення x, допустима множина X і критерій W(x). Не переходьте тут до виведення алгоритмів.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Матриця показує не рейтинг книжок, а різні методичні ролі. Hillier і Taha задають міжнародний каркас; Rardin поглиблює моделювання; українські видання дають локальну термінологію та профільні приклади.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Hillier &amp; Lieberman, Introduction to Operations Research.</a:t>
            </a:r>
          </a:p>
          <a:p xmlns:a="http://schemas.openxmlformats.org/drawingml/2006/main">
            <a:r>
              <a:t>- Hamdy A. Taha, Operations Research: An Introduction.</a:t>
            </a:r>
          </a:p>
          <a:p xmlns:a="http://schemas.openxmlformats.org/drawingml/2006/main">
            <a:r>
              <a:t>- Ronald L. Rardin, Optimization in Operations Research.</a:t>
            </a:r>
          </a:p>
          <a:p xmlns:a="http://schemas.openxmlformats.org/drawingml/2006/main">
            <a:r>
              <a:t>- Зайченко Ю. П., Дослідження операцій.</a:t>
            </a:r>
          </a:p>
          <a:p xmlns:a="http://schemas.openxmlformats.org/drawingml/2006/main">
            <a:r>
              <a:t>- Наконечний С. І., Савіна С. С., Математичне програмування.</a:t>
            </a:r>
          </a:p>
          <a:p xmlns:a="http://schemas.openxmlformats.org/drawingml/2006/main">
            <a:r>
              <a:t>- Глибовець М. М., Олецький О. В., Алгоритми розкладу та планування в розподілених системах.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db04b953fb412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df5b9d2c51446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feedd8c46c430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cd654e1ffd4ef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a45c1657084b5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a9d2f9ea8f445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b4ae0ec01d48e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00f2dc6468416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ff4367fc3748c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3044bf3a74406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7722cd5cda49de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36E8437-E716-4102-9C2A-8BEFA20A595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8C007359-1A3A-4BFD-ADC1-1012B6DF2B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41A4327-8324-4900-8071-3E3F4B9986E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E5934E1-3FE4-4A34-AE7D-629E4002420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FCF1834-C40B-404E-B722-CC947195610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D32201-1C5A-429C-8925-BAA387833E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445E8D2-6480-49E2-B781-DC63AE833C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A3DD68A-92A9-433B-BDE7-D1AE344C02A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B3480FB-11AC-4B45-8AFD-69AC602E6F0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7BEC156-2B10-40DE-B362-43F2B182CD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8F057B5-352B-4305-9B4E-32B75CD317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A766B74-BC18-4BBA-A29D-8B16C55D2D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84D06AF-26B4-4325-A0D9-BABF896F79A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DB52937-8C26-425E-92AC-BBAEEF58206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77E3419-6B4B-4DB1-81EE-78A8EBFE0B0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086BF4D-25D5-4D2C-AD22-9B82429214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0E8CBFA-8745-42AF-9855-4A7C8D220A5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5474E74-E7A5-4F24-90B6-194CB972DFC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88F4C3C-1453-4511-B253-27C4DD461F6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227F7CD-8531-4CAD-87CA-986E722A126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B32FCF1-EFDE-4490-9334-39C8D33C6AC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3A86DC4-55A7-43A1-9891-C8455731F2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35B8235-EF86-421F-848D-CB7A8AE22C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6160991-9DF2-4CF0-BA51-AB818432D3F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03020C15-35A4-4157-AF86-8C0E05BA7C1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7D15CEDC-D433-4BBF-B5A4-9216D4079E1F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C9864066-E291-43F9-946E-6F4082C9791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96E0B8A3-9800-4E5C-B706-B6029553AFF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A13DE34-68CD-4D4A-A01F-F01F2A91626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580C083-0FD4-4B19-B1E4-FDE7490DC4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45DBBDD2-8A4D-475D-8688-AC22C45942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EA943D2C-826A-4517-80F9-C886BCD05B4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58CE1CA4-F24F-4835-A93B-6C3DF2105A9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458FDBE0-E18D-4565-9F89-12C919873D0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0B3450AD-6AF1-44AF-8AFA-737C786ADE8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CDBC9680-DA46-459B-891E-005CAF1E1C4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CF418EC-2DCA-4EC3-8977-1D8175F2C3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5961C40-3104-4265-B7F2-1C00B11A434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BBD11C3-D622-40EB-9DD8-151E71306C9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992D142-9532-4E15-A4C9-D3AC7E8C3F6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F183CAC-4E1D-450F-B376-6E0AE89FC8D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BEDD050-48E3-4634-B329-ED09B60088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8E02F14-7033-4137-BFAC-6B16CED7A2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8F76315C-823D-4B39-877E-05682BEEE9D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48CF8CC-6EC9-4DF8-A7F2-71C6DC32B3E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FB50E2A-4EB8-4389-BC5D-6FF964A4BED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1787FE8-2C41-4B1F-8919-AAFB81C3DB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0735893-37FB-479D-88F4-DC6894B3F14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6B3ED68-4184-418D-A7BD-584301CD71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B409172-5A1A-4E33-B744-299DEEF6176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BF8D9AC-0DF8-4870-8DB9-034DCFDEE07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F0C7749-19B8-45CE-BC55-2777B7C7F89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E667058-9D7B-4CC4-9409-F4C0CA7F72F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E1DB68E9-25AB-4671-88D7-53D2710975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AF9265E-DA07-4BB9-A63D-64C8421735E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2A15FF8-A2BA-464B-B6A0-84BA7AD441C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76C216C-493B-47CF-A922-366BCFAED8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85C1494-E9BA-4741-B461-AF8F3C8E46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0a6a0df1994396" /><Relationship Type="http://schemas.openxmlformats.org/officeDocument/2006/relationships/slideLayout" Target="/ppt/slideLayouts/slideLayout1.xml" Id="Rdf09edeaf0e8418b" /><Relationship Type="http://schemas.openxmlformats.org/officeDocument/2006/relationships/slideLayout" Target="/ppt/slideLayouts/slideLayout2.xml" Id="R91312a3284c24b29" /><Relationship Type="http://schemas.openxmlformats.org/officeDocument/2006/relationships/slideLayout" Target="/ppt/slideLayouts/slideLayout3.xml" Id="Rf2fdf5c4f6f34883" /><Relationship Type="http://schemas.openxmlformats.org/officeDocument/2006/relationships/slideLayout" Target="/ppt/slideLayouts/slideLayout4.xml" Id="R8bdf72a071074a33" /><Relationship Type="http://schemas.openxmlformats.org/officeDocument/2006/relationships/slideLayout" Target="/ppt/slideLayouts/slideLayout5.xml" Id="Rbc79e22f4b9c47cb" /><Relationship Type="http://schemas.openxmlformats.org/officeDocument/2006/relationships/slideLayout" Target="/ppt/slideLayouts/slideLayout6.xml" Id="Rc32aaac13e594377" /><Relationship Type="http://schemas.openxmlformats.org/officeDocument/2006/relationships/slideLayout" Target="/ppt/slideLayouts/slideLayout7.xml" Id="Rd24518bea11b42b6" /><Relationship Type="http://schemas.openxmlformats.org/officeDocument/2006/relationships/slideLayout" Target="/ppt/slideLayouts/slideLayout8.xml" Id="R33ebcda7b06b404b" /><Relationship Type="http://schemas.openxmlformats.org/officeDocument/2006/relationships/slideLayout" Target="/ppt/slideLayouts/slideLayout9.xml" Id="Rb5511acdaff946cf" /><Relationship Type="http://schemas.openxmlformats.org/officeDocument/2006/relationships/slideLayout" Target="/ppt/slideLayouts/slideLayout10.xml" Id="Rcd4a5c97d7184eaa" /><Relationship Type="http://schemas.openxmlformats.org/officeDocument/2006/relationships/slideLayout" Target="/ppt/slideLayouts/slideLayout11.xml" Id="Rf0941693e90f4ec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ED85931-8000-46A4-AB5C-8282C08E53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BC69C74-9FA2-4D27-BA77-BECF1BB9364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3DFDB5D-9486-4105-B312-3C8EB74BE40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22F4131-3958-412D-89A2-705DC4550CD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E138BFA-B9FD-4E9F-8060-3E4E837F01E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09edeaf0e8418b"/>
    <p:sldLayoutId xmlns:r="http://schemas.openxmlformats.org/officeDocument/2006/relationships" id="2147483650" r:id="R91312a3284c24b29"/>
    <p:sldLayoutId xmlns:r="http://schemas.openxmlformats.org/officeDocument/2006/relationships" id="2147483651" r:id="Rf2fdf5c4f6f34883"/>
    <p:sldLayoutId xmlns:r="http://schemas.openxmlformats.org/officeDocument/2006/relationships" id="2147483652" r:id="R8bdf72a071074a33"/>
    <p:sldLayoutId xmlns:r="http://schemas.openxmlformats.org/officeDocument/2006/relationships" id="2147483653" r:id="Rbc79e22f4b9c47cb"/>
    <p:sldLayoutId xmlns:r="http://schemas.openxmlformats.org/officeDocument/2006/relationships" id="2147483654" r:id="Rc32aaac13e594377"/>
    <p:sldLayoutId xmlns:r="http://schemas.openxmlformats.org/officeDocument/2006/relationships" id="2147483655" r:id="Rd24518bea11b42b6"/>
    <p:sldLayoutId xmlns:r="http://schemas.openxmlformats.org/officeDocument/2006/relationships" id="2147483656" r:id="R33ebcda7b06b404b"/>
    <p:sldLayoutId xmlns:r="http://schemas.openxmlformats.org/officeDocument/2006/relationships" id="2147483657" r:id="Rb5511acdaff946cf"/>
    <p:sldLayoutId xmlns:r="http://schemas.openxmlformats.org/officeDocument/2006/relationships" id="2147483658" r:id="Rcd4a5c97d7184eaa"/>
    <p:sldLayoutId xmlns:r="http://schemas.openxmlformats.org/officeDocument/2006/relationships" id="2147483659" r:id="Rf0941693e90f4ec3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0d005ca79e04f38" /><Relationship Type="http://schemas.openxmlformats.org/officeDocument/2006/relationships/image" Target="/ppt/media/image.png" Id="R4f1b96008d8d461f" /><Relationship Type="http://schemas.openxmlformats.org/officeDocument/2006/relationships/image" Target="/ppt/media/image2.png" Id="R047567235b6e45d4" /><Relationship Type="http://schemas.openxmlformats.org/officeDocument/2006/relationships/notesSlide" Target="/ppt/notesSlides/notesSlide1.xml" Id="R4c8a1b3017a740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945c6d9812749b6" /><Relationship Type="http://schemas.openxmlformats.org/officeDocument/2006/relationships/image" Target="/ppt/media/image.png" Id="R730aed571ff14c2e" /><Relationship Type="http://schemas.openxmlformats.org/officeDocument/2006/relationships/image" Target="/ppt/media/image3.png" Id="Rcec8aa70cc3f4f96" /><Relationship Type="http://schemas.openxmlformats.org/officeDocument/2006/relationships/image" Target="/ppt/media/image4.png" Id="R176d368ea6804bc1" /><Relationship Type="http://schemas.openxmlformats.org/officeDocument/2006/relationships/notesSlide" Target="/ppt/notesSlides/notesSlide2.xml" Id="R484867775d2744f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c11081f50a5461e" /><Relationship Type="http://schemas.openxmlformats.org/officeDocument/2006/relationships/image" Target="/ppt/media/image.png" Id="R370b1a00e7a5432b" /><Relationship Type="http://schemas.openxmlformats.org/officeDocument/2006/relationships/image" Target="/ppt/media/image5.png" Id="Rd11f59abe1884b4b" /><Relationship Type="http://schemas.openxmlformats.org/officeDocument/2006/relationships/notesSlide" Target="/ppt/notesSlides/notesSlide3.xml" Id="Rbeec978936ec46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87db8dc8eca4e86" /><Relationship Type="http://schemas.openxmlformats.org/officeDocument/2006/relationships/image" Target="/ppt/media/image.png" Id="R2a761f4d300d4bcb" /><Relationship Type="http://schemas.openxmlformats.org/officeDocument/2006/relationships/image" Target="/ppt/media/image6.png" Id="R3d7abae4498042d7" /><Relationship Type="http://schemas.openxmlformats.org/officeDocument/2006/relationships/image" Target="/ppt/media/image7.png" Id="R444ed91907754b1d" /><Relationship Type="http://schemas.openxmlformats.org/officeDocument/2006/relationships/image" Target="/ppt/media/image4.png" Id="R1f5f2e3b72b64156" /><Relationship Type="http://schemas.openxmlformats.org/officeDocument/2006/relationships/notesSlide" Target="/ppt/notesSlides/notesSlide4.xml" Id="Re4a6cf8e630d438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85e6de9d7454d38" /><Relationship Type="http://schemas.openxmlformats.org/officeDocument/2006/relationships/image" Target="/ppt/media/image.png" Id="R1adfeb8839554956" /><Relationship Type="http://schemas.openxmlformats.org/officeDocument/2006/relationships/image" Target="/ppt/media/image6.png" Id="Rd8ce4232340e4282" /><Relationship Type="http://schemas.openxmlformats.org/officeDocument/2006/relationships/image" Target="/ppt/media/image7.png" Id="Re0baa894f86b4b8b" /><Relationship Type="http://schemas.openxmlformats.org/officeDocument/2006/relationships/image" Target="/ppt/media/image4.png" Id="R491dce0b4f604cac" /><Relationship Type="http://schemas.openxmlformats.org/officeDocument/2006/relationships/notesSlide" Target="/ppt/notesSlides/notesSlide5.xml" Id="Refa87740fe72419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b0b20c677084557" /><Relationship Type="http://schemas.openxmlformats.org/officeDocument/2006/relationships/image" Target="/ppt/media/image.png" Id="Rb29987292b7f41de" /><Relationship Type="http://schemas.openxmlformats.org/officeDocument/2006/relationships/image" Target="/ppt/media/image8.png" Id="R94985c0272824ada" /><Relationship Type="http://schemas.openxmlformats.org/officeDocument/2006/relationships/image" Target="/ppt/media/image9.png" Id="Rf70b9b55b6404f56" /><Relationship Type="http://schemas.openxmlformats.org/officeDocument/2006/relationships/image" Target="/ppt/media/image10.png" Id="Rfea309914ed2435f" /><Relationship Type="http://schemas.openxmlformats.org/officeDocument/2006/relationships/image" Target="/ppt/media/image11.png" Id="Reb613b5fbf544729" /><Relationship Type="http://schemas.openxmlformats.org/officeDocument/2006/relationships/image" Target="/ppt/media/image12.png" Id="R9f0ba285e5b5405e" /><Relationship Type="http://schemas.openxmlformats.org/officeDocument/2006/relationships/notesSlide" Target="/ppt/notesSlides/notesSlide6.xml" Id="Rf170459be21d4c7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24bdf9bf8ac43ea" /><Relationship Type="http://schemas.openxmlformats.org/officeDocument/2006/relationships/image" Target="/ppt/media/image.png" Id="Re818e832c64e4e12" /><Relationship Type="http://schemas.openxmlformats.org/officeDocument/2006/relationships/notesSlide" Target="/ppt/notesSlides/notesSlide7.xml" Id="Rb96849e6fa68454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81104c3730e47fd" /><Relationship Type="http://schemas.openxmlformats.org/officeDocument/2006/relationships/image" Target="/ppt/media/image.png" Id="R9a51025f519041e8" /><Relationship Type="http://schemas.openxmlformats.org/officeDocument/2006/relationships/image" Target="/ppt/media/image6.png" Id="R5b6634ef1720448f" /><Relationship Type="http://schemas.openxmlformats.org/officeDocument/2006/relationships/image" Target="/ppt/media/image7.png" Id="R21c5b8aec69245a0" /><Relationship Type="http://schemas.openxmlformats.org/officeDocument/2006/relationships/image" Target="/ppt/media/image4.png" Id="Rbe99e11145bd4af9" /><Relationship Type="http://schemas.openxmlformats.org/officeDocument/2006/relationships/image" Target="/ppt/media/image13.png" Id="R14644d2f62284435" /><Relationship Type="http://schemas.openxmlformats.org/officeDocument/2006/relationships/notesSlide" Target="/ppt/notesSlides/notesSlide8.xml" Id="R8bde51d5235e489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5cad05e03b844cd" /><Relationship Type="http://schemas.openxmlformats.org/officeDocument/2006/relationships/image" Target="/ppt/media/image.png" Id="R5ed85c7181894aab" /><Relationship Type="http://schemas.openxmlformats.org/officeDocument/2006/relationships/image" Target="/ppt/media/image14.png" Id="R6b9c17c3c7034650" /><Relationship Type="http://schemas.openxmlformats.org/officeDocument/2006/relationships/notesSlide" Target="/ppt/notesSlides/notesSlide9.xml" Id="Rc94963366f3e4e2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8bcd4535e7f4765" /><Relationship Type="http://schemas.openxmlformats.org/officeDocument/2006/relationships/image" Target="/ppt/media/image.png" Id="Rae76ace72a554ad9" /><Relationship Type="http://schemas.openxmlformats.org/officeDocument/2006/relationships/notesSlide" Target="/ppt/notesSlides/notesSlide10.xml" Id="Rf1227b85dadb470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e543a1e6a3a435c" /><Relationship Type="http://schemas.openxmlformats.org/officeDocument/2006/relationships/image" Target="/ppt/media/image.png" Id="Rc170a6ff090e4960" /><Relationship Type="http://schemas.openxmlformats.org/officeDocument/2006/relationships/image" Target="/ppt/media/image6.png" Id="R9579d155a6414dec" /><Relationship Type="http://schemas.openxmlformats.org/officeDocument/2006/relationships/image" Target="/ppt/media/image7.png" Id="Rd7029f9668c948a7" /><Relationship Type="http://schemas.openxmlformats.org/officeDocument/2006/relationships/image" Target="/ppt/media/image4.png" Id="Ra57b40d247cb42b8" /><Relationship Type="http://schemas.openxmlformats.org/officeDocument/2006/relationships/notesSlide" Target="/ppt/notesSlides/notesSlide11.xml" Id="R691eec56f8dc40f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bbe738e16dc43ba" /><Relationship Type="http://schemas.openxmlformats.org/officeDocument/2006/relationships/image" Target="/ppt/media/image.png" Id="Ra719bd0c8d3645d0" /><Relationship Type="http://schemas.openxmlformats.org/officeDocument/2006/relationships/image" Target="/ppt/media/image6.png" Id="Rbccec8a0c094400b" /><Relationship Type="http://schemas.openxmlformats.org/officeDocument/2006/relationships/image" Target="/ppt/media/image7.png" Id="R5463fef7a8ab47bb" /><Relationship Type="http://schemas.openxmlformats.org/officeDocument/2006/relationships/image" Target="/ppt/media/image4.png" Id="R52deb73d9eb8442a" /><Relationship Type="http://schemas.openxmlformats.org/officeDocument/2006/relationships/notesSlide" Target="/ppt/notesSlides/notesSlide12.xml" Id="R6467244948f1433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e357c4da2d04eda" /><Relationship Type="http://schemas.openxmlformats.org/officeDocument/2006/relationships/image" Target="/ppt/media/image.png" Id="R421d5c9bbdf44440" /><Relationship Type="http://schemas.openxmlformats.org/officeDocument/2006/relationships/image" Target="/ppt/media/image6.png" Id="Rca275016b2fc4da1" /><Relationship Type="http://schemas.openxmlformats.org/officeDocument/2006/relationships/image" Target="/ppt/media/image7.png" Id="Rd6245e94f8f14207" /><Relationship Type="http://schemas.openxmlformats.org/officeDocument/2006/relationships/image" Target="/ppt/media/image4.png" Id="Rec2129927dc44e35" /><Relationship Type="http://schemas.openxmlformats.org/officeDocument/2006/relationships/notesSlide" Target="/ppt/notesSlides/notesSlide13.xml" Id="Rbdcc766b53f44aa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54954dc76fa4f2f" /><Relationship Type="http://schemas.openxmlformats.org/officeDocument/2006/relationships/image" Target="/ppt/media/image.png" Id="Rf3ad139a7a854027" /><Relationship Type="http://schemas.openxmlformats.org/officeDocument/2006/relationships/image" Target="/ppt/media/image6.png" Id="Raa1c01135bbe4634" /><Relationship Type="http://schemas.openxmlformats.org/officeDocument/2006/relationships/image" Target="/ppt/media/image7.png" Id="R6ff5d367a9704ffa" /><Relationship Type="http://schemas.openxmlformats.org/officeDocument/2006/relationships/image" Target="/ppt/media/image4.png" Id="R29e4fe6e63384f91" /><Relationship Type="http://schemas.openxmlformats.org/officeDocument/2006/relationships/notesSlide" Target="/ppt/notesSlides/notesSlide14.xml" Id="R2ae4b38b73b24f1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a1ed4b6b5d7452b" /><Relationship Type="http://schemas.openxmlformats.org/officeDocument/2006/relationships/image" Target="/ppt/media/image.png" Id="Rf0ea1da968b14d7e" /><Relationship Type="http://schemas.openxmlformats.org/officeDocument/2006/relationships/notesSlide" Target="/ppt/notesSlides/notesSlide15.xml" Id="R0e290f86affd4fb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97744f287b64f0a" /><Relationship Type="http://schemas.openxmlformats.org/officeDocument/2006/relationships/image" Target="/ppt/media/image.png" Id="R293c5678c2c94dd6" /><Relationship Type="http://schemas.openxmlformats.org/officeDocument/2006/relationships/image" Target="/ppt/media/image5.png" Id="R6ea44d8824b54834" /><Relationship Type="http://schemas.openxmlformats.org/officeDocument/2006/relationships/image" Target="/ppt/media/image15.png" Id="R05b93087be9c4e21" /><Relationship Type="http://schemas.openxmlformats.org/officeDocument/2006/relationships/notesSlide" Target="/ppt/notesSlides/notesSlide16.xml" Id="Rd73ad4de620e455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9df6097b44b43fb" /><Relationship Type="http://schemas.openxmlformats.org/officeDocument/2006/relationships/image" Target="/ppt/media/image.png" Id="Rc086e3606b294e06" /><Relationship Type="http://schemas.openxmlformats.org/officeDocument/2006/relationships/image" Target="/ppt/media/image16.png" Id="R842c1da8eaac4ccf" /><Relationship Type="http://schemas.openxmlformats.org/officeDocument/2006/relationships/image" Target="/ppt/media/image17.png" Id="R8e6a634fb1f843f2" /><Relationship Type="http://schemas.openxmlformats.org/officeDocument/2006/relationships/image" Target="/ppt/media/image18.png" Id="Rf24b2b46ff7f4493" /><Relationship Type="http://schemas.openxmlformats.org/officeDocument/2006/relationships/image" Target="/ppt/media/image19.png" Id="Rbbe6b8a134c14f89" /><Relationship Type="http://schemas.openxmlformats.org/officeDocument/2006/relationships/notesSlide" Target="/ppt/notesSlides/notesSlide17.xml" Id="Rf799e7df54b245b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8763ebaf12c479d" /><Relationship Type="http://schemas.openxmlformats.org/officeDocument/2006/relationships/image" Target="/ppt/media/image.png" Id="Rd203938940b54a07" /><Relationship Type="http://schemas.openxmlformats.org/officeDocument/2006/relationships/notesSlide" Target="/ppt/notesSlides/notesSlide18.xml" Id="Rb2fc11af90204ad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c89596099184b26" /><Relationship Type="http://schemas.openxmlformats.org/officeDocument/2006/relationships/image" Target="/ppt/media/image.png" Id="Raebaa4098e924024" /><Relationship Type="http://schemas.openxmlformats.org/officeDocument/2006/relationships/image" Target="/ppt/media/image20.png" Id="Rec9e9d5a649d4bba" /><Relationship Type="http://schemas.openxmlformats.org/officeDocument/2006/relationships/image" Target="/ppt/media/image21.png" Id="R2d09b9b0f7144a6a" /><Relationship Type="http://schemas.openxmlformats.org/officeDocument/2006/relationships/notesSlide" Target="/ppt/notesSlides/notesSlide19.xml" Id="R82c4639b5a3748d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2bfd556e82b47c9" /><Relationship Type="http://schemas.openxmlformats.org/officeDocument/2006/relationships/image" Target="/ppt/media/image.png" Id="R489aab3ed4d14114" /><Relationship Type="http://schemas.openxmlformats.org/officeDocument/2006/relationships/image" Target="/ppt/media/image8.png" Id="Rfef8858ea377429a" /><Relationship Type="http://schemas.openxmlformats.org/officeDocument/2006/relationships/image" Target="/ppt/media/image9.png" Id="R96520fbba6274b84" /><Relationship Type="http://schemas.openxmlformats.org/officeDocument/2006/relationships/image" Target="/ppt/media/image10.png" Id="R58a4f567e2a54f6e" /><Relationship Type="http://schemas.openxmlformats.org/officeDocument/2006/relationships/image" Target="/ppt/media/image11.png" Id="Raade771ecdab417d" /><Relationship Type="http://schemas.openxmlformats.org/officeDocument/2006/relationships/image" Target="/ppt/media/image12.png" Id="R0b0e3f0bb5194741" /><Relationship Type="http://schemas.openxmlformats.org/officeDocument/2006/relationships/notesSlide" Target="/ppt/notesSlides/notesSlide20.xml" Id="Rce4c62d7a4c64cb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5f0e3257aa949a3" /><Relationship Type="http://schemas.openxmlformats.org/officeDocument/2006/relationships/image" Target="/ppt/media/image.png" Id="Rdcc05b53197b49cd" /><Relationship Type="http://schemas.openxmlformats.org/officeDocument/2006/relationships/image" Target="/ppt/media/image22.png" Id="R1209cdeebdb440b1" /><Relationship Type="http://schemas.openxmlformats.org/officeDocument/2006/relationships/notesSlide" Target="/ppt/notesSlides/notesSlide21.xml" Id="R727e5f6059894a7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f3adb5b5d4747b7" /><Relationship Type="http://schemas.openxmlformats.org/officeDocument/2006/relationships/image" Target="/ppt/media/image.png" Id="R4b6e254872d740e7" /><Relationship Type="http://schemas.openxmlformats.org/officeDocument/2006/relationships/notesSlide" Target="/ppt/notesSlides/notesSlide22.xml" Id="R8171afabdf82434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1b96008d8d461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7567235b6e45d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488852"/>
            <a:ext cx="2457450" cy="276225"/>
          </a:xfrm>
          <a:prstGeom xmlns:a="http://schemas.openxmlformats.org/drawingml/2006/main" prst="rect">
            <a:avLst/>
          </a:prstGeom>
        </p:spPr>
      </p:pic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76912E1-CD44-4164-8771-8BA54C245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3202"/>
            <a:ext cx="6126703" cy="613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830"/>
              </a:lnSpc>
              <a:buNone/>
            </a:pPr>
            <a:r>
              <a:rPr sz="4200" b="1" i="0" u="none">
                <a:solidFill>
                  <a:srgbClr val="0F172A"/>
                </a:solidFill>
                <a:latin typeface="Poppins"/>
                <a:ea typeface="Poppins"/>
                <a:cs typeface="Poppins"/>
              </a:rPr>
              <a:t>Дослідження Операцій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EC15A42-9C79-4B7A-91EE-4EFDA60E0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59398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500" b="0" i="0" u="none">
                <a:solidFill>
                  <a:srgbClr val="64748B"/>
                </a:solidFill>
                <a:latin typeface="Inter"/>
                <a:ea typeface="Inter"/>
                <a:cs typeface="Inter"/>
              </a:rPr>
              <a:t>Предмет, методологія та прийняття обґрунтованих рішень у складних системах. Від реальної проблеми до математичної моделі.</a:t>
            </a:r>
          </a:p>
        </p:txBody>
      </p:sp>
    </p:spTree>
    <p:extLst>
      <p:ext uri="{BB962C8B-B14F-4D97-AF65-F5344CB8AC3E}">
        <p14:creationId xmlns:p14="http://schemas.microsoft.com/office/powerpoint/2010/main" val="12021929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0aed571ff14c2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c8aa70cc3f4f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938462"/>
            <a:ext cx="4419600" cy="1895475"/>
          </a:xfrm>
          <a:prstGeom xmlns:a="http://schemas.openxmlformats.org/drawingml/2006/main" prst="rect">
            <a:avLst/>
          </a:prstGeom>
        </p:spPr>
      </p:pic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88C2504-1CDF-4B98-BBE2-BD0DE527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19462"/>
            <a:ext cx="365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6000"/>
              </a:lnSpc>
              <a:buNone/>
            </a:pPr>
            <a:r>
              <a:rPr sz="6000" b="1" i="0" u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4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54CF0CC-2324-44B2-BE1E-1884E30FD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24337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 i="0" u="none">
                <a:solidFill>
                  <a:srgbClr val="C7D2FE"/>
                </a:solidFill>
                <a:latin typeface="Inter Medium"/>
                <a:ea typeface="Inter Medium"/>
                <a:cs typeface="Inter Medium"/>
              </a:rPr>
              <a:t>Кроки мислення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0158767-3BD3-409E-9AD0-A343853BB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427386"/>
            <a:ext cx="6819900" cy="314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 i="0" u="none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</a:rPr>
              <a:t>Після лекції: від проблеми — до перевіреної моделі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22EE908-478D-4BFA-9E64-4A544670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56011"/>
            <a:ext cx="662940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0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Студент має побачити в IT-проблемі чотири елементи моделі: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5DDE674-3566-4E46-AC7A-225E5BCB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516808"/>
            <a:ext cx="6343650" cy="258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1. Рішення: визначити керовані альтернативи дій.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80E9E71-EE8B-44A9-BA4B-5778D834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909119"/>
            <a:ext cx="63436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2. Параметри: відокремити змінні x, дані a та невизначеність ξ.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4446E6B-5FDA-4BE4-A489-A5F3ED228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560391"/>
            <a:ext cx="6343650" cy="258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3. Модель: задати допустиму множину X та критерій W(x).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B6658B41-D742-421E-BF69-318489353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952702"/>
            <a:ext cx="6343650" cy="258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4. Перевірка: розв’язати, верифікувати й валідовувати результат.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CBAC67D-4A41-47ED-8622-A289E6C8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50" b="1" i="0" u="none">
                <a:solidFill>
                  <a:srgbClr val="1E293B"/>
                </a:solidFill>
                <a:latin typeface="Poppins"/>
                <a:ea typeface="Poppins"/>
                <a:cs typeface="Poppins"/>
              </a:rPr>
              <a:t>Головний результат навчання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FE00220-15F9-4971-8B7E-E3DA2F0E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2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6d368ea6804b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72100" y="3535858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33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6d368ea6804b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72100" y="3928169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34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6d368ea6804b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72100" y="4579441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35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6d368ea6804b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72100" y="4971752"/>
            <a:ext cx="133350" cy="152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4574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0b1a00e7a543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34C9405-E205-4AC3-ACB9-0DE28D9D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80604"/>
            <a:ext cx="560070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50" b="1" i="0" u="none">
                <a:solidFill>
                  <a:srgbClr val="1E293B"/>
                </a:solidFill>
                <a:latin typeface="Poppins"/>
                <a:ea typeface="Poppins"/>
                <a:cs typeface="Poppins"/>
              </a:rPr>
              <a:t>Історія: Від Радарів до IT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26798A3-29F5-49F8-AFDE-60CB94FE4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80679"/>
            <a:ext cx="533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4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1f59abe1884b4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0"/>
            <a:ext cx="5905500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ADFCA8F-1264-412B-B3B7-CE8A60E83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95004"/>
            <a:ext cx="5600700" cy="314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 i="0" u="none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</a:rPr>
              <a:t>Зародження Дисципліни (1939–1947)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65BF917-D1A0-4179-AF3D-75A0806E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23629"/>
            <a:ext cx="5334000" cy="7768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0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Дослідження операцій виникло під час Другої світової війни для розгортання радарних мереж та маршрутизації конвоїв при дефіциті ресурсів.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B665F2E-B245-4805-B133-5B48A7A99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00512"/>
            <a:ext cx="5334000" cy="7768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0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Нобелівський лауреат </a:t>
            </a: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Леонід Канторович (1939)</a:t>
            </a:r>
            <a:r>
              <a:rPr sz="1275" b="0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 заклав основи лінійного програмування, а </a:t>
            </a: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Джордж Данциг (1947)</a:t>
            </a:r>
            <a:r>
              <a:rPr sz="1275" b="0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 створив Симплекс-метод, що революціонізував оптимізацію.</a:t>
            </a:r>
          </a:p>
        </p:txBody>
      </p:sp>
    </p:spTree>
    <p:extLst>
      <p:ext uri="{BB962C8B-B14F-4D97-AF65-F5344CB8AC3E}">
        <p14:creationId xmlns:p14="http://schemas.microsoft.com/office/powerpoint/2010/main" val="17756646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5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761f4d300d4bc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6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7abae4498042d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0" y="2076450"/>
            <a:ext cx="5334000" cy="3619500"/>
          </a:xfrm>
          <a:prstGeom xmlns:a="http://schemas.openxmlformats.org/drawingml/2006/main" prst="rect">
            <a:avLst/>
          </a:prstGeom>
        </p:spPr>
      </p:pic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CBA229A-65A0-49C8-9837-C8A88572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36018"/>
            <a:ext cx="5600700" cy="314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 i="0" u="none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</a:rPr>
              <a:t>Legacy-система: повільні релізи й Downtime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D3B5F42-05C3-4D8A-8E0D-98EE51B1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8459"/>
            <a:ext cx="533400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0" i="1" u="none">
                <a:solidFill>
                  <a:srgbClr val="64748B"/>
                </a:solidFill>
                <a:latin typeface="Inter"/>
                <a:ea typeface="Inter"/>
                <a:cs typeface="Inter"/>
              </a:rPr>
              <a:t>Кейс: ручна регресія + висока зв’язність → реліз 3 тижні; піки → до 2 год простою/місяць.</a:t>
            </a:r>
          </a:p>
        </p:txBody>
      </p:sp>
      <p:pic>
        <p:nvPicPr>
          <p:cNvPr id="39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4ed91907754b1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0" y="2085975"/>
            <a:ext cx="2581275" cy="190500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B71F998-BF6A-47EC-8566-4FB813DA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64643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Рішення: що модернізувати першочергово?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89C5300-6E67-4C27-9E1D-6A219CA6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15915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Обмеження: діючий бізнес, команда, бюджет, сумісність.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68F42CB-FBAD-4AC8-BA56-9D8E4992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67187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Критерій: lead time, downtime, ризик і вартість.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77C31C7-3C81-4725-95E0-3A37663A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50" b="1" i="0" u="none">
                <a:solidFill>
                  <a:srgbClr val="1E293B"/>
                </a:solidFill>
                <a:latin typeface="Poppins"/>
                <a:ea typeface="Poppins"/>
                <a:cs typeface="Poppins"/>
              </a:rPr>
              <a:t>Проблема: технічний борг створює вузькі місця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45D28D4-82BC-4705-BF76-4E718FB7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5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5f2e3b72b641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883693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46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5f2e3b72b641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534965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47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5f2e3b72b641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4186237"/>
            <a:ext cx="133350" cy="1524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247380-F23F-41A7-89FC-F16DD54E3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0" y="2571750"/>
            <a:ext cx="381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4A3B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9ADB63-A7E4-442A-ABA3-CB570A35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0" y="4476750"/>
            <a:ext cx="381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4A3B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C6A9DF-EA84-4E5D-81BD-B729187C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00250"/>
            <a:ext cx="1238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Технічний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борг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669EC2-52A8-475B-83AC-75D7F233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00250"/>
            <a:ext cx="1238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14288">
            <a:solidFill>
              <a:srgbClr val="EF444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Висока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зв’язність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65039D-77B2-4AAC-BF93-A68148CF1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000250"/>
            <a:ext cx="1238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14288">
            <a:solidFill>
              <a:srgbClr val="EF444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Ручна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регресія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A4B48D-EAED-4AFB-A59F-2A5EE1DB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05250"/>
            <a:ext cx="1238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94A3B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Один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сервер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91F8E5-4890-4AD7-AD6E-6F2FDCE0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05250"/>
            <a:ext cx="1238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Пікове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навантаження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A7FACC-4549-46FC-8933-C5C96478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905250"/>
            <a:ext cx="1238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14288">
            <a:solidFill>
              <a:srgbClr val="EF444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Відмова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994BA7-46B8-4BA6-A10F-D3EDAA54C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047875"/>
            <a:ext cx="762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4338CA"/>
                </a:solidFill>
              </a:defRPr>
            </a:pPr>
            <a:r>
              <a:rPr sz="1425" b="1">
                <a:solidFill>
                  <a:srgbClr val="4338CA"/>
                </a:solidFill>
              </a:rPr>
              <a:t>3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4338CA"/>
                </a:solidFill>
              </a:defRPr>
            </a:pPr>
            <a:r>
              <a:rPr sz="1425" b="1">
                <a:solidFill>
                  <a:srgbClr val="4338CA"/>
                </a:solidFill>
              </a:rPr>
              <a:t>тижні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FF0A2D-BEB8-4079-946B-25F7A8E37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952875"/>
            <a:ext cx="762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4338CA"/>
                </a:solidFill>
              </a:defRPr>
            </a:pPr>
            <a:r>
              <a:rPr sz="1275" b="1">
                <a:solidFill>
                  <a:srgbClr val="4338CA"/>
                </a:solidFill>
              </a:rPr>
              <a:t>2 год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4338CA"/>
                </a:solidFill>
              </a:defRPr>
            </a:pPr>
            <a:r>
              <a:rPr sz="1275" b="1">
                <a:solidFill>
                  <a:srgbClr val="4338CA"/>
                </a:solidFill>
              </a:rPr>
              <a:t>/ міс.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B4ED91-3E8E-48A9-B9CE-107C1ABA5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48000"/>
            <a:ext cx="5191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4338CA"/>
                </a:solidFill>
              </a:defRPr>
            </a:pPr>
            <a:r>
              <a:rPr sz="1350" b="1">
                <a:solidFill>
                  <a:srgbClr val="4338CA"/>
                </a:solidFill>
              </a:rPr>
              <a:t>Два вимірювані bottleneck: доставка змін і надійність</a:t>
            </a:r>
          </a:p>
        </p:txBody>
      </p:sp>
    </p:spTree>
    <p:extLst>
      <p:ext uri="{BB962C8B-B14F-4D97-AF65-F5344CB8AC3E}">
        <p14:creationId xmlns:p14="http://schemas.microsoft.com/office/powerpoint/2010/main" val="17624217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dfeb88395549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ce4232340e42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0" y="2076450"/>
            <a:ext cx="5334000" cy="3619500"/>
          </a:xfrm>
          <a:prstGeom xmlns:a="http://schemas.openxmlformats.org/drawingml/2006/main" prst="rect">
            <a:avLst/>
          </a:prstGeom>
        </p:spPr>
      </p:pic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CBA229A-65A0-49C8-9837-C8A88572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36018"/>
            <a:ext cx="5600700" cy="314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 i="0" u="none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</a:rPr>
              <a:t>Моноліт → мікросервіси + CI/CD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D3B5F42-05C3-4D8A-8E0D-98EE51B1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8412"/>
            <a:ext cx="533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0" i="1" u="none">
                <a:solidFill>
                  <a:srgbClr val="64748B"/>
                </a:solidFill>
                <a:latin typeface="Inter"/>
                <a:ea typeface="Inter"/>
                <a:cs typeface="Inter"/>
              </a:rPr>
              <a:t>ДО визначає порядок міграції, ресурси й компроміс між швидкістю, ризиком і вартістю.</a:t>
            </a:r>
          </a:p>
        </p:txBody>
      </p:sp>
      <p:pic>
        <p:nvPicPr>
          <p:cNvPr id="34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baa894f86b4b8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0" y="2085975"/>
            <a:ext cx="2581275" cy="190500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B71F998-BF6A-47EC-8566-4FB813DA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64644"/>
            <a:ext cx="5048250" cy="5178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Сервіси: Go / Node.js у Docker-контейнерах.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89C5300-6E67-4C27-9E1D-6A219CA6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15868"/>
            <a:ext cx="5048250" cy="5178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Оркестрація: Kubernetes, health checks, autoscaling.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68F42CB-FBAD-4AC8-BA56-9D8E4992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67188"/>
            <a:ext cx="5048250" cy="5178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Якість: автотести в GitLab CI для кожного Pull Request.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77C31C7-3C81-4725-95E0-3A37663A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50" b="1" i="0" u="none">
                <a:solidFill>
                  <a:srgbClr val="1E293B"/>
                </a:solidFill>
                <a:latin typeface="Poppins"/>
                <a:ea typeface="Poppins"/>
                <a:cs typeface="Poppins"/>
              </a:rPr>
              <a:t>Рішення: архітектура + автоматизація доставки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45D28D4-82BC-4705-BF76-4E718FB7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0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1dce0b4f604c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883693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41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1dce0b4f604c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534965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42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1dce0b4f604c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4186237"/>
            <a:ext cx="133350" cy="1524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B4DE02-585B-4B13-A9BA-1EC9A66EF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14625"/>
            <a:ext cx="4762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48E8"/>
          </a:solidFill>
          <a:ln xmlns:a="http://schemas.openxmlformats.org/drawingml/2006/main" w="0">
            <a:solidFill>
              <a:srgbClr val="5548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CFD687-B8AA-447C-BDBB-4BF60A83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714625"/>
            <a:ext cx="4762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48E8"/>
          </a:solidFill>
          <a:ln xmlns:a="http://schemas.openxmlformats.org/drawingml/2006/main" w="0">
            <a:solidFill>
              <a:srgbClr val="5548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2216EE-0213-4E20-B03C-7DA557EC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1238250" cy="14287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14288">
            <a:solidFill>
              <a:srgbClr val="EF444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Моноліт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ручні тести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1 реліз/міс.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9BE087-BB56-48E9-B51C-705824208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1666875" cy="1714500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Мікросервіси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Go / Node.js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Docker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API contracts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CDA9A7-4234-4F08-843C-6F0D7201E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1952625"/>
            <a:ext cx="1381125" cy="1714500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4288">
            <a:solidFill>
              <a:srgbClr val="10B98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Kubernetes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health checks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autoscaling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rollback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6478D0-E013-4D50-BC6F-957FD792C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34766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GitLab CI/CD: Pull Request → автотести → образ → deploy</a:t>
            </a:r>
          </a:p>
        </p:txBody>
      </p:sp>
    </p:spTree>
    <p:extLst>
      <p:ext uri="{BB962C8B-B14F-4D97-AF65-F5344CB8AC3E}">
        <p14:creationId xmlns:p14="http://schemas.microsoft.com/office/powerpoint/2010/main" val="17624217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9987292b7f41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5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985c0272824ad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38275" y="3363366"/>
            <a:ext cx="476250" cy="476250"/>
          </a:xfrm>
          <a:prstGeom xmlns:a="http://schemas.openxmlformats.org/drawingml/2006/main" prst="rect">
            <a:avLst/>
          </a:prstGeom>
        </p:spPr>
      </p:pic>
      <p:pic>
        <p:nvPicPr>
          <p:cNvPr id="36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0b9b55b6404f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48075" y="3363366"/>
            <a:ext cx="476250" cy="476250"/>
          </a:xfrm>
          <a:prstGeom xmlns:a="http://schemas.openxmlformats.org/drawingml/2006/main" prst="rect">
            <a:avLst/>
          </a:prstGeom>
        </p:spPr>
      </p:pic>
      <p:pic>
        <p:nvPicPr>
          <p:cNvPr id="37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a309914ed243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57875" y="3363366"/>
            <a:ext cx="476250" cy="476250"/>
          </a:xfrm>
          <a:prstGeom xmlns:a="http://schemas.openxmlformats.org/drawingml/2006/main" prst="rect">
            <a:avLst/>
          </a:prstGeom>
        </p:spPr>
      </p:pic>
      <p:pic>
        <p:nvPicPr>
          <p:cNvPr id="38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613b5fbf5447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67675" y="3363366"/>
            <a:ext cx="476250" cy="476250"/>
          </a:xfrm>
          <a:prstGeom xmlns:a="http://schemas.openxmlformats.org/drawingml/2006/main" prst="rect">
            <a:avLst/>
          </a:prstGeom>
        </p:spPr>
      </p:pic>
      <p:pic>
        <p:nvPicPr>
          <p:cNvPr id="39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0ba285e5b540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77475" y="3363366"/>
            <a:ext cx="476250" cy="476250"/>
          </a:xfrm>
          <a:prstGeom xmlns:a="http://schemas.openxmlformats.org/drawingml/2006/main" prst="rect">
            <a:avLst/>
          </a:prstGeom>
        </p:spPr>
      </p:pic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9DA59F1-2F84-45A8-8E79-DF2D181EE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57650"/>
            <a:ext cx="9944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FA60FB8-55AC-4149-8205-B4B90E3C4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" y="4030116"/>
            <a:ext cx="2120265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0" i="0" u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</a:rPr>
              <a:t>Контур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340BDC9-EA90-4C92-9681-EAE23629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3491"/>
            <a:ext cx="2019300" cy="4265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679"/>
              </a:lnSpc>
              <a:buNone/>
            </a:pPr>
            <a:r>
              <a:rPr sz="1050" b="0" i="0" u="none">
                <a:solidFill>
                  <a:srgbClr val="64748B"/>
                </a:solidFill>
                <a:latin typeface="Inter"/>
                <a:ea typeface="Inter"/>
                <a:cs typeface="Inter"/>
              </a:rPr>
              <a:t>Виділити домени та залежності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27D7FCD0-A924-4FA0-BBA3-57F6B2CBE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6067" y="4030116"/>
            <a:ext cx="2120265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0" i="0" u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</a:rPr>
              <a:t>Перший сервіс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3C80D78-241A-43CC-9EF6-A0CE3AD9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363491"/>
            <a:ext cx="2019300" cy="4265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679"/>
              </a:lnSpc>
              <a:buNone/>
            </a:pPr>
            <a:r>
              <a:rPr sz="1050" b="0" i="0" u="none">
                <a:solidFill>
                  <a:srgbClr val="64748B"/>
                </a:solidFill>
                <a:latin typeface="Inter"/>
                <a:ea typeface="Inter"/>
                <a:cs typeface="Inter"/>
              </a:rPr>
              <a:t>Винести low-risk компонент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F3DF5D1-756C-4A25-B1F8-12E055263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5867" y="4030116"/>
            <a:ext cx="2120265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0" i="0" u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</a:rPr>
              <a:t>Автотести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CC9D7DDD-437C-4632-8163-A4B81960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363491"/>
            <a:ext cx="2019300" cy="2132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679"/>
              </a:lnSpc>
              <a:buNone/>
            </a:pPr>
            <a:r>
              <a:rPr sz="1050" b="0" i="0" u="none">
                <a:solidFill>
                  <a:srgbClr val="64748B"/>
                </a:solidFill>
                <a:latin typeface="Inter"/>
                <a:ea typeface="Inter"/>
                <a:cs typeface="Inter"/>
              </a:rPr>
              <a:t>CI/CD і контрактні тести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67C7C6BA-B1D1-4333-B1F1-648584D7E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5667" y="4030116"/>
            <a:ext cx="2120265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0" i="0" u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</a:rPr>
              <a:t>Масштабування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4F72934B-F015-47AC-BA82-9F13E373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363491"/>
            <a:ext cx="2019300" cy="4265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679"/>
              </a:lnSpc>
              <a:buNone/>
            </a:pPr>
            <a:r>
              <a:rPr sz="1050" b="0" i="0" u="none">
                <a:solidFill>
                  <a:srgbClr val="64748B"/>
                </a:solidFill>
                <a:latin typeface="Inter"/>
                <a:ea typeface="Inter"/>
                <a:cs typeface="Inter"/>
              </a:rPr>
              <a:t>Kubernetes і спостережуваність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F3B0230A-03B7-47DF-819E-B2B57315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5467" y="4030116"/>
            <a:ext cx="2120265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0" i="0" u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</a:rPr>
              <a:t>Відключення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FFC450F3-78AC-435D-92BA-3833AF09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363491"/>
            <a:ext cx="2019300" cy="2132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679"/>
              </a:lnSpc>
              <a:buNone/>
            </a:pPr>
            <a:r>
              <a:rPr sz="1050" b="0" i="0" u="none">
                <a:solidFill>
                  <a:srgbClr val="64748B"/>
                </a:solidFill>
                <a:latin typeface="Inter"/>
                <a:ea typeface="Inter"/>
                <a:cs typeface="Inter"/>
              </a:rPr>
              <a:t>Прибрати модуль моноліту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D7837FA0-244A-4590-B1BA-DE9BC1CAF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50" b="1" i="0" u="none">
                <a:solidFill>
                  <a:srgbClr val="1E293B"/>
                </a:solidFill>
                <a:latin typeface="Poppins"/>
                <a:ea typeface="Poppins"/>
                <a:cs typeface="Poppins"/>
              </a:rPr>
              <a:t>План міграції: Strangler Fig без зупинки бізнесу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AD620B00-5266-4BD1-BC26-EA1293A7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DE69C7-2406-425E-9086-24207174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381625"/>
            <a:ext cx="8667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4338CA"/>
                </a:solidFill>
              </a:defRPr>
            </a:pPr>
            <a:r>
              <a:rPr sz="1650" b="1">
                <a:solidFill>
                  <a:srgbClr val="4338CA"/>
                </a:solidFill>
              </a:rPr>
              <a:t>2 квартали  •  3 Backend  •  1 DevOps  •  1 QA Automation</a:t>
            </a:r>
          </a:p>
        </p:txBody>
      </p:sp>
    </p:spTree>
    <p:extLst>
      <p:ext uri="{BB962C8B-B14F-4D97-AF65-F5344CB8AC3E}">
        <p14:creationId xmlns:p14="http://schemas.microsoft.com/office/powerpoint/2010/main" val="1575212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18e832c64e4e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A2F1C2F-9B59-4784-8DCF-3D08BFA0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301454"/>
            <a:ext cx="197465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04B42CF8-F2A1-4021-9C26-CDB7FCE1C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5676" y="3301454"/>
            <a:ext cx="449178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B149AD8-FC3A-4F37-AC20-8F3B180A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7458" y="3301454"/>
            <a:ext cx="456351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F5AA8B4-D729-483C-93FF-0541F5B8A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889027"/>
            <a:ext cx="1974651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2BC0F8B-C450-4BD4-AEA5-3FF6EFA5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5676" y="3889027"/>
            <a:ext cx="4491781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1C334AF-9DAA-4243-B4B8-B8602F65F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7458" y="3889027"/>
            <a:ext cx="4563516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C9BE82E-D553-466B-BC2A-5A3507EB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462313"/>
            <a:ext cx="1974651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AA541DD9-1E74-48A4-B048-1F7319EB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5676" y="4462313"/>
            <a:ext cx="4491781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D897B760-73C6-4423-A42C-8C8DB7EE2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7458" y="4462313"/>
            <a:ext cx="4563516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E39A80B-660A-494C-8D67-802BB5EF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50" b="1" i="0" u="none">
                <a:solidFill>
                  <a:srgbClr val="1E293B"/>
                </a:solidFill>
                <a:latin typeface="Poppins"/>
                <a:ea typeface="Poppins"/>
                <a:cs typeface="Poppins"/>
              </a:rPr>
              <a:t>Метрики успіху: DORA + ROI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CC6BA325-D405-4FD3-ADA5-C9FF5F095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graphicFrame>
        <p:nvGraphicFramePr>
          <p:cNvPr id="33" name=""/>
          <p:cNvGraphicFramePr/>
          <p:nvPr/>
        </p:nvGraphicFramePr>
        <p:xfrm>
          <a:off xmlns:a="http://schemas.openxmlformats.org/drawingml/2006/main" x="571500" y="1714500"/>
          <a:ext xmlns:a="http://schemas.openxmlformats.org/drawingml/2006/main" cx="110490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2286000"/>
                <a:gridCol w="2286000"/>
                <a:gridCol w="3143250"/>
              </a:tblGrid>
              <a:tr h="71437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2033"/>
                          </a:solidFill>
                        </a:rPr>
                        <a:t>Метрика</a:t>
                      </a:r>
                    </a:p>
                  </a:txBody>
                  <a:tcPr marL="91440" marR="91440" marT="45720" marB="4572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2033"/>
                          </a:solidFill>
                        </a:rPr>
                        <a:t>До міграції</a:t>
                      </a:r>
                    </a:p>
                  </a:txBody>
                  <a:tcPr marL="91440" marR="91440" marT="45720" marB="4572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2033"/>
                          </a:solidFill>
                        </a:rPr>
                        <a:t>Ціль кейсу</a:t>
                      </a:r>
                    </a:p>
                  </a:txBody>
                  <a:tcPr marL="91440" marR="91440" marT="45720" marB="4572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2033"/>
                          </a:solidFill>
                        </a:rPr>
                        <a:t>Навіщо вимірюємо</a:t>
                      </a:r>
                    </a:p>
                  </a:txBody>
                  <a:tcPr marL="91440" marR="91440" marT="45720" marB="45720">
                    <a:solidFill>
                      <a:srgbClr val="EEF2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4C5D78"/>
                          </a:solidFill>
                        </a:rPr>
                        <a:t>Lead Time for Changes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4C5D78"/>
                          </a:solidFill>
                        </a:rPr>
                        <a:t>14 днів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4C5D78"/>
                          </a:solidFill>
                        </a:rPr>
                        <a:t>45 хв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4C5D78"/>
                          </a:solidFill>
                        </a:rPr>
                        <a:t>Швидкість доставки цінності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4C5D78"/>
                          </a:solidFill>
                        </a:rPr>
                        <a:t>Deployment Frequency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4C5D78"/>
                          </a:solidFill>
                        </a:rPr>
                        <a:t>1 раз/місяць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4C5D78"/>
                          </a:solidFill>
                        </a:rPr>
                        <a:t>кілька разів/день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4C5D78"/>
                          </a:solidFill>
                        </a:rPr>
                        <a:t>Малі й безпечні зміни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4C5D78"/>
                          </a:solidFill>
                        </a:rPr>
                        <a:t>MTTR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4C5D78"/>
                          </a:solidFill>
                        </a:rPr>
                        <a:t>2 години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4C5D78"/>
                          </a:solidFill>
                        </a:rPr>
                        <a:t>5 хв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4C5D78"/>
                          </a:solidFill>
                        </a:rPr>
                        <a:t>Стійкість і швидкий rollback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0EA056-A064-42F9-AA37-CAAC3CB90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905375"/>
            <a:ext cx="7524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4288">
            <a:solidFill>
              <a:srgbClr val="10B98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47857"/>
                </a:solidFill>
              </a:defRPr>
            </a:pPr>
            <a:r>
              <a:rPr sz="1575" b="1">
                <a:solidFill>
                  <a:srgbClr val="047857"/>
                </a:solidFill>
              </a:rPr>
              <a:t>ROI = (зекономлений час + уникнений downtime − інвестиції) / інвестиції</a:t>
            </a:r>
          </a:p>
        </p:txBody>
      </p:sp>
    </p:spTree>
    <p:extLst>
      <p:ext uri="{BB962C8B-B14F-4D97-AF65-F5344CB8AC3E}">
        <p14:creationId xmlns:p14="http://schemas.microsoft.com/office/powerpoint/2010/main" val="16025088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51025f519041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0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6634ef172044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0" y="2076450"/>
            <a:ext cx="5334000" cy="3619500"/>
          </a:xfrm>
          <a:prstGeom xmlns:a="http://schemas.openxmlformats.org/drawingml/2006/main" prst="rect">
            <a:avLst/>
          </a:prstGeom>
        </p:spPr>
      </p:pic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CBA229A-65A0-49C8-9837-C8A88572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36018"/>
            <a:ext cx="5600700" cy="314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 i="0" u="none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</a:rPr>
              <a:t>Постановка: обрати Node для кожного Pod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D3B5F42-05C3-4D8A-8E0D-98EE51B1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8459"/>
            <a:ext cx="533400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0" i="1" u="none">
                <a:solidFill>
                  <a:srgbClr val="64748B"/>
                </a:solidFill>
                <a:latin typeface="Inter"/>
                <a:ea typeface="Inter"/>
                <a:cs typeface="Inter"/>
              </a:rPr>
              <a:t>Один кластер — багато допустимих розміщень. ДО задає правило вибору.</a:t>
            </a:r>
          </a:p>
        </p:txBody>
      </p:sp>
      <p:pic>
        <p:nvPicPr>
          <p:cNvPr id="23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c5b8aec69245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0" y="2085975"/>
            <a:ext cx="2581275" cy="190500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B71F998-BF6A-47EC-8566-4FB813DA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64643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Змінні xᵢⱼ: Pod i призначено на Node j.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89C5300-6E67-4C27-9E1D-6A219CA6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15915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Обмеження X: CPU, RAM, GPU, affinity, taints.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68F42CB-FBAD-4AC8-BA56-9D8E4992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67187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Критерій W(x): latency, баланс, енергія або вартість.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77C31C7-3C81-4725-95E0-3A37663A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50" b="1" i="0" u="none">
                <a:solidFill>
                  <a:srgbClr val="1E293B"/>
                </a:solidFill>
                <a:latin typeface="Poppins"/>
                <a:ea typeface="Poppins"/>
                <a:cs typeface="Poppins"/>
              </a:rPr>
              <a:t>Kubernetes: Pod → Node як задача розміщення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45D28D4-82BC-4705-BF76-4E718FB7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9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99e11145bd4a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883693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30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99e11145bd4a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534965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3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99e11145bd4a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4186237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644d2f62284435"/>
          <a:stretch xmlns:a="http://schemas.openxmlformats.org/drawingml/2006/main"/>
        </p:blipFill>
        <p:spPr>
          <a:xfrm xmlns:a="http://schemas.openxmlformats.org/drawingml/2006/main">
            <a:off x="6286500" y="2385215"/>
            <a:ext cx="5334000" cy="300197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4217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d85c7181894a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6B0785D-CBD9-40D5-9A2F-E7FA67A1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7197"/>
            <a:ext cx="5600700" cy="1000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50" b="1" i="0" u="none">
                <a:solidFill>
                  <a:srgbClr val="1E293B"/>
                </a:solidFill>
                <a:latin typeface="Poppins"/>
                <a:ea typeface="Poppins"/>
                <a:cs typeface="Poppins"/>
              </a:rPr>
              <a:t>Kubernetes Scheduler:</a:t>
            </a:r>
          </a:p>
          <a:p xmlns:a="http://schemas.openxmlformats.org/drawingml/2006/main">
            <a:pPr algn="l">
              <a:buNone/>
            </a:pPr>
            <a:r>
              <a:rPr sz="2550" b="1" i="0" u="none">
                <a:solidFill>
                  <a:srgbClr val="1E293B"/>
                </a:solidFill>
                <a:latin typeface="Poppins"/>
                <a:ea typeface="Poppins"/>
                <a:cs typeface="Poppins"/>
              </a:rPr>
              <a:t>Filter → Score → Bind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1180A61-FCB8-4BBC-82DF-48D944538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3047"/>
            <a:ext cx="533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4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9c17c3c70346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0" y="0"/>
            <a:ext cx="5905500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F546081-97D1-4273-B067-049E6BB16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67372"/>
            <a:ext cx="5600700" cy="314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 i="0" u="none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</a:rPr>
              <a:t>Евристичний pipeline ≠ глобальний ILP solver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86EBBE7-4DA7-46D7-8F05-BD4367A4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95997"/>
            <a:ext cx="533400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0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Filter відсікає несумісні Nodes; Score ранжує допустимі варіанти.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4BB4397-C93F-445C-B728-5CE6817B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13919"/>
            <a:ext cx="5334000" cy="7768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0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Bind фіксує вибір. Навчальна модель: bin packing / ILP, xᵢⱼ ∈ {0,1}.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066491-3CEE-412D-BAD4-6DC30316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95625"/>
            <a:ext cx="3333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48E8"/>
          </a:solidFill>
          <a:ln xmlns:a="http://schemas.openxmlformats.org/drawingml/2006/main" w="0">
            <a:solidFill>
              <a:srgbClr val="5548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E7C022-BC44-4010-8CD3-30406FFD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95625"/>
            <a:ext cx="3333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48E8"/>
          </a:solidFill>
          <a:ln xmlns:a="http://schemas.openxmlformats.org/drawingml/2006/main" w="0">
            <a:solidFill>
              <a:srgbClr val="5548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2732F4-EB8F-4DDC-A47D-A9CAF481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95625"/>
            <a:ext cx="3333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48E8"/>
          </a:solidFill>
          <a:ln xmlns:a="http://schemas.openxmlformats.org/drawingml/2006/main" w="0">
            <a:solidFill>
              <a:srgbClr val="5548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8272D6-B1D4-4F8C-99F5-854F3E37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619375"/>
            <a:ext cx="1047750" cy="114300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Черга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Pod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50614F-8322-4D10-991B-EDAA168D2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19375"/>
            <a:ext cx="1047750" cy="114300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FILTER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допустимість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599608-15F1-4D4F-857A-57A3FC2A1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619375"/>
            <a:ext cx="1047750" cy="114300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SCORE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0…100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1F05B6-F955-4295-81D0-B734DE3F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619375"/>
            <a:ext cx="1047750" cy="114300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4288">
            <a:solidFill>
              <a:srgbClr val="10B98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BIND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Pod → Node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6D262A-24E0-498D-A695-8CC749D25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238625"/>
            <a:ext cx="35718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Навчальна модель: bin packing / ILP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xᵢⱼ ∈ {0,1}; місткість CPU, RAM, GPU</a:t>
            </a:r>
          </a:p>
        </p:txBody>
      </p:sp>
    </p:spTree>
    <p:extLst>
      <p:ext uri="{BB962C8B-B14F-4D97-AF65-F5344CB8AC3E}">
        <p14:creationId xmlns:p14="http://schemas.microsoft.com/office/powerpoint/2010/main" val="10822404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9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76ace72a554a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6B0785D-CBD9-40D5-9A2F-E7FA67A1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7197"/>
            <a:ext cx="5600700" cy="1000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50" b="1" i="0" u="none">
                <a:solidFill>
                  <a:srgbClr val="1E293B"/>
                </a:solidFill>
                <a:latin typeface="Poppins"/>
                <a:ea typeface="Poppins"/>
                <a:cs typeface="Poppins"/>
              </a:rPr>
              <a:t>Маршрутизація: вибрати найкращий допустимий шлях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1180A61-FCB8-4BBC-82DF-48D944538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3047"/>
            <a:ext cx="533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F546081-97D1-4273-B067-049E6BB16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67372"/>
            <a:ext cx="5600700" cy="314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 i="0" u="none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</a:rPr>
              <a:t>Shortest Path / Min-Cost Flow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86EBBE7-4DA7-46D7-8F05-BD4367A4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95997"/>
            <a:ext cx="533400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0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Змінні рішення: які дуги входять до маршруту. Обмеження: зв’язність і пропускна здатність.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4BB4397-C93F-445C-B728-5CE6817B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13919"/>
            <a:ext cx="5334000" cy="7768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0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Критерій: мінімізувати сумарну затримку або вартість; для потоків — не перевищити capacity каналів.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276A42-185E-40B4-8D46-B9215AC96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934200" y="1695450"/>
            <a:ext cx="1285875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5548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BCCAD3-8821-423D-BD34-BD514FD2C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3288" y="1519238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4338CA"/>
                </a:solidFill>
              </a:defRPr>
            </a:pPr>
            <a:r>
              <a:rPr sz="1200" b="1">
                <a:solidFill>
                  <a:srgbClr val="4338CA"/>
                </a:solidFill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BE8B55-862A-4A8A-81B5-BF418E3D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220075" y="1695450"/>
            <a:ext cx="1476375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5548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057AD9-8929-4CEE-A842-2DFE2BD5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1563" y="15906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4338CA"/>
                </a:solidFill>
              </a:defRPr>
            </a:pPr>
            <a:r>
              <a:rPr sz="1200" b="1">
                <a:solidFill>
                  <a:srgbClr val="4338CA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037CD6-0D07-4A55-95C1-2A5F1CDF9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696450" y="1838325"/>
            <a:ext cx="1714500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5548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68F1DF-466B-4FC4-8A5C-BBD9B935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662113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4338CA"/>
                </a:solidFill>
              </a:defRPr>
            </a:pPr>
            <a:r>
              <a:rPr sz="1200" b="1">
                <a:solidFill>
                  <a:srgbClr val="4338CA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43D8C7-7B48-4BD7-9A9F-506E4B0A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934200" y="2219325"/>
            <a:ext cx="1285875" cy="904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4A3B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3BC67F-3450-4979-AA30-D9F22C890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2338" y="2519363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4C5D78"/>
                </a:solidFill>
              </a:defRPr>
            </a:pPr>
            <a:r>
              <a:rPr sz="1200" b="1">
                <a:solidFill>
                  <a:srgbClr val="4C5D78"/>
                </a:solidFill>
              </a:rPr>
              <a:t>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A1C1CD-8AA5-4995-9777-D6824553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220075" y="2362200"/>
            <a:ext cx="1476375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4A3B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57BDFF-826F-47DC-9071-FF0103F75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6313" y="22383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4C5D78"/>
                </a:solidFill>
              </a:defRPr>
            </a:pPr>
            <a:r>
              <a:rPr sz="1200" b="1">
                <a:solidFill>
                  <a:srgbClr val="4C5D78"/>
                </a:solidFill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9E5C5C-F5C6-4B35-A65D-B91C936D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220075" y="3124200"/>
            <a:ext cx="1476375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4A3B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72B39D-EC8F-47B1-B677-38E3EE271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9663" y="3333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4C5D78"/>
                </a:solidFill>
              </a:defRPr>
            </a:pPr>
            <a:r>
              <a:rPr sz="1200" b="1">
                <a:solidFill>
                  <a:srgbClr val="4C5D78"/>
                </a:solidFill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79303E-3135-4DEF-8DF1-C5358957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220075" y="1695450"/>
            <a:ext cx="1476375" cy="2190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4A3B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66B158-A858-4D84-B974-3D8C5B15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7763" y="27336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4C5D78"/>
                </a:solidFill>
              </a:defRPr>
            </a:pPr>
            <a:r>
              <a:rPr sz="1200" b="1">
                <a:solidFill>
                  <a:srgbClr val="4C5D78"/>
                </a:solidFill>
              </a:rPr>
              <a:t>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024D70-0916-4DB1-9214-F6BD48E7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696450" y="1838325"/>
            <a:ext cx="1714500" cy="2047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4A3B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26A63C-5FD9-4E21-9994-40725AA74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709863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4C5D78"/>
                </a:solidFill>
              </a:defRPr>
            </a:pPr>
            <a:r>
              <a:rPr sz="1200" b="1">
                <a:solidFill>
                  <a:srgbClr val="4C5D78"/>
                </a:solidFill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902656-761D-4410-BDF1-5F940629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696450" y="2362200"/>
            <a:ext cx="123825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4A3B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8F28CC-0F6F-4E48-A6A5-A6289C635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22860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4C5D78"/>
                </a:solidFill>
              </a:defRPr>
            </a:pPr>
            <a:r>
              <a:rPr sz="1200" b="1">
                <a:solidFill>
                  <a:srgbClr val="4C5D78"/>
                </a:solidFill>
              </a:rPr>
              <a:t>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8DD132-C1E9-42F3-B265-77CFA5ED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0934700" y="1838325"/>
            <a:ext cx="476250" cy="119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4A3B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2CC42E-F9E9-4FF1-AEAD-4BFF1ADE7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325" y="2262188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4C5D78"/>
                </a:solidFill>
              </a:defRPr>
            </a:pPr>
            <a:r>
              <a:rPr sz="1200" b="1">
                <a:solidFill>
                  <a:srgbClr val="4C5D78"/>
                </a:solidFill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D7EBEA-6E99-457A-9591-7B7FF8CDF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52625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48E8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42A5E0-079C-40D2-AD71-FF123892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42875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B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43E8B0-15A6-48A0-BFA8-1CB2865F4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5750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C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E24B34-1F71-4524-BCE5-B43C7FBA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9550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E6A086-8D91-4181-B479-714EABFB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1950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891660E-BB98-4651-B5A8-35F08126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76225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1466D04-E751-46A8-8965-A7E2E1EA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1571625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14288">
            <a:solidFill>
              <a:srgbClr val="10B98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F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D1BD973-F558-4E86-ACD4-94F20A10B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619625"/>
            <a:ext cx="4000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4338CA"/>
                </a:solidFill>
              </a:defRPr>
            </a:pPr>
            <a:r>
              <a:rPr sz="1425" b="1">
                <a:solidFill>
                  <a:srgbClr val="4338CA"/>
                </a:solidFill>
              </a:rPr>
              <a:t>Оптимальний шлях A → B → D → F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4338CA"/>
                </a:solidFill>
              </a:defRPr>
            </a:pPr>
            <a:r>
              <a:rPr sz="1425" b="1">
                <a:solidFill>
                  <a:srgbClr val="4338CA"/>
                </a:solidFill>
              </a:rPr>
              <a:t>сумарна вартість = 4 + 3 + 2 = 9</a:t>
            </a:r>
          </a:p>
        </p:txBody>
      </p:sp>
    </p:spTree>
    <p:extLst>
      <p:ext uri="{BB962C8B-B14F-4D97-AF65-F5344CB8AC3E}">
        <p14:creationId xmlns:p14="http://schemas.microsoft.com/office/powerpoint/2010/main" val="108224043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6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70a6ff090e49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7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79d155a6414d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0" y="2076450"/>
            <a:ext cx="5334000" cy="3619500"/>
          </a:xfrm>
          <a:prstGeom xmlns:a="http://schemas.openxmlformats.org/drawingml/2006/main" prst="rect">
            <a:avLst/>
          </a:prstGeom>
        </p:spPr>
      </p:pic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CBA229A-65A0-49C8-9837-C8A88572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36018"/>
            <a:ext cx="5600700" cy="314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 i="0" u="none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</a:rPr>
              <a:t>Постановка: який процес виконувати наступним?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D3B5F42-05C3-4D8A-8E0D-98EE51B1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8459"/>
            <a:ext cx="533400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0" i="1" u="none">
                <a:solidFill>
                  <a:srgbClr val="64748B"/>
                </a:solidFill>
                <a:latin typeface="Inter"/>
                <a:ea typeface="Inter"/>
                <a:cs typeface="Inter"/>
              </a:rPr>
              <a:t>Після I/O або вичерпання кванта процес може повернутися до черги.</a:t>
            </a:r>
          </a:p>
        </p:txBody>
      </p:sp>
      <p:pic>
        <p:nvPicPr>
          <p:cNvPr id="40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029f9668c948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0" y="2085975"/>
            <a:ext cx="2581275" cy="190500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B71F998-BF6A-47EC-8566-4FB813DA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64643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Змінні рішення: порядок запуску та квант CPU.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89C5300-6E67-4C27-9E1D-6A219CA6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15915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Обмеження: один CPU, тривалість burst, пріоритет, дедлайн.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68F42CB-FBAD-4AC8-BA56-9D8E4992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67187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Критерії: час відповіді й очікування, пропускна здатність, справедливість.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77C31C7-3C81-4725-95E0-3A37663A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50" b="1" i="0" u="none">
                <a:solidFill>
                  <a:srgbClr val="1E293B"/>
                </a:solidFill>
                <a:latin typeface="Poppins"/>
                <a:ea typeface="Poppins"/>
                <a:cs typeface="Poppins"/>
              </a:rPr>
              <a:t>Обслуговування процесів: кілька черг — один CPU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45D28D4-82BC-4705-BF76-4E718FB7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6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7b40d247cb42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883693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47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7b40d247cb42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534965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48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7b40d247cb42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4186237"/>
            <a:ext cx="133350" cy="1524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16FAA4-CDC1-41A8-9569-DD42235A5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095500"/>
            <a:ext cx="4286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48E8"/>
          </a:solidFill>
          <a:ln xmlns:a="http://schemas.openxmlformats.org/drawingml/2006/main" w="0">
            <a:solidFill>
              <a:srgbClr val="5548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F03513-4E38-4C77-A8E6-375C9980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048000"/>
            <a:ext cx="4286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48E8"/>
          </a:solidFill>
          <a:ln xmlns:a="http://schemas.openxmlformats.org/drawingml/2006/main" w="0">
            <a:solidFill>
              <a:srgbClr val="5548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C21E1D-EFE0-46D1-9EC7-4CAF9BD90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000500"/>
            <a:ext cx="4286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48E8"/>
          </a:solidFill>
          <a:ln xmlns:a="http://schemas.openxmlformats.org/drawingml/2006/main" w="0">
            <a:solidFill>
              <a:srgbClr val="5548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19570C-87A5-4E82-94C5-1E826AE60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76575"/>
            <a:ext cx="4762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48E8"/>
          </a:solidFill>
          <a:ln xmlns:a="http://schemas.openxmlformats.org/drawingml/2006/main" w="0">
            <a:solidFill>
              <a:srgbClr val="5548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89473B-4D98-4CC2-929C-30C8A0DF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858500" y="3762375"/>
            <a:ext cx="9525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0B98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67FB9C-177A-426C-A186-7EAAD6C9E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048125"/>
            <a:ext cx="22860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B2200A-ADE6-4EA1-A035-E9E0157F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572750" y="3762375"/>
            <a:ext cx="9525" cy="1457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F59E0B"/>
            </a:solidFill>
            <a:prstDash val="dash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667C3D-1E0F-4047-8EF1-ACA541AF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477125" y="5219700"/>
            <a:ext cx="30956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F59E0B"/>
            </a:solidFill>
            <a:prstDash val="dash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2E4548-6797-4C56-AF5A-A00B5EB4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477125" y="4524375"/>
            <a:ext cx="9525" cy="695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F59E0B"/>
            </a:solidFill>
            <a:prstDash val="dash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6FA36C-A154-43DD-9BDB-F8303E25C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286250"/>
            <a:ext cx="228600" cy="2857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8" name="cpu-high">
            <a:extLst xmlns:a="http://schemas.openxmlformats.org/drawingml/2006/main">
              <a:ext uri="{FF2B5EF4-FFF2-40B4-BE49-F238E27FC236}">
                <a16:creationId xmlns:a16="http://schemas.microsoft.com/office/drawing/2014/main" id="{AE0F0DD0-D59C-482D-9244-B4AD9447D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57375"/>
            <a:ext cx="1666875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14288">
            <a:solidFill>
              <a:srgbClr val="EF444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Високий пріоритет</a:t>
            </a:r>
          </a:p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P1 · 3 ms</a:t>
            </a:r>
          </a:p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P4 · 6 ms</a:t>
            </a:r>
          </a:p>
        </p:txBody>
      </p:sp>
      <p:sp>
        <p:nvSpPr>
          <p:cNvPr id="29" name="cpu-interactive">
            <a:extLst xmlns:a="http://schemas.openxmlformats.org/drawingml/2006/main">
              <a:ext uri="{FF2B5EF4-FFF2-40B4-BE49-F238E27FC236}">
                <a16:creationId xmlns:a16="http://schemas.microsoft.com/office/drawing/2014/main" id="{66B23F28-3DA3-4BE6-96AE-7E6B3231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09875"/>
            <a:ext cx="1666875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Інтерактивні</a:t>
            </a:r>
          </a:p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P2 · 2 ms</a:t>
            </a:r>
          </a:p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P5 · 4 ms</a:t>
            </a:r>
          </a:p>
        </p:txBody>
      </p:sp>
      <p:sp>
        <p:nvSpPr>
          <p:cNvPr id="30" name="cpu-batch">
            <a:extLst xmlns:a="http://schemas.openxmlformats.org/drawingml/2006/main">
              <a:ext uri="{FF2B5EF4-FFF2-40B4-BE49-F238E27FC236}">
                <a16:creationId xmlns:a16="http://schemas.microsoft.com/office/drawing/2014/main" id="{335DDDB3-1098-44C6-AC3D-F5887F52F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62375"/>
            <a:ext cx="1666875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94A3B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Пакетні</a:t>
            </a:r>
          </a:p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P3 · 12 ms</a:t>
            </a:r>
          </a:p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P6 · 18 ms</a:t>
            </a:r>
          </a:p>
        </p:txBody>
      </p:sp>
      <p:sp>
        <p:nvSpPr>
          <p:cNvPr id="31" name="cpu-scheduler">
            <a:extLst xmlns:a="http://schemas.openxmlformats.org/drawingml/2006/main">
              <a:ext uri="{FF2B5EF4-FFF2-40B4-BE49-F238E27FC236}">
                <a16:creationId xmlns:a16="http://schemas.microsoft.com/office/drawing/2014/main" id="{A976CF91-C929-4968-AA89-7343C437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57375"/>
            <a:ext cx="1333500" cy="2571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338CA"/>
                </a:solidFill>
              </a:defRPr>
            </a:pPr>
            <a:r>
              <a:rPr sz="1350" b="1">
                <a:solidFill>
                  <a:srgbClr val="4338CA"/>
                </a:solidFill>
              </a:rPr>
              <a:t>ВИБІР</a:t>
            </a:r>
          </a:p>
          <a:p xmlns:a="http://schemas.openxmlformats.org/drawingml/2006/main">
            <a:pPr algn="ctr">
              <a:defRPr sz="1350" b="1">
                <a:solidFill>
                  <a:srgbClr val="4338CA"/>
                </a:solidFill>
              </a:defRPr>
            </a:pPr>
            <a:r>
              <a:rPr sz="1350" b="1">
                <a:solidFill>
                  <a:srgbClr val="4338CA"/>
                </a:solidFill>
              </a:rPr>
              <a:t>ПРОЦЕСУ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350" b="1">
                <a:solidFill>
                  <a:srgbClr val="4338CA"/>
                </a:solidFill>
              </a:defRPr>
            </a:pPr>
            <a:r>
              <a:rPr sz="1350" b="1">
                <a:solidFill>
                  <a:srgbClr val="4338CA"/>
                </a:solidFill>
              </a:rPr>
              <a:t>FCFS · RR</a:t>
            </a:r>
          </a:p>
          <a:p xmlns:a="http://schemas.openxmlformats.org/drawingml/2006/main">
            <a:pPr algn="ctr">
              <a:defRPr sz="1350" b="1">
                <a:solidFill>
                  <a:srgbClr val="4338CA"/>
                </a:solidFill>
              </a:defRPr>
            </a:pPr>
            <a:r>
              <a:rPr sz="1350" b="1">
                <a:solidFill>
                  <a:srgbClr val="4338CA"/>
                </a:solidFill>
              </a:rPr>
              <a:t>Priority / MLFQ</a:t>
            </a:r>
          </a:p>
        </p:txBody>
      </p:sp>
      <p:sp>
        <p:nvSpPr>
          <p:cNvPr id="32" name="cpu-device">
            <a:extLst xmlns:a="http://schemas.openxmlformats.org/drawingml/2006/main">
              <a:ext uri="{FF2B5EF4-FFF2-40B4-BE49-F238E27FC236}">
                <a16:creationId xmlns:a16="http://schemas.microsoft.com/office/drawing/2014/main" id="{9432CAFB-6F5D-46E6-A860-AC141F472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714625"/>
            <a:ext cx="11430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4288">
            <a:solidFill>
              <a:srgbClr val="10B98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47857"/>
                </a:solidFill>
              </a:defRPr>
            </a:pPr>
            <a:r>
              <a:rPr sz="1275" b="1">
                <a:solidFill>
                  <a:srgbClr val="047857"/>
                </a:solidFill>
              </a:rPr>
              <a:t>CPU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75" b="1">
                <a:solidFill>
                  <a:srgbClr val="047857"/>
                </a:solidFill>
              </a:defRPr>
            </a:pPr>
            <a:r>
              <a:rPr sz="1275" b="1">
                <a:solidFill>
                  <a:srgbClr val="047857"/>
                </a:solidFill>
              </a:rPr>
              <a:t>1 процес</a:t>
            </a:r>
          </a:p>
          <a:p xmlns:a="http://schemas.openxmlformats.org/drawingml/2006/main">
            <a:pPr algn="ctr">
              <a:defRPr sz="1275" b="1">
                <a:solidFill>
                  <a:srgbClr val="047857"/>
                </a:solidFill>
              </a:defRPr>
            </a:pPr>
            <a:r>
              <a:rPr sz="1275" b="1">
                <a:solidFill>
                  <a:srgbClr val="047857"/>
                </a:solidFill>
              </a:rPr>
              <a:t>у момент часу</a:t>
            </a:r>
          </a:p>
        </p:txBody>
      </p:sp>
      <p:sp>
        <p:nvSpPr>
          <p:cNvPr id="33" name="cpu-done">
            <a:extLst xmlns:a="http://schemas.openxmlformats.org/drawingml/2006/main">
              <a:ext uri="{FF2B5EF4-FFF2-40B4-BE49-F238E27FC236}">
                <a16:creationId xmlns:a16="http://schemas.microsoft.com/office/drawing/2014/main" id="{DAEAD296-C434-43CC-B7ED-8A3EFA53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333875"/>
            <a:ext cx="1143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4288">
            <a:solidFill>
              <a:srgbClr val="10B98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47857"/>
                </a:solidFill>
              </a:defRPr>
            </a:pPr>
            <a:r>
              <a:rPr sz="1200" b="1">
                <a:solidFill>
                  <a:srgbClr val="047857"/>
                </a:solidFill>
              </a:rPr>
              <a:t>Завершено</a:t>
            </a:r>
          </a:p>
        </p:txBody>
      </p:sp>
      <p:sp>
        <p:nvSpPr>
          <p:cNvPr id="34" name="cpu-feedback">
            <a:extLst xmlns:a="http://schemas.openxmlformats.org/drawingml/2006/main">
              <a:ext uri="{FF2B5EF4-FFF2-40B4-BE49-F238E27FC236}">
                <a16:creationId xmlns:a16="http://schemas.microsoft.com/office/drawing/2014/main" id="{E59D4D95-E34E-432E-A8F9-300FE181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9053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45309"/>
                </a:solidFill>
              </a:defRPr>
            </a:pPr>
            <a:r>
              <a:rPr sz="1125" b="1">
                <a:solidFill>
                  <a:srgbClr val="B45309"/>
                </a:solidFill>
              </a:rPr>
              <a:t>I/O завершено або квант вичерпано</a:t>
            </a:r>
          </a:p>
        </p:txBody>
      </p:sp>
      <p:sp>
        <p:nvSpPr>
          <p:cNvPr id="35" name="cpu-queues">
            <a:extLst xmlns:a="http://schemas.openxmlformats.org/drawingml/2006/main">
              <a:ext uri="{FF2B5EF4-FFF2-40B4-BE49-F238E27FC236}">
                <a16:creationId xmlns:a16="http://schemas.microsoft.com/office/drawing/2014/main" id="{D9FEB9F5-F95B-4C98-840A-3C63B16A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81150"/>
            <a:ext cx="1666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C5D78"/>
                </a:solidFill>
              </a:defRPr>
            </a:pPr>
            <a:r>
              <a:rPr sz="1050" b="1">
                <a:solidFill>
                  <a:srgbClr val="4C5D78"/>
                </a:solidFill>
              </a:rPr>
              <a:t>Черги процесів</a:t>
            </a:r>
          </a:p>
        </p:txBody>
      </p:sp>
    </p:spTree>
    <p:extLst>
      <p:ext uri="{BB962C8B-B14F-4D97-AF65-F5344CB8AC3E}">
        <p14:creationId xmlns:p14="http://schemas.microsoft.com/office/powerpoint/2010/main" val="176242173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6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19bd0c8d3645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7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cec8a0c09440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0" y="2076450"/>
            <a:ext cx="5334000" cy="3619500"/>
          </a:xfrm>
          <a:prstGeom xmlns:a="http://schemas.openxmlformats.org/drawingml/2006/main" prst="rect">
            <a:avLst/>
          </a:prstGeom>
        </p:spPr>
      </p:pic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CBA229A-65A0-49C8-9837-C8A88572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36018"/>
            <a:ext cx="5600700" cy="314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 i="0" u="none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</a:rPr>
              <a:t>Постановка: який пакет передавати наступним?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D3B5F42-05C3-4D8A-8E0D-98EE51B1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8459"/>
            <a:ext cx="533400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0" i="1" u="none">
                <a:solidFill>
                  <a:srgbClr val="64748B"/>
                </a:solidFill>
                <a:latin typeface="Inter"/>
                <a:ea typeface="Inter"/>
                <a:cs typeface="Inter"/>
              </a:rPr>
              <a:t>Після втрати або тайм-ауту пакет може бути повторно поставлений у чергу.</a:t>
            </a:r>
          </a:p>
        </p:txBody>
      </p:sp>
      <p:pic>
        <p:nvPicPr>
          <p:cNvPr id="40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63fef7a8ab47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0" y="2085975"/>
            <a:ext cx="2581275" cy="190500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B71F998-BF6A-47EC-8566-4FB813DA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64643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Змінні рішення: порядок пакетів, клас QoS, частка пропускної здатності.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89C5300-6E67-4C27-9E1D-6A219CA6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15915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Обмеження: ємність C, буфер, довжина пакета, дедлайн.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68F42CB-FBAD-4AC8-BA56-9D8E4992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67187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Критерії: затримка, втрати, джиттер, пропускна здатність, справедливість.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77C31C7-3C81-4725-95E0-3A37663A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50" b="1" i="0" u="none">
                <a:solidFill>
                  <a:srgbClr val="1E293B"/>
                </a:solidFill>
                <a:latin typeface="Poppins"/>
                <a:ea typeface="Poppins"/>
                <a:cs typeface="Poppins"/>
              </a:rPr>
              <a:t>Передавання пакетів: кілька джерел — один канал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45D28D4-82BC-4705-BF76-4E718FB7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6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deb73d9eb844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883693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47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deb73d9eb844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534965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48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deb73d9eb844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4186237"/>
            <a:ext cx="133350" cy="1524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B622C2-8F1B-45C8-8B27-E6AD26D6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095500"/>
            <a:ext cx="4286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48E8"/>
          </a:solidFill>
          <a:ln xmlns:a="http://schemas.openxmlformats.org/drawingml/2006/main" w="0">
            <a:solidFill>
              <a:srgbClr val="5548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6EF7B8-3B7A-4A6C-A127-382DDE0F1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048000"/>
            <a:ext cx="4286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48E8"/>
          </a:solidFill>
          <a:ln xmlns:a="http://schemas.openxmlformats.org/drawingml/2006/main" w="0">
            <a:solidFill>
              <a:srgbClr val="5548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956C3F-4B44-4384-94B6-AA17A246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000500"/>
            <a:ext cx="4286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48E8"/>
          </a:solidFill>
          <a:ln xmlns:a="http://schemas.openxmlformats.org/drawingml/2006/main" w="0">
            <a:solidFill>
              <a:srgbClr val="5548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15499D-635A-4D9D-A27F-C534C061B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76575"/>
            <a:ext cx="4762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48E8"/>
          </a:solidFill>
          <a:ln xmlns:a="http://schemas.openxmlformats.org/drawingml/2006/main" w="0">
            <a:solidFill>
              <a:srgbClr val="5548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9F3050-C6C4-4895-AC20-4E0F57175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858500" y="3762375"/>
            <a:ext cx="9525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0B98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81F365-ABBC-4D51-AE20-6C9A4ADA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048125"/>
            <a:ext cx="22860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EA9720-5F1C-4A13-9C66-BB0C7E136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572750" y="3762375"/>
            <a:ext cx="9525" cy="1457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EF4444"/>
            </a:solidFill>
            <a:prstDash val="dash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BC43D1-F6F3-4605-8BCF-43AE1545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477125" y="5219700"/>
            <a:ext cx="30956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EF4444"/>
            </a:solidFill>
            <a:prstDash val="dash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34E7D6-E3D0-4B09-8540-5303925E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477125" y="4524375"/>
            <a:ext cx="9525" cy="695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EF4444"/>
            </a:solidFill>
            <a:prstDash val="dash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AC8F18-69F3-4D39-B954-5872D4C8F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286250"/>
            <a:ext cx="228600" cy="2857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EF4444"/>
            </a:solidFill>
            <a:prstDash val="solid"/>
          </a:ln>
        </p:spPr>
      </p:sp>
      <p:sp>
        <p:nvSpPr>
          <p:cNvPr id="28" name="packet-voip">
            <a:extLst xmlns:a="http://schemas.openxmlformats.org/drawingml/2006/main">
              <a:ext uri="{FF2B5EF4-FFF2-40B4-BE49-F238E27FC236}">
                <a16:creationId xmlns:a16="http://schemas.microsoft.com/office/drawing/2014/main" id="{0EAD393D-2601-4F4F-B392-534E07911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57375"/>
            <a:ext cx="1666875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14288">
            <a:solidFill>
              <a:srgbClr val="EF444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VoIP · високий QoS</a:t>
            </a:r>
          </a:p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A1 · 200 B</a:t>
            </a:r>
          </a:p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A2 · 200 B</a:t>
            </a:r>
          </a:p>
        </p:txBody>
      </p:sp>
      <p:sp>
        <p:nvSpPr>
          <p:cNvPr id="29" name="packet-video">
            <a:extLst xmlns:a="http://schemas.openxmlformats.org/drawingml/2006/main">
              <a:ext uri="{FF2B5EF4-FFF2-40B4-BE49-F238E27FC236}">
                <a16:creationId xmlns:a16="http://schemas.microsoft.com/office/drawing/2014/main" id="{1622038D-AD9F-478E-88D4-1DB4D50D5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09875"/>
            <a:ext cx="1666875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Відео</a:t>
            </a:r>
          </a:p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B1 · 1200 B</a:t>
            </a:r>
          </a:p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B2 · 1000 B</a:t>
            </a:r>
          </a:p>
        </p:txBody>
      </p:sp>
      <p:sp>
        <p:nvSpPr>
          <p:cNvPr id="30" name="packet-data">
            <a:extLst xmlns:a="http://schemas.openxmlformats.org/drawingml/2006/main">
              <a:ext uri="{FF2B5EF4-FFF2-40B4-BE49-F238E27FC236}">
                <a16:creationId xmlns:a16="http://schemas.microsoft.com/office/drawing/2014/main" id="{1F5227DE-B4ED-41C3-ABB4-8AD012B2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62375"/>
            <a:ext cx="1666875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94A3B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Дані</a:t>
            </a:r>
          </a:p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C1 · 1500 B</a:t>
            </a:r>
          </a:p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C2 · 1500 B</a:t>
            </a:r>
          </a:p>
        </p:txBody>
      </p:sp>
      <p:sp>
        <p:nvSpPr>
          <p:cNvPr id="31" name="packet-scheduler">
            <a:extLst xmlns:a="http://schemas.openxmlformats.org/drawingml/2006/main">
              <a:ext uri="{FF2B5EF4-FFF2-40B4-BE49-F238E27FC236}">
                <a16:creationId xmlns:a16="http://schemas.microsoft.com/office/drawing/2014/main" id="{2121E377-6F7E-4265-BA29-D452A047E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57375"/>
            <a:ext cx="1333500" cy="2571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338CA"/>
                </a:solidFill>
              </a:defRPr>
            </a:pPr>
            <a:r>
              <a:rPr sz="1350" b="1">
                <a:solidFill>
                  <a:srgbClr val="4338CA"/>
                </a:solidFill>
              </a:rPr>
              <a:t>ВИБІР</a:t>
            </a:r>
          </a:p>
          <a:p xmlns:a="http://schemas.openxmlformats.org/drawingml/2006/main">
            <a:pPr algn="ctr">
              <a:defRPr sz="1350" b="1">
                <a:solidFill>
                  <a:srgbClr val="4338CA"/>
                </a:solidFill>
              </a:defRPr>
            </a:pPr>
            <a:r>
              <a:rPr sz="1350" b="1">
                <a:solidFill>
                  <a:srgbClr val="4338CA"/>
                </a:solidFill>
              </a:rPr>
              <a:t>ПАКЕТА</a:t>
            </a:r>
          </a:p>
          <a:p xmlns:a="http://schemas.openxmlformats.org/drawingml/2006/main">
            <a:pPr algn="ctr">
              <a:defRPr sz="1350" b="1">
                <a:solidFill>
                  <a:srgbClr val="4338CA"/>
                </a:solidFill>
              </a:defRPr>
            </a:pPr>
            <a:r>
              <a:rPr sz="1350" b="1">
                <a:solidFill>
                  <a:srgbClr val="4338CA"/>
                </a:solidFill>
              </a:rPr>
              <a:t>QoS + BUFFER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350" b="1">
                <a:solidFill>
                  <a:srgbClr val="4338CA"/>
                </a:solidFill>
              </a:defRPr>
            </a:pPr>
            <a:r>
              <a:rPr sz="1350" b="1">
                <a:solidFill>
                  <a:srgbClr val="4338CA"/>
                </a:solidFill>
              </a:rPr>
              <a:t>Priority</a:t>
            </a:r>
          </a:p>
          <a:p xmlns:a="http://schemas.openxmlformats.org/drawingml/2006/main">
            <a:pPr algn="ctr">
              <a:defRPr sz="1350" b="1">
                <a:solidFill>
                  <a:srgbClr val="4338CA"/>
                </a:solidFill>
              </a:defRPr>
            </a:pPr>
            <a:r>
              <a:rPr sz="1350" b="1">
                <a:solidFill>
                  <a:srgbClr val="4338CA"/>
                </a:solidFill>
              </a:rPr>
              <a:t>WFQ / DRR</a:t>
            </a:r>
          </a:p>
        </p:txBody>
      </p:sp>
      <p:sp>
        <p:nvSpPr>
          <p:cNvPr id="32" name="packet-channel">
            <a:extLst xmlns:a="http://schemas.openxmlformats.org/drawingml/2006/main">
              <a:ext uri="{FF2B5EF4-FFF2-40B4-BE49-F238E27FC236}">
                <a16:creationId xmlns:a16="http://schemas.microsoft.com/office/drawing/2014/main" id="{487852ED-BDFC-4C18-AF47-FA1C804DE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714625"/>
            <a:ext cx="11430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4288">
            <a:solidFill>
              <a:srgbClr val="10B98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47857"/>
                </a:solidFill>
              </a:defRPr>
            </a:pPr>
            <a:r>
              <a:rPr sz="1200" b="1">
                <a:solidFill>
                  <a:srgbClr val="047857"/>
                </a:solidFill>
              </a:rPr>
              <a:t>КАНАЛ</a:t>
            </a:r>
          </a:p>
          <a:p xmlns:a="http://schemas.openxmlformats.org/drawingml/2006/main">
            <a:pPr algn="ctr">
              <a:defRPr sz="1200" b="1">
                <a:solidFill>
                  <a:srgbClr val="047857"/>
                </a:solidFill>
              </a:defRPr>
            </a:pPr>
            <a:r>
              <a:rPr sz="1200" b="1">
                <a:solidFill>
                  <a:srgbClr val="047857"/>
                </a:solidFill>
              </a:rPr>
              <a:t>ємність 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00" b="1">
                <a:solidFill>
                  <a:srgbClr val="047857"/>
                </a:solidFill>
              </a:defRPr>
            </a:pPr>
            <a:r>
              <a:rPr sz="1200" b="1">
                <a:solidFill>
                  <a:srgbClr val="047857"/>
                </a:solidFill>
              </a:rPr>
              <a:t>1 пакет</a:t>
            </a:r>
          </a:p>
          <a:p xmlns:a="http://schemas.openxmlformats.org/drawingml/2006/main">
            <a:pPr algn="ctr">
              <a:defRPr sz="1200" b="1">
                <a:solidFill>
                  <a:srgbClr val="047857"/>
                </a:solidFill>
              </a:defRPr>
            </a:pPr>
            <a:r>
              <a:rPr sz="1200" b="1">
                <a:solidFill>
                  <a:srgbClr val="047857"/>
                </a:solidFill>
              </a:rPr>
              <a:t>у момент часу</a:t>
            </a:r>
          </a:p>
        </p:txBody>
      </p:sp>
      <p:sp>
        <p:nvSpPr>
          <p:cNvPr id="33" name="packet-receiver">
            <a:extLst xmlns:a="http://schemas.openxmlformats.org/drawingml/2006/main">
              <a:ext uri="{FF2B5EF4-FFF2-40B4-BE49-F238E27FC236}">
                <a16:creationId xmlns:a16="http://schemas.microsoft.com/office/drawing/2014/main" id="{6D2416BF-2E7C-49FE-B1FD-5470859B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333875"/>
            <a:ext cx="1143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4288">
            <a:solidFill>
              <a:srgbClr val="10B98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47857"/>
                </a:solidFill>
              </a:defRPr>
            </a:pPr>
            <a:r>
              <a:rPr sz="1200" b="1">
                <a:solidFill>
                  <a:srgbClr val="047857"/>
                </a:solidFill>
              </a:rPr>
              <a:t>Отримувач</a:t>
            </a:r>
          </a:p>
        </p:txBody>
      </p:sp>
      <p:sp>
        <p:nvSpPr>
          <p:cNvPr id="34" name="packet-feedback">
            <a:extLst xmlns:a="http://schemas.openxmlformats.org/drawingml/2006/main">
              <a:ext uri="{FF2B5EF4-FFF2-40B4-BE49-F238E27FC236}">
                <a16:creationId xmlns:a16="http://schemas.microsoft.com/office/drawing/2014/main" id="{299A4391-8877-4A39-B61C-93AD42BD7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9053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91C1C"/>
                </a:solidFill>
              </a:defRPr>
            </a:pPr>
            <a:r>
              <a:rPr sz="1125" b="1">
                <a:solidFill>
                  <a:srgbClr val="B91C1C"/>
                </a:solidFill>
              </a:rPr>
              <a:t>Втрата / тайм-аут → повторне передавання</a:t>
            </a:r>
          </a:p>
        </p:txBody>
      </p:sp>
      <p:sp>
        <p:nvSpPr>
          <p:cNvPr id="35" name="packet-queues">
            <a:extLst xmlns:a="http://schemas.openxmlformats.org/drawingml/2006/main">
              <a:ext uri="{FF2B5EF4-FFF2-40B4-BE49-F238E27FC236}">
                <a16:creationId xmlns:a16="http://schemas.microsoft.com/office/drawing/2014/main" id="{18FD95D9-85E0-4290-8E4E-555B968A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81150"/>
            <a:ext cx="1666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C5D78"/>
                </a:solidFill>
              </a:defRPr>
            </a:pPr>
            <a:r>
              <a:rPr sz="1050" b="1">
                <a:solidFill>
                  <a:srgbClr val="4C5D78"/>
                </a:solidFill>
              </a:rPr>
              <a:t>Черги пакетів</a:t>
            </a:r>
          </a:p>
        </p:txBody>
      </p:sp>
    </p:spTree>
    <p:extLst>
      <p:ext uri="{BB962C8B-B14F-4D97-AF65-F5344CB8AC3E}">
        <p14:creationId xmlns:p14="http://schemas.microsoft.com/office/powerpoint/2010/main" val="176242173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1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1d5c9bbdf444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62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275016b2fc4d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0" y="2076450"/>
            <a:ext cx="5334000" cy="3619500"/>
          </a:xfrm>
          <a:prstGeom xmlns:a="http://schemas.openxmlformats.org/drawingml/2006/main" prst="rect">
            <a:avLst/>
          </a:prstGeom>
        </p:spPr>
      </p:pic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CBA229A-65A0-49C8-9837-C8A88572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36018"/>
            <a:ext cx="5600700" cy="314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 i="0" u="none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</a:rPr>
              <a:t>Loss minimization + distributed scheduling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D3B5F42-05C3-4D8A-8E0D-98EE51B1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8459"/>
            <a:ext cx="533400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0" i="1" u="none">
                <a:solidFill>
                  <a:srgbClr val="64748B"/>
                </a:solidFill>
                <a:latin typeface="Inter"/>
                <a:ea typeface="Inter"/>
                <a:cs typeface="Inter"/>
              </a:rPr>
              <a:t>SGD/AdamW оптимізують ваги; планувальник розподіляє роботу й градієнти між GPU.</a:t>
            </a:r>
          </a:p>
        </p:txBody>
      </p:sp>
      <p:pic>
        <p:nvPicPr>
          <p:cNvPr id="65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245e94f8f142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0" y="2085975"/>
            <a:ext cx="2581275" cy="190500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B71F998-BF6A-47EC-8566-4FB813DA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64643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Змінні: ваги θ, batch size, parallelism, placement.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89C5300-6E67-4C27-9E1D-6A219CA6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15915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Обмеження: GPU memory, bandwidth, energy budget.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68F42CB-FBAD-4AC8-BA56-9D8E4992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67187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Критерії: loss, час навчання, вартість і utilization.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77C31C7-3C81-4725-95E0-3A37663A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50" b="1" i="0" u="none">
                <a:solidFill>
                  <a:srgbClr val="1E293B"/>
                </a:solidFill>
                <a:latin typeface="Poppins"/>
                <a:ea typeface="Poppins"/>
                <a:cs typeface="Poppins"/>
              </a:rPr>
              <a:t>LLM як задача ДО: оптимізація навчання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45D28D4-82BC-4705-BF76-4E718FB7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71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2129927dc44e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883693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72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2129927dc44e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534965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73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2129927dc44e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4186237"/>
            <a:ext cx="133350" cy="1524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A29F89-CFDD-459E-B456-624759219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934200" y="1981200"/>
            <a:ext cx="1190625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2F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40DFFA-8FC6-49CA-A666-71B85BED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934200" y="2266950"/>
            <a:ext cx="1190625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2F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ECB578-4E46-487E-8488-0B680E11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934200" y="2266950"/>
            <a:ext cx="1190625" cy="704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2F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6A40E5-8C86-4AB1-8832-311F6771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934200" y="1981200"/>
            <a:ext cx="1190625" cy="876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2F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189C4A-ADE3-4F7D-921A-300F81E6B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934200" y="2476500"/>
            <a:ext cx="1190625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2F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0760BE-DCDA-404C-8D80-3E720D755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934200" y="2857500"/>
            <a:ext cx="1190625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2F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1F890A-EF8B-438F-89D8-B024CFE9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124825" y="1981200"/>
            <a:ext cx="133350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2F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ADF2E0-0C4C-45B6-9E11-A794194C6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124825" y="1981200"/>
            <a:ext cx="1333500" cy="638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2F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BB1D34-8D49-4073-B6BB-EC8BC21B9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124825" y="1981200"/>
            <a:ext cx="1333500" cy="1133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2F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B2A0AA-5290-4C32-A0D9-68AA5DB2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124825" y="2124075"/>
            <a:ext cx="133350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2F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C72B7E-872B-4EF7-B646-500E5E1B4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124825" y="2571750"/>
            <a:ext cx="133350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2F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E2ED25-3A86-4114-BE5D-9B9DDAE74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124825" y="2571750"/>
            <a:ext cx="1333500" cy="542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2F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B7E283-3471-4478-8959-5E1CFE90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124825" y="2124075"/>
            <a:ext cx="1333500" cy="1038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2F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B245A6-6A28-4F29-8F04-B9202BBB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124825" y="2619375"/>
            <a:ext cx="1333500" cy="542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2F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4FE4D5-E9EA-42D6-80CA-68008B28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124825" y="3114675"/>
            <a:ext cx="133350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2F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7EE4E2-B5E4-4311-B327-2FB6BC72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458325" y="2124075"/>
            <a:ext cx="128587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2F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55CD3B-39A6-421A-B288-F47931E1F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458325" y="2124075"/>
            <a:ext cx="1285875" cy="733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2F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74223F2-FD9B-4020-ACE5-76559DE8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458325" y="2362200"/>
            <a:ext cx="1285875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2F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BD6993E-B0D1-4168-9D42-85824B4B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458325" y="2714625"/>
            <a:ext cx="1285875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2F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6D6F207-DD46-430D-91E0-A621A69A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458325" y="2362200"/>
            <a:ext cx="1285875" cy="942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2F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631DC9F-270B-48B3-813F-EACC59B5B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458325" y="2857500"/>
            <a:ext cx="1285875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2F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E11CE60-BBE0-4A6E-905A-0F165B5C0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9550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D3CE232-E8F4-44F1-B099-190D62DB8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8605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255836D-BFEA-42D9-997A-ED641BE63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80975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C56B093-F987-4DDE-A10F-BA11EBA8F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0505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E2F337D-72B2-4621-B195-D0723A6FF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0035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025C5AC-975A-40F3-B8AE-B7FCF9D73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952625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0D5615A-2899-4F1F-AECA-142F4AA43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447925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7CDD677-ADCE-4BCA-98D8-E492849E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943225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D994FFB-44B5-4D69-BA76-95D3D49C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19075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4288">
            <a:solidFill>
              <a:srgbClr val="10B98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DDC4E11-9BD2-41FC-9356-F8682D49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68605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4288">
            <a:solidFill>
              <a:srgbClr val="10B98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7646C8E-A0A6-4929-93D5-AF43B14D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7187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4338CA"/>
                </a:solidFill>
              </a:defRPr>
            </a:pPr>
            <a:r>
              <a:rPr sz="1350" b="1">
                <a:solidFill>
                  <a:srgbClr val="4338CA"/>
                </a:solidFill>
              </a:rPr>
              <a:t>Ваги θ: оптимізуються за градієнтом ∇L(θ)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9C4AA7D-E36B-4A79-8D64-E2D58B353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191000"/>
            <a:ext cx="100012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GPU 1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data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4517A50-CC93-46FF-9032-681FCA2F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91000"/>
            <a:ext cx="100012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GPU 2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tensor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19076F4-2D42-4544-B689-744646AB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191000"/>
            <a:ext cx="100012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GPU 3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pipeline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504FD92-F527-4A8F-8542-C75C986B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91000"/>
            <a:ext cx="100012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GPU 4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data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5E6877F-85D7-4771-A116-8DC11E987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530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4C5D78"/>
                </a:solidFill>
              </a:defRPr>
            </a:pPr>
            <a:r>
              <a:rPr sz="1350" b="1">
                <a:solidFill>
                  <a:srgbClr val="4C5D78"/>
                </a:solidFill>
              </a:rPr>
              <a:t>Scheduling мінімізує idle time і мережеві обміни</a:t>
            </a:r>
          </a:p>
        </p:txBody>
      </p:sp>
    </p:spTree>
    <p:extLst>
      <p:ext uri="{BB962C8B-B14F-4D97-AF65-F5344CB8AC3E}">
        <p14:creationId xmlns:p14="http://schemas.microsoft.com/office/powerpoint/2010/main" val="176242173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6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ad139a7a8540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7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1c01135bbe46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0" y="2076450"/>
            <a:ext cx="5334000" cy="3619500"/>
          </a:xfrm>
          <a:prstGeom xmlns:a="http://schemas.openxmlformats.org/drawingml/2006/main" prst="rect">
            <a:avLst/>
          </a:prstGeom>
        </p:spPr>
      </p:pic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CBA229A-65A0-49C8-9837-C8A88572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36018"/>
            <a:ext cx="5600700" cy="314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 i="0" u="none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</a:rPr>
              <a:t>Черга → continuous batching → GPU → токени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D3B5F42-05C3-4D8A-8E0D-98EE51B1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8459"/>
            <a:ext cx="533400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0" i="1" u="none">
                <a:solidFill>
                  <a:srgbClr val="64748B"/>
                </a:solidFill>
                <a:latin typeface="Inter"/>
                <a:ea typeface="Inter"/>
                <a:cs typeface="Inter"/>
              </a:rPr>
              <a:t>PagedAttention зменшує фрагментацію; speculative decoding прискорює генерацію за умов перевірки токенів.</a:t>
            </a:r>
          </a:p>
        </p:txBody>
      </p:sp>
      <p:pic>
        <p:nvPicPr>
          <p:cNvPr id="40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f5d367a9704f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0" y="2085975"/>
            <a:ext cx="2581275" cy="190500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B71F998-BF6A-47EC-8566-4FB813DA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64643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Batching: коли й які запити об’єднати в batch.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89C5300-6E67-4C27-9E1D-6A219CA6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15915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KV cache: пам’ять GPU, SLA, довжина контексту.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68F42CB-FBAD-4AC8-BA56-9D8E4992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67187"/>
            <a:ext cx="5048250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1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Компроміс: throughput, TTFT, TPOT і якість.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77C31C7-3C81-4725-95E0-3A37663A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50" b="1" i="0" u="none">
                <a:solidFill>
                  <a:srgbClr val="1E293B"/>
                </a:solidFill>
                <a:latin typeface="Poppins"/>
                <a:ea typeface="Poppins"/>
                <a:cs typeface="Poppins"/>
              </a:rPr>
              <a:t>LLM як задача ДО: інференс і serving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45D28D4-82BC-4705-BF76-4E718FB7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6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e4fe6e63384f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883693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47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e4fe6e63384f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534965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48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e4fe6e63384f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4186237"/>
            <a:ext cx="133350" cy="1524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226A81-10A4-4F58-9906-4E6F5BF3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572250" y="2190750"/>
            <a:ext cx="1143000" cy="80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4A3B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645C2F-79DF-4577-B407-C5CE36FA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572250" y="3000375"/>
            <a:ext cx="1143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4A3B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54D584-B789-45E8-B607-45F48A47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572250" y="3000375"/>
            <a:ext cx="1143000" cy="80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4A3B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12AD31-67F1-43C1-B4D8-1604DCD5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86075"/>
            <a:ext cx="4286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48E8"/>
          </a:solidFill>
          <a:ln xmlns:a="http://schemas.openxmlformats.org/drawingml/2006/main" w="0">
            <a:solidFill>
              <a:srgbClr val="5548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F4A3FF-3E4F-442C-BEDD-19D0E19EE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86075"/>
            <a:ext cx="4286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48E8"/>
          </a:solidFill>
          <a:ln xmlns:a="http://schemas.openxmlformats.org/drawingml/2006/main" w="0">
            <a:solidFill>
              <a:srgbClr val="5548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D10B49-F2F4-4D90-91DD-B322ACBC7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109537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Запит 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975C00-19DE-40DE-906E-83F99C6C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62250"/>
            <a:ext cx="109537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Запит 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F05E3B-E416-4C19-9C3C-9A83E910D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71875"/>
            <a:ext cx="109537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Запит 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E33CC7-1631-4C83-9B43-43D97353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28875"/>
            <a:ext cx="1333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Continuous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Batching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черга + SLA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BAC8A1-315D-4AA3-A1DE-8428E212D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428875"/>
            <a:ext cx="1095375" cy="1143000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GPU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Paged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KV cache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8FA3F9-BAE4-495A-84E2-88F9A048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2428875"/>
            <a:ext cx="904875" cy="1143000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4288">
            <a:solidFill>
              <a:srgbClr val="10B98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Токени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▮▮▮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▮▮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F521C2-46C0-4729-9D47-98095428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191000"/>
            <a:ext cx="3714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DCE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Компроміс: TTFT ↔ TPOT ↔ throughput ↔ quality</a:t>
            </a:r>
          </a:p>
        </p:txBody>
      </p:sp>
    </p:spTree>
    <p:extLst>
      <p:ext uri="{BB962C8B-B14F-4D97-AF65-F5344CB8AC3E}">
        <p14:creationId xmlns:p14="http://schemas.microsoft.com/office/powerpoint/2010/main" val="176242173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ea1da968b14d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A2F1C2F-9B59-4784-8DCF-3D08BFA0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301454"/>
            <a:ext cx="197465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04B42CF8-F2A1-4021-9C26-CDB7FCE1C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5676" y="3301454"/>
            <a:ext cx="449178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B149AD8-FC3A-4F37-AC20-8F3B180A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7458" y="3301454"/>
            <a:ext cx="456351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F5AA8B4-D729-483C-93FF-0541F5B8A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889027"/>
            <a:ext cx="1974651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2BC0F8B-C450-4BD4-AEA5-3FF6EFA5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5676" y="3889027"/>
            <a:ext cx="4491781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1C334AF-9DAA-4243-B4B8-B8602F65F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7458" y="3889027"/>
            <a:ext cx="4563516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C9BE82E-D553-466B-BC2A-5A3507EB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462313"/>
            <a:ext cx="1974651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AA541DD9-1E74-48A4-B048-1F7319EB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5676" y="4462313"/>
            <a:ext cx="4491781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D897B760-73C6-4423-A42C-8C8DB7EE2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7458" y="4462313"/>
            <a:ext cx="4563516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E39A80B-660A-494C-8D67-802BB5EF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50" b="1" i="0" u="none">
                <a:solidFill>
                  <a:srgbClr val="1E293B"/>
                </a:solidFill>
                <a:latin typeface="Poppins"/>
                <a:ea typeface="Poppins"/>
                <a:cs typeface="Poppins"/>
              </a:rPr>
              <a:t>LLM: оптимізація інфраструктури й вартості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CC6BA325-D405-4FD3-ADA5-C9FF5F095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graphicFrame>
        <p:nvGraphicFramePr>
          <p:cNvPr id="33" name=""/>
          <p:cNvGraphicFramePr/>
          <p:nvPr/>
        </p:nvGraphicFramePr>
        <p:xfrm>
          <a:off xmlns:a="http://schemas.openxmlformats.org/drawingml/2006/main" x="571500" y="1666875"/>
          <a:ext xmlns:a="http://schemas.openxmlformats.org/drawingml/2006/main" cx="110490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3048000"/>
                <a:gridCol w="2857500"/>
                <a:gridCol w="2762250"/>
              </a:tblGrid>
              <a:tr h="78581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2033"/>
                          </a:solidFill>
                        </a:rPr>
                        <a:t>Рівень</a:t>
                      </a:r>
                    </a:p>
                  </a:txBody>
                  <a:tcPr marL="91440" marR="91440" marT="45720" marB="4572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2033"/>
                          </a:solidFill>
                        </a:rPr>
                        <a:t>Рішення</a:t>
                      </a:r>
                    </a:p>
                  </a:txBody>
                  <a:tcPr marL="91440" marR="91440" marT="45720" marB="4572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2033"/>
                          </a:solidFill>
                        </a:rPr>
                        <a:t>Обмеження</a:t>
                      </a:r>
                    </a:p>
                  </a:txBody>
                  <a:tcPr marL="91440" marR="91440" marT="45720" marB="4572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2033"/>
                          </a:solidFill>
                        </a:rPr>
                        <a:t>Критерій</a:t>
                      </a:r>
                    </a:p>
                  </a:txBody>
                  <a:tcPr marL="91440" marR="91440" marT="45720" marB="45720">
                    <a:solidFill>
                      <a:srgbClr val="EEF2FF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4C5D78"/>
                          </a:solidFill>
                        </a:rPr>
                        <a:t>Autoscaling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4C5D78"/>
                          </a:solidFill>
                        </a:rPr>
                        <a:t>Кількість GPU-реплік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4C5D78"/>
                          </a:solidFill>
                        </a:rPr>
                        <a:t>SLA, квоти, cold start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4C5D78"/>
                          </a:solidFill>
                        </a:rPr>
                        <a:t>мін. cost за заданого p95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4C5D78"/>
                          </a:solidFill>
                        </a:rPr>
                        <a:t>Instance mix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4C5D78"/>
                          </a:solidFill>
                        </a:rPr>
                        <a:t>Spot vs On-Demand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4C5D78"/>
                          </a:solidFill>
                        </a:rPr>
                        <a:t>ризик переривання, регіон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4C5D78"/>
                          </a:solidFill>
                        </a:rPr>
                        <a:t>$/1M tokens, availability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4C5D78"/>
                          </a:solidFill>
                        </a:rPr>
                        <a:t>Quantization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4C5D78"/>
                          </a:solidFill>
                        </a:rPr>
                        <a:t>FP16 → INT8 / INT4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4C5D78"/>
                          </a:solidFill>
                        </a:rPr>
                        <a:t>пам’ять і втрата якості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4C5D78"/>
                          </a:solidFill>
                        </a:rPr>
                        <a:t>quality на одиницю cost/energy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47B026-E366-4AA5-BEC7-17A21DDA9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43500"/>
            <a:ext cx="7429500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4338CA"/>
                </a:solidFill>
              </a:defRPr>
            </a:pPr>
            <a:r>
              <a:rPr sz="1575" b="1">
                <a:solidFill>
                  <a:srgbClr val="4338CA"/>
                </a:solidFill>
              </a:rPr>
              <a:t>Багатокритеріальна задача: latency • quality • $/1M tokens • energy</a:t>
            </a:r>
          </a:p>
        </p:txBody>
      </p:sp>
    </p:spTree>
    <p:extLst>
      <p:ext uri="{BB962C8B-B14F-4D97-AF65-F5344CB8AC3E}">
        <p14:creationId xmlns:p14="http://schemas.microsoft.com/office/powerpoint/2010/main" val="160250884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3c5678c2c94d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34C9405-E205-4AC3-ACB9-0DE28D9D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80604"/>
            <a:ext cx="560070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50" b="1" i="0" u="none">
                <a:solidFill>
                  <a:srgbClr val="1E293B"/>
                </a:solidFill>
                <a:latin typeface="Poppins"/>
                <a:ea typeface="Poppins"/>
                <a:cs typeface="Poppins"/>
              </a:rPr>
              <a:t>ШІ прогнозує — ДО планує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26798A3-29F5-49F8-AFDE-60CB94FE4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80679"/>
            <a:ext cx="533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5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a44d8824b548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0" y="0"/>
            <a:ext cx="5905500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ADFCA8F-1264-412B-B3B7-CE8A60E83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95004"/>
            <a:ext cx="5600700" cy="314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 i="0" u="none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</a:rPr>
              <a:t>Приклад: динамічна логістика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65BF917-D1A0-4179-AF3D-75A0806E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23629"/>
            <a:ext cx="5334000" cy="7768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0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ШІ прогнозує затори, ETA та попит. Ці оцінки стають параметрами й сценаріями моделі.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B665F2E-B245-4805-B133-5B48A7A99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00512"/>
            <a:ext cx="5334000" cy="7768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0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ДО розподіляє замовлення й оптимізує маршрути VRP з урахуванням місткості, часових вікон і вартості.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b93087be9c4e21"/>
          <a:srcRect xmlns:a="http://schemas.openxmlformats.org/drawingml/2006/main" l="28524" t="0" r="2852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0"/>
            <a:ext cx="59055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66468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86e3606b294e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2c1da8eaac4cc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683371"/>
            <a:ext cx="5357812" cy="2405657"/>
          </a:xfrm>
          <a:prstGeom xmlns:a="http://schemas.openxmlformats.org/drawingml/2006/main" prst="rect">
            <a:avLst/>
          </a:prstGeom>
        </p:spPr>
      </p:pic>
      <p:pic>
        <p:nvPicPr>
          <p:cNvPr id="20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6a634fb1f843f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2687" y="2683371"/>
            <a:ext cx="5357812" cy="2405657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6EF84E0-3D90-4712-A42D-977ECF6C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588246"/>
            <a:ext cx="5005625" cy="314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 i="0" u="none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</a:rPr>
              <a:t>Операція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CC94E02-ACBF-4576-929D-EE07B661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016871"/>
            <a:ext cx="4767262" cy="7768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0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Операція — керована система дій, спрямована на вимірюваний результат за обмежених ресурсів.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14CC305-8D57-4C9F-A7C8-1C315829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7962" y="3588246"/>
            <a:ext cx="5005625" cy="314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 i="0" u="none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</a:rPr>
              <a:t>Рішення (x)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C052C30-9328-4CF3-9241-48928931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7962" y="4016871"/>
            <a:ext cx="4767262" cy="7768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0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Рішення x — конкретний вибір керованих параметрів із множини допустимих альтернатив X.</a:t>
            </a:r>
          </a:p>
        </p:txBody>
      </p:sp>
      <p:pic>
        <p:nvPicPr>
          <p:cNvPr id="25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4b2b46ff7f44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6775" y="3016746"/>
            <a:ext cx="476250" cy="381000"/>
          </a:xfrm>
          <a:prstGeom xmlns:a="http://schemas.openxmlformats.org/drawingml/2006/main" prst="rect">
            <a:avLst/>
          </a:prstGeom>
        </p:spPr>
      </p:pic>
      <p:pic>
        <p:nvPicPr>
          <p:cNvPr id="26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e6b8a134c14f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57962" y="3016746"/>
            <a:ext cx="428625" cy="381000"/>
          </a:xfrm>
          <a:prstGeom xmlns:a="http://schemas.openxmlformats.org/drawingml/2006/main" prst="rect">
            <a:avLst/>
          </a:prstGeom>
        </p:spPr>
      </p:pic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3E17AE3-CFB0-4BED-BED7-F034F4A0A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50" b="1" i="0" u="none">
                <a:solidFill>
                  <a:srgbClr val="1E293B"/>
                </a:solidFill>
                <a:latin typeface="Poppins"/>
                <a:ea typeface="Poppins"/>
                <a:cs typeface="Poppins"/>
              </a:rPr>
              <a:t>Основні терміни дослідження операцій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F8813511-DDDE-4A86-A6B8-CF3BA36B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70103323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03938940b54a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A2F1C2F-9B59-4784-8DCF-3D08BFA0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301454"/>
            <a:ext cx="197465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04B42CF8-F2A1-4021-9C26-CDB7FCE1C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5676" y="3301454"/>
            <a:ext cx="449178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B149AD8-FC3A-4F37-AC20-8F3B180A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7458" y="3301454"/>
            <a:ext cx="456351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F5AA8B4-D729-483C-93FF-0541F5B8A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889027"/>
            <a:ext cx="1974651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2BC0F8B-C450-4BD4-AEA5-3FF6EFA5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5676" y="3889027"/>
            <a:ext cx="4491781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1C334AF-9DAA-4243-B4B8-B8602F65F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7458" y="3889027"/>
            <a:ext cx="4563516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C9BE82E-D553-466B-BC2A-5A3507EB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462313"/>
            <a:ext cx="1974651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AA541DD9-1E74-48A4-B048-1F7319EB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5676" y="4462313"/>
            <a:ext cx="4491781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D897B760-73C6-4423-A42C-8C8DB7EE2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7458" y="4462313"/>
            <a:ext cx="4563516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E39A80B-660A-494C-8D67-802BB5EF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50" b="1" i="0" u="none">
                <a:solidFill>
                  <a:srgbClr val="1E293B"/>
                </a:solidFill>
                <a:latin typeface="Poppins"/>
                <a:ea typeface="Poppins"/>
                <a:cs typeface="Poppins"/>
              </a:rPr>
              <a:t>Визначення ДО: різні формулювання — спільне ядро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CC6BA325-D405-4FD3-ADA5-C9FF5F095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graphicFrame>
        <p:nvGraphicFramePr>
          <p:cNvPr id="33" name=""/>
          <p:cNvGraphicFramePr/>
          <p:nvPr/>
        </p:nvGraphicFramePr>
        <p:xfrm>
          <a:off xmlns:a="http://schemas.openxmlformats.org/drawingml/2006/main" x="571500" y="1619250"/>
          <a:ext xmlns:a="http://schemas.openxmlformats.org/drawingml/2006/main" cx="110490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4476750"/>
                <a:gridCol w="3905250"/>
              </a:tblGrid>
              <a:tr h="6858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2033"/>
                          </a:solidFill>
                        </a:rPr>
                        <a:t>Джерело</a:t>
                      </a:r>
                    </a:p>
                  </a:txBody>
                  <a:tcPr marL="91440" marR="91440" marT="45720" marB="4572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2033"/>
                          </a:solidFill>
                        </a:rPr>
                        <a:t>Акцент визначення</a:t>
                      </a:r>
                    </a:p>
                  </a:txBody>
                  <a:tcPr marL="91440" marR="91440" marT="45720" marB="4572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2033"/>
                          </a:solidFill>
                        </a:rPr>
                        <a:t>Ключове питання</a:t>
                      </a:r>
                    </a:p>
                  </a:txBody>
                  <a:tcPr marL="91440" marR="91440" marT="45720" marB="45720">
                    <a:solidFill>
                      <a:srgbClr val="EEF2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4C5D78"/>
                          </a:solidFill>
                        </a:rPr>
                        <a:t>Є. С. Вентцель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4C5D78"/>
                          </a:solidFill>
                        </a:rPr>
                        <a:t>кількісне обґрунтування рішень в операції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4C5D78"/>
                          </a:solidFill>
                        </a:rPr>
                        <a:t>Яке рішення є найкращим за заданим критерієм?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4C5D78"/>
                          </a:solidFill>
                        </a:rPr>
                        <a:t>Hillier &amp; Lieberman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4C5D78"/>
                          </a:solidFill>
                        </a:rPr>
                        <a:t>науковий підхід до проєктування й керування системами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4C5D78"/>
                          </a:solidFill>
                        </a:rPr>
                        <a:t>Як модель поліпшує роботу всієї системи?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4C5D78"/>
                          </a:solidFill>
                        </a:rPr>
                        <a:t>Taha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4C5D78"/>
                          </a:solidFill>
                        </a:rPr>
                        <a:t>математичні моделі та алгоритми оптимізації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4C5D78"/>
                          </a:solidFill>
                        </a:rPr>
                        <a:t>Як знайти допустимий оптимум обчислювально?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4C5D78"/>
                          </a:solidFill>
                        </a:rPr>
                        <a:t>INFORMS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4C5D78"/>
                          </a:solidFill>
                        </a:rPr>
                        <a:t>аналітика для кращих рішень у складних системах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4C5D78"/>
                          </a:solidFill>
                        </a:rPr>
                        <a:t>Як дані й моделі підтримують практичне рішення?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</a:tr>
            </a:tbl>
          </a:graphicData>
        </a:graphic>
      </p:graphicFrame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7663C4-412A-4DFC-9B6D-57354C8DD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86375"/>
            <a:ext cx="9144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4288">
            <a:solidFill>
              <a:srgbClr val="10B98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47857"/>
                </a:solidFill>
              </a:defRPr>
            </a:pPr>
            <a:r>
              <a:rPr sz="1500" b="1">
                <a:solidFill>
                  <a:srgbClr val="047857"/>
                </a:solidFill>
              </a:rPr>
              <a:t>Робоче визначення курсу: ДО — побудова й аналіз моделей для вибору найкращої допустимої дії.</a:t>
            </a:r>
          </a:p>
        </p:txBody>
      </p:sp>
    </p:spTree>
    <p:extLst>
      <p:ext uri="{BB962C8B-B14F-4D97-AF65-F5344CB8AC3E}">
        <p14:creationId xmlns:p14="http://schemas.microsoft.com/office/powerpoint/2010/main" val="160250884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baa4098e9240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5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9e9d5a649d4b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708201"/>
            <a:ext cx="5357812" cy="1537096"/>
          </a:xfrm>
          <a:prstGeom xmlns:a="http://schemas.openxmlformats.org/drawingml/2006/main" prst="rect">
            <a:avLst/>
          </a:prstGeom>
        </p:spPr>
      </p:pic>
      <p:pic>
        <p:nvPicPr>
          <p:cNvPr id="26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09b9b0f7144a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2687" y="3708201"/>
            <a:ext cx="5357812" cy="1537096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3081076-041D-4671-85F0-9FA0F1FA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003476"/>
            <a:ext cx="5005625" cy="314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 i="0" u="none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</a:rPr>
              <a:t>Змінні рішення x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A5A7607-3AE2-4560-AE13-4F739FBB4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432101"/>
            <a:ext cx="4767262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0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Що ми можемо змінювати: маршрут, розклад, кількість серверів, розподіл GPU.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F1E8797-CC36-4625-B4DD-0A70BD0A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7962" y="4003476"/>
            <a:ext cx="5005625" cy="314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 i="0" u="none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</a:rPr>
              <a:t>Допустима множина X і критерій W(x)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87A2529-0578-4F2E-AD69-17FF2A53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7962" y="4432101"/>
            <a:ext cx="4767262" cy="5179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39"/>
              </a:lnSpc>
              <a:buNone/>
            </a:pPr>
            <a:r>
              <a:rPr sz="1275" b="0" i="0" u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X задає ресурсні, часові й логічні межі; W(x) вимірює якість рішення.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91913DF1-6BC9-44DA-82D5-ECF980B5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50" b="1" i="0" u="none">
                <a:solidFill>
                  <a:srgbClr val="1E293B"/>
                </a:solidFill>
                <a:latin typeface="Poppins"/>
                <a:ea typeface="Poppins"/>
                <a:cs typeface="Poppins"/>
              </a:rPr>
              <a:t>Оптимізаційна задача = x, X, W(x)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8A6EBF69-8C93-4274-8ABD-42E31915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59FE2C-D5C7-4DF3-9AA2-F08572A5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10668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5548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72033"/>
                </a:solidFill>
              </a:defRPr>
            </a:pPr>
            <a:r>
              <a:rPr sz="2250" b="1">
                <a:solidFill>
                  <a:srgbClr val="172033"/>
                </a:solidFill>
              </a:rPr>
              <a:t>x* = arg min  W(x)    за умов    x ∈ X</a:t>
            </a:r>
          </a:p>
        </p:txBody>
      </p:sp>
    </p:spTree>
    <p:extLst>
      <p:ext uri="{BB962C8B-B14F-4D97-AF65-F5344CB8AC3E}">
        <p14:creationId xmlns:p14="http://schemas.microsoft.com/office/powerpoint/2010/main" val="188014487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9aab3ed4d141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8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f8858ea37742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38275" y="3363366"/>
            <a:ext cx="476250" cy="476250"/>
          </a:xfrm>
          <a:prstGeom xmlns:a="http://schemas.openxmlformats.org/drawingml/2006/main" prst="rect">
            <a:avLst/>
          </a:prstGeom>
        </p:spPr>
      </p:pic>
      <p:pic>
        <p:nvPicPr>
          <p:cNvPr id="29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520fbba6274b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48075" y="3363366"/>
            <a:ext cx="476250" cy="476250"/>
          </a:xfrm>
          <a:prstGeom xmlns:a="http://schemas.openxmlformats.org/drawingml/2006/main" prst="rect">
            <a:avLst/>
          </a:prstGeom>
        </p:spPr>
      </p:pic>
      <p:pic>
        <p:nvPicPr>
          <p:cNvPr id="30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a4f567e2a54f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57875" y="3363366"/>
            <a:ext cx="476250" cy="476250"/>
          </a:xfrm>
          <a:prstGeom xmlns:a="http://schemas.openxmlformats.org/drawingml/2006/main" prst="rect">
            <a:avLst/>
          </a:prstGeom>
        </p:spPr>
      </p:pic>
      <p:pic>
        <p:nvPicPr>
          <p:cNvPr id="31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de771ecdab417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67675" y="3363366"/>
            <a:ext cx="476250" cy="476250"/>
          </a:xfrm>
          <a:prstGeom xmlns:a="http://schemas.openxmlformats.org/drawingml/2006/main" prst="rect">
            <a:avLst/>
          </a:prstGeom>
        </p:spPr>
      </p:pic>
      <p:pic>
        <p:nvPicPr>
          <p:cNvPr id="3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0e3f0bb51947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77475" y="3363366"/>
            <a:ext cx="476250" cy="476250"/>
          </a:xfrm>
          <a:prstGeom xmlns:a="http://schemas.openxmlformats.org/drawingml/2006/main" prst="rect">
            <a:avLst/>
          </a:prstGeom>
        </p:spPr>
      </p:pic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9DA59F1-2F84-45A8-8E79-DF2D181EE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57650"/>
            <a:ext cx="9944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FA60FB8-55AC-4149-8205-B4B90E3C4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" y="4030116"/>
            <a:ext cx="2120265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0" i="0" u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</a:rPr>
              <a:t>Проблема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340BDC9-EA90-4C92-9681-EAE23629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3491"/>
            <a:ext cx="2019300" cy="4265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679"/>
              </a:lnSpc>
              <a:buNone/>
            </a:pPr>
            <a:r>
              <a:rPr sz="1050" b="0" i="0" u="none">
                <a:solidFill>
                  <a:srgbClr val="64748B"/>
                </a:solidFill>
                <a:latin typeface="Inter"/>
                <a:ea typeface="Inter"/>
                <a:cs typeface="Inter"/>
              </a:rPr>
              <a:t>Визначити межі системи та цілі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27D7FCD0-A924-4FA0-BBA3-57F6B2CBE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6067" y="4030116"/>
            <a:ext cx="2120265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0" i="0" u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</a:rPr>
              <a:t>Збір Даних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3C80D78-241A-43CC-9EF6-A0CE3AD9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363491"/>
            <a:ext cx="2019300" cy="4265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679"/>
              </a:lnSpc>
              <a:buNone/>
            </a:pPr>
            <a:r>
              <a:rPr sz="1050" b="0" i="0" u="none">
                <a:solidFill>
                  <a:srgbClr val="64748B"/>
                </a:solidFill>
                <a:latin typeface="Inter"/>
                <a:ea typeface="Inter"/>
                <a:cs typeface="Inter"/>
              </a:rPr>
              <a:t>Оцінити параметри a та невизначеність ξ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F3DF5D1-756C-4A25-B1F8-12E055263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5867" y="4030116"/>
            <a:ext cx="2120265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0" i="0" u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</a:rPr>
              <a:t>Модель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CC9D7DDD-437C-4632-8163-A4B81960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363491"/>
            <a:ext cx="2019300" cy="4264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679"/>
              </a:lnSpc>
              <a:buNone/>
            </a:pPr>
            <a:r>
              <a:rPr sz="1050" b="0" i="0" u="none">
                <a:solidFill>
                  <a:srgbClr val="64748B"/>
                </a:solidFill>
                <a:latin typeface="Inter"/>
                <a:ea typeface="Inter"/>
                <a:cs typeface="Inter"/>
              </a:rPr>
              <a:t>Побудувати W(x) і допустиму множину X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67C7C6BA-B1D1-4333-B1F1-648584D7E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5667" y="4030116"/>
            <a:ext cx="2120265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0" i="0" u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</a:rPr>
              <a:t>Солвер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4F72934B-F015-47AC-BA82-9F13E373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363491"/>
            <a:ext cx="2019300" cy="4265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679"/>
              </a:lnSpc>
              <a:buNone/>
            </a:pPr>
            <a:r>
              <a:rPr sz="1050" b="0" i="0" u="none">
                <a:solidFill>
                  <a:srgbClr val="64748B"/>
                </a:solidFill>
                <a:latin typeface="Inter"/>
                <a:ea typeface="Inter"/>
                <a:cs typeface="Inter"/>
              </a:rPr>
              <a:t>Знайти найкраще допустиме рішення x*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F3B0230A-03B7-47DF-819E-B2B57315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5467" y="4030116"/>
            <a:ext cx="2120265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0" i="0" u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</a:rPr>
              <a:t>Перевірка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FFC450F3-78AC-435D-92BA-3833AF09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363491"/>
            <a:ext cx="2019300" cy="2132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679"/>
              </a:lnSpc>
              <a:buNone/>
            </a:pPr>
            <a:r>
              <a:rPr sz="1050" b="0" i="0" u="none">
                <a:solidFill>
                  <a:srgbClr val="64748B"/>
                </a:solidFill>
                <a:latin typeface="Inter"/>
                <a:ea typeface="Inter"/>
                <a:cs typeface="Inter"/>
              </a:rPr>
              <a:t>Verification + Validation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D7837FA0-244A-4590-B1BA-DE9BC1CAF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50" b="1" i="0" u="none">
                <a:solidFill>
                  <a:srgbClr val="1E293B"/>
                </a:solidFill>
                <a:latin typeface="Poppins"/>
                <a:ea typeface="Poppins"/>
                <a:cs typeface="Poppins"/>
              </a:rPr>
              <a:t>Життєвий цикл OR-проєкту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AD620B00-5266-4BD1-BC26-EA1293A7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5752121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c05b53197b49c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0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09cdeebdb440b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722364"/>
            <a:ext cx="11049000" cy="2327523"/>
          </a:xfrm>
          <a:prstGeom xmlns:a="http://schemas.openxmlformats.org/drawingml/2006/main" prst="rect">
            <a:avLst/>
          </a:prstGeom>
        </p:spPr>
      </p:pic>
      <p:graphicFrame>
        <p:nvGraphicFramePr>
          <p:cNvPr id="21" name="Table 3"/>
          <p:cNvGraphicFramePr/>
          <p:nvPr/>
        </p:nvGraphicFramePr>
        <p:xfrm>
          <a:off xmlns:a="http://schemas.openxmlformats.org/drawingml/2006/main" x="581025" y="2731889"/>
          <a:ext xmlns:a="http://schemas.openxmlformats.org/drawingml/2006/main" cx="11029948" cy="2308473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4651"/>
                <a:gridCol w="4491781"/>
                <a:gridCol w="4563516"/>
              </a:tblGrid>
              <a:tr h="57711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 i="0" u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Критерій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 i="0" u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Верифікація (Verification)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 i="0" u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Валідація (Validation)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57711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 b="1" i="0" u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</a:rPr>
                        <a:t>Ключове питання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 b="0" i="0" u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</a:rPr>
                        <a:t>«Чи правильно ми побудували модель?»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 b="0" i="0" u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</a:rPr>
                        <a:t>«Чи правильну модель ми побудували?»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711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 b="1" i="0" u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</a:rPr>
                        <a:t>Об'єкт перевірки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 b="0" i="0" u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</a:rPr>
                        <a:t>Математична логіка, код, відсутність багів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 b="0" i="0" u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</a:rPr>
                        <a:t>Відповідність моделі реальному об'єкту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711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 b="1" i="0" u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</a:rPr>
                        <a:t>Метод оцінки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 b="0" i="0" u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</a:rPr>
                        <a:t>Тестування алгоритму, синтаксичний контроль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 b="0" i="0" u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</a:rPr>
                        <a:t>Порівняння з історичними даними, експеримент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A2F1C2F-9B59-4784-8DCF-3D08BFA0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301454"/>
            <a:ext cx="197465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04B42CF8-F2A1-4021-9C26-CDB7FCE1C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5676" y="3301454"/>
            <a:ext cx="449178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B149AD8-FC3A-4F37-AC20-8F3B180A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7458" y="3301454"/>
            <a:ext cx="456351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F5AA8B4-D729-483C-93FF-0541F5B8A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889027"/>
            <a:ext cx="1974651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2BC0F8B-C450-4BD4-AEA5-3FF6EFA5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5676" y="3889027"/>
            <a:ext cx="4491781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1C334AF-9DAA-4243-B4B8-B8602F65F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7458" y="3889027"/>
            <a:ext cx="4563516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C9BE82E-D553-466B-BC2A-5A3507EB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462313"/>
            <a:ext cx="1974651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AA541DD9-1E74-48A4-B048-1F7319EB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5676" y="4462313"/>
            <a:ext cx="4491781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D897B760-73C6-4423-A42C-8C8DB7EE2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7458" y="4462313"/>
            <a:ext cx="4563516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E39A80B-660A-494C-8D67-802BB5EF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50" b="1" i="0" u="none">
                <a:solidFill>
                  <a:srgbClr val="1E293B"/>
                </a:solidFill>
                <a:latin typeface="Poppins"/>
                <a:ea typeface="Poppins"/>
                <a:cs typeface="Poppins"/>
              </a:rPr>
              <a:t>Якість моделі: верифікація ≠ валідація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CC6BA325-D405-4FD3-ADA5-C9FF5F095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60250884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6e254872d740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3E17AE3-CFB0-4BED-BED7-F034F4A0A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50" b="1" i="0" u="none">
                <a:solidFill>
                  <a:srgbClr val="1E293B"/>
                </a:solidFill>
                <a:latin typeface="Poppins"/>
                <a:ea typeface="Poppins"/>
                <a:cs typeface="Poppins"/>
              </a:rPr>
              <a:t>Підручники з ДО: зміст і методичний акцент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F8813511-DDDE-4A86-A6B8-CF3BA36B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523875" y="1476375"/>
          <a:ext xmlns:a="http://schemas.openxmlformats.org/drawingml/2006/main" cx="1114425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3143250"/>
                <a:gridCol w="1571625"/>
                <a:gridCol w="1571625"/>
                <a:gridCol w="1619250"/>
              </a:tblGrid>
              <a:tr h="585107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2033"/>
                          </a:solidFill>
                        </a:rPr>
                        <a:t>Підручник</a:t>
                      </a:r>
                    </a:p>
                  </a:txBody>
                  <a:tcPr marL="91440" marR="91440" marT="45720" marB="4572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2033"/>
                          </a:solidFill>
                        </a:rPr>
                        <a:t>Головний акцент</a:t>
                      </a:r>
                    </a:p>
                  </a:txBody>
                  <a:tcPr marL="91440" marR="91440" marT="45720" marB="4572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2033"/>
                          </a:solidFill>
                        </a:rPr>
                        <a:t>LP / MILP</a:t>
                      </a:r>
                    </a:p>
                  </a:txBody>
                  <a:tcPr marL="91440" marR="91440" marT="45720" marB="4572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2033"/>
                          </a:solidFill>
                        </a:rPr>
                        <a:t>Графи</a:t>
                      </a:r>
                    </a:p>
                  </a:txBody>
                  <a:tcPr marL="91440" marR="91440" marT="45720" marB="4572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2033"/>
                          </a:solidFill>
                        </a:rPr>
                        <a:t>Черги / симуляція</a:t>
                      </a:r>
                    </a:p>
                  </a:txBody>
                  <a:tcPr marL="91440" marR="91440" marT="45720" marB="45720">
                    <a:solidFill>
                      <a:srgbClr val="EEF2F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4C5D78"/>
                          </a:solidFill>
                        </a:rPr>
                        <a:t>Hillier &amp; Lieberman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4C5D78"/>
                          </a:solidFill>
                        </a:rPr>
                        <a:t>повний цикл ДО та case studies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4C5D78"/>
                          </a:solidFill>
                        </a:rPr>
                        <a:t>✓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4C5D78"/>
                          </a:solidFill>
                        </a:rPr>
                        <a:t>✓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4C5D78"/>
                          </a:solidFill>
                        </a:rPr>
                        <a:t>✓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4C5D78"/>
                          </a:solidFill>
                        </a:rPr>
                        <a:t>Hamdy A. Taha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4C5D78"/>
                          </a:solidFill>
                        </a:rPr>
                        <a:t>алгоритми й обчислювальні процедури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4C5D78"/>
                          </a:solidFill>
                        </a:rPr>
                        <a:t>✓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4C5D78"/>
                          </a:solidFill>
                        </a:rPr>
                        <a:t>✓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4C5D78"/>
                          </a:solidFill>
                        </a:rPr>
                        <a:t>✓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4C5D78"/>
                          </a:solidFill>
                        </a:rPr>
                        <a:t>Ronald Rardin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4C5D78"/>
                          </a:solidFill>
                        </a:rPr>
                        <a:t>поглиблене математичне моделювання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4C5D78"/>
                          </a:solidFill>
                        </a:rPr>
                        <a:t>✓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4C5D78"/>
                          </a:solidFill>
                        </a:rPr>
                        <a:t>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4C5D78"/>
                          </a:solidFill>
                        </a:rPr>
                        <a:t>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4C5D78"/>
                          </a:solidFill>
                        </a:rPr>
                        <a:t>Зайченко Ю. П.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4C5D78"/>
                          </a:solidFill>
                        </a:rPr>
                        <a:t>базовий системний курс українською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4C5D78"/>
                          </a:solidFill>
                        </a:rPr>
                        <a:t>✓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4C5D78"/>
                          </a:solidFill>
                        </a:rPr>
                        <a:t>✓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4C5D78"/>
                          </a:solidFill>
                        </a:rPr>
                        <a:t>✓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4C5D78"/>
                          </a:solidFill>
                        </a:rPr>
                        <a:t>Наконечний, Савіна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4C5D78"/>
                          </a:solidFill>
                        </a:rPr>
                        <a:t>математичне програмування й економічні задачі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4C5D78"/>
                          </a:solidFill>
                        </a:rPr>
                        <a:t>✓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4C5D78"/>
                          </a:solidFill>
                        </a:rPr>
                        <a:t>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4C5D78"/>
                          </a:solidFill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4C5D78"/>
                          </a:solidFill>
                        </a:rPr>
                        <a:t>Глибовець, Олецький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4C5D78"/>
                          </a:solidFill>
                        </a:rPr>
                        <a:t>розклади та розподілені IT-системи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4C5D78"/>
                          </a:solidFill>
                        </a:rPr>
                        <a:t>◐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4C5D78"/>
                          </a:solidFill>
                        </a:rPr>
                        <a:t>✓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4C5D78"/>
                          </a:solidFill>
                        </a:rPr>
                        <a:t>◐</a:t>
                      </a:r>
                    </a:p>
                  </a:txBody>
                  <a:tcPr marL="91440" marR="91440" marT="45720" marB="45720">
                    <a:solidFill>
                      <a:srgbClr val="F6F8FC"/>
                    </a:solidFill>
                  </a:tcPr>
                </a:tc>
              </a:tr>
            </a:tbl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CC5A81-2030-42B1-BFE9-D1C58C91B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150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4C5D78"/>
                </a:solidFill>
              </a:defRPr>
            </a:pPr>
            <a:r>
              <a:rPr sz="1275" b="0">
                <a:solidFill>
                  <a:srgbClr val="4C5D78"/>
                </a:solidFill>
              </a:rPr>
              <a:t>✓ — системно;  ◐ — вибірково;  — — не основний фокус. Курс поєднує класичні методи з Cloud, Kubernetes і LLM-кейсами.</a:t>
            </a:r>
          </a:p>
        </p:txBody>
      </p:sp>
    </p:spTree>
    <p:extLst>
      <p:ext uri="{BB962C8B-B14F-4D97-AF65-F5344CB8AC3E}">
        <p14:creationId xmlns:p14="http://schemas.microsoft.com/office/powerpoint/2010/main" val="70103323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2026-08-31T05:21:56.3650000Z</dcterms:created>
  <dcterms:modified xsi:type="dcterms:W3CDTF">2026-08-31T05:21:56.3650000Z</dcterms:modified>
</coreProperties>
</file>