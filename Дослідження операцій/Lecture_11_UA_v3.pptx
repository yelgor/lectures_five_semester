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4744ed6ea9496d" /><Relationship Type="http://schemas.openxmlformats.org/officeDocument/2006/relationships/extended-properties" Target="/docProps/app.xml" Id="Raf0171c3cf4a4b59" /><Relationship Type="http://schemas.openxmlformats.org/officeDocument/2006/relationships/officeDocument" Target="/ppt/presentation.xml" Id="Ree9a49e80d0641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b11715367f479a"/>
  </p:sldMasterIdLst>
  <p:notesMasterIdLst>
    <p:notesMasterId xmlns:r="http://schemas.openxmlformats.org/officeDocument/2006/relationships" r:id="R5215a207a6b84cd2"/>
  </p:notesMasterIdLst>
  <p:sldIdLst>
    <p:sldId xmlns:r="http://schemas.openxmlformats.org/officeDocument/2006/relationships" id="256" r:id="Rd70c62b7814c419d"/>
    <p:sldId xmlns:r="http://schemas.openxmlformats.org/officeDocument/2006/relationships" id="257" r:id="R6ba3e7f3d7284315"/>
    <p:sldId xmlns:r="http://schemas.openxmlformats.org/officeDocument/2006/relationships" id="258" r:id="Rf6a5c811c1b54d89"/>
    <p:sldId xmlns:r="http://schemas.openxmlformats.org/officeDocument/2006/relationships" id="259" r:id="R1d1210b39b084716"/>
    <p:sldId xmlns:r="http://schemas.openxmlformats.org/officeDocument/2006/relationships" id="260" r:id="Ra1c37c9df5264c00"/>
    <p:sldId xmlns:r="http://schemas.openxmlformats.org/officeDocument/2006/relationships" id="261" r:id="Rb4efc03a39ba4ebe"/>
    <p:sldId xmlns:r="http://schemas.openxmlformats.org/officeDocument/2006/relationships" id="262" r:id="R55c31deb710b41c0"/>
    <p:sldId xmlns:r="http://schemas.openxmlformats.org/officeDocument/2006/relationships" id="263" r:id="R9cb7419f475e4c22"/>
    <p:sldId xmlns:r="http://schemas.openxmlformats.org/officeDocument/2006/relationships" id="264" r:id="R365a268893bb4228"/>
    <p:sldId xmlns:r="http://schemas.openxmlformats.org/officeDocument/2006/relationships" id="265" r:id="Rd80329aef0f64953"/>
    <p:sldId xmlns:r="http://schemas.openxmlformats.org/officeDocument/2006/relationships" id="266" r:id="R770296679a6c410b"/>
    <p:sldId xmlns:r="http://schemas.openxmlformats.org/officeDocument/2006/relationships" id="267" r:id="Rb178ed9635d64701"/>
    <p:sldId xmlns:r="http://schemas.openxmlformats.org/officeDocument/2006/relationships" id="268" r:id="Rba8613b89bb84d29"/>
    <p:sldId xmlns:r="http://schemas.openxmlformats.org/officeDocument/2006/relationships" id="269" r:id="R34cb024dc498449d"/>
    <p:sldId xmlns:r="http://schemas.openxmlformats.org/officeDocument/2006/relationships" id="270" r:id="R1bb5d95507024f3a"/>
    <p:sldId xmlns:r="http://schemas.openxmlformats.org/officeDocument/2006/relationships" id="271" r:id="Rf64df70f4fd84c1b"/>
    <p:sldId xmlns:r="http://schemas.openxmlformats.org/officeDocument/2006/relationships" id="272" r:id="R97922b64266b4b22"/>
    <p:sldId xmlns:r="http://schemas.openxmlformats.org/officeDocument/2006/relationships" id="273" r:id="Rb9778c493f6347c8"/>
    <p:sldId xmlns:r="http://schemas.openxmlformats.org/officeDocument/2006/relationships" id="274" r:id="Rf77331e6b35a4177"/>
    <p:sldId xmlns:r="http://schemas.openxmlformats.org/officeDocument/2006/relationships" id="275" r:id="Rbab9995e70a24acd"/>
    <p:sldId xmlns:r="http://schemas.openxmlformats.org/officeDocument/2006/relationships" id="276" r:id="R6bf61df5a11f423c"/>
    <p:sldId xmlns:r="http://schemas.openxmlformats.org/officeDocument/2006/relationships" id="277" r:id="R7f9ae4c3c1a14a07"/>
    <p:sldId xmlns:r="http://schemas.openxmlformats.org/officeDocument/2006/relationships" id="278" r:id="R383df14558fe405c"/>
    <p:sldId xmlns:r="http://schemas.openxmlformats.org/officeDocument/2006/relationships" id="279" r:id="Re057480dbe1947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85e75c57274162" /><Relationship Type="http://schemas.openxmlformats.org/officeDocument/2006/relationships/slideMaster" Target="/ppt/slideMasters/slideMaster1.xml" Id="Rd4b11715367f479a" /><Relationship Type="http://schemas.openxmlformats.org/officeDocument/2006/relationships/notesMaster" Target="/ppt/notesMasters/notesMaster1.xml" Id="R5215a207a6b84cd2" /><Relationship Type="http://schemas.openxmlformats.org/officeDocument/2006/relationships/presProps" Target="/ppt/presProps.xml" Id="R321e22998df3440c" /><Relationship Type="http://schemas.openxmlformats.org/officeDocument/2006/relationships/tableStyles" Target="/ppt/tableStyles.xml" Id="Raa04a39cbc0a479b" /><Relationship Type="http://schemas.openxmlformats.org/officeDocument/2006/relationships/slide" Target="/ppt/slides/slide1.xml" Id="Rd70c62b7814c419d" /><Relationship Type="http://schemas.openxmlformats.org/officeDocument/2006/relationships/slide" Target="/ppt/slides/slide2.xml" Id="R6ba3e7f3d7284315" /><Relationship Type="http://schemas.openxmlformats.org/officeDocument/2006/relationships/slide" Target="/ppt/slides/slide3.xml" Id="Rf6a5c811c1b54d89" /><Relationship Type="http://schemas.openxmlformats.org/officeDocument/2006/relationships/slide" Target="/ppt/slides/slide4.xml" Id="R1d1210b39b084716" /><Relationship Type="http://schemas.openxmlformats.org/officeDocument/2006/relationships/slide" Target="/ppt/slides/slide5.xml" Id="Ra1c37c9df5264c00" /><Relationship Type="http://schemas.openxmlformats.org/officeDocument/2006/relationships/slide" Target="/ppt/slides/slide6.xml" Id="Rb4efc03a39ba4ebe" /><Relationship Type="http://schemas.openxmlformats.org/officeDocument/2006/relationships/slide" Target="/ppt/slides/slide7.xml" Id="R55c31deb710b41c0" /><Relationship Type="http://schemas.openxmlformats.org/officeDocument/2006/relationships/slide" Target="/ppt/slides/slide8.xml" Id="R9cb7419f475e4c22" /><Relationship Type="http://schemas.openxmlformats.org/officeDocument/2006/relationships/slide" Target="/ppt/slides/slide9.xml" Id="R365a268893bb4228" /><Relationship Type="http://schemas.openxmlformats.org/officeDocument/2006/relationships/slide" Target="/ppt/slides/slide10.xml" Id="Rd80329aef0f64953" /><Relationship Type="http://schemas.openxmlformats.org/officeDocument/2006/relationships/slide" Target="/ppt/slides/slide11.xml" Id="R770296679a6c410b" /><Relationship Type="http://schemas.openxmlformats.org/officeDocument/2006/relationships/slide" Target="/ppt/slides/slide12.xml" Id="Rb178ed9635d64701" /><Relationship Type="http://schemas.openxmlformats.org/officeDocument/2006/relationships/slide" Target="/ppt/slides/slide13.xml" Id="Rba8613b89bb84d29" /><Relationship Type="http://schemas.openxmlformats.org/officeDocument/2006/relationships/slide" Target="/ppt/slides/slide14.xml" Id="R34cb024dc498449d" /><Relationship Type="http://schemas.openxmlformats.org/officeDocument/2006/relationships/slide" Target="/ppt/slides/slide15.xml" Id="R1bb5d95507024f3a" /><Relationship Type="http://schemas.openxmlformats.org/officeDocument/2006/relationships/slide" Target="/ppt/slides/slide16.xml" Id="Rf64df70f4fd84c1b" /><Relationship Type="http://schemas.openxmlformats.org/officeDocument/2006/relationships/slide" Target="/ppt/slides/slide17.xml" Id="R97922b64266b4b22" /><Relationship Type="http://schemas.openxmlformats.org/officeDocument/2006/relationships/slide" Target="/ppt/slides/slide18.xml" Id="Rb9778c493f6347c8" /><Relationship Type="http://schemas.openxmlformats.org/officeDocument/2006/relationships/slide" Target="/ppt/slides/slide19.xml" Id="Rf77331e6b35a4177" /><Relationship Type="http://schemas.openxmlformats.org/officeDocument/2006/relationships/slide" Target="/ppt/slides/slide20.xml" Id="Rbab9995e70a24acd" /><Relationship Type="http://schemas.openxmlformats.org/officeDocument/2006/relationships/slide" Target="/ppt/slides/slide21.xml" Id="R6bf61df5a11f423c" /><Relationship Type="http://schemas.openxmlformats.org/officeDocument/2006/relationships/slide" Target="/ppt/slides/slide22.xml" Id="R7f9ae4c3c1a14a07" /><Relationship Type="http://schemas.openxmlformats.org/officeDocument/2006/relationships/slide" Target="/ppt/slides/slide23.xml" Id="R383df14558fe405c" /><Relationship Type="http://schemas.openxmlformats.org/officeDocument/2006/relationships/slide" Target="/ppt/slides/slide24.xml" Id="Re057480dbe1947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e49f2c6b764f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1ba12e722848b2" /><Relationship Type="http://schemas.openxmlformats.org/officeDocument/2006/relationships/notesMaster" Target="/ppt/notesMasters/notesMaster1.xml" Id="R68ff030b82574b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ceea21006041b9" /><Relationship Type="http://schemas.openxmlformats.org/officeDocument/2006/relationships/notesMaster" Target="/ppt/notesMasters/notesMaster1.xml" Id="R19a17c15597644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f391ca203e435d" /><Relationship Type="http://schemas.openxmlformats.org/officeDocument/2006/relationships/notesMaster" Target="/ppt/notesMasters/notesMaster1.xml" Id="Rda04dc963eda4b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a8dcd6379b4301" /><Relationship Type="http://schemas.openxmlformats.org/officeDocument/2006/relationships/notesMaster" Target="/ppt/notesMasters/notesMaster1.xml" Id="Ra8579acca9bb4b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401135cc6a4241" /><Relationship Type="http://schemas.openxmlformats.org/officeDocument/2006/relationships/notesMaster" Target="/ppt/notesMasters/notesMaster1.xml" Id="R2dcf01e1813d48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6535b45e9a4f34" /><Relationship Type="http://schemas.openxmlformats.org/officeDocument/2006/relationships/notesMaster" Target="/ppt/notesMasters/notesMaster1.xml" Id="R762afda5dd2147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35bcf5886f4c40" /><Relationship Type="http://schemas.openxmlformats.org/officeDocument/2006/relationships/notesMaster" Target="/ppt/notesMasters/notesMaster1.xml" Id="R53133854623f40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51fee60e424a1d" /><Relationship Type="http://schemas.openxmlformats.org/officeDocument/2006/relationships/notesMaster" Target="/ppt/notesMasters/notesMaster1.xml" Id="R91c2d21d799547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f6384ea49344ef" /><Relationship Type="http://schemas.openxmlformats.org/officeDocument/2006/relationships/notesMaster" Target="/ppt/notesMasters/notesMaster1.xml" Id="R54d1d8299a8946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707cd4170d4032" /><Relationship Type="http://schemas.openxmlformats.org/officeDocument/2006/relationships/notesMaster" Target="/ppt/notesMasters/notesMaster1.xml" Id="R98135b36b865459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f44ff2511f2437b" /><Relationship Type="http://schemas.openxmlformats.org/officeDocument/2006/relationships/notesMaster" Target="/ppt/notesMasters/notesMaster1.xml" Id="Rcc108831850e40b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6af1a5409e4493d" /><Relationship Type="http://schemas.openxmlformats.org/officeDocument/2006/relationships/notesMaster" Target="/ppt/notesMasters/notesMaster1.xml" Id="Reacbd60bfb1c49f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d893987dbad42c0" /><Relationship Type="http://schemas.openxmlformats.org/officeDocument/2006/relationships/notesMaster" Target="/ppt/notesMasters/notesMaster1.xml" Id="Rb9a8c7660e14429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00ac26feadc4721" /><Relationship Type="http://schemas.openxmlformats.org/officeDocument/2006/relationships/notesMaster" Target="/ppt/notesMasters/notesMaster1.xml" Id="R87b27d5686cd418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169a6caeaef4448" /><Relationship Type="http://schemas.openxmlformats.org/officeDocument/2006/relationships/notesMaster" Target="/ppt/notesMasters/notesMaster1.xml" Id="R917cf8f3edf243d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78e7571a4f0495d" /><Relationship Type="http://schemas.openxmlformats.org/officeDocument/2006/relationships/notesMaster" Target="/ppt/notesMasters/notesMaster1.xml" Id="Rdf2d485b4d8a42d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f0726052609490a" /><Relationship Type="http://schemas.openxmlformats.org/officeDocument/2006/relationships/notesMaster" Target="/ppt/notesMasters/notesMaster1.xml" Id="R8251ddb42b1e4ba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e0456e914504af1" /><Relationship Type="http://schemas.openxmlformats.org/officeDocument/2006/relationships/notesMaster" Target="/ppt/notesMasters/notesMaster1.xml" Id="R8f24ed4b33604df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949e227b9b04a81" /><Relationship Type="http://schemas.openxmlformats.org/officeDocument/2006/relationships/notesMaster" Target="/ppt/notesMasters/notesMaster1.xml" Id="R8c2a7c731fa7411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bf77e5d882f4850" /><Relationship Type="http://schemas.openxmlformats.org/officeDocument/2006/relationships/notesMaster" Target="/ppt/notesMasters/notesMaster1.xml" Id="R8f4879d11dec454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3b4ac9db1e34f3b" /><Relationship Type="http://schemas.openxmlformats.org/officeDocument/2006/relationships/notesMaster" Target="/ppt/notesMasters/notesMaster1.xml" Id="R67448b0b98174ce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6a2aad0642843ad" /><Relationship Type="http://schemas.openxmlformats.org/officeDocument/2006/relationships/notesMaster" Target="/ppt/notesMasters/notesMaster1.xml" Id="R9c06654164aa470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d9a5b1430654d90" /><Relationship Type="http://schemas.openxmlformats.org/officeDocument/2006/relationships/notesMaster" Target="/ppt/notesMasters/notesMaster1.xml" Id="R0992df2ef013485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fbfc9f9414640d4" /><Relationship Type="http://schemas.openxmlformats.org/officeDocument/2006/relationships/notesMaster" Target="/ppt/notesMasters/notesMaster1.xml" Id="Re45c604a968743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Поясніть зв’язок теми з попередніми лекціями. Усі числові приклади є навчальними, а не вимірюваннями реальної інфраструктури.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Мета заняття прикладна: не завчити довгий вираз, а знати його входи, припущення, результати та спосіб перевірки.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Вартість вважаємо пропорційною числу однакових обробників. Це припускає, що їхня продуктивність не погіршується через спільні CPU, пам’ять чи мережу.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Балансувальник із випадковим розподілом на окремі черги не створює автоматично M/M/c зі спільною чергою. Архітектуру потрібно вказати.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 пояснює, чому c каналів не еквівалентні одному каналу зі швидкістю cμ: коли в системі один запит, він використовує лише один канал.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використовуйте формулу Ерланга C при ρ≥1. Якщо λ/μ ціле, мінімальне стійке c строго більше цього числа.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Відокремте Erlang C від Erlang B для систем втрат. У моделі немає тайм-аутів, відмов у черзі або нетерплячих заявок.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Розбийте обчислення на h, суму скінченних станів і p0. Довгий вираз не потрібно читати як одне речення. Для великих c потрібні чисельно стійкі рекурентні реалізації.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Знаменник cμ−λ показує запас інтенсивності в насиченій системі. Ці вирази справедливі для M/M/c з припущеннями, наведеними раніше.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Попросіть студентів оцінити число ще до точного розрахунку: 90% завантаження і висока ймовірність очікування мають дати значну затримку.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Код повністю відтворює розбиті кроки формули. factorial підходить для малих c у навчальному прикладі. Для великих моделей використовуйте стійкі рекурентні алгоритми.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 цьому прикладі не потрібний складний оптимізатор: кількість кандидатів мала. Але критерій мінімуму й обмеження потрібно сформулювати явно.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Вимога стосується середнього часу в черзі. Не стверджуйте, що всі запити або 95% запитів чекатимуть не більше 50 мс.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Можна замінити min c на мінімальну вартість, якщо канали різні або тариф нелінійний. Формули M/M/c для неоднакових каналів уже потребують перегляду.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Точка c=2 домінує за масштабом. Попросіть студентів прочитати числову таблицю для дрібних відмінностей між c=3,4,5.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 таблиці кожен рядок є окремим стаціонарним сценарієм. Швидкі часові зміни потоку не описуються автоматично набором незалежних стаціонарних режимів.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підставляйте cμ у формулу M/M/1 як заміну M/M/c. Припущення про однакову швидкість окремого запиту принципово різні.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 симетричній моделі середня зайнятість кожного каналу однакова. a може бути нецілим, бо це середнє за часом, а не стан в окремий момент.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Реальна пулова система може мати різні класи запитів, блокування й конкуренцію за GPU. Якщо ці ефекти важливі, використовуйте деталізовану симуляцію.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Попросіть студента записати одиниці та показати, скільки запитів виконується за секунду одним зайнятим каналом.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вимагайте від студентів ручного перебору великої кількості факторіалів. Нехай пояснять порядок алгоритму й перевірять один кандидат вручну.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Симуляція тієї самої моделі перевіряє реалізацію й розрахунок. Вона не доводить, що експоненційні припущення відповідають реальному сервісу.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 c=2 Wq≈0,426 с порушує вимогу. C є ймовірністю очікування. За n&lt;c швидкість завершень дорівнює nμ, а один запит не використовує всі канали одночасно.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Посилання ведуть до першоджерел та офіційної документації. Формулювання і числові приклади адаптовано для ІТ-контексту. Для повторення запустіть відповідний файл lecture_NN.py. Версії пакетів наведено у README.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b49d1912b646a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54de4dc3c44ab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019900be024ab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2601b0dc0b460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b79fea85cf4ea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3679b90d8d49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E847E2-A383-4602-A3B1-FC17BFE5BA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D163197-40DC-441D-93CF-B8A0F5D5CE5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CD3E3EE-F938-4028-8B58-62ED4BCD6E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39B3A8-46DB-4A83-9A43-55AABF65C9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54F133D-597B-4E20-A24F-F51311A18E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D34C4F4-A24D-4DF9-8DCF-63F466EB90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A9AD776-9054-4BDF-9023-41982DE114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4535341-7809-4AAC-83B4-33184A1E662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B21275-377A-4E04-9390-DF5C233ED7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F1805E4-22B5-40F1-BFED-C910817580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7db5b0dd1c4bae" /><Relationship Type="http://schemas.openxmlformats.org/officeDocument/2006/relationships/slideLayout" Target="/ppt/slideLayouts/slideLayout1.xml" Id="R4889de00636c4204" /><Relationship Type="http://schemas.openxmlformats.org/officeDocument/2006/relationships/slideLayout" Target="/ppt/slideLayouts/slideLayout2.xml" Id="R5524116808d44360" /><Relationship Type="http://schemas.openxmlformats.org/officeDocument/2006/relationships/slideLayout" Target="/ppt/slideLayouts/slideLayout3.xml" Id="R24b99a8e03e843da" /><Relationship Type="http://schemas.openxmlformats.org/officeDocument/2006/relationships/slideLayout" Target="/ppt/slideLayouts/slideLayout4.xml" Id="R50d34664ca444fb1" /><Relationship Type="http://schemas.openxmlformats.org/officeDocument/2006/relationships/slideLayout" Target="/ppt/slideLayouts/slideLayout5.xml" Id="R16c6794eefd84b56" /><Relationship Type="http://schemas.openxmlformats.org/officeDocument/2006/relationships/slideLayout" Target="/ppt/slideLayouts/slideLayout6.xml" Id="Rcbe34bb47edc46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89de00636c4204"/>
    <p:sldLayoutId xmlns:r="http://schemas.openxmlformats.org/officeDocument/2006/relationships" id="2147483650" r:id="R5524116808d44360"/>
    <p:sldLayoutId xmlns:r="http://schemas.openxmlformats.org/officeDocument/2006/relationships" id="2147483651" r:id="R24b99a8e03e843da"/>
    <p:sldLayoutId xmlns:r="http://schemas.openxmlformats.org/officeDocument/2006/relationships" id="2147483652" r:id="R50d34664ca444fb1"/>
    <p:sldLayoutId xmlns:r="http://schemas.openxmlformats.org/officeDocument/2006/relationships" id="2147483653" r:id="R16c6794eefd84b56"/>
    <p:sldLayoutId xmlns:r="http://schemas.openxmlformats.org/officeDocument/2006/relationships" id="2147483654" r:id="Rcbe34bb47edc46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0885598b264c2e" /><Relationship Type="http://schemas.openxmlformats.org/officeDocument/2006/relationships/notesSlide" Target="/ppt/notesSlides/notesSlide1.xml" Id="R94cb5c24a45e44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264542a5754d8d" /><Relationship Type="http://schemas.openxmlformats.org/officeDocument/2006/relationships/notesSlide" Target="/ppt/notesSlides/notesSlide2.xml" Id="Re9ec019a797a4f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7d70a0e3f84f38" /><Relationship Type="http://schemas.openxmlformats.org/officeDocument/2006/relationships/notesSlide" Target="/ppt/notesSlides/notesSlide3.xml" Id="Rc60eb6387d6242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f960c022da4d19" /><Relationship Type="http://schemas.openxmlformats.org/officeDocument/2006/relationships/notesSlide" Target="/ppt/notesSlides/notesSlide4.xml" Id="R29fec4c2d5fa4e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e045e6817745c0" /><Relationship Type="http://schemas.openxmlformats.org/officeDocument/2006/relationships/notesSlide" Target="/ppt/notesSlides/notesSlide5.xml" Id="Rd81c330d00ac4e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7eaf56d0c548ee" /><Relationship Type="http://schemas.openxmlformats.org/officeDocument/2006/relationships/notesSlide" Target="/ppt/notesSlides/notesSlide6.xml" Id="R65b0ebdc61f14a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f39c85a2674e93" /><Relationship Type="http://schemas.openxmlformats.org/officeDocument/2006/relationships/notesSlide" Target="/ppt/notesSlides/notesSlide7.xml" Id="R018efacf0a2d44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ae66d70be44145" /><Relationship Type="http://schemas.openxmlformats.org/officeDocument/2006/relationships/notesSlide" Target="/ppt/notesSlides/notesSlide8.xml" Id="Rb3cf1b93628246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3f03ca487c435c" /><Relationship Type="http://schemas.openxmlformats.org/officeDocument/2006/relationships/notesSlide" Target="/ppt/notesSlides/notesSlide9.xml" Id="R579b3122c95147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d4bcaf511b4412" /><Relationship Type="http://schemas.openxmlformats.org/officeDocument/2006/relationships/notesSlide" Target="/ppt/notesSlides/notesSlide10.xml" Id="Rf34d8493a7f74bc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cf802ba1164017" /><Relationship Type="http://schemas.openxmlformats.org/officeDocument/2006/relationships/notesSlide" Target="/ppt/notesSlides/notesSlide11.xml" Id="R626e87427b974fe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d7ff4c79a14777" /><Relationship Type="http://schemas.openxmlformats.org/officeDocument/2006/relationships/notesSlide" Target="/ppt/notesSlides/notesSlide12.xml" Id="Rfa2a853d4027478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f795b678834433" /><Relationship Type="http://schemas.openxmlformats.org/officeDocument/2006/relationships/notesSlide" Target="/ppt/notesSlides/notesSlide13.xml" Id="R127b40a4eb43425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ba3759d5f54eec" /><Relationship Type="http://schemas.openxmlformats.org/officeDocument/2006/relationships/notesSlide" Target="/ppt/notesSlides/notesSlide14.xml" Id="Rc32d62d66a534bb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df751c19594498" /><Relationship Type="http://schemas.openxmlformats.org/officeDocument/2006/relationships/chart" Target="/ppt/slides/charts/chart1.xml" Id="R85abc18db3a64c00" /><Relationship Type="http://schemas.openxmlformats.org/officeDocument/2006/relationships/notesSlide" Target="/ppt/notesSlides/notesSlide15.xml" Id="Rebd92673e3c34c2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6daed555b94e24" /><Relationship Type="http://schemas.openxmlformats.org/officeDocument/2006/relationships/notesSlide" Target="/ppt/notesSlides/notesSlide16.xml" Id="R5719d79002a840c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564270e10540d7" /><Relationship Type="http://schemas.openxmlformats.org/officeDocument/2006/relationships/notesSlide" Target="/ppt/notesSlides/notesSlide17.xml" Id="R0b5b590a9579447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41fce8859343e5" /><Relationship Type="http://schemas.openxmlformats.org/officeDocument/2006/relationships/notesSlide" Target="/ppt/notesSlides/notesSlide18.xml" Id="Rc3241ab7e417460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d9f5412a864ba6" /><Relationship Type="http://schemas.openxmlformats.org/officeDocument/2006/relationships/notesSlide" Target="/ppt/notesSlides/notesSlide19.xml" Id="R5f840c66c6af404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794256834c43aa" /><Relationship Type="http://schemas.openxmlformats.org/officeDocument/2006/relationships/notesSlide" Target="/ppt/notesSlides/notesSlide20.xml" Id="R77aaea70e8914dd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e2dc51726a4f80" /><Relationship Type="http://schemas.openxmlformats.org/officeDocument/2006/relationships/notesSlide" Target="/ppt/notesSlides/notesSlide21.xml" Id="R4abbc9f75afb4e4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548c6e7a65465b" /><Relationship Type="http://schemas.openxmlformats.org/officeDocument/2006/relationships/notesSlide" Target="/ppt/notesSlides/notesSlide22.xml" Id="Rbda7b7f8831d47e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fc552f5d98413f" /><Relationship Type="http://schemas.openxmlformats.org/officeDocument/2006/relationships/notesSlide" Target="/ppt/notesSlides/notesSlide23.xml" Id="R51b83eef8f034b9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969d0ff0e44861" /><Relationship Type="http://schemas.openxmlformats.org/officeDocument/2006/relationships/hyperlink" Target="https://ocw.mit.edu/courses/1-203j-logistical-and-transportation-planning-methods-fall-2006/pages/lecture-notes/" TargetMode="External" Id="R96830f3dbd3b49c0" /><Relationship Type="http://schemas.openxmlformats.org/officeDocument/2006/relationships/hyperlink" Target="https://www.ocw.mit.edu/courses/2-854-introduction-to-manufacturing-systems-fall-2016/resources/mit2_854f16_mm1queue/" TargetMode="External" Id="R1dad72d107e84832" /><Relationship Type="http://schemas.openxmlformats.org/officeDocument/2006/relationships/hyperlink" Target="https://numpy.org/doc/stable/reference/random/index.html" TargetMode="External" Id="R36e118a1c57a4b52" /><Relationship Type="http://schemas.openxmlformats.org/officeDocument/2006/relationships/notesSlide" Target="/ppt/notesSlides/notesSlide24.xml" Id="R3a5b93f7bdfa45f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Wq, мс</c:v>
          </c:tx>
          <c:spPr>
            <a:solidFill xmlns:a="http://schemas.openxmlformats.org/drawingml/2006/main">
              <a:srgbClr val="007F82"/>
            </a:solidFill>
            <a:ln xmlns:a="http://schemas.openxmlformats.org/drawingml/2006/main" w="28575">
              <a:solidFill>
                <a:srgbClr val="007F82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007F82"/>
              </a:solidFill>
            </c:spPr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numCache>
            </c:numRef>
          </c:xVal>
          <c:yVal>
            <c:numRef>
              <c:f>'Chart Data'!$B$2:$B$5</c:f>
              <c:numCache>
                <c:formatCode>0.0</c:formatCode>
                <c:ptCount val="4"/>
                <c:pt idx="0">
                  <c:v>426.315789474</c:v>
                </c:pt>
                <c:pt idx="1">
                  <c:v>29.5620437956</c:v>
                </c:pt>
                <c:pt idx="2">
                  <c:v>5.8424384901</c:v>
                </c:pt>
                <c:pt idx="3">
                  <c:v>1.26553386073</c:v>
                </c:pt>
              </c:numCache>
            </c:numRef>
          </c:yVal>
        </c:ser>
        <c:ser>
          <c:idx val="1"/>
          <c:order val="1"/>
          <c:tx>
            <c:v>Межа 50 мс</c:v>
          </c:tx>
          <c:spPr>
            <a:solidFill xmlns:a="http://schemas.openxmlformats.org/drawingml/2006/main">
              <a:srgbClr val="D06B25"/>
            </a:solidFill>
            <a:ln xmlns:a="http://schemas.openxmlformats.org/drawingml/2006/main" w="28575">
              <a:solidFill>
                <a:srgbClr val="D06B25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D06B25"/>
              </a:solidFill>
            </c:spPr>
          </c:marker>
          <c:xVal>
            <c:numRef>
              <c:f>'Chart Data'!$C$2:$C$5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numCache>
            </c:numRef>
          </c:xVal>
          <c:yVal>
            <c:numRef>
              <c:f>'Chart Data'!$D$2:$D$5</c:f>
              <c:numCache>
                <c:formatCode>0.0</c:formatCode>
                <c:ptCount val="4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Arial"/>
                    <a:ea typeface="Arial"/>
                    <a:cs typeface="Arial"/>
                  </a:rPr>
                  <a:t>Очікування, мс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5"/>
          <c:min val="2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Arial"/>
                    <a:ea typeface="Arial"/>
                    <a:cs typeface="Arial"/>
                  </a:rPr>
                  <a:t>Число каналів c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CFDFE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CFDFE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lecture">
            <a:extLst xmlns:a="http://schemas.openxmlformats.org/drawingml/2006/main">
              <a:ext uri="{FF2B5EF4-FFF2-40B4-BE49-F238E27FC236}">
                <a16:creationId xmlns:a16="http://schemas.microsoft.com/office/drawing/2014/main" id="{D8CEFAB2-45BB-4AE7-93A6-AE81C2D2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1D8CF"/>
                </a:solidFill>
                <a:latin typeface="Arial"/>
                <a:ea typeface="Arial"/>
                <a:cs typeface="Arial"/>
              </a:rPr>
              <a:t>ЛЕКЦІЯ 11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36ACB70-B49A-4AEB-8FEF-F3B8B146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Багатоканальні черги</a:t>
            </a:r>
          </a:p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Модель M/M/c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8A06CEA-D8F6-4353-9987-BD7A3376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1487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6E6EF"/>
                </a:solidFill>
                <a:latin typeface="Arial"/>
                <a:ea typeface="Arial"/>
                <a:cs typeface="Arial"/>
              </a:rPr>
              <a:t>Спільна черга, формула Ерланга C та вибір числа обробників</a:t>
            </a:r>
          </a:p>
        </p:txBody>
      </p:sp>
      <p:sp>
        <p:nvSpPr>
          <p:cNvPr id="4" name="course">
            <a:extLst xmlns:a="http://schemas.openxmlformats.org/drawingml/2006/main">
              <a:ext uri="{FF2B5EF4-FFF2-40B4-BE49-F238E27FC236}">
                <a16:creationId xmlns:a16="http://schemas.microsoft.com/office/drawing/2014/main" id="{96E03D10-47EB-4001-9CFE-918E9D27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0077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1D5E1"/>
                </a:solidFill>
                <a:latin typeface="Arial"/>
                <a:ea typeface="Arial"/>
                <a:cs typeface="Arial"/>
              </a:rPr>
              <a:t>Математичне моделювання та методи дослідження операцій</a:t>
            </a:r>
          </a:p>
        </p:txBody>
      </p:sp>
    </p:spTree>
    <p:extLst>
      <p:ext uri="{BB962C8B-B14F-4D97-AF65-F5344CB8AC3E}">
        <p14:creationId xmlns:p14="http://schemas.microsoft.com/office/powerpoint/2010/main" val="17946042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13A08E8F-B3D2-4D60-9988-752840E8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План і результат навчання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7047631A-15F3-4D7D-897E-7CE2E8F5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2B589D24-733F-43D2-BBFF-742D0FB8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Пояснити спільну чергу до c каналів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84663090-68C5-4AD6-A5B2-2383C538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18C7C2E4-7BE4-4896-8CEE-1D433C4B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Обчислити ймовірність очікування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0D049957-8AEA-4313-85B8-7E4218BF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2A109C73-D205-4302-8419-81A1AD9A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Вибрати мінімальне c за вимогою до Wq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537A8DBB-61DB-45A8-99D8-201A77EE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20D6F60C-918F-485E-9486-86873E84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Порівняти результат зі сценаріями навантаження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03B7BB94-0119-4AA3-A69C-F2401647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Результат: обґрунтована кількість обробників.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A84484A-8DE9-40C2-A777-AF909391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210426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7D1EE592-E078-48AE-B2E4-1E0EA6A2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Задача: сервіс із кількома обробниками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B8381A3D-A6B9-44B4-8060-B92AA086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AB606777-CC9F-4769-8B43-356950EB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Надходження λ=18 запитів/с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5B5EC491-6097-4876-B5AB-D834BD29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A0EA1610-F22A-46B8-B76E-C3E9B4A5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Кожен обробник має μ=10 запитів/с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053E899E-3ED1-43E1-8BE8-DEC555CC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6536CB1A-9B46-40F3-9363-BA70B2CF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Усі обробники беруть запити зі спільної черги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456B0C8A-B4AB-4F26-9926-7F223CCA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23F972DC-F260-40C9-8086-3FD3E570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Вимога: середнє Wq ≤ 0,05 с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58059C00-CC31-4E4E-9837-AF54CDD6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Шукаємо найменше ціле c, яке задовольняє вимогу.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0F247BB-1772-4C99-9756-ABE315B4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616481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05F8F7A-4DB0-4596-A373-1AA070E0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Спільна черга і окремі черги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752D21-3DDB-4323-905C-38A5E940C8BD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30316"/>
                <a:gridCol w="6737684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Організація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Наслідок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Одна спільна черга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Вільний канал бере найстаріший запит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Окрема черга на канал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Одна черга може чекати, поки інший канал вільний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Модель лекції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Спільна FCFS-черга, однакові канали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</a:tbl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9259965F-DFC7-43F8-8A15-911E9965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Формули M/M/c тут належать спільній черзі.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3664949-0225-4845-A3FD-EE386F52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38122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C5B365F-FCA0-4363-82CE-64CAC225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Інтенсивність завершень залежить від n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FF14A-55CC-4050-A5F7-EE6F69C9DAE5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33600"/>
                <a:gridCol w="4053840"/>
                <a:gridCol w="4480560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Стан 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Зайняті канали, c=3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Сумарна інтенсивність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4 і більше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</a:tbl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0466EFBC-CD55-4EBE-BD63-1757E4EF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Інтенсивність завершень дорівнює min(n,c)μ.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4317D05-EEC1-41D0-9B2B-8877E038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273480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A6BFA520-45BF-4D94-9EB6-BC060ABB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Завантаження і перший фільтр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D00DDF81-0B59-4DF8-823F-226FA5BD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F351D6E2-37BF-440F-8439-554E5E79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ρ = λ/(cμ)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EBD31217-38E7-4B13-B13E-EED9BE77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1187182E-B36A-4FEF-92B8-C123F19D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За c=1: ρ=1,8, стаціонарного режиму немає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A2B42229-2A05-4652-B287-2A71FCF6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3BF59AA4-323B-487E-82BA-440E65FF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За c=2: ρ=0,9, система стійка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E1712AEF-F29F-4A17-A913-4AD31F4F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3BB4777A-92FB-4F47-9146-7D9D65F9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Стійкість ще не перевіряє вимогу Wq≤0,05 с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EC734152-7D5A-436B-9D6F-C871BC99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Перший кандидат має задовольняти cμ&gt;λ.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4C47EE6-232C-485E-9A34-41B1B074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323075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82DE5BBE-D6D4-4BBF-A6D8-BE55BD4C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Яка подія змушує чекати?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138476C6-52BD-4400-8C1D-C03A7E4F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C52EF590-DBB1-4EA9-8623-F5D4F6E8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Запит чекає, якщо всі c обробників зайняті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D7AE2498-7840-4FEE-8D5E-3165D18E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F653EA53-7052-47E0-A171-08C09823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C: стаціонарна ймовірність очікування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C7F9003A-8A85-4CE6-9A02-5C381594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59DC30A4-E0A1-478D-B68C-75E9E9EF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C не є часткою відмов: запити не відкидаються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2E347ACD-12F0-474D-9193-4B0A0E11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AABA0F3F-FDF4-40A5-9F44-CBF3AF5E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Для пуассонівського входу прибуття бачать часові частки станів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B0E74C54-E649-435B-AD67-96E0118D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Ерланг C описує очікування за необмеженої черги.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4E2F0E2-63DE-4A44-9E7E-E21D227A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16267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78692949-FCED-4F56-91A8-DEE67CBF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Обчислення Ерланга C: нормування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0D5CB617-24B9-40A4-AB99-ACDC7EA2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D3CA8C01-1B5C-4EC4-80C8-7FD88D41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a = λ/μ: запропоноване навантаження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3AF5A57E-BB8D-46C5-875B-20DBB63E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A81BC424-0D69-462A-96B2-2DCAC203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h = aᶜ / [c! (1−ρ)]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72CC9568-91A7-4D32-A9E9-3C8B4061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9711105E-61BB-44E8-8C40-1C502328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p0 = 1 / [Σ від k=0 до c−1 aᵏ/k! + h]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607CF6A8-DA3A-4DFC-AB0C-E03B1025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C13D6B7D-B70B-4299-A432-F327350B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Далі C = hp0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790AFA6B-ED52-4E85-AB4F-8B403125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p0 нормує стаціонарні ваги всіх станів.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AF760D6-2B4F-4F91-BEF7-9BEBF752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709199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66368FAA-2438-4979-A476-0493E7C6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Обчислення Ерланга C: метрики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DD6C72A4-5C11-4C3F-906A-53D2911D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66483C21-3FE8-4FE4-9782-ACA726B9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Wq = C/(cμ−λ)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CD1C9B98-E968-4697-BEBA-D053D945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2AD30DD7-087D-42F4-9EBF-D2FA5E6B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W = Wq + 1/μ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60DA389E-83F2-47B6-9AE8-6F13CD70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0FDA480F-E80B-482D-85F4-D3D8C8F9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Lq = λWq, L = λW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6C5771CF-F56D-4F26-8358-D30176D7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761F816A-EA83-4B86-9ED2-E09B57AB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Усі часи мають одиниці, узгоджені з λ та μ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1C6E28B3-0575-4E57-AEB5-767EE3FE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Однакове C може давати різне очікування за різного запасу швидкості.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B181E8D-4851-4A21-B167-314CEE34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173760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53F90F6-CA6D-4633-AAB0-42EEFAF2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Ручний розрахунок для c=2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8B5AE-7C35-4F55-9243-69975AE6F994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989379"/>
                <a:gridCol w="3678621"/>
              </a:tblGrid>
              <a:tr h="598714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Крок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598714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a = 18/10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1,8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598714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ρ = 18/20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h = 1,8² / (2×0,1)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16,2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598714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p0 = 1/(1+1,8+16,2)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1/19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C = 16,2/19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0,852632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598714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Wq = C/(20−18)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0,426316 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E92A7978-2485-45D7-BB93-655D20A4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Два канали стійкі, але вимогу 50 мс не виконують.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290B76B-4DFE-45B8-B032-6F382415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278382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B7CDB00-B4D1-45C1-BE9F-87226617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Python: функція показників M/M/c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E174B7D4-08B6-496A-BDB4-A72924BF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from math import factorial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def mmc(lam, mu, c):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a, rho = lam/mu, lam/(c*mu)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if rho &gt;= 1: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    raise ValueError("Нестійка конфігурація")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tail = a**c / (factorial(c)*(1-rho))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p0 = 1/(sum(a**k/factorial(k) for k in range(c))+tail)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C = tail*p0  # імовірність очікування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Wq = C/(c*mu-lam)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return rho, C, Wq, Wq+1/mu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1993BB9E-6280-44A0-859E-4EA14B6F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Функція повертає ρ, C, Wq та W.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BC54649-8246-43CE-B0BF-323288A7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298365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8A7F31D-06EA-4411-898E-DFF94955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Python: перебір конфігурацій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0283DF46-D595-45B6-8323-822C4C22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for c in [2,3,4,5]: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rho, C, Wq, W = mmc(18,10,c)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print(f"c={c} rho={rho:.3f} C={C:.4f} Wq={Wq:.5f} с")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ok = [c for c in range(2,8) if mmc(18,10,c)[2] &lt;= .05]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print("Мінімальне c:", min(ok))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6B8315D3-580C-4074-AF18-A036D6A3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Перебір малих цілих c розв’язує задачу вибору конфігурації.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5A1E331-8986-41E9-9245-8C86E2C9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365006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B09974-890D-4F44-942B-DD0744EC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Фактичні результати M/M/c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64AAB33C-D98B-4624-B8F9-8BC3B0D1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c=2 rho=0.900 C=0.8526 Wq=0.42632 с</a:t>
            </a:r>
          </a:p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c=3 rho=0.600 C=0.3547 Wq=0.02956 с</a:t>
            </a:r>
          </a:p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c=4 rho=0.450 C=0.1285 Wq=0.00584 с</a:t>
            </a:r>
          </a:p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c=5 rho=0.360 C=0.0405 Wq=0.00127 с</a:t>
            </a:r>
          </a:p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Мінімальне c: 3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5CB67CFC-849B-438B-88C9-CAC92933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За λ=18 мінімальне допустиме число каналів дорівнює 3.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C91B4DB-33B9-41A8-BDAE-0412060E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583907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B4AA3C0-2B63-42AB-ACC2-49361C52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Математична постановка вибору c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35C8A3-989B-4D73-B9E9-E20579D72EEF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689600"/>
                <a:gridCol w="4978400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Частина моделі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Зміст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Рішення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c ∈ {1,2,…,7}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Критерій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min c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Стійкість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cμ &gt; 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Обмеження якості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Wq(c) ≤ 0,05 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22EE9473-8810-4B32-BC1E-2857D99E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Черга обчислює якість кандидата, оптимізація обирає кандидата.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5028D11-0B3E-4345-BE61-6E79C244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1291284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B5ABF62-C603-41E9-B944-02B946DA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Кількість каналів і середнє очікування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686571BB-762F-4CED-957E-05CA0164F4B7}"/>
              </a:ext>
            </a:extLst>
          </p:cNvPr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10668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5abc18db3a64c00"/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440734FA-48A3-4269-86C7-7B337C00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Третій канал усуває порушення вимоги в базовому сценарії.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C76337B-A1F0-43BA-B8A8-94D46CF5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3940659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CA294DC-A1D2-4C1D-AA3E-95BD2552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Запас при збільшенні потоку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19714-424B-47C0-A240-6BCCD2053172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7368"/>
                <a:gridCol w="3930316"/>
                <a:gridCol w="3930316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λ, 1/с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Wq при c=3, мс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Wq при c=4, мс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12.65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2.32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29.56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5.84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67.77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12.60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26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189.72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25.32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A8C74676-9854-40F2-84D6-BBE513F9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Конфігурація для середнього навантаження може не витримати пік.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6EA557E-DB20-4E6A-8F22-E993C914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0146875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307E4590-5537-4E71-8F7E-56374A46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Один швидкий канал і кілька звичайних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52C739C4-429E-4E7E-B97B-251D8C3C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A825E91E-901A-41F2-81B8-F5E59CFF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Один канал із μ=30: кожен запит обробляється в середньому 1/30 с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98CEB956-4A7E-46AB-AAAE-D113D94A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C64314E4-76A2-486A-9D4D-EF626F63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Три канали по μ=10: один запит потребує в середньому 0,1 с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A6AE7616-04A0-443D-8DB3-CDE4CEFB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55E98AD7-A8E1-458A-B895-B83DB1B0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Сумарна гранична продуктивність однакова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F06D8C62-9953-4367-B364-A17FDE7A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594E03ED-9A3C-4BB6-B57B-8C18D619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Розподіл часу обслуговування та станів різний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D30D8FAB-838F-4808-8972-E51C0476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Порівняння архітектур потребує моделі кожної архітектури.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0813D57-78A1-415A-87AE-78E070C2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6628420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2E9D8E4C-3E49-40E7-A921-D5F0291C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Формула Літтла як перевірка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777B3FE1-E5B3-4DD0-8337-30DE69F1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18C757E3-887D-4285-9E0F-39C9C601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Для c=3 обчислити Lq = λWq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999A33D4-11DA-4E9F-964B-1FA17976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038EE6D6-1E19-4CBE-BDDF-B1736022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Середнє число зайнятих каналів дорівнює a = λ/μ = 1,8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96224BC3-ADC6-4C58-8B1F-071A559E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1AAD0DB4-4DAA-4896-9317-46956798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L = Lq + 1,8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58854B81-9370-4DF2-B803-D37F8AB8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858AEB52-4AC0-4ED7-A96D-26762729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Частка зайнятості одного каналу в середньому: ρ=0,6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5461EC50-B870-409D-BEF8-0AE5D879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Середнє число зайнятих каналів не дорівнює c.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9D48A20-9490-40FC-905A-8547DC57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8942680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33BAA4B2-C385-4EAF-8B77-987A768A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Як перевірити припущення в ІТ-сервісі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38546D8C-A545-4AC4-BC60-6922971D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808373A4-2291-4901-80F5-BFE444CE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Побудувати розподіл міжприхідних інтервалів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117086CF-BC42-44FC-BC87-7680FE83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0A876897-0933-455A-BC31-55F568B5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Порівняти тривалості обслуговування різних каналів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DC18DB4E-4928-42B8-94BA-62D0DF95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ACEA6077-7964-422C-A1EB-ABC7F1F9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Перевірити наявність спільної черги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165FF5BB-C12E-434E-B1DA-79E43E00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11FFF39B-9FEB-446E-85D8-BBDF66B1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Оцінити тайм-аути, втрати й залежності запитів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24BE6828-8B08-4603-A485-18E703DF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Чисельна точність формули не гарантує адекватності системі.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9ECEA27-18D3-42A4-809D-F84C2B4C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4124641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BF4712DE-E3A3-4194-82EB-9CCBAB08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Типові помилки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1705F182-8060-4C79-B833-287F9F34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93E39D92-5D81-4B41-91D3-4369A547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Вважати μ сумарною швидкістю, а потім ще множити на c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B5232ACA-CE2A-46BA-ADCE-319714D8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8D35576F-08F2-42D0-8EE9-3A0E46DD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Плутати ймовірність очікування з імовірністю втрати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FC52F163-9BB5-4C70-8F77-AC3E8D72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EAE366CB-AB7B-4751-9C49-29828AFA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Обирати конфігурацію лише за стійкістю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4DA1816F-9B5F-46E1-8C1C-3066764F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81DE1B1B-42E3-4B8A-A04C-92660029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Підміняти середній час гарантією для кожного запиту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CD657CAB-F857-4ABB-88E8-1CBDF911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μ у цій лекції є швидкістю одного каналу.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01862E6-625A-411C-A126-80659CB6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71425581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3F2B5B1A-F258-42F4-861E-E18AE117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Самостійний експеримент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A0EB13E7-022C-4555-9F19-3EE82996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80C93CEC-71B1-4B18-98C7-4D0F46C1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Змінити λ на 22 запити/с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9816B126-9437-43C5-9DD5-42D4DD0D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17E01ECB-449D-4CD8-AB81-D801CC41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Знайти мінімальне c для Wq≤0,05 с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EC492689-4933-4C8D-9291-37C4AD0A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8A36558F-8F42-46F0-96DC-126A3D68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Повторити для порога 0,02 с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60DCFA75-B74D-4DDF-B542-9E3D9947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2FDCEE7F-944E-4031-98D5-C96D223B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Порівняти ресурсну ціну двох вимог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A0BD1AFC-E25A-43BA-B15F-6B1B983F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Суворіша вимога може збільшити число каналів.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54929DD-8720-4945-AD7B-6D81E16E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94698052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10F12759-A29A-4E77-B476-B20BF19D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Перехід до імітаційної перевірки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CE0940F0-B49A-4D41-B5D7-0762DE99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7FE89B23-FF49-4BBB-94D6-15C7138B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Аналітичний розрахунок дає еталон за припущень M/M/c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382EB69B-EBC7-41B1-8F45-F57D230F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0DFD109D-B74A-49C5-B781-452875CB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Симуляція відтворює випадкові надходження і завершення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526D0FC5-8EEA-413B-9028-30C28FA5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449344EA-C0B7-4E49-B246-3C87F230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Потрібні прогрів, повтори та оцінка похибки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AB6B8C60-A63C-4986-AC9A-597A83BB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D454C0D6-B987-4193-A7FD-1058A392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Результати порівнюємо в однакових одиницях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64F16C2A-46C9-4575-AB00-2CDCB05A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Наступний крок: перевірити обчислення й виміряти невизначеність.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DE618FC-B9C7-457D-8EF9-72E118C6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50508507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D1AE2ADF-F26F-4026-9F5A-1E34D69B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Самоперевірка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4611A787-F909-4136-9116-21E7F340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47E82A65-FF3C-420D-B0AC-BAEFAE7D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128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Чому 2 канали недостатні, хоча ρ&lt;1?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04B0481F-92DE-45BE-8F3F-D24AFCFF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7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8C2B6076-60F8-4710-A921-F9AA8713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30550"/>
            <a:ext cx="9620250" cy="128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Що означає C?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D456FA48-E5EF-49FE-A540-551F8C88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84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C73622FE-1CAF-4BCE-BE27-CAB95DDC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27550"/>
            <a:ext cx="9620250" cy="128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Чому три канали не рівні одному зі швидкістю 3μ?</a:t>
            </a:r>
          </a:p>
        </p:txBody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8FA96B38-B484-414A-B3F9-A2F8B025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Спочатку дайте відповідь словами, потім перевірте обчислення.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106256E-66E1-4D96-884A-306AD52A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82639529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2643399D-5C17-4C5B-AB4D-4ECF6433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Джерела та відтворення</a:t>
            </a:r>
          </a:p>
        </p:txBody>
      </p:sp>
      <p:sp>
        <p:nvSpPr>
          <p:cNvPr id="2" name="source-multi">
            <a:extLst xmlns:a="http://schemas.openxmlformats.org/drawingml/2006/main">
              <a:ext uri="{FF2B5EF4-FFF2-40B4-BE49-F238E27FC236}">
                <a16:creationId xmlns:a16="http://schemas.microsoft.com/office/drawing/2014/main" id="{2B81DB18-5444-4094-A385-00C43B2B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430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F82"/>
                </a:solidFill>
                <a:latin typeface="Arial"/>
                <a:ea typeface="Arial"/>
                <a:cs typeface="Arial"/>
                <a:hlinkClick xmlns:r="http://schemas.openxmlformats.org/officeDocument/2006/relationships" r:id="R96830f3dbd3b49c0"/>
              </a:rPr>
              <a:t>MIT · системи черг і багатоканальні моделі</a:t>
            </a:r>
          </a:p>
        </p:txBody>
      </p:sp>
      <p:sp>
        <p:nvSpPr>
          <p:cNvPr id="3" name="source-queue">
            <a:extLst xmlns:a="http://schemas.openxmlformats.org/drawingml/2006/main">
              <a:ext uri="{FF2B5EF4-FFF2-40B4-BE49-F238E27FC236}">
                <a16:creationId xmlns:a16="http://schemas.microsoft.com/office/drawing/2014/main" id="{913B3E28-F5B6-45DC-A52D-5236A644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495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F82"/>
                </a:solidFill>
                <a:latin typeface="Arial"/>
                <a:ea typeface="Arial"/>
                <a:cs typeface="Arial"/>
                <a:hlinkClick xmlns:r="http://schemas.openxmlformats.org/officeDocument/2006/relationships" r:id="R1dad72d107e84832"/>
              </a:rPr>
              <a:t>MIT · модель M/M/1</a:t>
            </a:r>
          </a:p>
        </p:txBody>
      </p:sp>
      <p:sp>
        <p:nvSpPr>
          <p:cNvPr id="4" name="source-numpy">
            <a:extLst xmlns:a="http://schemas.openxmlformats.org/drawingml/2006/main">
              <a:ext uri="{FF2B5EF4-FFF2-40B4-BE49-F238E27FC236}">
                <a16:creationId xmlns:a16="http://schemas.microsoft.com/office/drawing/2014/main" id="{6401920D-01A2-4FB8-9FAF-F5F08EC9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60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F82"/>
                </a:solidFill>
                <a:latin typeface="Arial"/>
                <a:ea typeface="Arial"/>
                <a:cs typeface="Arial"/>
                <a:hlinkClick xmlns:r="http://schemas.openxmlformats.org/officeDocument/2006/relationships" r:id="R36e118a1c57a4b52"/>
              </a:rPr>
              <a:t>NumPy · генерація випадкових чисел</a:t>
            </a:r>
          </a:p>
        </p:txBody>
      </p:sp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FB7B354D-5B60-44DB-9F61-3F043F55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721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Навчальні дані синтетичні. Усі показані програми виконано.</a:t>
            </a:r>
          </a:p>
        </p:txBody>
      </p:sp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1ED1A68A-0637-4D76-835A-F8E5316B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Навчальні дані та код прикладів додано до комплекту.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247AEFD-A177-4779-835E-EADA4AAD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804990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2026-10-19T09:24:47.7270000Z</dcterms:created>
  <dcterms:modified xsi:type="dcterms:W3CDTF">2026-10-19T09:24:47.7270000Z</dcterms:modified>
</coreProperties>
</file>