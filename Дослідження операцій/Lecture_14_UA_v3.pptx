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790926ada74761" /><Relationship Type="http://schemas.openxmlformats.org/officeDocument/2006/relationships/extended-properties" Target="/docProps/app.xml" Id="Rdea85a6cfd714598" /><Relationship Type="http://schemas.openxmlformats.org/officeDocument/2006/relationships/officeDocument" Target="/ppt/presentation.xml" Id="R08ff06be1f934c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860341f26041de"/>
  </p:sldMasterIdLst>
  <p:notesMasterIdLst>
    <p:notesMasterId xmlns:r="http://schemas.openxmlformats.org/officeDocument/2006/relationships" r:id="R5ed7ad2be1774095"/>
  </p:notesMasterIdLst>
  <p:sldIdLst>
    <p:sldId xmlns:r="http://schemas.openxmlformats.org/officeDocument/2006/relationships" id="256" r:id="Rd62db39dd7e54941"/>
    <p:sldId xmlns:r="http://schemas.openxmlformats.org/officeDocument/2006/relationships" id="257" r:id="R957f49db30374dd0"/>
    <p:sldId xmlns:r="http://schemas.openxmlformats.org/officeDocument/2006/relationships" id="258" r:id="Re6bee970da2d4e29"/>
    <p:sldId xmlns:r="http://schemas.openxmlformats.org/officeDocument/2006/relationships" id="259" r:id="Re4bb852812c24997"/>
    <p:sldId xmlns:r="http://schemas.openxmlformats.org/officeDocument/2006/relationships" id="260" r:id="Rfb6ede4d45e148bc"/>
    <p:sldId xmlns:r="http://schemas.openxmlformats.org/officeDocument/2006/relationships" id="261" r:id="Rf72e5ded88a34366"/>
    <p:sldId xmlns:r="http://schemas.openxmlformats.org/officeDocument/2006/relationships" id="262" r:id="R0cd91d1305694c62"/>
    <p:sldId xmlns:r="http://schemas.openxmlformats.org/officeDocument/2006/relationships" id="263" r:id="Rf91e902f053f4329"/>
    <p:sldId xmlns:r="http://schemas.openxmlformats.org/officeDocument/2006/relationships" id="264" r:id="Rda7a9b4cce424591"/>
    <p:sldId xmlns:r="http://schemas.openxmlformats.org/officeDocument/2006/relationships" id="265" r:id="R6548246ebc0149f1"/>
    <p:sldId xmlns:r="http://schemas.openxmlformats.org/officeDocument/2006/relationships" id="266" r:id="R826b982c810b4e15"/>
    <p:sldId xmlns:r="http://schemas.openxmlformats.org/officeDocument/2006/relationships" id="267" r:id="R75b9eebd108e4ad4"/>
    <p:sldId xmlns:r="http://schemas.openxmlformats.org/officeDocument/2006/relationships" id="268" r:id="R0c6ea7ec5a92414b"/>
    <p:sldId xmlns:r="http://schemas.openxmlformats.org/officeDocument/2006/relationships" id="269" r:id="R7d981947b186434a"/>
    <p:sldId xmlns:r="http://schemas.openxmlformats.org/officeDocument/2006/relationships" id="270" r:id="Raa509a4253e74517"/>
    <p:sldId xmlns:r="http://schemas.openxmlformats.org/officeDocument/2006/relationships" id="271" r:id="Rc0c8f424b46045fc"/>
    <p:sldId xmlns:r="http://schemas.openxmlformats.org/officeDocument/2006/relationships" id="272" r:id="R16fc2de5c8e14ca4"/>
    <p:sldId xmlns:r="http://schemas.openxmlformats.org/officeDocument/2006/relationships" id="273" r:id="R6f08be826d3b486c"/>
    <p:sldId xmlns:r="http://schemas.openxmlformats.org/officeDocument/2006/relationships" id="274" r:id="R36d1925b9c234681"/>
    <p:sldId xmlns:r="http://schemas.openxmlformats.org/officeDocument/2006/relationships" id="275" r:id="R056d662948a9407d"/>
    <p:sldId xmlns:r="http://schemas.openxmlformats.org/officeDocument/2006/relationships" id="276" r:id="R1dfe291fcd0242a3"/>
    <p:sldId xmlns:r="http://schemas.openxmlformats.org/officeDocument/2006/relationships" id="277" r:id="R39c7af70f1e44e55"/>
    <p:sldId xmlns:r="http://schemas.openxmlformats.org/officeDocument/2006/relationships" id="278" r:id="R5fc470b9cef64801"/>
    <p:sldId xmlns:r="http://schemas.openxmlformats.org/officeDocument/2006/relationships" id="279" r:id="R467df85eca064b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316c0e1f4a409f" /><Relationship Type="http://schemas.openxmlformats.org/officeDocument/2006/relationships/slideMaster" Target="/ppt/slideMasters/slideMaster1.xml" Id="Rb2860341f26041de" /><Relationship Type="http://schemas.openxmlformats.org/officeDocument/2006/relationships/notesMaster" Target="/ppt/notesMasters/notesMaster1.xml" Id="R5ed7ad2be1774095" /><Relationship Type="http://schemas.openxmlformats.org/officeDocument/2006/relationships/presProps" Target="/ppt/presProps.xml" Id="R08604d9f005d4ca2" /><Relationship Type="http://schemas.openxmlformats.org/officeDocument/2006/relationships/tableStyles" Target="/ppt/tableStyles.xml" Id="R20f4338350264604" /><Relationship Type="http://schemas.openxmlformats.org/officeDocument/2006/relationships/slide" Target="/ppt/slides/slide1.xml" Id="Rd62db39dd7e54941" /><Relationship Type="http://schemas.openxmlformats.org/officeDocument/2006/relationships/slide" Target="/ppt/slides/slide2.xml" Id="R957f49db30374dd0" /><Relationship Type="http://schemas.openxmlformats.org/officeDocument/2006/relationships/slide" Target="/ppt/slides/slide3.xml" Id="Re6bee970da2d4e29" /><Relationship Type="http://schemas.openxmlformats.org/officeDocument/2006/relationships/slide" Target="/ppt/slides/slide4.xml" Id="Re4bb852812c24997" /><Relationship Type="http://schemas.openxmlformats.org/officeDocument/2006/relationships/slide" Target="/ppt/slides/slide5.xml" Id="Rfb6ede4d45e148bc" /><Relationship Type="http://schemas.openxmlformats.org/officeDocument/2006/relationships/slide" Target="/ppt/slides/slide6.xml" Id="Rf72e5ded88a34366" /><Relationship Type="http://schemas.openxmlformats.org/officeDocument/2006/relationships/slide" Target="/ppt/slides/slide7.xml" Id="R0cd91d1305694c62" /><Relationship Type="http://schemas.openxmlformats.org/officeDocument/2006/relationships/slide" Target="/ppt/slides/slide8.xml" Id="Rf91e902f053f4329" /><Relationship Type="http://schemas.openxmlformats.org/officeDocument/2006/relationships/slide" Target="/ppt/slides/slide9.xml" Id="Rda7a9b4cce424591" /><Relationship Type="http://schemas.openxmlformats.org/officeDocument/2006/relationships/slide" Target="/ppt/slides/slide10.xml" Id="R6548246ebc0149f1" /><Relationship Type="http://schemas.openxmlformats.org/officeDocument/2006/relationships/slide" Target="/ppt/slides/slide11.xml" Id="R826b982c810b4e15" /><Relationship Type="http://schemas.openxmlformats.org/officeDocument/2006/relationships/slide" Target="/ppt/slides/slide12.xml" Id="R75b9eebd108e4ad4" /><Relationship Type="http://schemas.openxmlformats.org/officeDocument/2006/relationships/slide" Target="/ppt/slides/slide13.xml" Id="R0c6ea7ec5a92414b" /><Relationship Type="http://schemas.openxmlformats.org/officeDocument/2006/relationships/slide" Target="/ppt/slides/slide14.xml" Id="R7d981947b186434a" /><Relationship Type="http://schemas.openxmlformats.org/officeDocument/2006/relationships/slide" Target="/ppt/slides/slide15.xml" Id="Raa509a4253e74517" /><Relationship Type="http://schemas.openxmlformats.org/officeDocument/2006/relationships/slide" Target="/ppt/slides/slide16.xml" Id="Rc0c8f424b46045fc" /><Relationship Type="http://schemas.openxmlformats.org/officeDocument/2006/relationships/slide" Target="/ppt/slides/slide17.xml" Id="R16fc2de5c8e14ca4" /><Relationship Type="http://schemas.openxmlformats.org/officeDocument/2006/relationships/slide" Target="/ppt/slides/slide18.xml" Id="R6f08be826d3b486c" /><Relationship Type="http://schemas.openxmlformats.org/officeDocument/2006/relationships/slide" Target="/ppt/slides/slide19.xml" Id="R36d1925b9c234681" /><Relationship Type="http://schemas.openxmlformats.org/officeDocument/2006/relationships/slide" Target="/ppt/slides/slide20.xml" Id="R056d662948a9407d" /><Relationship Type="http://schemas.openxmlformats.org/officeDocument/2006/relationships/slide" Target="/ppt/slides/slide21.xml" Id="R1dfe291fcd0242a3" /><Relationship Type="http://schemas.openxmlformats.org/officeDocument/2006/relationships/slide" Target="/ppt/slides/slide22.xml" Id="R39c7af70f1e44e55" /><Relationship Type="http://schemas.openxmlformats.org/officeDocument/2006/relationships/slide" Target="/ppt/slides/slide23.xml" Id="R5fc470b9cef64801" /><Relationship Type="http://schemas.openxmlformats.org/officeDocument/2006/relationships/slide" Target="/ppt/slides/slide24.xml" Id="R467df85eca064b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8d19649ffe48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8781a874404d22" /><Relationship Type="http://schemas.openxmlformats.org/officeDocument/2006/relationships/notesMaster" Target="/ppt/notesMasters/notesMaster1.xml" Id="R0cec3f10d0194d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030a0dc1e94d67" /><Relationship Type="http://schemas.openxmlformats.org/officeDocument/2006/relationships/notesMaster" Target="/ppt/notesMasters/notesMaster1.xml" Id="Ra9284b19f83241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e15efc683e4560" /><Relationship Type="http://schemas.openxmlformats.org/officeDocument/2006/relationships/notesMaster" Target="/ppt/notesMasters/notesMaster1.xml" Id="R5d754be487e64f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2671875ef44d31" /><Relationship Type="http://schemas.openxmlformats.org/officeDocument/2006/relationships/notesMaster" Target="/ppt/notesMasters/notesMaster1.xml" Id="Rc00208438a3145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58eec2d05545d2" /><Relationship Type="http://schemas.openxmlformats.org/officeDocument/2006/relationships/notesMaster" Target="/ppt/notesMasters/notesMaster1.xml" Id="R3a790a7f9e5540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c1ed8803ea430a" /><Relationship Type="http://schemas.openxmlformats.org/officeDocument/2006/relationships/notesMaster" Target="/ppt/notesMasters/notesMaster1.xml" Id="R77527dfede314e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d9971fafa242f9" /><Relationship Type="http://schemas.openxmlformats.org/officeDocument/2006/relationships/notesMaster" Target="/ppt/notesMasters/notesMaster1.xml" Id="R185f0a3923214a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568bb4a3c4459f" /><Relationship Type="http://schemas.openxmlformats.org/officeDocument/2006/relationships/notesMaster" Target="/ppt/notesMasters/notesMaster1.xml" Id="R2389957f68384a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f6e5acc04448a9" /><Relationship Type="http://schemas.openxmlformats.org/officeDocument/2006/relationships/notesMaster" Target="/ppt/notesMasters/notesMaster1.xml" Id="R77ef9801567f41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ee33595ef648c3" /><Relationship Type="http://schemas.openxmlformats.org/officeDocument/2006/relationships/notesMaster" Target="/ppt/notesMasters/notesMaster1.xml" Id="R539ff39da0d549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0175ee9f15470c" /><Relationship Type="http://schemas.openxmlformats.org/officeDocument/2006/relationships/notesMaster" Target="/ppt/notesMasters/notesMaster1.xml" Id="R8d391ae922354d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d23fb377074e7d" /><Relationship Type="http://schemas.openxmlformats.org/officeDocument/2006/relationships/notesMaster" Target="/ppt/notesMasters/notesMaster1.xml" Id="R0d86e5abe7c643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b5807c2a0f4b96" /><Relationship Type="http://schemas.openxmlformats.org/officeDocument/2006/relationships/notesMaster" Target="/ppt/notesMasters/notesMaster1.xml" Id="R6f6b527f91b949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c37048413b46f6" /><Relationship Type="http://schemas.openxmlformats.org/officeDocument/2006/relationships/notesMaster" Target="/ppt/notesMasters/notesMaster1.xml" Id="R2a4301289d6741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fb46d8a04f4bb1" /><Relationship Type="http://schemas.openxmlformats.org/officeDocument/2006/relationships/notesMaster" Target="/ppt/notesMasters/notesMaster1.xml" Id="R4e98ab9037bd4b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fecae7b1a114006" /><Relationship Type="http://schemas.openxmlformats.org/officeDocument/2006/relationships/notesMaster" Target="/ppt/notesMasters/notesMaster1.xml" Id="R27f922c878f2426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861919dfef8480c" /><Relationship Type="http://schemas.openxmlformats.org/officeDocument/2006/relationships/notesMaster" Target="/ppt/notesMasters/notesMaster1.xml" Id="R6b71ffcde1cb40c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7716995b274ca6" /><Relationship Type="http://schemas.openxmlformats.org/officeDocument/2006/relationships/notesMaster" Target="/ppt/notesMasters/notesMaster1.xml" Id="Rc4af7dba626d4a3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9931ffe02974791" /><Relationship Type="http://schemas.openxmlformats.org/officeDocument/2006/relationships/notesMaster" Target="/ppt/notesMasters/notesMaster1.xml" Id="Rc154e349f2ae4f8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79c995133d84c41" /><Relationship Type="http://schemas.openxmlformats.org/officeDocument/2006/relationships/notesMaster" Target="/ppt/notesMasters/notesMaster1.xml" Id="Ra5c3a7cbc6694a6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0ffabb89f014598" /><Relationship Type="http://schemas.openxmlformats.org/officeDocument/2006/relationships/notesMaster" Target="/ppt/notesMasters/notesMaster1.xml" Id="R4d532eb0e8e040c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8039b92207a4885" /><Relationship Type="http://schemas.openxmlformats.org/officeDocument/2006/relationships/notesMaster" Target="/ppt/notesMasters/notesMaster1.xml" Id="R2f4c266da090426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1ecdd302d9c4582" /><Relationship Type="http://schemas.openxmlformats.org/officeDocument/2006/relationships/notesMaster" Target="/ppt/notesMasters/notesMaster1.xml" Id="Ra9881fb976724ca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e9cd908c55341a8" /><Relationship Type="http://schemas.openxmlformats.org/officeDocument/2006/relationships/notesMaster" Target="/ppt/notesMasters/notesMaster1.xml" Id="Rf59cedc41fdf46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Поясніть зв’язок теми з попередніми лекціями. Усі числові приклади є навчальними, а не вимірюваннями реальної інфраструктури.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Студент має бачити повний цикл, а не набір ізольованих прикладів. Обраний кейс використовує вже відомі формули, щоб увагу зосередити на методології.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Ціна є синтетичною, без прив’язки до хмарного тарифу. Витрати на балансувальник та інші спільні компоненти в моделі фіксовані.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Зверніть увагу: у кейсі немає спостережень виробничої системи. Пікові значення задають сценарії, а не оцінений довірчий інтервал потоку.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Попросіть студентів позначити початок і кінець вимірюваного інтервалу. Не можна додавати до висновку гарантію p99 без окремого аналізу.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Перевірка припущень у реальному проєкті потребувала б журналів прибуттів і тривалостей. У навчальному прикладі їх задаємо явно.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 дискретна оптимізація скалярного рішення з малою областю. Повний перебір є точним методом, бо перевіряємо всі допустимі 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Поясніть різницю: знайти один допустимий c недостатньо для мінімальної вартості. Треба показати, що дешевші кандидати непридатні.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Функція повторена тут повністю, щоб презентація й файл кейсу були самодостатні. Для великих c факторіальну формулу слід замінити стійкою рекурентною.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Переконайтеся, що інтервал range(2,7) включає 6. Для значно більшої кількості рішень повний перебір може стати непридатним.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Вартість c=2 менша, але Wq≈426 мс, тому кандидат недопустимий. Саме це є доказом мінімальності c=3 у заданій множині.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Сценарії обчислюємо як окремі стаціонарні режими. Якщо пік короткий або навантаження змінюється швидко, потрібна перехідна симуляція.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Порівнюємо конфігурації за однаковим навантаженням. Не називайте сценарії прогнозом реального майбутнього без окремого обґрунтування.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 сценарна робастна постановка для скінченного набору параметрів. Вона не гарантує якість за довільної інтенсивності або іншої форми потоку.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Перевірка cμ&gt;max λ дозволяє безпечно застосувати mmc до всіх сценаріїв. Не підставляємо нестійкі параметри у стаціонарні формули.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Вартість підвищується з 3 до 4 умовних одиниць за період. Висновок не є фінансовою рекомендацією щодо реальних хмарних тарифів.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Рішення для базового навантаження не є неправильним саме по собі: воно відповідає іншій області вимог. Потрібно узгодити, який режим має бути захищений.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цій функції λ=18 і μ=10 фіксовані. Перевірка на наступному слайді стосується базового сценарію, а не λ=26. Для піків треба передати інші параметри у розширену функцію.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Підкресліть різницю між перевіркою аналітичної реалізації й доказом якості під час реального піку. Наближений t-інтервал побудовано за середніми двадцяти незалежних прогонів.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Результат має бути близьким до аналітичного еталона. Навіть дуже близький збіг не перевіряє реальні припущення розподілів або продуктивності обладнання.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 завершений навчальний висновок. Він має називати конкретне рішення, перевірені сценарії, метрику й межі застосування.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Зв’язуйте кожне число у висновку з клітинкою або функцією, яка його отримала. Окремого непотрібного звіту не додаємо.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Різні набори вимог дають різні допустимі множини. Перебір доводить мінімальність серед заданих кандидатів. Симуляція не доводить адекватність моделі реальному сервісу.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Посилання ведуть до першоджерел та офіційної документації. Формулювання і числові приклади адаптовано для ІТ-контексту. Для повторення запустіть відповідний файл lecture_NN.py. Версії пакетів наведено у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719f06e0f34a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013dee4a7f4f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75887a79634b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be0ec9f31f41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d80a9759a48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8e98d8cd874e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89BDB9-273D-4BCF-ACB1-07225CF6AC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B64F9E-D5C3-4700-85D0-A118D87BBAD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EAF2F38-CEC7-45E8-8AD4-9A00484BA7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A4F43F-F2DE-4D83-B30B-70B0FCF707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C14A4D-69A3-46EF-8D45-393FF1BD83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0BBF2A-3548-4EFF-873C-8E744FAE6B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DE3DC7-122D-449A-9819-FF8F97E389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C691D40-CD7F-4D72-B84B-3E9AFC8A9A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B5B1FE-3E78-4ED1-953A-49D5F01375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B06E88-8DA9-489E-AC8A-2041212B3C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4e44d0c0c74663" /><Relationship Type="http://schemas.openxmlformats.org/officeDocument/2006/relationships/slideLayout" Target="/ppt/slideLayouts/slideLayout1.xml" Id="R14bb6d568f634fb6" /><Relationship Type="http://schemas.openxmlformats.org/officeDocument/2006/relationships/slideLayout" Target="/ppt/slideLayouts/slideLayout2.xml" Id="R9f1f9439a365433a" /><Relationship Type="http://schemas.openxmlformats.org/officeDocument/2006/relationships/slideLayout" Target="/ppt/slideLayouts/slideLayout3.xml" Id="R5fd6d750dff24592" /><Relationship Type="http://schemas.openxmlformats.org/officeDocument/2006/relationships/slideLayout" Target="/ppt/slideLayouts/slideLayout4.xml" Id="R05ee018e77434d47" /><Relationship Type="http://schemas.openxmlformats.org/officeDocument/2006/relationships/slideLayout" Target="/ppt/slideLayouts/slideLayout5.xml" Id="R9fb3443f5e42429a" /><Relationship Type="http://schemas.openxmlformats.org/officeDocument/2006/relationships/slideLayout" Target="/ppt/slideLayouts/slideLayout6.xml" Id="Ra8a2e824448642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bb6d568f634fb6"/>
    <p:sldLayoutId xmlns:r="http://schemas.openxmlformats.org/officeDocument/2006/relationships" id="2147483650" r:id="R9f1f9439a365433a"/>
    <p:sldLayoutId xmlns:r="http://schemas.openxmlformats.org/officeDocument/2006/relationships" id="2147483651" r:id="R5fd6d750dff24592"/>
    <p:sldLayoutId xmlns:r="http://schemas.openxmlformats.org/officeDocument/2006/relationships" id="2147483652" r:id="R05ee018e77434d47"/>
    <p:sldLayoutId xmlns:r="http://schemas.openxmlformats.org/officeDocument/2006/relationships" id="2147483653" r:id="R9fb3443f5e42429a"/>
    <p:sldLayoutId xmlns:r="http://schemas.openxmlformats.org/officeDocument/2006/relationships" id="2147483654" r:id="Ra8a2e824448642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7ce2c2b40f4618" /><Relationship Type="http://schemas.openxmlformats.org/officeDocument/2006/relationships/notesSlide" Target="/ppt/notesSlides/notesSlide1.xml" Id="R751652e206bf44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d7b1627f034f71" /><Relationship Type="http://schemas.openxmlformats.org/officeDocument/2006/relationships/notesSlide" Target="/ppt/notesSlides/notesSlide2.xml" Id="R4c3ac9f43f554f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23d1b9243747fb" /><Relationship Type="http://schemas.openxmlformats.org/officeDocument/2006/relationships/notesSlide" Target="/ppt/notesSlides/notesSlide3.xml" Id="R70bc3cfe19e64f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6aac7c396c4c85" /><Relationship Type="http://schemas.openxmlformats.org/officeDocument/2006/relationships/notesSlide" Target="/ppt/notesSlides/notesSlide4.xml" Id="Re2b1a58232dd4a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f127897dee4c6d" /><Relationship Type="http://schemas.openxmlformats.org/officeDocument/2006/relationships/notesSlide" Target="/ppt/notesSlides/notesSlide5.xml" Id="R469669d9b17947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50d7a25917479c" /><Relationship Type="http://schemas.openxmlformats.org/officeDocument/2006/relationships/notesSlide" Target="/ppt/notesSlides/notesSlide6.xml" Id="R83b05d724ede4c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8ca1c20d654d98" /><Relationship Type="http://schemas.openxmlformats.org/officeDocument/2006/relationships/notesSlide" Target="/ppt/notesSlides/notesSlide7.xml" Id="R5fb35e30525a48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b7ac866d59446c" /><Relationship Type="http://schemas.openxmlformats.org/officeDocument/2006/relationships/notesSlide" Target="/ppt/notesSlides/notesSlide8.xml" Id="R3b6e1cab828943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f7995d15954ef2" /><Relationship Type="http://schemas.openxmlformats.org/officeDocument/2006/relationships/notesSlide" Target="/ppt/notesSlides/notesSlide9.xml" Id="Rcbbc4854a65444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36bcbb961d4391" /><Relationship Type="http://schemas.openxmlformats.org/officeDocument/2006/relationships/notesSlide" Target="/ppt/notesSlides/notesSlide10.xml" Id="Ra44c8caa95fd47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006cdeb4aa4357" /><Relationship Type="http://schemas.openxmlformats.org/officeDocument/2006/relationships/notesSlide" Target="/ppt/notesSlides/notesSlide11.xml" Id="Ra506a3c26c9244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416802e73e48cf" /><Relationship Type="http://schemas.openxmlformats.org/officeDocument/2006/relationships/notesSlide" Target="/ppt/notesSlides/notesSlide12.xml" Id="Rec4f7435c9c84b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8563c059a64f5c" /><Relationship Type="http://schemas.openxmlformats.org/officeDocument/2006/relationships/chart" Target="/ppt/slides/charts/chart1.xml" Id="R85ab4fbe38fd4be4" /><Relationship Type="http://schemas.openxmlformats.org/officeDocument/2006/relationships/notesSlide" Target="/ppt/notesSlides/notesSlide13.xml" Id="R7ce9c629dd8e44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96f8adfa164ee2" /><Relationship Type="http://schemas.openxmlformats.org/officeDocument/2006/relationships/notesSlide" Target="/ppt/notesSlides/notesSlide14.xml" Id="Rd51cd2115cac47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4538f43ffe40c2" /><Relationship Type="http://schemas.openxmlformats.org/officeDocument/2006/relationships/notesSlide" Target="/ppt/notesSlides/notesSlide15.xml" Id="Rdcad6f9c2aaa49b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851a23462d44b6" /><Relationship Type="http://schemas.openxmlformats.org/officeDocument/2006/relationships/notesSlide" Target="/ppt/notesSlides/notesSlide16.xml" Id="R1d9b5155259a46a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2d91ab2b024aed" /><Relationship Type="http://schemas.openxmlformats.org/officeDocument/2006/relationships/notesSlide" Target="/ppt/notesSlides/notesSlide17.xml" Id="Rae5d785ff12c402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f824ab4754407b" /><Relationship Type="http://schemas.openxmlformats.org/officeDocument/2006/relationships/notesSlide" Target="/ppt/notesSlides/notesSlide18.xml" Id="R5e95dc4233bb4de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fe0b0935f24f94" /><Relationship Type="http://schemas.openxmlformats.org/officeDocument/2006/relationships/notesSlide" Target="/ppt/notesSlides/notesSlide19.xml" Id="R59a2c1bed56d488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739eae5581457a" /><Relationship Type="http://schemas.openxmlformats.org/officeDocument/2006/relationships/notesSlide" Target="/ppt/notesSlides/notesSlide20.xml" Id="R35501a838256469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f27a4ab683450e" /><Relationship Type="http://schemas.openxmlformats.org/officeDocument/2006/relationships/notesSlide" Target="/ppt/notesSlides/notesSlide21.xml" Id="Ra2eb0a49b345424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58d9c152614957" /><Relationship Type="http://schemas.openxmlformats.org/officeDocument/2006/relationships/notesSlide" Target="/ppt/notesSlides/notesSlide22.xml" Id="Ra31e2ff8532f445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fdf645dc474abf" /><Relationship Type="http://schemas.openxmlformats.org/officeDocument/2006/relationships/notesSlide" Target="/ppt/notesSlides/notesSlide23.xml" Id="Rb44809b1ae4342a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9111726a9b4120" /><Relationship Type="http://schemas.openxmlformats.org/officeDocument/2006/relationships/hyperlink" Target="https://ocw.mit.edu/courses/1-203j-logistical-and-transportation-planning-methods-fall-2006/pages/lecture-notes/" TargetMode="External" Id="R8c14a334617c4931" /><Relationship Type="http://schemas.openxmlformats.org/officeDocument/2006/relationships/hyperlink" Target="https://numpy.org/doc/stable/reference/random/index.html" TargetMode="External" Id="Rf0b7d05021194125" /><Relationship Type="http://schemas.openxmlformats.org/officeDocument/2006/relationships/hyperlink" Target="https://www.itl.nist.gov/div898/software/dataplot/refman1/auxillar/conflimi.htm" TargetMode="External" Id="R259ae802511e4bc6" /><Relationship Type="http://schemas.openxmlformats.org/officeDocument/2006/relationships/notesSlide" Target="/ppt/notesSlides/notesSlide24.xml" Id="R5ac272ad2219430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c=3</c:v>
          </c:tx>
          <c:spPr>
            <a:solidFill xmlns:a="http://schemas.openxmlformats.org/drawingml/2006/main">
              <a:srgbClr val="007F82"/>
            </a:solidFill>
            <a:ln xmlns:a="http://schemas.openxmlformats.org/drawingml/2006/main" w="28575">
              <a:solidFill>
                <a:srgbClr val="007F82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07F82"/>
              </a:solidFill>
            </c:spPr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18</c:v>
                </c:pt>
                <c:pt idx="1">
                  <c:v>22</c:v>
                </c:pt>
                <c:pt idx="2">
                  <c:v>26</c:v>
                </c:pt>
              </c:numCache>
            </c:numRef>
          </c:xVal>
          <c:yVal>
            <c:numRef>
              <c:f>'Chart Data'!$B$2:$B$4</c:f>
              <c:numCache>
                <c:formatCode>0.0</c:formatCode>
                <c:ptCount val="3"/>
                <c:pt idx="0">
                  <c:v>29.5620437956</c:v>
                </c:pt>
                <c:pt idx="1">
                  <c:v>67.7698574338</c:v>
                </c:pt>
                <c:pt idx="2">
                  <c:v>189.723661485</c:v>
                </c:pt>
              </c:numCache>
            </c:numRef>
          </c:yVal>
        </c:ser>
        <c:ser>
          <c:idx val="1"/>
          <c:order val="1"/>
          <c:tx>
            <c:v>c=4</c:v>
          </c:tx>
          <c:spPr>
            <a:solidFill xmlns:a="http://schemas.openxmlformats.org/drawingml/2006/main">
              <a:srgbClr val="D06B25"/>
            </a:solidFill>
            <a:ln xmlns:a="http://schemas.openxmlformats.org/drawingml/2006/main" w="28575">
              <a:solidFill>
                <a:srgbClr val="D06B2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D06B25"/>
              </a:solidFill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18</c:v>
                </c:pt>
                <c:pt idx="1">
                  <c:v>22</c:v>
                </c:pt>
                <c:pt idx="2">
                  <c:v>26</c:v>
                </c:pt>
              </c:numCache>
            </c:numRef>
          </c:xVal>
          <c:yVal>
            <c:numRef>
              <c:f>'Chart Data'!$D$2:$D$4</c:f>
              <c:numCache>
                <c:formatCode>0.0</c:formatCode>
                <c:ptCount val="3"/>
                <c:pt idx="0">
                  <c:v>5.8424384901</c:v>
                </c:pt>
                <c:pt idx="1">
                  <c:v>12.5999363161</c:v>
                </c:pt>
                <c:pt idx="2">
                  <c:v>25.3157712797</c:v>
                </c:pt>
              </c:numCache>
            </c:numRef>
          </c:yVal>
        </c:ser>
        <c:ser>
          <c:idx val="2"/>
          <c:order val="2"/>
          <c:tx>
            <c:v>Вимога</c:v>
          </c:tx>
          <c:spPr>
            <a:solidFill xmlns:a="http://schemas.openxmlformats.org/drawingml/2006/main">
              <a:srgbClr val="3E67BA"/>
            </a:solidFill>
            <a:ln xmlns:a="http://schemas.openxmlformats.org/drawingml/2006/main" w="28575">
              <a:solidFill>
                <a:srgbClr val="3E67B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E67BA"/>
              </a:solidFill>
            </c:spPr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18</c:v>
                </c:pt>
                <c:pt idx="1">
                  <c:v>22</c:v>
                </c:pt>
                <c:pt idx="2">
                  <c:v>26</c:v>
                </c:pt>
              </c:numCache>
            </c:numRef>
          </c:xVal>
          <c:yVal>
            <c:numRef>
              <c:f>'Chart Data'!$F$2:$F$4</c:f>
              <c:numCache>
                <c:formatCode>0.0</c:formatCode>
                <c:ptCount val="3"/>
                <c:pt idx="0">
                  <c:v>50</c:v>
                </c:pt>
                <c:pt idx="1">
                  <c:v>50</c:v>
                </c:pt>
                <c:pt idx="2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Wq, мс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6"/>
          <c:min val="18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λ, запитів/с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CFD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CFDFE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lecture">
            <a:extLst xmlns:a="http://schemas.openxmlformats.org/drawingml/2006/main">
              <a:ext uri="{FF2B5EF4-FFF2-40B4-BE49-F238E27FC236}">
                <a16:creationId xmlns:a16="http://schemas.microsoft.com/office/drawing/2014/main" id="{EA4BEFF4-9577-4D7B-A8AD-78D54AB5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1D8CF"/>
                </a:solidFill>
                <a:latin typeface="Arial"/>
                <a:ea typeface="Arial"/>
                <a:cs typeface="Arial"/>
              </a:rPr>
              <a:t>ЛЕКЦІЯ 14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BB07190-D81C-49EA-BC0E-C1367CD4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Комплексний кейс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дослідження операцій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299C703-FC1B-4FCD-98D3-51547D8B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6E6EF"/>
                </a:solidFill>
                <a:latin typeface="Arial"/>
                <a:ea typeface="Arial"/>
                <a:cs typeface="Arial"/>
              </a:rPr>
              <a:t>Вибір пулу обробників: від інженерного питання до перевіреної рекомендації</a:t>
            </a:r>
          </a:p>
        </p:txBody>
      </p:sp>
      <p:sp>
        <p:nvSpPr>
          <p:cNvPr id="4" name="course">
            <a:extLst xmlns:a="http://schemas.openxmlformats.org/drawingml/2006/main">
              <a:ext uri="{FF2B5EF4-FFF2-40B4-BE49-F238E27FC236}">
                <a16:creationId xmlns:a16="http://schemas.microsoft.com/office/drawing/2014/main" id="{1FE11852-466D-48DE-A3E0-1C392E01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007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1D5E1"/>
                </a:solidFill>
                <a:latin typeface="Arial"/>
                <a:ea typeface="Arial"/>
                <a:cs typeface="Arial"/>
              </a:rPr>
              <a:t>Математичне моделювання та методи дослідження операцій</a:t>
            </a:r>
          </a:p>
        </p:txBody>
      </p:sp>
    </p:spTree>
    <p:extLst>
      <p:ext uri="{BB962C8B-B14F-4D97-AF65-F5344CB8AC3E}">
        <p14:creationId xmlns:p14="http://schemas.microsoft.com/office/powerpoint/2010/main" val="8704044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9AFC8089-5764-4EA5-B2DE-A1289700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План комплексного дослідження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A13EC243-C75B-4720-BB38-03F1DD11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3829557B-4D7B-4BD3-95A1-23BF6235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Сформулювати рішення, метрику та обмеження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010A50A5-254B-43DA-8A38-8155680D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D53FCE69-36FD-4A16-9786-8B6920C9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Обрати модель і перевірити припущення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77EAFF1A-B9E5-42A9-9206-CC67F0F9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40741C02-F945-4692-BA53-FD34F35D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Знайти конфігурацію та дослідити сценарії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91DE91CC-5529-4402-9D3E-5462F299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31A5713B-87C1-4D66-B228-5E828E92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Перевірити код, інтерпретувати й обмежити висновок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F2F0DAD6-F586-47C2-BDA9-1BC3CBD2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Кейс об’єднує моделювання, оптимізацію та експеримент.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1407EF2-FF53-4938-9196-97F00920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56997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4DAEB632-174B-4D34-BD05-8FD27F97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Замовник і рішення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04216BEA-354F-4D2A-A642-12C14523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0CE84890-9B1A-43DC-A6F1-4C7E5D31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Команда сервісу обирає розмір пулу обробників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6B5F14C3-F53B-4D8D-AB64-2757C92C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4287BF17-175B-4CDE-B82F-4F232677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Кандидати: c від 2 до 6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DF591B38-4360-4B6F-ACDE-50183CEA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03C8BEF2-2ED9-4555-B5AF-83BC879A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Вартість одного обробника: 1 умовна одиниця за період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95C93C01-E1FB-4491-B2AD-A7813AD3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AEDE40D0-1748-42E0-973E-42B90EB8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Потрібна найменша вартість за обмеження якості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4B0CBC0E-0BCC-4F59-9A7F-83C3EE12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Керована змінна c має конкретний інфраструктурний зміст.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901B1C7-ED20-4C16-AC68-DD2EDE07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274147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F0B3D5A-DD77-44A9-AC11-A2253652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Паспорт навчального кейсу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6B3D5-8647-405A-9450-DBA5A67E1F4B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93067"/>
                <a:gridCol w="6874933"/>
              </a:tblGrid>
              <a:tr h="598714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Поле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Значення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598714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Надходження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λ=18 запитів/с у базі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598714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Обслуговування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μ=10 запитів/с на канал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Якість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Середнє Wq≤50 мс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598714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Архітектура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Спільна FCFS-черга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Пікові сценарії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λ=22 і 26 запитів/с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598714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Походження даних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Синтетичні навчальні значення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50D6D008-0514-4503-BE2E-7313370E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Походження даних є частиною моделі.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F6A9518-1680-42E0-B52F-D0B01A72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798941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155F6EE1-ED43-4DCB-8763-39AB17E9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Метрика і межі системи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5EEAC94A-FA0D-4B52-88BC-A2D93A7F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07846AA7-0EB4-43E5-96B0-DDC80BA7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Wq: від прибуття в чергу до початку обслуговування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11A399D3-5881-4E85-8841-8E1E0EEB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F7C0CC68-0081-49B8-A791-924FDBE8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Обслуговування, мережа й клієнтський час окремі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FD235930-247C-488B-8E7D-2C005D43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3E9431DA-46E2-4C1B-BEB7-18FE5C1B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Обмеження 50 мс стосується середнього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8B77948A-5058-4A4C-BBB8-A0DDF776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66CCE26C-4448-42EA-9096-486027CF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Процентиль і тайм-аут потребують інших метрик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2060FAFE-1520-4D44-AFD1-12643891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Чітка метрика запобігає неправильній інтерпретації SLA.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589FFBE-E6EA-475B-8D69-B6FF17C4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055041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BEB8385-01DA-4795-BDB2-3E83C541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Вибір математичної моделі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71795-874E-4F99-A885-96E04BCF8C7E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96766"/>
                <a:gridCol w="8171234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Властивість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Припущення M/M/c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Прибуття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Сталий пуассонівський потік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Тривалості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Незалежні експоненційні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Канали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Однакові, незалежні за продуктивністю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Черга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Спільна, необмежена, FCFS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47269567-3801-4361-B62E-C831FDFF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Модель дає швидкий аналітичний еталон для малих сценаріїв.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4A80FB1-DE84-4297-AAB1-758BD032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763330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287355D9-429F-45FC-9AE1-778406BE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Модель оптимізації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378423B6-6F0D-47F9-B654-CF9500CF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29DBFC6F-C2D9-4E36-AA6E-E4379DCE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min cost(c) = c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CC1B9F12-D7D4-4A3F-8F61-7AE9CB7B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6A9A7D98-7178-4F0F-98FF-3806B666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c ∈ {2,3,4,5,6}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50ED4D81-69B3-42D0-A9FE-7C4283B4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535BED1F-9EFD-4E1E-AD7B-D1B54C97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cμ &gt; λ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0078B2DE-E6D8-4989-97C8-BF1510A9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38DD1FE5-5F86-4D54-8619-0F7F41D9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Wq(λ,μ,c) ≤ 0,05 с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11E797A2-5DDF-46C2-8ED0-E9E04356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Кожного кандидата оцінює модель M/M/c.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E1F7A66-4C34-4B1D-8979-38CC441E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341200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404359A-7DF4-4F5E-ABF0-7AFD70D2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Алгоритм розв’язання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1B1DFDFC-4AE4-4E66-8F87-CD715350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18CC4784-5138-4BF3-8C43-24632022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Для кожного c перевірити стійкість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3A9D3C63-BBDD-46FC-9192-6F8E5695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2653BF6C-5A5B-4413-A017-DD61DCDF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Обчислити Wq за Ерлангом C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16AA2301-4A03-43D2-90AB-62EF1697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423D3447-78C4-40BC-9EF2-E0F4BF88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Відкинути кандидатів, що порушують 50 мс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2729BD01-60BE-4DC4-A2B3-984AB916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16158797-B56E-4C8D-9AF3-8053229A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Серед решти обрати мінімальну вартість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3F762293-752B-4BAC-8DB3-2C5E4593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Рішення перевіряє і допустимість, і оптимальність серед кандидатів.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46EC4BA-97BF-403F-86A1-92CB5D76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077126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3CBD195-EF31-4F02-903C-ABEFCA39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оцінювання кандидатів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5C43E6AC-4B1A-4BDE-B792-694E15FD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from math import factorial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def mmc(lam, mu, c):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a, rho = lam/mu, lam/(c*mu)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if rho &gt;= 1: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    raise ValueError("Нестійка конфігурація")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tail = a**c / (factorial(c)*(1-rho))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p0 = 1/(sum(a**k/factorial(k) for k in range(c))+tail)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C = tail*p0  # імовірність очікування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Wq = C/(c*mu-lam)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return rho, C, Wq, Wq+1/mu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F85D891F-EA3B-4E6E-AC13-7CA73BE1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Використовуємо ту саму перевірену функцію M/M/c.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ABE7C95-55D8-42BF-83FE-8DCBD869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562622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8EDA4DC-B4FE-4E5D-AF90-BAC190F5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базова оптимізація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EE36068F-38D4-4921-8659-351150CD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valid = []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for c in range(2,7):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Wq = mmc(18,10,c)[2]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print(f"c={c}, ціна={c}, Wq={1000*Wq:.2f} мс")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if Wq &lt;= .05: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    valid.append(c)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print("Вибір для бази:", min(valid))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FAEE3EB2-952F-4654-87D3-D2689968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Результат не залежить від евристики: перевірено всіх кандидатів.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FC0B083-A698-4B3F-9F07-8AC76827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358027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D8419E4-565A-4046-8415-C9EAB885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Фактичний результат базового вибору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FFF79E4F-F921-4B88-8081-AC07FBD5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c=2, ціна=2, Wq=426.32 мс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c=3, ціна=3, Wq=29.56 мс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c=4, ціна=4, Wq=5.84 мс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c=5, ціна=5, Wq=1.27 мс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c=6, ціна=6, Wq=0.27 мс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Вибір для бази: 3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05A2F66A-2E84-4D33-9D8E-62FD94FC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Мінімальна базова конфігурація: c=3.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8064B6-DE7B-4774-BE2D-9150B1DA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843530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DD312E3-B9EA-4E0A-B57E-5145DDE9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Перевірка пікових сценаріїв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91297-12BC-472D-99B4-0A18DB564D23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65176"/>
                <a:gridCol w="3451412"/>
                <a:gridCol w="3451412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λ, запитів/с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c=3: Wq, мс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c=4: Wq, мс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29.56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5.84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67.77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12.60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189.72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25.32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80F272A4-0A3F-48BC-9DFC-BB53EBC8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c=3 виконує вимогу в базі, але не в обох пікових сценаріях.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B25E08C-D931-4C0C-9185-8AE1A444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63346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BFE02D0-7C0D-42B1-BF42-75ADBC15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Чутливість до інтенсивності входу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94E7FA41-DDBC-4143-BFE7-81918FB40154}"/>
              </a:ext>
            </a:extLst>
          </p:cNvPr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668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ab4fbe38fd4be4"/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9B398359-FEC7-43F6-9049-4ABA179A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Для вибору запасу потрібний явний набір сценаріїв.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3018595-3B3A-4E1C-AF61-31E63170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056750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FCEFD5A5-26E1-4433-A0F5-F57ADE29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Сценарна постановка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A27F2719-3765-4466-B2B9-86A4903A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645C68BF-96FF-425E-85C5-659C5CA4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Зберегти min c та множину кандидатів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76D8E5D1-26A1-4D0F-9F9C-78F29181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733FEE9C-1520-4773-B45A-6A44BC8C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Перевірити Wq≤0,05 для кожного λ∈{18,22,26}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CB290610-58EC-4E4B-83E5-0EA6BB66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91DC9085-9109-481B-BB9E-A05E0DDC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Додатково перевірити стійкість у кожному сценарії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59420C72-F080-4A2E-971C-C7BB131A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FB75D1D4-B753-49DD-A8F9-44FAAE0E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Обрати найдешевший кандидат, який пройшов усі перевірки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153EC1F8-759F-41DB-BA4B-39BEAD85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Надійність висновку обмежена заданими сценаріями.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7E9E026-1059-4758-808F-6F74C57A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751655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87832E-3176-41AA-BD91-6AA8691E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вибір для всіх сценаріїв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6F7C5C74-3352-4D91-83F6-DF095308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loads = [18.,22.,26.]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valid = []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for c in range(2,7):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if c*10 &lt;= max(loads):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    continue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worst = max(mmc(lam,10,c)[2] for lam in loads)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print(f"c={c}: найгірше Wq={1000*worst:.2f} мс")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if worst &lt;= .05: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    valid.append(c)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print("Сценарний вибір:", min(valid))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A3987628-9BC6-4056-9A33-490C02A4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Сценарний вибір: c=4.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53EE89C-8FC2-4512-813D-7343FB65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095620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78582D3-ABD6-4E3E-BEDE-D46711E2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Фактичний сценарний результат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E9C64005-A9B3-4D12-BBD0-12FACA09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c=3: найгірше Wq=189.72 мс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c=4: найгірше Wq=25.32 мс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c=5: найгірше Wq=6.19 мс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c=6: найгірше Wq=1.64 мс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Сценарний вибір: 4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4097D6E7-914D-4FFC-93DC-9B9A0A62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Додатковий канал купує запас для заданих пікових режимів.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2CB05DE-C0D3-413B-836E-DFC402EE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62228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4660AAC-0C56-4388-ACDC-879E446B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Порівняння рішень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C2745-4229-4C81-898A-45CFA26FC4C8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000375"/>
                <a:gridCol w="5667375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Критерій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Базовий вибір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Сценарний вибір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Канали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Вартість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Перевірені 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18,22,26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Вимога Wq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Виконується в базі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Виконується у всіх трьох сценаріях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E6D45275-3D5A-4E66-BFE1-A0A6CB3D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Вибір між варіантами залежить від вимоги замовника.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B9F24F3-C785-4AD9-93ED-8CCABAC8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876122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5B0F0EC-8A23-405A-A5C6-05F8842E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імітаційна перевірка алгоритму черги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5E1243FA-8073-4C7E-9E97-A8E42352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import numpy as np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import heapq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def run_queue(seed, c=3, n=50000, warm=5000):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rng = np.random.default_rng(seed)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arrivals = np.cumsum(rng.exponential(1/18,n))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service = rng.exponential(1/10,n)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free = [0.]*c  # час звільнення каналів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waits = np.zeros(n)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for i,(a,s) in enumerate(zip(arrivals,service)):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    start = max(a,heapq.heappop(free))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    waits[i] = start-a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    heapq.heappush(free,start+s)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return waits[warm:].mean()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BB6198FF-8CAD-46CD-B6DE-B175034A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Для c=4 генеруємо ті самі типи подій, що в аналітичній моделі.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E84A799-82BB-489D-9830-40A03639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330999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3852D45-7877-4863-896D-2E32F2F8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незалежні повтори для c=4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C502DA27-3829-468B-AA34-D167C198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from scipy.stats import t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y = np.array([run_queue(seed,c=4) for seed in range(20)])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h = t.ppf(.975,19)*y.std(ddof=1)/np.sqrt(20)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print(f"Симуляція c=4: {1000*y.mean():.4f} мс")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print(f"95% ДІ: [{1000*(y.mean()-h):.4f}; "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  f"{1000*(y.mean()+h):.4f}] мс")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print(f"Еталон: {1000*mmc(18,10,4)[2]:.4f} мс")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34CC94F6-1250-4D59-8554-12BE7917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Імітаційна перевірка тут виконана при λ=18.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ACBB49C-64AE-42F8-957D-B547A209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114176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B9A8AF3-6A4D-4B2C-BCE4-28F2BAB4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Фактичний результат перевірки c=4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298E16FC-F503-407B-BCFD-3ED0DD0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Симуляція c=4: 5.8579 мс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95% ДІ: [5.6791; 6.0368] мс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Еталон: 5.8424 мс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7BBC5EF7-F828-4213-8CE3-056AEBC7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Випадкову похибку оцінюємо за повторними прогонами.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30D3644-4E3C-43BF-B20A-B3965CEA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1834456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E440648B-67F8-4A3C-94C8-1B545030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Предметна інтерпретація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35976372-174E-45EE-8CEC-E425D9D2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86F5948F-38C1-4D5B-8C90-4084EC14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Для базового λ=18 достатньо c=3 за середнім Wq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1F82D0F4-A088-4E44-B61F-6B351DCF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36E3F176-F3D2-4E58-8E9D-B8EB2409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Для перевірених λ до 26 вибір змінюється на c=4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441CBE44-A80B-47AD-B22A-49528FFF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B63EC8E2-BE8D-4898-9282-059F10D3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Середня вимога не є гарантією хвоста затримок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F0E271ED-B820-45B3-8036-4C547F9D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21FA38B5-5CCD-4543-B029-F17B279B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Перед впровадженням потрібні виміри реальної продуктивності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5F09D2C8-7540-4D50-B39B-20411082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Рекомендація має містити умови, за яких вона правильна.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016F28B-BB1E-4661-8670-9E084D23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0054283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E95892B9-98A6-4F7C-8944-F82F2520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Що студент подає в Notebook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718127C2-42E4-4418-A37F-E6F39995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7960ED94-ABA5-4CB6-B255-03FE88DB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Постановку та паспорт припущень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A903AC9A-101D-4B56-AE89-7BAA14FD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45FBC365-DD7A-4544-A9C7-D172E476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Повний код і фактичні таблиці кандидатів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F50439CF-5135-4B13-B8BB-232EE36A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6DD4F4C0-CDA9-488D-AA18-73819615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Сценарний експеримент з інтерпретацією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97BD3208-8F81-4FC0-86B4-777860E6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DE678A32-E7BA-4018-A5E0-A04B9149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Перевірки, джерела даних та межі висновку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E1944135-0415-461A-9EBF-ECB12189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Notebook є доказом висновку, а не лише місцем зберігання коду.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7512A5-1AAD-4FC9-8E7B-67E65528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14391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B5FBDBAF-105A-41E8-AAE4-B2D7615F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Самоперевірка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1D0581D6-DCA4-4A74-92DD-094AF877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B7C9B928-04E0-453A-A322-1CB8D05C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Чому базове й сценарне рішення різні?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D2E9E72A-0647-45FF-9B43-F300C65A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7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BADB1442-FCB8-4B25-BEC5-C82645F9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30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Що доводить перебір усіх c?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363ED935-2BE3-4B59-89A2-D7EEB1F5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4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51819806-B606-4E10-A27A-B6DE7D27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27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Яке твердження симуляція синтетичних даних не доводить?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88A2A40A-E3ED-4B0D-8CD4-874779AC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Спочатку дайте відповідь словами, потім перевірте обчислення.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F554C3B-EEC9-4A05-80B6-0D987883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0336339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913477E1-3BFE-43EC-B35F-C29FEC4F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Джерела та відтворення</a:t>
            </a:r>
          </a:p>
        </p:txBody>
      </p:sp>
      <p:sp>
        <p:nvSpPr>
          <p:cNvPr id="2" name="source-multi">
            <a:extLst xmlns:a="http://schemas.openxmlformats.org/drawingml/2006/main">
              <a:ext uri="{FF2B5EF4-FFF2-40B4-BE49-F238E27FC236}">
                <a16:creationId xmlns:a16="http://schemas.microsoft.com/office/drawing/2014/main" id="{92A56DEF-9F9C-4AFE-8FF0-D88A317F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430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8c14a334617c4931"/>
              </a:rPr>
              <a:t>MIT · системи черг і багатоканальні моделі</a:t>
            </a:r>
          </a:p>
        </p:txBody>
      </p:sp>
      <p:sp>
        <p:nvSpPr>
          <p:cNvPr id="3" name="source-numpy">
            <a:extLst xmlns:a="http://schemas.openxmlformats.org/drawingml/2006/main">
              <a:ext uri="{FF2B5EF4-FFF2-40B4-BE49-F238E27FC236}">
                <a16:creationId xmlns:a16="http://schemas.microsoft.com/office/drawing/2014/main" id="{FCAE3183-BA4D-4464-B714-CC569466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95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f0b7d05021194125"/>
              </a:rPr>
              <a:t>NumPy · генерація випадкових чисел</a:t>
            </a:r>
          </a:p>
        </p:txBody>
      </p:sp>
      <p:sp>
        <p:nvSpPr>
          <p:cNvPr id="4" name="source-ci">
            <a:extLst xmlns:a="http://schemas.openxmlformats.org/drawingml/2006/main">
              <a:ext uri="{FF2B5EF4-FFF2-40B4-BE49-F238E27FC236}">
                <a16:creationId xmlns:a16="http://schemas.microsoft.com/office/drawing/2014/main" id="{3E229A03-FC35-47E9-8FCF-4B9E0897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60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259ae802511e4bc6"/>
              </a:rPr>
              <a:t>NIST · довірчі інтервали середнього</a:t>
            </a: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C13E171-C5DE-4927-80C6-1355E9E8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Навчальні дані синтетичні. Усі показані програми виконано.</a:t>
            </a:r>
          </a:p>
        </p:txBody>
      </p:sp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6D79CBA8-2772-4EED-8219-E76E2EA9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Навчальні дані та код прикладів додано до комплекту.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8E509B9-15E1-4EF9-9A39-FC94BD74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069107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2026-10-19T09:25:03.8260000Z</dcterms:created>
  <dcterms:modified xsi:type="dcterms:W3CDTF">2026-10-19T09:25:03.8260000Z</dcterms:modified>
</coreProperties>
</file>