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Default Extension="xlsx" ContentType="application/vnd.openxmlformats-officedocument.spreadsheetml.sheet"/>
  <Override PartName="/ppt/notesSlides/v7_notesSlide1.xml" ContentType="application/vnd.openxmlformats-officedocument.presentationml.notesSlide+xml"/>
  <Override PartName="/ppt/slides/v7_slide1.xml" ContentType="application/vnd.openxmlformats-officedocument.presentationml.slide+xml"/>
  <Override PartName="/ppt/slideLayouts/v7_slideLayout6.xml" ContentType="application/vnd.openxmlformats-officedocument.presentationml.slideLayout+xml"/>
  <Override PartName="/ppt/slideMasters/v7_slideMaster1.xml" ContentType="application/vnd.openxmlformats-officedocument.presentationml.slideMaster+xml"/>
  <Override PartName="/ppt/slideMasters/theme/v7_theme2.xml" ContentType="application/vnd.openxmlformats-officedocument.theme+xml"/>
  <Override PartName="/ppt/slideLayouts/v7_slideLayout1.xml" ContentType="application/vnd.openxmlformats-officedocument.presentationml.slideLayout+xml"/>
  <Override PartName="/ppt/slideLayouts/v7_slideLayout2.xml" ContentType="application/vnd.openxmlformats-officedocument.presentationml.slideLayout+xml"/>
  <Override PartName="/ppt/slideLayouts/v7_slideLayout3.xml" ContentType="application/vnd.openxmlformats-officedocument.presentationml.slideLayout+xml"/>
  <Override PartName="/ppt/slideLayouts/v7_slideLayout4.xml" ContentType="application/vnd.openxmlformats-officedocument.presentationml.slideLayout+xml"/>
  <Override PartName="/ppt/slideLayouts/v7_slideLayout5.xml" ContentType="application/vnd.openxmlformats-officedocument.presentationml.slideLayout+xml"/>
  <Override PartName="/ppt/notesMasters/v7_notesMaster1.xml" ContentType="application/vnd.openxmlformats-officedocument.presentationml.notesMaster+xml"/>
  <Override PartName="/ppt/notesMasters/theme/v7_theme3.xml" ContentType="application/vnd.openxmlformats-officedocument.theme+xml"/>
  <Override PartName="/ppt/slides/slide57.xml" ContentType="application/vnd.openxmlformats-officedocument.presentationml.slide+xml"/>
  <Override PartName="/ppt/notesSlides/v7_notesSlide2.xml" ContentType="application/vnd.openxmlformats-officedocument.presentationml.notesSlide+xml"/>
  <Override PartName="/ppt/slides/v7_slide2.xml" ContentType="application/vnd.openxmlformats-officedocument.presentationml.slide+xml"/>
  <Override PartName="/ppt/slides/slide58.xml" ContentType="application/vnd.openxmlformats-officedocument.presentationml.slide+xml"/>
  <Override PartName="/ppt/notesSlides/v7_notesSlide3.xml" ContentType="application/vnd.openxmlformats-officedocument.presentationml.notesSlide+xml"/>
  <Override PartName="/ppt/slides/v7_slide3.xml" ContentType="application/vnd.openxmlformats-officedocument.presentationml.slide+xml"/>
  <Override PartName="/ppt/slides/slide59.xml" ContentType="application/vnd.openxmlformats-officedocument.presentationml.slide+xml"/>
  <Override PartName="/ppt/notesSlides/v7_notesSlide4.xml" ContentType="application/vnd.openxmlformats-officedocument.presentationml.notesSlide+xml"/>
  <Override PartName="/ppt/slides/v7_slide4.xml" ContentType="application/vnd.openxmlformats-officedocument.presentationml.slide+xml"/>
  <Override PartName="/ppt/slides/slide60.xml" ContentType="application/vnd.openxmlformats-officedocument.presentationml.slide+xml"/>
  <Override PartName="/ppt/notesSlides/v7_notesSlide5.xml" ContentType="application/vnd.openxmlformats-officedocument.presentationml.notesSlide+xml"/>
  <Override PartName="/ppt/slides/v7_slide5.xml" ContentType="application/vnd.openxmlformats-officedocument.presentationml.slide+xml"/>
  <Override PartName="/ppt/slides/slide61.xml" ContentType="application/vnd.openxmlformats-officedocument.presentationml.slide+xml"/>
  <Override PartName="/ppt/notesSlides/v7_notesSlide6.xml" ContentType="application/vnd.openxmlformats-officedocument.presentationml.notesSlide+xml"/>
  <Override PartName="/ppt/slides/v7_slide6.xml" ContentType="application/vnd.openxmlformats-officedocument.presentationml.slide+xml"/>
  <Override PartName="/ppt/slides/slide62.xml" ContentType="application/vnd.openxmlformats-officedocument.presentationml.slide+xml"/>
  <Override PartName="/ppt/notesSlides/v7_notesSlide7.xml" ContentType="application/vnd.openxmlformats-officedocument.presentationml.notesSlide+xml"/>
  <Override PartName="/ppt/slides/v7_slide7.xml" ContentType="application/vnd.openxmlformats-officedocument.presentationml.slide+xml"/>
  <Override PartName="/ppt/slides/slide63.xml" ContentType="application/vnd.openxmlformats-officedocument.presentationml.slide+xml"/>
  <Override PartName="/ppt/notesSlides/v7_notesSlide8.xml" ContentType="application/vnd.openxmlformats-officedocument.presentationml.notesSlide+xml"/>
  <Override PartName="/ppt/slides/v7_slide8.xml" ContentType="application/vnd.openxmlformats-officedocument.presentationml.slide+xml"/>
  <Override PartName="/ppt/slides/slide64.xml" ContentType="application/vnd.openxmlformats-officedocument.presentationml.slide+xml"/>
  <Override PartName="/ppt/notesSlides/v7_notesSlide9.xml" ContentType="application/vnd.openxmlformats-officedocument.presentationml.notesSlide+xml"/>
  <Override PartName="/ppt/slides/v7_slide9.xml" ContentType="application/vnd.openxmlformats-officedocument.presentationml.slide+xml"/>
  <Override PartName="/ppt/slides/slide65.xml" ContentType="application/vnd.openxmlformats-officedocument.presentationml.slide+xml"/>
  <Override PartName="/ppt/notesSlides/v7_notesSlide10.xml" ContentType="application/vnd.openxmlformats-officedocument.presentationml.notesSlide+xml"/>
  <Override PartName="/ppt/slides/v7_slide10.xml" ContentType="application/vnd.openxmlformats-officedocument.presentationml.slide+xml"/>
  <Override PartName="/ppt/slides/slide66.xml" ContentType="application/vnd.openxmlformats-officedocument.presentationml.slide+xml"/>
  <Override PartName="/ppt/notesSlides/v7_notesSlide11.xml" ContentType="application/vnd.openxmlformats-officedocument.presentationml.notesSlide+xml"/>
  <Override PartName="/ppt/slides/v7_slide11.xml" ContentType="application/vnd.openxmlformats-officedocument.presentationml.slide+xml"/>
  <Override PartName="/ppt/slides/slide67.xml" ContentType="application/vnd.openxmlformats-officedocument.presentationml.slide+xml"/>
  <Override PartName="/ppt/notesSlides/v7_notesSlide12.xml" ContentType="application/vnd.openxmlformats-officedocument.presentationml.notesSlide+xml"/>
  <Override PartName="/ppt/slides/v7_slide12.xml" ContentType="application/vnd.openxmlformats-officedocument.presentationml.slide+xml"/>
  <Override PartName="/ppt/slides/slide68.xml" ContentType="application/vnd.openxmlformats-officedocument.presentationml.slide+xml"/>
  <Override PartName="/ppt/notesSlides/v7_notesSlide13.xml" ContentType="application/vnd.openxmlformats-officedocument.presentationml.notesSlide+xml"/>
  <Override PartName="/ppt/slides/v7_slide13.xml" ContentType="application/vnd.openxmlformats-officedocument.presentationml.slide+xml"/>
  <Override PartName="/ppt/slides/slide69.xml" ContentType="application/vnd.openxmlformats-officedocument.presentationml.slide+xml"/>
  <Override PartName="/ppt/notesSlides/v7_notesSlide14.xml" ContentType="application/vnd.openxmlformats-officedocument.presentationml.notesSlide+xml"/>
  <Override PartName="/ppt/slides/v7_slide14.xml" ContentType="application/vnd.openxmlformats-officedocument.presentationml.slide+xml"/>
  <Override PartName="/ppt/slides/slide70.xml" ContentType="application/vnd.openxmlformats-officedocument.presentationml.slide+xml"/>
  <Override PartName="/ppt/notesSlides/v7_notesSlide15.xml" ContentType="application/vnd.openxmlformats-officedocument.presentationml.notesSlide+xml"/>
  <Override PartName="/ppt/slides/v7_slide15.xml" ContentType="application/vnd.openxmlformats-officedocument.presentationml.slide+xml"/>
  <Override PartName="/ppt/slides/slide71.xml" ContentType="application/vnd.openxmlformats-officedocument.presentationml.slide+xml"/>
  <Override PartName="/ppt/notesSlides/v7_notesSlide16.xml" ContentType="application/vnd.openxmlformats-officedocument.presentationml.notesSlide+xml"/>
  <Override PartName="/ppt/slides/v7_slide16.xml" ContentType="application/vnd.openxmlformats-officedocument.presentationml.slide+xml"/>
  <Override PartName="/ppt/slides/slide72.xml" ContentType="application/vnd.openxmlformats-officedocument.presentationml.slide+xml"/>
  <Override PartName="/ppt/notesSlides/v7_notesSlide17.xml" ContentType="application/vnd.openxmlformats-officedocument.presentationml.notesSlide+xml"/>
  <Override PartName="/ppt/slides/v7_slide17.xml" ContentType="application/vnd.openxmlformats-officedocument.presentationml.slide+xml"/>
  <Override PartName="/ppt/slides/slide73.xml" ContentType="application/vnd.openxmlformats-officedocument.presentationml.slide+xml"/>
  <Override PartName="/ppt/notesSlides/v7_notesSlide18.xml" ContentType="application/vnd.openxmlformats-officedocument.presentationml.notesSlide+xml"/>
  <Override PartName="/ppt/slides/v7_slide18.xml" ContentType="application/vnd.openxmlformats-officedocument.presentationml.slide+xml"/>
  <Override PartName="/ppt/slides/slide74.xml" ContentType="application/vnd.openxmlformats-officedocument.presentationml.slide+xml"/>
  <Override PartName="/ppt/notesSlides/v7_notesSlide19.xml" ContentType="application/vnd.openxmlformats-officedocument.presentationml.notesSlide+xml"/>
  <Override PartName="/ppt/slides/v7_slide19.xml" ContentType="application/vnd.openxmlformats-officedocument.presentationml.slide+xml"/>
  <Override PartName="/ppt/slides/slide75.xml" ContentType="application/vnd.openxmlformats-officedocument.presentationml.slide+xml"/>
  <Override PartName="/ppt/notesSlides/v7_notesSlide20.xml" ContentType="application/vnd.openxmlformats-officedocument.presentationml.notesSlide+xml"/>
  <Override PartName="/ppt/slides/v7_slide20.xml" ContentType="application/vnd.openxmlformats-officedocument.presentationml.slide+xml"/>
  <Override PartName="/ppt/slides/slide76.xml" ContentType="application/vnd.openxmlformats-officedocument.presentationml.slide+xml"/>
  <Override PartName="/ppt/notesSlides/v6_notesSlide1.xml" ContentType="application/vnd.openxmlformats-officedocument.presentationml.notesSlide+xml"/>
  <Override PartName="/ppt/slides/v6_slide1.xml" ContentType="application/vnd.openxmlformats-officedocument.presentationml.slide+xml"/>
  <Override PartName="/ppt/slideLayouts/v6_slideLayout6.xml" ContentType="application/vnd.openxmlformats-officedocument.presentationml.slideLayout+xml"/>
  <Override PartName="/ppt/slideMasters/v6_slideMaster1.xml" ContentType="application/vnd.openxmlformats-officedocument.presentationml.slideMaster+xml"/>
  <Override PartName="/ppt/slideMasters/theme/v6_theme2.xml" ContentType="application/vnd.openxmlformats-officedocument.theme+xml"/>
  <Override PartName="/ppt/slideLayouts/v6_slideLayout1.xml" ContentType="application/vnd.openxmlformats-officedocument.presentationml.slideLayout+xml"/>
  <Override PartName="/ppt/slideLayouts/v6_slideLayout2.xml" ContentType="application/vnd.openxmlformats-officedocument.presentationml.slideLayout+xml"/>
  <Override PartName="/ppt/slideLayouts/v6_slideLayout3.xml" ContentType="application/vnd.openxmlformats-officedocument.presentationml.slideLayout+xml"/>
  <Override PartName="/ppt/slideLayouts/v6_slideLayout4.xml" ContentType="application/vnd.openxmlformats-officedocument.presentationml.slideLayout+xml"/>
  <Override PartName="/ppt/slideLayouts/v6_slideLayout5.xml" ContentType="application/vnd.openxmlformats-officedocument.presentationml.slideLayout+xml"/>
  <Override PartName="/ppt/notesMasters/v6_notesMaster1.xml" ContentType="application/vnd.openxmlformats-officedocument.presentationml.notesMaster+xml"/>
  <Override PartName="/ppt/notesMasters/theme/v6_theme3.xml" ContentType="application/vnd.openxmlformats-officedocument.theme+xml"/>
  <Override PartName="/ppt/slides/slide77.xml" ContentType="application/vnd.openxmlformats-officedocument.presentationml.slide+xml"/>
  <Override PartName="/ppt/notesSlides/v6_notesSlide2.xml" ContentType="application/vnd.openxmlformats-officedocument.presentationml.notesSlide+xml"/>
  <Override PartName="/ppt/slides/v6_slide2.xml" ContentType="application/vnd.openxmlformats-officedocument.presentationml.slide+xml"/>
  <Override PartName="/ppt/slides/slide78.xml" ContentType="application/vnd.openxmlformats-officedocument.presentationml.slide+xml"/>
  <Override PartName="/ppt/notesSlides/v6_notesSlide5.xml" ContentType="application/vnd.openxmlformats-officedocument.presentationml.notesSlide+xml"/>
  <Override PartName="/ppt/slides/v6_slide5.xml" ContentType="application/vnd.openxmlformats-officedocument.presentationml.slide+xml"/>
  <Override PartName="/ppt/slides/slide79.xml" ContentType="application/vnd.openxmlformats-officedocument.presentationml.slide+xml"/>
  <Override PartName="/ppt/notesSlides/v6_notesSlide6.xml" ContentType="application/vnd.openxmlformats-officedocument.presentationml.notesSlide+xml"/>
  <Override PartName="/ppt/slides/v6_slide6.xml" ContentType="application/vnd.openxmlformats-officedocument.presentationml.slide+xml"/>
  <Override PartName="/ppt/slides/slide80.xml" ContentType="application/vnd.openxmlformats-officedocument.presentationml.slide+xml"/>
  <Override PartName="/ppt/notesSlides/v6_notesSlide7.xml" ContentType="application/vnd.openxmlformats-officedocument.presentationml.notesSlide+xml"/>
  <Override PartName="/ppt/slides/v6_slide7.xml" ContentType="application/vnd.openxmlformats-officedocument.presentationml.slide+xml"/>
  <Override PartName="/ppt/slides/slide81.xml" ContentType="application/vnd.openxmlformats-officedocument.presentationml.slide+xml"/>
  <Override PartName="/ppt/notesSlides/v6_notesSlide8.xml" ContentType="application/vnd.openxmlformats-officedocument.presentationml.notesSlide+xml"/>
  <Override PartName="/ppt/slides/v6_slide8.xml" ContentType="application/vnd.openxmlformats-officedocument.presentationml.slide+xml"/>
  <Override PartName="/ppt/slides/slide82.xml" ContentType="application/vnd.openxmlformats-officedocument.presentationml.slide+xml"/>
  <Default Extension="png" ContentType="image/png"/>
  <Override PartName="/ppt/notesSlides/v8_notesSlide1.xml" ContentType="application/vnd.openxmlformats-officedocument.presentationml.notesSlide+xml"/>
  <Override PartName="/ppt/slides/v8_slide1.xml" ContentType="application/vnd.openxmlformats-officedocument.presentationml.slide+xml"/>
  <Override PartName="/ppt/slideLayouts/v8_slideLayout6.xml" ContentType="application/vnd.openxmlformats-officedocument.presentationml.slideLayout+xml"/>
  <Override PartName="/ppt/slideMasters/v8_slideMaster1.xml" ContentType="application/vnd.openxmlformats-officedocument.presentationml.slideMaster+xml"/>
  <Override PartName="/ppt/slideMasters/theme/v8_theme2.xml" ContentType="application/vnd.openxmlformats-officedocument.theme+xml"/>
  <Override PartName="/ppt/slideLayouts/v8_slideLayout1.xml" ContentType="application/vnd.openxmlformats-officedocument.presentationml.slideLayout+xml"/>
  <Override PartName="/ppt/slideLayouts/v8_slideLayout2.xml" ContentType="application/vnd.openxmlformats-officedocument.presentationml.slideLayout+xml"/>
  <Override PartName="/ppt/slideLayouts/v8_slideLayout3.xml" ContentType="application/vnd.openxmlformats-officedocument.presentationml.slideLayout+xml"/>
  <Override PartName="/ppt/slideLayouts/v8_slideLayout4.xml" ContentType="application/vnd.openxmlformats-officedocument.presentationml.slideLayout+xml"/>
  <Override PartName="/ppt/slideLayouts/v8_slideLayout5.xml" ContentType="application/vnd.openxmlformats-officedocument.presentationml.slideLayout+xml"/>
  <Override PartName="/ppt/notesMasters/v8_notesMaster1.xml" ContentType="application/vnd.openxmlformats-officedocument.presentationml.notesMaster+xml"/>
  <Override PartName="/ppt/notesMasters/theme/v8_theme3.xml" ContentType="application/vnd.openxmlformats-officedocument.theme+xml"/>
  <Override PartName="/ppt/slides/slide83.xml" ContentType="application/vnd.openxmlformats-officedocument.presentationml.slide+xml"/>
  <Override PartName="/ppt/notesSlides/v8_notesSlide2.xml" ContentType="application/vnd.openxmlformats-officedocument.presentationml.notesSlide+xml"/>
  <Override PartName="/ppt/slides/v8_slide2.xml" ContentType="application/vnd.openxmlformats-officedocument.presentationml.slide+xml"/>
  <Override PartName="/ppt/slides/slide84.xml" ContentType="application/vnd.openxmlformats-officedocument.presentationml.slide+xml"/>
  <Override PartName="/ppt/notesSlides/v8_notesSlide3.xml" ContentType="application/vnd.openxmlformats-officedocument.presentationml.notesSlide+xml"/>
  <Override PartName="/ppt/slides/v8_slide3.xml" ContentType="application/vnd.openxmlformats-officedocument.presentationml.slide+xml"/>
  <Override PartName="/ppt/slides/slide85.xml" ContentType="application/vnd.openxmlformats-officedocument.presentationml.slide+xml"/>
  <Override PartName="/ppt/notesSlides/v8_notesSlide4.xml" ContentType="application/vnd.openxmlformats-officedocument.presentationml.notesSlide+xml"/>
  <Override PartName="/ppt/slides/v8_slide4.xml" ContentType="application/vnd.openxmlformats-officedocument.presentationml.slide+xml"/>
  <Override PartName="/ppt/slides/slide86.xml" ContentType="application/vnd.openxmlformats-officedocument.presentationml.slide+xml"/>
  <Override PartName="/ppt/notesSlides/v8_notesSlide5.xml" ContentType="application/vnd.openxmlformats-officedocument.presentationml.notesSlide+xml"/>
  <Override PartName="/ppt/slides/v8_slide5.xml" ContentType="application/vnd.openxmlformats-officedocument.presentationml.slide+xml"/>
  <Override PartName="/ppt/slides/slide87.xml" ContentType="application/vnd.openxmlformats-officedocument.presentationml.slide+xml"/>
  <Override PartName="/ppt/notesSlides/v8_notesSlide6.xml" ContentType="application/vnd.openxmlformats-officedocument.presentationml.notesSlide+xml"/>
  <Override PartName="/ppt/slides/v8_slide6.xml" ContentType="application/vnd.openxmlformats-officedocument.presentationml.slide+xml"/>
  <Override PartName="/ppt/slides/slide88.xml" ContentType="application/vnd.openxmlformats-officedocument.presentationml.slide+xml"/>
  <Override PartName="/ppt/notesSlides/v8_notesSlide7.xml" ContentType="application/vnd.openxmlformats-officedocument.presentationml.notesSlide+xml"/>
  <Override PartName="/ppt/slides/v8_slide7.xml" ContentType="application/vnd.openxmlformats-officedocument.presentationml.slide+xml"/>
  <Override PartName="/ppt/slides/slide89.xml" ContentType="application/vnd.openxmlformats-officedocument.presentationml.slide+xml"/>
  <Override PartName="/ppt/notesSlides/rip8_notesSlide1.xml" ContentType="application/vnd.openxmlformats-officedocument.presentationml.notesSlide+xml"/>
  <Override PartName="/ppt/slides/rip8_slide1.xml" ContentType="application/vnd.openxmlformats-officedocument.presentationml.slide+xml"/>
  <Override PartName="/ppt/slideLayouts/rip8_slideLayout6.xml" ContentType="application/vnd.openxmlformats-officedocument.presentationml.slideLayout+xml"/>
  <Override PartName="/ppt/slideMasters/rip8_slideMaster1.xml" ContentType="application/vnd.openxmlformats-officedocument.presentationml.slideMaster+xml"/>
  <Override PartName="/ppt/slideMasters/theme/rip8_theme2.xml" ContentType="application/vnd.openxmlformats-officedocument.theme+xml"/>
  <Override PartName="/ppt/slideLayouts/rip8_slideLayout1.xml" ContentType="application/vnd.openxmlformats-officedocument.presentationml.slideLayout+xml"/>
  <Override PartName="/ppt/slideLayouts/rip8_slideLayout2.xml" ContentType="application/vnd.openxmlformats-officedocument.presentationml.slideLayout+xml"/>
  <Override PartName="/ppt/slideLayouts/rip8_slideLayout3.xml" ContentType="application/vnd.openxmlformats-officedocument.presentationml.slideLayout+xml"/>
  <Override PartName="/ppt/slideLayouts/rip8_slideLayout4.xml" ContentType="application/vnd.openxmlformats-officedocument.presentationml.slideLayout+xml"/>
  <Override PartName="/ppt/slideLayouts/rip8_slideLayout5.xml" ContentType="application/vnd.openxmlformats-officedocument.presentationml.slideLayout+xml"/>
  <Override PartName="/ppt/notesMasters/rip8_notesMaster1.xml" ContentType="application/vnd.openxmlformats-officedocument.presentationml.notesMaster+xml"/>
  <Override PartName="/ppt/notesMasters/theme/rip8_theme3.xml" ContentType="application/vnd.openxmlformats-officedocument.theme+xml"/>
  <Override PartName="/ppt/slides/slide90.xml" ContentType="application/vnd.openxmlformats-officedocument.presentationml.slide+xml"/>
  <Override PartName="/ppt/notesSlides/rip8_notesSlide2.xml" ContentType="application/vnd.openxmlformats-officedocument.presentationml.notesSlide+xml"/>
  <Override PartName="/ppt/slides/rip8_slide2.xml" ContentType="application/vnd.openxmlformats-officedocument.presentationml.slide+xml"/>
  <Override PartName="/ppt/slides/slide91.xml" ContentType="application/vnd.openxmlformats-officedocument.presentationml.slide+xml"/>
  <Override PartName="/ppt/notesSlides/rip8_notesSlide3.xml" ContentType="application/vnd.openxmlformats-officedocument.presentationml.notesSlide+xml"/>
  <Override PartName="/ppt/slides/rip8_slide3.xml" ContentType="application/vnd.openxmlformats-officedocument.presentationml.slide+xml"/>
  <Override PartName="/ppt/slides/slide92.xml" ContentType="application/vnd.openxmlformats-officedocument.presentationml.slide+xml"/>
  <Override PartName="/ppt/notesSlides/rip8_notesSlide4.xml" ContentType="application/vnd.openxmlformats-officedocument.presentationml.notesSlide+xml"/>
  <Override PartName="/ppt/slides/rip8_slide4.xml" ContentType="application/vnd.openxmlformats-officedocument.presentationml.slide+xml"/>
  <Override PartName="/ppt/slides/slide93.xml" ContentType="application/vnd.openxmlformats-officedocument.presentationml.slide+xml"/>
  <Override PartName="/ppt/notesSlides/dp11_notesSlide1.xml" ContentType="application/vnd.openxmlformats-officedocument.presentationml.notesSlide+xml"/>
  <Override PartName="/ppt/slides/dp11_slide1.xml" ContentType="application/vnd.openxmlformats-officedocument.presentationml.slide+xml"/>
  <Override PartName="/ppt/slideLayouts/dp11_slideLayout6.xml" ContentType="application/vnd.openxmlformats-officedocument.presentationml.slideLayout+xml"/>
  <Override PartName="/ppt/slideMasters/dp11_slideMaster1.xml" ContentType="application/vnd.openxmlformats-officedocument.presentationml.slideMaster+xml"/>
  <Override PartName="/ppt/slideMasters/theme/dp11_theme2.xml" ContentType="application/vnd.openxmlformats-officedocument.theme+xml"/>
  <Override PartName="/ppt/slideLayouts/dp11_slideLayout1.xml" ContentType="application/vnd.openxmlformats-officedocument.presentationml.slideLayout+xml"/>
  <Override PartName="/ppt/slideLayouts/dp11_slideLayout2.xml" ContentType="application/vnd.openxmlformats-officedocument.presentationml.slideLayout+xml"/>
  <Override PartName="/ppt/slideLayouts/dp11_slideLayout3.xml" ContentType="application/vnd.openxmlformats-officedocument.presentationml.slideLayout+xml"/>
  <Override PartName="/ppt/slideLayouts/dp11_slideLayout4.xml" ContentType="application/vnd.openxmlformats-officedocument.presentationml.slideLayout+xml"/>
  <Override PartName="/ppt/slideLayouts/dp11_slideLayout5.xml" ContentType="application/vnd.openxmlformats-officedocument.presentationml.slideLayout+xml"/>
  <Override PartName="/ppt/notesMasters/dp11_notesMaster1.xml" ContentType="application/vnd.openxmlformats-officedocument.presentationml.notesMaster+xml"/>
  <Override PartName="/ppt/notesMasters/theme/dp11_theme3.xml" ContentType="application/vnd.openxmlformats-officedocument.theme+xml"/>
  <Override PartName="/ppt/slides/slide94.xml" ContentType="application/vnd.openxmlformats-officedocument.presentationml.slide+xml"/>
  <Override PartName="/ppt/notesSlides/dp11_notesSlide2.xml" ContentType="application/vnd.openxmlformats-officedocument.presentationml.notesSlide+xml"/>
  <Override PartName="/ppt/slides/dp11_slide2.xml" ContentType="application/vnd.openxmlformats-officedocument.presentationml.slide+xml"/>
  <Override PartName="/ppt/slides/slide95.xml" ContentType="application/vnd.openxmlformats-officedocument.presentationml.slide+xml"/>
  <Override PartName="/ppt/notesSlides/dp11_notesSlide3.xml" ContentType="application/vnd.openxmlformats-officedocument.presentationml.notesSlide+xml"/>
  <Override PartName="/ppt/slides/dp11_slide3.xml" ContentType="application/vnd.openxmlformats-officedocument.presentationml.slide+xml"/>
  <Override PartName="/ppt/slides/slide96.xml" ContentType="application/vnd.openxmlformats-officedocument.presentationml.slide+xml"/>
  <Override PartName="/ppt/notesSlides/dp11_notesSlide4.xml" ContentType="application/vnd.openxmlformats-officedocument.presentationml.notesSlide+xml"/>
  <Override PartName="/ppt/slides/dp11_slide4.xml" ContentType="application/vnd.openxmlformats-officedocument.presentationml.slide+xml"/>
  <Override PartName="/ppt/slides/slide97.xml" ContentType="application/vnd.openxmlformats-officedocument.presentationml.slide+xml"/>
  <Override PartName="/ppt/notesSlides/dp11_notesSlide5.xml" ContentType="application/vnd.openxmlformats-officedocument.presentationml.notesSlide+xml"/>
  <Override PartName="/ppt/slides/dp11_slide5.xml" ContentType="application/vnd.openxmlformats-officedocument.presentationml.slide+xml"/>
  <Override PartName="/ppt/slides/slide98.xml" ContentType="application/vnd.openxmlformats-officedocument.presentationml.slide+xml"/>
  <Override PartName="/ppt/notesSlides/dp11_notesSlide6.xml" ContentType="application/vnd.openxmlformats-officedocument.presentationml.notesSlide+xml"/>
  <Override PartName="/ppt/slides/dp11_slide6.xml" ContentType="application/vnd.openxmlformats-officedocument.presentationml.slide+xml"/>
  <Override PartName="/ppt/slides/slide99.xml" ContentType="application/vnd.openxmlformats-officedocument.presentationml.slide+xml"/>
  <Override PartName="/ppt/notesSlides/dp11_notesSlide7.xml" ContentType="application/vnd.openxmlformats-officedocument.presentationml.notesSlide+xml"/>
  <Override PartName="/ppt/slides/dp11_slide7.xml" ContentType="application/vnd.openxmlformats-officedocument.presentationml.slide+xml"/>
  <Override PartName="/ppt/slides/slide100.xml" ContentType="application/vnd.openxmlformats-officedocument.presentationml.slide+xml"/>
  <Override PartName="/ppt/notesSlides/dp11_notesSlide8.xml" ContentType="application/vnd.openxmlformats-officedocument.presentationml.notesSlide+xml"/>
  <Override PartName="/ppt/slides/dp11_slide8.xml" ContentType="application/vnd.openxmlformats-officedocument.presentationml.slide+xml"/>
  <Override PartName="/ppt/notesSlides/dp11_notesSlide9.xml" ContentType="application/vnd.openxmlformats-officedocument.presentationml.notesSlide+xml"/>
  <Override PartName="/ppt/slides/dp11_slide9.xml" ContentType="application/vnd.openxmlformats-officedocument.presentationml.slide+xml"/>
  <Override PartName="/ppt/notesSlides/dp11_notesSlide10.xml" ContentType="application/vnd.openxmlformats-officedocument.presentationml.notesSlide+xml"/>
  <Override PartName="/ppt/slides/dp11_slide10.xml" ContentType="application/vnd.openxmlformats-officedocument.presentationml.slide+xml"/>
  <Override PartName="/ppt/notesSlides/dp11_notesSlide11.xml" ContentType="application/vnd.openxmlformats-officedocument.presentationml.notesSlide+xml"/>
  <Override PartName="/ppt/slides/dp11_slide11.xml" ContentType="application/vnd.openxmlformats-officedocument.presentationml.slide+xml"/>
  <Override PartName="/ppt/notesSlides/dp11_notesSlide12.xml" ContentType="application/vnd.openxmlformats-officedocument.presentationml.notesSlide+xml"/>
  <Override PartName="/ppt/slides/dp11_slide12.xml" ContentType="application/vnd.openxmlformats-officedocument.presentationml.slide+xml"/>
  <Override PartName="/ppt/slides/slide101.xml" ContentType="application/vnd.openxmlformats-officedocument.presentationml.slide+xml"/>
  <Override PartName="/ppt/notesSlides/dp11_notesSlide13.xml" ContentType="application/vnd.openxmlformats-officedocument.presentationml.notesSlide+xml"/>
  <Override PartName="/ppt/slides/dp11_slide13.xml" ContentType="application/vnd.openxmlformats-officedocument.presentationml.slide+xml"/>
  <Override PartName="/ppt/slides/slide102.xml" ContentType="application/vnd.openxmlformats-officedocument.presentationml.slide+xml"/>
  <Override PartName="/ppt/notesSlides/dp11_notesSlide14.xml" ContentType="application/vnd.openxmlformats-officedocument.presentationml.notesSlide+xml"/>
  <Override PartName="/ppt/slides/dp11_slide14.xml" ContentType="application/vnd.openxmlformats-officedocument.presentationml.slide+xml"/>
  <Override PartName="/ppt/slides/slide103.xml" ContentType="application/vnd.openxmlformats-officedocument.presentationml.slide+xml"/>
  <Override PartName="/ppt/notesSlides/dp11_notesSlide15.xml" ContentType="application/vnd.openxmlformats-officedocument.presentationml.notesSlide+xml"/>
  <Override PartName="/ppt/slides/dp11_slide15.xml" ContentType="application/vnd.openxmlformats-officedocument.presentationml.slide+xml"/>
  <Override PartName="/ppt/notesSlides/dp11_notesSlide16.xml" ContentType="application/vnd.openxmlformats-officedocument.presentationml.notesSlide+xml"/>
  <Override PartName="/ppt/slides/dp11_slide16.xml" ContentType="application/vnd.openxmlformats-officedocument.presentationml.slide+xml"/>
  <Override PartName="/ppt/notesSlides/dp11_notesSlide17.xml" ContentType="application/vnd.openxmlformats-officedocument.presentationml.notesSlide+xml"/>
  <Override PartName="/ppt/slides/dp11_slide17.xml" ContentType="application/vnd.openxmlformats-officedocument.presentationml.slide+xml"/>
  <Override PartName="/ppt/notesSlides/dp11_notesSlide18.xml" ContentType="application/vnd.openxmlformats-officedocument.presentationml.notesSlide+xml"/>
  <Override PartName="/ppt/slides/dp11_slide18.xml" ContentType="application/vnd.openxmlformats-officedocument.presentationml.slide+xml"/>
  <Override PartName="/ppt/notesSlides/dp11_notesSlide19.xml" ContentType="application/vnd.openxmlformats-officedocument.presentationml.notesSlide+xml"/>
  <Override PartName="/ppt/slides/dp11_slide19.xml" ContentType="application/vnd.openxmlformats-officedocument.presentationml.slide+xml"/>
  <Override PartName="/ppt/slides/slide104.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ebc31cd476174250" /><Relationship Type="http://schemas.openxmlformats.org/officeDocument/2006/relationships/extended-properties" Target="/docProps/app.xml" Id="R5ad489e7db844efb" /><Relationship Type="http://schemas.openxmlformats.org/officeDocument/2006/relationships/officeDocument" Target="/ppt/presentation.xml" Id="Re5a4e9e5a7654062" /></Relationships>
</file>

<file path=ppt/presentation.xml><?xml version="1.0" encoding="utf-8"?>
<p:presentation xmlns:p="http://schemas.openxmlformats.org/presentationml/2006/main">
  <p:sldMasterIdLst>
    <p:sldMasterId xmlns:r="http://schemas.openxmlformats.org/officeDocument/2006/relationships" id="2147483648" r:id="Rf68bf20aef364999"/>
  </p:sldMasterIdLst>
  <p:notesMasterIdLst>
    <p:notesMasterId xmlns:r="http://schemas.openxmlformats.org/officeDocument/2006/relationships" r:id="R35c822fb0e9d4919"/>
  </p:notesMasterIdLst>
  <p:sldIdLst>
    <p:sldId xmlns:r="http://schemas.openxmlformats.org/officeDocument/2006/relationships" id="256" r:id="R3568766399754e66"/>
    <p:sldId xmlns:r="http://schemas.openxmlformats.org/officeDocument/2006/relationships" id="257" r:id="R3d935afb7df14e9f"/>
    <p:sldId xmlns:r="http://schemas.openxmlformats.org/officeDocument/2006/relationships" id="258" r:id="R41b8ffef01be43ed"/>
    <p:sldId xmlns:r="http://schemas.openxmlformats.org/officeDocument/2006/relationships" id="259" r:id="R0c066ebfaa9e48d6"/>
    <p:sldId xmlns:r="http://schemas.openxmlformats.org/officeDocument/2006/relationships" id="260" r:id="R327389fc8c4b464e"/>
    <p:sldId xmlns:r="http://schemas.openxmlformats.org/officeDocument/2006/relationships" id="261" r:id="R928d5db0b099469e"/>
    <p:sldId xmlns:r="http://schemas.openxmlformats.org/officeDocument/2006/relationships" id="262" r:id="R023dc5f7f2794755"/>
    <p:sldId xmlns:r="http://schemas.openxmlformats.org/officeDocument/2006/relationships" id="263" r:id="R6864f2a869e543e3"/>
    <p:sldId xmlns:ns1="http://schemas.openxmlformats.org/officeDocument/2006/relationships" id="1094" ns1:id="rIdV5Slide94"/>
    <p:sldId xmlns:r="http://schemas.openxmlformats.org/officeDocument/2006/relationships" id="264" r:id="R26fef0d580fc4d24"/>
    <p:sldId xmlns:r="http://schemas.openxmlformats.org/officeDocument/2006/relationships" id="265" r:id="R8a6d5d95742849e3"/>
    <p:sldId xmlns:r="http://schemas.openxmlformats.org/officeDocument/2006/relationships" id="266" r:id="R54fd495d41704c86"/>
    <p:sldId xmlns:r="http://schemas.openxmlformats.org/officeDocument/2006/relationships" id="267" r:id="Rfb8c40e177ec4b81"/>
    <p:sldId xmlns:ns1="http://schemas.openxmlformats.org/officeDocument/2006/relationships" id="1077" ns1:id="rIdV5Slide77"/>
    <p:sldId xmlns:r="http://schemas.openxmlformats.org/officeDocument/2006/relationships" id="268" r:id="R67f0ebb136aa4070"/>
    <p:sldId xmlns:r="http://schemas.openxmlformats.org/officeDocument/2006/relationships" id="269" r:id="Rd2231948c8134749"/>
    <p:sldId xmlns:ns1="http://schemas.openxmlformats.org/officeDocument/2006/relationships" id="1078" ns1:id="rIdV5Slide78"/>
    <p:sldId xmlns:ns1="http://schemas.openxmlformats.org/officeDocument/2006/relationships" id="1095" ns1:id="rIdV5Slide95"/>
    <p:sldId xmlns:r="http://schemas.openxmlformats.org/officeDocument/2006/relationships" id="270" r:id="Rfed159138fdd415f"/>
    <p:sldId xmlns:r="http://schemas.openxmlformats.org/officeDocument/2006/relationships" id="271" r:id="R17410ab4a4c24ec1"/>
    <p:sldId xmlns:ns1="http://schemas.openxmlformats.org/officeDocument/2006/relationships" id="1096" ns1:id="rIdV5Slide96"/>
    <p:sldId xmlns:r="http://schemas.openxmlformats.org/officeDocument/2006/relationships" id="272" r:id="R55bc3e28e2f14f8d"/>
    <p:sldId xmlns:r="http://schemas.openxmlformats.org/officeDocument/2006/relationships" id="273" r:id="Rf9f8034f318e4c91"/>
    <p:sldId xmlns:r="http://schemas.openxmlformats.org/officeDocument/2006/relationships" id="274" r:id="R736deac2acf2454e"/>
    <p:sldId xmlns:r="http://schemas.openxmlformats.org/officeDocument/2006/relationships" id="275" r:id="R7ca0bc42aa1143e6"/>
    <p:sldId xmlns:ns1="http://schemas.openxmlformats.org/officeDocument/2006/relationships" id="1097" ns1:id="rIdV5Slide97"/>
    <p:sldId xmlns:r="http://schemas.openxmlformats.org/officeDocument/2006/relationships" id="276" r:id="R866788f9f76b4a67"/>
    <p:sldId xmlns:r="http://schemas.openxmlformats.org/officeDocument/2006/relationships" id="277" r:id="R54ba1e4d3ec14bf3"/>
    <p:sldId xmlns:r="http://schemas.openxmlformats.org/officeDocument/2006/relationships" id="278" r:id="R48bd88f1e7db460d"/>
    <p:sldId xmlns:ns1="http://schemas.openxmlformats.org/officeDocument/2006/relationships" id="1083" ns1:id="rIdV5Slide83"/>
    <p:sldId xmlns:ns1="http://schemas.openxmlformats.org/officeDocument/2006/relationships" id="1084" ns1:id="rIdV5Slide84"/>
    <p:sldId xmlns:ns1="http://schemas.openxmlformats.org/officeDocument/2006/relationships" id="1085" ns1:id="rIdV5Slide85"/>
    <p:sldId xmlns:ns1="http://schemas.openxmlformats.org/officeDocument/2006/relationships" id="1098" ns1:id="rIdV5Slide98"/>
    <p:sldId xmlns:r="http://schemas.openxmlformats.org/officeDocument/2006/relationships" id="279" r:id="Rdbfc16e50a504109"/>
    <p:sldId xmlns:r="http://schemas.openxmlformats.org/officeDocument/2006/relationships" id="280" r:id="Rd8d0f76ff0c44982"/>
    <p:sldId xmlns:r="http://schemas.openxmlformats.org/officeDocument/2006/relationships" id="281" r:id="Rca9241167abc403a"/>
    <p:sldId xmlns:r="http://schemas.openxmlformats.org/officeDocument/2006/relationships" id="282" r:id="R31167f117d9c44d8"/>
    <p:sldId xmlns:r="http://schemas.openxmlformats.org/officeDocument/2006/relationships" id="283" r:id="R15bedd0698974674"/>
    <p:sldId xmlns:ns1="http://schemas.openxmlformats.org/officeDocument/2006/relationships" id="1057" ns1:id="rIdV5Slide57"/>
    <p:sldId xmlns:ns1="http://schemas.openxmlformats.org/officeDocument/2006/relationships" id="1099" ns1:id="rIdV5Slide99"/>
    <p:sldId xmlns:ns1="http://schemas.openxmlformats.org/officeDocument/2006/relationships" id="1086" ns1:id="rIdV5Slide86"/>
    <p:sldId xmlns:ns1="http://schemas.openxmlformats.org/officeDocument/2006/relationships" id="1087" ns1:id="rIdV5Slide87"/>
    <p:sldId xmlns:r="http://schemas.openxmlformats.org/officeDocument/2006/relationships" id="284" r:id="Rb683c0217fc14294"/>
    <p:sldId xmlns:r="http://schemas.openxmlformats.org/officeDocument/2006/relationships" id="285" r:id="R0a5a1dda3d4f4bd4"/>
    <p:sldId xmlns:r="http://schemas.openxmlformats.org/officeDocument/2006/relationships" id="286" r:id="Rcc2ea60f27af424f"/>
    <p:sldId xmlns:ns1="http://schemas.openxmlformats.org/officeDocument/2006/relationships" id="1100" ns1:id="rIdV5Slide100"/>
    <p:sldId xmlns:r="http://schemas.openxmlformats.org/officeDocument/2006/relationships" id="302" r:id="R3047c74e01604ed6"/>
    <p:sldId xmlns:r="http://schemas.openxmlformats.org/officeDocument/2006/relationships" id="303" r:id="R16143c251a5f4fce"/>
    <p:sldId xmlns:r="http://schemas.openxmlformats.org/officeDocument/2006/relationships" id="304" r:id="R429c01dcff054416"/>
    <p:sldId xmlns:r="http://schemas.openxmlformats.org/officeDocument/2006/relationships" id="305" r:id="R134f232f72ed4935"/>
    <p:sldId xmlns:r="http://schemas.openxmlformats.org/officeDocument/2006/relationships" id="306" r:id="R9b233431aaed4f33"/>
    <p:sldId xmlns:ns1="http://schemas.openxmlformats.org/officeDocument/2006/relationships" id="1101" ns1:id="rIdV5Slide101"/>
    <p:sldId xmlns:r="http://schemas.openxmlformats.org/officeDocument/2006/relationships" id="307" r:id="R3539574e101d47d6"/>
    <p:sldId xmlns:r="http://schemas.openxmlformats.org/officeDocument/2006/relationships" id="308" r:id="R18fd9c64fa28444e"/>
    <p:sldId xmlns:r="http://schemas.openxmlformats.org/officeDocument/2006/relationships" id="309" r:id="Rbcb1b14e9a9f4112"/>
    <p:sldId xmlns:ns1="http://schemas.openxmlformats.org/officeDocument/2006/relationships" id="1104" ns1:id="rIdV5Slide104"/>
    <p:sldId xmlns:ns1="http://schemas.openxmlformats.org/officeDocument/2006/relationships" id="1079" ns1:id="rIdV5Slide79"/>
    <p:sldId xmlns:ns1="http://schemas.openxmlformats.org/officeDocument/2006/relationships" id="1080" ns1:id="rIdV5Slide80"/>
    <p:sldId xmlns:ns1="http://schemas.openxmlformats.org/officeDocument/2006/relationships" id="1081" ns1:id="rIdV5Slide81"/>
    <p:sldId xmlns:ns1="http://schemas.openxmlformats.org/officeDocument/2006/relationships" id="1082" ns1:id="rIdV5Slide82"/>
    <p:sldId xmlns:ns1="http://schemas.openxmlformats.org/officeDocument/2006/relationships" id="1088" ns1:id="rIdV5Slide88"/>
    <p:sldId xmlns:ns1="http://schemas.openxmlformats.org/officeDocument/2006/relationships" id="1089" ns1:id="rIdV5Slide89"/>
    <p:sldId xmlns:r="http://schemas.openxmlformats.org/officeDocument/2006/relationships" id="287" r:id="R9365e25544754e52"/>
    <p:sldId xmlns:r="http://schemas.openxmlformats.org/officeDocument/2006/relationships" id="288" r:id="Ra34478df83f44eae"/>
    <p:sldId xmlns:r="http://schemas.openxmlformats.org/officeDocument/2006/relationships" id="289" r:id="Rd32e8b8d145a4b89"/>
    <p:sldId xmlns:ns1="http://schemas.openxmlformats.org/officeDocument/2006/relationships" id="1058" ns1:id="rIdV5Slide58"/>
    <p:sldId xmlns:r="http://schemas.openxmlformats.org/officeDocument/2006/relationships" id="290" r:id="Rae38ae7071e24ab1"/>
    <p:sldId xmlns:r="http://schemas.openxmlformats.org/officeDocument/2006/relationships" id="291" r:id="Rb1c81b1a0d954df7"/>
    <p:sldId xmlns:r="http://schemas.openxmlformats.org/officeDocument/2006/relationships" id="292" r:id="R4719df36b0434f21"/>
    <p:sldId xmlns:r="http://schemas.openxmlformats.org/officeDocument/2006/relationships" id="293" r:id="Rabb1212edf0f49df"/>
    <p:sldId xmlns:r="http://schemas.openxmlformats.org/officeDocument/2006/relationships" id="294" r:id="R89dc9ec784ec4fed"/>
    <p:sldId xmlns:r="http://schemas.openxmlformats.org/officeDocument/2006/relationships" id="295" r:id="R3a1215c15c294b76"/>
    <p:sldId xmlns:r="http://schemas.openxmlformats.org/officeDocument/2006/relationships" id="296" r:id="R6857181c2b154442"/>
    <p:sldId xmlns:r="http://schemas.openxmlformats.org/officeDocument/2006/relationships" id="297" r:id="R290b3d13e8f24bfd"/>
    <p:sldId xmlns:r="http://schemas.openxmlformats.org/officeDocument/2006/relationships" id="298" r:id="R7b2026a6669d412b"/>
    <p:sldId xmlns:r="http://schemas.openxmlformats.org/officeDocument/2006/relationships" id="299" r:id="R864e89ad325d4698"/>
    <p:sldId xmlns:r="http://schemas.openxmlformats.org/officeDocument/2006/relationships" id="300" r:id="Redd02807e6854132"/>
    <p:sldId xmlns:r="http://schemas.openxmlformats.org/officeDocument/2006/relationships" id="301" r:id="R40a716472c754609"/>
    <p:sldId xmlns:ns1="http://schemas.openxmlformats.org/officeDocument/2006/relationships" id="1059" ns1:id="rIdV5Slide59"/>
    <p:sldId xmlns:ns1="http://schemas.openxmlformats.org/officeDocument/2006/relationships" id="1060" ns1:id="rIdV5Slide60"/>
    <p:sldId xmlns:ns1="http://schemas.openxmlformats.org/officeDocument/2006/relationships" id="1061" ns1:id="rIdV5Slide61"/>
    <p:sldId xmlns:ns1="http://schemas.openxmlformats.org/officeDocument/2006/relationships" id="1090" ns1:id="rIdV5Slide90"/>
    <p:sldId xmlns:ns1="http://schemas.openxmlformats.org/officeDocument/2006/relationships" id="1091" ns1:id="rIdV5Slide91"/>
    <p:sldId xmlns:ns1="http://schemas.openxmlformats.org/officeDocument/2006/relationships" id="1092" ns1:id="rIdV5Slide92"/>
    <p:sldId xmlns:ns1="http://schemas.openxmlformats.org/officeDocument/2006/relationships" id="1093" ns1:id="rIdV5Slide93"/>
    <p:sldId xmlns:ns1="http://schemas.openxmlformats.org/officeDocument/2006/relationships" id="1062" ns1:id="rIdV5Slide62"/>
    <p:sldId xmlns:ns1="http://schemas.openxmlformats.org/officeDocument/2006/relationships" id="1063" ns1:id="rIdV5Slide63"/>
    <p:sldId xmlns:ns1="http://schemas.openxmlformats.org/officeDocument/2006/relationships" id="1064" ns1:id="rIdV5Slide64"/>
    <p:sldId xmlns:ns1="http://schemas.openxmlformats.org/officeDocument/2006/relationships" id="1065" ns1:id="rIdV5Slide65"/>
    <p:sldId xmlns:ns1="http://schemas.openxmlformats.org/officeDocument/2006/relationships" id="1066" ns1:id="rIdV5Slide66"/>
    <p:sldId xmlns:ns1="http://schemas.openxmlformats.org/officeDocument/2006/relationships" id="1067" ns1:id="rIdV5Slide67"/>
    <p:sldId xmlns:ns1="http://schemas.openxmlformats.org/officeDocument/2006/relationships" id="1068" ns1:id="rIdV5Slide68"/>
    <p:sldId xmlns:ns1="http://schemas.openxmlformats.org/officeDocument/2006/relationships" id="1069" ns1:id="rIdV5Slide69"/>
    <p:sldId xmlns:ns1="http://schemas.openxmlformats.org/officeDocument/2006/relationships" id="1070" ns1:id="rIdV5Slide70"/>
    <p:sldId xmlns:ns1="http://schemas.openxmlformats.org/officeDocument/2006/relationships" id="1071" ns1:id="rIdV5Slide71"/>
    <p:sldId xmlns:ns1="http://schemas.openxmlformats.org/officeDocument/2006/relationships" id="1102" ns1:id="rIdV5Slide102"/>
    <p:sldId xmlns:ns1="http://schemas.openxmlformats.org/officeDocument/2006/relationships" id="1072" ns1:id="rIdV5Slide72"/>
    <p:sldId xmlns:ns1="http://schemas.openxmlformats.org/officeDocument/2006/relationships" id="1073" ns1:id="rIdV5Slide73"/>
    <p:sldId xmlns:ns1="http://schemas.openxmlformats.org/officeDocument/2006/relationships" id="1074" ns1:id="rIdV5Slide74"/>
    <p:sldId xmlns:ns1="http://schemas.openxmlformats.org/officeDocument/2006/relationships" id="1103" ns1:id="rIdV5Slide103"/>
    <p:sldId xmlns:ns1="http://schemas.openxmlformats.org/officeDocument/2006/relationships" id="1075" ns1:id="rIdV5Slide75"/>
    <p:sldId xmlns:ns1="http://schemas.openxmlformats.org/officeDocument/2006/relationships" id="1076" ns1:id="rIdV5Slide76"/>
    <p:sldId xmlns:r="http://schemas.openxmlformats.org/officeDocument/2006/relationships" id="310" r:id="Rf00f72adb73b4228"/>
    <p:sldId xmlns:r="http://schemas.openxmlformats.org/officeDocument/2006/relationships" id="311" r:id="Rccd8af7ddaa647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930c8ed755034d19"/><Relationship Type="http://schemas.openxmlformats.org/officeDocument/2006/relationships/slideMaster" Target="/ppt/slideMasters/slideMaster1.xml" Id="Rf68bf20aef364999"/><Relationship Type="http://schemas.openxmlformats.org/officeDocument/2006/relationships/notesMaster" Target="/ppt/notesMasters/notesMaster1.xml" Id="R35c822fb0e9d4919"/><Relationship Type="http://schemas.openxmlformats.org/officeDocument/2006/relationships/presProps" Target="/ppt/presProps.xml" Id="R8b15ebaf16d74fc7"/><Relationship Type="http://schemas.openxmlformats.org/officeDocument/2006/relationships/tableStyles" Target="/ppt/tableStyles.xml" Id="R6cfbc87e2ecf4516"/><Relationship Type="http://schemas.openxmlformats.org/officeDocument/2006/relationships/slide" Target="/ppt/slides/slide1.xml" Id="R3568766399754e66"/><Relationship Type="http://schemas.openxmlformats.org/officeDocument/2006/relationships/slide" Target="/ppt/slides/slide2.xml" Id="R3d935afb7df14e9f"/><Relationship Type="http://schemas.openxmlformats.org/officeDocument/2006/relationships/slide" Target="/ppt/slides/slide3.xml" Id="R41b8ffef01be43ed"/><Relationship Type="http://schemas.openxmlformats.org/officeDocument/2006/relationships/slide" Target="/ppt/slides/slide4.xml" Id="R0c066ebfaa9e48d6"/><Relationship Type="http://schemas.openxmlformats.org/officeDocument/2006/relationships/slide" Target="/ppt/slides/slide5.xml" Id="R327389fc8c4b464e"/><Relationship Type="http://schemas.openxmlformats.org/officeDocument/2006/relationships/slide" Target="/ppt/slides/slide6.xml" Id="R928d5db0b099469e"/><Relationship Type="http://schemas.openxmlformats.org/officeDocument/2006/relationships/slide" Target="/ppt/slides/slide7.xml" Id="R023dc5f7f2794755"/><Relationship Type="http://schemas.openxmlformats.org/officeDocument/2006/relationships/slide" Target="/ppt/slides/slide8.xml" Id="R6864f2a869e543e3"/><Relationship Type="http://schemas.openxmlformats.org/officeDocument/2006/relationships/slide" Target="/ppt/slides/slide9.xml" Id="R26fef0d580fc4d24"/><Relationship Type="http://schemas.openxmlformats.org/officeDocument/2006/relationships/slide" Target="/ppt/slides/slide10.xml" Id="R8a6d5d95742849e3"/><Relationship Type="http://schemas.openxmlformats.org/officeDocument/2006/relationships/slide" Target="/ppt/slides/slide11.xml" Id="R54fd495d41704c86"/><Relationship Type="http://schemas.openxmlformats.org/officeDocument/2006/relationships/slide" Target="/ppt/slides/slide12.xml" Id="Rfb8c40e177ec4b81"/><Relationship Type="http://schemas.openxmlformats.org/officeDocument/2006/relationships/slide" Target="/ppt/slides/slide13.xml" Id="R67f0ebb136aa4070"/><Relationship Type="http://schemas.openxmlformats.org/officeDocument/2006/relationships/slide" Target="/ppt/slides/slide14.xml" Id="Rd2231948c8134749"/><Relationship Type="http://schemas.openxmlformats.org/officeDocument/2006/relationships/slide" Target="/ppt/slides/slide15.xml" Id="Rfed159138fdd415f"/><Relationship Type="http://schemas.openxmlformats.org/officeDocument/2006/relationships/slide" Target="/ppt/slides/slide16.xml" Id="R17410ab4a4c24ec1"/><Relationship Type="http://schemas.openxmlformats.org/officeDocument/2006/relationships/slide" Target="/ppt/slides/slide17.xml" Id="R55bc3e28e2f14f8d"/><Relationship Type="http://schemas.openxmlformats.org/officeDocument/2006/relationships/slide" Target="/ppt/slides/slide18.xml" Id="Rf9f8034f318e4c91"/><Relationship Type="http://schemas.openxmlformats.org/officeDocument/2006/relationships/slide" Target="/ppt/slides/slide19.xml" Id="R736deac2acf2454e"/><Relationship Type="http://schemas.openxmlformats.org/officeDocument/2006/relationships/slide" Target="/ppt/slides/slide20.xml" Id="R7ca0bc42aa1143e6"/><Relationship Type="http://schemas.openxmlformats.org/officeDocument/2006/relationships/slide" Target="/ppt/slides/slide21.xml" Id="R866788f9f76b4a67"/><Relationship Type="http://schemas.openxmlformats.org/officeDocument/2006/relationships/slide" Target="/ppt/slides/slide22.xml" Id="R54ba1e4d3ec14bf3"/><Relationship Type="http://schemas.openxmlformats.org/officeDocument/2006/relationships/slide" Target="/ppt/slides/slide23.xml" Id="R48bd88f1e7db460d"/><Relationship Type="http://schemas.openxmlformats.org/officeDocument/2006/relationships/slide" Target="/ppt/slides/slide24.xml" Id="Rdbfc16e50a504109"/><Relationship Type="http://schemas.openxmlformats.org/officeDocument/2006/relationships/slide" Target="/ppt/slides/slide25.xml" Id="Rd8d0f76ff0c44982"/><Relationship Type="http://schemas.openxmlformats.org/officeDocument/2006/relationships/slide" Target="/ppt/slides/slide26.xml" Id="Rca9241167abc403a"/><Relationship Type="http://schemas.openxmlformats.org/officeDocument/2006/relationships/slide" Target="/ppt/slides/slide27.xml" Id="R31167f117d9c44d8"/><Relationship Type="http://schemas.openxmlformats.org/officeDocument/2006/relationships/slide" Target="/ppt/slides/slide28.xml" Id="R15bedd0698974674"/><Relationship Type="http://schemas.openxmlformats.org/officeDocument/2006/relationships/slide" Target="/ppt/slides/slide29.xml" Id="Rb683c0217fc14294"/><Relationship Type="http://schemas.openxmlformats.org/officeDocument/2006/relationships/slide" Target="/ppt/slides/slide30.xml" Id="R0a5a1dda3d4f4bd4"/><Relationship Type="http://schemas.openxmlformats.org/officeDocument/2006/relationships/slide" Target="/ppt/slides/slide31.xml" Id="Rcc2ea60f27af424f"/><Relationship Type="http://schemas.openxmlformats.org/officeDocument/2006/relationships/slide" Target="/ppt/slides/slide32.xml" Id="R9365e25544754e52"/><Relationship Type="http://schemas.openxmlformats.org/officeDocument/2006/relationships/slide" Target="/ppt/slides/slide33.xml" Id="Ra34478df83f44eae"/><Relationship Type="http://schemas.openxmlformats.org/officeDocument/2006/relationships/slide" Target="/ppt/slides/slide34.xml" Id="Rd32e8b8d145a4b89"/><Relationship Type="http://schemas.openxmlformats.org/officeDocument/2006/relationships/slide" Target="/ppt/slides/slide35.xml" Id="Rae38ae7071e24ab1"/><Relationship Type="http://schemas.openxmlformats.org/officeDocument/2006/relationships/slide" Target="/ppt/slides/slide36.xml" Id="Rb1c81b1a0d954df7"/><Relationship Type="http://schemas.openxmlformats.org/officeDocument/2006/relationships/slide" Target="/ppt/slides/slide37.xml" Id="R4719df36b0434f21"/><Relationship Type="http://schemas.openxmlformats.org/officeDocument/2006/relationships/slide" Target="/ppt/slides/slide38.xml" Id="Rabb1212edf0f49df"/><Relationship Type="http://schemas.openxmlformats.org/officeDocument/2006/relationships/slide" Target="/ppt/slides/slide39.xml" Id="R89dc9ec784ec4fed"/><Relationship Type="http://schemas.openxmlformats.org/officeDocument/2006/relationships/slide" Target="/ppt/slides/slide40.xml" Id="R3a1215c15c294b76"/><Relationship Type="http://schemas.openxmlformats.org/officeDocument/2006/relationships/slide" Target="/ppt/slides/slide41.xml" Id="R6857181c2b154442"/><Relationship Type="http://schemas.openxmlformats.org/officeDocument/2006/relationships/slide" Target="/ppt/slides/slide42.xml" Id="R290b3d13e8f24bfd"/><Relationship Type="http://schemas.openxmlformats.org/officeDocument/2006/relationships/slide" Target="/ppt/slides/slide43.xml" Id="R7b2026a6669d412b"/><Relationship Type="http://schemas.openxmlformats.org/officeDocument/2006/relationships/slide" Target="/ppt/slides/slide44.xml" Id="R864e89ad325d4698"/><Relationship Type="http://schemas.openxmlformats.org/officeDocument/2006/relationships/slide" Target="/ppt/slides/slide45.xml" Id="Redd02807e6854132"/><Relationship Type="http://schemas.openxmlformats.org/officeDocument/2006/relationships/slide" Target="/ppt/slides/slide46.xml" Id="R40a716472c754609"/><Relationship Type="http://schemas.openxmlformats.org/officeDocument/2006/relationships/slide" Target="/ppt/slides/slide47.xml" Id="R3047c74e01604ed6"/><Relationship Type="http://schemas.openxmlformats.org/officeDocument/2006/relationships/slide" Target="/ppt/slides/slide48.xml" Id="R16143c251a5f4fce"/><Relationship Type="http://schemas.openxmlformats.org/officeDocument/2006/relationships/slide" Target="/ppt/slides/slide49.xml" Id="R429c01dcff054416"/><Relationship Type="http://schemas.openxmlformats.org/officeDocument/2006/relationships/slide" Target="/ppt/slides/slide50.xml" Id="R134f232f72ed4935"/><Relationship Type="http://schemas.openxmlformats.org/officeDocument/2006/relationships/slide" Target="/ppt/slides/slide51.xml" Id="R9b233431aaed4f33"/><Relationship Type="http://schemas.openxmlformats.org/officeDocument/2006/relationships/slide" Target="/ppt/slides/slide52.xml" Id="R3539574e101d47d6"/><Relationship Type="http://schemas.openxmlformats.org/officeDocument/2006/relationships/slide" Target="/ppt/slides/slide53.xml" Id="R18fd9c64fa28444e"/><Relationship Type="http://schemas.openxmlformats.org/officeDocument/2006/relationships/slide" Target="/ppt/slides/slide54.xml" Id="Rbcb1b14e9a9f4112"/><Relationship Type="http://schemas.openxmlformats.org/officeDocument/2006/relationships/slide" Target="/ppt/slides/slide55.xml" Id="Rf00f72adb73b4228"/><Relationship Type="http://schemas.openxmlformats.org/officeDocument/2006/relationships/slide" Target="/ppt/slides/slide56.xml" Id="Rccd8af7ddaa647f5"/><Relationship Id="rIdV5Slide57" Type="http://schemas.openxmlformats.org/officeDocument/2006/relationships/slide" Target="slides/slide57.xml"/><Relationship Id="rIdV5Slide58" Type="http://schemas.openxmlformats.org/officeDocument/2006/relationships/slide" Target="slides/slide58.xml"/><Relationship Id="rIdV5Slide59" Type="http://schemas.openxmlformats.org/officeDocument/2006/relationships/slide" Target="slides/slide59.xml"/><Relationship Id="rIdV5Slide60" Type="http://schemas.openxmlformats.org/officeDocument/2006/relationships/slide" Target="slides/slide60.xml"/><Relationship Id="rIdV5Slide61" Type="http://schemas.openxmlformats.org/officeDocument/2006/relationships/slide" Target="slides/slide61.xml"/><Relationship Id="rIdV5Slide62" Type="http://schemas.openxmlformats.org/officeDocument/2006/relationships/slide" Target="slides/slide62.xml"/><Relationship Id="rIdV5Slide63" Type="http://schemas.openxmlformats.org/officeDocument/2006/relationships/slide" Target="slides/slide63.xml"/><Relationship Id="rIdV5Slide64" Type="http://schemas.openxmlformats.org/officeDocument/2006/relationships/slide" Target="slides/slide64.xml"/><Relationship Id="rIdV5Slide65" Type="http://schemas.openxmlformats.org/officeDocument/2006/relationships/slide" Target="slides/slide65.xml"/><Relationship Id="rIdV5Slide66" Type="http://schemas.openxmlformats.org/officeDocument/2006/relationships/slide" Target="slides/slide66.xml"/><Relationship Id="rIdV5Slide67" Type="http://schemas.openxmlformats.org/officeDocument/2006/relationships/slide" Target="slides/slide67.xml"/><Relationship Id="rIdV5Slide68" Type="http://schemas.openxmlformats.org/officeDocument/2006/relationships/slide" Target="slides/slide68.xml"/><Relationship Id="rIdV5Slide69" Type="http://schemas.openxmlformats.org/officeDocument/2006/relationships/slide" Target="slides/slide69.xml"/><Relationship Id="rIdV5Slide70" Type="http://schemas.openxmlformats.org/officeDocument/2006/relationships/slide" Target="slides/slide70.xml"/><Relationship Id="rIdV5Slide71" Type="http://schemas.openxmlformats.org/officeDocument/2006/relationships/slide" Target="slides/slide71.xml"/><Relationship Id="rIdV5Slide72" Type="http://schemas.openxmlformats.org/officeDocument/2006/relationships/slide" Target="slides/slide72.xml"/><Relationship Id="rIdV5Slide73" Type="http://schemas.openxmlformats.org/officeDocument/2006/relationships/slide" Target="slides/slide73.xml"/><Relationship Id="rIdV5Slide74" Type="http://schemas.openxmlformats.org/officeDocument/2006/relationships/slide" Target="slides/slide74.xml"/><Relationship Id="rIdV5Slide75" Type="http://schemas.openxmlformats.org/officeDocument/2006/relationships/slide" Target="slides/slide75.xml"/><Relationship Id="rIdV5Slide76" Type="http://schemas.openxmlformats.org/officeDocument/2006/relationships/slide" Target="slides/slide76.xml"/><Relationship Id="rIdV5Slide77" Type="http://schemas.openxmlformats.org/officeDocument/2006/relationships/slide" Target="slides/slide77.xml"/><Relationship Id="rIdV5Slide78" Type="http://schemas.openxmlformats.org/officeDocument/2006/relationships/slide" Target="slides/slide78.xml"/><Relationship Id="rIdV5Slide79" Type="http://schemas.openxmlformats.org/officeDocument/2006/relationships/slide" Target="slides/slide79.xml"/><Relationship Id="rIdV5Slide80" Type="http://schemas.openxmlformats.org/officeDocument/2006/relationships/slide" Target="slides/slide80.xml"/><Relationship Id="rIdV5Slide81" Type="http://schemas.openxmlformats.org/officeDocument/2006/relationships/slide" Target="slides/slide81.xml"/><Relationship Id="rIdV5Slide82" Type="http://schemas.openxmlformats.org/officeDocument/2006/relationships/slide" Target="slides/slide82.xml"/><Relationship Id="rIdV5Slide83" Type="http://schemas.openxmlformats.org/officeDocument/2006/relationships/slide" Target="slides/slide83.xml"/><Relationship Id="rIdV5Slide84" Type="http://schemas.openxmlformats.org/officeDocument/2006/relationships/slide" Target="slides/slide84.xml"/><Relationship Id="rIdV5Slide85" Type="http://schemas.openxmlformats.org/officeDocument/2006/relationships/slide" Target="slides/slide85.xml"/><Relationship Id="rIdV5Slide86" Type="http://schemas.openxmlformats.org/officeDocument/2006/relationships/slide" Target="slides/slide86.xml"/><Relationship Id="rIdV5Slide87" Type="http://schemas.openxmlformats.org/officeDocument/2006/relationships/slide" Target="slides/slide87.xml"/><Relationship Id="rIdV5Slide88" Type="http://schemas.openxmlformats.org/officeDocument/2006/relationships/slide" Target="slides/slide88.xml"/><Relationship Id="rIdV5Slide89" Type="http://schemas.openxmlformats.org/officeDocument/2006/relationships/slide" Target="slides/slide89.xml"/><Relationship Id="rIdV5Slide90" Type="http://schemas.openxmlformats.org/officeDocument/2006/relationships/slide" Target="slides/slide90.xml"/><Relationship Id="rIdV5Slide91" Type="http://schemas.openxmlformats.org/officeDocument/2006/relationships/slide" Target="slides/slide91.xml"/><Relationship Id="rIdV5Slide92" Type="http://schemas.openxmlformats.org/officeDocument/2006/relationships/slide" Target="slides/slide92.xml"/><Relationship Id="rIdV5Slide93" Type="http://schemas.openxmlformats.org/officeDocument/2006/relationships/slide" Target="slides/slide93.xml"/><Relationship Id="rIdV5Slide94" Type="http://schemas.openxmlformats.org/officeDocument/2006/relationships/slide" Target="slides/slide94.xml"/><Relationship Id="rIdV5Slide95" Type="http://schemas.openxmlformats.org/officeDocument/2006/relationships/slide" Target="slides/slide95.xml"/><Relationship Id="rIdV5Slide96" Type="http://schemas.openxmlformats.org/officeDocument/2006/relationships/slide" Target="slides/slide96.xml"/><Relationship Id="rIdV5Slide97" Type="http://schemas.openxmlformats.org/officeDocument/2006/relationships/slide" Target="slides/slide97.xml"/><Relationship Id="rIdV5Slide98" Type="http://schemas.openxmlformats.org/officeDocument/2006/relationships/slide" Target="slides/slide98.xml"/><Relationship Id="rIdV5Slide99" Type="http://schemas.openxmlformats.org/officeDocument/2006/relationships/slide" Target="slides/slide99.xml"/><Relationship Id="rIdV5Slide100" Type="http://schemas.openxmlformats.org/officeDocument/2006/relationships/slide" Target="slides/slide100.xml"/><Relationship Id="rIdV5Slide101" Type="http://schemas.openxmlformats.org/officeDocument/2006/relationships/slide" Target="slides/slide101.xml"/><Relationship Id="rIdV5Slide102" Type="http://schemas.openxmlformats.org/officeDocument/2006/relationships/slide" Target="slides/slide102.xml"/><Relationship Id="rIdV5Slide103" Type="http://schemas.openxmlformats.org/officeDocument/2006/relationships/slide" Target="slides/slide103.xml"/><Relationship Id="rIdV5Slide104" Type="http://schemas.openxmlformats.org/officeDocument/2006/relationships/slide" Target="slides/slide104.xml"/></Relationships>
</file>

<file path=ppt/notesMasters/_rels/dp11_notesMaster1.xml.rels><?xml version='1.0' encoding='UTF-8' standalone='yes'?>
<Relationships xmlns="http://schemas.openxmlformats.org/package/2006/relationships"><Relationship Type="http://schemas.openxmlformats.org/officeDocument/2006/relationships/theme" Target="theme/dp11_theme3.xml" Id="R5b65790ecfff465a"/></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cd92f2f7c24e8e" /></Relationships>
</file>

<file path=ppt/notesMasters/_rels/rip8_notesMaster1.xml.rels><?xml version='1.0' encoding='UTF-8' standalone='yes'?>
<Relationships xmlns="http://schemas.openxmlformats.org/package/2006/relationships"><Relationship Type="http://schemas.openxmlformats.org/officeDocument/2006/relationships/theme" Target="theme/rip8_theme3.xml" Id="R4f3d9bb05a284c43"/></Relationships>
</file>

<file path=ppt/notesMasters/_rels/v6_notesMaster1.xml.rels><?xml version='1.0' encoding='UTF-8' standalone='yes'?>
<Relationships xmlns="http://schemas.openxmlformats.org/package/2006/relationships"><Relationship Type="http://schemas.openxmlformats.org/officeDocument/2006/relationships/theme" Target="theme/v6_theme3.xml" Id="R1e5c4c933ac9486b"/></Relationships>
</file>

<file path=ppt/notesMasters/_rels/v7_notesMaster1.xml.rels><?xml version='1.0' encoding='UTF-8' standalone='yes'?>
<Relationships xmlns="http://schemas.openxmlformats.org/package/2006/relationships"><Relationship Type="http://schemas.openxmlformats.org/officeDocument/2006/relationships/theme" Target="theme/v7_theme3.xml" Id="Rabe6c90bc24b42dd"/></Relationships>
</file>

<file path=ppt/notesMasters/_rels/v8_notesMaster1.xml.rels><?xml version='1.0' encoding='UTF-8' standalone='yes'?>
<Relationships xmlns="http://schemas.openxmlformats.org/package/2006/relationships"><Relationship Type="http://schemas.openxmlformats.org/officeDocument/2006/relationships/theme" Target="theme/v8_theme3.xml" Id="Re69ad0118f9a4998"/></Relationships>
</file>

<file path=ppt/notesMasters/dp1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rip8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dp1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rip8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8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v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8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Slides/_rels/dp11_notesSlide1.xml.rels><?xml version='1.0' encoding='UTF-8' standalone='yes'?>
<Relationships xmlns="http://schemas.openxmlformats.org/package/2006/relationships"><Relationship Type="http://schemas.openxmlformats.org/officeDocument/2006/relationships/slide" Target="../slides/dp11_slide1.xml" Id="R98a7969f4feb47a3"/><Relationship Type="http://schemas.openxmlformats.org/officeDocument/2006/relationships/notesMaster" Target="../notesMasters/dp11_notesMaster1.xml" Id="Rb0a8c48768ee4e31"/></Relationships>
</file>

<file path=ppt/notesSlides/_rels/dp11_notesSlide2.xml.rels><?xml version='1.0' encoding='UTF-8' standalone='yes'?>
<Relationships xmlns="http://schemas.openxmlformats.org/package/2006/relationships"><Relationship Type="http://schemas.openxmlformats.org/officeDocument/2006/relationships/slide" Target="../slides/dp11_slide2.xml" Id="R3a1814bedce245c7"/><Relationship Type="http://schemas.openxmlformats.org/officeDocument/2006/relationships/notesMaster" Target="../notesMasters/dp11_notesMaster1.xml" Id="Rda77149f37344d63"/></Relationships>
</file>

<file path=ppt/notesSlides/_rels/dp11_notesSlide3.xml.rels><?xml version='1.0' encoding='UTF-8' standalone='yes'?>
<Relationships xmlns="http://schemas.openxmlformats.org/package/2006/relationships"><Relationship Type="http://schemas.openxmlformats.org/officeDocument/2006/relationships/slide" Target="../slides/dp11_slide3.xml" Id="R79aae6a97f5c4085"/><Relationship Type="http://schemas.openxmlformats.org/officeDocument/2006/relationships/notesMaster" Target="../notesMasters/dp11_notesMaster1.xml" Id="R4f8cf05b061747d5"/></Relationships>
</file>

<file path=ppt/notesSlides/_rels/dp11_notesSlide4.xml.rels><?xml version='1.0' encoding='UTF-8' standalone='yes'?>
<Relationships xmlns="http://schemas.openxmlformats.org/package/2006/relationships"><Relationship Type="http://schemas.openxmlformats.org/officeDocument/2006/relationships/slide" Target="../slides/dp11_slide4.xml" Id="R7a4d00f8d58c4d9c"/><Relationship Type="http://schemas.openxmlformats.org/officeDocument/2006/relationships/notesMaster" Target="../notesMasters/dp11_notesMaster1.xml" Id="Rac937379f16942dc"/></Relationships>
</file>

<file path=ppt/notesSlides/_rels/dp11_notesSlide5.xml.rels><?xml version='1.0' encoding='UTF-8' standalone='yes'?>
<Relationships xmlns="http://schemas.openxmlformats.org/package/2006/relationships"><Relationship Type="http://schemas.openxmlformats.org/officeDocument/2006/relationships/slide" Target="../slides/dp11_slide5.xml" Id="Rcf4fb2f043fb4929"/><Relationship Type="http://schemas.openxmlformats.org/officeDocument/2006/relationships/notesMaster" Target="../notesMasters/dp11_notesMaster1.xml" Id="R03b67faf480a4789"/></Relationships>
</file>

<file path=ppt/notesSlides/_rels/dp11_notesSlide6.xml.rels><?xml version='1.0' encoding='UTF-8' standalone='yes'?>
<Relationships xmlns="http://schemas.openxmlformats.org/package/2006/relationships"><Relationship Type="http://schemas.openxmlformats.org/officeDocument/2006/relationships/slide" Target="../slides/dp11_slide6.xml" Id="Rbd2350938e67417b"/><Relationship Type="http://schemas.openxmlformats.org/officeDocument/2006/relationships/notesMaster" Target="../notesMasters/dp11_notesMaster1.xml" Id="R4918b4d9c2904000"/></Relationships>
</file>

<file path=ppt/notesSlides/_rels/dp11_notesSlide7.xml.rels><?xml version='1.0' encoding='UTF-8' standalone='yes'?>
<Relationships xmlns="http://schemas.openxmlformats.org/package/2006/relationships"><Relationship Type="http://schemas.openxmlformats.org/officeDocument/2006/relationships/slide" Target="../slides/dp11_slide7.xml" Id="Rc42dbc9222324f18"/><Relationship Type="http://schemas.openxmlformats.org/officeDocument/2006/relationships/notesMaster" Target="../notesMasters/dp11_notesMaster1.xml" Id="R7c43e239ac57484b"/></Relationships>
</file>

<file path=ppt/notesSlides/_rels/dp11_notesSlide8.xml.rels><?xml version='1.0' encoding='UTF-8' standalone='yes'?>
<Relationships xmlns="http://schemas.openxmlformats.org/package/2006/relationships"><Relationship Type="http://schemas.openxmlformats.org/officeDocument/2006/relationships/slide" Target="../slides/dp11_slide8.xml" Id="R222b9509af6d471c"/><Relationship Type="http://schemas.openxmlformats.org/officeDocument/2006/relationships/notesMaster" Target="../notesMasters/dp11_notesMaster1.xml" Id="Rb00f435e2f80499e"/></Relationships>
</file>

<file path=ppt/notesSlides/_rels/dp11_notesSlide9.xml.rels><?xml version='1.0' encoding='UTF-8' standalone='yes'?>
<Relationships xmlns="http://schemas.openxmlformats.org/package/2006/relationships"><Relationship Type="http://schemas.openxmlformats.org/officeDocument/2006/relationships/slide" Target="../slides/dp11_slide9.xml" Id="Rd63d9055c41d48a8"/><Relationship Type="http://schemas.openxmlformats.org/officeDocument/2006/relationships/notesMaster" Target="../notesMasters/dp11_notesMaster1.xml" Id="Rca5b7452c5634e21"/></Relationships>
</file>

<file path=ppt/notesSlides/_rels/dp11_notesSlide10.xml.rels><?xml version='1.0' encoding='UTF-8' standalone='yes'?>
<Relationships xmlns="http://schemas.openxmlformats.org/package/2006/relationships"><Relationship Type="http://schemas.openxmlformats.org/officeDocument/2006/relationships/slide" Target="../slides/dp11_slide10.xml" Id="R3654149aaece47e7"/><Relationship Type="http://schemas.openxmlformats.org/officeDocument/2006/relationships/notesMaster" Target="../notesMasters/dp11_notesMaster1.xml" Id="R7bcbb237f496416b"/></Relationships>
</file>

<file path=ppt/notesSlides/_rels/dp11_notesSlide11.xml.rels><?xml version='1.0' encoding='UTF-8' standalone='yes'?>
<Relationships xmlns="http://schemas.openxmlformats.org/package/2006/relationships"><Relationship Type="http://schemas.openxmlformats.org/officeDocument/2006/relationships/slide" Target="../slides/dp11_slide11.xml" Id="R81ef1379d18e453a"/><Relationship Type="http://schemas.openxmlformats.org/officeDocument/2006/relationships/notesMaster" Target="../notesMasters/dp11_notesMaster1.xml" Id="R365be6cb137e43d3"/></Relationships>
</file>

<file path=ppt/notesSlides/_rels/dp11_notesSlide12.xml.rels><?xml version='1.0' encoding='UTF-8' standalone='yes'?>
<Relationships xmlns="http://schemas.openxmlformats.org/package/2006/relationships"><Relationship Type="http://schemas.openxmlformats.org/officeDocument/2006/relationships/slide" Target="../slides/dp11_slide12.xml" Id="R150ba4051f28485a"/><Relationship Type="http://schemas.openxmlformats.org/officeDocument/2006/relationships/notesMaster" Target="../notesMasters/dp11_notesMaster1.xml" Id="R6d3e7a37622546c8"/></Relationships>
</file>

<file path=ppt/notesSlides/_rels/dp11_notesSlide13.xml.rels><?xml version='1.0' encoding='UTF-8' standalone='yes'?>
<Relationships xmlns="http://schemas.openxmlformats.org/package/2006/relationships"><Relationship Type="http://schemas.openxmlformats.org/officeDocument/2006/relationships/slide" Target="../slides/dp11_slide13.xml" Id="Ra1e297b4d8f84a70"/><Relationship Type="http://schemas.openxmlformats.org/officeDocument/2006/relationships/notesMaster" Target="../notesMasters/dp11_notesMaster1.xml" Id="Rbf526264af0a4b22"/></Relationships>
</file>

<file path=ppt/notesSlides/_rels/dp11_notesSlide14.xml.rels><?xml version='1.0' encoding='UTF-8' standalone='yes'?>
<Relationships xmlns="http://schemas.openxmlformats.org/package/2006/relationships"><Relationship Type="http://schemas.openxmlformats.org/officeDocument/2006/relationships/slide" Target="../slides/dp11_slide14.xml" Id="R294b45c855bc4735"/><Relationship Type="http://schemas.openxmlformats.org/officeDocument/2006/relationships/notesMaster" Target="../notesMasters/dp11_notesMaster1.xml" Id="Rcdde7594bec44b02"/></Relationships>
</file>

<file path=ppt/notesSlides/_rels/dp11_notesSlide15.xml.rels><?xml version='1.0' encoding='UTF-8' standalone='yes'?>
<Relationships xmlns="http://schemas.openxmlformats.org/package/2006/relationships"><Relationship Type="http://schemas.openxmlformats.org/officeDocument/2006/relationships/slide" Target="../slides/dp11_slide15.xml" Id="R3c9099b8fe484543"/><Relationship Type="http://schemas.openxmlformats.org/officeDocument/2006/relationships/notesMaster" Target="../notesMasters/dp11_notesMaster1.xml" Id="R77a9ebe3a27e40cb"/></Relationships>
</file>

<file path=ppt/notesSlides/_rels/dp11_notesSlide16.xml.rels><?xml version='1.0' encoding='UTF-8' standalone='yes'?>
<Relationships xmlns="http://schemas.openxmlformats.org/package/2006/relationships"><Relationship Type="http://schemas.openxmlformats.org/officeDocument/2006/relationships/slide" Target="../slides/dp11_slide16.xml" Id="Rbd27c014315b4a2f"/><Relationship Type="http://schemas.openxmlformats.org/officeDocument/2006/relationships/notesMaster" Target="../notesMasters/dp11_notesMaster1.xml" Id="R2ff33cd7366d477a"/></Relationships>
</file>

<file path=ppt/notesSlides/_rels/dp11_notesSlide17.xml.rels><?xml version='1.0' encoding='UTF-8' standalone='yes'?>
<Relationships xmlns="http://schemas.openxmlformats.org/package/2006/relationships"><Relationship Type="http://schemas.openxmlformats.org/officeDocument/2006/relationships/slide" Target="../slides/dp11_slide17.xml" Id="R56b20af8dab04c4a"/><Relationship Type="http://schemas.openxmlformats.org/officeDocument/2006/relationships/notesMaster" Target="../notesMasters/dp11_notesMaster1.xml" Id="R6b6ad46bac364a40"/></Relationships>
</file>

<file path=ppt/notesSlides/_rels/dp11_notesSlide18.xml.rels><?xml version='1.0' encoding='UTF-8' standalone='yes'?>
<Relationships xmlns="http://schemas.openxmlformats.org/package/2006/relationships"><Relationship Type="http://schemas.openxmlformats.org/officeDocument/2006/relationships/slide" Target="../slides/dp11_slide18.xml" Id="Rb5f7fb45bd9b473c"/><Relationship Type="http://schemas.openxmlformats.org/officeDocument/2006/relationships/notesMaster" Target="../notesMasters/dp11_notesMaster1.xml" Id="R875e5a23b82b4563"/></Relationships>
</file>

<file path=ppt/notesSlides/_rels/dp11_notesSlide19.xml.rels><?xml version='1.0' encoding='UTF-8' standalone='yes'?>
<Relationships xmlns="http://schemas.openxmlformats.org/package/2006/relationships"><Relationship Type="http://schemas.openxmlformats.org/officeDocument/2006/relationships/slide" Target="../slides/dp11_slide19.xml" Id="R6479174257184b61"/><Relationship Type="http://schemas.openxmlformats.org/officeDocument/2006/relationships/notesMaster" Target="../notesMasters/dp11_notesMaster1.xml" Id="R25cdb79be25640f3"/></Relationships>
</file>

<file path=ppt/notesSlides/_rels/notesSlide1.xml.rels>&#65279;<?xml version="1.0" encoding="utf-8"?><Relationships xmlns="http://schemas.openxmlformats.org/package/2006/relationships"><Relationship Type="http://schemas.openxmlformats.org/officeDocument/2006/relationships/slide" Target="/ppt/slides/slide1.xml" Id="Rb216d953c78549d2" /><Relationship Type="http://schemas.openxmlformats.org/officeDocument/2006/relationships/notesMaster" Target="/ppt/notesMasters/notesMaster1.xml" Id="R92f5ec9af43044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0aaf9aee3f4978" /><Relationship Type="http://schemas.openxmlformats.org/officeDocument/2006/relationships/notesMaster" Target="/ppt/notesMasters/notesMaster1.xml" Id="R49dc37bc09894a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8cf7e2e7ae426c" /><Relationship Type="http://schemas.openxmlformats.org/officeDocument/2006/relationships/notesMaster" Target="/ppt/notesMasters/notesMaster1.xml" Id="R8fb365a418314b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29ab55c55b45f1" /><Relationship Type="http://schemas.openxmlformats.org/officeDocument/2006/relationships/notesMaster" Target="/ppt/notesMasters/notesMaster1.xml" Id="R756baed7e4d845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516cdc85174907" /><Relationship Type="http://schemas.openxmlformats.org/officeDocument/2006/relationships/notesMaster" Target="/ppt/notesMasters/notesMaster1.xml" Id="R005c1c31a03c40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e66f11c1a24057" /><Relationship Type="http://schemas.openxmlformats.org/officeDocument/2006/relationships/notesMaster" Target="/ppt/notesMasters/notesMaster1.xml" Id="R68d5e63de95c40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aed42107b422a" /><Relationship Type="http://schemas.openxmlformats.org/officeDocument/2006/relationships/notesMaster" Target="/ppt/notesMasters/notesMaster1.xml" Id="R4bada215644249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4e1fa25d44419a" /><Relationship Type="http://schemas.openxmlformats.org/officeDocument/2006/relationships/notesMaster" Target="/ppt/notesMasters/notesMaster1.xml" Id="Rae01d1c30b7e42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2a8c9b8dfd4cc3" /><Relationship Type="http://schemas.openxmlformats.org/officeDocument/2006/relationships/notesMaster" Target="/ppt/notesMasters/notesMaster1.xml" Id="Rcf37301ed89b4f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15fe36b7694e96" /><Relationship Type="http://schemas.openxmlformats.org/officeDocument/2006/relationships/notesMaster" Target="/ppt/notesMasters/notesMaster1.xml" Id="Rb67b4bf3341643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fb0b760f2a4db8" /><Relationship Type="http://schemas.openxmlformats.org/officeDocument/2006/relationships/notesMaster" Target="/ppt/notesMasters/notesMaster1.xml" Id="R153ceed3dbfa4b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1230e3bccb4fc7" /><Relationship Type="http://schemas.openxmlformats.org/officeDocument/2006/relationships/notesMaster" Target="/ppt/notesMasters/notesMaster1.xml" Id="Rddbecbe3ff9a41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2b311b74434a5b" /><Relationship Type="http://schemas.openxmlformats.org/officeDocument/2006/relationships/notesMaster" Target="/ppt/notesMasters/notesMaster1.xml" Id="R957a0761aa8d4a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58efcc3b15435a" /><Relationship Type="http://schemas.openxmlformats.org/officeDocument/2006/relationships/notesMaster" Target="/ppt/notesMasters/notesMaster1.xml" Id="R0e0de4066ff541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8ff094f266496b" /><Relationship Type="http://schemas.openxmlformats.org/officeDocument/2006/relationships/notesMaster" Target="/ppt/notesMasters/notesMaster1.xml" Id="R8d5f85665b1d46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e574ab40344eb6" /><Relationship Type="http://schemas.openxmlformats.org/officeDocument/2006/relationships/notesMaster" Target="/ppt/notesMasters/notesMaster1.xml" Id="R7627d5600c3b42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c3d9de08a04265" /><Relationship Type="http://schemas.openxmlformats.org/officeDocument/2006/relationships/notesMaster" Target="/ppt/notesMasters/notesMaster1.xml" Id="R1ac1426b7d0149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4cba21b9df4a27" /><Relationship Type="http://schemas.openxmlformats.org/officeDocument/2006/relationships/notesMaster" Target="/ppt/notesMasters/notesMaster1.xml" Id="R6acf52c779f746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ada1d68e964dc4" /><Relationship Type="http://schemas.openxmlformats.org/officeDocument/2006/relationships/notesMaster" Target="/ppt/notesMasters/notesMaster1.xml" Id="R5499aa4ca54b40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9b3434c06346d3" /><Relationship Type="http://schemas.openxmlformats.org/officeDocument/2006/relationships/notesMaster" Target="/ppt/notesMasters/notesMaster1.xml" Id="R29b663075ca04d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fbdb2cc77e4fc3" /><Relationship Type="http://schemas.openxmlformats.org/officeDocument/2006/relationships/notesMaster" Target="/ppt/notesMasters/notesMaster1.xml" Id="Re78ec268423b4a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2d5fd44407420e" /><Relationship Type="http://schemas.openxmlformats.org/officeDocument/2006/relationships/notesMaster" Target="/ppt/notesMasters/notesMaster1.xml" Id="R8ee5dea28e0c479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61e9ba9e2e64986" /><Relationship Type="http://schemas.openxmlformats.org/officeDocument/2006/relationships/notesMaster" Target="/ppt/notesMasters/notesMaster1.xml" Id="R1bd2ef11d569465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130bd40de7400a" /><Relationship Type="http://schemas.openxmlformats.org/officeDocument/2006/relationships/notesMaster" Target="/ppt/notesMasters/notesMaster1.xml" Id="R4446fc24c5f447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7bfb87a1004e1b" /><Relationship Type="http://schemas.openxmlformats.org/officeDocument/2006/relationships/notesMaster" Target="/ppt/notesMasters/notesMaster1.xml" Id="Ra696970bdbe44c8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191401dce9b4eae" /><Relationship Type="http://schemas.openxmlformats.org/officeDocument/2006/relationships/notesMaster" Target="/ppt/notesMasters/notesMaster1.xml" Id="Rd56955233fe34da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2f34272e6c74c6e" /><Relationship Type="http://schemas.openxmlformats.org/officeDocument/2006/relationships/notesMaster" Target="/ppt/notesMasters/notesMaster1.xml" Id="Rb580a880b11f42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5166037aa004b94" /><Relationship Type="http://schemas.openxmlformats.org/officeDocument/2006/relationships/notesMaster" Target="/ppt/notesMasters/notesMaster1.xml" Id="R327eceac31294e7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9fb360a6a574698" /><Relationship Type="http://schemas.openxmlformats.org/officeDocument/2006/relationships/notesMaster" Target="/ppt/notesMasters/notesMaster1.xml" Id="Rc2bd6e3f9cb7494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b90bfa78e7c4475" /><Relationship Type="http://schemas.openxmlformats.org/officeDocument/2006/relationships/notesMaster" Target="/ppt/notesMasters/notesMaster1.xml" Id="R671dea0b672b46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350c5276b1647b1" /><Relationship Type="http://schemas.openxmlformats.org/officeDocument/2006/relationships/notesMaster" Target="/ppt/notesMasters/notesMaster1.xml" Id="R7fac8a7cdc56434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138e35599ad44c2" /><Relationship Type="http://schemas.openxmlformats.org/officeDocument/2006/relationships/notesMaster" Target="/ppt/notesMasters/notesMaster1.xml" Id="R74d241952f7c443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187dba4026c40bc" /><Relationship Type="http://schemas.openxmlformats.org/officeDocument/2006/relationships/notesMaster" Target="/ppt/notesMasters/notesMaster1.xml" Id="R8a2d172464dd4b4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68759210ad24479" /><Relationship Type="http://schemas.openxmlformats.org/officeDocument/2006/relationships/notesMaster" Target="/ppt/notesMasters/notesMaster1.xml" Id="R865605fda4e445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6311659a41a498f" /><Relationship Type="http://schemas.openxmlformats.org/officeDocument/2006/relationships/notesMaster" Target="/ppt/notesMasters/notesMaster1.xml" Id="R5a4a27454afb4c6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252198e2c174ffa" /><Relationship Type="http://schemas.openxmlformats.org/officeDocument/2006/relationships/notesMaster" Target="/ppt/notesMasters/notesMaster1.xml" Id="Rd0280633bfce4cd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775ec4ede74773" /><Relationship Type="http://schemas.openxmlformats.org/officeDocument/2006/relationships/notesMaster" Target="/ppt/notesMasters/notesMaster1.xml" Id="Rce5074610ecf43f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ca9bd4a52604af1" /><Relationship Type="http://schemas.openxmlformats.org/officeDocument/2006/relationships/notesMaster" Target="/ppt/notesMasters/notesMaster1.xml" Id="R0700f46c4d424e8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3b89011e1804cfe" /><Relationship Type="http://schemas.openxmlformats.org/officeDocument/2006/relationships/notesMaster" Target="/ppt/notesMasters/notesMaster1.xml" Id="R81ade480c46a4ce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feffb4b956e4889" /><Relationship Type="http://schemas.openxmlformats.org/officeDocument/2006/relationships/notesMaster" Target="/ppt/notesMasters/notesMaster1.xml" Id="R0d369fe5cda8454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c982000e1ed4417" /><Relationship Type="http://schemas.openxmlformats.org/officeDocument/2006/relationships/notesMaster" Target="/ppt/notesMasters/notesMaster1.xml" Id="R07a439d8961e4d8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a9f2ae4a7554ca8" /><Relationship Type="http://schemas.openxmlformats.org/officeDocument/2006/relationships/notesMaster" Target="/ppt/notesMasters/notesMaster1.xml" Id="R7198735a04d04f2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b588af2e44e41aa" /><Relationship Type="http://schemas.openxmlformats.org/officeDocument/2006/relationships/notesMaster" Target="/ppt/notesMasters/notesMaster1.xml" Id="R2e932b4f11804cc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1e0568550a043fc" /><Relationship Type="http://schemas.openxmlformats.org/officeDocument/2006/relationships/notesMaster" Target="/ppt/notesMasters/notesMaster1.xml" Id="R9d137ba723f3417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653503abbe941db" /><Relationship Type="http://schemas.openxmlformats.org/officeDocument/2006/relationships/notesMaster" Target="/ppt/notesMasters/notesMaster1.xml" Id="R51605f61968342d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b5bcc20aa4f49ee" /><Relationship Type="http://schemas.openxmlformats.org/officeDocument/2006/relationships/notesMaster" Target="/ppt/notesMasters/notesMaster1.xml" Id="R383dcefc577a459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d6b4940abf04503" /><Relationship Type="http://schemas.openxmlformats.org/officeDocument/2006/relationships/notesMaster" Target="/ppt/notesMasters/notesMaster1.xml" Id="R4a5e8507da28450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05dcfe0d58d4bfb" /><Relationship Type="http://schemas.openxmlformats.org/officeDocument/2006/relationships/notesMaster" Target="/ppt/notesMasters/notesMaster1.xml" Id="R3c122d28305c4a9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0e78fb3d8394693" /><Relationship Type="http://schemas.openxmlformats.org/officeDocument/2006/relationships/notesMaster" Target="/ppt/notesMasters/notesMaster1.xml" Id="Ra222b3b316d240f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36dcef671444c62" /><Relationship Type="http://schemas.openxmlformats.org/officeDocument/2006/relationships/notesMaster" Target="/ppt/notesMasters/notesMaster1.xml" Id="Rcce49dec31b14f0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8438a2be52e498b" /><Relationship Type="http://schemas.openxmlformats.org/officeDocument/2006/relationships/notesMaster" Target="/ppt/notesMasters/notesMaster1.xml" Id="Rf0dbff742a9a4b6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f4981125d6d428a" /><Relationship Type="http://schemas.openxmlformats.org/officeDocument/2006/relationships/notesMaster" Target="/ppt/notesMasters/notesMaster1.xml" Id="R558944d77b26405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f903bcdab374f7b" /><Relationship Type="http://schemas.openxmlformats.org/officeDocument/2006/relationships/notesMaster" Target="/ppt/notesMasters/notesMaster1.xml" Id="R1bac160d7c914f0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15f67d74a9a4b63" /><Relationship Type="http://schemas.openxmlformats.org/officeDocument/2006/relationships/notesMaster" Target="/ppt/notesMasters/notesMaster1.xml" Id="R1334e20d017f4ea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689f99beb4a4910" /><Relationship Type="http://schemas.openxmlformats.org/officeDocument/2006/relationships/notesMaster" Target="/ppt/notesMasters/notesMaster1.xml" Id="Raeb8a94cbdf64dd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b1e21111bfb4bce" /><Relationship Type="http://schemas.openxmlformats.org/officeDocument/2006/relationships/notesMaster" Target="/ppt/notesMasters/notesMaster1.xml" Id="R9161c025ce7f4bdb" /></Relationships>
</file>

<file path=ppt/notesSlides/_rels/rip8_notesSlide1.xml.rels><?xml version='1.0' encoding='UTF-8' standalone='yes'?>
<Relationships xmlns="http://schemas.openxmlformats.org/package/2006/relationships"><Relationship Type="http://schemas.openxmlformats.org/officeDocument/2006/relationships/slide" Target="../slides/rip8_slide1.xml" Id="R44d630ed799c418a"/><Relationship Type="http://schemas.openxmlformats.org/officeDocument/2006/relationships/notesMaster" Target="../notesMasters/rip8_notesMaster1.xml" Id="Re4d2ccdfeee540b1"/></Relationships>
</file>

<file path=ppt/notesSlides/_rels/rip8_notesSlide2.xml.rels><?xml version='1.0' encoding='UTF-8' standalone='yes'?>
<Relationships xmlns="http://schemas.openxmlformats.org/package/2006/relationships"><Relationship Type="http://schemas.openxmlformats.org/officeDocument/2006/relationships/slide" Target="../slides/rip8_slide2.xml" Id="Rad231f1b97824bab"/><Relationship Type="http://schemas.openxmlformats.org/officeDocument/2006/relationships/notesMaster" Target="../notesMasters/rip8_notesMaster1.xml" Id="R93062cdb3659428c"/></Relationships>
</file>

<file path=ppt/notesSlides/_rels/rip8_notesSlide3.xml.rels><?xml version='1.0' encoding='UTF-8' standalone='yes'?>
<Relationships xmlns="http://schemas.openxmlformats.org/package/2006/relationships"><Relationship Type="http://schemas.openxmlformats.org/officeDocument/2006/relationships/slide" Target="../slides/rip8_slide3.xml" Id="Rfe667cdc85a644cd"/><Relationship Type="http://schemas.openxmlformats.org/officeDocument/2006/relationships/notesMaster" Target="../notesMasters/rip8_notesMaster1.xml" Id="Re329170faf744405"/></Relationships>
</file>

<file path=ppt/notesSlides/_rels/rip8_notesSlide4.xml.rels><?xml version='1.0' encoding='UTF-8' standalone='yes'?>
<Relationships xmlns="http://schemas.openxmlformats.org/package/2006/relationships"><Relationship Type="http://schemas.openxmlformats.org/officeDocument/2006/relationships/slide" Target="../slides/rip8_slide4.xml" Id="R5ee51317e24c4e2b"/><Relationship Type="http://schemas.openxmlformats.org/officeDocument/2006/relationships/notesMaster" Target="../notesMasters/rip8_notesMaster1.xml" Id="R9e8dd73f6ad54c98"/></Relationships>
</file>

<file path=ppt/notesSlides/_rels/v6_notesSlide1.xml.rels><?xml version='1.0' encoding='UTF-8' standalone='yes'?>
<Relationships xmlns="http://schemas.openxmlformats.org/package/2006/relationships"><Relationship Type="http://schemas.openxmlformats.org/officeDocument/2006/relationships/slide" Target="../slides/v6_slide1.xml" Id="R8634c0dbe3a446fb"/><Relationship Type="http://schemas.openxmlformats.org/officeDocument/2006/relationships/notesMaster" Target="../notesMasters/v6_notesMaster1.xml" Id="R2a3f541c191f41bc"/></Relationships>
</file>

<file path=ppt/notesSlides/_rels/v6_notesSlide2.xml.rels><?xml version='1.0' encoding='UTF-8' standalone='yes'?>
<Relationships xmlns="http://schemas.openxmlformats.org/package/2006/relationships"><Relationship Type="http://schemas.openxmlformats.org/officeDocument/2006/relationships/slide" Target="../slides/v6_slide2.xml" Id="Rfdba6ec2570d439a"/><Relationship Type="http://schemas.openxmlformats.org/officeDocument/2006/relationships/notesMaster" Target="../notesMasters/v6_notesMaster1.xml" Id="R4b93158365a04ee0"/></Relationships>
</file>

<file path=ppt/notesSlides/_rels/v6_notesSlide5.xml.rels><?xml version='1.0' encoding='UTF-8' standalone='yes'?>
<Relationships xmlns="http://schemas.openxmlformats.org/package/2006/relationships"><Relationship Type="http://schemas.openxmlformats.org/officeDocument/2006/relationships/slide" Target="../slides/v6_slide5.xml" Id="R154eb85c44f94108"/><Relationship Type="http://schemas.openxmlformats.org/officeDocument/2006/relationships/notesMaster" Target="../notesMasters/v6_notesMaster1.xml" Id="Raa644f0099ea4837"/></Relationships>
</file>

<file path=ppt/notesSlides/_rels/v6_notesSlide6.xml.rels><?xml version='1.0' encoding='UTF-8' standalone='yes'?>
<Relationships xmlns="http://schemas.openxmlformats.org/package/2006/relationships"><Relationship Type="http://schemas.openxmlformats.org/officeDocument/2006/relationships/slide" Target="../slides/v6_slide6.xml" Id="Ra08b373cc5694364"/><Relationship Type="http://schemas.openxmlformats.org/officeDocument/2006/relationships/notesMaster" Target="../notesMasters/v6_notesMaster1.xml" Id="R25a28ab3ccaa4937"/></Relationships>
</file>

<file path=ppt/notesSlides/_rels/v6_notesSlide7.xml.rels><?xml version='1.0' encoding='UTF-8' standalone='yes'?>
<Relationships xmlns="http://schemas.openxmlformats.org/package/2006/relationships"><Relationship Type="http://schemas.openxmlformats.org/officeDocument/2006/relationships/slide" Target="../slides/v6_slide7.xml" Id="Re387b6f6c8fd4652"/><Relationship Type="http://schemas.openxmlformats.org/officeDocument/2006/relationships/notesMaster" Target="../notesMasters/v6_notesMaster1.xml" Id="R6fc0de7261f84126"/></Relationships>
</file>

<file path=ppt/notesSlides/_rels/v6_notesSlide8.xml.rels><?xml version='1.0' encoding='UTF-8' standalone='yes'?>
<Relationships xmlns="http://schemas.openxmlformats.org/package/2006/relationships"><Relationship Type="http://schemas.openxmlformats.org/officeDocument/2006/relationships/slide" Target="../slides/v6_slide8.xml" Id="R4302f33283f3424b"/><Relationship Type="http://schemas.openxmlformats.org/officeDocument/2006/relationships/notesMaster" Target="../notesMasters/v6_notesMaster1.xml" Id="R334c5c9815ce4420"/></Relationships>
</file>

<file path=ppt/notesSlides/_rels/v7_notesSlide1.xml.rels><?xml version='1.0' encoding='UTF-8' standalone='yes'?>
<Relationships xmlns="http://schemas.openxmlformats.org/package/2006/relationships"><Relationship Type="http://schemas.openxmlformats.org/officeDocument/2006/relationships/slide" Target="../slides/v7_slide1.xml" Id="R9b08ac0615ea4ad6"/><Relationship Type="http://schemas.openxmlformats.org/officeDocument/2006/relationships/notesMaster" Target="../notesMasters/v7_notesMaster1.xml" Id="Rb43f38f24a694ed6"/></Relationships>
</file>

<file path=ppt/notesSlides/_rels/v7_notesSlide2.xml.rels><?xml version='1.0' encoding='UTF-8' standalone='yes'?>
<Relationships xmlns="http://schemas.openxmlformats.org/package/2006/relationships"><Relationship Type="http://schemas.openxmlformats.org/officeDocument/2006/relationships/slide" Target="../slides/v7_slide2.xml" Id="Re67e9f1e22b24728"/><Relationship Type="http://schemas.openxmlformats.org/officeDocument/2006/relationships/notesMaster" Target="../notesMasters/v7_notesMaster1.xml" Id="R6e657f0ddb74457e"/></Relationships>
</file>

<file path=ppt/notesSlides/_rels/v7_notesSlide3.xml.rels><?xml version='1.0' encoding='UTF-8' standalone='yes'?>
<Relationships xmlns="http://schemas.openxmlformats.org/package/2006/relationships"><Relationship Type="http://schemas.openxmlformats.org/officeDocument/2006/relationships/slide" Target="../slides/v7_slide3.xml" Id="Rbc4931d8b0014d59"/><Relationship Type="http://schemas.openxmlformats.org/officeDocument/2006/relationships/notesMaster" Target="../notesMasters/v7_notesMaster1.xml" Id="R5ce6b1d2b6804d0c"/></Relationships>
</file>

<file path=ppt/notesSlides/_rels/v7_notesSlide4.xml.rels><?xml version='1.0' encoding='UTF-8' standalone='yes'?>
<Relationships xmlns="http://schemas.openxmlformats.org/package/2006/relationships"><Relationship Type="http://schemas.openxmlformats.org/officeDocument/2006/relationships/slide" Target="../slides/v7_slide4.xml" Id="Rd988cbe4feb34853"/><Relationship Type="http://schemas.openxmlformats.org/officeDocument/2006/relationships/notesMaster" Target="../notesMasters/v7_notesMaster1.xml" Id="R9ca2907d342a4749"/></Relationships>
</file>

<file path=ppt/notesSlides/_rels/v7_notesSlide5.xml.rels><?xml version='1.0' encoding='UTF-8' standalone='yes'?>
<Relationships xmlns="http://schemas.openxmlformats.org/package/2006/relationships"><Relationship Type="http://schemas.openxmlformats.org/officeDocument/2006/relationships/slide" Target="../slides/v7_slide5.xml" Id="Ra4f61253dfbe45e5"/><Relationship Type="http://schemas.openxmlformats.org/officeDocument/2006/relationships/notesMaster" Target="../notesMasters/v7_notesMaster1.xml" Id="R841a27153664439b"/></Relationships>
</file>

<file path=ppt/notesSlides/_rels/v7_notesSlide6.xml.rels><?xml version='1.0' encoding='UTF-8' standalone='yes'?>
<Relationships xmlns="http://schemas.openxmlformats.org/package/2006/relationships"><Relationship Type="http://schemas.openxmlformats.org/officeDocument/2006/relationships/slide" Target="../slides/v7_slide6.xml" Id="Ref263e20a8f14dda"/><Relationship Type="http://schemas.openxmlformats.org/officeDocument/2006/relationships/notesMaster" Target="../notesMasters/v7_notesMaster1.xml" Id="Ra286bce276e14563"/></Relationships>
</file>

<file path=ppt/notesSlides/_rels/v7_notesSlide7.xml.rels><?xml version='1.0' encoding='UTF-8' standalone='yes'?>
<Relationships xmlns="http://schemas.openxmlformats.org/package/2006/relationships"><Relationship Type="http://schemas.openxmlformats.org/officeDocument/2006/relationships/slide" Target="../slides/v7_slide7.xml" Id="R7675b24c008d4b5e"/><Relationship Type="http://schemas.openxmlformats.org/officeDocument/2006/relationships/notesMaster" Target="../notesMasters/v7_notesMaster1.xml" Id="R24ee92015fe54151"/></Relationships>
</file>

<file path=ppt/notesSlides/_rels/v7_notesSlide8.xml.rels><?xml version='1.0' encoding='UTF-8' standalone='yes'?>
<Relationships xmlns="http://schemas.openxmlformats.org/package/2006/relationships"><Relationship Type="http://schemas.openxmlformats.org/officeDocument/2006/relationships/slide" Target="../slides/v7_slide8.xml" Id="R2c0418f07b594fc2"/><Relationship Type="http://schemas.openxmlformats.org/officeDocument/2006/relationships/notesMaster" Target="../notesMasters/v7_notesMaster1.xml" Id="R496e2df326f94d34"/></Relationships>
</file>

<file path=ppt/notesSlides/_rels/v7_notesSlide9.xml.rels><?xml version='1.0' encoding='UTF-8' standalone='yes'?>
<Relationships xmlns="http://schemas.openxmlformats.org/package/2006/relationships"><Relationship Type="http://schemas.openxmlformats.org/officeDocument/2006/relationships/slide" Target="../slides/v7_slide9.xml" Id="Re1217564aa144e0c"/><Relationship Type="http://schemas.openxmlformats.org/officeDocument/2006/relationships/notesMaster" Target="../notesMasters/v7_notesMaster1.xml" Id="Rd5cb859cc26c4a39"/></Relationships>
</file>

<file path=ppt/notesSlides/_rels/v7_notesSlide10.xml.rels><?xml version='1.0' encoding='UTF-8' standalone='yes'?>
<Relationships xmlns="http://schemas.openxmlformats.org/package/2006/relationships"><Relationship Type="http://schemas.openxmlformats.org/officeDocument/2006/relationships/slide" Target="../slides/v7_slide10.xml" Id="R691c141955c843c5"/><Relationship Type="http://schemas.openxmlformats.org/officeDocument/2006/relationships/notesMaster" Target="../notesMasters/v7_notesMaster1.xml" Id="Re72a1d84613b44e4"/></Relationships>
</file>

<file path=ppt/notesSlides/_rels/v7_notesSlide11.xml.rels><?xml version='1.0' encoding='UTF-8' standalone='yes'?>
<Relationships xmlns="http://schemas.openxmlformats.org/package/2006/relationships"><Relationship Type="http://schemas.openxmlformats.org/officeDocument/2006/relationships/slide" Target="../slides/v7_slide11.xml" Id="R0739d9bcc66644a9"/><Relationship Type="http://schemas.openxmlformats.org/officeDocument/2006/relationships/notesMaster" Target="../notesMasters/v7_notesMaster1.xml" Id="R595f1f8afb374c81"/></Relationships>
</file>

<file path=ppt/notesSlides/_rels/v7_notesSlide12.xml.rels><?xml version='1.0' encoding='UTF-8' standalone='yes'?>
<Relationships xmlns="http://schemas.openxmlformats.org/package/2006/relationships"><Relationship Type="http://schemas.openxmlformats.org/officeDocument/2006/relationships/slide" Target="../slides/v7_slide12.xml" Id="Rac33abd8849c4197"/><Relationship Type="http://schemas.openxmlformats.org/officeDocument/2006/relationships/notesMaster" Target="../notesMasters/v7_notesMaster1.xml" Id="R3cd83550656c4349"/></Relationships>
</file>

<file path=ppt/notesSlides/_rels/v7_notesSlide13.xml.rels><?xml version='1.0' encoding='UTF-8' standalone='yes'?>
<Relationships xmlns="http://schemas.openxmlformats.org/package/2006/relationships"><Relationship Type="http://schemas.openxmlformats.org/officeDocument/2006/relationships/slide" Target="../slides/v7_slide13.xml" Id="R663a40a3d3e84864"/><Relationship Type="http://schemas.openxmlformats.org/officeDocument/2006/relationships/notesMaster" Target="../notesMasters/v7_notesMaster1.xml" Id="R713b661462364c13"/></Relationships>
</file>

<file path=ppt/notesSlides/_rels/v7_notesSlide14.xml.rels><?xml version='1.0' encoding='UTF-8' standalone='yes'?>
<Relationships xmlns="http://schemas.openxmlformats.org/package/2006/relationships"><Relationship Type="http://schemas.openxmlformats.org/officeDocument/2006/relationships/slide" Target="../slides/v7_slide14.xml" Id="R8fdf19b6d2984016"/><Relationship Type="http://schemas.openxmlformats.org/officeDocument/2006/relationships/notesMaster" Target="../notesMasters/v7_notesMaster1.xml" Id="Rd9f19c7e900b4150"/></Relationships>
</file>

<file path=ppt/notesSlides/_rels/v7_notesSlide15.xml.rels><?xml version='1.0' encoding='UTF-8' standalone='yes'?>
<Relationships xmlns="http://schemas.openxmlformats.org/package/2006/relationships"><Relationship Type="http://schemas.openxmlformats.org/officeDocument/2006/relationships/slide" Target="../slides/v7_slide15.xml" Id="R255a049fc97d49da"/><Relationship Type="http://schemas.openxmlformats.org/officeDocument/2006/relationships/notesMaster" Target="../notesMasters/v7_notesMaster1.xml" Id="R7ac4c1f729b54b44"/></Relationships>
</file>

<file path=ppt/notesSlides/_rels/v7_notesSlide16.xml.rels><?xml version='1.0' encoding='UTF-8' standalone='yes'?>
<Relationships xmlns="http://schemas.openxmlformats.org/package/2006/relationships"><Relationship Type="http://schemas.openxmlformats.org/officeDocument/2006/relationships/slide" Target="../slides/v7_slide16.xml" Id="R49466199579747f7"/><Relationship Type="http://schemas.openxmlformats.org/officeDocument/2006/relationships/notesMaster" Target="../notesMasters/v7_notesMaster1.xml" Id="R31c33ec3c16d46b4"/></Relationships>
</file>

<file path=ppt/notesSlides/_rels/v7_notesSlide17.xml.rels><?xml version='1.0' encoding='UTF-8' standalone='yes'?>
<Relationships xmlns="http://schemas.openxmlformats.org/package/2006/relationships"><Relationship Type="http://schemas.openxmlformats.org/officeDocument/2006/relationships/slide" Target="../slides/v7_slide17.xml" Id="Rf033a0d8443c46f8"/><Relationship Type="http://schemas.openxmlformats.org/officeDocument/2006/relationships/notesMaster" Target="../notesMasters/v7_notesMaster1.xml" Id="R4920935bedb34f39"/></Relationships>
</file>

<file path=ppt/notesSlides/_rels/v7_notesSlide18.xml.rels><?xml version='1.0' encoding='UTF-8' standalone='yes'?>
<Relationships xmlns="http://schemas.openxmlformats.org/package/2006/relationships"><Relationship Type="http://schemas.openxmlformats.org/officeDocument/2006/relationships/slide" Target="../slides/v7_slide18.xml" Id="Rbe3ded4ed6f64923"/><Relationship Type="http://schemas.openxmlformats.org/officeDocument/2006/relationships/notesMaster" Target="../notesMasters/v7_notesMaster1.xml" Id="R74dc270f857145e9"/></Relationships>
</file>

<file path=ppt/notesSlides/_rels/v7_notesSlide19.xml.rels><?xml version='1.0' encoding='UTF-8' standalone='yes'?>
<Relationships xmlns="http://schemas.openxmlformats.org/package/2006/relationships"><Relationship Type="http://schemas.openxmlformats.org/officeDocument/2006/relationships/slide" Target="../slides/v7_slide19.xml" Id="R0302ea63ff9f4196"/><Relationship Type="http://schemas.openxmlformats.org/officeDocument/2006/relationships/notesMaster" Target="../notesMasters/v7_notesMaster1.xml" Id="R4085984feb824782"/></Relationships>
</file>

<file path=ppt/notesSlides/_rels/v7_notesSlide20.xml.rels><?xml version='1.0' encoding='UTF-8' standalone='yes'?>
<Relationships xmlns="http://schemas.openxmlformats.org/package/2006/relationships"><Relationship Type="http://schemas.openxmlformats.org/officeDocument/2006/relationships/slide" Target="../slides/v7_slide20.xml" Id="Rf00e65348aa640fd"/><Relationship Type="http://schemas.openxmlformats.org/officeDocument/2006/relationships/notesMaster" Target="../notesMasters/v7_notesMaster1.xml" Id="Ra9669bad7a8f42a5"/></Relationships>
</file>

<file path=ppt/notesSlides/_rels/v8_notesSlide1.xml.rels><?xml version='1.0' encoding='UTF-8' standalone='yes'?>
<Relationships xmlns="http://schemas.openxmlformats.org/package/2006/relationships"><Relationship Type="http://schemas.openxmlformats.org/officeDocument/2006/relationships/slide" Target="../slides/v8_slide1.xml" Id="R7912d8843481463a"/><Relationship Type="http://schemas.openxmlformats.org/officeDocument/2006/relationships/notesMaster" Target="../notesMasters/v8_notesMaster1.xml" Id="R259fd17cfa234d13"/></Relationships>
</file>

<file path=ppt/notesSlides/_rels/v8_notesSlide2.xml.rels><?xml version='1.0' encoding='UTF-8' standalone='yes'?>
<Relationships xmlns="http://schemas.openxmlformats.org/package/2006/relationships"><Relationship Type="http://schemas.openxmlformats.org/officeDocument/2006/relationships/slide" Target="../slides/v8_slide2.xml" Id="R62113696952b4c38"/><Relationship Type="http://schemas.openxmlformats.org/officeDocument/2006/relationships/notesMaster" Target="../notesMasters/v8_notesMaster1.xml" Id="R504224773ec74cb4"/></Relationships>
</file>

<file path=ppt/notesSlides/_rels/v8_notesSlide3.xml.rels><?xml version='1.0' encoding='UTF-8' standalone='yes'?>
<Relationships xmlns="http://schemas.openxmlformats.org/package/2006/relationships"><Relationship Type="http://schemas.openxmlformats.org/officeDocument/2006/relationships/slide" Target="../slides/v8_slide3.xml" Id="Re613c153d53f4ee0"/><Relationship Type="http://schemas.openxmlformats.org/officeDocument/2006/relationships/notesMaster" Target="../notesMasters/v8_notesMaster1.xml" Id="R81cc1d23cf9e4f0d"/></Relationships>
</file>

<file path=ppt/notesSlides/_rels/v8_notesSlide4.xml.rels><?xml version='1.0' encoding='UTF-8' standalone='yes'?>
<Relationships xmlns="http://schemas.openxmlformats.org/package/2006/relationships"><Relationship Type="http://schemas.openxmlformats.org/officeDocument/2006/relationships/slide" Target="../slides/v8_slide4.xml" Id="R8c840b81b9424709"/><Relationship Type="http://schemas.openxmlformats.org/officeDocument/2006/relationships/notesMaster" Target="../notesMasters/v8_notesMaster1.xml" Id="Rf72eee0a502c4586"/></Relationships>
</file>

<file path=ppt/notesSlides/_rels/v8_notesSlide5.xml.rels><?xml version='1.0' encoding='UTF-8' standalone='yes'?>
<Relationships xmlns="http://schemas.openxmlformats.org/package/2006/relationships"><Relationship Type="http://schemas.openxmlformats.org/officeDocument/2006/relationships/slide" Target="../slides/v8_slide5.xml" Id="R1a614939bd86485d"/><Relationship Type="http://schemas.openxmlformats.org/officeDocument/2006/relationships/notesMaster" Target="../notesMasters/v8_notesMaster1.xml" Id="R853cc009183c4332"/></Relationships>
</file>

<file path=ppt/notesSlides/_rels/v8_notesSlide6.xml.rels><?xml version='1.0' encoding='UTF-8' standalone='yes'?>
<Relationships xmlns="http://schemas.openxmlformats.org/package/2006/relationships"><Relationship Type="http://schemas.openxmlformats.org/officeDocument/2006/relationships/slide" Target="../slides/v8_slide6.xml" Id="Re79f9bd8e3c84103"/><Relationship Type="http://schemas.openxmlformats.org/officeDocument/2006/relationships/notesMaster" Target="../notesMasters/v8_notesMaster1.xml" Id="R58834b27dbe44f57"/></Relationships>
</file>

<file path=ppt/notesSlides/_rels/v8_notesSlide7.xml.rels><?xml version='1.0' encoding='UTF-8' standalone='yes'?>
<Relationships xmlns="http://schemas.openxmlformats.org/package/2006/relationships"><Relationship Type="http://schemas.openxmlformats.org/officeDocument/2006/relationships/slide" Target="../slides/v8_slide7.xml" Id="R7fb0dc2ef4a840bf"/><Relationship Type="http://schemas.openxmlformats.org/officeDocument/2006/relationships/notesMaster" Target="../notesMasters/v8_notesMaster1.xml" Id="R071abcb1d75d436c"/></Relationships>
</file>

<file path=ppt/notesSlides/dp11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 Після прикладу студент має повторити цей порядок для іншої задачі. Стан повинен визначати дозволені продовження без усієї історії.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 Дайте студентам 45–60 секунд. Значення gB: 0,0,3,17,18. Значення для C за залишків 0..4: 0,5,9,11,12. Відповідь: u=3, користь22.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Оригінальний фрагмент рис.13.5, Вентцель, §13, с.96. https://systems-analysis.ru/assets/operation-research_venttsel.pdf . З A на північ:10+108=118, на схід:14+115=129.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Jeff Erickson, Algorithms, ch.3 §3.1. https://jeffe.cs.illinois.edu/teaching/algorithms/book/03-dynprog.pdf . Схема навчальна. fib(5)=5, fib(4)=3, fib(6)=8. У рекурсії для fib(7) значення fib(5) запитується повторно після обчислення fib(6).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 Рюкзак використовує префікс завдань, GPU — суфікс сервісів. Після цього слайда переходимо до рюкзака, щоб одразу порівняти структуру.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Пошаровий Беллман–Форд. Кандидати використовують попередній шар. Після не більш ніж |V|−1 проходів перевірити можливість релаксації з досяжної вершини. Вона означає досяжний від’ємний цикл. Для конкретної цілі необмеженість залежить також від досяжності цілі з циклу.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Вивід навчального коду для графа S,A,B,C,T. history містить попередні знімки. Результати: 0 inf inf inf inf;0 4 8 inf inf;0 4 5 9 14;0 4 5 6 10;0 4 5 6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RFC2453 §3.4, §3.9.2 https://www.rfc-editor.org/rfc/rfc2453.html . Топологія відповідає наступним покроковим схемам. Усі вартості переходів1.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RFC2453 §3.4.2–3.4.4 https://www.rfc-editor.org/rfc/rfc2453.html . Авторська схема. Після відмови R3–R4 R2 ще має метрику3 черезR3. R3 приймає старе оголошення3 і ставить4 черезR2; тоді R2 ставить5 черезR3.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Одиничні вартості вставлення, видалення, заміни. D(i,j) означає відстань між префіксами довжин i та j. Залежності: D(1,2)+1=2 видалення, D(2,1)+1=2 вставлення, D(1,1)+1=1 заміна.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Jurafsky, Speech and Language Processing, appendix A §A.4 https://web.stanford.edu/~jurafsky/slp3/A.pdf . Дані авторські. Усі 8 послідовностей перевірено. t2:N з N, F з N; t3:N з N, F з F. Спільна ймовірність0.072576. Не є нормованою ймовірністю стану.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Оглядовий приклад однієї релаксації, а не повна трасировка алгоритму. D_k(i,j)=min(D_{k-1}(i,j),D_{k-1}(i,k)+D_{k-1}(k,j)). База:0 на діагоналі,вага прямого ребра,inf за відсутності. Повний алгоритм O(n³).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 Вправа B=5: (1,3,1) і (2,3,0), обидва мають28. Наш index обирає найменше u, тому повертає(1,3,1).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Методичні джерела: MIT 6.006 Lecture 19, https://ocw.mit.edu/courses/6-006-introduction-to-algorithms-fall-2011/resources/lecture-19-dp-i-fibonacci-shortest-paths/ ; E. С. Вентцель, гл.4 §13, https://systems-analysis.ru/assets/operation-research_venttsel.pdf . Оригінальні рис.13.3–13.5: Вентцель. Рис.3.2: Erickson, Algorithms, CC BY4.0, https://jeffe.cs.illinois.edu/teaching/algorithms/book/03-dynprog.pdf . Рис.6.1: Dasgupta, Papadimitriou,Vazirani,Algorithms, https://people.eecs.berkeley.edu/~vazirani/algorithms/chap6.pdf . RFC2453 https://www.rfc-editor.org/rfc/rfc2453.html . MIT6.006 Lecture19,CMU15-451 Lecture9 https://www.cs.cmu.edu/~15451-f23/lectures/lecture09-slides.pdf . Stanford EE365 https://web.stanford.edu/class/ee365/lectures/dp.pdf . Python functools https://docs.python.org/3/library/functools.html . SciPy bellman_ford https://docs.scipy.org/doc/scipy/reference/generated/scipy.sparse.csgraph.bellman_ford.html . Практикум: lecture6_dp.py,lecture6_bellman_ford.py,lecture6_bellman_ford_scipy.py.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Основна траєкторія: GPU, рекурентність і таблиці, рюкзак як інша структура вибору, маршрути й прикладRIP. Самостійне опрацювання: повні фрагменти коду, додаткові оригінальні приклади, розширені алгоритми. Це навчальний комплект, усі слайди не обов’язково демонструвати за одне заняття.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dp11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Порівняння прикладів у наступному розділі. Числові відповіді5,6,7 належать різним графам; їх не можна порівнювати як результати різних методів на одній задачі. RIP рахує метрику переходів до мережіN, а не затримку.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Лекція 6. ДВВ «Математичне моделювання та методи дослідження операцій». Детерміновані скінченні багатокрокові задачі. Три ІТ-приклади: розподіл GPU, найкоротший шлях у мережі, добір неподільних обчислювальних завдань. Дані умовні. Основна частина та додатковий розгорнутий приклад Беллмана–Форда.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Назвати цілі до прикладу. Наприкінці повернутися до них. Попросити студента пояснити, чому відповідь «33» без розподілу ресурсу недостатня.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Порядок основної лекції: розподіл GPU, стан і принцип Беллмана, таблиці, Python, узагальнена модель, маршрути Беллмана–Форда, рюкзак 0/1. Розгорнутий додатковий приклад Беллмана–Форда потребує приблизно 25 хвилин. За обмеженого часу бібліотечний варіант можна винести у практикум.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GPU-слот — одна однакова одиниця ресурсу на фіксований період. Сервіси A: інференс, B: пакетна аналітика, C: побудова векторного індексу. Тут усі користі переведені в порівнювані бали за фіксованими пріоритетами. Це не вимірювання швидкості конкретного 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Умовні дані. Користь кожного сервісу залежить лише від його власної кількості GPU; ефекти додаються. Для B третій слот дає перехід до продуктивного пакетного режиму. Попросити студентів порівняти прирости B: 0, 3, 14, 1, 1,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Обмеження ≤ дозволяє залишати ресурс невикористаним. У наших даних оптимальний план використовує всі 6 слотів, але це результат, а не вимога моделі. Нульове виділення дозволене. Ці табличні функції не є лінійними, тому не підставляємо їх у linprog як лінійні коефіцієнти.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Правило: щоразу віддати наступний GPU сервісу з найбільшим негайним приростом. За рівності обирається сервіс із меншим індексом A,B,C. Таблиця отримана виконанням lecture6_dp.py. На другому і п’ятому кроках є рівність. Жадібний алгоритм не бачить майбутнього приросту B на третьому слоті. Джерело педагогічного зіставлення поточного та майбутнього ефектів: Stanford EE365, Dynamic Programming, Spring 2014: https://web.stanford.edu/class/ee365/lectures/dp.pdf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Фіксуємо порядок A, потім B, потім C. Всі сервіси використовуватимуть ресурс в одному періоді; багатокроковим є процес побудови плану. Фізичний час не вводимо.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таблиці використовуємо математичну нумерацію k=1,2,3; у Python — індекси 0,1,2. Стан повністю задає пара (k,b), а не лише b: однаковий залишок при різних сервісах означає різні підзадачі.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Початковий стан (1,6). Рішення u=2 означає xA=2, негайна користь gA(2)=11. Наступний стан (2,4): залишилися сервіси B,C з бюджетом 4. Можливі рішення A були від 0 до 6; поки не стверджуємо, що u=2 оптимальне.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Визначення підзадачі вводиться до формули, за підходом MIT та CMU. Тут V2(4)=22 згодом буде обчислено, поки це конкретна інтерпретація. Джерела: MIT 6.006, Lecture 19, Fall 2011: https://ocw.mit.edu/courses/6-006-introduction-to-algorithms-fall-2011/b6d4083131dd16e7d97f56d04b6e858f_MIT6_006F11_lec19.pdf</a:t>
            </a:r>
          </a:p>
          <a:p xmlns:a="http://schemas.openxmlformats.org/drawingml/2006/main">
            <a:r>
              <a:t>Carnegie Mellon 15-451, Lecture 9, Fall 2023: https://www.cs.cmu.edu/~15451-f23/lectures/lecture09-slides.pdf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Доступне пояснення доказу заміною хвоста. Для нашої детермінованої адитивної моделі однаковий (k,b) означає однакові дозволені дії, переходи та майбутні вигоди. Якби хвіст був гіршим за V, його можна замінити, не порушивши рішення попередніх сервісів. Застереження щодо повноти стану обов’язкове. Джерело: Stanford EE365, Dynamic Programming, Spring 2014: https://web.stanford.edu/class/ee365/lectures/dp.pdf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Контрольне запитання: чому для рішення u=2 використовуємо V2(4), а не V2(6)? Відповідь: 2 GPU вже витрачено на A. V2(4)=22 буде обчислено методом таблиць. Саме додавання оптимального хвоста відрізняє ДП від негайного жадібного приросту.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k=3,2,1 та b=0..6. Рішення u — ціле від 0 до b. Термінація V4(b)=0 відповідає обмеженню суми ≤6, без штрафу за залишок. Якщо вимагати витратити рівно B, базові умови потрібно змінити: V4(0)=0, V4(b&gt;0)=-∞. Джерело загального підходу: Stanford EE365, Dynamic Programming, Spring 2014: https://web.stanford.edu/class/ee365/lectures/dp.pdf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Пояснити зворотний порядок: знаємо V4, тому можемо обчислити V3; після V3 — V2; після V2 — V1. Це скінченна ациклічна залежність між етапами. MIT пояснює порядок через граф залежностей підзадач. MIT 6.006, Lecture 19, Fall 2011: https://ocw.mit.edu/courses/6-006-introduction-to-algorithms-fall-2011/b6d4083131dd16e7d97f56d04b6e858f_MIT6_006F11_lec19.pdf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кожного b перебираємо u=0..b; після C майбутня користь дорівнює нулю. Наш gC строго зростає, отже найкраще u=b. Ця рівність не є універсальним правилом для довільних немонотонних g. Для b=4 значення 0,5,9,11,12: максимум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 ніж показати висновок, запитати: яке u виграє? Дати 30–45 секунд. Дані кандидатів взяті з фактичного виконання. Показати b-u у третій колонці. Тут лише B,C: від A нічого не додаємо.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Рядок дій показує рішення для B при кожному b, а не остаточний план для всіх трьох сервісів. За рівності максимумів обираємо найменше u. Для b=6: u=3, gB(3)=17, V3(3)=11, разом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 повний перебір можливих рішень лише поточного етапу, а не всіх планів. Значення хвостів беремо з готового V2. Попросити пояснити строку u=2: 11+22=33.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V1(6) дає значення оптимуму. P1(6)=2, P2(4)=3, P3(1)=1 дають оптимальний план. Не читати останній стовпець усіх рядків P: бюджет змінюється після кожного вибору.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Дані таблиці виведені Python. У колонці b після видно виконання переходу. На кожному кроці читаємо рішення з клітинки P поточного стану.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Всі числа перевірені повним перебором 84 допустимих планів. Оптимальний план єдиний для цих даних. Різниця з жадібним результатом дорівнює 9 балів; не наводимо універсальне відсоткове покращення.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 підсумок двох проходів. В умовній оптимізації є вкладені цикли: для k=n..1, для b=0..B, для u=0..b. Кожна клітинка P зберігає аргумент максимуму. Відновлення запускається лише після завершення лівої.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Початок самодостатнього фрагмента, який продовжується на наступних слайдах. Python 3.10+, зовнішні бібліотеки не потрібні. У файлі lecture6_dp.py цей алгоритм оформлено як функцію allocation_dp. У V є додатковий термінальний рядок; у policy його немає.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Код точно відтворює recurrence. max знаходить значення, index — перше місце цього значення, тобто найменше u за рівності. Список candidates впорядкований за u=0..b. Немає повторного використання одного рядка: V[k+1] вже завершений.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Пояснити policy[k][b]: b змінюється. Тут print справді виконано для даних лекції. В основному файлі таку логіку виконує recover.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Вивід нижче є скороченим фрагментом реального output_lecture6.txt. Скрипт перевіряє кожен стан основного прикладу повним перебором суфіксів. Для другого прикладу перевіряє всі префікси і бюджети повним перебором 0/1. Для кожної policy-дії перевірено допустимість і досягнення значення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Фрагмент виконувався з тими ж g,B і свіжим кешем. 22 misses включають термінальні стани; 42 hits — повторні звернення. Це кількість звернень, не час. Не змінювати g під час життя кешу; після зміни даних потрібен новий кеш. Аргументи k,b є цілими і hashable. Джерела: MIT 6.006, Lecture 19, Fall 2011: https://ocw.mit.edu/courses/6-006-introduction-to-algorithms-fall-2011/b6d4083131dd16e7d97f56d04b6e858f_MIT6_006F11_lec19.pdf</a:t>
            </a:r>
          </a:p>
          <a:p xmlns:a="http://schemas.openxmlformats.org/drawingml/2006/main">
            <a:r>
              <a:t>Python, functools.lru_cache: https://docs.python.org/3/library/functools.html#functools.lru_cache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allocation_dp: n(B+1) нетермінальних станів; сума b+1 по b=0..B дає n(B+1)(B+2)/2 кандидатів. При n=3,B=6: 21 стан, 84 кандидати; термінальних клітинок ще 7. Цей маленький приклад не доводить виграшу в реальному часі. За n=10,B=50 допустимих повних планів C(60,10)=75 394 027 566, кандидатів 13 260. Псевдополіноміальність: B входить числом, а не кількістю бітів. MIT/CMU дають підхід «число підзадач × робота на підзадачу». Carnegie Mellon 15-451, Lecture 9, Fall 2023: https://www.cs.cmu.edu/~15451-f23/lectures/lecture09-slides.pdf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Тут повний стан (k,b). Якщо два минулі плани з однаковим k,b мають різні можливості у майбутньому, їх не можна зливати в одну клітинку. Не додавати до стану всю історію автоматично: шукати мінімальне достатнє представлення. Кілька ресурсів збільшують розмір таблиці; B_GPU і B_RAM дають їхній добуток.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Скінченна детермінована модель з n етапів. s — стан на певному етапі k; у прикладі розподілу s=b. U_k(s) — допустимі дії; f_k(s,u) — перехід; g_k(s,u) — негайна користь. V_{n+1}(s)=h(s) — задана термінальна користь. У нашому прикладі h=0. Стан може бути вектором, наприклад залишками GPU і RAM. Якщо майбутнє випадкове, формула потребує математичного очікування; це не включено до поточної лекції. Джерело: Stanford EE365, Dynamic Programming, Spring 2014: https://web.stanford.edu/class/ee365/lectures/dp.pdf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Умовна орієнтована мережа. S — вузол відправлення, T — вузол отримання, A/B/C — проміжні маршрутизатори. Ваги у мілісекундах, затримки додаються й не залежать від потоку. Задача одного маршруту, без розподілу трафіку або пропускної здатності. Цикл A-B-C-A має вагу 1+1+2=4&gt;0. Оптимум перевірено незалежним перебором усіх маршрутів до 4 ребер і SciPy. Дані авторські, навчальні.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 — кількість вершин, E — кількість ребер. Дейкстра: оцінка для реалізації з двійковою купою. BFS коректний для найменшої кількості переходів або однакової додатної ваги. DAG: спочатку топологічне сортування, потім релаксації, від’ємні ребра дозволено. Флойд–Воршелл обчислює всі пари; за від’ємних циклів скінченні найкоротші маршрути існують не для всіх пар. Для нашого прикладу всі ваги додатні, але є цикл, тому DAG-метод не застосовуємо. NetworkX, Shortest Paths: https://networkx.org/documentation/stable/reference/algorithms/shortest_paths.html</a:t>
            </a:r>
          </a:p>
          <a:p xmlns:a="http://schemas.openxmlformats.org/drawingml/2006/main">
            <a:r>
              <a:t>MIT 6.006, Lecture 19: https://ocw.mit.edu/courses/6-006-introduction-to-algorithms-fall-2011/b6d4083131dd16e7d97f56d04b6e858f_MIT6_006F11_lec19.pdf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d_k(v) — мінімум серед усіх маршрутів S→v з не більше ніж k ребрами. Повтори вершин дозволено в обмежених підзадачах. Попередній оптимум d_{k-1}(v) обов’язково входить до min: це дозволяє використати менше ніж k ребер. Другий min — по всіх вхідних ребрах (u,v). Мінімум порожньої множини дорівнює +∞. Кожний шар залежить лише від попереднього, тому залежності ациклічні навіть коли вихідний граф має цикли. Це коректне пошарове формулювання, не копія OCR-формули з PDF. MIT 6.006, Lecture 19: https://ocw.mit.edu/courses/6-006-introduction-to-algorithms-fall-2011/b6d4083131dd16e7d97f56d04b6e858f_MIT6_006F11_lec19.pdf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Після k=1 вершини A,B доступні, C,T ще недоступні з одним ребром. Після k=2 d2(B)=min(8,4+1)=5. Для C: min(∞,4+7,8+1)=9. Важливо: тут беремо d1(B)=8, а не вже знайдене в цьому шарі значення 5. d2(T)=8+6=14. d2(A)=4; вхідне ребро C→A поки не допомагає. Таблиця з фактичного запуску lecture6_bellman_ford.py.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C отримує 5+1=6, T отримує 9+1=10 через попереднє значення C з шару 2. k=4: T отримує 6+1=7. Для S,A,B,C значення більше не зменшуються. Оскільки 5 вершин, перевіряємо шляхи до 4 ребер. Після перевірки від’ємних циклів це остаточні відстані.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Зберігаємо для кожного шару вершину, через яку значення покращилося. Від T у шарі 4 переходимо до C у шарі 3, B у шарі 2, A у шарі 1, S у шарі 0. Якщо значення перенесене без змін, просто зменшуємо k. На графі зелений ланцюг є оптимальним, сірі альтернативи не входять у нього. Це той самий граф для перевірки відповідності ваг.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Блок-схема пошарового варіанта. Один прохід переглядає всі ребра й формує нові оцінки з попередніх. Можна завершити раніше, якщо весь рядок не змінився. Після максимум |V|-1 проходів окремо перевіряємо всі ребра. Додаткова можливість покращення означає досяжний з S від’ємний цикл. Без такого циклу найкращий шлях можна вибрати простим, отже він має не більше |V|-1 ребер. Типовий час O(VE), звичайна реалізація тримає O(V) оцінок; наш повний навчальний журнал і батьки по шарах потребують O(V²) пам’яті. NetworkX, bellman_ford_predecessor_and_distance: https://networkx.org/documentation/stable/reference/algorithms/generated/networkx.algorithms.shortest_paths.weighted.bellman_ford_predecessor_and_distance.html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Окремі ілюстрації вартості, а не фізичної затримки. Мінус може означати компенсацію або бонус у сумарних витратах. Ліворуч шляхи S→T=5 і S→A→T=4−2=2, циклу немає. Праворуч цикл A→B→A має суму −3+1=−2; кожне повторення зменшує вартість ще на 2. Якщо з такого циклу можна потрапити до конкретної цілі T, її мінімум необмежений знизу. Недосяжний з S цикл не впливає на відстані від S. Наш навчальний код сигналізує про будь-який досяжний від’ємний цикл, а не аналізує окрему ціль після нього. NetworkX, bellman_ford_predecessor_and_distance: https://networkx.org/documentation/stable/reference/algorithms/generated/networkx.algorithms.shortest_paths.weighted.bellman_ford_predecessor_and_distance.html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Фрагменти чотирьох наступних слайдів потрібно виконувати послідовно. Повна самодостатня версія: lecture6_bellman_ford.py. Історія та батьки по шарах потрібні для пояснення ДП. None позначає перенесення старого шляху без нового останнього ребра. Python 3.10+, без додаткових пакетів.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читається, new оновлюється. Тому рядок k точно відповідає шляхам із не більше ніж k ребрами. У звичайному варіанті Беллмана–Форда можна оновлювати d на місці. Тоді один прохід може поширити покращення через декілька ребер, і номер проходу не є точною кількістю дозволених ребер. Відповідь після достатнього числа проходів та перевірки циклу однакова. Число 7 отримано виконанням, не скопійовано з очікуваного результату.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Цей фрагмент продовжує попередній. Розглянута досяжна ціль T. Повна функція в практикумі окремо повертає порожній шлях для недосяжної цілі. Перевірку циклу виконують після всіх 4 проходів. Порівняння тільки з досяжної вершини d[u]!=inf. Коли parent[v] є None, на цьому шарі збережено той самий шлях і v не змінюється.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Вивід виконаного коду, повний журнал output_bellman_ford.txt. Формат числових рядків отримано з history. Остання перевірка підтвердила, що поліпшення через ще одне ребро не існує. Перевірені всі 25 клітинок незалежним перебором маршрутів із обмеженим числом ребер. У графі є позитивний цикл, отже перевірка не обмежується лише ациклічними даними.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перевірено за офіційною документацією, програму виконано у SciPy 1.17.0. Повна сигнатура bellman_ford(csgraph, directed=True, indices=None, return_predecessors=False, unweighted=False). За indices=0 результат d,pred одновимірний, за indices=None — від усіх джерел. Відстань до недосяжної вершини +inf, попередник джерела або недосяжної вершини -9999. Від’ємний цикл спричиняє NegativeCycleError. Функція не повертає навчальну таблицю всіх проходів. SciPy, bellman_ford: https://docs.scipy.org/doc/scipy/reference/generated/scipy.sparse.csgraph.bellman_ford.html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Потрібні numpy та scipy. names і edges такі самі, як у навчальному прикладі. Вузли у порядку S,A,B,C,T, тож індекс S=0. Розріджену матрицю створюємо зі списків (weights,(row,col)), не підставляємо ∞ у відсутні ребра. Не записані елементи означають відсутність ребра. Цей спосіб також дозволяє явно зберегти ребро нульової ваги. На слайді весь код створення графа й запуску; відновлення та вивід на наступному. SciPy, bellman_ford: https://docs.scipy.org/doc/scipy/reference/generated/scipy.sparse.csgraph.bellman_ford.html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Фрагмент продовжує попередній. -9999 — службова позначка початку/відсутності маршруту, не індекс вершини. Перевірка isfinite не дозволяє будувати шлях для недосяжної цілі. На наших даних T досяжна. Універсальний приклад з перевіркою доступний у lecture6_bellman_ford_scipy.py. Значення d[T] у бібліотеці float, тому 7.0. Вивід взято з output_bellman_ford_scipy.txt. Бібліотечна функція дає той самий оптимум, але не показує всі навчальні шари. SciPy, bellman_ford: https://docs.scipy.org/doc/scipy/reference/generated/scipy.sparse.csgraph.bellman_ford.html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Другий приклад показує іншу структуру стану і дві дії, а не повторює метод гілок і меж. Ресурс тут GPU-години одного періоду: за бюджет 7 треба обрати незалежні неподільні jobs. Доходи — умовні порівнювані бали користі.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відміну від основного прикладу ця математична модель є лінійною булевою. Цільові коефіцієнти v та ресурсні w постійні. x є вектором вибору завдань. D_i(b) використовує перші i завдань, а V_k(b) в основному прикладі — суфікс: напрям індексації інший, але принцип однаковий.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Загальна recurrence 0/1. Якщо w_i&gt;b, варіант «взяти» заборонений: D_i(b)=D_{i-1}(b). Інакше max двох кандидатів. База D0(b)=0. Посилання на i-1 запобігає повторному використанню одного завдання. CMU Lecture9 демонструє аналогічне розрізнення стану з індексом і місткістю. Carnegie Mellon 15-451, Lecture 9, Fall 2023: https://www.cs.cmu.edu/~15451-f23/lectures/lecture09-slides.pdf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перших двох завдань D2(7)=16: взяти J1,J2. D2(3)=10: взяти J2. J3 потребує 4 години, тому залишок 3. Оптимальний хвіст тут є префіксом перших двох завдань — словесно пояснити без зміни recurrence.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Повна таблиця отримана фактичним запуском і перевірена незалежним повним перебором для всіх клітинок. Для D4(7): max(D3(7)=22,13+D3(2)=19)=22. Для D3(7): 12+D2(3)=22. Для D2(3): 10+D1(0)=10. Підсвічені клітинки лежать на відновленні плану.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Самодостатній початок фрагмента; на наступному слайді продовження. w,v відповідають таблиці задачі. Python-індекс i-1 відповідає математичному завданню i. D має додатковий початковий рядок i=0.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Код продовжує попередній слайд. У випадку рівності D[i][b]=D[i-1][b] пропускаємо i, що дає один із оптимальних планів. Якщо значення покращилося, завдання взято і бюджет зменшуємо. Вивід отриманий виконанням.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Пояснити зв’язок із попередньою лекцією. Для рюкзака 0/1 можна використати таблицю ДП або MILP-солвер. MILP не є окремою назвою алгоритму: це клас математичних моделей, солвер може використовувати ветвлення та відсікання. Табличний приклад GPU не є ЛП; за потреби можна зробити MILP з бінарним вибором рівня u кожного сервісу. Неперервне округлення LP не гарантує допустимості або оптимальності. Тут цей слайд не вводить новий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Самоперевірка. 1: у V2(4) залишилися B,C і 4 GPU; A вже поза підзадачею. 2: беремо V[k+1][b-u], бо u вже витрачено. 3: policy або порівняння двох сусідніх рядків у 0/1. 4: додати обидва залишки до стану, кількість клітинок зростає добутком. Міні-вправа на 2 хвилини: для основних даних бюджет 5 дає x=(1,3,1), Z=28; за бюджету 4 x=(1,3,0), Z=23. Не змінювати формули без перевизначення підзадачі.</a:t>
            </a:r>
          </a:p>
          <a:p xmlns:a="http://schemas.openxmlformats.org/drawingml/2006/main">
            <a:br/>
            <a:r>
              <a:t>Додаткове запитання про Беллмана–Форда: чому dₖ(T) читає попередній шар? Відповідь: останнє ребро приєднуємо до маршруту з не більше k−1 ребрами. Оновлення на місці може пройти через кілька ребер за один прохід і має інше значення номера проходу.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Джерела переглянуто 05.10.2026. Матеріали MIT: Lecture19 (2011), CMU: Lecture9 (2023), Stanford: EE365 DP і Code for DP (2014). Тут не відтворені чужі слайди або рисунки; пояснення, дані, таблиці та алгоритми адаптовано під ІТ-курс. Методичне порівняння винесено в окремий викладацький файл. MIT 6.006, Lecture 19, Fall 2011: https://ocw.mit.edu/courses/6-006-introduction-to-algorithms-fall-2011/b6d4083131dd16e7d97f56d04b6e858f_MIT6_006F11_lec19.pdf</a:t>
            </a:r>
          </a:p>
          <a:p xmlns:a="http://schemas.openxmlformats.org/drawingml/2006/main">
            <a:r>
              <a:t>Carnegie Mellon 15-451, Lecture 9, Fall 2023: https://www.cs.cmu.edu/~15451-f23/lectures/lecture09-slides.pdf</a:t>
            </a:r>
          </a:p>
          <a:p xmlns:a="http://schemas.openxmlformats.org/drawingml/2006/main">
            <a:r>
              <a:t>Stanford EE365, Dynamic Programming, Spring 2014: https://web.stanford.edu/class/ee365/lectures/dp.pdf</a:t>
            </a:r>
          </a:p>
          <a:p xmlns:a="http://schemas.openxmlformats.org/drawingml/2006/main">
            <a:r>
              <a:t>Stanford EE365, Code for Dynamic Programming: https://web.stanford.edu/class/ee365/lectures/coding_dp.pdf</a:t>
            </a:r>
          </a:p>
          <a:p xmlns:a="http://schemas.openxmlformats.org/drawingml/2006/main">
            <a:r>
              <a:t>Python, functools.lru_cache: https://docs.python.org/3/library/functools.html#functools.lru_cache</a:t>
            </a:r>
          </a:p>
          <a:p xmlns:a="http://schemas.openxmlformats.org/drawingml/2006/main">
            <a:br/>
            <a:r>
              <a:t>Додані джерела для найкоротших шляхів: MIT 6.006, Lecture 19: https://ocw.mit.edu/courses/6-006-introduction-to-algorithms-fall-2011/b6d4083131dd16e7d97f56d04b6e858f_MIT6_006F11_lec19.pdf</a:t>
            </a:r>
            <a:br/>
            <a:r>
              <a:t>NetworkX, Shortest Paths: https://networkx.org/documentation/stable/reference/algorithms/shortest_paths.html</a:t>
            </a:r>
            <a:br/>
            <a:r>
              <a:t>SciPy, bellman_ford: https://docs.scipy.org/doc/scipy/reference/generated/scipy.sparse.csgraph.bellman_ford.html</a:t>
            </a:r>
            <a:br/>
            <a:r>
              <a:t>NetworkX, bellman_ford_predecessor_and_distance: https://networkx.org/documentation/stable/reference/algorithms/generated/networkx.algorithms.shortest_paths.weighted.bellman_ford_predecessor_and_distance.html</a:t>
            </a:r>
            <a:br/>
            <a:r>
              <a:t>Версія фактичного запуску SciPy: 1.17.0.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ip8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протокольних правил: RFC 2453, §3.4, §3.9.2. https://www.rfc-editor.org/rfc/rfc2453.html . Авторська навчальна схема для однієї мережі. Показані записи лише для N. Синхронні раунди використовують попередній знімок. Реальний RIP працює асинхронно. Бірюзова стрілка показує оголошення, яке вперше робить N досяжною для наступного маршрутизатора. Пакети даних ідуть у протилежному напрямку, за полем «Через». Метрика 16 показана як позначка недосяжності, а не як встановлений маршрут пересилання. Лише R4 має безпосереднє підключення до мережі N. R1, R2 та R3: метрика 16 означає, що маршруту до N ще немає.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ip8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протокольних правил: RFC 2453, §3.4, §3.9.2. https://www.rfc-editor.org/rfc/rfc2453.html . Авторська навчальна схема для однієї мережі. Показані записи лише для N. Синхронні раунди використовують попередній знімок. Реальний RIP працює асинхронно. Бірюзова стрілка показує оголошення, яке вперше робить N досяжною для наступного маршрутизатора. Пакети даних ідуть у протилежному напрямку, за полем «Через». Метрика 16 показана як позначка недосяжності, а не як встановлений маршрут пересилання. R4 оголошує: «До N моя метрика 1». R3 додає вартість переходу 1. R3: min(16, 1 + 1) = 2. Наступний вузол для пакета: R4.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ip8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протокольних правил: RFC 2453, §3.4, §3.9.2. https://www.rfc-editor.org/rfc/rfc2453.html . Авторська навчальна схема для однієї мережі. Показані записи лише для N. Синхронні раунди використовують попередній знімок. Реальний RIP працює асинхронно. Бірюзова стрілка показує оголошення, яке вперше робить N досяжною для наступного маршрутизатора. Пакети даних ідуть у протилежному напрямку, за полем «Через». Метрика 16 показана як позначка недосяжності, а не як встановлений маршрут пересилання. R3 оголошує метрику 2 з попереднього раунду. R2 додає 1. R2: min(16, 1 + 2) = 3. Наступний вузол для пакета: R3.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ip8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протокольних правил: RFC 2453, §3.4, §3.9.2. https://www.rfc-editor.org/rfc/rfc2453.html . Авторська навчальна схема для однієї мережі. Показані записи лише для N. Синхронні раунди використовують попередній знімок. Реальний RIP працює асинхронно. Бірюзова стрілка показує оголошення, яке вперше робить N досяжною для наступного маршрутизатора. Пакети даних ідуть у протилежному напрямку, за полем «Через». Метрика 16 показана як позначка недосяжності, а не як встановлений маршрут пересилання. R2 оголошує метрику 3 з попереднього раунду. R1 додає 1. R1: min(16, 1 + 3) = 4. Наступний вузол для пакета: R2.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6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Методичний підхід: Е. С. Вентцель, «Исследование операций. Задачи. Принципы. Методология», гл. 4, §§12–14. https://systems-analysis.ru/assets/operation-research_venttsel.pdf . Числа та ІТ-приклади авторські.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6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Методичний підхід: Е. С. Вентцель, «Исследование операций. Задачи. Принципы. Методология», гл. 4, §§12–14. https://systems-analysis.ru/assets/operation-research_venttsel.pdf . Числа та ІТ-приклади авторські.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6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Методичний підхід: Е. С. Вентцель, «Исследование операций. Задачи. Принципы. Методология», гл. 4, §§12–14. https://systems-analysis.ru/assets/operation-research_venttsel.pdf . Числа та ІТ-приклади авторські. Навчальна мережа без циклів. Вартість означає фіксовану затримку в мс. У вузлі V — мінімальна затримка від нього до T. Стрілки оптимальних рішень зберігаємо як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6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Методичний підхід: Е. С. Вентцель, «Исследование операций. Задачи. Принципы. Методология», гл. 4, §§12–14. https://systems-analysis.ru/assets/operation-research_venttsel.pdf . Числа та ІТ-приклади авторські. Навчальна мережа без циклів. Вартість означає фіксовану затримку в мс. У вузлі V — мінімальна затримка від нього до T. Стрілки оптимальних рішень зберігаємо як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6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Методичний підхід: Е. С. Вентцель, «Исследование операций. Задачи. Принципы. Методология», гл. 4, §§12–14. https://systems-analysis.ru/assets/operation-research_venttsel.pdf . Числа та ІТ-приклади авторські. Навчальна мережа без циклів. Вартість означає фіксовану затримку в мс. У вузлі V — мінімальна затримка від нього до T. Стрілки оптимальних рішень зберігаємо як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6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Методичний підхід: Е. С. Вентцель, «Исследование операций. Задачи. Принципы. Методология», гл. 4, §§12–14. https://systems-analysis.ru/assets/operation-research_venttsel.pdf . Числа та ІТ-приклади авторські. Навчальна мережа без циклів. Вартість означає фіксовану затримку в мс. У вузлі V — мінімальна затримка від нього до T. Стрілки оптимальних рішень зберігаємо як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Мемоізація: одна підзадача для різних планів. Стан (k, b) зберігає майбутню підзадачу. Уже отримана користь додається окремо.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Беллман–Форд: шари підзадач. Це шлях залежностей обчислень. Шар k дозволяє не більше ніж k ребер.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https://www.rfc-editor.org/rfc/rfc2453.html §3.4. RIP базується на Bellman–Ford. Приклад умовний, значення метрик далі обчислено авторською навчальною моделлю.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https://www.rfc-editor.org/rfc/rfc2453.html §3.4, §3.9.2. Початкова метрика прямо підключеної N у цьому прикладі дорівнює 1. Це метрика оголошення мережі, а не нульова відстань маршрутизатора до себе.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https://www.rfc-editor.org/rfc/rfc2453.html §3.4 та §3.9.2. На старті всі інтерфейси мають умовну вартість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https://www.rfc-editor.org/rfc/rfc2453.html §3.4. Числа отримані синхронною навчальною моделлю, не мережевим захопленням пакетів. Кожний раунд читає лише попередній знімок.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RIP: таблиця маршрутів після збіжності. Для пересилання пакета достатньо знати наступний вузол.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початковий стан навчальної моделі. Код моделює поширення відстані до однієї мережі. RIP-пакети він не надсилає.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обмін оцінками та результат. prev — знімок оголошень. Оновлення поточного раунду не читаємо в тому самому раунді.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https://www.rfc-editor.org/rfc/rfc2453.html §3.4.2–3.4.4. Авторський сценарій застарілих оголошень після втрати R3–R4. Split horizon/poisoned reverse запобігає саме такому поверненню маршруту через R2.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https://www.rfc-editor.org/rfc/rfc2453.html §3.4.3–3.4.4 і §3.8. Стандартні періодичні оновлення близько 30 с з випадковою варіацією. Timeout 180 с. Схема раундів не моделює ці таймери.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Джерела: https://www.rfc-editor.org/rfc/rfc2080.html §2; https://www.rfc-editor.org/rfc/rfc8966.html §2.1–2.4; https://datatracker.ietf.org/doc/html/rfc2328 §16.1; https://www.rfc-editor.org/rfc/rfc4271.html §9.1.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https://ocw.mit.edu/courses/6-006-introduction-to-algorithms-fall-2011/resources/lecture-21-dp-iii-parenthesization-edit-distance-knapsack/; https://web.stanford.edu/~jurafsky/slp3/A.pdf §A.4. Приклади застосувань пояснюють структуру ДП, а не конкретний промисловий продукт.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https://ocw.mit.edu/courses/6-006-introduction-to-algorithms-fall-2011/resources/lecture-21-dp-iii-parenthesization-edit-distance-knapsack/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https://ocw.mit.edu/courses/6-006-introduction-to-algorithms-fall-2011/resources/lecture-21-dp-iii-parenthesization-edit-distance-knapsack/ Числова таблиця обчислена власним кодом, одиничні ціни операцій.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https://ocw.mit.edu/courses/6-006-introduction-to-algorithms-fall-2011/resources/lecture-21-dp-iii-parenthesization-edit-distance-knapsack/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алгоритму: https://web.stanford.edu/~jurafsky/slp3/A.pdf §A.4. Числа і приклад моніторингу авторські. HMM не є реальним детектором відмов без оцінювання параметрів та перевірки на даних.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рекурентності: https://web.stanford.edu/~jurafsky/slp3/A.pdf §A.4. Авторські числа перевірені перебором усіх 2³ послідовностей.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https://ocw.mit.edu/courses/6-006-introduction-to-algorithms-fall-2011/resources/lecture-21-dp-iii-parenthesization-edit-distance-knapsack/ Matrix-chain parenthesization. Розміри і розрахунок авторські, рахуємо скалярні множення.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7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Алгоритм Floyd–Warshall. Документація реалізації: https://docs.scipy.org/doc/scipy/reference/generated/scipy.sparse.csgraph.floyd_warshall.html . Авторський приклад: A→B=4, B→C=3, A→C=10, інших ребер немає.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 С. Вентцель. Исследование операций. Задачи. Принципы. Методология, гл. 4, §13, с. 94–97. https://systems-analysis.ru/assets/operation-research_venttsel.pdf Оригінальний рис. 13.3. Поясніть: число біля ребра є вартістю одного переходу, число в кружку є найменшими витратами до фінішу.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 С. Вентцель. Исследование операций. Задачи. Принципы. Методология, гл. 4, §13, с. 94–97. https://systems-analysis.ru/assets/operation-research_venttsel.pdf Оригінальний рис. 13.4. Порівняйте два повні продовження з C₂. Найдешевше поточне ребро саме по собі не визначає рішення.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 С. Вентцель. Исследование операций. Задачи. Принципы. Методология, гл. 4, §13, с. 94–97. https://systems-analysis.ru/assets/operation-research_venttsel.pdf Оригінальний рис. 13.5. Послідовність дій: чотири на північ, дві на схід, одна на північ, п’ять на схід. Вартість 118, жадібний план у підручнику має вартість 128.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Jeff Erickson. Algorithms (2019), ch. 3, §3.1, Fig. 3.2, p. 101. CC BY 4.0. https://jeffe.cs.illinois.edu/teaching/algorithms/book/03-dynprog.pdf Зелена стрілка записує значення в кеш. Червона читає готове значення. Приклад Фібоначчі пояснює повторне використання відповідей, але не містить вибору оптимальної дії.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Jeff Erickson. Algorithms (2019), ch. 3, §3.1, Fig. 3.2, p. 101. CC BY 4.0. https://jeffe.cs.illinois.edu/teaching/algorithms/book/03-dynprog.pdf Навчальний код адаптовано для Python. Звичайна рекурсія робить 41 виклик для F₇. Тут тіло функції виконується для 8 різних аргументів від 0 до 7. Ще 5 викликів отримують відповідь із кешу.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Dasgupta, C. H. Papadimitriou, U. V. Vazirani. Algorithms, §6.1, Fig. 6.1, pp. 169–170. https://people.eecs.berkeley.edu/~vazirani/algorithms/chap6.pdf Оригінальна рис. 6.1: ліворуч граф, праворуч той самий граф у топологічному порядку. Вага ребра збережена. Шукаємо відстані від S, а не відстані до фінішу, як у прикладі Вентцель.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v8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Dasgupta, C. H. Papadimitriou, U. V. Vazirani. Algorithms, §6.1, Fig. 6.1, pp. 169–170. https://people.eecs.berkeley.edu/~vazirani/algorithms/chap6.pdf Розрахунки за вагами оригінального рис. 6.1. Найкоротший шлях до E: S, C, D, E, довжина 6. Шлях до D: S, C, D, довжина 5. Для A перевіряємо також вхід із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dp11_slideLayout1.xml.rels><?xml version='1.0' encoding='UTF-8' standalone='yes'?>
<Relationships xmlns="http://schemas.openxmlformats.org/package/2006/relationships"><Relationship Type="http://schemas.openxmlformats.org/officeDocument/2006/relationships/slideMaster" Target="../slideMasters/dp11_slideMaster1.xml" Id="Rb816c83cbc0f4d49"/></Relationships>
</file>

<file path=ppt/slideLayouts/_rels/dp11_slideLayout2.xml.rels><?xml version='1.0' encoding='UTF-8' standalone='yes'?>
<Relationships xmlns="http://schemas.openxmlformats.org/package/2006/relationships"><Relationship Type="http://schemas.openxmlformats.org/officeDocument/2006/relationships/slideMaster" Target="../slideMasters/dp11_slideMaster1.xml" Id="R51d6b050cb4545be"/></Relationships>
</file>

<file path=ppt/slideLayouts/_rels/dp11_slideLayout3.xml.rels><?xml version='1.0' encoding='UTF-8' standalone='yes'?>
<Relationships xmlns="http://schemas.openxmlformats.org/package/2006/relationships"><Relationship Type="http://schemas.openxmlformats.org/officeDocument/2006/relationships/slideMaster" Target="../slideMasters/dp11_slideMaster1.xml" Id="R3454a9b147b34b37"/></Relationships>
</file>

<file path=ppt/slideLayouts/_rels/dp11_slideLayout4.xml.rels><?xml version='1.0' encoding='UTF-8' standalone='yes'?>
<Relationships xmlns="http://schemas.openxmlformats.org/package/2006/relationships"><Relationship Type="http://schemas.openxmlformats.org/officeDocument/2006/relationships/slideMaster" Target="../slideMasters/dp11_slideMaster1.xml" Id="R50ea464e711744a2"/></Relationships>
</file>

<file path=ppt/slideLayouts/_rels/dp11_slideLayout5.xml.rels><?xml version='1.0' encoding='UTF-8' standalone='yes'?>
<Relationships xmlns="http://schemas.openxmlformats.org/package/2006/relationships"><Relationship Type="http://schemas.openxmlformats.org/officeDocument/2006/relationships/slideMaster" Target="../slideMasters/dp11_slideMaster1.xml" Id="Re988514304a44963"/></Relationships>
</file>

<file path=ppt/slideLayouts/_rels/dp11_slideLayout6.xml.rels><?xml version='1.0' encoding='UTF-8' standalone='yes'?>
<Relationships xmlns="http://schemas.openxmlformats.org/package/2006/relationships"><Relationship Type="http://schemas.openxmlformats.org/officeDocument/2006/relationships/slideMaster" Target="../slideMasters/dp11_slideMaster1.xml" Id="Rd52022b487804358"/></Relationships>
</file>

<file path=ppt/slideLayouts/_rels/rip8_slideLayout1.xml.rels><?xml version='1.0' encoding='UTF-8' standalone='yes'?>
<Relationships xmlns="http://schemas.openxmlformats.org/package/2006/relationships"><Relationship Type="http://schemas.openxmlformats.org/officeDocument/2006/relationships/slideMaster" Target="../slideMasters/rip8_slideMaster1.xml" Id="R50f03ddfab6d4546"/></Relationships>
</file>

<file path=ppt/slideLayouts/_rels/rip8_slideLayout2.xml.rels><?xml version='1.0' encoding='UTF-8' standalone='yes'?>
<Relationships xmlns="http://schemas.openxmlformats.org/package/2006/relationships"><Relationship Type="http://schemas.openxmlformats.org/officeDocument/2006/relationships/slideMaster" Target="../slideMasters/rip8_slideMaster1.xml" Id="R3313f9b792e74d71"/></Relationships>
</file>

<file path=ppt/slideLayouts/_rels/rip8_slideLayout3.xml.rels><?xml version='1.0' encoding='UTF-8' standalone='yes'?>
<Relationships xmlns="http://schemas.openxmlformats.org/package/2006/relationships"><Relationship Type="http://schemas.openxmlformats.org/officeDocument/2006/relationships/slideMaster" Target="../slideMasters/rip8_slideMaster1.xml" Id="R9b5c08f71baa496d"/></Relationships>
</file>

<file path=ppt/slideLayouts/_rels/rip8_slideLayout4.xml.rels><?xml version='1.0' encoding='UTF-8' standalone='yes'?>
<Relationships xmlns="http://schemas.openxmlformats.org/package/2006/relationships"><Relationship Type="http://schemas.openxmlformats.org/officeDocument/2006/relationships/slideMaster" Target="../slideMasters/rip8_slideMaster1.xml" Id="R571472998a0c4262"/></Relationships>
</file>

<file path=ppt/slideLayouts/_rels/rip8_slideLayout5.xml.rels><?xml version='1.0' encoding='UTF-8' standalone='yes'?>
<Relationships xmlns="http://schemas.openxmlformats.org/package/2006/relationships"><Relationship Type="http://schemas.openxmlformats.org/officeDocument/2006/relationships/slideMaster" Target="../slideMasters/rip8_slideMaster1.xml" Id="Rd68d0a04569e4753"/></Relationships>
</file>

<file path=ppt/slideLayouts/_rels/rip8_slideLayout6.xml.rels><?xml version='1.0' encoding='UTF-8' standalone='yes'?>
<Relationships xmlns="http://schemas.openxmlformats.org/package/2006/relationships"><Relationship Type="http://schemas.openxmlformats.org/officeDocument/2006/relationships/slideMaster" Target="../slideMasters/rip8_slideMaster1.xml" Id="R6c96b996b8ef4a67"/></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d4f94daf8a4f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8ad307b61f42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e6b100f87a49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96df41d46146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6bd4d2991e46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fa59ff2fe5401d" /></Relationships>
</file>

<file path=ppt/slideLayouts/_rels/v6_slideLayout1.xml.rels><?xml version='1.0' encoding='UTF-8' standalone='yes'?>
<Relationships xmlns="http://schemas.openxmlformats.org/package/2006/relationships"><Relationship Type="http://schemas.openxmlformats.org/officeDocument/2006/relationships/slideMaster" Target="../slideMasters/v6_slideMaster1.xml" Id="R62886b87fbb242b9"/></Relationships>
</file>

<file path=ppt/slideLayouts/_rels/v6_slideLayout2.xml.rels><?xml version='1.0' encoding='UTF-8' standalone='yes'?>
<Relationships xmlns="http://schemas.openxmlformats.org/package/2006/relationships"><Relationship Type="http://schemas.openxmlformats.org/officeDocument/2006/relationships/slideMaster" Target="../slideMasters/v6_slideMaster1.xml" Id="Rc9916ec6138941da"/></Relationships>
</file>

<file path=ppt/slideLayouts/_rels/v6_slideLayout3.xml.rels><?xml version='1.0' encoding='UTF-8' standalone='yes'?>
<Relationships xmlns="http://schemas.openxmlformats.org/package/2006/relationships"><Relationship Type="http://schemas.openxmlformats.org/officeDocument/2006/relationships/slideMaster" Target="../slideMasters/v6_slideMaster1.xml" Id="R354fd405aaba4c04"/></Relationships>
</file>

<file path=ppt/slideLayouts/_rels/v6_slideLayout4.xml.rels><?xml version='1.0' encoding='UTF-8' standalone='yes'?>
<Relationships xmlns="http://schemas.openxmlformats.org/package/2006/relationships"><Relationship Type="http://schemas.openxmlformats.org/officeDocument/2006/relationships/slideMaster" Target="../slideMasters/v6_slideMaster1.xml" Id="R76d41d831c954e9d"/></Relationships>
</file>

<file path=ppt/slideLayouts/_rels/v6_slideLayout5.xml.rels><?xml version='1.0' encoding='UTF-8' standalone='yes'?>
<Relationships xmlns="http://schemas.openxmlformats.org/package/2006/relationships"><Relationship Type="http://schemas.openxmlformats.org/officeDocument/2006/relationships/slideMaster" Target="../slideMasters/v6_slideMaster1.xml" Id="R528e35ca1a664c1c"/></Relationships>
</file>

<file path=ppt/slideLayouts/_rels/v6_slideLayout6.xml.rels><?xml version='1.0' encoding='UTF-8' standalone='yes'?>
<Relationships xmlns="http://schemas.openxmlformats.org/package/2006/relationships"><Relationship Type="http://schemas.openxmlformats.org/officeDocument/2006/relationships/slideMaster" Target="../slideMasters/v6_slideMaster1.xml" Id="R221f62f4d74d47cb"/></Relationships>
</file>

<file path=ppt/slideLayouts/_rels/v7_slideLayout1.xml.rels><?xml version='1.0' encoding='UTF-8' standalone='yes'?>
<Relationships xmlns="http://schemas.openxmlformats.org/package/2006/relationships"><Relationship Type="http://schemas.openxmlformats.org/officeDocument/2006/relationships/slideMaster" Target="../slideMasters/v7_slideMaster1.xml" Id="Rb843f97027ff4b28"/></Relationships>
</file>

<file path=ppt/slideLayouts/_rels/v7_slideLayout2.xml.rels><?xml version='1.0' encoding='UTF-8' standalone='yes'?>
<Relationships xmlns="http://schemas.openxmlformats.org/package/2006/relationships"><Relationship Type="http://schemas.openxmlformats.org/officeDocument/2006/relationships/slideMaster" Target="../slideMasters/v7_slideMaster1.xml" Id="R147148505b884afd"/></Relationships>
</file>

<file path=ppt/slideLayouts/_rels/v7_slideLayout3.xml.rels><?xml version='1.0' encoding='UTF-8' standalone='yes'?>
<Relationships xmlns="http://schemas.openxmlformats.org/package/2006/relationships"><Relationship Type="http://schemas.openxmlformats.org/officeDocument/2006/relationships/slideMaster" Target="../slideMasters/v7_slideMaster1.xml" Id="R320f9e6bc5094b17"/></Relationships>
</file>

<file path=ppt/slideLayouts/_rels/v7_slideLayout4.xml.rels><?xml version='1.0' encoding='UTF-8' standalone='yes'?>
<Relationships xmlns="http://schemas.openxmlformats.org/package/2006/relationships"><Relationship Type="http://schemas.openxmlformats.org/officeDocument/2006/relationships/slideMaster" Target="../slideMasters/v7_slideMaster1.xml" Id="R7250bb5f030e47be"/></Relationships>
</file>

<file path=ppt/slideLayouts/_rels/v7_slideLayout5.xml.rels><?xml version='1.0' encoding='UTF-8' standalone='yes'?>
<Relationships xmlns="http://schemas.openxmlformats.org/package/2006/relationships"><Relationship Type="http://schemas.openxmlformats.org/officeDocument/2006/relationships/slideMaster" Target="../slideMasters/v7_slideMaster1.xml" Id="R712d1369322e41df"/></Relationships>
</file>

<file path=ppt/slideLayouts/_rels/v7_slideLayout6.xml.rels><?xml version='1.0' encoding='UTF-8' standalone='yes'?>
<Relationships xmlns="http://schemas.openxmlformats.org/package/2006/relationships"><Relationship Type="http://schemas.openxmlformats.org/officeDocument/2006/relationships/slideMaster" Target="../slideMasters/v7_slideMaster1.xml" Id="Refcd2e2df9dc40b9"/></Relationships>
</file>

<file path=ppt/slideLayouts/_rels/v8_slideLayout1.xml.rels><?xml version='1.0' encoding='UTF-8' standalone='yes'?>
<Relationships xmlns="http://schemas.openxmlformats.org/package/2006/relationships"><Relationship Type="http://schemas.openxmlformats.org/officeDocument/2006/relationships/slideMaster" Target="../slideMasters/v8_slideMaster1.xml" Id="Re8c2a9225c18493c"/></Relationships>
</file>

<file path=ppt/slideLayouts/_rels/v8_slideLayout2.xml.rels><?xml version='1.0' encoding='UTF-8' standalone='yes'?>
<Relationships xmlns="http://schemas.openxmlformats.org/package/2006/relationships"><Relationship Type="http://schemas.openxmlformats.org/officeDocument/2006/relationships/slideMaster" Target="../slideMasters/v8_slideMaster1.xml" Id="Rede980746ee34796"/></Relationships>
</file>

<file path=ppt/slideLayouts/_rels/v8_slideLayout3.xml.rels><?xml version='1.0' encoding='UTF-8' standalone='yes'?>
<Relationships xmlns="http://schemas.openxmlformats.org/package/2006/relationships"><Relationship Type="http://schemas.openxmlformats.org/officeDocument/2006/relationships/slideMaster" Target="../slideMasters/v8_slideMaster1.xml" Id="R620d92b1a91845fe"/></Relationships>
</file>

<file path=ppt/slideLayouts/_rels/v8_slideLayout4.xml.rels><?xml version='1.0' encoding='UTF-8' standalone='yes'?>
<Relationships xmlns="http://schemas.openxmlformats.org/package/2006/relationships"><Relationship Type="http://schemas.openxmlformats.org/officeDocument/2006/relationships/slideMaster" Target="../slideMasters/v8_slideMaster1.xml" Id="R549e9e9bdd95400a"/></Relationships>
</file>

<file path=ppt/slideLayouts/_rels/v8_slideLayout5.xml.rels><?xml version='1.0' encoding='UTF-8' standalone='yes'?>
<Relationships xmlns="http://schemas.openxmlformats.org/package/2006/relationships"><Relationship Type="http://schemas.openxmlformats.org/officeDocument/2006/relationships/slideMaster" Target="../slideMasters/v8_slideMaster1.xml" Id="Rfa5d816c992f4b10"/></Relationships>
</file>

<file path=ppt/slideLayouts/_rels/v8_slideLayout6.xml.rels><?xml version='1.0' encoding='UTF-8' standalone='yes'?>
<Relationships xmlns="http://schemas.openxmlformats.org/package/2006/relationships"><Relationship Type="http://schemas.openxmlformats.org/officeDocument/2006/relationships/slideMaster" Target="../slideMasters/v8_slideMaster1.xml" Id="Rcc9188d5c56040dd"/></Relationships>
</file>

<file path=ppt/slideLayouts/dp1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EF7876-98A1-441F-9E9D-6BA501A809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AB5A0D1-D1C0-46BB-B51A-48272952B8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dp11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F836BC-B7FE-44AF-BC30-7C4260C7DA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dp11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D8FE33-84AF-4363-BE0B-F004E42FA2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B68DA2-E8DA-4D32-A6DD-1A13477C5E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dp11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3D3269-7574-43B7-801A-C72ED1775B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E85CFA-DE75-4B6F-8720-9A6C8A5633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0F0BF2-2B98-4ABA-A398-6E8BCA54FD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dp11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F476E1-6E74-4E81-9525-A651BBDD6B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95F3C8-9410-4861-8E74-5F764C9B9A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dp11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rip8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0E975E-2EC9-4BE0-9ACA-E4FAEDC640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8494C2-E44A-46A2-9AAE-7B8806A268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rip8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162F19-8A2A-48A3-9348-3BC2FC8B48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rip8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92D1D1-7758-4DDE-9DA1-A763165949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BEB6A1-5F82-414A-9D54-51678A544A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rip8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75D62C-2885-4A5F-9AE8-5CF2270F77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0935FC-BAF5-4FE6-B82B-8848BE6670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A6DF62-E45B-4088-93EC-F8ED6D73A9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rip8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438B88-DEF3-4392-AC0B-25FF48F817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236671-8D8A-4A33-8CF9-2A7D0DB010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rip8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F450142-126F-41E1-84DC-5735957B500B}"/>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14FD0C5-7630-401D-9136-83001E74C6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91CCFF9-6C5B-4433-A5AB-8BCFA75972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59E0ABD-8F57-4719-A164-A7D88E439100}"/>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0102E73-B32B-424F-9275-327FF70BCA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855528E-97C4-4F1B-B81E-B20EE4BE632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85BC16B-5E12-49B4-9BB4-3FFEF6B431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9AD5BCB-8E3F-4318-B3C1-2314992916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524D451-67F9-45B0-B3C0-5FF052CD84A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F894EF9-71FA-46C2-9764-AF3ACEF3A6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55AA063-8855-4B1D-B355-CF6BF12A3D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63C41A5-26F4-4BFC-ACC7-74EC6C4613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51537AF-BA8C-44AC-9593-4A2E5F20A95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54ECEF7-0FB1-423C-B3A6-3B5DABA024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76FE9DC-DD68-4125-A4ED-396EFA5780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v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DF1288-F1C5-468B-95B1-F8EF8C76A7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98730D-44A8-4A90-891B-52FDD9301F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v6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E839E4-2031-4F2A-A3DE-0C4DF89400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v6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6ED85F-2417-492C-8B72-41F27B40F8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A6D604-85E0-4DE4-BF64-8B9A25A0A2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6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09B602-EDED-4914-8E02-E5F4E4B81B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DF03BD-20CC-4D15-9547-BB05AA1DAA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82D9B7-DCF9-4599-B30A-9F466E8FDD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6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E26858-0753-49D4-94E7-9149B4618F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25B29E-859F-4540-996F-1A9C8BA69A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6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v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C307DC-0FE0-4AA0-9944-636F9BC0C0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582962-749F-4845-B701-4D6D1D58E1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v7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64F87B-F787-4DF6-99FE-B0919EC279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v7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21D4F2-4F8F-42B4-87B4-3553ED0419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7EA981-673C-4666-B6C0-E80EA4264D8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7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019D7F-85FF-4E77-AD03-0485ECFB52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BB21C4-3B4E-48CB-AF2A-B2EC183C20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087B6E-A7A4-4947-A091-A7C061199E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7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E46826-D496-4BF9-AAA5-C4ED3DF0C0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A38D56-9656-445E-B5A0-FDB2B19F03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7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v8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2960C3-7166-46FE-9897-3077894DCF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9EB598-B81F-4C76-9436-1910A851E1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v8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F038CE-0DA1-44A7-B078-04F18A30B5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v8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22CF5F-E544-48F2-8FDE-D4FDA6DA99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CC10E6-8780-46D0-AB10-4184D69A4C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8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F157BD-2396-4FAE-B732-A989F4A1F8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61B3AE-A639-45C3-A1B1-5B11BC51DC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D5BD14-9B9A-4F05-86DF-CA97FF2187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8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503858-0CB2-42A3-B719-DE68CA1238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CAEA9C-5DF3-47CF-BBCC-C04FD52A20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v8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dp11_slideMaster1.xml.rels><?xml version='1.0' encoding='UTF-8' standalone='yes'?>
<Relationships xmlns="http://schemas.openxmlformats.org/package/2006/relationships"><Relationship Type="http://schemas.openxmlformats.org/officeDocument/2006/relationships/theme" Target="theme/dp11_theme2.xml" Id="R179c32f119c144f6"/><Relationship Type="http://schemas.openxmlformats.org/officeDocument/2006/relationships/slideLayout" Target="../slideLayouts/dp11_slideLayout1.xml" Id="R434fb7398bc44acc"/><Relationship Type="http://schemas.openxmlformats.org/officeDocument/2006/relationships/slideLayout" Target="../slideLayouts/dp11_slideLayout2.xml" Id="R5c9ac023f848492a"/><Relationship Type="http://schemas.openxmlformats.org/officeDocument/2006/relationships/slideLayout" Target="../slideLayouts/dp11_slideLayout3.xml" Id="R76f33ddb29f4408f"/><Relationship Type="http://schemas.openxmlformats.org/officeDocument/2006/relationships/slideLayout" Target="../slideLayouts/dp11_slideLayout4.xml" Id="R5148439e1c2d4144"/><Relationship Type="http://schemas.openxmlformats.org/officeDocument/2006/relationships/slideLayout" Target="../slideLayouts/dp11_slideLayout5.xml" Id="R3cf10725552a4269"/><Relationship Type="http://schemas.openxmlformats.org/officeDocument/2006/relationships/slideLayout" Target="../slideLayouts/dp11_slideLayout6.xml" Id="R8584ff23186a4726"/></Relationships>
</file>

<file path=ppt/slideMasters/_rels/rip8_slideMaster1.xml.rels><?xml version='1.0' encoding='UTF-8' standalone='yes'?>
<Relationships xmlns="http://schemas.openxmlformats.org/package/2006/relationships"><Relationship Type="http://schemas.openxmlformats.org/officeDocument/2006/relationships/theme" Target="theme/rip8_theme2.xml" Id="R4b9fca64c30f41fc"/><Relationship Type="http://schemas.openxmlformats.org/officeDocument/2006/relationships/slideLayout" Target="../slideLayouts/rip8_slideLayout1.xml" Id="R724fdfe521404a3a"/><Relationship Type="http://schemas.openxmlformats.org/officeDocument/2006/relationships/slideLayout" Target="../slideLayouts/rip8_slideLayout2.xml" Id="R70b103060a9d451d"/><Relationship Type="http://schemas.openxmlformats.org/officeDocument/2006/relationships/slideLayout" Target="../slideLayouts/rip8_slideLayout3.xml" Id="R9d62b390b967476e"/><Relationship Type="http://schemas.openxmlformats.org/officeDocument/2006/relationships/slideLayout" Target="../slideLayouts/rip8_slideLayout4.xml" Id="R2c0522342c8b4f60"/><Relationship Type="http://schemas.openxmlformats.org/officeDocument/2006/relationships/slideLayout" Target="../slideLayouts/rip8_slideLayout5.xml" Id="R23e861d6dccd4f7a"/><Relationship Type="http://schemas.openxmlformats.org/officeDocument/2006/relationships/slideLayout" Target="../slideLayouts/rip8_slideLayout6.xml" Id="Rc148f9e387cc4a3c"/></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5b39a6a517f74134" /><Relationship Type="http://schemas.openxmlformats.org/officeDocument/2006/relationships/slideLayout" Target="/ppt/slideLayouts/slideLayout1.xml" Id="R771f65817e464008" /><Relationship Type="http://schemas.openxmlformats.org/officeDocument/2006/relationships/slideLayout" Target="/ppt/slideLayouts/slideLayout2.xml" Id="Rc8d75b41a8ae4b6b" /><Relationship Type="http://schemas.openxmlformats.org/officeDocument/2006/relationships/slideLayout" Target="/ppt/slideLayouts/slideLayout3.xml" Id="R898da060c1fa48e2" /><Relationship Type="http://schemas.openxmlformats.org/officeDocument/2006/relationships/slideLayout" Target="/ppt/slideLayouts/slideLayout4.xml" Id="R08394f99e2514e3a" /><Relationship Type="http://schemas.openxmlformats.org/officeDocument/2006/relationships/slideLayout" Target="/ppt/slideLayouts/slideLayout5.xml" Id="Rca459abdff834480" /><Relationship Type="http://schemas.openxmlformats.org/officeDocument/2006/relationships/slideLayout" Target="/ppt/slideLayouts/slideLayout6.xml" Id="R4da06284d07a4916" /></Relationships>
</file>

<file path=ppt/slideMasters/_rels/v6_slideMaster1.xml.rels><?xml version='1.0' encoding='UTF-8' standalone='yes'?>
<Relationships xmlns="http://schemas.openxmlformats.org/package/2006/relationships"><Relationship Type="http://schemas.openxmlformats.org/officeDocument/2006/relationships/theme" Target="theme/v6_theme2.xml" Id="R476384978b324a4e"/><Relationship Type="http://schemas.openxmlformats.org/officeDocument/2006/relationships/slideLayout" Target="../slideLayouts/v6_slideLayout1.xml" Id="Ra0ca527338bd47aa"/><Relationship Type="http://schemas.openxmlformats.org/officeDocument/2006/relationships/slideLayout" Target="../slideLayouts/v6_slideLayout2.xml" Id="Raed1236dca974b27"/><Relationship Type="http://schemas.openxmlformats.org/officeDocument/2006/relationships/slideLayout" Target="../slideLayouts/v6_slideLayout3.xml" Id="R56316e04b75147d0"/><Relationship Type="http://schemas.openxmlformats.org/officeDocument/2006/relationships/slideLayout" Target="../slideLayouts/v6_slideLayout4.xml" Id="R189806198ea04bcf"/><Relationship Type="http://schemas.openxmlformats.org/officeDocument/2006/relationships/slideLayout" Target="../slideLayouts/v6_slideLayout5.xml" Id="R2596ad47a86146b5"/><Relationship Type="http://schemas.openxmlformats.org/officeDocument/2006/relationships/slideLayout" Target="../slideLayouts/v6_slideLayout6.xml" Id="R8f418f037c4f4383"/></Relationships>
</file>

<file path=ppt/slideMasters/_rels/v7_slideMaster1.xml.rels><?xml version='1.0' encoding='UTF-8' standalone='yes'?>
<Relationships xmlns="http://schemas.openxmlformats.org/package/2006/relationships"><Relationship Type="http://schemas.openxmlformats.org/officeDocument/2006/relationships/theme" Target="theme/v7_theme2.xml" Id="R1b8a9c7bcced45ba"/><Relationship Type="http://schemas.openxmlformats.org/officeDocument/2006/relationships/slideLayout" Target="../slideLayouts/v7_slideLayout1.xml" Id="R6166a49f188243b9"/><Relationship Type="http://schemas.openxmlformats.org/officeDocument/2006/relationships/slideLayout" Target="../slideLayouts/v7_slideLayout2.xml" Id="R2f4f0cd456694891"/><Relationship Type="http://schemas.openxmlformats.org/officeDocument/2006/relationships/slideLayout" Target="../slideLayouts/v7_slideLayout3.xml" Id="Rbe8e674712c446f3"/><Relationship Type="http://schemas.openxmlformats.org/officeDocument/2006/relationships/slideLayout" Target="../slideLayouts/v7_slideLayout4.xml" Id="R13f467a5eee54974"/><Relationship Type="http://schemas.openxmlformats.org/officeDocument/2006/relationships/slideLayout" Target="../slideLayouts/v7_slideLayout5.xml" Id="R1e590a2808da47ac"/><Relationship Type="http://schemas.openxmlformats.org/officeDocument/2006/relationships/slideLayout" Target="../slideLayouts/v7_slideLayout6.xml" Id="Rd6288461259b4550"/></Relationships>
</file>

<file path=ppt/slideMasters/_rels/v8_slideMaster1.xml.rels><?xml version='1.0' encoding='UTF-8' standalone='yes'?>
<Relationships xmlns="http://schemas.openxmlformats.org/package/2006/relationships"><Relationship Type="http://schemas.openxmlformats.org/officeDocument/2006/relationships/theme" Target="theme/v8_theme2.xml" Id="R28fcfe7c77684e8f"/><Relationship Type="http://schemas.openxmlformats.org/officeDocument/2006/relationships/slideLayout" Target="../slideLayouts/v8_slideLayout1.xml" Id="Rd595b324883c4b19"/><Relationship Type="http://schemas.openxmlformats.org/officeDocument/2006/relationships/slideLayout" Target="../slideLayouts/v8_slideLayout2.xml" Id="R10c1115a60c74800"/><Relationship Type="http://schemas.openxmlformats.org/officeDocument/2006/relationships/slideLayout" Target="../slideLayouts/v8_slideLayout3.xml" Id="R6eb1357787944a13"/><Relationship Type="http://schemas.openxmlformats.org/officeDocument/2006/relationships/slideLayout" Target="../slideLayouts/v8_slideLayout4.xml" Id="R4714d2a4478941d8"/><Relationship Type="http://schemas.openxmlformats.org/officeDocument/2006/relationships/slideLayout" Target="../slideLayouts/v8_slideLayout5.xml" Id="R0ef465f019094226"/><Relationship Type="http://schemas.openxmlformats.org/officeDocument/2006/relationships/slideLayout" Target="../slideLayouts/v8_slideLayout6.xml" Id="Rd3ff31927b5e42df"/></Relationships>
</file>

<file path=ppt/slideMasters/dp1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4fb7398bc44acc"/>
    <p:sldLayoutId xmlns:r="http://schemas.openxmlformats.org/officeDocument/2006/relationships" id="2147483650" r:id="R5c9ac023f848492a"/>
    <p:sldLayoutId xmlns:r="http://schemas.openxmlformats.org/officeDocument/2006/relationships" id="2147483651" r:id="R76f33ddb29f4408f"/>
    <p:sldLayoutId xmlns:r="http://schemas.openxmlformats.org/officeDocument/2006/relationships" id="2147483652" r:id="R5148439e1c2d4144"/>
    <p:sldLayoutId xmlns:r="http://schemas.openxmlformats.org/officeDocument/2006/relationships" id="2147483653" r:id="R3cf10725552a4269"/>
    <p:sldLayoutId xmlns:r="http://schemas.openxmlformats.org/officeDocument/2006/relationships" id="2147483654" r:id="R8584ff23186a47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rip8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4fdfe521404a3a"/>
    <p:sldLayoutId xmlns:r="http://schemas.openxmlformats.org/officeDocument/2006/relationships" id="2147483650" r:id="R70b103060a9d451d"/>
    <p:sldLayoutId xmlns:r="http://schemas.openxmlformats.org/officeDocument/2006/relationships" id="2147483651" r:id="R9d62b390b967476e"/>
    <p:sldLayoutId xmlns:r="http://schemas.openxmlformats.org/officeDocument/2006/relationships" id="2147483652" r:id="R2c0522342c8b4f60"/>
    <p:sldLayoutId xmlns:r="http://schemas.openxmlformats.org/officeDocument/2006/relationships" id="2147483653" r:id="R23e861d6dccd4f7a"/>
    <p:sldLayoutId xmlns:r="http://schemas.openxmlformats.org/officeDocument/2006/relationships" id="2147483654" r:id="Rc148f9e387cc4a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1f65817e464008"/>
    <p:sldLayoutId xmlns:r="http://schemas.openxmlformats.org/officeDocument/2006/relationships" id="2147483650" r:id="Rc8d75b41a8ae4b6b"/>
    <p:sldLayoutId xmlns:r="http://schemas.openxmlformats.org/officeDocument/2006/relationships" id="2147483651" r:id="R898da060c1fa48e2"/>
    <p:sldLayoutId xmlns:r="http://schemas.openxmlformats.org/officeDocument/2006/relationships" id="2147483652" r:id="R08394f99e2514e3a"/>
    <p:sldLayoutId xmlns:r="http://schemas.openxmlformats.org/officeDocument/2006/relationships" id="2147483653" r:id="Rca459abdff834480"/>
    <p:sldLayoutId xmlns:r="http://schemas.openxmlformats.org/officeDocument/2006/relationships" id="2147483654" r:id="R4da06284d07a49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dp1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rip8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8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v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ca527338bd47aa"/>
    <p:sldLayoutId xmlns:r="http://schemas.openxmlformats.org/officeDocument/2006/relationships" id="2147483650" r:id="Raed1236dca974b27"/>
    <p:sldLayoutId xmlns:r="http://schemas.openxmlformats.org/officeDocument/2006/relationships" id="2147483651" r:id="R56316e04b75147d0"/>
    <p:sldLayoutId xmlns:r="http://schemas.openxmlformats.org/officeDocument/2006/relationships" id="2147483652" r:id="R189806198ea04bcf"/>
    <p:sldLayoutId xmlns:r="http://schemas.openxmlformats.org/officeDocument/2006/relationships" id="2147483653" r:id="R2596ad47a86146b5"/>
    <p:sldLayoutId xmlns:r="http://schemas.openxmlformats.org/officeDocument/2006/relationships" id="2147483654" r:id="R8f418f037c4f43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66a49f188243b9"/>
    <p:sldLayoutId xmlns:r="http://schemas.openxmlformats.org/officeDocument/2006/relationships" id="2147483650" r:id="R2f4f0cd456694891"/>
    <p:sldLayoutId xmlns:r="http://schemas.openxmlformats.org/officeDocument/2006/relationships" id="2147483651" r:id="Rbe8e674712c446f3"/>
    <p:sldLayoutId xmlns:r="http://schemas.openxmlformats.org/officeDocument/2006/relationships" id="2147483652" r:id="R13f467a5eee54974"/>
    <p:sldLayoutId xmlns:r="http://schemas.openxmlformats.org/officeDocument/2006/relationships" id="2147483653" r:id="R1e590a2808da47ac"/>
    <p:sldLayoutId xmlns:r="http://schemas.openxmlformats.org/officeDocument/2006/relationships" id="2147483654" r:id="Rd6288461259b45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8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95b324883c4b19"/>
    <p:sldLayoutId xmlns:r="http://schemas.openxmlformats.org/officeDocument/2006/relationships" id="2147483650" r:id="R10c1115a60c74800"/>
    <p:sldLayoutId xmlns:r="http://schemas.openxmlformats.org/officeDocument/2006/relationships" id="2147483651" r:id="R6eb1357787944a13"/>
    <p:sldLayoutId xmlns:r="http://schemas.openxmlformats.org/officeDocument/2006/relationships" id="2147483652" r:id="R4714d2a4478941d8"/>
    <p:sldLayoutId xmlns:r="http://schemas.openxmlformats.org/officeDocument/2006/relationships" id="2147483653" r:id="R0ef465f019094226"/>
    <p:sldLayoutId xmlns:r="http://schemas.openxmlformats.org/officeDocument/2006/relationships" id="2147483654" r:id="Rd3ff31927b5e42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dp11_slide1.xml.rels><?xml version='1.0' encoding='UTF-8' standalone='yes'?>
<Relationships xmlns="http://schemas.openxmlformats.org/package/2006/relationships"><Relationship Type="http://schemas.openxmlformats.org/officeDocument/2006/relationships/slideLayout" Target="../slideLayouts/dp11_slideLayout6.xml" Id="Re8705804a01944b7"/><Relationship Type="http://schemas.openxmlformats.org/officeDocument/2006/relationships/notesSlide" Target="../notesSlides/dp11_notesSlide1.xml" Id="Rc01d89aa201148a2"/></Relationships>
</file>

<file path=ppt/slides/_rels/dp11_slide2.xml.rels><?xml version='1.0' encoding='UTF-8' standalone='yes'?>
<Relationships xmlns="http://schemas.openxmlformats.org/package/2006/relationships"><Relationship Type="http://schemas.openxmlformats.org/officeDocument/2006/relationships/slideLayout" Target="../slideLayouts/dp11_slideLayout6.xml" Id="R4d77c99270c247fa"/><Relationship Type="http://schemas.openxmlformats.org/officeDocument/2006/relationships/notesSlide" Target="../notesSlides/dp11_notesSlide2.xml" Id="R532151f884484a69"/></Relationships>
</file>

<file path=ppt/slides/_rels/dp11_slide3.xml.rels><?xml version='1.0' encoding='UTF-8' standalone='yes'?>
<Relationships xmlns="http://schemas.openxmlformats.org/package/2006/relationships"><Relationship Type="http://schemas.openxmlformats.org/officeDocument/2006/relationships/slideLayout" Target="../slideLayouts/dp11_slideLayout6.xml" Id="R9f6f47301c284b30"/><Relationship Type="http://schemas.openxmlformats.org/officeDocument/2006/relationships/notesSlide" Target="../notesSlides/dp11_notesSlide3.xml" Id="R2a4a8e4113354a93"/></Relationships>
</file>

<file path=ppt/slides/_rels/dp11_slide4.xml.rels><?xml version='1.0' encoding='UTF-8' standalone='yes'?>
<Relationships xmlns="http://schemas.openxmlformats.org/package/2006/relationships"><Relationship Type="http://schemas.openxmlformats.org/officeDocument/2006/relationships/slideLayout" Target="../slideLayouts/dp11_slideLayout6.xml" Id="R7127613c9c784398"/><Relationship Type="http://schemas.openxmlformats.org/officeDocument/2006/relationships/notesSlide" Target="../notesSlides/dp11_notesSlide4.xml" Id="R03673ea1eeb044aa"/></Relationships>
</file>

<file path=ppt/slides/_rels/dp11_slide5.xml.rels><?xml version='1.0' encoding='UTF-8' standalone='yes'?>
<Relationships xmlns="http://schemas.openxmlformats.org/package/2006/relationships"><Relationship Type="http://schemas.openxmlformats.org/officeDocument/2006/relationships/slideLayout" Target="../slideLayouts/dp11_slideLayout6.xml" Id="R17ea71ac0feb47aa"/><Relationship Type="http://schemas.openxmlformats.org/officeDocument/2006/relationships/image" Target="../media/dp11_image.png" Id="Rdfb1c17af6e946ef"/><Relationship Type="http://schemas.openxmlformats.org/officeDocument/2006/relationships/notesSlide" Target="../notesSlides/dp11_notesSlide5.xml" Id="R6b095c70232843c3"/></Relationships>
</file>

<file path=ppt/slides/_rels/dp11_slide6.xml.rels><?xml version='1.0' encoding='UTF-8' standalone='yes'?>
<Relationships xmlns="http://schemas.openxmlformats.org/package/2006/relationships"><Relationship Type="http://schemas.openxmlformats.org/officeDocument/2006/relationships/slideLayout" Target="../slideLayouts/dp11_slideLayout6.xml" Id="R74fa5d32300148b6"/><Relationship Type="http://schemas.openxmlformats.org/officeDocument/2006/relationships/notesSlide" Target="../notesSlides/dp11_notesSlide6.xml" Id="R031c7fe0e06645ac"/></Relationships>
</file>

<file path=ppt/slides/_rels/dp11_slide7.xml.rels><?xml version='1.0' encoding='UTF-8' standalone='yes'?>
<Relationships xmlns="http://schemas.openxmlformats.org/package/2006/relationships"><Relationship Type="http://schemas.openxmlformats.org/officeDocument/2006/relationships/slideLayout" Target="../slideLayouts/dp11_slideLayout6.xml" Id="R7b95290cb5b54948"/><Relationship Type="http://schemas.openxmlformats.org/officeDocument/2006/relationships/notesSlide" Target="../notesSlides/dp11_notesSlide7.xml" Id="R80899aedbc5947fe"/></Relationships>
</file>

<file path=ppt/slides/_rels/dp11_slide8.xml.rels><?xml version='1.0' encoding='UTF-8' standalone='yes'?>
<Relationships xmlns="http://schemas.openxmlformats.org/package/2006/relationships"><Relationship Type="http://schemas.openxmlformats.org/officeDocument/2006/relationships/slideLayout" Target="../slideLayouts/dp11_slideLayout6.xml" Id="R39ee5a9171be41f2"/><Relationship Type="http://schemas.openxmlformats.org/officeDocument/2006/relationships/notesSlide" Target="../notesSlides/dp11_notesSlide8.xml" Id="R073a23670f6d4c19"/></Relationships>
</file>

<file path=ppt/slides/_rels/dp11_slide9.xml.rels><?xml version='1.0' encoding='UTF-8' standalone='yes'?>
<Relationships xmlns="http://schemas.openxmlformats.org/package/2006/relationships"><Relationship Type="http://schemas.openxmlformats.org/officeDocument/2006/relationships/slideLayout" Target="../slideLayouts/dp11_slideLayout6.xml" Id="Rc48e9ad7bd2b40f4"/><Relationship Type="http://schemas.openxmlformats.org/officeDocument/2006/relationships/notesSlide" Target="../notesSlides/dp11_notesSlide9.xml" Id="R146f5e7d8d314cae"/></Relationships>
</file>

<file path=ppt/slides/_rels/dp11_slide10.xml.rels><?xml version='1.0' encoding='UTF-8' standalone='yes'?>
<Relationships xmlns="http://schemas.openxmlformats.org/package/2006/relationships"><Relationship Type="http://schemas.openxmlformats.org/officeDocument/2006/relationships/slideLayout" Target="../slideLayouts/dp11_slideLayout6.xml" Id="R287c47ce1dde4201"/><Relationship Type="http://schemas.openxmlformats.org/officeDocument/2006/relationships/notesSlide" Target="../notesSlides/dp11_notesSlide10.xml" Id="R54bcfc515eb948ef"/></Relationships>
</file>

<file path=ppt/slides/_rels/dp11_slide11.xml.rels><?xml version='1.0' encoding='UTF-8' standalone='yes'?>
<Relationships xmlns="http://schemas.openxmlformats.org/package/2006/relationships"><Relationship Type="http://schemas.openxmlformats.org/officeDocument/2006/relationships/slideLayout" Target="../slideLayouts/dp11_slideLayout6.xml" Id="R87d3e11b97464bc2"/><Relationship Type="http://schemas.openxmlformats.org/officeDocument/2006/relationships/notesSlide" Target="../notesSlides/dp11_notesSlide11.xml" Id="Rf79cae5f8360441d"/></Relationships>
</file>

<file path=ppt/slides/_rels/dp11_slide12.xml.rels><?xml version='1.0' encoding='UTF-8' standalone='yes'?>
<Relationships xmlns="http://schemas.openxmlformats.org/package/2006/relationships"><Relationship Type="http://schemas.openxmlformats.org/officeDocument/2006/relationships/slideLayout" Target="../slideLayouts/dp11_slideLayout6.xml" Id="R4e5b579d450a4e64"/><Relationship Type="http://schemas.openxmlformats.org/officeDocument/2006/relationships/notesSlide" Target="../notesSlides/dp11_notesSlide12.xml" Id="Rec6ad15657484121"/></Relationships>
</file>

<file path=ppt/slides/_rels/dp11_slide13.xml.rels><?xml version='1.0' encoding='UTF-8' standalone='yes'?>
<Relationships xmlns="http://schemas.openxmlformats.org/package/2006/relationships"><Relationship Type="http://schemas.openxmlformats.org/officeDocument/2006/relationships/slideLayout" Target="../slideLayouts/dp11_slideLayout6.xml" Id="R343fe28a74ef4652"/><Relationship Type="http://schemas.openxmlformats.org/officeDocument/2006/relationships/notesSlide" Target="../notesSlides/dp11_notesSlide13.xml" Id="R50cb53bb6e4d4c49"/></Relationships>
</file>

<file path=ppt/slides/_rels/dp11_slide14.xml.rels><?xml version='1.0' encoding='UTF-8' standalone='yes'?>
<Relationships xmlns="http://schemas.openxmlformats.org/package/2006/relationships"><Relationship Type="http://schemas.openxmlformats.org/officeDocument/2006/relationships/slideLayout" Target="../slideLayouts/dp11_slideLayout6.xml" Id="Rca0619aa21914f07"/><Relationship Type="http://schemas.openxmlformats.org/officeDocument/2006/relationships/notesSlide" Target="../notesSlides/dp11_notesSlide14.xml" Id="R17ad2191ba544dd2"/></Relationships>
</file>

<file path=ppt/slides/_rels/dp11_slide15.xml.rels><?xml version='1.0' encoding='UTF-8' standalone='yes'?>
<Relationships xmlns="http://schemas.openxmlformats.org/package/2006/relationships"><Relationship Type="http://schemas.openxmlformats.org/officeDocument/2006/relationships/slideLayout" Target="../slideLayouts/dp11_slideLayout6.xml" Id="Rb5b91f0f6f544cbd"/><Relationship Type="http://schemas.openxmlformats.org/officeDocument/2006/relationships/notesSlide" Target="../notesSlides/dp11_notesSlide15.xml" Id="Rd880581da9854f32"/></Relationships>
</file>

<file path=ppt/slides/_rels/dp11_slide16.xml.rels><?xml version='1.0' encoding='UTF-8' standalone='yes'?>
<Relationships xmlns="http://schemas.openxmlformats.org/package/2006/relationships"><Relationship Type="http://schemas.openxmlformats.org/officeDocument/2006/relationships/slideLayout" Target="../slideLayouts/dp11_slideLayout6.xml" Id="R4b3a2f4eb54741ba"/><Relationship Type="http://schemas.openxmlformats.org/officeDocument/2006/relationships/notesSlide" Target="../notesSlides/dp11_notesSlide16.xml" Id="R22e9dff34b3b4c78"/></Relationships>
</file>

<file path=ppt/slides/_rels/dp11_slide17.xml.rels><?xml version='1.0' encoding='UTF-8' standalone='yes'?>
<Relationships xmlns="http://schemas.openxmlformats.org/package/2006/relationships"><Relationship Type="http://schemas.openxmlformats.org/officeDocument/2006/relationships/slideLayout" Target="../slideLayouts/dp11_slideLayout6.xml" Id="R51078e7badee4d60"/><Relationship Type="http://schemas.openxmlformats.org/officeDocument/2006/relationships/notesSlide" Target="../notesSlides/dp11_notesSlide17.xml" Id="R496f265e8d4f42c5"/></Relationships>
</file>

<file path=ppt/slides/_rels/dp11_slide18.xml.rels><?xml version='1.0' encoding='UTF-8' standalone='yes'?>
<Relationships xmlns="http://schemas.openxmlformats.org/package/2006/relationships"><Relationship Type="http://schemas.openxmlformats.org/officeDocument/2006/relationships/slideLayout" Target="../slideLayouts/dp11_slideLayout6.xml" Id="R371240775280484d"/><Relationship Type="http://schemas.openxmlformats.org/officeDocument/2006/relationships/notesSlide" Target="../notesSlides/dp11_notesSlide18.xml" Id="R61568084313042e0"/></Relationships>
</file>

<file path=ppt/slides/_rels/dp11_slide19.xml.rels><?xml version='1.0' encoding='UTF-8' standalone='yes'?>
<Relationships xmlns="http://schemas.openxmlformats.org/package/2006/relationships"><Relationship Type="http://schemas.openxmlformats.org/officeDocument/2006/relationships/slideLayout" Target="../slideLayouts/dp11_slideLayout6.xml" Id="R74b3ccd580d24470"/><Relationship Type="http://schemas.openxmlformats.org/officeDocument/2006/relationships/notesSlide" Target="../notesSlides/dp11_notesSlide19.xml" Id="R3872527e098644b2"/></Relationships>
</file>

<file path=ppt/slides/_rels/rip8_slide1.xml.rels><?xml version='1.0' encoding='UTF-8' standalone='yes'?>
<Relationships xmlns="http://schemas.openxmlformats.org/package/2006/relationships"><Relationship Type="http://schemas.openxmlformats.org/officeDocument/2006/relationships/slideLayout" Target="../slideLayouts/rip8_slideLayout6.xml" Id="Ra40cafd8a59a41ed"/><Relationship Type="http://schemas.openxmlformats.org/officeDocument/2006/relationships/notesSlide" Target="../notesSlides/rip8_notesSlide1.xml" Id="R693ad4d728274733"/></Relationships>
</file>

<file path=ppt/slides/_rels/rip8_slide2.xml.rels><?xml version='1.0' encoding='UTF-8' standalone='yes'?>
<Relationships xmlns="http://schemas.openxmlformats.org/package/2006/relationships"><Relationship Type="http://schemas.openxmlformats.org/officeDocument/2006/relationships/slideLayout" Target="../slideLayouts/rip8_slideLayout6.xml" Id="Rfcaf85a6680e4a0a"/><Relationship Type="http://schemas.openxmlformats.org/officeDocument/2006/relationships/notesSlide" Target="../notesSlides/rip8_notesSlide2.xml" Id="Rb7b46b4eafd64519"/></Relationships>
</file>

<file path=ppt/slides/_rels/rip8_slide3.xml.rels><?xml version='1.0' encoding='UTF-8' standalone='yes'?>
<Relationships xmlns="http://schemas.openxmlformats.org/package/2006/relationships"><Relationship Type="http://schemas.openxmlformats.org/officeDocument/2006/relationships/slideLayout" Target="../slideLayouts/rip8_slideLayout6.xml" Id="Rd2fc519f5c7e4911"/><Relationship Type="http://schemas.openxmlformats.org/officeDocument/2006/relationships/notesSlide" Target="../notesSlides/rip8_notesSlide3.xml" Id="R898a5095b3cc488c"/></Relationships>
</file>

<file path=ppt/slides/_rels/rip8_slide4.xml.rels><?xml version='1.0' encoding='UTF-8' standalone='yes'?>
<Relationships xmlns="http://schemas.openxmlformats.org/package/2006/relationships"><Relationship Type="http://schemas.openxmlformats.org/officeDocument/2006/relationships/slideLayout" Target="../slideLayouts/rip8_slideLayout6.xml" Id="Rb192f6d6f4184044"/><Relationship Type="http://schemas.openxmlformats.org/officeDocument/2006/relationships/notesSlide" Target="../notesSlides/rip8_notesSlide4.xml" Id="R6248b0b0f8b44036"/></Relationships>
</file>

<file path=ppt/slides/_rels/slide1.xml.rels>&#65279;<?xml version="1.0" encoding="utf-8"?><Relationships xmlns="http://schemas.openxmlformats.org/package/2006/relationships"><Relationship Type="http://schemas.openxmlformats.org/officeDocument/2006/relationships/slideLayout" Target="/ppt/slideLayouts/slideLayout6.xml" Id="R08c42a49478649fc" /><Relationship Type="http://schemas.openxmlformats.org/officeDocument/2006/relationships/notesSlide" Target="/ppt/notesSlides/notesSlide1.xml" Id="Reacfef71f31b4a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55539fa6e946ba" /><Relationship Type="http://schemas.openxmlformats.org/officeDocument/2006/relationships/notesSlide" Target="/ppt/notesSlides/notesSlide2.xml" Id="Re23f809263134bd8"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59710bd67d684c18"/><Relationship Type="http://schemas.openxmlformats.org/officeDocument/2006/relationships/notesSlide" Target="../notesSlides/dp11_notesSlide18.xml" Id="rIdV71"/></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9738f2a8274e8b" /><Relationship Type="http://schemas.openxmlformats.org/officeDocument/2006/relationships/notesSlide" Target="/ppt/notesSlides/notesSlide4.xml" Id="Rfb9ebbddfd8d4c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c1dd0034a34fca" /><Relationship Type="http://schemas.openxmlformats.org/officeDocument/2006/relationships/notesSlide" Target="/ppt/notesSlides/notesSlide5.xml" Id="R4e44525ac64e4a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b2f5bc9392470e" /><Relationship Type="http://schemas.openxmlformats.org/officeDocument/2006/relationships/notesSlide" Target="/ppt/notesSlides/notesSlide6.xml" Id="R0c4f72b3904645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9f37758f164497" /><Relationship Type="http://schemas.openxmlformats.org/officeDocument/2006/relationships/notesSlide" Target="/ppt/notesSlides/notesSlide7.xml" Id="Rb71ba9212fe044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70e547a7e7423c" /><Relationship Type="http://schemas.openxmlformats.org/officeDocument/2006/relationships/notesSlide" Target="/ppt/notesSlides/notesSlide8.xml" Id="R34dfaafb46c24d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d4572b7ea34417" /><Relationship Type="http://schemas.openxmlformats.org/officeDocument/2006/relationships/notesSlide" Target="/ppt/notesSlides/notesSlide9.xml" Id="Rb9669260839b4c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e1ca58484d84908" /><Relationship Type="http://schemas.openxmlformats.org/officeDocument/2006/relationships/notesSlide" Target="/ppt/notesSlides/notesSlide10.xml" Id="R9c81e52262d44b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856c0d6dd4d4c33" /><Relationship Type="http://schemas.openxmlformats.org/officeDocument/2006/relationships/notesSlide" Target="/ppt/notesSlides/notesSlide11.xml" Id="Rcf2f3e774d754f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4dfcd515c24d73" /><Relationship Type="http://schemas.openxmlformats.org/officeDocument/2006/relationships/notesSlide" Target="/ppt/notesSlides/notesSlide12.xml" Id="R45ad69668adc4f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b71232c5f4f416a" /><Relationship Type="http://schemas.openxmlformats.org/officeDocument/2006/relationships/notesSlide" Target="/ppt/notesSlides/notesSlide13.xml" Id="R24be9b29736743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052ee1e4ff848fb" /><Relationship Type="http://schemas.openxmlformats.org/officeDocument/2006/relationships/notesSlide" Target="/ppt/notesSlides/notesSlide14.xml" Id="Red8a278fdf6a4a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06346a40beb4663" /><Relationship Type="http://schemas.openxmlformats.org/officeDocument/2006/relationships/notesSlide" Target="/ppt/notesSlides/notesSlide15.xml" Id="Rec25414a1e0848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3f64e2a6e404470" /><Relationship Type="http://schemas.openxmlformats.org/officeDocument/2006/relationships/notesSlide" Target="/ppt/notesSlides/notesSlide16.xml" Id="Re7b7888fbc444c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13a0384ad94645" /><Relationship Type="http://schemas.openxmlformats.org/officeDocument/2006/relationships/notesSlide" Target="/ppt/notesSlides/notesSlide17.xml" Id="Rf744e3adbde543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c7780a8ed8e4e93" /><Relationship Type="http://schemas.openxmlformats.org/officeDocument/2006/relationships/notesSlide" Target="/ppt/notesSlides/notesSlide18.xml" Id="R8dceb702ff4146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ebdf665fab44bd1" /><Relationship Type="http://schemas.openxmlformats.org/officeDocument/2006/relationships/notesSlide" Target="/ppt/notesSlides/notesSlide19.xml" Id="Rae4fedf38a7d4152" /></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cec66558acf04afd"/><Relationship Type="http://schemas.openxmlformats.org/officeDocument/2006/relationships/notesSlide" Target="/ppt/notesSlides/notesSlide20.xml" Id="R0a72f2ba06514342"/></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80d6c15c36840b7" /><Relationship Type="http://schemas.openxmlformats.org/officeDocument/2006/relationships/notesSlide" Target="/ppt/notesSlides/notesSlide21.xml" Id="Rf492dade00284c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4bbfd0c745b4614" /><Relationship Type="http://schemas.openxmlformats.org/officeDocument/2006/relationships/chart" Target="/ppt/slides/charts/chart1.xml" Id="R3bdabd6e51264a79" /><Relationship Type="http://schemas.openxmlformats.org/officeDocument/2006/relationships/notesSlide" Target="/ppt/notesSlides/notesSlide22.xml" Id="R112cb411c5fc4e44" /></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6adf192d59c24aa2"/><Relationship Type="http://schemas.openxmlformats.org/officeDocument/2006/relationships/notesSlide" Target="/ppt/notesSlides/notesSlide23.xml" Id="R56e5beba36cd4576"/></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86546767d304483" /><Relationship Type="http://schemas.openxmlformats.org/officeDocument/2006/relationships/notesSlide" Target="/ppt/notesSlides/notesSlide24.xml" Id="Rde0a4aa548ce43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4d8d0f8627949b7" /><Relationship Type="http://schemas.openxmlformats.org/officeDocument/2006/relationships/notesSlide" Target="/ppt/notesSlides/notesSlide25.xml" Id="R9a52cbfc392d4f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615ff341e104053" /><Relationship Type="http://schemas.openxmlformats.org/officeDocument/2006/relationships/notesSlide" Target="/ppt/notesSlides/notesSlide26.xml" Id="R43602ce08e364db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0ed1751fd724714" /><Relationship Type="http://schemas.openxmlformats.org/officeDocument/2006/relationships/notesSlide" Target="/ppt/notesSlides/notesSlide27.xml" Id="R9656f86d0092498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f3b427b41044fa6" /><Relationship Type="http://schemas.openxmlformats.org/officeDocument/2006/relationships/notesSlide" Target="/ppt/notesSlides/notesSlide28.xml" Id="Rbaa2729ff83c426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44f20434c484003" /><Relationship Type="http://schemas.openxmlformats.org/officeDocument/2006/relationships/notesSlide" Target="/ppt/notesSlides/notesSlide29.xml" Id="R4a2ca42dd021443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09a50fd443c432b" /><Relationship Type="http://schemas.openxmlformats.org/officeDocument/2006/relationships/notesSlide" Target="/ppt/notesSlides/notesSlide30.xml" Id="R45f6c9ef5e714c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d7d9f695a3b46c4" /><Relationship Type="http://schemas.openxmlformats.org/officeDocument/2006/relationships/notesSlide" Target="/ppt/notesSlides/notesSlide31.xml" Id="R74fa1ade38194c2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d06d6a021b149ed" /><Relationship Type="http://schemas.openxmlformats.org/officeDocument/2006/relationships/notesSlide" Target="/ppt/notesSlides/notesSlide32.xml" Id="Rb689b467375a444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cb11032faa440e9" /><Relationship Type="http://schemas.openxmlformats.org/officeDocument/2006/relationships/notesSlide" Target="/ppt/notesSlides/notesSlide33.xml" Id="Rdd6436bf82254e4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36e284400b54e01" /><Relationship Type="http://schemas.openxmlformats.org/officeDocument/2006/relationships/notesSlide" Target="/ppt/notesSlides/notesSlide34.xml" Id="R836608e0cc5a4fd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6f44a3af2cf4755" /><Relationship Type="http://schemas.openxmlformats.org/officeDocument/2006/relationships/notesSlide" Target="/ppt/notesSlides/notesSlide35.xml" Id="R174d49a82b71442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e5012421eab4abb" /><Relationship Type="http://schemas.openxmlformats.org/officeDocument/2006/relationships/notesSlide" Target="/ppt/notesSlides/notesSlide36.xml" Id="R5cf984124b7648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29935bb4eb04ae8" /><Relationship Type="http://schemas.openxmlformats.org/officeDocument/2006/relationships/notesSlide" Target="/ppt/notesSlides/notesSlide37.xml" Id="R2d5e38ea21624d97" /></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e78b32218a264050"/><Relationship Type="http://schemas.openxmlformats.org/officeDocument/2006/relationships/notesSlide" Target="../notesSlides/dp11_notesSlide8.xml" Id="rIdV71"/></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ad0fd0546144bc9" /><Relationship Type="http://schemas.openxmlformats.org/officeDocument/2006/relationships/notesSlide" Target="/ppt/notesSlides/notesSlide39.xml" Id="Racffe9c8a9d7404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ebf1b1256054970" /><Relationship Type="http://schemas.openxmlformats.org/officeDocument/2006/relationships/notesSlide" Target="/ppt/notesSlides/notesSlide40.xml" Id="R5f8bb2310c7e47e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f0f9515b7f3404a" /><Relationship Type="http://schemas.openxmlformats.org/officeDocument/2006/relationships/notesSlide" Target="/ppt/notesSlides/notesSlide41.xml" Id="R4cbdd24b78c2465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4c515fca74c4a01" /><Relationship Type="http://schemas.openxmlformats.org/officeDocument/2006/relationships/notesSlide" Target="/ppt/notesSlides/notesSlide42.xml" Id="R09db9117ec3a44f1" /></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243cf93635914baa"/><Relationship Type="http://schemas.openxmlformats.org/officeDocument/2006/relationships/notesSlide" Target="../notesSlides/dp11_notesSlide9.xml" Id="rIdV71"/></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144bddcc7ab4221" /><Relationship Type="http://schemas.openxmlformats.org/officeDocument/2006/relationships/notesSlide" Target="/ppt/notesSlides/notesSlide44.xml" Id="R2cd28abd615a4d3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cc800bb6e244183" /><Relationship Type="http://schemas.openxmlformats.org/officeDocument/2006/relationships/notesSlide" Target="/ppt/notesSlides/notesSlide45.xml" Id="R6a70cd0c87c349c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757fdd72ce640cf" /><Relationship Type="http://schemas.openxmlformats.org/officeDocument/2006/relationships/notesSlide" Target="/ppt/notesSlides/notesSlide46.xml" Id="Rc973f4adbee5475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a5e318abfb044ac" /><Relationship Type="http://schemas.openxmlformats.org/officeDocument/2006/relationships/notesSlide" Target="/ppt/notesSlides/notesSlide47.xml" Id="R8d4403cc773e4d2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2d2931299604759" /><Relationship Type="http://schemas.openxmlformats.org/officeDocument/2006/relationships/notesSlide" Target="/ppt/notesSlides/notesSlide48.xml" Id="R108804876937426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e298b1f2f174328" /><Relationship Type="http://schemas.openxmlformats.org/officeDocument/2006/relationships/notesSlide" Target="/ppt/notesSlides/notesSlide49.xml" Id="Rfc424c205a6840c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3b5e7b5296b42c1" /><Relationship Type="http://schemas.openxmlformats.org/officeDocument/2006/relationships/notesSlide" Target="/ppt/notesSlides/notesSlide50.xml" Id="Rcd7c08b51cc34e6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daec9a90acc4d5b" /><Relationship Type="http://schemas.openxmlformats.org/officeDocument/2006/relationships/notesSlide" Target="/ppt/notesSlides/notesSlide51.xml" Id="R363e1b0fff50469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6b85b3c5fcbf4542" /><Relationship Type="http://schemas.openxmlformats.org/officeDocument/2006/relationships/notesSlide" Target="/ppt/notesSlides/notesSlide52.xml" Id="Rbb1380ebca904d9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bf5b76d9a7d34527" /><Relationship Type="http://schemas.openxmlformats.org/officeDocument/2006/relationships/notesSlide" Target="/ppt/notesSlides/notesSlide53.xml" Id="R18319629027842e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85b6287bd744a7e" /><Relationship Type="http://schemas.openxmlformats.org/officeDocument/2006/relationships/notesSlide" Target="/ppt/notesSlides/notesSlide54.xml" Id="Rf43db41d9bbe4b74" /></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6.xml" Id="Rd8de7a0e1d5a4046"/><Relationship Type="http://schemas.openxmlformats.org/officeDocument/2006/relationships/notesSlide" Target="../notesSlides/dp11_notesSlide16.xml" Id="rIdV71"/></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7.xml" Id="rIdV71"/></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xml" Id="rIdV71"/></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2.xml" Id="rIdV71"/></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3.xml" Id="rIdV71"/></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0.xml" Id="rIdV71"/></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5.xml" Id="rIdV71"/></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6.xml" Id="rIdV71"/></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7.xml" Id="rIdV71"/></Relationships>
</file>

<file path=ppt/slides/_rels/slide64.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8.xml" Id="rIdV71"/></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9.xml" Id="rIdV71"/></Relationships>
</file>

<file path=ppt/slides/_rels/slide66.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1.xml" Id="rIdV71"/></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1.xml" Id="rIdV71"/></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2.xml" Id="rIdV71"/></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3.xml" Id="rIdV71"/></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4.xml" Id="rIdV71"/></Relationships>
</file>

<file path=ppt/slides/_rels/slide71.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5.xml" Id="rIdV71"/></Relationships>
</file>

<file path=ppt/slides/_rels/slide72.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6.xml" Id="rIdV71"/></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7.xml" Id="rIdV71"/></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8.xml" Id="rIdV71"/></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7_notesSlide19.xml" Id="rIdV71"/></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5.xml" Id="rIdV71"/></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6_notesSlide1.xml" Id="rIdV71"/></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6_notesSlide2.xml" Id="rIdV71"/></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6_notesSlide5.xml" Id="rIdV71"/></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6_notesSlide6.xml" Id="rIdV71"/></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6_notesSlide7.xml" Id="rIdV71"/></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6_notesSlide8.xml" Id="rIdV71"/></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image" Target="../media/v8_image.png" Id="rIdV71"/><Relationship Type="http://schemas.openxmlformats.org/officeDocument/2006/relationships/notesSlide" Target="../notesSlides/v8_notesSlide1.xml" Id="rIdV72"/></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image" Target="../media/v8_image2.png" Id="rIdV71"/><Relationship Type="http://schemas.openxmlformats.org/officeDocument/2006/relationships/notesSlide" Target="../notesSlides/v8_notesSlide2.xml" Id="rIdV72"/></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image" Target="../media/v8_image3.png" Id="rIdV71"/><Relationship Type="http://schemas.openxmlformats.org/officeDocument/2006/relationships/notesSlide" Target="../notesSlides/v8_notesSlide3.xml" Id="rIdV72"/></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image" Target="../media/v8_image4.png" Id="rIdV71"/><Relationship Type="http://schemas.openxmlformats.org/officeDocument/2006/relationships/notesSlide" Target="../notesSlides/v8_notesSlide4.xml" Id="rIdV72"/></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8_notesSlide5.xml" Id="rIdV71"/></Relationships>
</file>

<file path=ppt/slides/_rels/slide88.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image" Target="../media/v8_image5.png" Id="rIdV71"/><Relationship Type="http://schemas.openxmlformats.org/officeDocument/2006/relationships/notesSlide" Target="../notesSlides/v8_notesSlide6.xml" Id="rIdV72"/></Relationships>
</file>

<file path=ppt/slides/_rels/slide89.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v8_notesSlide7.xml" Id="rIdV71"/></Relationships>
</file>

<file path=ppt/slides/_rels/slide90.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rip8_notesSlide1.xml" Id="rIdV71"/></Relationships>
</file>

<file path=ppt/slides/_rels/slide91.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rip8_notesSlide2.xml" Id="rIdV71"/></Relationships>
</file>

<file path=ppt/slides/_rels/slide92.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rip8_notesSlide3.xml" Id="rIdV71"/></Relationships>
</file>

<file path=ppt/slides/_rels/slide93.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rip8_notesSlide4.xml" Id="rIdV71"/></Relationships>
</file>

<file path=ppt/slides/_rels/slide94.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xml" Id="rIdV71"/></Relationships>
</file>

<file path=ppt/slides/_rels/slide95.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2.xml" Id="rIdV71"/></Relationships>
</file>

<file path=ppt/slides/_rels/slide96.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3.xml" Id="rIdV71"/></Relationships>
</file>

<file path=ppt/slides/_rels/slide97.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4.xml" Id="rIdV71"/></Relationships>
</file>

<file path=ppt/slides/_rels/slide98.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image" Target="../media/dp11_image.png" Id="rIdV71"/><Relationship Type="http://schemas.openxmlformats.org/officeDocument/2006/relationships/notesSlide" Target="../notesSlides/dp11_notesSlide5.xml" Id="rIdV72"/></Relationships>
</file>

<file path=ppt/slides/_rels/slide99.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6.xml" Id="rIdV71"/></Relationships>
</file>

<file path=ppt/slides/_rels/slide100.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7.xml" Id="rIdV71"/></Relationships>
</file>

<file path=ppt/slides/_rels/slide101.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2.xml" Id="rIdV71"/></Relationships>
</file>

<file path=ppt/slides/_rels/slide102.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3.xml" Id="rIdV71"/></Relationships>
</file>

<file path=ppt/slides/_rels/slide103.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4.xml" Id="rIdV71"/></Relationships>
</file>

<file path=ppt/slides/_rels/slide104.xml.rels><?xml version='1.0' encoding='UTF-8' standalone='yes'?>
<Relationships xmlns="http://schemas.openxmlformats.org/package/2006/relationships"><Relationship Type="http://schemas.openxmlformats.org/officeDocument/2006/relationships/slideLayout" Target="/ppt/slideLayouts/slideLayout6.xml" Id="Reab7b0ca39974ec3"/><Relationship Type="http://schemas.openxmlformats.org/officeDocument/2006/relationships/notesSlide" Target="../notesSlides/dp11_notesSlide19.xml" Id="rIdV71"/></Relationships>
</file>

<file path=ppt/slides/_rels/v6_slide1.xml.rels><?xml version='1.0' encoding='UTF-8' standalone='yes'?>
<Relationships xmlns="http://schemas.openxmlformats.org/package/2006/relationships"><Relationship Type="http://schemas.openxmlformats.org/officeDocument/2006/relationships/slideLayout" Target="../slideLayouts/v6_slideLayout6.xml" Id="Rc2fc1f6482cd426c"/><Relationship Type="http://schemas.openxmlformats.org/officeDocument/2006/relationships/notesSlide" Target="../notesSlides/v6_notesSlide1.xml" Id="R01df81015b754a85"/></Relationships>
</file>

<file path=ppt/slides/_rels/v6_slide2.xml.rels><?xml version='1.0' encoding='UTF-8' standalone='yes'?>
<Relationships xmlns="http://schemas.openxmlformats.org/package/2006/relationships"><Relationship Type="http://schemas.openxmlformats.org/officeDocument/2006/relationships/slideLayout" Target="../slideLayouts/v6_slideLayout6.xml" Id="R7a995d32f1d64291"/><Relationship Type="http://schemas.openxmlformats.org/officeDocument/2006/relationships/notesSlide" Target="../notesSlides/v6_notesSlide2.xml" Id="R4c92df4a99e44a3c"/></Relationships>
</file>

<file path=ppt/slides/_rels/v6_slide5.xml.rels><?xml version='1.0' encoding='UTF-8' standalone='yes'?>
<Relationships xmlns="http://schemas.openxmlformats.org/package/2006/relationships"><Relationship Type="http://schemas.openxmlformats.org/officeDocument/2006/relationships/slideLayout" Target="../slideLayouts/v6_slideLayout6.xml" Id="R1f187bc027c3402e"/><Relationship Type="http://schemas.openxmlformats.org/officeDocument/2006/relationships/notesSlide" Target="../notesSlides/v6_notesSlide5.xml" Id="Rc23fdb35168e4273"/></Relationships>
</file>

<file path=ppt/slides/_rels/v6_slide6.xml.rels><?xml version='1.0' encoding='UTF-8' standalone='yes'?>
<Relationships xmlns="http://schemas.openxmlformats.org/package/2006/relationships"><Relationship Type="http://schemas.openxmlformats.org/officeDocument/2006/relationships/slideLayout" Target="../slideLayouts/v6_slideLayout6.xml" Id="R5214f528a4e64ef2"/><Relationship Type="http://schemas.openxmlformats.org/officeDocument/2006/relationships/notesSlide" Target="../notesSlides/v6_notesSlide6.xml" Id="R9f20f3e52ef140c4"/></Relationships>
</file>

<file path=ppt/slides/_rels/v6_slide7.xml.rels><?xml version='1.0' encoding='UTF-8' standalone='yes'?>
<Relationships xmlns="http://schemas.openxmlformats.org/package/2006/relationships"><Relationship Type="http://schemas.openxmlformats.org/officeDocument/2006/relationships/slideLayout" Target="../slideLayouts/v6_slideLayout6.xml" Id="R726f16fa2b8d4901"/><Relationship Type="http://schemas.openxmlformats.org/officeDocument/2006/relationships/notesSlide" Target="../notesSlides/v6_notesSlide7.xml" Id="R924d52cd0d114bc2"/></Relationships>
</file>

<file path=ppt/slides/_rels/v6_slide8.xml.rels><?xml version='1.0' encoding='UTF-8' standalone='yes'?>
<Relationships xmlns="http://schemas.openxmlformats.org/package/2006/relationships"><Relationship Type="http://schemas.openxmlformats.org/officeDocument/2006/relationships/slideLayout" Target="../slideLayouts/v6_slideLayout6.xml" Id="Redc4a6d20a2844bb"/><Relationship Type="http://schemas.openxmlformats.org/officeDocument/2006/relationships/notesSlide" Target="../notesSlides/v6_notesSlide8.xml" Id="R902e0b81050445ef"/></Relationships>
</file>

<file path=ppt/slides/_rels/v7_slide1.xml.rels><?xml version='1.0' encoding='UTF-8' standalone='yes'?>
<Relationships xmlns="http://schemas.openxmlformats.org/package/2006/relationships"><Relationship Type="http://schemas.openxmlformats.org/officeDocument/2006/relationships/slideLayout" Target="../slideLayouts/v7_slideLayout6.xml" Id="R2b22dba023cf4294"/><Relationship Type="http://schemas.openxmlformats.org/officeDocument/2006/relationships/notesSlide" Target="../notesSlides/v7_notesSlide1.xml" Id="R0400ce1abf9e4cc0"/></Relationships>
</file>

<file path=ppt/slides/_rels/v7_slide2.xml.rels><?xml version='1.0' encoding='UTF-8' standalone='yes'?>
<Relationships xmlns="http://schemas.openxmlformats.org/package/2006/relationships"><Relationship Type="http://schemas.openxmlformats.org/officeDocument/2006/relationships/slideLayout" Target="../slideLayouts/v7_slideLayout6.xml" Id="Rdf0126c3929a4822"/><Relationship Type="http://schemas.openxmlformats.org/officeDocument/2006/relationships/notesSlide" Target="../notesSlides/v7_notesSlide2.xml" Id="R31234132167942eb"/></Relationships>
</file>

<file path=ppt/slides/_rels/v7_slide3.xml.rels><?xml version='1.0' encoding='UTF-8' standalone='yes'?>
<Relationships xmlns="http://schemas.openxmlformats.org/package/2006/relationships"><Relationship Type="http://schemas.openxmlformats.org/officeDocument/2006/relationships/slideLayout" Target="../slideLayouts/v7_slideLayout6.xml" Id="R14b3ecba2c8f430e"/><Relationship Type="http://schemas.openxmlformats.org/officeDocument/2006/relationships/notesSlide" Target="../notesSlides/v7_notesSlide3.xml" Id="R3702ca98e0854f04"/></Relationships>
</file>

<file path=ppt/slides/_rels/v7_slide4.xml.rels><?xml version='1.0' encoding='UTF-8' standalone='yes'?>
<Relationships xmlns="http://schemas.openxmlformats.org/package/2006/relationships"><Relationship Type="http://schemas.openxmlformats.org/officeDocument/2006/relationships/slideLayout" Target="../slideLayouts/v7_slideLayout6.xml" Id="Rcead0f4c8b554e14"/><Relationship Type="http://schemas.openxmlformats.org/officeDocument/2006/relationships/notesSlide" Target="../notesSlides/v7_notesSlide4.xml" Id="R1a9a39f264614807"/></Relationships>
</file>

<file path=ppt/slides/_rels/v7_slide5.xml.rels><?xml version='1.0' encoding='UTF-8' standalone='yes'?>
<Relationships xmlns="http://schemas.openxmlformats.org/package/2006/relationships"><Relationship Type="http://schemas.openxmlformats.org/officeDocument/2006/relationships/slideLayout" Target="../slideLayouts/v7_slideLayout6.xml" Id="R9422601877e3433b"/><Relationship Type="http://schemas.openxmlformats.org/officeDocument/2006/relationships/notesSlide" Target="../notesSlides/v7_notesSlide5.xml" Id="Rd16e313f711f462c"/></Relationships>
</file>

<file path=ppt/slides/_rels/v7_slide6.xml.rels><?xml version='1.0' encoding='UTF-8' standalone='yes'?>
<Relationships xmlns="http://schemas.openxmlformats.org/package/2006/relationships"><Relationship Type="http://schemas.openxmlformats.org/officeDocument/2006/relationships/slideLayout" Target="../slideLayouts/v7_slideLayout6.xml" Id="R0c6998be3f0d4fc0"/><Relationship Type="http://schemas.openxmlformats.org/officeDocument/2006/relationships/notesSlide" Target="../notesSlides/v7_notesSlide6.xml" Id="Rf1cbd24be7f14de1"/></Relationships>
</file>

<file path=ppt/slides/_rels/v7_slide7.xml.rels><?xml version='1.0' encoding='UTF-8' standalone='yes'?>
<Relationships xmlns="http://schemas.openxmlformats.org/package/2006/relationships"><Relationship Type="http://schemas.openxmlformats.org/officeDocument/2006/relationships/slideLayout" Target="../slideLayouts/v7_slideLayout6.xml" Id="R838d1bd18cd24986"/><Relationship Type="http://schemas.openxmlformats.org/officeDocument/2006/relationships/notesSlide" Target="../notesSlides/v7_notesSlide7.xml" Id="Rdc7ea4902eb34e57"/></Relationships>
</file>

<file path=ppt/slides/_rels/v7_slide8.xml.rels><?xml version='1.0' encoding='UTF-8' standalone='yes'?>
<Relationships xmlns="http://schemas.openxmlformats.org/package/2006/relationships"><Relationship Type="http://schemas.openxmlformats.org/officeDocument/2006/relationships/slideLayout" Target="../slideLayouts/v7_slideLayout6.xml" Id="R623b7ce8a08842c1"/><Relationship Type="http://schemas.openxmlformats.org/officeDocument/2006/relationships/notesSlide" Target="../notesSlides/v7_notesSlide8.xml" Id="R7e690e06902e4805"/></Relationships>
</file>

<file path=ppt/slides/_rels/v7_slide9.xml.rels><?xml version='1.0' encoding='UTF-8' standalone='yes'?>
<Relationships xmlns="http://schemas.openxmlformats.org/package/2006/relationships"><Relationship Type="http://schemas.openxmlformats.org/officeDocument/2006/relationships/slideLayout" Target="../slideLayouts/v7_slideLayout6.xml" Id="Rae229762bcd64626"/><Relationship Type="http://schemas.openxmlformats.org/officeDocument/2006/relationships/notesSlide" Target="../notesSlides/v7_notesSlide9.xml" Id="R42ff32cec0bd4292"/></Relationships>
</file>

<file path=ppt/slides/_rels/v7_slide10.xml.rels><?xml version='1.0' encoding='UTF-8' standalone='yes'?>
<Relationships xmlns="http://schemas.openxmlformats.org/package/2006/relationships"><Relationship Type="http://schemas.openxmlformats.org/officeDocument/2006/relationships/slideLayout" Target="../slideLayouts/v7_slideLayout6.xml" Id="R2d1ab969c99540df"/><Relationship Type="http://schemas.openxmlformats.org/officeDocument/2006/relationships/notesSlide" Target="../notesSlides/v7_notesSlide10.xml" Id="R7a6507e035d34e5c"/></Relationships>
</file>

<file path=ppt/slides/_rels/v7_slide11.xml.rels><?xml version='1.0' encoding='UTF-8' standalone='yes'?>
<Relationships xmlns="http://schemas.openxmlformats.org/package/2006/relationships"><Relationship Type="http://schemas.openxmlformats.org/officeDocument/2006/relationships/slideLayout" Target="../slideLayouts/v7_slideLayout6.xml" Id="Ra1e9b839eeb942f7"/><Relationship Type="http://schemas.openxmlformats.org/officeDocument/2006/relationships/notesSlide" Target="../notesSlides/v7_notesSlide11.xml" Id="R1c2014e84e4d4cd4"/></Relationships>
</file>

<file path=ppt/slides/_rels/v7_slide12.xml.rels><?xml version='1.0' encoding='UTF-8' standalone='yes'?>
<Relationships xmlns="http://schemas.openxmlformats.org/package/2006/relationships"><Relationship Type="http://schemas.openxmlformats.org/officeDocument/2006/relationships/slideLayout" Target="../slideLayouts/v7_slideLayout6.xml" Id="Ra9505a7add604cdf"/><Relationship Type="http://schemas.openxmlformats.org/officeDocument/2006/relationships/notesSlide" Target="../notesSlides/v7_notesSlide12.xml" Id="R75082fd55e0f4f33"/></Relationships>
</file>

<file path=ppt/slides/_rels/v7_slide13.xml.rels><?xml version='1.0' encoding='UTF-8' standalone='yes'?>
<Relationships xmlns="http://schemas.openxmlformats.org/package/2006/relationships"><Relationship Type="http://schemas.openxmlformats.org/officeDocument/2006/relationships/slideLayout" Target="../slideLayouts/v7_slideLayout6.xml" Id="R3c66bd4754dd4956"/><Relationship Type="http://schemas.openxmlformats.org/officeDocument/2006/relationships/notesSlide" Target="../notesSlides/v7_notesSlide13.xml" Id="R357b301b84e44649"/></Relationships>
</file>

<file path=ppt/slides/_rels/v7_slide14.xml.rels><?xml version='1.0' encoding='UTF-8' standalone='yes'?>
<Relationships xmlns="http://schemas.openxmlformats.org/package/2006/relationships"><Relationship Type="http://schemas.openxmlformats.org/officeDocument/2006/relationships/slideLayout" Target="../slideLayouts/v7_slideLayout6.xml" Id="R8631802604d24840"/><Relationship Type="http://schemas.openxmlformats.org/officeDocument/2006/relationships/notesSlide" Target="../notesSlides/v7_notesSlide14.xml" Id="R43141d5832dc4d84"/></Relationships>
</file>

<file path=ppt/slides/_rels/v7_slide15.xml.rels><?xml version='1.0' encoding='UTF-8' standalone='yes'?>
<Relationships xmlns="http://schemas.openxmlformats.org/package/2006/relationships"><Relationship Type="http://schemas.openxmlformats.org/officeDocument/2006/relationships/slideLayout" Target="../slideLayouts/v7_slideLayout6.xml" Id="R74423858952a42ad"/><Relationship Type="http://schemas.openxmlformats.org/officeDocument/2006/relationships/notesSlide" Target="../notesSlides/v7_notesSlide15.xml" Id="Rf6b6dbc860764fd9"/></Relationships>
</file>

<file path=ppt/slides/_rels/v7_slide16.xml.rels><?xml version='1.0' encoding='UTF-8' standalone='yes'?>
<Relationships xmlns="http://schemas.openxmlformats.org/package/2006/relationships"><Relationship Type="http://schemas.openxmlformats.org/officeDocument/2006/relationships/slideLayout" Target="../slideLayouts/v7_slideLayout6.xml" Id="Re3316fe3da5c4a42"/><Relationship Type="http://schemas.openxmlformats.org/officeDocument/2006/relationships/notesSlide" Target="../notesSlides/v7_notesSlide16.xml" Id="R0a2da69de6ee4f36"/></Relationships>
</file>

<file path=ppt/slides/_rels/v7_slide17.xml.rels><?xml version='1.0' encoding='UTF-8' standalone='yes'?>
<Relationships xmlns="http://schemas.openxmlformats.org/package/2006/relationships"><Relationship Type="http://schemas.openxmlformats.org/officeDocument/2006/relationships/slideLayout" Target="../slideLayouts/v7_slideLayout6.xml" Id="R1334da714ea24026"/><Relationship Type="http://schemas.openxmlformats.org/officeDocument/2006/relationships/notesSlide" Target="../notesSlides/v7_notesSlide17.xml" Id="Rb270c92f17e244de"/></Relationships>
</file>

<file path=ppt/slides/_rels/v7_slide18.xml.rels><?xml version='1.0' encoding='UTF-8' standalone='yes'?>
<Relationships xmlns="http://schemas.openxmlformats.org/package/2006/relationships"><Relationship Type="http://schemas.openxmlformats.org/officeDocument/2006/relationships/slideLayout" Target="../slideLayouts/v7_slideLayout6.xml" Id="R72f82043c16a4eca"/><Relationship Type="http://schemas.openxmlformats.org/officeDocument/2006/relationships/notesSlide" Target="../notesSlides/v7_notesSlide18.xml" Id="Ra5b32bf05f1a48fc"/></Relationships>
</file>

<file path=ppt/slides/_rels/v7_slide19.xml.rels><?xml version='1.0' encoding='UTF-8' standalone='yes'?>
<Relationships xmlns="http://schemas.openxmlformats.org/package/2006/relationships"><Relationship Type="http://schemas.openxmlformats.org/officeDocument/2006/relationships/slideLayout" Target="../slideLayouts/v7_slideLayout6.xml" Id="R5591c05673bf4c96"/><Relationship Type="http://schemas.openxmlformats.org/officeDocument/2006/relationships/notesSlide" Target="../notesSlides/v7_notesSlide19.xml" Id="R15ec33f65a3f4b2e"/></Relationships>
</file>

<file path=ppt/slides/_rels/v7_slide20.xml.rels><?xml version='1.0' encoding='UTF-8' standalone='yes'?>
<Relationships xmlns="http://schemas.openxmlformats.org/package/2006/relationships"><Relationship Type="http://schemas.openxmlformats.org/officeDocument/2006/relationships/slideLayout" Target="../slideLayouts/v7_slideLayout6.xml" Id="Rc41e7db4cbaf4f57"/><Relationship Type="http://schemas.openxmlformats.org/officeDocument/2006/relationships/notesSlide" Target="../notesSlides/v7_notesSlide20.xml" Id="R5f8814bc016f43b8"/></Relationships>
</file>

<file path=ppt/slides/_rels/v8_slide1.xml.rels><?xml version='1.0' encoding='UTF-8' standalone='yes'?>
<Relationships xmlns="http://schemas.openxmlformats.org/package/2006/relationships"><Relationship Type="http://schemas.openxmlformats.org/officeDocument/2006/relationships/slideLayout" Target="../slideLayouts/v8_slideLayout6.xml" Id="R70b024ec582c440d"/><Relationship Type="http://schemas.openxmlformats.org/officeDocument/2006/relationships/image" Target="../media/v8_image.png" Id="R57f3f22801dd4c6f"/><Relationship Type="http://schemas.openxmlformats.org/officeDocument/2006/relationships/notesSlide" Target="../notesSlides/v8_notesSlide1.xml" Id="Rb18ef83a501544ef"/></Relationships>
</file>

<file path=ppt/slides/_rels/v8_slide2.xml.rels><?xml version='1.0' encoding='UTF-8' standalone='yes'?>
<Relationships xmlns="http://schemas.openxmlformats.org/package/2006/relationships"><Relationship Type="http://schemas.openxmlformats.org/officeDocument/2006/relationships/slideLayout" Target="../slideLayouts/v8_slideLayout6.xml" Id="R9d3a713fe3a34951"/><Relationship Type="http://schemas.openxmlformats.org/officeDocument/2006/relationships/image" Target="../media/v8_image2.png" Id="R85f7c64ea12f4a0e"/><Relationship Type="http://schemas.openxmlformats.org/officeDocument/2006/relationships/notesSlide" Target="../notesSlides/v8_notesSlide2.xml" Id="R2cb43a2cfed746f2"/></Relationships>
</file>

<file path=ppt/slides/_rels/v8_slide3.xml.rels><?xml version='1.0' encoding='UTF-8' standalone='yes'?>
<Relationships xmlns="http://schemas.openxmlformats.org/package/2006/relationships"><Relationship Type="http://schemas.openxmlformats.org/officeDocument/2006/relationships/slideLayout" Target="../slideLayouts/v8_slideLayout6.xml" Id="R1057c3c997e24cb6"/><Relationship Type="http://schemas.openxmlformats.org/officeDocument/2006/relationships/image" Target="../media/v8_image3.png" Id="R8d3b436191fe44e7"/><Relationship Type="http://schemas.openxmlformats.org/officeDocument/2006/relationships/notesSlide" Target="../notesSlides/v8_notesSlide3.xml" Id="Racc06d99ad3049ed"/></Relationships>
</file>

<file path=ppt/slides/_rels/v8_slide4.xml.rels><?xml version='1.0' encoding='UTF-8' standalone='yes'?>
<Relationships xmlns="http://schemas.openxmlformats.org/package/2006/relationships"><Relationship Type="http://schemas.openxmlformats.org/officeDocument/2006/relationships/slideLayout" Target="../slideLayouts/v8_slideLayout6.xml" Id="Rfa56d6f58b584589"/><Relationship Type="http://schemas.openxmlformats.org/officeDocument/2006/relationships/image" Target="../media/v8_image4.png" Id="Refe7037f61044ae6"/><Relationship Type="http://schemas.openxmlformats.org/officeDocument/2006/relationships/notesSlide" Target="../notesSlides/v8_notesSlide4.xml" Id="R60327e50a6334f6b"/></Relationships>
</file>

<file path=ppt/slides/_rels/v8_slide5.xml.rels><?xml version='1.0' encoding='UTF-8' standalone='yes'?>
<Relationships xmlns="http://schemas.openxmlformats.org/package/2006/relationships"><Relationship Type="http://schemas.openxmlformats.org/officeDocument/2006/relationships/slideLayout" Target="../slideLayouts/v8_slideLayout6.xml" Id="R7cc1c44350684c94"/><Relationship Type="http://schemas.openxmlformats.org/officeDocument/2006/relationships/notesSlide" Target="../notesSlides/v8_notesSlide5.xml" Id="Rca85ad6356be496e"/></Relationships>
</file>

<file path=ppt/slides/_rels/v8_slide6.xml.rels><?xml version='1.0' encoding='UTF-8' standalone='yes'?>
<Relationships xmlns="http://schemas.openxmlformats.org/package/2006/relationships"><Relationship Type="http://schemas.openxmlformats.org/officeDocument/2006/relationships/slideLayout" Target="../slideLayouts/v8_slideLayout6.xml" Id="R327a96fc065140ac"/><Relationship Type="http://schemas.openxmlformats.org/officeDocument/2006/relationships/image" Target="../media/v8_image5.png" Id="Rebd1736d018c4e23"/><Relationship Type="http://schemas.openxmlformats.org/officeDocument/2006/relationships/notesSlide" Target="../notesSlides/v8_notesSlide6.xml" Id="Rfa433847f28446ef"/></Relationships>
</file>

<file path=ppt/slides/_rels/v8_slide7.xml.rels><?xml version='1.0' encoding='UTF-8' standalone='yes'?>
<Relationships xmlns="http://schemas.openxmlformats.org/package/2006/relationships"><Relationship Type="http://schemas.openxmlformats.org/officeDocument/2006/relationships/slideLayout" Target="../slideLayouts/v8_slideLayout6.xml" Id="Rc37dd12f76a1457f"/><Relationship Type="http://schemas.openxmlformats.org/officeDocument/2006/relationships/notesSlide" Target="../notesSlides/v8_notesSlide7.xml" Id="Rd69a6c887d654de5"/></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Користь, бали</c:v>
          </c:tx>
          <c:spPr>
            <a:solidFill xmlns:a="http://schemas.openxmlformats.org/drawingml/2006/main">
              <a:srgbClr val="00857D"/>
            </a:solidFill>
          </c:spPr>
          <c:cat>
            <c:strRef>
              <c:f>'Chart Data'!$A$2:$A$3</c:f>
              <c:strCache>
                <c:ptCount val="2"/>
                <c:pt idx="0">
                  <c:v>Жадібний</c:v>
                </c:pt>
                <c:pt idx="1">
                  <c:v>Оптимальний</c:v>
                </c:pt>
              </c:strCache>
            </c:strRef>
          </c:cat>
          <c:val>
            <c:numRef>
              <c:f>'Chart Data'!$B$2:$B$3</c:f>
              <c:numCache>
                <c:formatCode>General</c:formatCode>
                <c:ptCount val="2"/>
                <c:pt idx="0">
                  <c:v>24</c:v>
                </c:pt>
                <c:pt idx="1">
                  <c:v>33</c:v>
                </c:pt>
              </c:numCache>
            </c:numRef>
          </c:val>
        </c:ser>
        <c:dLbls>
          <c:txPr>
            <a:bodyPr xmlns:a="http://schemas.openxmlformats.org/drawingml/2006/main" anchorCtr="1"/>
            <a:lstStyle xmlns:a="http://schemas.openxmlformats.org/drawingml/2006/main"/>
            <a:p xmlns:a="http://schemas.openxmlformats.org/drawingml/2006/main">
              <a:pPr>
                <a:defRPr sz="2400" b="1">
                  <a:solidFill>
                    <a:srgbClr val="173047"/>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dp11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AFF3A4-317C-44AF-9646-972731D9653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Як побудувати динамічне програмування</a:t>
            </a:r>
          </a:p>
        </p:txBody>
      </p:sp>
      <p:sp>
        <p:nvSpPr>
          <p:cNvPr id="2" name="">
            <a:extLst xmlns:a="http://schemas.openxmlformats.org/drawingml/2006/main">
              <a:ext uri="{FF2B5EF4-FFF2-40B4-BE49-F238E27FC236}">
                <a16:creationId xmlns:a16="http://schemas.microsoft.com/office/drawing/2014/main" id="{B4D33E71-43B8-4066-87A2-77956593910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Спочатку визначаємо зміст підзадачі. Потім записуємо формулу й код.</a:t>
            </a:r>
          </a:p>
        </p:txBody>
      </p:sp>
      <p:graphicFrame>
        <p:nvGraphicFramePr>
          <p:cNvPr id="3" name="">
            <a:extLst xmlns:a="http://schemas.openxmlformats.org/drawingml/2006/main">
              <a:ext uri="{FF2B5EF4-FFF2-40B4-BE49-F238E27FC236}">
                <a16:creationId xmlns:a16="http://schemas.microsoft.com/office/drawing/2014/main" id="{FC68CAE9-43E1-482E-B50D-94408DF73EF7}"/>
              </a:ext>
            </a:extLst>
          </p:cNvPr>
          <p:cNvGraphicFramePr/>
          <p:nvPr/>
        </p:nvGraphicFramePr>
        <p:xfrm>
          <a:off xmlns:a="http://schemas.openxmlformats.org/drawingml/2006/main" x="685800" y="1524000"/>
          <a:ext xmlns:a="http://schemas.openxmlformats.org/drawingml/2006/main" cx="10820400" cy="4095750"/>
        </p:xfrm>
        <a:graphic xmlns:a="http://schemas.openxmlformats.org/drawingml/2006/main">
          <a:graphicData uri="http://schemas.openxmlformats.org/drawingml/2006/table">
            <a:tbl>
              <a:tblPr/>
              <a:tblGrid>
                <a:gridCol w="3143250"/>
                <a:gridCol w="7677150"/>
              </a:tblGrid>
              <a:tr h="585107">
                <a:tc>
                  <a:txBody>
                    <a:bodyPr/>
                    <a:lstStyle/>
                    <a:p>
                      <a:r>
                        <a:rPr sz="1875" b="1">
                          <a:solidFill>
                            <a:srgbClr val="FFFFFF"/>
                          </a:solidFill>
                          <a:latin typeface="Arial"/>
                          <a:ea typeface="Arial"/>
                          <a:cs typeface="Arial"/>
                        </a:rPr>
                        <a:t>Крок</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Запитання до задачі</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85107">
                <a:tc>
                  <a:txBody>
                    <a:bodyPr/>
                    <a:lstStyle/>
                    <a:p>
                      <a:r>
                        <a:rPr sz="1875" b="0">
                          <a:solidFill>
                            <a:srgbClr val="193247"/>
                          </a:solidFill>
                          <a:latin typeface="Arial"/>
                          <a:ea typeface="Arial"/>
                          <a:cs typeface="Arial"/>
                        </a:rPr>
                        <a:t>1. Підзадача і стан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Яку відповідь зберігає одна клітинка?</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2. Дії та перехід</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Що можна обрати і яка підзадача залишиться?</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3. База</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Які відповіді вже відомі без обчислень?</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4. Рекурентність</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 порівняти допустимі продовження?</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5. Порядок</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Які клітинки мають бути готові раніше?</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6. План і перевірка</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 відновити дії та перевірити обмеження?</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1294545740"/>
      </p:ext>
    </p:extLst>
  </p:cSld>
</p:sld>
</file>

<file path=ppt/slides/dp11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85CE4E-0586-49E0-9C3A-ED2D28E4947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Напрям розрахунку та спосіб реалізації</a:t>
            </a:r>
          </a:p>
        </p:txBody>
      </p:sp>
      <p:sp>
        <p:nvSpPr>
          <p:cNvPr id="2" name="">
            <a:extLst xmlns:a="http://schemas.openxmlformats.org/drawingml/2006/main">
              <a:ext uri="{FF2B5EF4-FFF2-40B4-BE49-F238E27FC236}">
                <a16:creationId xmlns:a16="http://schemas.microsoft.com/office/drawing/2014/main" id="{5B6D95A0-F5BA-4EF6-8E0D-8921B690E41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Порядок визначають залежності. Мемоізація і таблиця реалізують ту саму рекурентність.</a:t>
            </a:r>
          </a:p>
        </p:txBody>
      </p:sp>
      <p:graphicFrame>
        <p:nvGraphicFramePr>
          <p:cNvPr id="3" name="">
            <a:extLst xmlns:a="http://schemas.openxmlformats.org/drawingml/2006/main">
              <a:ext uri="{FF2B5EF4-FFF2-40B4-BE49-F238E27FC236}">
                <a16:creationId xmlns:a16="http://schemas.microsoft.com/office/drawing/2014/main" id="{0C50FA86-7184-444B-B92F-B76AF33C8617}"/>
              </a:ext>
            </a:extLst>
          </p:cNvPr>
          <p:cNvGraphicFramePr/>
          <p:nvPr/>
        </p:nvGraphicFramePr>
        <p:xfrm>
          <a:off xmlns:a="http://schemas.openxmlformats.org/drawingml/2006/main" x="685800" y="1714500"/>
          <a:ext xmlns:a="http://schemas.openxmlformats.org/drawingml/2006/main" cx="10820400" cy="3143250"/>
        </p:xfrm>
        <a:graphic xmlns:a="http://schemas.openxmlformats.org/drawingml/2006/main">
          <a:graphicData uri="http://schemas.openxmlformats.org/drawingml/2006/table">
            <a:tbl>
              <a:tblPr/>
              <a:tblGrid>
                <a:gridCol w="4191000"/>
                <a:gridCol w="6629400"/>
              </a:tblGrid>
              <a:tr h="628650">
                <a:tc>
                  <a:txBody>
                    <a:bodyPr/>
                    <a:lstStyle/>
                    <a:p>
                      <a:r>
                        <a:rPr sz="1875" b="1">
                          <a:solidFill>
                            <a:srgbClr val="FFFFFF"/>
                          </a:solidFill>
                          <a:latin typeface="Arial"/>
                          <a:ea typeface="Arial"/>
                          <a:cs typeface="Arial"/>
                        </a:rPr>
                        <a:t>Питання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Варіанти</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1875" b="0">
                          <a:solidFill>
                            <a:srgbClr val="193247"/>
                          </a:solidFill>
                          <a:latin typeface="Arial"/>
                          <a:ea typeface="Arial"/>
                          <a:cs typeface="Arial"/>
                        </a:rPr>
                        <a:t>У якому напрямі рахувати?</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завершення або від початкових підзадач</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1875" b="0">
                          <a:solidFill>
                            <a:srgbClr val="193247"/>
                          </a:solidFill>
                          <a:latin typeface="Arial"/>
                          <a:ea typeface="Arial"/>
                          <a:cs typeface="Arial"/>
                        </a:rPr>
                        <a:t>Коли обчислювати підзадачу?</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При зверненні: рекурсія з мемоізацією</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1875" b="0">
                          <a:solidFill>
                            <a:srgbClr val="193247"/>
                          </a:solidFill>
                          <a:latin typeface="Arial"/>
                          <a:ea typeface="Arial"/>
                          <a:cs typeface="Arial"/>
                        </a:rPr>
                        <a:t>Як заповнювати таблицю?</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За наперед визначеним порядком залежностей</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1875" b="0">
                          <a:solidFill>
                            <a:srgbClr val="193247"/>
                          </a:solidFill>
                          <a:latin typeface="Arial"/>
                          <a:ea typeface="Arial"/>
                          <a:cs typeface="Arial"/>
                        </a:rPr>
                        <a:t>Як отримати конкретний план?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Пройти за збереженими діями або попередниками</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8B6169-CB48-4564-B5A5-C2F8C54DFC3E}"/>
              </a:ext>
            </a:extLst>
          </p:cNvPr>
          <p:cNvSpPr>
            <a:spLocks xmlns:a="http://schemas.openxmlformats.org/drawingml/2006/main" noGrp="1"/>
          </p:cNvSpPr>
          <p:nvPr/>
        </p:nvSpPr>
        <p:spPr>
          <a:xfrm xmlns:a="http://schemas.openxmlformats.org/drawingml/2006/main">
            <a:off x="685800" y="52863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08B85"/>
                </a:solidFill>
                <a:latin typeface="Arial"/>
                <a:ea typeface="Arial"/>
                <a:cs typeface="Arial"/>
              </a:defRPr>
            </a:defPPr>
          </a:lstStyle>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Обчислення значення та відновлення дій можуть іти в різних напрямках.</a:t>
            </a:r>
          </a:p>
        </p:txBody>
      </p:sp>
    </p:spTree>
    <p:extLst>
      <p:ext uri="{BB962C8B-B14F-4D97-AF65-F5344CB8AC3E}">
        <p14:creationId xmlns:p14="http://schemas.microsoft.com/office/powerpoint/2010/main" val="669768104"/>
      </p:ext>
    </p:extLst>
  </p:cSld>
</p:sld>
</file>

<file path=ppt/slides/dp11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C1A946-9790-435C-ADF6-55F579930DA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Спробуйте обчислити одну клітинку</a:t>
            </a:r>
          </a:p>
        </p:txBody>
      </p:sp>
      <p:sp>
        <p:nvSpPr>
          <p:cNvPr id="2" name="">
            <a:extLst xmlns:a="http://schemas.openxmlformats.org/drawingml/2006/main">
              <a:ext uri="{FF2B5EF4-FFF2-40B4-BE49-F238E27FC236}">
                <a16:creationId xmlns:a16="http://schemas.microsoft.com/office/drawing/2014/main" id="{A71CAF6B-1555-4916-B76D-0A9393DF18FC}"/>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Порівняйте всі варіанти. На наступному слайді перевіримо відповідь.</a:t>
            </a:r>
          </a:p>
        </p:txBody>
      </p:sp>
      <p:sp>
        <p:nvSpPr>
          <p:cNvPr id="3" name="">
            <a:extLst xmlns:a="http://schemas.openxmlformats.org/drawingml/2006/main">
              <a:ext uri="{FF2B5EF4-FFF2-40B4-BE49-F238E27FC236}">
                <a16:creationId xmlns:a16="http://schemas.microsoft.com/office/drawing/2014/main" id="{F77898CF-FE1C-4019-A533-5C2E0A0D0443}"/>
              </a:ext>
            </a:extLst>
          </p:cNvPr>
          <p:cNvSpPr>
            <a:spLocks xmlns:a="http://schemas.openxmlformats.org/drawingml/2006/main" noGrp="1"/>
          </p:cNvSpPr>
          <p:nvPr/>
        </p:nvSpPr>
        <p:spPr>
          <a:xfrm xmlns:a="http://schemas.openxmlformats.org/drawingml/2006/main">
            <a:off x="685800" y="16192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008B85"/>
                </a:solidFill>
                <a:latin typeface="Arial"/>
                <a:ea typeface="Arial"/>
                <a:cs typeface="Arial"/>
              </a:defRPr>
            </a:defPPr>
          </a:lstStyle>
          <a:p xmlns:a="http://schemas.openxmlformats.org/drawingml/2006/main">
            <a:pPr>
              <a:defRPr sz="2775" b="1">
                <a:solidFill>
                  <a:srgbClr val="008B85"/>
                </a:solidFill>
                <a:latin typeface="Arial"/>
                <a:ea typeface="Arial"/>
                <a:cs typeface="Arial"/>
              </a:defRPr>
            </a:pPr>
            <a:r>
              <a:rPr sz="2775" b="1">
                <a:solidFill>
                  <a:srgbClr val="008B85"/>
                </a:solidFill>
                <a:latin typeface="Arial"/>
                <a:ea typeface="Arial"/>
                <a:cs typeface="Arial"/>
              </a:rPr>
              <a:t>Є 4 GPU для B і C. Скільки віддати B?</a:t>
            </a:r>
          </a:p>
        </p:txBody>
      </p:sp>
      <p:graphicFrame>
        <p:nvGraphicFramePr>
          <p:cNvPr id="4" name="">
            <a:extLst xmlns:a="http://schemas.openxmlformats.org/drawingml/2006/main">
              <a:ext uri="{FF2B5EF4-FFF2-40B4-BE49-F238E27FC236}">
                <a16:creationId xmlns:a16="http://schemas.microsoft.com/office/drawing/2014/main" id="{46BBB55F-74FD-42B2-83B9-152D67FBA999}"/>
              </a:ext>
            </a:extLst>
          </p:cNvPr>
          <p:cNvGraphicFramePr/>
          <p:nvPr/>
        </p:nvGraphicFramePr>
        <p:xfrm>
          <a:off xmlns:a="http://schemas.openxmlformats.org/drawingml/2006/main" x="685800" y="2619375"/>
          <a:ext xmlns:a="http://schemas.openxmlformats.org/drawingml/2006/main" cx="10820400" cy="2667000"/>
        </p:xfrm>
        <a:graphic xmlns:a="http://schemas.openxmlformats.org/drawingml/2006/main">
          <a:graphicData uri="http://schemas.openxmlformats.org/drawingml/2006/table">
            <a:tbl>
              <a:tblPr/>
              <a:tblGrid>
                <a:gridCol w="3143250"/>
                <a:gridCol w="1533525"/>
                <a:gridCol w="1533525"/>
                <a:gridCol w="1533525"/>
                <a:gridCol w="1533525"/>
                <a:gridCol w="1543050"/>
              </a:tblGrid>
              <a:tr h="533400">
                <a:tc>
                  <a:txBody>
                    <a:bodyPr/>
                    <a:lstStyle/>
                    <a:p>
                      <a:r>
                        <a:rPr sz="1875" b="1">
                          <a:solidFill>
                            <a:srgbClr val="FFFFFF"/>
                          </a:solidFill>
                          <a:latin typeface="Arial"/>
                          <a:ea typeface="Arial"/>
                          <a:cs typeface="Arial"/>
                        </a:rPr>
                        <a:t>u для B</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0</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1</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2</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3</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4</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Користь 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17</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18</a:t>
                      </a:r>
                    </a:p>
                  </a:txBody>
                  <a:tcPr marL="91440" marR="91440" marT="45720" marB="45720">
                    <a:lnR w="9525">
                      <a:solidFill>
                        <a:srgbClr val="A8B7C0"/>
                      </a:solidFill>
                      <a:prstDash val="solid"/>
                    </a:lnR>
                    <a:lnB w="9525">
                      <a:solidFill>
                        <a:srgbClr val="A8B7C0"/>
                      </a:solidFill>
                      <a:prstDash val="solid"/>
                    </a:lnB>
                    <a:solidFill>
                      <a:srgbClr val="FFFFFF"/>
                    </a:solidFill>
                  </a:tcPr>
                </a:tc>
              </a:tr>
              <a:tr h="533400">
                <a:tc>
                  <a:txBody>
                    <a:bodyPr/>
                    <a:lstStyle/>
                    <a:p>
                      <a:r>
                        <a:rPr sz="1875" b="0">
                          <a:solidFill>
                            <a:srgbClr val="193247"/>
                          </a:solidFill>
                          <a:latin typeface="Arial"/>
                          <a:ea typeface="Arial"/>
                          <a:cs typeface="Arial"/>
                        </a:rPr>
                        <a:t>Залишиться 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533400">
                <a:tc>
                  <a:txBody>
                    <a:bodyPr/>
                    <a:lstStyle/>
                    <a:p>
                      <a:r>
                        <a:rPr sz="1875" b="0">
                          <a:solidFill>
                            <a:srgbClr val="193247"/>
                          </a:solidFill>
                          <a:latin typeface="Arial"/>
                          <a:ea typeface="Arial"/>
                          <a:cs typeface="Arial"/>
                        </a:rPr>
                        <a:t>Користь 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533400">
                <a:tc>
                  <a:txBody>
                    <a:bodyPr/>
                    <a:lstStyle/>
                    <a:p>
                      <a:r>
                        <a:rPr sz="1875" b="0">
                          <a:solidFill>
                            <a:srgbClr val="193247"/>
                          </a:solidFill>
                          <a:latin typeface="Arial"/>
                          <a:ea typeface="Arial"/>
                          <a:cs typeface="Arial"/>
                        </a:rPr>
                        <a:t>Сума</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2099493422"/>
      </p:ext>
    </p:extLst>
  </p:cSld>
</p:sld>
</file>

<file path=ppt/slides/dp11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DAC490-AF72-4F4B-88BB-496D84ED6B8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Від значення оптимуму до плану</a:t>
            </a:r>
          </a:p>
        </p:txBody>
      </p:sp>
      <p:sp>
        <p:nvSpPr>
          <p:cNvPr id="2" name="">
            <a:extLst xmlns:a="http://schemas.openxmlformats.org/drawingml/2006/main">
              <a:ext uri="{FF2B5EF4-FFF2-40B4-BE49-F238E27FC236}">
                <a16:creationId xmlns:a16="http://schemas.microsoft.com/office/drawing/2014/main" id="{FD772BD8-8345-491E-BD39-994D31F2A68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Після кожного рішення змінюється бюджет, за яким читаємо наступну клітинку.</a:t>
            </a:r>
          </a:p>
        </p:txBody>
      </p:sp>
      <p:sp>
        <p:nvSpPr>
          <p:cNvPr id="3" name="">
            <a:extLst xmlns:a="http://schemas.openxmlformats.org/drawingml/2006/main">
              <a:ext uri="{FF2B5EF4-FFF2-40B4-BE49-F238E27FC236}">
                <a16:creationId xmlns:a16="http://schemas.microsoft.com/office/drawing/2014/main" id="{B35B59A0-AC6E-4BE3-917A-7F207D7F1204}"/>
              </a:ext>
            </a:extLst>
          </p:cNvPr>
          <p:cNvSpPr>
            <a:spLocks xmlns:a="http://schemas.openxmlformats.org/drawingml/2006/main" noGrp="1"/>
          </p:cNvSpPr>
          <p:nvPr/>
        </p:nvSpPr>
        <p:spPr>
          <a:xfrm xmlns:a="http://schemas.openxmlformats.org/drawingml/2006/main">
            <a:off x="685800" y="2000250"/>
            <a:ext cx="3048000" cy="128587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84870A75-8673-4FA4-9C0C-76C8F63BAA79}"/>
              </a:ext>
            </a:extLst>
          </p:cNvPr>
          <p:cNvSpPr>
            <a:spLocks xmlns:a="http://schemas.openxmlformats.org/drawingml/2006/main" noGrp="1"/>
          </p:cNvSpPr>
          <p:nvPr/>
        </p:nvSpPr>
        <p:spPr>
          <a:xfrm xmlns:a="http://schemas.openxmlformats.org/drawingml/2006/main">
            <a:off x="819150" y="2114550"/>
            <a:ext cx="2781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93247"/>
                </a:solidFill>
                <a:latin typeface="Arial"/>
                <a:ea typeface="Arial"/>
                <a:cs typeface="Arial"/>
              </a:defRPr>
            </a:defPPr>
          </a:lstStyle>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① P₁(6) = 2</a:t>
            </a:r>
          </a:p>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A отримує 2</a:t>
            </a:r>
          </a:p>
        </p:txBody>
      </p:sp>
      <p:sp>
        <p:nvSpPr>
          <p:cNvPr id="5" name="">
            <a:extLst xmlns:a="http://schemas.openxmlformats.org/drawingml/2006/main">
              <a:ext uri="{FF2B5EF4-FFF2-40B4-BE49-F238E27FC236}">
                <a16:creationId xmlns:a16="http://schemas.microsoft.com/office/drawing/2014/main" id="{4451751B-B6CA-4E3D-9338-4A815899BFFD}"/>
              </a:ext>
            </a:extLst>
          </p:cNvPr>
          <p:cNvSpPr>
            <a:spLocks xmlns:a="http://schemas.openxmlformats.org/drawingml/2006/main" noGrp="1"/>
          </p:cNvSpPr>
          <p:nvPr/>
        </p:nvSpPr>
        <p:spPr>
          <a:xfrm xmlns:a="http://schemas.openxmlformats.org/drawingml/2006/main">
            <a:off x="4572000" y="2000250"/>
            <a:ext cx="3048000" cy="128587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D75CF436-1755-419E-8FAD-18CE5208ABAF}"/>
              </a:ext>
            </a:extLst>
          </p:cNvPr>
          <p:cNvSpPr>
            <a:spLocks xmlns:a="http://schemas.openxmlformats.org/drawingml/2006/main" noGrp="1"/>
          </p:cNvSpPr>
          <p:nvPr/>
        </p:nvSpPr>
        <p:spPr>
          <a:xfrm xmlns:a="http://schemas.openxmlformats.org/drawingml/2006/main">
            <a:off x="4705350" y="2114550"/>
            <a:ext cx="2781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93247"/>
                </a:solidFill>
                <a:latin typeface="Arial"/>
                <a:ea typeface="Arial"/>
                <a:cs typeface="Arial"/>
              </a:defRPr>
            </a:defPPr>
          </a:lstStyle>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② P₂(4) = 3</a:t>
            </a:r>
          </a:p>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B отримує 3</a:t>
            </a:r>
          </a:p>
        </p:txBody>
      </p:sp>
      <p:sp>
        <p:nvSpPr>
          <p:cNvPr id="7" name="">
            <a:extLst xmlns:a="http://schemas.openxmlformats.org/drawingml/2006/main">
              <a:ext uri="{FF2B5EF4-FFF2-40B4-BE49-F238E27FC236}">
                <a16:creationId xmlns:a16="http://schemas.microsoft.com/office/drawing/2014/main" id="{9CF3211B-F8D3-4B69-80B7-D5E05922A823}"/>
              </a:ext>
            </a:extLst>
          </p:cNvPr>
          <p:cNvSpPr>
            <a:spLocks xmlns:a="http://schemas.openxmlformats.org/drawingml/2006/main" noGrp="1"/>
          </p:cNvSpPr>
          <p:nvPr/>
        </p:nvSpPr>
        <p:spPr>
          <a:xfrm xmlns:a="http://schemas.openxmlformats.org/drawingml/2006/main">
            <a:off x="8458200" y="2000250"/>
            <a:ext cx="3048000" cy="128587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1C6ECAC3-F24A-4F3A-8D4E-9E9A6ABFA322}"/>
              </a:ext>
            </a:extLst>
          </p:cNvPr>
          <p:cNvSpPr>
            <a:spLocks xmlns:a="http://schemas.openxmlformats.org/drawingml/2006/main" noGrp="1"/>
          </p:cNvSpPr>
          <p:nvPr/>
        </p:nvSpPr>
        <p:spPr>
          <a:xfrm xmlns:a="http://schemas.openxmlformats.org/drawingml/2006/main">
            <a:off x="8591550" y="2114550"/>
            <a:ext cx="2781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93247"/>
                </a:solidFill>
                <a:latin typeface="Arial"/>
                <a:ea typeface="Arial"/>
                <a:cs typeface="Arial"/>
              </a:defRPr>
            </a:defPPr>
          </a:lstStyle>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③ P₃(1) = 1</a:t>
            </a:r>
          </a:p>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C отримує 1</a:t>
            </a:r>
          </a:p>
        </p:txBody>
      </p:sp>
      <p:sp>
        <p:nvSpPr>
          <p:cNvPr id="9" name="">
            <a:extLst xmlns:a="http://schemas.openxmlformats.org/drawingml/2006/main">
              <a:ext uri="{FF2B5EF4-FFF2-40B4-BE49-F238E27FC236}">
                <a16:creationId xmlns:a16="http://schemas.microsoft.com/office/drawing/2014/main" id="{9B7A591C-DAFC-4CD3-84EA-BABA05CDF0A2}"/>
              </a:ext>
            </a:extLst>
          </p:cNvPr>
          <p:cNvSpPr>
            <a:spLocks xmlns:a="http://schemas.openxmlformats.org/drawingml/2006/main" noGrp="1"/>
          </p:cNvSpPr>
          <p:nvPr/>
        </p:nvSpPr>
        <p:spPr>
          <a:xfrm xmlns:a="http://schemas.openxmlformats.org/drawingml/2006/main" rot="0">
            <a:off x="3762375" y="2571750"/>
            <a:ext cx="7620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04C0417-D438-4E36-8CE9-64394077CBF2}"/>
              </a:ext>
            </a:extLst>
          </p:cNvPr>
          <p:cNvSpPr>
            <a:spLocks xmlns:a="http://schemas.openxmlformats.org/drawingml/2006/main" noGrp="1"/>
          </p:cNvSpPr>
          <p:nvPr/>
        </p:nvSpPr>
        <p:spPr>
          <a:xfrm xmlns:a="http://schemas.openxmlformats.org/drawingml/2006/main" rot="0">
            <a:off x="7648575" y="2571750"/>
            <a:ext cx="7620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650107-8365-4F7F-A68F-F53CBE0CF1D7}"/>
              </a:ext>
            </a:extLst>
          </p:cNvPr>
          <p:cNvSpPr>
            <a:spLocks xmlns:a="http://schemas.openxmlformats.org/drawingml/2006/main" noGrp="1"/>
          </p:cNvSpPr>
          <p:nvPr/>
        </p:nvSpPr>
        <p:spPr>
          <a:xfrm xmlns:a="http://schemas.openxmlformats.org/drawingml/2006/main">
            <a:off x="1143000" y="37147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6 − 2 = 4</a:t>
            </a:r>
          </a:p>
        </p:txBody>
      </p:sp>
      <p:sp>
        <p:nvSpPr>
          <p:cNvPr id="12" name="">
            <a:extLst xmlns:a="http://schemas.openxmlformats.org/drawingml/2006/main">
              <a:ext uri="{FF2B5EF4-FFF2-40B4-BE49-F238E27FC236}">
                <a16:creationId xmlns:a16="http://schemas.microsoft.com/office/drawing/2014/main" id="{4DB3A2AD-3CF8-4D59-9933-86BDA1F8FF37}"/>
              </a:ext>
            </a:extLst>
          </p:cNvPr>
          <p:cNvSpPr>
            <a:spLocks xmlns:a="http://schemas.openxmlformats.org/drawingml/2006/main" noGrp="1"/>
          </p:cNvSpPr>
          <p:nvPr/>
        </p:nvSpPr>
        <p:spPr>
          <a:xfrm xmlns:a="http://schemas.openxmlformats.org/drawingml/2006/main">
            <a:off x="5048250" y="37147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4 − 3 = 1</a:t>
            </a:r>
          </a:p>
        </p:txBody>
      </p:sp>
      <p:sp>
        <p:nvSpPr>
          <p:cNvPr id="13" name="">
            <a:extLst xmlns:a="http://schemas.openxmlformats.org/drawingml/2006/main">
              <a:ext uri="{FF2B5EF4-FFF2-40B4-BE49-F238E27FC236}">
                <a16:creationId xmlns:a16="http://schemas.microsoft.com/office/drawing/2014/main" id="{1B3BB294-8E07-498B-AC9D-86C6FB66EF1B}"/>
              </a:ext>
            </a:extLst>
          </p:cNvPr>
          <p:cNvSpPr>
            <a:spLocks xmlns:a="http://schemas.openxmlformats.org/drawingml/2006/main" noGrp="1"/>
          </p:cNvSpPr>
          <p:nvPr/>
        </p:nvSpPr>
        <p:spPr>
          <a:xfrm xmlns:a="http://schemas.openxmlformats.org/drawingml/2006/main">
            <a:off x="8763000" y="37147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1 − 1 = 0</a:t>
            </a:r>
          </a:p>
        </p:txBody>
      </p:sp>
      <p:sp>
        <p:nvSpPr>
          <p:cNvPr id="14" name="">
            <a:extLst xmlns:a="http://schemas.openxmlformats.org/drawingml/2006/main">
              <a:ext uri="{FF2B5EF4-FFF2-40B4-BE49-F238E27FC236}">
                <a16:creationId xmlns:a16="http://schemas.microsoft.com/office/drawing/2014/main" id="{B688A5DA-B11B-455A-99FC-B11506776F85}"/>
              </a:ext>
            </a:extLst>
          </p:cNvPr>
          <p:cNvSpPr>
            <a:spLocks xmlns:a="http://schemas.openxmlformats.org/drawingml/2006/main" noGrp="1"/>
          </p:cNvSpPr>
          <p:nvPr/>
        </p:nvSpPr>
        <p:spPr>
          <a:xfrm xmlns:a="http://schemas.openxmlformats.org/drawingml/2006/main">
            <a:off x="685800" y="49530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008B85"/>
                </a:solidFill>
                <a:latin typeface="Arial"/>
                <a:ea typeface="Arial"/>
                <a:cs typeface="Arial"/>
              </a:defRPr>
            </a:defPPr>
          </a:lstStyle>
          <a:p xmlns:a="http://schemas.openxmlformats.org/drawingml/2006/main">
            <a:pPr>
              <a:defRPr sz="2700" b="1">
                <a:solidFill>
                  <a:srgbClr val="008B85"/>
                </a:solidFill>
                <a:latin typeface="Arial"/>
                <a:ea typeface="Arial"/>
                <a:cs typeface="Arial"/>
              </a:defRPr>
            </a:pPr>
            <a:r>
              <a:rPr sz="2700" b="1">
                <a:solidFill>
                  <a:srgbClr val="008B85"/>
                </a:solidFill>
                <a:latin typeface="Arial"/>
                <a:ea typeface="Arial"/>
                <a:cs typeface="Arial"/>
              </a:rPr>
              <a:t>План x = (2, 3, 1). Користь: 11 + 17 + 5 = 33.</a:t>
            </a:r>
          </a:p>
        </p:txBody>
      </p:sp>
    </p:spTree>
    <p:extLst>
      <p:ext uri="{BB962C8B-B14F-4D97-AF65-F5344CB8AC3E}">
        <p14:creationId xmlns:p14="http://schemas.microsoft.com/office/powerpoint/2010/main" val="189751714"/>
      </p:ext>
    </p:extLst>
  </p:cSld>
</p:sld>
</file>

<file path=ppt/slides/dp11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713C4B-5036-4F02-A394-946A51462F72}"/>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збільшений фрагмент біля старту</a:t>
            </a:r>
          </a:p>
        </p:txBody>
      </p:sp>
      <p:sp>
        <p:nvSpPr>
          <p:cNvPr id="2" name="">
            <a:extLst xmlns:a="http://schemas.openxmlformats.org/drawingml/2006/main">
              <a:ext uri="{FF2B5EF4-FFF2-40B4-BE49-F238E27FC236}">
                <a16:creationId xmlns:a16="http://schemas.microsoft.com/office/drawing/2014/main" id="{DC36C81C-A55B-46E3-AE5E-109B6E5C2BD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Число 118 враховує весь залишок шляху, а не тільки перше ребро.</a:t>
            </a:r>
          </a:p>
        </p:txBody>
      </p:sp>
      <p:pic>
        <p:nvPicPr>
          <p:cNvPr id="3" name="">
            <a:extLst xmlns:a="http://schemas.openxmlformats.org/drawingml/2006/main">
              <a:ext uri="{FF2B5EF4-FFF2-40B4-BE49-F238E27FC236}">
                <a16:creationId xmlns:a16="http://schemas.microsoft.com/office/drawing/2014/main" id="{570DAFCE-7CE1-4A29-B59C-8C72F2BC3258}"/>
              </a:ext>
            </a:extLst>
          </p:cNvPr>
          <p:cNvPicPr>
            <a:picLocks xmlns:a="http://schemas.openxmlformats.org/drawingml/2006/main" noChangeAspect="1"/>
          </p:cNvPicPr>
          <p:nvPr/>
        </p:nvPicPr>
        <p:blipFill>
          <a:blip xmlns:r="http://schemas.openxmlformats.org/officeDocument/2006/relationships" xmlns:a="http://schemas.openxmlformats.org/drawingml/2006/main" r:embed="Rdfb1c17af6e946ef"/>
          <a:stretch xmlns:a="http://schemas.openxmlformats.org/drawingml/2006/main"/>
        </p:blipFill>
        <p:spPr>
          <a:xfrm xmlns:a="http://schemas.openxmlformats.org/drawingml/2006/main">
            <a:off x="685800" y="1784577"/>
            <a:ext cx="5524500" cy="366984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EE9B52-C063-4282-8805-1D9E1672F897}"/>
              </a:ext>
            </a:extLst>
          </p:cNvPr>
          <p:cNvSpPr>
            <a:spLocks xmlns:a="http://schemas.openxmlformats.org/drawingml/2006/main" noGrp="1"/>
          </p:cNvSpPr>
          <p:nvPr/>
        </p:nvSpPr>
        <p:spPr>
          <a:xfrm xmlns:a="http://schemas.openxmlformats.org/drawingml/2006/main">
            <a:off x="6667500" y="1905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У точці A порівнюємо:</a:t>
            </a:r>
          </a:p>
          <a:p xmlns:a="http://schemas.openxmlformats.org/drawingml/2006/main">
            <a:r>
              <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Північ: 10 + 108 = 118</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Схід: 14 + 115 = 129</a:t>
            </a:r>
          </a:p>
        </p:txBody>
      </p:sp>
      <p:sp>
        <p:nvSpPr>
          <p:cNvPr id="5" name="">
            <a:extLst xmlns:a="http://schemas.openxmlformats.org/drawingml/2006/main">
              <a:ext uri="{FF2B5EF4-FFF2-40B4-BE49-F238E27FC236}">
                <a16:creationId xmlns:a16="http://schemas.microsoft.com/office/drawing/2014/main" id="{0E4852B5-CCEF-4DF0-A81E-CD4EE8FC11A0}"/>
              </a:ext>
            </a:extLst>
          </p:cNvPr>
          <p:cNvSpPr>
            <a:spLocks xmlns:a="http://schemas.openxmlformats.org/drawingml/2006/main" noGrp="1"/>
          </p:cNvSpPr>
          <p:nvPr/>
        </p:nvSpPr>
        <p:spPr>
          <a:xfrm xmlns:a="http://schemas.openxmlformats.org/drawingml/2006/main">
            <a:off x="6667500" y="4524375"/>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08B85"/>
                </a:solidFill>
                <a:latin typeface="Arial"/>
                <a:ea typeface="Arial"/>
                <a:cs typeface="Arial"/>
              </a:defRPr>
            </a:defPPr>
          </a:lstStyle>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Обираємо північ.</a:t>
            </a:r>
          </a:p>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Далі читаємо стрілку</a:t>
            </a:r>
          </a:p>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в наступному вузлі.</a:t>
            </a:r>
          </a:p>
        </p:txBody>
      </p:sp>
    </p:spTree>
    <p:extLst>
      <p:ext uri="{BB962C8B-B14F-4D97-AF65-F5344CB8AC3E}">
        <p14:creationId xmlns:p14="http://schemas.microsoft.com/office/powerpoint/2010/main" val="1133496427"/>
      </p:ext>
    </p:extLst>
  </p:cSld>
</p:sld>
</file>

<file path=ppt/slides/dp11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E98E46-4A96-4F44-9EBF-FB7A725407D8}"/>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Мемоізація: що відбувається при повторі?</a:t>
            </a:r>
          </a:p>
        </p:txBody>
      </p:sp>
      <p:sp>
        <p:nvSpPr>
          <p:cNvPr id="2" name="">
            <a:extLst xmlns:a="http://schemas.openxmlformats.org/drawingml/2006/main">
              <a:ext uri="{FF2B5EF4-FFF2-40B4-BE49-F238E27FC236}">
                <a16:creationId xmlns:a16="http://schemas.microsoft.com/office/drawing/2014/main" id="{B77747F6-D6EA-4F0F-9C72-A57FB673D1D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Кеш зберігає відповідь підзадачі для однакового стану.</a:t>
            </a:r>
          </a:p>
        </p:txBody>
      </p:sp>
      <p:sp>
        <p:nvSpPr>
          <p:cNvPr id="3" name="">
            <a:extLst xmlns:a="http://schemas.openxmlformats.org/drawingml/2006/main">
              <a:ext uri="{FF2B5EF4-FFF2-40B4-BE49-F238E27FC236}">
                <a16:creationId xmlns:a16="http://schemas.microsoft.com/office/drawing/2014/main" id="{0355D580-25B3-4F8E-ACE2-EA34938E4C6B}"/>
              </a:ext>
            </a:extLst>
          </p:cNvPr>
          <p:cNvSpPr>
            <a:spLocks xmlns:a="http://schemas.openxmlformats.org/drawingml/2006/main" noGrp="1"/>
          </p:cNvSpPr>
          <p:nvPr/>
        </p:nvSpPr>
        <p:spPr>
          <a:xfrm xmlns:a="http://schemas.openxmlformats.org/drawingml/2006/main">
            <a:off x="685800" y="1714500"/>
            <a:ext cx="4667250" cy="666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D1C212BA-BE31-444F-809B-6B579124D4C3}"/>
              </a:ext>
            </a:extLst>
          </p:cNvPr>
          <p:cNvSpPr>
            <a:spLocks xmlns:a="http://schemas.openxmlformats.org/drawingml/2006/main" noGrp="1"/>
          </p:cNvSpPr>
          <p:nvPr/>
        </p:nvSpPr>
        <p:spPr>
          <a:xfrm xmlns:a="http://schemas.openxmlformats.org/drawingml/2006/main">
            <a:off x="819150" y="1828800"/>
            <a:ext cx="4400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Перший виклик fib(5)</a:t>
            </a:r>
          </a:p>
        </p:txBody>
      </p:sp>
      <p:sp>
        <p:nvSpPr>
          <p:cNvPr id="5" name="">
            <a:extLst xmlns:a="http://schemas.openxmlformats.org/drawingml/2006/main">
              <a:ext uri="{FF2B5EF4-FFF2-40B4-BE49-F238E27FC236}">
                <a16:creationId xmlns:a16="http://schemas.microsoft.com/office/drawing/2014/main" id="{73F0B56B-C029-4136-AC73-2237AC823591}"/>
              </a:ext>
            </a:extLst>
          </p:cNvPr>
          <p:cNvSpPr>
            <a:spLocks xmlns:a="http://schemas.openxmlformats.org/drawingml/2006/main" noGrp="1"/>
          </p:cNvSpPr>
          <p:nvPr/>
        </p:nvSpPr>
        <p:spPr>
          <a:xfrm xmlns:a="http://schemas.openxmlformats.org/drawingml/2006/main">
            <a:off x="685800" y="3238500"/>
            <a:ext cx="46672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EF91A241-E510-421A-B7D1-37B915EE4241}"/>
              </a:ext>
            </a:extLst>
          </p:cNvPr>
          <p:cNvSpPr>
            <a:spLocks xmlns:a="http://schemas.openxmlformats.org/drawingml/2006/main" noGrp="1"/>
          </p:cNvSpPr>
          <p:nvPr/>
        </p:nvSpPr>
        <p:spPr>
          <a:xfrm xmlns:a="http://schemas.openxmlformats.org/drawingml/2006/main">
            <a:off x="819150" y="3352800"/>
            <a:ext cx="4400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Обчислити й зберегти</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cache[5] = 5</a:t>
            </a:r>
          </a:p>
        </p:txBody>
      </p:sp>
      <p:sp>
        <p:nvSpPr>
          <p:cNvPr id="7" name="">
            <a:extLst xmlns:a="http://schemas.openxmlformats.org/drawingml/2006/main">
              <a:ext uri="{FF2B5EF4-FFF2-40B4-BE49-F238E27FC236}">
                <a16:creationId xmlns:a16="http://schemas.microsoft.com/office/drawing/2014/main" id="{BA99C8FE-DC34-4F66-AC56-94C6E40ECD1E}"/>
              </a:ext>
            </a:extLst>
          </p:cNvPr>
          <p:cNvSpPr>
            <a:spLocks xmlns:a="http://schemas.openxmlformats.org/drawingml/2006/main" noGrp="1"/>
          </p:cNvSpPr>
          <p:nvPr/>
        </p:nvSpPr>
        <p:spPr>
          <a:xfrm xmlns:a="http://schemas.openxmlformats.org/drawingml/2006/main" rot="5400000">
            <a:off x="2662238" y="2738438"/>
            <a:ext cx="714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0C3C54-6565-4F53-A6D7-2CB6B8A93388}"/>
              </a:ext>
            </a:extLst>
          </p:cNvPr>
          <p:cNvSpPr>
            <a:spLocks xmlns:a="http://schemas.openxmlformats.org/drawingml/2006/main" noGrp="1"/>
          </p:cNvSpPr>
          <p:nvPr/>
        </p:nvSpPr>
        <p:spPr>
          <a:xfrm xmlns:a="http://schemas.openxmlformats.org/drawingml/2006/main">
            <a:off x="6477000" y="1714500"/>
            <a:ext cx="5000625" cy="666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9" name="">
            <a:extLst xmlns:a="http://schemas.openxmlformats.org/drawingml/2006/main">
              <a:ext uri="{FF2B5EF4-FFF2-40B4-BE49-F238E27FC236}">
                <a16:creationId xmlns:a16="http://schemas.microsoft.com/office/drawing/2014/main" id="{9FC46CEE-319F-4165-B540-6AFD40865859}"/>
              </a:ext>
            </a:extLst>
          </p:cNvPr>
          <p:cNvSpPr>
            <a:spLocks xmlns:a="http://schemas.openxmlformats.org/drawingml/2006/main" noGrp="1"/>
          </p:cNvSpPr>
          <p:nvPr/>
        </p:nvSpPr>
        <p:spPr>
          <a:xfrm xmlns:a="http://schemas.openxmlformats.org/drawingml/2006/main">
            <a:off x="6610350" y="1828800"/>
            <a:ext cx="47339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Повторний виклик fib(5)</a:t>
            </a:r>
          </a:p>
        </p:txBody>
      </p:sp>
      <p:sp>
        <p:nvSpPr>
          <p:cNvPr id="10" name="">
            <a:extLst xmlns:a="http://schemas.openxmlformats.org/drawingml/2006/main">
              <a:ext uri="{FF2B5EF4-FFF2-40B4-BE49-F238E27FC236}">
                <a16:creationId xmlns:a16="http://schemas.microsoft.com/office/drawing/2014/main" id="{25D4A730-6C70-4768-BED6-6998EB521E33}"/>
              </a:ext>
            </a:extLst>
          </p:cNvPr>
          <p:cNvSpPr>
            <a:spLocks xmlns:a="http://schemas.openxmlformats.org/drawingml/2006/main" noGrp="1"/>
          </p:cNvSpPr>
          <p:nvPr/>
        </p:nvSpPr>
        <p:spPr>
          <a:xfrm xmlns:a="http://schemas.openxmlformats.org/drawingml/2006/main">
            <a:off x="6477000" y="3238500"/>
            <a:ext cx="5000625"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1" name="">
            <a:extLst xmlns:a="http://schemas.openxmlformats.org/drawingml/2006/main">
              <a:ext uri="{FF2B5EF4-FFF2-40B4-BE49-F238E27FC236}">
                <a16:creationId xmlns:a16="http://schemas.microsoft.com/office/drawing/2014/main" id="{6550C18D-54DD-4822-B4CC-2F83E886372F}"/>
              </a:ext>
            </a:extLst>
          </p:cNvPr>
          <p:cNvSpPr>
            <a:spLocks xmlns:a="http://schemas.openxmlformats.org/drawingml/2006/main" noGrp="1"/>
          </p:cNvSpPr>
          <p:nvPr/>
        </p:nvSpPr>
        <p:spPr>
          <a:xfrm xmlns:a="http://schemas.openxmlformats.org/drawingml/2006/main">
            <a:off x="6610350" y="3352800"/>
            <a:ext cx="47339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Прочитати cache[5]</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Повернути 5</a:t>
            </a:r>
          </a:p>
        </p:txBody>
      </p:sp>
      <p:sp>
        <p:nvSpPr>
          <p:cNvPr id="12" name="">
            <a:extLst xmlns:a="http://schemas.openxmlformats.org/drawingml/2006/main">
              <a:ext uri="{FF2B5EF4-FFF2-40B4-BE49-F238E27FC236}">
                <a16:creationId xmlns:a16="http://schemas.microsoft.com/office/drawing/2014/main" id="{CB806DB8-B3C7-41CA-BAAE-085A83B098F1}"/>
              </a:ext>
            </a:extLst>
          </p:cNvPr>
          <p:cNvSpPr>
            <a:spLocks xmlns:a="http://schemas.openxmlformats.org/drawingml/2006/main" noGrp="1"/>
          </p:cNvSpPr>
          <p:nvPr/>
        </p:nvSpPr>
        <p:spPr>
          <a:xfrm xmlns:a="http://schemas.openxmlformats.org/drawingml/2006/main" rot="5400000">
            <a:off x="8615363" y="2738438"/>
            <a:ext cx="714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75B18E-7272-4170-A4BB-98E7AB7F3F90}"/>
              </a:ext>
            </a:extLst>
          </p:cNvPr>
          <p:cNvSpPr>
            <a:spLocks xmlns:a="http://schemas.openxmlformats.org/drawingml/2006/main" noGrp="1"/>
          </p:cNvSpPr>
          <p:nvPr/>
        </p:nvSpPr>
        <p:spPr>
          <a:xfrm xmlns:a="http://schemas.openxmlformats.org/drawingml/2006/main">
            <a:off x="6477000" y="4810125"/>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Нові рекурсивні виклики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для цієї підзадачі не потрібні.</a:t>
            </a:r>
          </a:p>
        </p:txBody>
      </p:sp>
      <p:sp>
        <p:nvSpPr>
          <p:cNvPr id="14" name="">
            <a:extLst xmlns:a="http://schemas.openxmlformats.org/drawingml/2006/main">
              <a:ext uri="{FF2B5EF4-FFF2-40B4-BE49-F238E27FC236}">
                <a16:creationId xmlns:a16="http://schemas.microsoft.com/office/drawing/2014/main" id="{C00A614F-8379-4B89-8C18-3A3093B6CDF3}"/>
              </a:ext>
            </a:extLst>
          </p:cNvPr>
          <p:cNvSpPr>
            <a:spLocks xmlns:a="http://schemas.openxmlformats.org/drawingml/2006/main" noGrp="1"/>
          </p:cNvSpPr>
          <p:nvPr/>
        </p:nvSpPr>
        <p:spPr>
          <a:xfrm xmlns:a="http://schemas.openxmlformats.org/drawingml/2006/main">
            <a:off x="685800" y="495300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Для GPU ключ: (k, b).</a:t>
            </a:r>
          </a:p>
        </p:txBody>
      </p:sp>
    </p:spTree>
    <p:extLst>
      <p:ext uri="{BB962C8B-B14F-4D97-AF65-F5344CB8AC3E}">
        <p14:creationId xmlns:p14="http://schemas.microsoft.com/office/powerpoint/2010/main" val="1504156962"/>
      </p:ext>
    </p:extLst>
  </p:cSld>
</p:sld>
</file>

<file path=ppt/slides/dp11_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CD2C33-E65A-498F-B2A4-F8B22B5ECA0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Порівняння напрямів обчислення</a:t>
            </a:r>
          </a:p>
        </p:txBody>
      </p:sp>
      <p:sp>
        <p:nvSpPr>
          <p:cNvPr id="2" name="">
            <a:extLst xmlns:a="http://schemas.openxmlformats.org/drawingml/2006/main">
              <a:ext uri="{FF2B5EF4-FFF2-40B4-BE49-F238E27FC236}">
                <a16:creationId xmlns:a16="http://schemas.microsoft.com/office/drawing/2014/main" id="{16CAB172-C13C-4B00-B31F-46A5BC49CB6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будь-якого напряму потрібні вже готові відповіді підзадач.</a:t>
            </a:r>
          </a:p>
        </p:txBody>
      </p:sp>
      <p:graphicFrame>
        <p:nvGraphicFramePr>
          <p:cNvPr id="3" name="">
            <a:extLst xmlns:a="http://schemas.openxmlformats.org/drawingml/2006/main">
              <a:ext uri="{FF2B5EF4-FFF2-40B4-BE49-F238E27FC236}">
                <a16:creationId xmlns:a16="http://schemas.microsoft.com/office/drawing/2014/main" id="{FA006C83-F6BC-4CB1-8E6B-F26FE8BD8472}"/>
              </a:ext>
            </a:extLst>
          </p:cNvPr>
          <p:cNvGraphicFramePr/>
          <p:nvPr/>
        </p:nvGraphicFramePr>
        <p:xfrm>
          <a:off xmlns:a="http://schemas.openxmlformats.org/drawingml/2006/main" x="685800" y="1809750"/>
          <a:ext xmlns:a="http://schemas.openxmlformats.org/drawingml/2006/main" cx="10820400" cy="3143250"/>
        </p:xfrm>
        <a:graphic xmlns:a="http://schemas.openxmlformats.org/drawingml/2006/main">
          <a:graphicData uri="http://schemas.openxmlformats.org/drawingml/2006/table">
            <a:tbl>
              <a:tblPr/>
              <a:tblGrid>
                <a:gridCol w="2857500"/>
                <a:gridCol w="4953000"/>
                <a:gridCol w="3009900"/>
              </a:tblGrid>
              <a:tr h="785813">
                <a:tc>
                  <a:txBody>
                    <a:bodyPr/>
                    <a:lstStyle/>
                    <a:p>
                      <a:r>
                        <a:rPr sz="1875" b="1">
                          <a:solidFill>
                            <a:srgbClr val="FFFFFF"/>
                          </a:solidFill>
                          <a:latin typeface="Arial"/>
                          <a:ea typeface="Arial"/>
                          <a:cs typeface="Arial"/>
                        </a:rPr>
                        <a:t>Приклад</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Що означає клітинка</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Порядок</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785813">
                <a:tc>
                  <a:txBody>
                    <a:bodyPr/>
                    <a:lstStyle/>
                    <a:p>
                      <a:r>
                        <a:rPr sz="1875" b="0">
                          <a:solidFill>
                            <a:srgbClr val="193247"/>
                          </a:solidFill>
                          <a:latin typeface="Arial"/>
                          <a:ea typeface="Arial"/>
                          <a:cs typeface="Arial"/>
                        </a:rPr>
                        <a:t>GPU: Vₖ(b)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Найкраща користь сервісів k…n</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останнього сервісу</a:t>
                      </a:r>
                    </a:p>
                  </a:txBody>
                  <a:tcPr marL="91440" marR="91440" marT="45720" marB="45720">
                    <a:lnR w="9525">
                      <a:solidFill>
                        <a:srgbClr val="A8B7C0"/>
                      </a:solidFill>
                      <a:prstDash val="solid"/>
                    </a:lnR>
                    <a:lnB w="9525">
                      <a:solidFill>
                        <a:srgbClr val="A8B7C0"/>
                      </a:solidFill>
                      <a:prstDash val="solid"/>
                    </a:lnB>
                    <a:solidFill>
                      <a:srgbClr val="FFFFFF"/>
                    </a:solidFill>
                  </a:tcPr>
                </a:tc>
              </a:tr>
              <a:tr h="785813">
                <a:tc>
                  <a:txBody>
                    <a:bodyPr/>
                    <a:lstStyle/>
                    <a:p>
                      <a:r>
                        <a:rPr sz="1875" b="0">
                          <a:solidFill>
                            <a:srgbClr val="193247"/>
                          </a:solidFill>
                          <a:latin typeface="Arial"/>
                          <a:ea typeface="Arial"/>
                          <a:cs typeface="Arial"/>
                        </a:rPr>
                        <a:t>Рюкзак: Dᵢ(b)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Найкраща користь перших i завдань</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перших завдань</a:t>
                      </a:r>
                    </a:p>
                  </a:txBody>
                  <a:tcPr marL="91440" marR="91440" marT="45720" marB="45720">
                    <a:lnR w="9525">
                      <a:solidFill>
                        <a:srgbClr val="A8B7C0"/>
                      </a:solidFill>
                      <a:prstDash val="solid"/>
                    </a:lnR>
                    <a:lnB w="9525">
                      <a:solidFill>
                        <a:srgbClr val="A8B7C0"/>
                      </a:solidFill>
                      <a:prstDash val="solid"/>
                    </a:lnB>
                    <a:solidFill>
                      <a:srgbClr val="FFFFFF"/>
                    </a:solidFill>
                  </a:tcPr>
                </a:tc>
              </a:tr>
              <a:tr h="785813">
                <a:tc>
                  <a:txBody>
                    <a:bodyPr/>
                    <a:lstStyle/>
                    <a:p>
                      <a:r>
                        <a:rPr sz="1875" b="0">
                          <a:solidFill>
                            <a:srgbClr val="193247"/>
                          </a:solidFill>
                          <a:latin typeface="Arial"/>
                          <a:ea typeface="Arial"/>
                          <a:cs typeface="Arial"/>
                        </a:rPr>
                        <a:t>Беллман–Форд: dₖ(v)</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Найкращий шлях із ≤ k ребрами</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шару k−1 до k</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CC3A0C-C628-4778-8FD8-FF0BCEE58C3A}"/>
              </a:ext>
            </a:extLst>
          </p:cNvPr>
          <p:cNvSpPr>
            <a:spLocks xmlns:a="http://schemas.openxmlformats.org/drawingml/2006/main" noGrp="1"/>
          </p:cNvSpPr>
          <p:nvPr/>
        </p:nvSpPr>
        <p:spPr>
          <a:xfrm xmlns:a="http://schemas.openxmlformats.org/drawingml/2006/main">
            <a:off x="685800" y="528637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08B85"/>
                </a:solidFill>
                <a:latin typeface="Arial"/>
                <a:ea typeface="Arial"/>
                <a:cs typeface="Arial"/>
              </a:defRPr>
            </a:defPPr>
          </a:lstStyle>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Слово «динамічне» не вимагає фізичного часу в задачі.</a:t>
            </a:r>
          </a:p>
        </p:txBody>
      </p:sp>
    </p:spTree>
    <p:extLst>
      <p:ext uri="{BB962C8B-B14F-4D97-AF65-F5344CB8AC3E}">
        <p14:creationId xmlns:p14="http://schemas.microsoft.com/office/powerpoint/2010/main" val="546374005"/>
      </p:ext>
    </p:extLst>
  </p:cSld>
</p:sld>
</file>

<file path=ppt/slides/dp11_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5BA2E2C-A671-49B2-860F-FE519984809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Алгоритм Беллмана–Форда</a:t>
            </a:r>
          </a:p>
        </p:txBody>
      </p:sp>
      <p:sp>
        <p:nvSpPr>
          <p:cNvPr id="2" name="">
            <a:extLst xmlns:a="http://schemas.openxmlformats.org/drawingml/2006/main">
              <a:ext uri="{FF2B5EF4-FFF2-40B4-BE49-F238E27FC236}">
                <a16:creationId xmlns:a16="http://schemas.microsoft.com/office/drawing/2014/main" id="{7D6FA611-78B8-44D3-B402-8E19773B519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Якщо весь шар не змінився, можна завершити основні проходи раніше.</a:t>
            </a:r>
          </a:p>
        </p:txBody>
      </p:sp>
      <p:sp>
        <p:nvSpPr>
          <p:cNvPr id="3" name="">
            <a:extLst xmlns:a="http://schemas.openxmlformats.org/drawingml/2006/main">
              <a:ext uri="{FF2B5EF4-FFF2-40B4-BE49-F238E27FC236}">
                <a16:creationId xmlns:a16="http://schemas.microsoft.com/office/drawing/2014/main" id="{4CC0540C-00FA-45A3-99E7-7AB0BB045E9F}"/>
              </a:ext>
            </a:extLst>
          </p:cNvPr>
          <p:cNvSpPr>
            <a:spLocks xmlns:a="http://schemas.openxmlformats.org/drawingml/2006/main" noGrp="1"/>
          </p:cNvSpPr>
          <p:nvPr/>
        </p:nvSpPr>
        <p:spPr>
          <a:xfrm xmlns:a="http://schemas.openxmlformats.org/drawingml/2006/main">
            <a:off x="685800" y="1476375"/>
            <a:ext cx="4095750" cy="61912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308716EB-E8BF-4B1D-A632-832FC0DCB761}"/>
              </a:ext>
            </a:extLst>
          </p:cNvPr>
          <p:cNvSpPr>
            <a:spLocks xmlns:a="http://schemas.openxmlformats.org/drawingml/2006/main" noGrp="1"/>
          </p:cNvSpPr>
          <p:nvPr/>
        </p:nvSpPr>
        <p:spPr>
          <a:xfrm xmlns:a="http://schemas.openxmlformats.org/drawingml/2006/main">
            <a:off x="819150" y="159067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d(S)=0, інші d=∞; k=0</a:t>
            </a:r>
          </a:p>
        </p:txBody>
      </p:sp>
      <p:sp>
        <p:nvSpPr>
          <p:cNvPr id="5" name="">
            <a:extLst xmlns:a="http://schemas.openxmlformats.org/drawingml/2006/main">
              <a:ext uri="{FF2B5EF4-FFF2-40B4-BE49-F238E27FC236}">
                <a16:creationId xmlns:a16="http://schemas.microsoft.com/office/drawing/2014/main" id="{E823CAE8-D098-427D-9E3D-3E88FEE81129}"/>
              </a:ext>
            </a:extLst>
          </p:cNvPr>
          <p:cNvSpPr>
            <a:spLocks xmlns:a="http://schemas.openxmlformats.org/drawingml/2006/main" noGrp="1"/>
          </p:cNvSpPr>
          <p:nvPr/>
        </p:nvSpPr>
        <p:spPr>
          <a:xfrm xmlns:a="http://schemas.openxmlformats.org/drawingml/2006/main">
            <a:off x="685800" y="2476500"/>
            <a:ext cx="409575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F906ECFE-0EED-4F33-A024-1D4EF052A6BA}"/>
              </a:ext>
            </a:extLst>
          </p:cNvPr>
          <p:cNvSpPr>
            <a:spLocks xmlns:a="http://schemas.openxmlformats.org/drawingml/2006/main" noGrp="1"/>
          </p:cNvSpPr>
          <p:nvPr/>
        </p:nvSpPr>
        <p:spPr>
          <a:xfrm xmlns:a="http://schemas.openxmlformats.org/drawingml/2006/main">
            <a:off x="819150" y="2590800"/>
            <a:ext cx="38290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Побудувати новий шар</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із попереднього; k=k+1</a:t>
            </a:r>
          </a:p>
        </p:txBody>
      </p:sp>
      <p:sp>
        <p:nvSpPr>
          <p:cNvPr id="7" name="">
            <a:extLst xmlns:a="http://schemas.openxmlformats.org/drawingml/2006/main">
              <a:ext uri="{FF2B5EF4-FFF2-40B4-BE49-F238E27FC236}">
                <a16:creationId xmlns:a16="http://schemas.microsoft.com/office/drawing/2014/main" id="{1D504ED6-12BE-46A1-914D-E0DD4A3D5BCD}"/>
              </a:ext>
            </a:extLst>
          </p:cNvPr>
          <p:cNvSpPr>
            <a:spLocks xmlns:a="http://schemas.openxmlformats.org/drawingml/2006/main" noGrp="1"/>
          </p:cNvSpPr>
          <p:nvPr/>
        </p:nvSpPr>
        <p:spPr>
          <a:xfrm xmlns:a="http://schemas.openxmlformats.org/drawingml/2006/main" rot="5400000">
            <a:off x="2590800" y="2190750"/>
            <a:ext cx="2857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5A0A30-DA60-428A-837A-E43A4203E547}"/>
              </a:ext>
            </a:extLst>
          </p:cNvPr>
          <p:cNvSpPr>
            <a:spLocks xmlns:a="http://schemas.openxmlformats.org/drawingml/2006/main" noGrp="1"/>
          </p:cNvSpPr>
          <p:nvPr/>
        </p:nvSpPr>
        <p:spPr>
          <a:xfrm xmlns:a="http://schemas.openxmlformats.org/drawingml/2006/main">
            <a:off x="685800" y="3857625"/>
            <a:ext cx="4095750" cy="61912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9" name="">
            <a:extLst xmlns:a="http://schemas.openxmlformats.org/drawingml/2006/main">
              <a:ext uri="{FF2B5EF4-FFF2-40B4-BE49-F238E27FC236}">
                <a16:creationId xmlns:a16="http://schemas.microsoft.com/office/drawing/2014/main" id="{AE5E0984-542C-46F9-AF5C-850289921FFC}"/>
              </a:ext>
            </a:extLst>
          </p:cNvPr>
          <p:cNvSpPr>
            <a:spLocks xmlns:a="http://schemas.openxmlformats.org/drawingml/2006/main" noGrp="1"/>
          </p:cNvSpPr>
          <p:nvPr/>
        </p:nvSpPr>
        <p:spPr>
          <a:xfrm xmlns:a="http://schemas.openxmlformats.org/drawingml/2006/main">
            <a:off x="819150" y="397192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Є зміни і k &lt; |V|−1?</a:t>
            </a:r>
          </a:p>
        </p:txBody>
      </p:sp>
      <p:sp>
        <p:nvSpPr>
          <p:cNvPr id="10" name="">
            <a:extLst xmlns:a="http://schemas.openxmlformats.org/drawingml/2006/main">
              <a:ext uri="{FF2B5EF4-FFF2-40B4-BE49-F238E27FC236}">
                <a16:creationId xmlns:a16="http://schemas.microsoft.com/office/drawing/2014/main" id="{C38DACFB-DF35-4607-813B-2228D42B5772}"/>
              </a:ext>
            </a:extLst>
          </p:cNvPr>
          <p:cNvSpPr>
            <a:spLocks xmlns:a="http://schemas.openxmlformats.org/drawingml/2006/main" noGrp="1"/>
          </p:cNvSpPr>
          <p:nvPr/>
        </p:nvSpPr>
        <p:spPr>
          <a:xfrm xmlns:a="http://schemas.openxmlformats.org/drawingml/2006/main" rot="5400000">
            <a:off x="2566988" y="3548063"/>
            <a:ext cx="333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5D0F5E-A6FF-4316-8B9B-3315A9DBEAAA}"/>
              </a:ext>
            </a:extLst>
          </p:cNvPr>
          <p:cNvSpPr>
            <a:spLocks xmlns:a="http://schemas.openxmlformats.org/drawingml/2006/main" noGrp="1"/>
          </p:cNvSpPr>
          <p:nvPr/>
        </p:nvSpPr>
        <p:spPr>
          <a:xfrm xmlns:a="http://schemas.openxmlformats.org/drawingml/2006/main" rot="10800000">
            <a:off x="400050" y="4143375"/>
            <a:ext cx="2952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44B68C3-0D60-417B-A923-D47249816F0A}"/>
              </a:ext>
            </a:extLst>
          </p:cNvPr>
          <p:cNvSpPr>
            <a:spLocks xmlns:a="http://schemas.openxmlformats.org/drawingml/2006/main" noGrp="1"/>
          </p:cNvSpPr>
          <p:nvPr/>
        </p:nvSpPr>
        <p:spPr>
          <a:xfrm xmlns:a="http://schemas.openxmlformats.org/drawingml/2006/main" rot="-5400000">
            <a:off x="-219075" y="3524250"/>
            <a:ext cx="12382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2A6F79-8415-499B-A69C-6958427F4E3F}"/>
              </a:ext>
            </a:extLst>
          </p:cNvPr>
          <p:cNvSpPr>
            <a:spLocks xmlns:a="http://schemas.openxmlformats.org/drawingml/2006/main" noGrp="1"/>
          </p:cNvSpPr>
          <p:nvPr/>
        </p:nvSpPr>
        <p:spPr>
          <a:xfrm xmlns:a="http://schemas.openxmlformats.org/drawingml/2006/main" rot="0">
            <a:off x="400050" y="2905125"/>
            <a:ext cx="2476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B9BDD8-1762-416D-BF34-A46A7D604E3E}"/>
              </a:ext>
            </a:extLst>
          </p:cNvPr>
          <p:cNvSpPr>
            <a:spLocks xmlns:a="http://schemas.openxmlformats.org/drawingml/2006/main" noGrp="1"/>
          </p:cNvSpPr>
          <p:nvPr/>
        </p:nvSpPr>
        <p:spPr>
          <a:xfrm xmlns:a="http://schemas.openxmlformats.org/drawingml/2006/main">
            <a:off x="190500" y="347662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так</a:t>
            </a:r>
          </a:p>
        </p:txBody>
      </p:sp>
      <p:sp>
        <p:nvSpPr>
          <p:cNvPr id="15" name="">
            <a:extLst xmlns:a="http://schemas.openxmlformats.org/drawingml/2006/main">
              <a:ext uri="{FF2B5EF4-FFF2-40B4-BE49-F238E27FC236}">
                <a16:creationId xmlns:a16="http://schemas.microsoft.com/office/drawing/2014/main" id="{888D2C35-CDC0-4218-AA0C-6484B7B37067}"/>
              </a:ext>
            </a:extLst>
          </p:cNvPr>
          <p:cNvSpPr>
            <a:spLocks xmlns:a="http://schemas.openxmlformats.org/drawingml/2006/main" noGrp="1"/>
          </p:cNvSpPr>
          <p:nvPr/>
        </p:nvSpPr>
        <p:spPr>
          <a:xfrm xmlns:a="http://schemas.openxmlformats.org/drawingml/2006/main">
            <a:off x="5905500" y="2476500"/>
            <a:ext cx="5572125"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6" name="">
            <a:extLst xmlns:a="http://schemas.openxmlformats.org/drawingml/2006/main">
              <a:ext uri="{FF2B5EF4-FFF2-40B4-BE49-F238E27FC236}">
                <a16:creationId xmlns:a16="http://schemas.microsoft.com/office/drawing/2014/main" id="{84E82B9D-E4A8-4E10-9655-C5664819AFBD}"/>
              </a:ext>
            </a:extLst>
          </p:cNvPr>
          <p:cNvSpPr>
            <a:spLocks xmlns:a="http://schemas.openxmlformats.org/drawingml/2006/main" noGrp="1"/>
          </p:cNvSpPr>
          <p:nvPr/>
        </p:nvSpPr>
        <p:spPr>
          <a:xfrm xmlns:a="http://schemas.openxmlformats.org/drawingml/2006/main">
            <a:off x="6038850" y="2590800"/>
            <a:ext cx="53054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Чи можна ще покращити</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відстань із досяжного вузла?</a:t>
            </a:r>
          </a:p>
        </p:txBody>
      </p:sp>
      <p:sp>
        <p:nvSpPr>
          <p:cNvPr id="17" name="">
            <a:extLst xmlns:a="http://schemas.openxmlformats.org/drawingml/2006/main">
              <a:ext uri="{FF2B5EF4-FFF2-40B4-BE49-F238E27FC236}">
                <a16:creationId xmlns:a16="http://schemas.microsoft.com/office/drawing/2014/main" id="{B90858FE-9D44-418C-A6B9-51E51CF8A0E1}"/>
              </a:ext>
            </a:extLst>
          </p:cNvPr>
          <p:cNvSpPr>
            <a:spLocks xmlns:a="http://schemas.openxmlformats.org/drawingml/2006/main" noGrp="1"/>
          </p:cNvSpPr>
          <p:nvPr/>
        </p:nvSpPr>
        <p:spPr>
          <a:xfrm xmlns:a="http://schemas.openxmlformats.org/drawingml/2006/main" rot="0">
            <a:off x="4810125" y="4124325"/>
            <a:ext cx="8096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4324A7-9614-480A-BD64-19F7EA706428}"/>
              </a:ext>
            </a:extLst>
          </p:cNvPr>
          <p:cNvSpPr>
            <a:spLocks xmlns:a="http://schemas.openxmlformats.org/drawingml/2006/main" noGrp="1"/>
          </p:cNvSpPr>
          <p:nvPr/>
        </p:nvSpPr>
        <p:spPr>
          <a:xfrm xmlns:a="http://schemas.openxmlformats.org/drawingml/2006/main" rot="-5400000">
            <a:off x="5010150" y="3514725"/>
            <a:ext cx="12192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C1F1D0-EDB8-43FD-90DD-C0F9A136D775}"/>
              </a:ext>
            </a:extLst>
          </p:cNvPr>
          <p:cNvSpPr>
            <a:spLocks xmlns:a="http://schemas.openxmlformats.org/drawingml/2006/main" noGrp="1"/>
          </p:cNvSpPr>
          <p:nvPr/>
        </p:nvSpPr>
        <p:spPr>
          <a:xfrm xmlns:a="http://schemas.openxmlformats.org/drawingml/2006/main" rot="0">
            <a:off x="5619750" y="2905125"/>
            <a:ext cx="2381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C626AA0-6A29-47CD-8F37-419F9C295ECC}"/>
              </a:ext>
            </a:extLst>
          </p:cNvPr>
          <p:cNvSpPr>
            <a:spLocks xmlns:a="http://schemas.openxmlformats.org/drawingml/2006/main" noGrp="1"/>
          </p:cNvSpPr>
          <p:nvPr/>
        </p:nvSpPr>
        <p:spPr>
          <a:xfrm xmlns:a="http://schemas.openxmlformats.org/drawingml/2006/main">
            <a:off x="5095875" y="37814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ні</a:t>
            </a:r>
          </a:p>
        </p:txBody>
      </p:sp>
      <p:sp>
        <p:nvSpPr>
          <p:cNvPr id="21" name="">
            <a:extLst xmlns:a="http://schemas.openxmlformats.org/drawingml/2006/main">
              <a:ext uri="{FF2B5EF4-FFF2-40B4-BE49-F238E27FC236}">
                <a16:creationId xmlns:a16="http://schemas.microsoft.com/office/drawing/2014/main" id="{C381A316-B491-41DE-9DEC-12FFE5BAFA71}"/>
              </a:ext>
            </a:extLst>
          </p:cNvPr>
          <p:cNvSpPr>
            <a:spLocks xmlns:a="http://schemas.openxmlformats.org/drawingml/2006/main" noGrp="1"/>
          </p:cNvSpPr>
          <p:nvPr/>
        </p:nvSpPr>
        <p:spPr>
          <a:xfrm xmlns:a="http://schemas.openxmlformats.org/drawingml/2006/main">
            <a:off x="5905500" y="4429125"/>
            <a:ext cx="2571750" cy="1000125"/>
          </a:xfrm>
          <a:prstGeom xmlns:a="http://schemas.openxmlformats.org/drawingml/2006/main" prst="rect">
            <a:avLst/>
          </a:prstGeom>
          <a:solidFill xmlns:a="http://schemas.openxmlformats.org/drawingml/2006/main">
            <a:srgbClr val="FBE9E6"/>
          </a:solidFill>
          <a:ln xmlns:a="http://schemas.openxmlformats.org/drawingml/2006/main" w="9525">
            <a:solidFill>
              <a:srgbClr val="A8B7C0"/>
            </a:solidFill>
          </a:ln>
        </p:spPr>
      </p:sp>
      <p:sp>
        <p:nvSpPr>
          <p:cNvPr id="22" name="">
            <a:extLst xmlns:a="http://schemas.openxmlformats.org/drawingml/2006/main">
              <a:ext uri="{FF2B5EF4-FFF2-40B4-BE49-F238E27FC236}">
                <a16:creationId xmlns:a16="http://schemas.microsoft.com/office/drawing/2014/main" id="{4B63C1B6-061D-4113-BE57-69AA89AAEC05}"/>
              </a:ext>
            </a:extLst>
          </p:cNvPr>
          <p:cNvSpPr>
            <a:spLocks xmlns:a="http://schemas.openxmlformats.org/drawingml/2006/main" noGrp="1"/>
          </p:cNvSpPr>
          <p:nvPr/>
        </p:nvSpPr>
        <p:spPr>
          <a:xfrm xmlns:a="http://schemas.openxmlformats.org/drawingml/2006/main">
            <a:off x="6038850" y="4543425"/>
            <a:ext cx="2305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Так: досяжний</a:t>
            </a:r>
          </a:p>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від’ємний цикл</a:t>
            </a:r>
          </a:p>
        </p:txBody>
      </p:sp>
      <p:sp>
        <p:nvSpPr>
          <p:cNvPr id="23" name="">
            <a:extLst xmlns:a="http://schemas.openxmlformats.org/drawingml/2006/main">
              <a:ext uri="{FF2B5EF4-FFF2-40B4-BE49-F238E27FC236}">
                <a16:creationId xmlns:a16="http://schemas.microsoft.com/office/drawing/2014/main" id="{F5FCC749-1E77-4A5D-8C4B-327A166BB3D0}"/>
              </a:ext>
            </a:extLst>
          </p:cNvPr>
          <p:cNvSpPr>
            <a:spLocks xmlns:a="http://schemas.openxmlformats.org/drawingml/2006/main" noGrp="1"/>
          </p:cNvSpPr>
          <p:nvPr/>
        </p:nvSpPr>
        <p:spPr>
          <a:xfrm xmlns:a="http://schemas.openxmlformats.org/drawingml/2006/main">
            <a:off x="8905875" y="4429125"/>
            <a:ext cx="2571750" cy="100012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24" name="">
            <a:extLst xmlns:a="http://schemas.openxmlformats.org/drawingml/2006/main">
              <a:ext uri="{FF2B5EF4-FFF2-40B4-BE49-F238E27FC236}">
                <a16:creationId xmlns:a16="http://schemas.microsoft.com/office/drawing/2014/main" id="{2C082553-BC42-4CCA-AF79-F49E2243B04C}"/>
              </a:ext>
            </a:extLst>
          </p:cNvPr>
          <p:cNvSpPr>
            <a:spLocks xmlns:a="http://schemas.openxmlformats.org/drawingml/2006/main" noGrp="1"/>
          </p:cNvSpPr>
          <p:nvPr/>
        </p:nvSpPr>
        <p:spPr>
          <a:xfrm xmlns:a="http://schemas.openxmlformats.org/drawingml/2006/main">
            <a:off x="9039225" y="4543425"/>
            <a:ext cx="2305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Ні: відстані</a:t>
            </a:r>
          </a:p>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 маршрут</a:t>
            </a:r>
          </a:p>
        </p:txBody>
      </p:sp>
      <p:sp>
        <p:nvSpPr>
          <p:cNvPr id="25" name="">
            <a:extLst xmlns:a="http://schemas.openxmlformats.org/drawingml/2006/main">
              <a:ext uri="{FF2B5EF4-FFF2-40B4-BE49-F238E27FC236}">
                <a16:creationId xmlns:a16="http://schemas.microsoft.com/office/drawing/2014/main" id="{8A13A0F9-B028-4F1C-A2CC-4EC862BF9E21}"/>
              </a:ext>
            </a:extLst>
          </p:cNvPr>
          <p:cNvSpPr>
            <a:spLocks xmlns:a="http://schemas.openxmlformats.org/drawingml/2006/main" noGrp="1"/>
          </p:cNvSpPr>
          <p:nvPr/>
        </p:nvSpPr>
        <p:spPr>
          <a:xfrm xmlns:a="http://schemas.openxmlformats.org/drawingml/2006/main" rot="6993903">
            <a:off x="6926470" y="3857625"/>
            <a:ext cx="958435" cy="9525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952AF5A-F0B9-4F21-AE4F-0C2CBFFDD407}"/>
              </a:ext>
            </a:extLst>
          </p:cNvPr>
          <p:cNvSpPr>
            <a:spLocks xmlns:a="http://schemas.openxmlformats.org/drawingml/2006/main" noGrp="1"/>
          </p:cNvSpPr>
          <p:nvPr/>
        </p:nvSpPr>
        <p:spPr>
          <a:xfrm xmlns:a="http://schemas.openxmlformats.org/drawingml/2006/main" rot="3656724">
            <a:off x="9463296" y="3857625"/>
            <a:ext cx="980659"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Tree>
    <p:extLst>
      <p:ext uri="{BB962C8B-B14F-4D97-AF65-F5344CB8AC3E}">
        <p14:creationId xmlns:p14="http://schemas.microsoft.com/office/powerpoint/2010/main" val="1197340796"/>
      </p:ext>
    </p:extLst>
  </p:cSld>
</p:sld>
</file>

<file path=ppt/slides/dp11_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902349-B27E-4416-B4C3-2708937E64B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Фактичний вивід: шари та відповідь</a:t>
            </a:r>
          </a:p>
        </p:txBody>
      </p:sp>
      <p:sp>
        <p:nvSpPr>
          <p:cNvPr id="2" name="">
            <a:extLst xmlns:a="http://schemas.openxmlformats.org/drawingml/2006/main">
              <a:ext uri="{FF2B5EF4-FFF2-40B4-BE49-F238E27FC236}">
                <a16:creationId xmlns:a16="http://schemas.microsoft.com/office/drawing/2014/main" id="{4AA51FAF-1775-4B55-BB44-61F7FACC1C5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Кожний рядок відповідає шляхам із не більше ніж k ребрами.</a:t>
            </a:r>
          </a:p>
        </p:txBody>
      </p:sp>
      <p:sp>
        <p:nvSpPr>
          <p:cNvPr id="3" name="">
            <a:extLst xmlns:a="http://schemas.openxmlformats.org/drawingml/2006/main">
              <a:ext uri="{FF2B5EF4-FFF2-40B4-BE49-F238E27FC236}">
                <a16:creationId xmlns:a16="http://schemas.microsoft.com/office/drawing/2014/main" id="{8B568027-FE25-424F-824B-DBDC6039F543}"/>
              </a:ext>
            </a:extLst>
          </p:cNvPr>
          <p:cNvSpPr>
            <a:spLocks xmlns:a="http://schemas.openxmlformats.org/drawingml/2006/main" noGrp="1"/>
          </p:cNvSpPr>
          <p:nvPr/>
        </p:nvSpPr>
        <p:spPr>
          <a:xfrm xmlns:a="http://schemas.openxmlformats.org/drawingml/2006/main">
            <a:off x="838200" y="1476375"/>
            <a:ext cx="10477500" cy="1576578"/>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Courier New"/>
                <a:ea typeface="Courier New"/>
                <a:cs typeface="Courier New"/>
              </a:defRPr>
            </a:defPPr>
          </a:lstStyle>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for k, row in enumerate(history):</a:t>
            </a:r>
          </a:p>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    values = [row[v] for v in nodes]</a:t>
            </a:r>
          </a:p>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    print(k, values)</a:t>
            </a:r>
          </a:p>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print("Затримка:", d["T"], "мс")</a:t>
            </a:r>
          </a:p>
        </p:txBody>
      </p:sp>
      <p:sp>
        <p:nvSpPr>
          <p:cNvPr id="4" name="">
            <a:extLst xmlns:a="http://schemas.openxmlformats.org/drawingml/2006/main">
              <a:ext uri="{FF2B5EF4-FFF2-40B4-BE49-F238E27FC236}">
                <a16:creationId xmlns:a16="http://schemas.microsoft.com/office/drawing/2014/main" id="{07DE54C0-AB29-42B0-B7CE-12ED0211C9DA}"/>
              </a:ext>
            </a:extLst>
          </p:cNvPr>
          <p:cNvSpPr>
            <a:spLocks xmlns:a="http://schemas.openxmlformats.org/drawingml/2006/main" noGrp="1"/>
          </p:cNvSpPr>
          <p:nvPr/>
        </p:nvSpPr>
        <p:spPr>
          <a:xfrm xmlns:a="http://schemas.openxmlformats.org/drawingml/2006/main">
            <a:off x="838200" y="3291078"/>
            <a:ext cx="10477500" cy="2212467"/>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Courier New"/>
                <a:ea typeface="Courier New"/>
                <a:cs typeface="Courier New"/>
              </a:defRPr>
            </a:defPPr>
          </a:lstStyle>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0 [0, inf, inf, inf, inf]</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1 [0, 4, 8, inf, inf]</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2 [0, 4, 5, 9, 14]</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3 [0, 4, 5, 6, 10]</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4 [0, 4, 5, 6, 7]</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Затримка: 7 мс</a:t>
            </a:r>
          </a:p>
        </p:txBody>
      </p:sp>
    </p:spTree>
    <p:extLst>
      <p:ext uri="{BB962C8B-B14F-4D97-AF65-F5344CB8AC3E}">
        <p14:creationId xmlns:p14="http://schemas.microsoft.com/office/powerpoint/2010/main" val="517630961"/>
      </p:ext>
    </p:extLst>
  </p:cSld>
</p:sld>
</file>

<file path=ppt/slides/dp11_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A36CD8D-8B4A-408F-9FFF-B638C4C6350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мережа N підключена до R4</a:t>
            </a:r>
          </a:p>
        </p:txBody>
      </p:sp>
      <p:sp>
        <p:nvSpPr>
          <p:cNvPr id="2" name="">
            <a:extLst xmlns:a="http://schemas.openxmlformats.org/drawingml/2006/main">
              <a:ext uri="{FF2B5EF4-FFF2-40B4-BE49-F238E27FC236}">
                <a16:creationId xmlns:a16="http://schemas.microsoft.com/office/drawing/2014/main" id="{F8A036C7-889C-47E7-BB13-34BB520A8B1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R4 знає пряму мережу з метрикою 1. Для інших N спочатку недосяжна.</a:t>
            </a:r>
          </a:p>
        </p:txBody>
      </p:sp>
      <p:sp>
        <p:nvSpPr>
          <p:cNvPr id="3" name="">
            <a:extLst xmlns:a="http://schemas.openxmlformats.org/drawingml/2006/main">
              <a:ext uri="{FF2B5EF4-FFF2-40B4-BE49-F238E27FC236}">
                <a16:creationId xmlns:a16="http://schemas.microsoft.com/office/drawing/2014/main" id="{305F4B6F-24DF-45D5-8DBF-76F7047C2301}"/>
              </a:ext>
            </a:extLst>
          </p:cNvPr>
          <p:cNvSpPr>
            <a:spLocks xmlns:a="http://schemas.openxmlformats.org/drawingml/2006/main" noGrp="1"/>
          </p:cNvSpPr>
          <p:nvPr/>
        </p:nvSpPr>
        <p:spPr>
          <a:xfrm xmlns:a="http://schemas.openxmlformats.org/drawingml/2006/main">
            <a:off x="11430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4" name="">
            <a:extLst xmlns:a="http://schemas.openxmlformats.org/drawingml/2006/main">
              <a:ext uri="{FF2B5EF4-FFF2-40B4-BE49-F238E27FC236}">
                <a16:creationId xmlns:a16="http://schemas.microsoft.com/office/drawing/2014/main" id="{78790FFF-2F9F-4A50-8860-A8C1FCDB89BB}"/>
              </a:ext>
            </a:extLst>
          </p:cNvPr>
          <p:cNvSpPr>
            <a:spLocks xmlns:a="http://schemas.openxmlformats.org/drawingml/2006/main" noGrp="1"/>
          </p:cNvSpPr>
          <p:nvPr/>
        </p:nvSpPr>
        <p:spPr>
          <a:xfrm xmlns:a="http://schemas.openxmlformats.org/drawingml/2006/main">
            <a:off x="13239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5" name="">
            <a:extLst xmlns:a="http://schemas.openxmlformats.org/drawingml/2006/main">
              <a:ext uri="{FF2B5EF4-FFF2-40B4-BE49-F238E27FC236}">
                <a16:creationId xmlns:a16="http://schemas.microsoft.com/office/drawing/2014/main" id="{A1F40B74-C724-4009-842E-BA37E9C5EE52}"/>
              </a:ext>
            </a:extLst>
          </p:cNvPr>
          <p:cNvSpPr>
            <a:spLocks xmlns:a="http://schemas.openxmlformats.org/drawingml/2006/main" noGrp="1"/>
          </p:cNvSpPr>
          <p:nvPr/>
        </p:nvSpPr>
        <p:spPr>
          <a:xfrm xmlns:a="http://schemas.openxmlformats.org/drawingml/2006/main" rot="0">
            <a:off x="2143125" y="2886075"/>
            <a:ext cx="1428750" cy="3810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94D877-6AD0-4D2C-8073-98991E3FC149}"/>
              </a:ext>
            </a:extLst>
          </p:cNvPr>
          <p:cNvSpPr>
            <a:spLocks xmlns:a="http://schemas.openxmlformats.org/drawingml/2006/main" noGrp="1"/>
          </p:cNvSpPr>
          <p:nvPr/>
        </p:nvSpPr>
        <p:spPr>
          <a:xfrm xmlns:a="http://schemas.openxmlformats.org/drawingml/2006/main">
            <a:off x="2667000" y="24288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FD286A70-57E3-458D-853B-89D734058A3A}"/>
              </a:ext>
            </a:extLst>
          </p:cNvPr>
          <p:cNvSpPr>
            <a:spLocks xmlns:a="http://schemas.openxmlformats.org/drawingml/2006/main" noGrp="1"/>
          </p:cNvSpPr>
          <p:nvPr/>
        </p:nvSpPr>
        <p:spPr>
          <a:xfrm xmlns:a="http://schemas.openxmlformats.org/drawingml/2006/main">
            <a:off x="36195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8" name="">
            <a:extLst xmlns:a="http://schemas.openxmlformats.org/drawingml/2006/main">
              <a:ext uri="{FF2B5EF4-FFF2-40B4-BE49-F238E27FC236}">
                <a16:creationId xmlns:a16="http://schemas.microsoft.com/office/drawing/2014/main" id="{3DBA0A4F-308F-4306-AE50-FEBB749AB5BF}"/>
              </a:ext>
            </a:extLst>
          </p:cNvPr>
          <p:cNvSpPr>
            <a:spLocks xmlns:a="http://schemas.openxmlformats.org/drawingml/2006/main" noGrp="1"/>
          </p:cNvSpPr>
          <p:nvPr/>
        </p:nvSpPr>
        <p:spPr>
          <a:xfrm xmlns:a="http://schemas.openxmlformats.org/drawingml/2006/main">
            <a:off x="38004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9" name="">
            <a:extLst xmlns:a="http://schemas.openxmlformats.org/drawingml/2006/main">
              <a:ext uri="{FF2B5EF4-FFF2-40B4-BE49-F238E27FC236}">
                <a16:creationId xmlns:a16="http://schemas.microsoft.com/office/drawing/2014/main" id="{D53567D0-0F89-4DE5-B59B-344B56D8447A}"/>
              </a:ext>
            </a:extLst>
          </p:cNvPr>
          <p:cNvSpPr>
            <a:spLocks xmlns:a="http://schemas.openxmlformats.org/drawingml/2006/main" noGrp="1"/>
          </p:cNvSpPr>
          <p:nvPr/>
        </p:nvSpPr>
        <p:spPr>
          <a:xfrm xmlns:a="http://schemas.openxmlformats.org/drawingml/2006/main" rot="0">
            <a:off x="4619625" y="2886075"/>
            <a:ext cx="1428750" cy="3810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4CF6293-BD24-4551-A4F4-27A3169E3247}"/>
              </a:ext>
            </a:extLst>
          </p:cNvPr>
          <p:cNvSpPr>
            <a:spLocks xmlns:a="http://schemas.openxmlformats.org/drawingml/2006/main" noGrp="1"/>
          </p:cNvSpPr>
          <p:nvPr/>
        </p:nvSpPr>
        <p:spPr>
          <a:xfrm xmlns:a="http://schemas.openxmlformats.org/drawingml/2006/main">
            <a:off x="5143500" y="24288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E86B2BD2-6D5A-4541-BF5B-B0FAA02B2CA5}"/>
              </a:ext>
            </a:extLst>
          </p:cNvPr>
          <p:cNvSpPr>
            <a:spLocks xmlns:a="http://schemas.openxmlformats.org/drawingml/2006/main" noGrp="1"/>
          </p:cNvSpPr>
          <p:nvPr/>
        </p:nvSpPr>
        <p:spPr>
          <a:xfrm xmlns:a="http://schemas.openxmlformats.org/drawingml/2006/main">
            <a:off x="60960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2" name="">
            <a:extLst xmlns:a="http://schemas.openxmlformats.org/drawingml/2006/main">
              <a:ext uri="{FF2B5EF4-FFF2-40B4-BE49-F238E27FC236}">
                <a16:creationId xmlns:a16="http://schemas.microsoft.com/office/drawing/2014/main" id="{4CA36A69-5B7F-474B-ACDF-A2755E7B629A}"/>
              </a:ext>
            </a:extLst>
          </p:cNvPr>
          <p:cNvSpPr>
            <a:spLocks xmlns:a="http://schemas.openxmlformats.org/drawingml/2006/main" noGrp="1"/>
          </p:cNvSpPr>
          <p:nvPr/>
        </p:nvSpPr>
        <p:spPr>
          <a:xfrm xmlns:a="http://schemas.openxmlformats.org/drawingml/2006/main">
            <a:off x="62769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13" name="">
            <a:extLst xmlns:a="http://schemas.openxmlformats.org/drawingml/2006/main">
              <a:ext uri="{FF2B5EF4-FFF2-40B4-BE49-F238E27FC236}">
                <a16:creationId xmlns:a16="http://schemas.microsoft.com/office/drawing/2014/main" id="{6DEA8A02-6359-4F20-814C-BFD4553F0E01}"/>
              </a:ext>
            </a:extLst>
          </p:cNvPr>
          <p:cNvSpPr>
            <a:spLocks xmlns:a="http://schemas.openxmlformats.org/drawingml/2006/main" noGrp="1"/>
          </p:cNvSpPr>
          <p:nvPr/>
        </p:nvSpPr>
        <p:spPr>
          <a:xfrm xmlns:a="http://schemas.openxmlformats.org/drawingml/2006/main" rot="0">
            <a:off x="7096125" y="2886075"/>
            <a:ext cx="1428750" cy="3810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623BE0D-3AC9-45EF-9431-19695DCA79D4}"/>
              </a:ext>
            </a:extLst>
          </p:cNvPr>
          <p:cNvSpPr>
            <a:spLocks xmlns:a="http://schemas.openxmlformats.org/drawingml/2006/main" noGrp="1"/>
          </p:cNvSpPr>
          <p:nvPr/>
        </p:nvSpPr>
        <p:spPr>
          <a:xfrm xmlns:a="http://schemas.openxmlformats.org/drawingml/2006/main">
            <a:off x="7620000" y="24288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F09A43DD-4C0E-42F3-A9EF-16E322F2EB69}"/>
              </a:ext>
            </a:extLst>
          </p:cNvPr>
          <p:cNvSpPr>
            <a:spLocks xmlns:a="http://schemas.openxmlformats.org/drawingml/2006/main" noGrp="1"/>
          </p:cNvSpPr>
          <p:nvPr/>
        </p:nvSpPr>
        <p:spPr>
          <a:xfrm xmlns:a="http://schemas.openxmlformats.org/drawingml/2006/main">
            <a:off x="85725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6" name="">
            <a:extLst xmlns:a="http://schemas.openxmlformats.org/drawingml/2006/main">
              <a:ext uri="{FF2B5EF4-FFF2-40B4-BE49-F238E27FC236}">
                <a16:creationId xmlns:a16="http://schemas.microsoft.com/office/drawing/2014/main" id="{D7A8134E-5213-4AA5-9257-3CD6DE85CC2C}"/>
              </a:ext>
            </a:extLst>
          </p:cNvPr>
          <p:cNvSpPr>
            <a:spLocks xmlns:a="http://schemas.openxmlformats.org/drawingml/2006/main" noGrp="1"/>
          </p:cNvSpPr>
          <p:nvPr/>
        </p:nvSpPr>
        <p:spPr>
          <a:xfrm xmlns:a="http://schemas.openxmlformats.org/drawingml/2006/main">
            <a:off x="87534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17" name="">
            <a:extLst xmlns:a="http://schemas.openxmlformats.org/drawingml/2006/main">
              <a:ext uri="{FF2B5EF4-FFF2-40B4-BE49-F238E27FC236}">
                <a16:creationId xmlns:a16="http://schemas.microsoft.com/office/drawing/2014/main" id="{CB5490C3-DF7A-495B-B1DA-33B8DD548E07}"/>
              </a:ext>
            </a:extLst>
          </p:cNvPr>
          <p:cNvSpPr>
            <a:spLocks xmlns:a="http://schemas.openxmlformats.org/drawingml/2006/main" noGrp="1"/>
          </p:cNvSpPr>
          <p:nvPr/>
        </p:nvSpPr>
        <p:spPr>
          <a:xfrm xmlns:a="http://schemas.openxmlformats.org/drawingml/2006/main" rot="0">
            <a:off x="9572625" y="2857500"/>
            <a:ext cx="5238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43D761-F5FE-4312-BB78-678FE60853E1}"/>
              </a:ext>
            </a:extLst>
          </p:cNvPr>
          <p:cNvSpPr>
            <a:spLocks xmlns:a="http://schemas.openxmlformats.org/drawingml/2006/main" noGrp="1"/>
          </p:cNvSpPr>
          <p:nvPr/>
        </p:nvSpPr>
        <p:spPr>
          <a:xfrm xmlns:a="http://schemas.openxmlformats.org/drawingml/2006/main">
            <a:off x="10191750" y="2638425"/>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19" name="">
            <a:extLst xmlns:a="http://schemas.openxmlformats.org/drawingml/2006/main">
              <a:ext uri="{FF2B5EF4-FFF2-40B4-BE49-F238E27FC236}">
                <a16:creationId xmlns:a16="http://schemas.microsoft.com/office/drawing/2014/main" id="{626B7BE2-FA4B-4A54-BA4D-42945621A0E9}"/>
              </a:ext>
            </a:extLst>
          </p:cNvPr>
          <p:cNvSpPr>
            <a:spLocks xmlns:a="http://schemas.openxmlformats.org/drawingml/2006/main" noGrp="1"/>
          </p:cNvSpPr>
          <p:nvPr/>
        </p:nvSpPr>
        <p:spPr>
          <a:xfrm xmlns:a="http://schemas.openxmlformats.org/drawingml/2006/main">
            <a:off x="685800" y="40005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Метрики до N:</a:t>
            </a:r>
          </a:p>
        </p:txBody>
      </p:sp>
      <p:sp>
        <p:nvSpPr>
          <p:cNvPr id="20" name="">
            <a:extLst xmlns:a="http://schemas.openxmlformats.org/drawingml/2006/main">
              <a:ext uri="{FF2B5EF4-FFF2-40B4-BE49-F238E27FC236}">
                <a16:creationId xmlns:a16="http://schemas.microsoft.com/office/drawing/2014/main" id="{1BFB9CE0-4F67-4E62-B239-9C87E198AEAE}"/>
              </a:ext>
            </a:extLst>
          </p:cNvPr>
          <p:cNvSpPr>
            <a:spLocks xmlns:a="http://schemas.openxmlformats.org/drawingml/2006/main" noGrp="1"/>
          </p:cNvSpPr>
          <p:nvPr/>
        </p:nvSpPr>
        <p:spPr>
          <a:xfrm xmlns:a="http://schemas.openxmlformats.org/drawingml/2006/main">
            <a:off x="685800" y="48101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R1: 16       R2: 16       R3: 16       R4: 1</a:t>
            </a:r>
          </a:p>
        </p:txBody>
      </p:sp>
    </p:spTree>
    <p:extLst>
      <p:ext uri="{BB962C8B-B14F-4D97-AF65-F5344CB8AC3E}">
        <p14:creationId xmlns:p14="http://schemas.microsoft.com/office/powerpoint/2010/main" val="1269250339"/>
      </p:ext>
    </p:extLst>
  </p:cSld>
</p:sld>
</file>

<file path=ppt/slides/dp11_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4B91D2C-2C03-40A8-9195-55C8435C453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відмова каналу та петля</a:t>
            </a:r>
          </a:p>
        </p:txBody>
      </p:sp>
      <p:sp>
        <p:nvSpPr>
          <p:cNvPr id="2" name="">
            <a:extLst xmlns:a="http://schemas.openxmlformats.org/drawingml/2006/main">
              <a:ext uri="{FF2B5EF4-FFF2-40B4-BE49-F238E27FC236}">
                <a16:creationId xmlns:a16="http://schemas.microsoft.com/office/drawing/2014/main" id="{8EAFF008-6858-4E00-8C73-AFC1A4BABFC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Захист від петель у цьому контрприкладі вимкнений.</a:t>
            </a:r>
          </a:p>
        </p:txBody>
      </p:sp>
      <p:sp>
        <p:nvSpPr>
          <p:cNvPr id="3" name="">
            <a:extLst xmlns:a="http://schemas.openxmlformats.org/drawingml/2006/main">
              <a:ext uri="{FF2B5EF4-FFF2-40B4-BE49-F238E27FC236}">
                <a16:creationId xmlns:a16="http://schemas.microsoft.com/office/drawing/2014/main" id="{C54D7AF4-8AFA-4E75-AB18-9403EBAACAFF}"/>
              </a:ext>
            </a:extLst>
          </p:cNvPr>
          <p:cNvSpPr>
            <a:spLocks xmlns:a="http://schemas.openxmlformats.org/drawingml/2006/main" noGrp="1"/>
          </p:cNvSpPr>
          <p:nvPr/>
        </p:nvSpPr>
        <p:spPr>
          <a:xfrm xmlns:a="http://schemas.openxmlformats.org/drawingml/2006/main">
            <a:off x="952500" y="1905000"/>
            <a:ext cx="1714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F4381464-00BE-48F8-97B0-6FCC8B6FE29A}"/>
              </a:ext>
            </a:extLst>
          </p:cNvPr>
          <p:cNvSpPr>
            <a:spLocks xmlns:a="http://schemas.openxmlformats.org/drawingml/2006/main" noGrp="1"/>
          </p:cNvSpPr>
          <p:nvPr/>
        </p:nvSpPr>
        <p:spPr>
          <a:xfrm xmlns:a="http://schemas.openxmlformats.org/drawingml/2006/main">
            <a:off x="1085850" y="20193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R2</a:t>
            </a:r>
          </a:p>
        </p:txBody>
      </p:sp>
      <p:sp>
        <p:nvSpPr>
          <p:cNvPr id="5" name="">
            <a:extLst xmlns:a="http://schemas.openxmlformats.org/drawingml/2006/main">
              <a:ext uri="{FF2B5EF4-FFF2-40B4-BE49-F238E27FC236}">
                <a16:creationId xmlns:a16="http://schemas.microsoft.com/office/drawing/2014/main" id="{8AEBEBAA-AEBD-4796-8E6D-69811C2B814A}"/>
              </a:ext>
            </a:extLst>
          </p:cNvPr>
          <p:cNvSpPr>
            <a:spLocks xmlns:a="http://schemas.openxmlformats.org/drawingml/2006/main" noGrp="1"/>
          </p:cNvSpPr>
          <p:nvPr/>
        </p:nvSpPr>
        <p:spPr>
          <a:xfrm xmlns:a="http://schemas.openxmlformats.org/drawingml/2006/main">
            <a:off x="5429250" y="1905000"/>
            <a:ext cx="1714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5EED1907-C5FC-4DC9-A87F-644D6BA9041B}"/>
              </a:ext>
            </a:extLst>
          </p:cNvPr>
          <p:cNvSpPr>
            <a:spLocks xmlns:a="http://schemas.openxmlformats.org/drawingml/2006/main" noGrp="1"/>
          </p:cNvSpPr>
          <p:nvPr/>
        </p:nvSpPr>
        <p:spPr>
          <a:xfrm xmlns:a="http://schemas.openxmlformats.org/drawingml/2006/main">
            <a:off x="5562600" y="20193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R3</a:t>
            </a:r>
          </a:p>
        </p:txBody>
      </p:sp>
      <p:sp>
        <p:nvSpPr>
          <p:cNvPr id="7" name="">
            <a:extLst xmlns:a="http://schemas.openxmlformats.org/drawingml/2006/main">
              <a:ext uri="{FF2B5EF4-FFF2-40B4-BE49-F238E27FC236}">
                <a16:creationId xmlns:a16="http://schemas.microsoft.com/office/drawing/2014/main" id="{FE1F42C6-A50B-431A-A172-3F1188A7AC6D}"/>
              </a:ext>
            </a:extLst>
          </p:cNvPr>
          <p:cNvSpPr>
            <a:spLocks xmlns:a="http://schemas.openxmlformats.org/drawingml/2006/main" noGrp="1"/>
          </p:cNvSpPr>
          <p:nvPr/>
        </p:nvSpPr>
        <p:spPr>
          <a:xfrm xmlns:a="http://schemas.openxmlformats.org/drawingml/2006/main">
            <a:off x="9620250" y="1905000"/>
            <a:ext cx="1714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B185A27E-E6C6-40FE-AB9B-6085E36AA43C}"/>
              </a:ext>
            </a:extLst>
          </p:cNvPr>
          <p:cNvSpPr>
            <a:spLocks xmlns:a="http://schemas.openxmlformats.org/drawingml/2006/main" noGrp="1"/>
          </p:cNvSpPr>
          <p:nvPr/>
        </p:nvSpPr>
        <p:spPr>
          <a:xfrm xmlns:a="http://schemas.openxmlformats.org/drawingml/2006/main">
            <a:off x="9753600" y="20193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R4</a:t>
            </a:r>
          </a:p>
        </p:txBody>
      </p:sp>
      <p:sp>
        <p:nvSpPr>
          <p:cNvPr id="9" name="">
            <a:extLst xmlns:a="http://schemas.openxmlformats.org/drawingml/2006/main">
              <a:ext uri="{FF2B5EF4-FFF2-40B4-BE49-F238E27FC236}">
                <a16:creationId xmlns:a16="http://schemas.microsoft.com/office/drawing/2014/main" id="{68E02AA5-72AC-495D-9B26-1AC68753284C}"/>
              </a:ext>
            </a:extLst>
          </p:cNvPr>
          <p:cNvSpPr>
            <a:spLocks xmlns:a="http://schemas.openxmlformats.org/drawingml/2006/main" noGrp="1"/>
          </p:cNvSpPr>
          <p:nvPr/>
        </p:nvSpPr>
        <p:spPr>
          <a:xfrm xmlns:a="http://schemas.openxmlformats.org/drawingml/2006/main" rot="0">
            <a:off x="2714625" y="2047875"/>
            <a:ext cx="2619375" cy="9525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FD1CFEF-C604-4B04-9A06-DBBEEEA92FB1}"/>
              </a:ext>
            </a:extLst>
          </p:cNvPr>
          <p:cNvSpPr>
            <a:spLocks xmlns:a="http://schemas.openxmlformats.org/drawingml/2006/main" noGrp="1"/>
          </p:cNvSpPr>
          <p:nvPr/>
        </p:nvSpPr>
        <p:spPr>
          <a:xfrm xmlns:a="http://schemas.openxmlformats.org/drawingml/2006/main" rot="10800000">
            <a:off x="2714625" y="2381250"/>
            <a:ext cx="2619375" cy="9525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5F9D8EB-294B-42B9-8E4A-A7213B7DE6A5}"/>
              </a:ext>
            </a:extLst>
          </p:cNvPr>
          <p:cNvSpPr>
            <a:spLocks xmlns:a="http://schemas.openxmlformats.org/drawingml/2006/main" noGrp="1"/>
          </p:cNvSpPr>
          <p:nvPr/>
        </p:nvSpPr>
        <p:spPr>
          <a:xfrm xmlns:a="http://schemas.openxmlformats.org/drawingml/2006/main">
            <a:off x="3238500" y="15716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C64F45"/>
                </a:solidFill>
                <a:latin typeface="Arial"/>
                <a:ea typeface="Arial"/>
                <a:cs typeface="Arial"/>
              </a:defRPr>
            </a:defPPr>
          </a:lstStyle>
          <a:p xmlns:a="http://schemas.openxmlformats.org/drawingml/2006/main">
            <a:pPr>
              <a:defRPr sz="2100" b="1">
                <a:solidFill>
                  <a:srgbClr val="C64F45"/>
                </a:solidFill>
                <a:latin typeface="Arial"/>
                <a:ea typeface="Arial"/>
                <a:cs typeface="Arial"/>
              </a:defRPr>
            </a:pPr>
            <a:r>
              <a:rPr sz="2100" b="1">
                <a:solidFill>
                  <a:srgbClr val="C64F45"/>
                </a:solidFill>
                <a:latin typeface="Arial"/>
                <a:ea typeface="Arial"/>
                <a:cs typeface="Arial"/>
              </a:rPr>
              <a:t>петля пакетів</a:t>
            </a:r>
          </a:p>
        </p:txBody>
      </p:sp>
      <p:sp>
        <p:nvSpPr>
          <p:cNvPr id="12" name="">
            <a:extLst xmlns:a="http://schemas.openxmlformats.org/drawingml/2006/main">
              <a:ext uri="{FF2B5EF4-FFF2-40B4-BE49-F238E27FC236}">
                <a16:creationId xmlns:a16="http://schemas.microsoft.com/office/drawing/2014/main" id="{A64C7A66-6EB4-4121-BE67-58E71F1700CD}"/>
              </a:ext>
            </a:extLst>
          </p:cNvPr>
          <p:cNvSpPr>
            <a:spLocks xmlns:a="http://schemas.openxmlformats.org/drawingml/2006/main" noGrp="1"/>
          </p:cNvSpPr>
          <p:nvPr/>
        </p:nvSpPr>
        <p:spPr>
          <a:xfrm xmlns:a="http://schemas.openxmlformats.org/drawingml/2006/main">
            <a:off x="7524750" y="147637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C64F45"/>
                </a:solidFill>
                <a:latin typeface="Arial"/>
                <a:ea typeface="Arial"/>
                <a:cs typeface="Arial"/>
              </a:defRPr>
            </a:defPPr>
          </a:lstStyle>
          <a:p xmlns:a="http://schemas.openxmlformats.org/drawingml/2006/main">
            <a:pPr>
              <a:defRPr sz="2025" b="1">
                <a:solidFill>
                  <a:srgbClr val="C64F45"/>
                </a:solidFill>
                <a:latin typeface="Arial"/>
                <a:ea typeface="Arial"/>
                <a:cs typeface="Arial"/>
              </a:defRPr>
            </a:pPr>
            <a:r>
              <a:rPr sz="2025" b="1">
                <a:solidFill>
                  <a:srgbClr val="C64F45"/>
                </a:solidFill>
                <a:latin typeface="Arial"/>
                <a:ea typeface="Arial"/>
                <a:cs typeface="Arial"/>
              </a:rPr>
              <a:t>КАНАЛ ЗНИК</a:t>
            </a:r>
          </a:p>
        </p:txBody>
      </p:sp>
      <p:sp>
        <p:nvSpPr>
          <p:cNvPr id="13" name="">
            <a:extLst xmlns:a="http://schemas.openxmlformats.org/drawingml/2006/main">
              <a:ext uri="{FF2B5EF4-FFF2-40B4-BE49-F238E27FC236}">
                <a16:creationId xmlns:a16="http://schemas.microsoft.com/office/drawing/2014/main" id="{0AFFBC4F-2FE9-44A4-9838-4CA02BC3A0A8}"/>
              </a:ext>
            </a:extLst>
          </p:cNvPr>
          <p:cNvSpPr>
            <a:spLocks xmlns:a="http://schemas.openxmlformats.org/drawingml/2006/main" noGrp="1"/>
          </p:cNvSpPr>
          <p:nvPr/>
        </p:nvSpPr>
        <p:spPr>
          <a:xfrm xmlns:a="http://schemas.openxmlformats.org/drawingml/2006/main" rot="0">
            <a:off x="7239000" y="2247900"/>
            <a:ext cx="619125" cy="3810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83778F-3603-4D3B-B072-0B0D493BD3AC}"/>
              </a:ext>
            </a:extLst>
          </p:cNvPr>
          <p:cNvSpPr>
            <a:spLocks xmlns:a="http://schemas.openxmlformats.org/drawingml/2006/main" noGrp="1"/>
          </p:cNvSpPr>
          <p:nvPr/>
        </p:nvSpPr>
        <p:spPr>
          <a:xfrm xmlns:a="http://schemas.openxmlformats.org/drawingml/2006/main" rot="0">
            <a:off x="8858250" y="2247900"/>
            <a:ext cx="666750" cy="3810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A824D6-0F9A-4BFB-9239-E6DA16DACF39}"/>
              </a:ext>
            </a:extLst>
          </p:cNvPr>
          <p:cNvSpPr>
            <a:spLocks xmlns:a="http://schemas.openxmlformats.org/drawingml/2006/main" noGrp="1"/>
          </p:cNvSpPr>
          <p:nvPr/>
        </p:nvSpPr>
        <p:spPr>
          <a:xfrm xmlns:a="http://schemas.openxmlformats.org/drawingml/2006/main">
            <a:off x="8191500" y="20478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75" b="1">
                <a:solidFill>
                  <a:srgbClr val="C64F45"/>
                </a:solidFill>
                <a:latin typeface="Arial"/>
                <a:ea typeface="Arial"/>
                <a:cs typeface="Arial"/>
              </a:defRPr>
            </a:defPPr>
          </a:lstStyle>
          <a:p xmlns:a="http://schemas.openxmlformats.org/drawingml/2006/main">
            <a:pPr>
              <a:defRPr sz="3375" b="1">
                <a:solidFill>
                  <a:srgbClr val="C64F45"/>
                </a:solidFill>
                <a:latin typeface="Arial"/>
                <a:ea typeface="Arial"/>
                <a:cs typeface="Arial"/>
              </a:defRPr>
            </a:pPr>
            <a:r>
              <a:rPr sz="3375" b="1">
                <a:solidFill>
                  <a:srgbClr val="C64F45"/>
                </a:solidFill>
                <a:latin typeface="Arial"/>
                <a:ea typeface="Arial"/>
                <a:cs typeface="Arial"/>
              </a:rPr>
              <a:t>×</a:t>
            </a:r>
          </a:p>
        </p:txBody>
      </p:sp>
      <p:graphicFrame>
        <p:nvGraphicFramePr>
          <p:cNvPr id="16" name="">
            <a:extLst xmlns:a="http://schemas.openxmlformats.org/drawingml/2006/main">
              <a:ext uri="{FF2B5EF4-FFF2-40B4-BE49-F238E27FC236}">
                <a16:creationId xmlns:a16="http://schemas.microsoft.com/office/drawing/2014/main" id="{7714CB0B-B0ED-4F50-8EE4-16B6B57EBA5A}"/>
              </a:ext>
            </a:extLst>
          </p:cNvPr>
          <p:cNvGraphicFramePr/>
          <p:nvPr/>
        </p:nvGraphicFramePr>
        <p:xfrm>
          <a:off xmlns:a="http://schemas.openxmlformats.org/drawingml/2006/main" x="685800" y="3286125"/>
          <a:ext xmlns:a="http://schemas.openxmlformats.org/drawingml/2006/main" cx="10820400" cy="2333625"/>
        </p:xfrm>
        <a:graphic xmlns:a="http://schemas.openxmlformats.org/drawingml/2006/main">
          <a:graphicData uri="http://schemas.openxmlformats.org/drawingml/2006/table">
            <a:tbl>
              <a:tblPr/>
              <a:tblGrid>
                <a:gridCol w="5334000"/>
                <a:gridCol w="2743200"/>
                <a:gridCol w="2743200"/>
              </a:tblGrid>
              <a:tr h="466725">
                <a:tc>
                  <a:txBody>
                    <a:bodyPr/>
                    <a:lstStyle/>
                    <a:p>
                      <a:r>
                        <a:rPr sz="1875" b="1">
                          <a:solidFill>
                            <a:srgbClr val="FFFFFF"/>
                          </a:solidFill>
                          <a:latin typeface="Arial"/>
                          <a:ea typeface="Arial"/>
                          <a:cs typeface="Arial"/>
                        </a:rPr>
                        <a:t>Подія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R2: метрика / 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R3: метрика / 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66725">
                <a:tc>
                  <a:txBody>
                    <a:bodyPr/>
                    <a:lstStyle/>
                    <a:p>
                      <a:r>
                        <a:rPr sz="1875" b="0">
                          <a:solidFill>
                            <a:srgbClr val="193247"/>
                          </a:solidFill>
                          <a:latin typeface="Arial"/>
                          <a:ea typeface="Arial"/>
                          <a:cs typeface="Arial"/>
                        </a:rPr>
                        <a:t>R3 виявив відмову</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16 / 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r h="466725">
                <a:tc>
                  <a:txBody>
                    <a:bodyPr/>
                    <a:lstStyle/>
                    <a:p>
                      <a:r>
                        <a:rPr sz="1875" b="0">
                          <a:solidFill>
                            <a:srgbClr val="193247"/>
                          </a:solidFill>
                          <a:latin typeface="Arial"/>
                          <a:ea typeface="Arial"/>
                          <a:cs typeface="Arial"/>
                        </a:rPr>
                        <a:t>R3 прийняв старе оголошення R2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 / R2</a:t>
                      </a:r>
                    </a:p>
                  </a:txBody>
                  <a:tcPr marL="91440" marR="91440" marT="45720" marB="45720">
                    <a:lnR w="9525">
                      <a:solidFill>
                        <a:srgbClr val="A8B7C0"/>
                      </a:solidFill>
                      <a:prstDash val="solid"/>
                    </a:lnR>
                    <a:lnB w="9525">
                      <a:solidFill>
                        <a:srgbClr val="A8B7C0"/>
                      </a:solidFill>
                      <a:prstDash val="solid"/>
                    </a:lnB>
                    <a:solidFill>
                      <a:srgbClr val="FFFFFF"/>
                    </a:solidFill>
                  </a:tcPr>
                </a:tc>
              </a:tr>
              <a:tr h="466725">
                <a:tc>
                  <a:txBody>
                    <a:bodyPr/>
                    <a:lstStyle/>
                    <a:p>
                      <a:r>
                        <a:rPr sz="1875" b="0">
                          <a:solidFill>
                            <a:srgbClr val="193247"/>
                          </a:solidFill>
                          <a:latin typeface="Arial"/>
                          <a:ea typeface="Arial"/>
                          <a:cs typeface="Arial"/>
                        </a:rPr>
                        <a:t>R2 прийняв оголошення R3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 / R2</a:t>
                      </a:r>
                    </a:p>
                  </a:txBody>
                  <a:tcPr marL="91440" marR="91440" marT="45720" marB="45720">
                    <a:lnR w="9525">
                      <a:solidFill>
                        <a:srgbClr val="A8B7C0"/>
                      </a:solidFill>
                      <a:prstDash val="solid"/>
                    </a:lnR>
                    <a:lnB w="9525">
                      <a:solidFill>
                        <a:srgbClr val="A8B7C0"/>
                      </a:solidFill>
                      <a:prstDash val="solid"/>
                    </a:lnB>
                    <a:solidFill>
                      <a:srgbClr val="FFFFFF"/>
                    </a:solidFill>
                  </a:tcPr>
                </a:tc>
              </a:tr>
              <a:tr h="466725">
                <a:tc>
                  <a:txBody>
                    <a:bodyPr/>
                    <a:lstStyle/>
                    <a:p>
                      <a:r>
                        <a:rPr sz="1875" b="0">
                          <a:solidFill>
                            <a:srgbClr val="193247"/>
                          </a:solidFill>
                          <a:latin typeface="Arial"/>
                          <a:ea typeface="Arial"/>
                          <a:cs typeface="Arial"/>
                        </a:rPr>
                        <a:t>Наступний обмін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 / R2</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208029362"/>
      </p:ext>
    </p:extLst>
  </p:cSld>
</p:sld>
</file>

<file path=ppt/slides/dp11_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0B667C-6D82-45A9-8461-80F87A09AC9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Рюкзак: відновлення вибраних завдань</a:t>
            </a:r>
          </a:p>
        </p:txBody>
      </p:sp>
      <p:sp>
        <p:nvSpPr>
          <p:cNvPr id="2" name="">
            <a:extLst xmlns:a="http://schemas.openxmlformats.org/drawingml/2006/main">
              <a:ext uri="{FF2B5EF4-FFF2-40B4-BE49-F238E27FC236}">
                <a16:creationId xmlns:a16="http://schemas.microsoft.com/office/drawing/2014/main" id="{F4D3708D-D70A-4013-B491-3FA9CF85232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Порівнюємо значення з попереднім рядком і змінюємо бюджет лише коли беремо завдання.</a:t>
            </a:r>
          </a:p>
        </p:txBody>
      </p:sp>
      <p:sp>
        <p:nvSpPr>
          <p:cNvPr id="3" name="">
            <a:extLst xmlns:a="http://schemas.openxmlformats.org/drawingml/2006/main">
              <a:ext uri="{FF2B5EF4-FFF2-40B4-BE49-F238E27FC236}">
                <a16:creationId xmlns:a16="http://schemas.microsoft.com/office/drawing/2014/main" id="{9A25F521-0C62-4FA8-BDE7-8320E73EC5AF}"/>
              </a:ext>
            </a:extLst>
          </p:cNvPr>
          <p:cNvSpPr>
            <a:spLocks xmlns:a="http://schemas.openxmlformats.org/drawingml/2006/main" noGrp="1"/>
          </p:cNvSpPr>
          <p:nvPr/>
        </p:nvSpPr>
        <p:spPr>
          <a:xfrm xmlns:a="http://schemas.openxmlformats.org/drawingml/2006/main">
            <a:off x="685800" y="1714500"/>
            <a:ext cx="4572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626AA1CB-FE91-418E-965C-7C2117094594}"/>
              </a:ext>
            </a:extLst>
          </p:cNvPr>
          <p:cNvSpPr>
            <a:spLocks xmlns:a="http://schemas.openxmlformats.org/drawingml/2006/main" noGrp="1"/>
          </p:cNvSpPr>
          <p:nvPr/>
        </p:nvSpPr>
        <p:spPr>
          <a:xfrm xmlns:a="http://schemas.openxmlformats.org/drawingml/2006/main">
            <a:off x="819150" y="1828800"/>
            <a:ext cx="4305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D₄(7)=22</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J4 пропускаємо</a:t>
            </a:r>
          </a:p>
        </p:txBody>
      </p:sp>
      <p:sp>
        <p:nvSpPr>
          <p:cNvPr id="5" name="">
            <a:extLst xmlns:a="http://schemas.openxmlformats.org/drawingml/2006/main">
              <a:ext uri="{FF2B5EF4-FFF2-40B4-BE49-F238E27FC236}">
                <a16:creationId xmlns:a16="http://schemas.microsoft.com/office/drawing/2014/main" id="{1BCE649B-C076-4C1D-90CD-1C394CB099CF}"/>
              </a:ext>
            </a:extLst>
          </p:cNvPr>
          <p:cNvSpPr>
            <a:spLocks xmlns:a="http://schemas.openxmlformats.org/drawingml/2006/main" noGrp="1"/>
          </p:cNvSpPr>
          <p:nvPr/>
        </p:nvSpPr>
        <p:spPr>
          <a:xfrm xmlns:a="http://schemas.openxmlformats.org/drawingml/2006/main">
            <a:off x="685800" y="3810000"/>
            <a:ext cx="457200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B4F64815-DA1A-4807-9852-3B13C3890B85}"/>
              </a:ext>
            </a:extLst>
          </p:cNvPr>
          <p:cNvSpPr>
            <a:spLocks xmlns:a="http://schemas.openxmlformats.org/drawingml/2006/main" noGrp="1"/>
          </p:cNvSpPr>
          <p:nvPr/>
        </p:nvSpPr>
        <p:spPr>
          <a:xfrm xmlns:a="http://schemas.openxmlformats.org/drawingml/2006/main">
            <a:off x="819150" y="3924300"/>
            <a:ext cx="4305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D₃(7)=22</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J3 беремо, 7−4=3</a:t>
            </a:r>
          </a:p>
        </p:txBody>
      </p:sp>
      <p:sp>
        <p:nvSpPr>
          <p:cNvPr id="7" name="">
            <a:extLst xmlns:a="http://schemas.openxmlformats.org/drawingml/2006/main">
              <a:ext uri="{FF2B5EF4-FFF2-40B4-BE49-F238E27FC236}">
                <a16:creationId xmlns:a16="http://schemas.microsoft.com/office/drawing/2014/main" id="{43CF7823-5AEB-473E-A63E-806A0ED24FAB}"/>
              </a:ext>
            </a:extLst>
          </p:cNvPr>
          <p:cNvSpPr>
            <a:spLocks xmlns:a="http://schemas.openxmlformats.org/drawingml/2006/main" noGrp="1"/>
          </p:cNvSpPr>
          <p:nvPr/>
        </p:nvSpPr>
        <p:spPr>
          <a:xfrm xmlns:a="http://schemas.openxmlformats.org/drawingml/2006/main" rot="5400000">
            <a:off x="2471738" y="3167063"/>
            <a:ext cx="10001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5CD6EC-0F6D-4692-A63D-5F1E944F58E9}"/>
              </a:ext>
            </a:extLst>
          </p:cNvPr>
          <p:cNvSpPr>
            <a:spLocks xmlns:a="http://schemas.openxmlformats.org/drawingml/2006/main" noGrp="1"/>
          </p:cNvSpPr>
          <p:nvPr/>
        </p:nvSpPr>
        <p:spPr>
          <a:xfrm xmlns:a="http://schemas.openxmlformats.org/drawingml/2006/main">
            <a:off x="6858000" y="3810000"/>
            <a:ext cx="457200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9" name="">
            <a:extLst xmlns:a="http://schemas.openxmlformats.org/drawingml/2006/main">
              <a:ext uri="{FF2B5EF4-FFF2-40B4-BE49-F238E27FC236}">
                <a16:creationId xmlns:a16="http://schemas.microsoft.com/office/drawing/2014/main" id="{2C82B643-DD1F-4EEA-8200-FFC4CC4E8A64}"/>
              </a:ext>
            </a:extLst>
          </p:cNvPr>
          <p:cNvSpPr>
            <a:spLocks xmlns:a="http://schemas.openxmlformats.org/drawingml/2006/main" noGrp="1"/>
          </p:cNvSpPr>
          <p:nvPr/>
        </p:nvSpPr>
        <p:spPr>
          <a:xfrm xmlns:a="http://schemas.openxmlformats.org/drawingml/2006/main">
            <a:off x="6991350" y="3924300"/>
            <a:ext cx="4305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D₂(3)=10</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J2 беремо, 3−3=0</a:t>
            </a:r>
          </a:p>
        </p:txBody>
      </p:sp>
      <p:sp>
        <p:nvSpPr>
          <p:cNvPr id="10" name="">
            <a:extLst xmlns:a="http://schemas.openxmlformats.org/drawingml/2006/main">
              <a:ext uri="{FF2B5EF4-FFF2-40B4-BE49-F238E27FC236}">
                <a16:creationId xmlns:a16="http://schemas.microsoft.com/office/drawing/2014/main" id="{9D606EA1-3F72-4567-AE53-85AF48159839}"/>
              </a:ext>
            </a:extLst>
          </p:cNvPr>
          <p:cNvSpPr>
            <a:spLocks xmlns:a="http://schemas.openxmlformats.org/drawingml/2006/main" noGrp="1"/>
          </p:cNvSpPr>
          <p:nvPr/>
        </p:nvSpPr>
        <p:spPr>
          <a:xfrm xmlns:a="http://schemas.openxmlformats.org/drawingml/2006/main" rot="0">
            <a:off x="5334000" y="4286250"/>
            <a:ext cx="14287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F6542D-51A6-431A-833C-5BA749E0DD2D}"/>
              </a:ext>
            </a:extLst>
          </p:cNvPr>
          <p:cNvSpPr>
            <a:spLocks xmlns:a="http://schemas.openxmlformats.org/drawingml/2006/main" noGrp="1"/>
          </p:cNvSpPr>
          <p:nvPr/>
        </p:nvSpPr>
        <p:spPr>
          <a:xfrm xmlns:a="http://schemas.openxmlformats.org/drawingml/2006/main">
            <a:off x="6858000" y="1714500"/>
            <a:ext cx="4572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2" name="">
            <a:extLst xmlns:a="http://schemas.openxmlformats.org/drawingml/2006/main">
              <a:ext uri="{FF2B5EF4-FFF2-40B4-BE49-F238E27FC236}">
                <a16:creationId xmlns:a16="http://schemas.microsoft.com/office/drawing/2014/main" id="{8F698195-E3DB-4342-A5B6-0852E66014D0}"/>
              </a:ext>
            </a:extLst>
          </p:cNvPr>
          <p:cNvSpPr>
            <a:spLocks xmlns:a="http://schemas.openxmlformats.org/drawingml/2006/main" noGrp="1"/>
          </p:cNvSpPr>
          <p:nvPr/>
        </p:nvSpPr>
        <p:spPr>
          <a:xfrm xmlns:a="http://schemas.openxmlformats.org/drawingml/2006/main">
            <a:off x="6991350" y="1828800"/>
            <a:ext cx="4305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D₁(0)=0</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J1 пропускаємо</a:t>
            </a:r>
          </a:p>
        </p:txBody>
      </p:sp>
      <p:sp>
        <p:nvSpPr>
          <p:cNvPr id="13" name="">
            <a:extLst xmlns:a="http://schemas.openxmlformats.org/drawingml/2006/main">
              <a:ext uri="{FF2B5EF4-FFF2-40B4-BE49-F238E27FC236}">
                <a16:creationId xmlns:a16="http://schemas.microsoft.com/office/drawing/2014/main" id="{FD02E001-C1EE-4965-96F8-A164689207E5}"/>
              </a:ext>
            </a:extLst>
          </p:cNvPr>
          <p:cNvSpPr>
            <a:spLocks xmlns:a="http://schemas.openxmlformats.org/drawingml/2006/main" noGrp="1"/>
          </p:cNvSpPr>
          <p:nvPr/>
        </p:nvSpPr>
        <p:spPr>
          <a:xfrm xmlns:a="http://schemas.openxmlformats.org/drawingml/2006/main" rot="-5400000">
            <a:off x="8667750" y="3190875"/>
            <a:ext cx="9525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94DE94-C9AC-4957-9200-8FB7EE8A9885}"/>
              </a:ext>
            </a:extLst>
          </p:cNvPr>
          <p:cNvSpPr>
            <a:spLocks xmlns:a="http://schemas.openxmlformats.org/drawingml/2006/main" noGrp="1"/>
          </p:cNvSpPr>
          <p:nvPr/>
        </p:nvSpPr>
        <p:spPr>
          <a:xfrm xmlns:a="http://schemas.openxmlformats.org/drawingml/2006/main">
            <a:off x="685800" y="528637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План: J2 і J3. Ресурс 7, користь 22.</a:t>
            </a:r>
          </a:p>
        </p:txBody>
      </p:sp>
    </p:spTree>
    <p:extLst>
      <p:ext uri="{BB962C8B-B14F-4D97-AF65-F5344CB8AC3E}">
        <p14:creationId xmlns:p14="http://schemas.microsoft.com/office/powerpoint/2010/main" val="2104955252"/>
      </p:ext>
    </p:extLst>
  </p:cSld>
</p:sld>
</file>

<file path=ppt/slides/dp11_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EA4F1CA-CA9E-4BA0-AD0B-0639F5543FA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Левенштейн: звідки береться D(2,2)?</a:t>
            </a:r>
          </a:p>
        </p:txBody>
      </p:sp>
      <p:sp>
        <p:nvSpPr>
          <p:cNvPr id="2" name="">
            <a:extLst xmlns:a="http://schemas.openxmlformats.org/drawingml/2006/main">
              <a:ext uri="{FF2B5EF4-FFF2-40B4-BE49-F238E27FC236}">
                <a16:creationId xmlns:a16="http://schemas.microsoft.com/office/drawing/2014/main" id="{73F1574D-2D19-43D3-BA36-1C9723991AC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«ca» і «cu» обираємо заміну a на u. Кінцева відстань cat–cut дорівнює 1.</a:t>
            </a:r>
          </a:p>
        </p:txBody>
      </p:sp>
      <p:sp>
        <p:nvSpPr>
          <p:cNvPr id="3" name="">
            <a:extLst xmlns:a="http://schemas.openxmlformats.org/drawingml/2006/main">
              <a:ext uri="{FF2B5EF4-FFF2-40B4-BE49-F238E27FC236}">
                <a16:creationId xmlns:a16="http://schemas.microsoft.com/office/drawing/2014/main" id="{21D1639A-AA82-41F0-95BE-25574019A9B2}"/>
              </a:ext>
            </a:extLst>
          </p:cNvPr>
          <p:cNvSpPr>
            <a:spLocks xmlns:a="http://schemas.openxmlformats.org/drawingml/2006/main" noGrp="1"/>
          </p:cNvSpPr>
          <p:nvPr/>
        </p:nvSpPr>
        <p:spPr>
          <a:xfrm xmlns:a="http://schemas.openxmlformats.org/drawingml/2006/main">
            <a:off x="685800" y="1619250"/>
            <a:ext cx="3429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3FEE1481-1BBC-431C-BFFC-287053AEE5FA}"/>
              </a:ext>
            </a:extLst>
          </p:cNvPr>
          <p:cNvSpPr>
            <a:spLocks xmlns:a="http://schemas.openxmlformats.org/drawingml/2006/main" noGrp="1"/>
          </p:cNvSpPr>
          <p:nvPr/>
        </p:nvSpPr>
        <p:spPr>
          <a:xfrm xmlns:a="http://schemas.openxmlformats.org/drawingml/2006/main">
            <a:off x="819150" y="1733550"/>
            <a:ext cx="3162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D(1,1)=0</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 і «c»</a:t>
            </a:r>
          </a:p>
        </p:txBody>
      </p:sp>
      <p:sp>
        <p:nvSpPr>
          <p:cNvPr id="5" name="">
            <a:extLst xmlns:a="http://schemas.openxmlformats.org/drawingml/2006/main">
              <a:ext uri="{FF2B5EF4-FFF2-40B4-BE49-F238E27FC236}">
                <a16:creationId xmlns:a16="http://schemas.microsoft.com/office/drawing/2014/main" id="{244A1CA5-865F-4294-9012-2040731286DA}"/>
              </a:ext>
            </a:extLst>
          </p:cNvPr>
          <p:cNvSpPr>
            <a:spLocks xmlns:a="http://schemas.openxmlformats.org/drawingml/2006/main" noGrp="1"/>
          </p:cNvSpPr>
          <p:nvPr/>
        </p:nvSpPr>
        <p:spPr>
          <a:xfrm xmlns:a="http://schemas.openxmlformats.org/drawingml/2006/main">
            <a:off x="7239000" y="1619250"/>
            <a:ext cx="3810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961A604F-7DF5-4A82-93F9-36ACEA219427}"/>
              </a:ext>
            </a:extLst>
          </p:cNvPr>
          <p:cNvSpPr>
            <a:spLocks xmlns:a="http://schemas.openxmlformats.org/drawingml/2006/main" noGrp="1"/>
          </p:cNvSpPr>
          <p:nvPr/>
        </p:nvSpPr>
        <p:spPr>
          <a:xfrm xmlns:a="http://schemas.openxmlformats.org/drawingml/2006/main">
            <a:off x="7372350" y="1733550"/>
            <a:ext cx="3543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D(1,2)=1</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 і «cu»</a:t>
            </a:r>
          </a:p>
        </p:txBody>
      </p:sp>
      <p:sp>
        <p:nvSpPr>
          <p:cNvPr id="7" name="">
            <a:extLst xmlns:a="http://schemas.openxmlformats.org/drawingml/2006/main">
              <a:ext uri="{FF2B5EF4-FFF2-40B4-BE49-F238E27FC236}">
                <a16:creationId xmlns:a16="http://schemas.microsoft.com/office/drawing/2014/main" id="{6B701C06-2E68-43F6-B1F3-0A644EA0804A}"/>
              </a:ext>
            </a:extLst>
          </p:cNvPr>
          <p:cNvSpPr>
            <a:spLocks xmlns:a="http://schemas.openxmlformats.org/drawingml/2006/main" noGrp="1"/>
          </p:cNvSpPr>
          <p:nvPr/>
        </p:nvSpPr>
        <p:spPr>
          <a:xfrm xmlns:a="http://schemas.openxmlformats.org/drawingml/2006/main">
            <a:off x="685800" y="4000500"/>
            <a:ext cx="3429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9F53FC36-411D-4138-A647-0133137CB557}"/>
              </a:ext>
            </a:extLst>
          </p:cNvPr>
          <p:cNvSpPr>
            <a:spLocks xmlns:a="http://schemas.openxmlformats.org/drawingml/2006/main" noGrp="1"/>
          </p:cNvSpPr>
          <p:nvPr/>
        </p:nvSpPr>
        <p:spPr>
          <a:xfrm xmlns:a="http://schemas.openxmlformats.org/drawingml/2006/main">
            <a:off x="819150" y="4114800"/>
            <a:ext cx="3162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D(2,1)=1</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 і «c»</a:t>
            </a:r>
          </a:p>
        </p:txBody>
      </p:sp>
      <p:sp>
        <p:nvSpPr>
          <p:cNvPr id="9" name="">
            <a:extLst xmlns:a="http://schemas.openxmlformats.org/drawingml/2006/main">
              <a:ext uri="{FF2B5EF4-FFF2-40B4-BE49-F238E27FC236}">
                <a16:creationId xmlns:a16="http://schemas.microsoft.com/office/drawing/2014/main" id="{C074C64A-3E24-4742-B7A6-052171D1FFB1}"/>
              </a:ext>
            </a:extLst>
          </p:cNvPr>
          <p:cNvSpPr>
            <a:spLocks xmlns:a="http://schemas.openxmlformats.org/drawingml/2006/main" noGrp="1"/>
          </p:cNvSpPr>
          <p:nvPr/>
        </p:nvSpPr>
        <p:spPr>
          <a:xfrm xmlns:a="http://schemas.openxmlformats.org/drawingml/2006/main">
            <a:off x="7239000" y="4000500"/>
            <a:ext cx="3810000" cy="95250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0" name="">
            <a:extLst xmlns:a="http://schemas.openxmlformats.org/drawingml/2006/main">
              <a:ext uri="{FF2B5EF4-FFF2-40B4-BE49-F238E27FC236}">
                <a16:creationId xmlns:a16="http://schemas.microsoft.com/office/drawing/2014/main" id="{23B63501-7F44-4AFB-A6A1-48055E5A619A}"/>
              </a:ext>
            </a:extLst>
          </p:cNvPr>
          <p:cNvSpPr>
            <a:spLocks xmlns:a="http://schemas.openxmlformats.org/drawingml/2006/main" noGrp="1"/>
          </p:cNvSpPr>
          <p:nvPr/>
        </p:nvSpPr>
        <p:spPr>
          <a:xfrm xmlns:a="http://schemas.openxmlformats.org/drawingml/2006/main">
            <a:off x="7372350" y="4114800"/>
            <a:ext cx="3543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D(2,2)=1</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 і «cu»</a:t>
            </a:r>
          </a:p>
        </p:txBody>
      </p:sp>
      <p:sp>
        <p:nvSpPr>
          <p:cNvPr id="11" name="">
            <a:extLst xmlns:a="http://schemas.openxmlformats.org/drawingml/2006/main">
              <a:ext uri="{FF2B5EF4-FFF2-40B4-BE49-F238E27FC236}">
                <a16:creationId xmlns:a16="http://schemas.microsoft.com/office/drawing/2014/main" id="{535C6B8B-BCA4-4DBA-B0E6-02CFBE025B0B}"/>
              </a:ext>
            </a:extLst>
          </p:cNvPr>
          <p:cNvSpPr>
            <a:spLocks xmlns:a="http://schemas.openxmlformats.org/drawingml/2006/main" noGrp="1"/>
          </p:cNvSpPr>
          <p:nvPr/>
        </p:nvSpPr>
        <p:spPr>
          <a:xfrm xmlns:a="http://schemas.openxmlformats.org/drawingml/2006/main" rot="1890256">
            <a:off x="3935762" y="3143250"/>
            <a:ext cx="34632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FA51D2-2DBA-4D29-9023-876EB8C66068}"/>
              </a:ext>
            </a:extLst>
          </p:cNvPr>
          <p:cNvSpPr>
            <a:spLocks xmlns:a="http://schemas.openxmlformats.org/drawingml/2006/main" noGrp="1"/>
          </p:cNvSpPr>
          <p:nvPr/>
        </p:nvSpPr>
        <p:spPr>
          <a:xfrm xmlns:a="http://schemas.openxmlformats.org/drawingml/2006/main">
            <a:off x="4286250" y="176212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заміна: +1</a:t>
            </a:r>
          </a:p>
        </p:txBody>
      </p:sp>
      <p:sp>
        <p:nvSpPr>
          <p:cNvPr id="13" name="">
            <a:extLst xmlns:a="http://schemas.openxmlformats.org/drawingml/2006/main">
              <a:ext uri="{FF2B5EF4-FFF2-40B4-BE49-F238E27FC236}">
                <a16:creationId xmlns:a16="http://schemas.microsoft.com/office/drawing/2014/main" id="{2A3469AA-89E0-4593-BF37-98365570A886}"/>
              </a:ext>
            </a:extLst>
          </p:cNvPr>
          <p:cNvSpPr>
            <a:spLocks xmlns:a="http://schemas.openxmlformats.org/drawingml/2006/main" noGrp="1"/>
          </p:cNvSpPr>
          <p:nvPr/>
        </p:nvSpPr>
        <p:spPr>
          <a:xfrm xmlns:a="http://schemas.openxmlformats.org/drawingml/2006/main" rot="5400000">
            <a:off x="8524875" y="3238500"/>
            <a:ext cx="12382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348A397-32B3-4726-AEC6-066BB1278A27}"/>
              </a:ext>
            </a:extLst>
          </p:cNvPr>
          <p:cNvSpPr>
            <a:spLocks xmlns:a="http://schemas.openxmlformats.org/drawingml/2006/main" noGrp="1"/>
          </p:cNvSpPr>
          <p:nvPr/>
        </p:nvSpPr>
        <p:spPr>
          <a:xfrm xmlns:a="http://schemas.openxmlformats.org/drawingml/2006/main">
            <a:off x="9429750" y="3048000"/>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видалення: +1</a:t>
            </a:r>
          </a:p>
        </p:txBody>
      </p:sp>
      <p:sp>
        <p:nvSpPr>
          <p:cNvPr id="15" name="">
            <a:extLst xmlns:a="http://schemas.openxmlformats.org/drawingml/2006/main">
              <a:ext uri="{FF2B5EF4-FFF2-40B4-BE49-F238E27FC236}">
                <a16:creationId xmlns:a16="http://schemas.microsoft.com/office/drawing/2014/main" id="{075212F2-A8C7-4B75-AAAE-CB025ED4DB26}"/>
              </a:ext>
            </a:extLst>
          </p:cNvPr>
          <p:cNvSpPr>
            <a:spLocks xmlns:a="http://schemas.openxmlformats.org/drawingml/2006/main" noGrp="1"/>
          </p:cNvSpPr>
          <p:nvPr/>
        </p:nvSpPr>
        <p:spPr>
          <a:xfrm xmlns:a="http://schemas.openxmlformats.org/drawingml/2006/main" rot="0">
            <a:off x="4191000" y="4429125"/>
            <a:ext cx="2952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48600ED-50E0-4025-9E5A-392D5B15C759}"/>
              </a:ext>
            </a:extLst>
          </p:cNvPr>
          <p:cNvSpPr>
            <a:spLocks xmlns:a="http://schemas.openxmlformats.org/drawingml/2006/main" noGrp="1"/>
          </p:cNvSpPr>
          <p:nvPr/>
        </p:nvSpPr>
        <p:spPr>
          <a:xfrm xmlns:a="http://schemas.openxmlformats.org/drawingml/2006/main">
            <a:off x="4429125" y="485775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56B80"/>
                </a:solidFill>
                <a:latin typeface="Arial"/>
                <a:ea typeface="Arial"/>
                <a:cs typeface="Arial"/>
              </a:defRPr>
            </a:defPPr>
          </a:lstStyle>
          <a:p xmlns:a="http://schemas.openxmlformats.org/drawingml/2006/main">
            <a:pPr>
              <a:defRPr sz="2025" b="0">
                <a:solidFill>
                  <a:srgbClr val="556B80"/>
                </a:solidFill>
                <a:latin typeface="Arial"/>
                <a:ea typeface="Arial"/>
                <a:cs typeface="Arial"/>
              </a:defRPr>
            </a:pPr>
            <a:r>
              <a:rPr sz="2025" b="0">
                <a:solidFill>
                  <a:srgbClr val="556B80"/>
                </a:solidFill>
                <a:latin typeface="Arial"/>
                <a:ea typeface="Arial"/>
                <a:cs typeface="Arial"/>
              </a:rPr>
              <a:t>вставлення: +1</a:t>
            </a:r>
          </a:p>
        </p:txBody>
      </p:sp>
    </p:spTree>
    <p:extLst>
      <p:ext uri="{BB962C8B-B14F-4D97-AF65-F5344CB8AC3E}">
        <p14:creationId xmlns:p14="http://schemas.microsoft.com/office/powerpoint/2010/main" val="1012877978"/>
      </p:ext>
    </p:extLst>
  </p:cSld>
</p:sld>
</file>

<file path=ppt/slides/dp11_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5568511-4728-4724-85A5-442B9C6A1F8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Вітербі: значення та відновлення шляху</a:t>
            </a:r>
          </a:p>
        </p:txBody>
      </p:sp>
      <p:sp>
        <p:nvSpPr>
          <p:cNvPr id="2" name="">
            <a:extLst xmlns:a="http://schemas.openxmlformats.org/drawingml/2006/main">
              <a:ext uri="{FF2B5EF4-FFF2-40B4-BE49-F238E27FC236}">
                <a16:creationId xmlns:a16="http://schemas.microsoft.com/office/drawing/2014/main" id="{D1187610-ADD1-41E0-9D5D-13B16B80C0C4}"/>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Зберігаємо попередника для кожного стану. Найкращий кінцевий стан: F.</a:t>
            </a:r>
          </a:p>
        </p:txBody>
      </p:sp>
      <p:sp>
        <p:nvSpPr>
          <p:cNvPr id="3" name="">
            <a:extLst xmlns:a="http://schemas.openxmlformats.org/drawingml/2006/main">
              <a:ext uri="{FF2B5EF4-FFF2-40B4-BE49-F238E27FC236}">
                <a16:creationId xmlns:a16="http://schemas.microsoft.com/office/drawing/2014/main" id="{CAB68FDF-6D43-40CC-AAB6-31C1ACD17AC0}"/>
              </a:ext>
            </a:extLst>
          </p:cNvPr>
          <p:cNvSpPr>
            <a:spLocks xmlns:a="http://schemas.openxmlformats.org/drawingml/2006/main" noGrp="1"/>
          </p:cNvSpPr>
          <p:nvPr/>
        </p:nvSpPr>
        <p:spPr>
          <a:xfrm xmlns:a="http://schemas.openxmlformats.org/drawingml/2006/main">
            <a:off x="809625" y="1524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t=1: low</a:t>
            </a:r>
          </a:p>
        </p:txBody>
      </p:sp>
      <p:sp>
        <p:nvSpPr>
          <p:cNvPr id="4" name="">
            <a:extLst xmlns:a="http://schemas.openxmlformats.org/drawingml/2006/main">
              <a:ext uri="{FF2B5EF4-FFF2-40B4-BE49-F238E27FC236}">
                <a16:creationId xmlns:a16="http://schemas.microsoft.com/office/drawing/2014/main" id="{B39FA72A-7142-4185-A1B5-2DDF61353A50}"/>
              </a:ext>
            </a:extLst>
          </p:cNvPr>
          <p:cNvSpPr>
            <a:spLocks xmlns:a="http://schemas.openxmlformats.org/drawingml/2006/main" noGrp="1"/>
          </p:cNvSpPr>
          <p:nvPr/>
        </p:nvSpPr>
        <p:spPr>
          <a:xfrm xmlns:a="http://schemas.openxmlformats.org/drawingml/2006/main">
            <a:off x="809625" y="2333625"/>
            <a:ext cx="21907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5" name="">
            <a:extLst xmlns:a="http://schemas.openxmlformats.org/drawingml/2006/main">
              <a:ext uri="{FF2B5EF4-FFF2-40B4-BE49-F238E27FC236}">
                <a16:creationId xmlns:a16="http://schemas.microsoft.com/office/drawing/2014/main" id="{B9DC45DE-8ACE-42AB-832E-6CF8D32F5E46}"/>
              </a:ext>
            </a:extLst>
          </p:cNvPr>
          <p:cNvSpPr>
            <a:spLocks xmlns:a="http://schemas.openxmlformats.org/drawingml/2006/main" noGrp="1"/>
          </p:cNvSpPr>
          <p:nvPr/>
        </p:nvSpPr>
        <p:spPr>
          <a:xfrm xmlns:a="http://schemas.openxmlformats.org/drawingml/2006/main">
            <a:off x="942975" y="244792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N</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0.81</a:t>
            </a:r>
          </a:p>
        </p:txBody>
      </p:sp>
      <p:sp>
        <p:nvSpPr>
          <p:cNvPr id="6" name="">
            <a:extLst xmlns:a="http://schemas.openxmlformats.org/drawingml/2006/main">
              <a:ext uri="{FF2B5EF4-FFF2-40B4-BE49-F238E27FC236}">
                <a16:creationId xmlns:a16="http://schemas.microsoft.com/office/drawing/2014/main" id="{911B5B02-0D22-479B-B89E-CED6E7BA613D}"/>
              </a:ext>
            </a:extLst>
          </p:cNvPr>
          <p:cNvSpPr>
            <a:spLocks xmlns:a="http://schemas.openxmlformats.org/drawingml/2006/main" noGrp="1"/>
          </p:cNvSpPr>
          <p:nvPr/>
        </p:nvSpPr>
        <p:spPr>
          <a:xfrm xmlns:a="http://schemas.openxmlformats.org/drawingml/2006/main">
            <a:off x="809625" y="4333875"/>
            <a:ext cx="2190750" cy="1047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7" name="">
            <a:extLst xmlns:a="http://schemas.openxmlformats.org/drawingml/2006/main">
              <a:ext uri="{FF2B5EF4-FFF2-40B4-BE49-F238E27FC236}">
                <a16:creationId xmlns:a16="http://schemas.microsoft.com/office/drawing/2014/main" id="{4060B31B-37E7-41BC-B971-1CCD38C93B31}"/>
              </a:ext>
            </a:extLst>
          </p:cNvPr>
          <p:cNvSpPr>
            <a:spLocks xmlns:a="http://schemas.openxmlformats.org/drawingml/2006/main" noGrp="1"/>
          </p:cNvSpPr>
          <p:nvPr/>
        </p:nvSpPr>
        <p:spPr>
          <a:xfrm xmlns:a="http://schemas.openxmlformats.org/drawingml/2006/main">
            <a:off x="942975" y="444817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F</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0.02</a:t>
            </a:r>
          </a:p>
        </p:txBody>
      </p:sp>
      <p:sp>
        <p:nvSpPr>
          <p:cNvPr id="8" name="">
            <a:extLst xmlns:a="http://schemas.openxmlformats.org/drawingml/2006/main">
              <a:ext uri="{FF2B5EF4-FFF2-40B4-BE49-F238E27FC236}">
                <a16:creationId xmlns:a16="http://schemas.microsoft.com/office/drawing/2014/main" id="{5F742052-A86F-4436-A0A7-878321A197B7}"/>
              </a:ext>
            </a:extLst>
          </p:cNvPr>
          <p:cNvSpPr>
            <a:spLocks xmlns:a="http://schemas.openxmlformats.org/drawingml/2006/main" noGrp="1"/>
          </p:cNvSpPr>
          <p:nvPr/>
        </p:nvSpPr>
        <p:spPr>
          <a:xfrm xmlns:a="http://schemas.openxmlformats.org/drawingml/2006/main">
            <a:off x="5000625" y="1524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t=2: high</a:t>
            </a:r>
          </a:p>
        </p:txBody>
      </p:sp>
      <p:sp>
        <p:nvSpPr>
          <p:cNvPr id="9" name="">
            <a:extLst xmlns:a="http://schemas.openxmlformats.org/drawingml/2006/main">
              <a:ext uri="{FF2B5EF4-FFF2-40B4-BE49-F238E27FC236}">
                <a16:creationId xmlns:a16="http://schemas.microsoft.com/office/drawing/2014/main" id="{3D0E9A52-34BE-4B31-BF04-78F3D3FC8318}"/>
              </a:ext>
            </a:extLst>
          </p:cNvPr>
          <p:cNvSpPr>
            <a:spLocks xmlns:a="http://schemas.openxmlformats.org/drawingml/2006/main" noGrp="1"/>
          </p:cNvSpPr>
          <p:nvPr/>
        </p:nvSpPr>
        <p:spPr>
          <a:xfrm xmlns:a="http://schemas.openxmlformats.org/drawingml/2006/main">
            <a:off x="5000625" y="2333625"/>
            <a:ext cx="2190750" cy="1047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0" name="">
            <a:extLst xmlns:a="http://schemas.openxmlformats.org/drawingml/2006/main">
              <a:ext uri="{FF2B5EF4-FFF2-40B4-BE49-F238E27FC236}">
                <a16:creationId xmlns:a16="http://schemas.microsoft.com/office/drawing/2014/main" id="{BEF0878F-DB84-43F1-B50A-4F173B914CDC}"/>
              </a:ext>
            </a:extLst>
          </p:cNvPr>
          <p:cNvSpPr>
            <a:spLocks xmlns:a="http://schemas.openxmlformats.org/drawingml/2006/main" noGrp="1"/>
          </p:cNvSpPr>
          <p:nvPr/>
        </p:nvSpPr>
        <p:spPr>
          <a:xfrm xmlns:a="http://schemas.openxmlformats.org/drawingml/2006/main">
            <a:off x="5133975" y="244792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N</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0.0648</a:t>
            </a:r>
          </a:p>
        </p:txBody>
      </p:sp>
      <p:sp>
        <p:nvSpPr>
          <p:cNvPr id="11" name="">
            <a:extLst xmlns:a="http://schemas.openxmlformats.org/drawingml/2006/main">
              <a:ext uri="{FF2B5EF4-FFF2-40B4-BE49-F238E27FC236}">
                <a16:creationId xmlns:a16="http://schemas.microsoft.com/office/drawing/2014/main" id="{B991952B-9D62-4389-835F-C5DF60EC3E98}"/>
              </a:ext>
            </a:extLst>
          </p:cNvPr>
          <p:cNvSpPr>
            <a:spLocks xmlns:a="http://schemas.openxmlformats.org/drawingml/2006/main" noGrp="1"/>
          </p:cNvSpPr>
          <p:nvPr/>
        </p:nvSpPr>
        <p:spPr>
          <a:xfrm xmlns:a="http://schemas.openxmlformats.org/drawingml/2006/main">
            <a:off x="5000625" y="4333875"/>
            <a:ext cx="21907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2" name="">
            <a:extLst xmlns:a="http://schemas.openxmlformats.org/drawingml/2006/main">
              <a:ext uri="{FF2B5EF4-FFF2-40B4-BE49-F238E27FC236}">
                <a16:creationId xmlns:a16="http://schemas.microsoft.com/office/drawing/2014/main" id="{5B301616-3D76-4F6A-A8CD-F72F66AFDDDC}"/>
              </a:ext>
            </a:extLst>
          </p:cNvPr>
          <p:cNvSpPr>
            <a:spLocks xmlns:a="http://schemas.openxmlformats.org/drawingml/2006/main" noGrp="1"/>
          </p:cNvSpPr>
          <p:nvPr/>
        </p:nvSpPr>
        <p:spPr>
          <a:xfrm xmlns:a="http://schemas.openxmlformats.org/drawingml/2006/main">
            <a:off x="5133975" y="444817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F</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0.1296</a:t>
            </a:r>
          </a:p>
        </p:txBody>
      </p:sp>
      <p:sp>
        <p:nvSpPr>
          <p:cNvPr id="13" name="">
            <a:extLst xmlns:a="http://schemas.openxmlformats.org/drawingml/2006/main">
              <a:ext uri="{FF2B5EF4-FFF2-40B4-BE49-F238E27FC236}">
                <a16:creationId xmlns:a16="http://schemas.microsoft.com/office/drawing/2014/main" id="{3AA79130-7DA9-4EEB-AFB5-E25E6C5F1C97}"/>
              </a:ext>
            </a:extLst>
          </p:cNvPr>
          <p:cNvSpPr>
            <a:spLocks xmlns:a="http://schemas.openxmlformats.org/drawingml/2006/main" noGrp="1"/>
          </p:cNvSpPr>
          <p:nvPr/>
        </p:nvSpPr>
        <p:spPr>
          <a:xfrm xmlns:a="http://schemas.openxmlformats.org/drawingml/2006/main">
            <a:off x="9191625" y="1524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t=3: high</a:t>
            </a:r>
          </a:p>
        </p:txBody>
      </p:sp>
      <p:sp>
        <p:nvSpPr>
          <p:cNvPr id="14" name="">
            <a:extLst xmlns:a="http://schemas.openxmlformats.org/drawingml/2006/main">
              <a:ext uri="{FF2B5EF4-FFF2-40B4-BE49-F238E27FC236}">
                <a16:creationId xmlns:a16="http://schemas.microsoft.com/office/drawing/2014/main" id="{6BE1D6DE-85CA-47D3-9404-5AF2BA2746F8}"/>
              </a:ext>
            </a:extLst>
          </p:cNvPr>
          <p:cNvSpPr>
            <a:spLocks xmlns:a="http://schemas.openxmlformats.org/drawingml/2006/main" noGrp="1"/>
          </p:cNvSpPr>
          <p:nvPr/>
        </p:nvSpPr>
        <p:spPr>
          <a:xfrm xmlns:a="http://schemas.openxmlformats.org/drawingml/2006/main">
            <a:off x="9191625" y="2333625"/>
            <a:ext cx="2190750" cy="1047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5" name="">
            <a:extLst xmlns:a="http://schemas.openxmlformats.org/drawingml/2006/main">
              <a:ext uri="{FF2B5EF4-FFF2-40B4-BE49-F238E27FC236}">
                <a16:creationId xmlns:a16="http://schemas.microsoft.com/office/drawing/2014/main" id="{75D3D49D-C13A-4CB6-AC53-EFC88ABAE299}"/>
              </a:ext>
            </a:extLst>
          </p:cNvPr>
          <p:cNvSpPr>
            <a:spLocks xmlns:a="http://schemas.openxmlformats.org/drawingml/2006/main" noGrp="1"/>
          </p:cNvSpPr>
          <p:nvPr/>
        </p:nvSpPr>
        <p:spPr>
          <a:xfrm xmlns:a="http://schemas.openxmlformats.org/drawingml/2006/main">
            <a:off x="9324975" y="244792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N</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0.005184</a:t>
            </a:r>
          </a:p>
        </p:txBody>
      </p:sp>
      <p:sp>
        <p:nvSpPr>
          <p:cNvPr id="16" name="">
            <a:extLst xmlns:a="http://schemas.openxmlformats.org/drawingml/2006/main">
              <a:ext uri="{FF2B5EF4-FFF2-40B4-BE49-F238E27FC236}">
                <a16:creationId xmlns:a16="http://schemas.microsoft.com/office/drawing/2014/main" id="{77BF1EE3-6F91-46BE-9532-E728F867C418}"/>
              </a:ext>
            </a:extLst>
          </p:cNvPr>
          <p:cNvSpPr>
            <a:spLocks xmlns:a="http://schemas.openxmlformats.org/drawingml/2006/main" noGrp="1"/>
          </p:cNvSpPr>
          <p:nvPr/>
        </p:nvSpPr>
        <p:spPr>
          <a:xfrm xmlns:a="http://schemas.openxmlformats.org/drawingml/2006/main">
            <a:off x="9191625" y="4333875"/>
            <a:ext cx="21907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7" name="">
            <a:extLst xmlns:a="http://schemas.openxmlformats.org/drawingml/2006/main">
              <a:ext uri="{FF2B5EF4-FFF2-40B4-BE49-F238E27FC236}">
                <a16:creationId xmlns:a16="http://schemas.microsoft.com/office/drawing/2014/main" id="{219A5CF1-0B01-41BD-ADDF-5E4F88B85970}"/>
              </a:ext>
            </a:extLst>
          </p:cNvPr>
          <p:cNvSpPr>
            <a:spLocks xmlns:a="http://schemas.openxmlformats.org/drawingml/2006/main" noGrp="1"/>
          </p:cNvSpPr>
          <p:nvPr/>
        </p:nvSpPr>
        <p:spPr>
          <a:xfrm xmlns:a="http://schemas.openxmlformats.org/drawingml/2006/main">
            <a:off x="9324975" y="444817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F</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0.072576</a:t>
            </a:r>
          </a:p>
        </p:txBody>
      </p:sp>
      <p:sp>
        <p:nvSpPr>
          <p:cNvPr id="18" name="">
            <a:extLst xmlns:a="http://schemas.openxmlformats.org/drawingml/2006/main">
              <a:ext uri="{FF2B5EF4-FFF2-40B4-BE49-F238E27FC236}">
                <a16:creationId xmlns:a16="http://schemas.microsoft.com/office/drawing/2014/main" id="{DD274DBD-0A97-40BF-BEF5-0AE7A4AFD7A7}"/>
              </a:ext>
            </a:extLst>
          </p:cNvPr>
          <p:cNvSpPr>
            <a:spLocks xmlns:a="http://schemas.openxmlformats.org/drawingml/2006/main" noGrp="1"/>
          </p:cNvSpPr>
          <p:nvPr/>
        </p:nvSpPr>
        <p:spPr>
          <a:xfrm xmlns:a="http://schemas.openxmlformats.org/drawingml/2006/main" rot="0">
            <a:off x="3095625" y="2809875"/>
            <a:ext cx="1809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13B1ED4-38F7-46A7-845A-12247344303F}"/>
              </a:ext>
            </a:extLst>
          </p:cNvPr>
          <p:cNvSpPr>
            <a:spLocks xmlns:a="http://schemas.openxmlformats.org/drawingml/2006/main" noGrp="1"/>
          </p:cNvSpPr>
          <p:nvPr/>
        </p:nvSpPr>
        <p:spPr>
          <a:xfrm xmlns:a="http://schemas.openxmlformats.org/drawingml/2006/main" rot="2871744">
            <a:off x="2651779" y="3810000"/>
            <a:ext cx="2697442"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AE8BD5-756F-4235-82DD-53D1BBD339EC}"/>
              </a:ext>
            </a:extLst>
          </p:cNvPr>
          <p:cNvSpPr>
            <a:spLocks xmlns:a="http://schemas.openxmlformats.org/drawingml/2006/main" noGrp="1"/>
          </p:cNvSpPr>
          <p:nvPr/>
        </p:nvSpPr>
        <p:spPr>
          <a:xfrm xmlns:a="http://schemas.openxmlformats.org/drawingml/2006/main" rot="0">
            <a:off x="7286625" y="2809875"/>
            <a:ext cx="1809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A3B306A-6138-446B-AFC2-3B548F0016F8}"/>
              </a:ext>
            </a:extLst>
          </p:cNvPr>
          <p:cNvSpPr>
            <a:spLocks xmlns:a="http://schemas.openxmlformats.org/drawingml/2006/main" noGrp="1"/>
          </p:cNvSpPr>
          <p:nvPr/>
        </p:nvSpPr>
        <p:spPr>
          <a:xfrm xmlns:a="http://schemas.openxmlformats.org/drawingml/2006/main" rot="0">
            <a:off x="7286625" y="4810125"/>
            <a:ext cx="18097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A19D7A9-D9DE-4C36-87DB-7A1E26CF00EA}"/>
              </a:ext>
            </a:extLst>
          </p:cNvPr>
          <p:cNvSpPr>
            <a:spLocks xmlns:a="http://schemas.openxmlformats.org/drawingml/2006/main" noGrp="1"/>
          </p:cNvSpPr>
          <p:nvPr/>
        </p:nvSpPr>
        <p:spPr>
          <a:xfrm xmlns:a="http://schemas.openxmlformats.org/drawingml/2006/main">
            <a:off x="685800" y="5572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Обраний шлях: N, F, F. Спільна ймовірність: 0.072576.</a:t>
            </a:r>
          </a:p>
        </p:txBody>
      </p:sp>
    </p:spTree>
    <p:extLst>
      <p:ext uri="{BB962C8B-B14F-4D97-AF65-F5344CB8AC3E}">
        <p14:creationId xmlns:p14="http://schemas.microsoft.com/office/powerpoint/2010/main" val="754681819"/>
      </p:ext>
    </p:extLst>
  </p:cSld>
</p:sld>
</file>

<file path=ppt/slides/dp11_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E8B2B83-4FF1-4E4B-9AFD-E3214205850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Огляд: Флойд–Воршелл для всіх пар</a:t>
            </a:r>
          </a:p>
        </p:txBody>
      </p:sp>
      <p:sp>
        <p:nvSpPr>
          <p:cNvPr id="2" name="">
            <a:extLst xmlns:a="http://schemas.openxmlformats.org/drawingml/2006/main">
              <a:ext uri="{FF2B5EF4-FFF2-40B4-BE49-F238E27FC236}">
                <a16:creationId xmlns:a16="http://schemas.microsoft.com/office/drawing/2014/main" id="{98915BEC-A8C8-43B5-A40E-73F0D5AF9BF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Повний алгоритм по черзі дозволяє кожну вершину як проміжну.</a:t>
            </a:r>
          </a:p>
        </p:txBody>
      </p:sp>
      <p:sp>
        <p:nvSpPr>
          <p:cNvPr id="3" name="">
            <a:extLst xmlns:a="http://schemas.openxmlformats.org/drawingml/2006/main">
              <a:ext uri="{FF2B5EF4-FFF2-40B4-BE49-F238E27FC236}">
                <a16:creationId xmlns:a16="http://schemas.microsoft.com/office/drawing/2014/main" id="{79404F56-C566-4977-ABB6-132F73FA5BC7}"/>
              </a:ext>
            </a:extLst>
          </p:cNvPr>
          <p:cNvSpPr>
            <a:spLocks xmlns:a="http://schemas.openxmlformats.org/drawingml/2006/main" noGrp="1"/>
          </p:cNvSpPr>
          <p:nvPr/>
        </p:nvSpPr>
        <p:spPr>
          <a:xfrm xmlns:a="http://schemas.openxmlformats.org/drawingml/2006/main">
            <a:off x="857250" y="2762250"/>
            <a:ext cx="1333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7AD38586-C39E-455B-A812-357DF6D472D9}"/>
              </a:ext>
            </a:extLst>
          </p:cNvPr>
          <p:cNvSpPr>
            <a:spLocks xmlns:a="http://schemas.openxmlformats.org/drawingml/2006/main" noGrp="1"/>
          </p:cNvSpPr>
          <p:nvPr/>
        </p:nvSpPr>
        <p:spPr>
          <a:xfrm xmlns:a="http://schemas.openxmlformats.org/drawingml/2006/main">
            <a:off x="990600" y="2876550"/>
            <a:ext cx="1066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A</a:t>
            </a:r>
          </a:p>
        </p:txBody>
      </p:sp>
      <p:sp>
        <p:nvSpPr>
          <p:cNvPr id="5" name="">
            <a:extLst xmlns:a="http://schemas.openxmlformats.org/drawingml/2006/main">
              <a:ext uri="{FF2B5EF4-FFF2-40B4-BE49-F238E27FC236}">
                <a16:creationId xmlns:a16="http://schemas.microsoft.com/office/drawing/2014/main" id="{E5136EF4-6522-47D8-AA07-A259331367B6}"/>
              </a:ext>
            </a:extLst>
          </p:cNvPr>
          <p:cNvSpPr>
            <a:spLocks xmlns:a="http://schemas.openxmlformats.org/drawingml/2006/main" noGrp="1"/>
          </p:cNvSpPr>
          <p:nvPr/>
        </p:nvSpPr>
        <p:spPr>
          <a:xfrm xmlns:a="http://schemas.openxmlformats.org/drawingml/2006/main">
            <a:off x="5381625" y="2762250"/>
            <a:ext cx="1333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91944D79-7215-4733-8587-352914EA7385}"/>
              </a:ext>
            </a:extLst>
          </p:cNvPr>
          <p:cNvSpPr>
            <a:spLocks xmlns:a="http://schemas.openxmlformats.org/drawingml/2006/main" noGrp="1"/>
          </p:cNvSpPr>
          <p:nvPr/>
        </p:nvSpPr>
        <p:spPr>
          <a:xfrm xmlns:a="http://schemas.openxmlformats.org/drawingml/2006/main">
            <a:off x="5514975" y="2876550"/>
            <a:ext cx="1066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B</a:t>
            </a:r>
          </a:p>
        </p:txBody>
      </p:sp>
      <p:sp>
        <p:nvSpPr>
          <p:cNvPr id="7" name="">
            <a:extLst xmlns:a="http://schemas.openxmlformats.org/drawingml/2006/main">
              <a:ext uri="{FF2B5EF4-FFF2-40B4-BE49-F238E27FC236}">
                <a16:creationId xmlns:a16="http://schemas.microsoft.com/office/drawing/2014/main" id="{8212DCB0-A1C9-4C73-8D2E-FC2B8BAB653E}"/>
              </a:ext>
            </a:extLst>
          </p:cNvPr>
          <p:cNvSpPr>
            <a:spLocks xmlns:a="http://schemas.openxmlformats.org/drawingml/2006/main" noGrp="1"/>
          </p:cNvSpPr>
          <p:nvPr/>
        </p:nvSpPr>
        <p:spPr>
          <a:xfrm xmlns:a="http://schemas.openxmlformats.org/drawingml/2006/main">
            <a:off x="9906000" y="2762250"/>
            <a:ext cx="1333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BA860F1C-9C83-4178-B3BE-FE9F5B488320}"/>
              </a:ext>
            </a:extLst>
          </p:cNvPr>
          <p:cNvSpPr>
            <a:spLocks xmlns:a="http://schemas.openxmlformats.org/drawingml/2006/main" noGrp="1"/>
          </p:cNvSpPr>
          <p:nvPr/>
        </p:nvSpPr>
        <p:spPr>
          <a:xfrm xmlns:a="http://schemas.openxmlformats.org/drawingml/2006/main">
            <a:off x="10039350" y="2876550"/>
            <a:ext cx="1066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t>
            </a:r>
          </a:p>
        </p:txBody>
      </p:sp>
      <p:sp>
        <p:nvSpPr>
          <p:cNvPr id="9" name="">
            <a:extLst xmlns:a="http://schemas.openxmlformats.org/drawingml/2006/main">
              <a:ext uri="{FF2B5EF4-FFF2-40B4-BE49-F238E27FC236}">
                <a16:creationId xmlns:a16="http://schemas.microsoft.com/office/drawing/2014/main" id="{2A7AA450-0A6A-43AF-8EC3-40E7B86A7891}"/>
              </a:ext>
            </a:extLst>
          </p:cNvPr>
          <p:cNvSpPr>
            <a:spLocks xmlns:a="http://schemas.openxmlformats.org/drawingml/2006/main" noGrp="1"/>
          </p:cNvSpPr>
          <p:nvPr/>
        </p:nvSpPr>
        <p:spPr>
          <a:xfrm xmlns:a="http://schemas.openxmlformats.org/drawingml/2006/main" rot="0">
            <a:off x="2286000" y="3067050"/>
            <a:ext cx="3000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CCFCB3-D9D4-4942-96D1-382205559834}"/>
              </a:ext>
            </a:extLst>
          </p:cNvPr>
          <p:cNvSpPr>
            <a:spLocks xmlns:a="http://schemas.openxmlformats.org/drawingml/2006/main" noGrp="1"/>
          </p:cNvSpPr>
          <p:nvPr/>
        </p:nvSpPr>
        <p:spPr>
          <a:xfrm xmlns:a="http://schemas.openxmlformats.org/drawingml/2006/main" rot="0">
            <a:off x="6810375" y="3067050"/>
            <a:ext cx="3000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48CF97-59AC-4580-8E34-19F52943218D}"/>
              </a:ext>
            </a:extLst>
          </p:cNvPr>
          <p:cNvSpPr>
            <a:spLocks xmlns:a="http://schemas.openxmlformats.org/drawingml/2006/main" noGrp="1"/>
          </p:cNvSpPr>
          <p:nvPr/>
        </p:nvSpPr>
        <p:spPr>
          <a:xfrm xmlns:a="http://schemas.openxmlformats.org/drawingml/2006/main">
            <a:off x="3619500" y="25717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17C62AE6-B85A-4DCA-9049-2B053B9B0A2D}"/>
              </a:ext>
            </a:extLst>
          </p:cNvPr>
          <p:cNvSpPr>
            <a:spLocks xmlns:a="http://schemas.openxmlformats.org/drawingml/2006/main" noGrp="1"/>
          </p:cNvSpPr>
          <p:nvPr/>
        </p:nvSpPr>
        <p:spPr>
          <a:xfrm xmlns:a="http://schemas.openxmlformats.org/drawingml/2006/main">
            <a:off x="8143875" y="25717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8E9C8A1F-AF8E-406A-BBDB-B53019B2AFCC}"/>
              </a:ext>
            </a:extLst>
          </p:cNvPr>
          <p:cNvSpPr>
            <a:spLocks xmlns:a="http://schemas.openxmlformats.org/drawingml/2006/main" noGrp="1"/>
          </p:cNvSpPr>
          <p:nvPr/>
        </p:nvSpPr>
        <p:spPr>
          <a:xfrm xmlns:a="http://schemas.openxmlformats.org/drawingml/2006/main">
            <a:off x="1504950" y="2000250"/>
            <a:ext cx="38100" cy="762000"/>
          </a:xfrm>
          <a:prstGeom xmlns:a="http://schemas.openxmlformats.org/drawingml/2006/main" prst="rect">
            <a:avLst/>
          </a:prstGeom>
          <a:solidFill xmlns:a="http://schemas.openxmlformats.org/drawingml/2006/main">
            <a:srgbClr val="556B8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7834B7-B065-42BD-A4DB-6AD23FDA96B3}"/>
              </a:ext>
            </a:extLst>
          </p:cNvPr>
          <p:cNvSpPr>
            <a:spLocks xmlns:a="http://schemas.openxmlformats.org/drawingml/2006/main" noGrp="1"/>
          </p:cNvSpPr>
          <p:nvPr/>
        </p:nvSpPr>
        <p:spPr>
          <a:xfrm xmlns:a="http://schemas.openxmlformats.org/drawingml/2006/main">
            <a:off x="1524000" y="1981200"/>
            <a:ext cx="9048750" cy="38100"/>
          </a:xfrm>
          <a:prstGeom xmlns:a="http://schemas.openxmlformats.org/drawingml/2006/main" prst="rect">
            <a:avLst/>
          </a:prstGeom>
          <a:solidFill xmlns:a="http://schemas.openxmlformats.org/drawingml/2006/main">
            <a:srgbClr val="556B8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0CACAA-0FB1-466D-99FC-14E4434E01C3}"/>
              </a:ext>
            </a:extLst>
          </p:cNvPr>
          <p:cNvSpPr>
            <a:spLocks xmlns:a="http://schemas.openxmlformats.org/drawingml/2006/main" noGrp="1"/>
          </p:cNvSpPr>
          <p:nvPr/>
        </p:nvSpPr>
        <p:spPr>
          <a:xfrm xmlns:a="http://schemas.openxmlformats.org/drawingml/2006/main" rot="5400000">
            <a:off x="10239375" y="2286000"/>
            <a:ext cx="666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4448802-5316-4123-9708-667E8E412BF8}"/>
              </a:ext>
            </a:extLst>
          </p:cNvPr>
          <p:cNvSpPr>
            <a:spLocks xmlns:a="http://schemas.openxmlformats.org/drawingml/2006/main" noGrp="1"/>
          </p:cNvSpPr>
          <p:nvPr/>
        </p:nvSpPr>
        <p:spPr>
          <a:xfrm xmlns:a="http://schemas.openxmlformats.org/drawingml/2006/main">
            <a:off x="4000500" y="14763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556B80"/>
                </a:solidFill>
                <a:latin typeface="Arial"/>
                <a:ea typeface="Arial"/>
                <a:cs typeface="Arial"/>
              </a:defRPr>
            </a:defPPr>
          </a:lstStyle>
          <a:p xmlns:a="http://schemas.openxmlformats.org/drawingml/2006/main">
            <a:pPr>
              <a:defRPr sz="2325" b="0">
                <a:solidFill>
                  <a:srgbClr val="556B80"/>
                </a:solidFill>
                <a:latin typeface="Arial"/>
                <a:ea typeface="Arial"/>
                <a:cs typeface="Arial"/>
              </a:defRPr>
            </a:pPr>
            <a:r>
              <a:rPr sz="2325" b="0">
                <a:solidFill>
                  <a:srgbClr val="556B80"/>
                </a:solidFill>
                <a:latin typeface="Arial"/>
                <a:ea typeface="Arial"/>
                <a:cs typeface="Arial"/>
              </a:rPr>
              <a:t>пряме ребро A–C: 10</a:t>
            </a:r>
          </a:p>
        </p:txBody>
      </p:sp>
      <p:sp>
        <p:nvSpPr>
          <p:cNvPr id="17" name="">
            <a:extLst xmlns:a="http://schemas.openxmlformats.org/drawingml/2006/main">
              <a:ext uri="{FF2B5EF4-FFF2-40B4-BE49-F238E27FC236}">
                <a16:creationId xmlns:a16="http://schemas.microsoft.com/office/drawing/2014/main" id="{D5BC0D9C-6522-4199-897E-61C68BF25282}"/>
              </a:ext>
            </a:extLst>
          </p:cNvPr>
          <p:cNvSpPr>
            <a:spLocks xmlns:a="http://schemas.openxmlformats.org/drawingml/2006/main" noGrp="1"/>
          </p:cNvSpPr>
          <p:nvPr/>
        </p:nvSpPr>
        <p:spPr>
          <a:xfrm xmlns:a="http://schemas.openxmlformats.org/drawingml/2006/main">
            <a:off x="685800" y="419100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Дозволяємо B як проміжну вершину:</a:t>
            </a:r>
          </a:p>
        </p:txBody>
      </p:sp>
      <p:sp>
        <p:nvSpPr>
          <p:cNvPr id="18" name="">
            <a:extLst xmlns:a="http://schemas.openxmlformats.org/drawingml/2006/main">
              <a:ext uri="{FF2B5EF4-FFF2-40B4-BE49-F238E27FC236}">
                <a16:creationId xmlns:a16="http://schemas.microsoft.com/office/drawing/2014/main" id="{428368C7-EBB6-4F16-9AE2-B4E7DEEE2D4A}"/>
              </a:ext>
            </a:extLst>
          </p:cNvPr>
          <p:cNvSpPr>
            <a:spLocks xmlns:a="http://schemas.openxmlformats.org/drawingml/2006/main" noGrp="1"/>
          </p:cNvSpPr>
          <p:nvPr/>
        </p:nvSpPr>
        <p:spPr>
          <a:xfrm xmlns:a="http://schemas.openxmlformats.org/drawingml/2006/main">
            <a:off x="685800" y="49530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D(A,C) = min(10, 4 + 3) = 7</a:t>
            </a:r>
          </a:p>
        </p:txBody>
      </p:sp>
    </p:spTree>
    <p:extLst>
      <p:ext uri="{BB962C8B-B14F-4D97-AF65-F5344CB8AC3E}">
        <p14:creationId xmlns:p14="http://schemas.microsoft.com/office/powerpoint/2010/main" val="1602120350"/>
      </p:ext>
    </p:extLst>
  </p:cSld>
</p:sld>
</file>

<file path=ppt/slides/dp11_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5341F6-4B7D-49EB-8896-1990D1E027C8}"/>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Самоперевірка та два оптимальні плани</a:t>
            </a:r>
          </a:p>
        </p:txBody>
      </p:sp>
      <p:sp>
        <p:nvSpPr>
          <p:cNvPr id="2" name="">
            <a:extLst xmlns:a="http://schemas.openxmlformats.org/drawingml/2006/main">
              <a:ext uri="{FF2B5EF4-FFF2-40B4-BE49-F238E27FC236}">
                <a16:creationId xmlns:a16="http://schemas.microsoft.com/office/drawing/2014/main" id="{7C77F181-1E44-4AD5-8A53-5317D0E2D73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Різні плани можуть давати однакове оптимальне значення.</a:t>
            </a:r>
          </a:p>
        </p:txBody>
      </p:sp>
      <p:sp>
        <p:nvSpPr>
          <p:cNvPr id="3" name="">
            <a:extLst xmlns:a="http://schemas.openxmlformats.org/drawingml/2006/main">
              <a:ext uri="{FF2B5EF4-FFF2-40B4-BE49-F238E27FC236}">
                <a16:creationId xmlns:a16="http://schemas.microsoft.com/office/drawing/2014/main" id="{51ADEC44-0EF6-4EFF-8151-7D152AD80103}"/>
              </a:ext>
            </a:extLst>
          </p:cNvPr>
          <p:cNvSpPr>
            <a:spLocks xmlns:a="http://schemas.openxmlformats.org/drawingml/2006/main" noGrp="1"/>
          </p:cNvSpPr>
          <p:nvPr/>
        </p:nvSpPr>
        <p:spPr>
          <a:xfrm xmlns:a="http://schemas.openxmlformats.org/drawingml/2006/main">
            <a:off x="685800" y="1476375"/>
            <a:ext cx="10820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93247"/>
                </a:solidFill>
                <a:latin typeface="Arial"/>
                <a:ea typeface="Arial"/>
                <a:cs typeface="Arial"/>
              </a:defRPr>
            </a:defPPr>
          </a:lstStyle>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1. Що означає одна клітинка V₂(4)?</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2. Чому потрібне значення для бюджету b−u?</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3. Де зберігається дія для відновлення плану?</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4. Як зміниться стан, якщо обмежити ще й RAM?</a:t>
            </a:r>
          </a:p>
        </p:txBody>
      </p:sp>
      <p:sp>
        <p:nvSpPr>
          <p:cNvPr id="4" name="">
            <a:extLst xmlns:a="http://schemas.openxmlformats.org/drawingml/2006/main">
              <a:ext uri="{FF2B5EF4-FFF2-40B4-BE49-F238E27FC236}">
                <a16:creationId xmlns:a16="http://schemas.microsoft.com/office/drawing/2014/main" id="{643AAC66-0D36-46B5-A764-BF7DBC50EF97}"/>
              </a:ext>
            </a:extLst>
          </p:cNvPr>
          <p:cNvSpPr>
            <a:spLocks xmlns:a="http://schemas.openxmlformats.org/drawingml/2006/main" noGrp="1"/>
          </p:cNvSpPr>
          <p:nvPr/>
        </p:nvSpPr>
        <p:spPr>
          <a:xfrm xmlns:a="http://schemas.openxmlformats.org/drawingml/2006/main">
            <a:off x="685800" y="38100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Бюджет 5 GPU: знайдіть два плани з користю 28.</a:t>
            </a:r>
          </a:p>
        </p:txBody>
      </p:sp>
      <p:graphicFrame>
        <p:nvGraphicFramePr>
          <p:cNvPr id="5" name="">
            <a:extLst xmlns:a="http://schemas.openxmlformats.org/drawingml/2006/main">
              <a:ext uri="{FF2B5EF4-FFF2-40B4-BE49-F238E27FC236}">
                <a16:creationId xmlns:a16="http://schemas.microsoft.com/office/drawing/2014/main" id="{912A0C28-8724-4F24-A33A-31FCD617575A}"/>
              </a:ext>
            </a:extLst>
          </p:cNvPr>
          <p:cNvGraphicFramePr/>
          <p:nvPr/>
        </p:nvGraphicFramePr>
        <p:xfrm>
          <a:off xmlns:a="http://schemas.openxmlformats.org/drawingml/2006/main" x="685800" y="4667250"/>
          <a:ext xmlns:a="http://schemas.openxmlformats.org/drawingml/2006/main" cx="10820400" cy="1238250"/>
        </p:xfrm>
        <a:graphic xmlns:a="http://schemas.openxmlformats.org/drawingml/2006/main">
          <a:graphicData uri="http://schemas.openxmlformats.org/drawingml/2006/table">
            <a:tbl>
              <a:tblPr/>
              <a:tblGrid>
                <a:gridCol w="4572000"/>
                <a:gridCol w="2667000"/>
                <a:gridCol w="3581400"/>
              </a:tblGrid>
              <a:tr h="412750">
                <a:tc>
                  <a:txBody>
                    <a:bodyPr/>
                    <a:lstStyle/>
                    <a:p>
                      <a:r>
                        <a:rPr sz="1875" b="1">
                          <a:solidFill>
                            <a:srgbClr val="FFFFFF"/>
                          </a:solidFill>
                          <a:latin typeface="Arial"/>
                          <a:ea typeface="Arial"/>
                          <a:cs typeface="Arial"/>
                        </a:rPr>
                        <a:t>План (A,B,C)</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Ресурс</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Користь</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12750">
                <a:tc>
                  <a:txBody>
                    <a:bodyPr/>
                    <a:lstStyle/>
                    <a:p>
                      <a:r>
                        <a:rPr sz="1875" b="0">
                          <a:solidFill>
                            <a:srgbClr val="193247"/>
                          </a:solidFill>
                          <a:latin typeface="Arial"/>
                          <a:ea typeface="Arial"/>
                          <a:cs typeface="Arial"/>
                        </a:rPr>
                        <a:t>(1,3,1)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1+3+1=5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6+17+5=28</a:t>
                      </a:r>
                    </a:p>
                  </a:txBody>
                  <a:tcPr marL="91440" marR="91440" marT="45720" marB="45720">
                    <a:lnR w="9525">
                      <a:solidFill>
                        <a:srgbClr val="A8B7C0"/>
                      </a:solidFill>
                      <a:prstDash val="solid"/>
                    </a:lnR>
                    <a:lnB w="9525">
                      <a:solidFill>
                        <a:srgbClr val="A8B7C0"/>
                      </a:solidFill>
                      <a:prstDash val="solid"/>
                    </a:lnB>
                    <a:solidFill>
                      <a:srgbClr val="FFFFFF"/>
                    </a:solidFill>
                  </a:tcPr>
                </a:tc>
              </a:tr>
              <a:tr h="412750">
                <a:tc>
                  <a:txBody>
                    <a:bodyPr/>
                    <a:lstStyle/>
                    <a:p>
                      <a:r>
                        <a:rPr sz="1875" b="0">
                          <a:solidFill>
                            <a:srgbClr val="193247"/>
                          </a:solidFill>
                          <a:latin typeface="Arial"/>
                          <a:ea typeface="Arial"/>
                          <a:cs typeface="Arial"/>
                        </a:rPr>
                        <a:t>(2,3,0)</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2+3+0=5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11+17+0=28</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202483801"/>
      </p:ext>
    </p:extLst>
  </p:cSld>
</p:sld>
</file>

<file path=ppt/slides/dp11_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DB73073-741D-4B7B-9BD3-A49C7B3E322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Джерела та матеріали для практики</a:t>
            </a:r>
          </a:p>
        </p:txBody>
      </p:sp>
      <p:sp>
        <p:nvSpPr>
          <p:cNvPr id="2" name="">
            <a:extLst xmlns:a="http://schemas.openxmlformats.org/drawingml/2006/main">
              <a:ext uri="{FF2B5EF4-FFF2-40B4-BE49-F238E27FC236}">
                <a16:creationId xmlns:a16="http://schemas.microsoft.com/office/drawing/2014/main" id="{91D0A747-C77D-4289-B6E1-63C0ECE825C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Оригінальні ілюстрації позначено біля рисунків. Повні посилання наведено в нотатках.</a:t>
            </a:r>
          </a:p>
        </p:txBody>
      </p:sp>
      <p:graphicFrame>
        <p:nvGraphicFramePr>
          <p:cNvPr id="3" name="">
            <a:extLst xmlns:a="http://schemas.openxmlformats.org/drawingml/2006/main">
              <a:ext uri="{FF2B5EF4-FFF2-40B4-BE49-F238E27FC236}">
                <a16:creationId xmlns:a16="http://schemas.microsoft.com/office/drawing/2014/main" id="{6EFB928A-CD75-4463-B444-AD2AF35BE2DA}"/>
              </a:ext>
            </a:extLst>
          </p:cNvPr>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a:tblGrid>
                <a:gridCol w="4667250"/>
                <a:gridCol w="6153150"/>
              </a:tblGrid>
              <a:tr h="557893">
                <a:tc>
                  <a:txBody>
                    <a:bodyPr/>
                    <a:lstStyle/>
                    <a:p>
                      <a:r>
                        <a:rPr sz="1875" b="1">
                          <a:solidFill>
                            <a:srgbClr val="FFFFFF"/>
                          </a:solidFill>
                          <a:latin typeface="Arial"/>
                          <a:ea typeface="Arial"/>
                          <a:cs typeface="Arial"/>
                        </a:rPr>
                        <a:t>Джерело</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Для чого використано</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57893">
                <a:tc>
                  <a:txBody>
                    <a:bodyPr/>
                    <a:lstStyle/>
                    <a:p>
                      <a:r>
                        <a:rPr sz="1875" b="0">
                          <a:solidFill>
                            <a:srgbClr val="193247"/>
                          </a:solidFill>
                          <a:latin typeface="Arial"/>
                          <a:ea typeface="Arial"/>
                          <a:cs typeface="Arial"/>
                        </a:rPr>
                        <a:t>Вентцель, гл.4 §13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Умовна оптимізація та відновлення маршруту</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Erickson, Algorithms, гл.3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Мемоізація та оригінальне дерево рекурсії</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Dasgupta та ін., Algorithms, §6.1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Граф залежностей і топологічний порядок</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MIT 6.006, CMU 15-451, Stanford EE365</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Побудова підзадач та рекурентностей</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RFC 2453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RIP: метрики, оновлення та захист від петель</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Python, SciPy</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Кешування та бібліотечний Беллман–Форд</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309300003"/>
      </p:ext>
    </p:extLst>
  </p:cSld>
</p:sld>
</file>

<file path=ppt/slides/dp11_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B10DC0-9863-4A40-B98D-C0F6CDC53E2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План лекції та матеріали для практики</a:t>
            </a:r>
          </a:p>
        </p:txBody>
      </p:sp>
      <p:sp>
        <p:nvSpPr>
          <p:cNvPr id="2" name="">
            <a:extLst xmlns:a="http://schemas.openxmlformats.org/drawingml/2006/main">
              <a:ext uri="{FF2B5EF4-FFF2-40B4-BE49-F238E27FC236}">
                <a16:creationId xmlns:a16="http://schemas.microsoft.com/office/drawing/2014/main" id="{1AFCCE0F-CF9D-4270-A2EB-CDA956CE887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Основна мета: самостійно визначити стан, побудувати перехід і відновити рішення.</a:t>
            </a:r>
          </a:p>
        </p:txBody>
      </p:sp>
      <p:graphicFrame>
        <p:nvGraphicFramePr>
          <p:cNvPr id="3" name="">
            <a:extLst xmlns:a="http://schemas.openxmlformats.org/drawingml/2006/main">
              <a:ext uri="{FF2B5EF4-FFF2-40B4-BE49-F238E27FC236}">
                <a16:creationId xmlns:a16="http://schemas.microsoft.com/office/drawing/2014/main" id="{DBDB6A30-88B9-44DA-A924-A140A2953B67}"/>
              </a:ext>
            </a:extLst>
          </p:cNvPr>
          <p:cNvGraphicFramePr/>
          <p:nvPr/>
        </p:nvGraphicFramePr>
        <p:xfrm>
          <a:off xmlns:a="http://schemas.openxmlformats.org/drawingml/2006/main" x="685800" y="1714500"/>
          <a:ext xmlns:a="http://schemas.openxmlformats.org/drawingml/2006/main" cx="10820400" cy="3524250"/>
        </p:xfrm>
        <a:graphic xmlns:a="http://schemas.openxmlformats.org/drawingml/2006/main">
          <a:graphicData uri="http://schemas.openxmlformats.org/drawingml/2006/table">
            <a:tbl>
              <a:tblPr/>
              <a:tblGrid>
                <a:gridCol w="3714750"/>
                <a:gridCol w="7105650"/>
              </a:tblGrid>
              <a:tr h="587375">
                <a:tc>
                  <a:txBody>
                    <a:bodyPr/>
                    <a:lstStyle/>
                    <a:p>
                      <a:r>
                        <a:rPr sz="1875" b="1">
                          <a:solidFill>
                            <a:srgbClr val="FFFFFF"/>
                          </a:solidFill>
                          <a:latin typeface="Arial"/>
                          <a:ea typeface="Arial"/>
                          <a:cs typeface="Arial"/>
                        </a:rPr>
                        <a:t>Частина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Зміст</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87375">
                <a:tc>
                  <a:txBody>
                    <a:bodyPr/>
                    <a:lstStyle/>
                    <a:p>
                      <a:r>
                        <a:rPr sz="1875" b="0">
                          <a:solidFill>
                            <a:srgbClr val="193247"/>
                          </a:solidFill>
                          <a:latin typeface="Arial"/>
                          <a:ea typeface="Arial"/>
                          <a:cs typeface="Arial"/>
                        </a:rPr>
                        <a:t>Основи ДП</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Стан, дії, база, порядок, план</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Два ресурсні приклади</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Розподіл GPU та вибір завдань 0/1</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Маршрути й RIP</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Розрахунок на графі та обмін між вузлами</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Практикум із Python</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Таблиці, кеш, Беллман–Форд і SciPy</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Додаткові застосування</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Рядки, Вітербі, матриці та всі пари шляхів</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430352143"/>
      </p:ext>
    </p:extLst>
  </p:cSld>
</p:sld>
</file>

<file path=ppt/slides/dp11_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01F124-D412-4F32-98A0-D0926D041325}"/>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Маршрутні приклади: різні запитання</a:t>
            </a:r>
          </a:p>
        </p:txBody>
      </p:sp>
      <p:sp>
        <p:nvSpPr>
          <p:cNvPr id="2" name="">
            <a:extLst xmlns:a="http://schemas.openxmlformats.org/drawingml/2006/main">
              <a:ext uri="{FF2B5EF4-FFF2-40B4-BE49-F238E27FC236}">
                <a16:creationId xmlns:a16="http://schemas.microsoft.com/office/drawing/2014/main" id="{88D4C9FF-4109-49F8-B0C2-598697B8383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Різні означення стану ведуть до різних порядків розрахунку.</a:t>
            </a:r>
          </a:p>
        </p:txBody>
      </p:sp>
      <p:graphicFrame>
        <p:nvGraphicFramePr>
          <p:cNvPr id="3" name="">
            <a:extLst xmlns:a="http://schemas.openxmlformats.org/drawingml/2006/main">
              <a:ext uri="{FF2B5EF4-FFF2-40B4-BE49-F238E27FC236}">
                <a16:creationId xmlns:a16="http://schemas.microsoft.com/office/drawing/2014/main" id="{0D5ED9D3-0C8D-4CA6-A850-77A5141C08F2}"/>
              </a:ext>
            </a:extLst>
          </p:cNvPr>
          <p:cNvGraphicFramePr/>
          <p:nvPr/>
        </p:nvGraphicFramePr>
        <p:xfrm>
          <a:off xmlns:a="http://schemas.openxmlformats.org/drawingml/2006/main" x="685800" y="1762125"/>
          <a:ext xmlns:a="http://schemas.openxmlformats.org/drawingml/2006/main" cx="10820400" cy="3333750"/>
        </p:xfrm>
        <a:graphic xmlns:a="http://schemas.openxmlformats.org/drawingml/2006/main">
          <a:graphicData uri="http://schemas.openxmlformats.org/drawingml/2006/table">
            <a:tbl>
              <a:tblPr/>
              <a:tblGrid>
                <a:gridCol w="2857500"/>
                <a:gridCol w="4762500"/>
                <a:gridCol w="3200400"/>
              </a:tblGrid>
              <a:tr h="666750">
                <a:tc>
                  <a:txBody>
                    <a:bodyPr/>
                    <a:lstStyle/>
                    <a:p>
                      <a:r>
                        <a:rPr sz="1875" b="1">
                          <a:solidFill>
                            <a:srgbClr val="FFFFFF"/>
                          </a:solidFill>
                          <a:latin typeface="Arial"/>
                          <a:ea typeface="Arial"/>
                          <a:cs typeface="Arial"/>
                        </a:rPr>
                        <a:t>Приклад</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Яку відповідь шукаємо</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Особливість</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66750">
                <a:tc>
                  <a:txBody>
                    <a:bodyPr/>
                    <a:lstStyle/>
                    <a:p>
                      <a:r>
                        <a:rPr sz="1875" b="0">
                          <a:solidFill>
                            <a:srgbClr val="193247"/>
                          </a:solidFill>
                          <a:latin typeface="Arial"/>
                          <a:ea typeface="Arial"/>
                          <a:cs typeface="Arial"/>
                        </a:rPr>
                        <a:t>Маршрут до T</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 вузла</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Розрахунок від T</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1875" b="0">
                          <a:solidFill>
                            <a:srgbClr val="193247"/>
                          </a:solidFill>
                          <a:latin typeface="Arial"/>
                          <a:ea typeface="Arial"/>
                          <a:cs typeface="Arial"/>
                        </a:rPr>
                        <a:t>Граф Dasgupta</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Відстань від S до кожного вузла</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Топологічний порядок</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1875" b="0">
                          <a:solidFill>
                            <a:srgbClr val="193247"/>
                          </a:solidFill>
                          <a:latin typeface="Arial"/>
                          <a:ea typeface="Arial"/>
                          <a:cs typeface="Arial"/>
                        </a:rPr>
                        <a:t>Беллман–Форд</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Шлях із не більше ніж k ребрами</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Шари працюють і для циклів</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1875" b="0">
                          <a:solidFill>
                            <a:srgbClr val="193247"/>
                          </a:solidFill>
                          <a:latin typeface="Arial"/>
                          <a:ea typeface="Arial"/>
                          <a:cs typeface="Arial"/>
                        </a:rPr>
                        <a:t>RIP</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Метрика та next hop до мережі N</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Сусіди обмінюються оцінками</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137A318-54E5-406A-AA5A-100C4F289F71}"/>
              </a:ext>
            </a:extLst>
          </p:cNvPr>
          <p:cNvSpPr>
            <a:spLocks xmlns:a="http://schemas.openxmlformats.org/drawingml/2006/main" noGrp="1"/>
          </p:cNvSpPr>
          <p:nvPr/>
        </p:nvSpPr>
        <p:spPr>
          <a:xfrm xmlns:a="http://schemas.openxmlformats.org/drawingml/2006/main">
            <a:off x="685800" y="53816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Це різні графи й постановки. Однаковим залишається використання готових підзадач.</a:t>
            </a:r>
          </a:p>
        </p:txBody>
      </p:sp>
    </p:spTree>
    <p:extLst>
      <p:ext uri="{BB962C8B-B14F-4D97-AF65-F5344CB8AC3E}">
        <p14:creationId xmlns:p14="http://schemas.microsoft.com/office/powerpoint/2010/main" val="605833567"/>
      </p:ext>
    </p:extLst>
  </p:cSld>
</p:sld>
</file>

<file path=ppt/slides/rip8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6CE12C6-298E-4B60-8D94-170A9164E71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0, початкові таблиці</a:t>
            </a:r>
          </a:p>
        </p:txBody>
      </p:sp>
      <p:sp>
        <p:nvSpPr>
          <p:cNvPr id="2" name="">
            <a:extLst xmlns:a="http://schemas.openxmlformats.org/drawingml/2006/main">
              <a:ext uri="{FF2B5EF4-FFF2-40B4-BE49-F238E27FC236}">
                <a16:creationId xmlns:a16="http://schemas.microsoft.com/office/drawing/2014/main" id="{58AB462D-7CF7-45B1-9AFA-ECBB37BB0DC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R1, R2 та R3: метрика 16 означає, що маршруту до N ще немає.</a:t>
            </a:r>
          </a:p>
        </p:txBody>
      </p:sp>
      <p:sp>
        <p:nvSpPr>
          <p:cNvPr id="3" name="">
            <a:extLst xmlns:a="http://schemas.openxmlformats.org/drawingml/2006/main">
              <a:ext uri="{FF2B5EF4-FFF2-40B4-BE49-F238E27FC236}">
                <a16:creationId xmlns:a16="http://schemas.microsoft.com/office/drawing/2014/main" id="{7D955B00-D02A-42E7-B23F-AD4B06A65847}"/>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55DBA199-75F8-44F7-A184-1E26BDE27A48}"/>
              </a:ext>
            </a:extLst>
          </p:cNvPr>
          <p:cNvSpPr>
            <a:spLocks xmlns:a="http://schemas.openxmlformats.org/drawingml/2006/main" noGrp="1"/>
          </p:cNvSpPr>
          <p:nvPr/>
        </p:nvSpPr>
        <p:spPr>
          <a:xfrm xmlns:a="http://schemas.openxmlformats.org/drawingml/2006/main">
            <a:off x="2143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BE5FAA-39BD-4AD5-AB5E-FF735D3BEBF7}"/>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B79D38C-5092-4AF2-980C-1B736F786257}"/>
              </a:ext>
            </a:extLst>
          </p:cNvPr>
          <p:cNvSpPr>
            <a:spLocks xmlns:a="http://schemas.openxmlformats.org/drawingml/2006/main" noGrp="1"/>
          </p:cNvSpPr>
          <p:nvPr/>
        </p:nvSpPr>
        <p:spPr>
          <a:xfrm xmlns:a="http://schemas.openxmlformats.org/drawingml/2006/main">
            <a:off x="46196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5070A9-1EB9-4CEA-AD51-BBCEBE0A25F6}"/>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15D2D630-5D77-43A9-ABAC-4B4B4F4D93FE}"/>
              </a:ext>
            </a:extLst>
          </p:cNvPr>
          <p:cNvSpPr>
            <a:spLocks xmlns:a="http://schemas.openxmlformats.org/drawingml/2006/main" noGrp="1"/>
          </p:cNvSpPr>
          <p:nvPr/>
        </p:nvSpPr>
        <p:spPr>
          <a:xfrm xmlns:a="http://schemas.openxmlformats.org/drawingml/2006/main">
            <a:off x="7096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056EB8-44E6-4495-9CCF-4BCC80929864}"/>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DFBA9D0-3BDB-45A5-BCEB-9146FA219E0A}"/>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1" name="">
            <a:extLst xmlns:a="http://schemas.openxmlformats.org/drawingml/2006/main">
              <a:ext uri="{FF2B5EF4-FFF2-40B4-BE49-F238E27FC236}">
                <a16:creationId xmlns:a16="http://schemas.microsoft.com/office/drawing/2014/main" id="{52FC236C-79EE-473C-9B54-D9C6B81FF5EE}"/>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AD6EE342-D540-4AA5-9BD7-49757AD88FD8}"/>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4EF5107B-CDEB-4AB6-8B01-52376728EEB2}"/>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062B7546-7C8F-4B9D-AEBD-20370DDB6D62}"/>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5" name="">
            <a:extLst xmlns:a="http://schemas.openxmlformats.org/drawingml/2006/main">
              <a:ext uri="{FF2B5EF4-FFF2-40B4-BE49-F238E27FC236}">
                <a16:creationId xmlns:a16="http://schemas.microsoft.com/office/drawing/2014/main" id="{6C6C3ACA-7778-40B2-AC63-F7443D829132}"/>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6" name="">
            <a:extLst xmlns:a="http://schemas.openxmlformats.org/drawingml/2006/main">
              <a:ext uri="{FF2B5EF4-FFF2-40B4-BE49-F238E27FC236}">
                <a16:creationId xmlns:a16="http://schemas.microsoft.com/office/drawing/2014/main" id="{B6B0DE1B-F42C-4825-9679-DB9D53036592}"/>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7" name="">
            <a:extLst xmlns:a="http://schemas.openxmlformats.org/drawingml/2006/main">
              <a:ext uri="{FF2B5EF4-FFF2-40B4-BE49-F238E27FC236}">
                <a16:creationId xmlns:a16="http://schemas.microsoft.com/office/drawing/2014/main" id="{D75D0232-8F7D-4530-ABE4-05FE16EFBC82}"/>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C3995189-50B9-4669-9308-B91AD134CBF0}"/>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9" name="">
            <a:extLst xmlns:a="http://schemas.openxmlformats.org/drawingml/2006/main">
              <a:ext uri="{FF2B5EF4-FFF2-40B4-BE49-F238E27FC236}">
                <a16:creationId xmlns:a16="http://schemas.microsoft.com/office/drawing/2014/main" id="{6DB36D52-DE2B-4F9C-9860-34BD7DF7BEAA}"/>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0" name="">
            <a:extLst xmlns:a="http://schemas.openxmlformats.org/drawingml/2006/main">
              <a:ext uri="{FF2B5EF4-FFF2-40B4-BE49-F238E27FC236}">
                <a16:creationId xmlns:a16="http://schemas.microsoft.com/office/drawing/2014/main" id="{30833CB0-C936-4981-8B4B-AF2A3D082E8C}"/>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1" name="">
            <a:extLst xmlns:a="http://schemas.openxmlformats.org/drawingml/2006/main">
              <a:ext uri="{FF2B5EF4-FFF2-40B4-BE49-F238E27FC236}">
                <a16:creationId xmlns:a16="http://schemas.microsoft.com/office/drawing/2014/main" id="{2B934693-B772-4C07-B985-72AC80A03969}"/>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9CAAB259-A0F4-40AE-9966-0BA19A72D39F}"/>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23" name="">
            <a:extLst xmlns:a="http://schemas.openxmlformats.org/drawingml/2006/main">
              <a:ext uri="{FF2B5EF4-FFF2-40B4-BE49-F238E27FC236}">
                <a16:creationId xmlns:a16="http://schemas.microsoft.com/office/drawing/2014/main" id="{C9949825-220F-40AE-8E32-3C89937E3623}"/>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4" name="">
            <a:extLst xmlns:a="http://schemas.openxmlformats.org/drawingml/2006/main">
              <a:ext uri="{FF2B5EF4-FFF2-40B4-BE49-F238E27FC236}">
                <a16:creationId xmlns:a16="http://schemas.microsoft.com/office/drawing/2014/main" id="{2C8B3C44-0009-41A8-A16E-59ED498570BB}"/>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5" name="">
            <a:extLst xmlns:a="http://schemas.openxmlformats.org/drawingml/2006/main">
              <a:ext uri="{FF2B5EF4-FFF2-40B4-BE49-F238E27FC236}">
                <a16:creationId xmlns:a16="http://schemas.microsoft.com/office/drawing/2014/main" id="{E5BF8A2B-2C30-4C44-AC87-2DF90855E1D8}"/>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26" name="">
            <a:extLst xmlns:a="http://schemas.openxmlformats.org/drawingml/2006/main">
              <a:ext uri="{FF2B5EF4-FFF2-40B4-BE49-F238E27FC236}">
                <a16:creationId xmlns:a16="http://schemas.microsoft.com/office/drawing/2014/main" id="{F7058254-52F9-4A43-8E28-A1954835B33D}"/>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7" name="">
            <a:extLst xmlns:a="http://schemas.openxmlformats.org/drawingml/2006/main">
              <a:ext uri="{FF2B5EF4-FFF2-40B4-BE49-F238E27FC236}">
                <a16:creationId xmlns:a16="http://schemas.microsoft.com/office/drawing/2014/main" id="{4610827F-A212-4F31-AD67-B5C4E57457FD}"/>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5356E6-D47A-482B-9F3E-391717CB06E1}"/>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Лише R4 має безпосереднє підключення до мережі N.</a:t>
            </a:r>
          </a:p>
        </p:txBody>
      </p:sp>
    </p:spTree>
    <p:extLst>
      <p:ext uri="{BB962C8B-B14F-4D97-AF65-F5344CB8AC3E}">
        <p14:creationId xmlns:p14="http://schemas.microsoft.com/office/powerpoint/2010/main" val="526954906"/>
      </p:ext>
    </p:extLst>
  </p:cSld>
</p:sld>
</file>

<file path=ppt/slides/rip8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6E0DE6-66AB-4EDC-B2A4-39658C8A7E6C}"/>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1, маршрут з’являється в R3</a:t>
            </a:r>
          </a:p>
        </p:txBody>
      </p:sp>
      <p:sp>
        <p:nvSpPr>
          <p:cNvPr id="2" name="">
            <a:extLst xmlns:a="http://schemas.openxmlformats.org/drawingml/2006/main">
              <a:ext uri="{FF2B5EF4-FFF2-40B4-BE49-F238E27FC236}">
                <a16:creationId xmlns:a16="http://schemas.microsoft.com/office/drawing/2014/main" id="{7953514B-60A9-4A79-A8AB-22F78981DA7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R3: min(16, 1 + 1) = 2. Наступний вузол для пакета: R4.</a:t>
            </a:r>
          </a:p>
        </p:txBody>
      </p:sp>
      <p:sp>
        <p:nvSpPr>
          <p:cNvPr id="3" name="">
            <a:extLst xmlns:a="http://schemas.openxmlformats.org/drawingml/2006/main">
              <a:ext uri="{FF2B5EF4-FFF2-40B4-BE49-F238E27FC236}">
                <a16:creationId xmlns:a16="http://schemas.microsoft.com/office/drawing/2014/main" id="{BF642824-E071-4BED-9FE0-9DE73A465814}"/>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A20A590A-6897-42E2-B81F-4C8FC3D3CFAC}"/>
              </a:ext>
            </a:extLst>
          </p:cNvPr>
          <p:cNvSpPr>
            <a:spLocks xmlns:a="http://schemas.openxmlformats.org/drawingml/2006/main" noGrp="1"/>
          </p:cNvSpPr>
          <p:nvPr/>
        </p:nvSpPr>
        <p:spPr>
          <a:xfrm xmlns:a="http://schemas.openxmlformats.org/drawingml/2006/main">
            <a:off x="2143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614762-B475-4E10-BD79-267ED3A79217}"/>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DD4C5AC2-9159-4FB0-BAE0-09EFFD00DAC2}"/>
              </a:ext>
            </a:extLst>
          </p:cNvPr>
          <p:cNvSpPr>
            <a:spLocks xmlns:a="http://schemas.openxmlformats.org/drawingml/2006/main" noGrp="1"/>
          </p:cNvSpPr>
          <p:nvPr/>
        </p:nvSpPr>
        <p:spPr>
          <a:xfrm xmlns:a="http://schemas.openxmlformats.org/drawingml/2006/main">
            <a:off x="46196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132E7DD-2271-4108-AA9A-CCFF69B6EB95}"/>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F91186F6-8A4E-468A-87CB-16D8C20EE36D}"/>
              </a:ext>
            </a:extLst>
          </p:cNvPr>
          <p:cNvSpPr>
            <a:spLocks xmlns:a="http://schemas.openxmlformats.org/drawingml/2006/main" noGrp="1"/>
          </p:cNvSpPr>
          <p:nvPr/>
        </p:nvSpPr>
        <p:spPr>
          <a:xfrm xmlns:a="http://schemas.openxmlformats.org/drawingml/2006/main">
            <a:off x="7096125" y="2352675"/>
            <a:ext cx="1428750" cy="238125"/>
          </a:xfrm>
          <a:prstGeom xmlns:a="http://schemas.openxmlformats.org/drawingml/2006/main" prst="leftArrow">
            <a:avLst/>
          </a:prstGeom>
          <a:solidFill xmlns:a="http://schemas.openxmlformats.org/drawingml/2006/main">
            <a:srgbClr val="008B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23FC87-817C-4CC9-AE15-C94EF9D31666}"/>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Оголошує 1</a:t>
            </a:r>
          </a:p>
        </p:txBody>
      </p:sp>
      <p:sp>
        <p:nvSpPr>
          <p:cNvPr id="10" name="">
            <a:extLst xmlns:a="http://schemas.openxmlformats.org/drawingml/2006/main">
              <a:ext uri="{FF2B5EF4-FFF2-40B4-BE49-F238E27FC236}">
                <a16:creationId xmlns:a16="http://schemas.microsoft.com/office/drawing/2014/main" id="{0803B3F8-1C64-4D65-94D8-0DEB29552A55}"/>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1" name="">
            <a:extLst xmlns:a="http://schemas.openxmlformats.org/drawingml/2006/main">
              <a:ext uri="{FF2B5EF4-FFF2-40B4-BE49-F238E27FC236}">
                <a16:creationId xmlns:a16="http://schemas.microsoft.com/office/drawing/2014/main" id="{13F5BD28-DD5C-4FBC-8996-38681C0EA7E6}"/>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430B4E9F-44F7-4340-BE37-FB0D66D3840D}"/>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AE25A7EA-8C51-413F-B146-A43FEDC68A88}"/>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3FCAF9DE-A80F-4080-B475-6CD65BA2E19B}"/>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5" name="">
            <a:extLst xmlns:a="http://schemas.openxmlformats.org/drawingml/2006/main">
              <a:ext uri="{FF2B5EF4-FFF2-40B4-BE49-F238E27FC236}">
                <a16:creationId xmlns:a16="http://schemas.microsoft.com/office/drawing/2014/main" id="{84087083-7D74-4C29-A69F-B06983FFFB47}"/>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6" name="">
            <a:extLst xmlns:a="http://schemas.openxmlformats.org/drawingml/2006/main">
              <a:ext uri="{FF2B5EF4-FFF2-40B4-BE49-F238E27FC236}">
                <a16:creationId xmlns:a16="http://schemas.microsoft.com/office/drawing/2014/main" id="{BA474FA9-2565-4E1A-B35F-F5AA8D04BBB9}"/>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7" name="">
            <a:extLst xmlns:a="http://schemas.openxmlformats.org/drawingml/2006/main">
              <a:ext uri="{FF2B5EF4-FFF2-40B4-BE49-F238E27FC236}">
                <a16:creationId xmlns:a16="http://schemas.microsoft.com/office/drawing/2014/main" id="{FD53AF20-5DDE-45DF-AB70-BF90314AEFD5}"/>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E82FE2A3-54B5-43E8-932E-B3285E6EF878}"/>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19" name="">
            <a:extLst xmlns:a="http://schemas.openxmlformats.org/drawingml/2006/main">
              <a:ext uri="{FF2B5EF4-FFF2-40B4-BE49-F238E27FC236}">
                <a16:creationId xmlns:a16="http://schemas.microsoft.com/office/drawing/2014/main" id="{C49045F6-C7E3-4C5C-B59B-6EDA3A344923}"/>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0" name="">
            <a:extLst xmlns:a="http://schemas.openxmlformats.org/drawingml/2006/main">
              <a:ext uri="{FF2B5EF4-FFF2-40B4-BE49-F238E27FC236}">
                <a16:creationId xmlns:a16="http://schemas.microsoft.com/office/drawing/2014/main" id="{31AE59F6-2BED-4FDE-B5DC-C99187FADBA7}"/>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1" name="">
            <a:extLst xmlns:a="http://schemas.openxmlformats.org/drawingml/2006/main">
              <a:ext uri="{FF2B5EF4-FFF2-40B4-BE49-F238E27FC236}">
                <a16:creationId xmlns:a16="http://schemas.microsoft.com/office/drawing/2014/main" id="{9CBA443A-FB3B-4550-B23B-970DC69A7600}"/>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22" name="">
            <a:extLst xmlns:a="http://schemas.openxmlformats.org/drawingml/2006/main">
              <a:ext uri="{FF2B5EF4-FFF2-40B4-BE49-F238E27FC236}">
                <a16:creationId xmlns:a16="http://schemas.microsoft.com/office/drawing/2014/main" id="{9BDFA826-777B-4D35-AE84-8F112A5CC231}"/>
              </a:ext>
            </a:extLst>
          </p:cNvPr>
          <p:cNvSpPr>
            <a:spLocks xmlns:a="http://schemas.openxmlformats.org/drawingml/2006/main" noGrp="1"/>
          </p:cNvSpPr>
          <p:nvPr/>
        </p:nvSpPr>
        <p:spPr>
          <a:xfrm xmlns:a="http://schemas.openxmlformats.org/drawingml/2006/main">
            <a:off x="5619750" y="5048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16 → 2</a:t>
            </a:r>
          </a:p>
        </p:txBody>
      </p:sp>
      <p:sp>
        <p:nvSpPr>
          <p:cNvPr id="23" name="">
            <a:extLst xmlns:a="http://schemas.openxmlformats.org/drawingml/2006/main">
              <a:ext uri="{FF2B5EF4-FFF2-40B4-BE49-F238E27FC236}">
                <a16:creationId xmlns:a16="http://schemas.microsoft.com/office/drawing/2014/main" id="{91206515-D9D8-4641-BB41-B74BF855AE5B}"/>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4" name="">
            <a:extLst xmlns:a="http://schemas.openxmlformats.org/drawingml/2006/main">
              <a:ext uri="{FF2B5EF4-FFF2-40B4-BE49-F238E27FC236}">
                <a16:creationId xmlns:a16="http://schemas.microsoft.com/office/drawing/2014/main" id="{3998383E-29A9-4B8C-91FE-4E2DBD51A1DC}"/>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5" name="">
            <a:extLst xmlns:a="http://schemas.openxmlformats.org/drawingml/2006/main">
              <a:ext uri="{FF2B5EF4-FFF2-40B4-BE49-F238E27FC236}">
                <a16:creationId xmlns:a16="http://schemas.microsoft.com/office/drawing/2014/main" id="{2E423AE9-C13F-4F77-84BB-9BAE48D53AFA}"/>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6" name="">
            <a:extLst xmlns:a="http://schemas.openxmlformats.org/drawingml/2006/main">
              <a:ext uri="{FF2B5EF4-FFF2-40B4-BE49-F238E27FC236}">
                <a16:creationId xmlns:a16="http://schemas.microsoft.com/office/drawing/2014/main" id="{D96A7927-E201-414F-BDC1-A0A011921558}"/>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DAA5F442-0D81-4244-A177-BA56662D2A1A}"/>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8" name="">
            <a:extLst xmlns:a="http://schemas.openxmlformats.org/drawingml/2006/main">
              <a:ext uri="{FF2B5EF4-FFF2-40B4-BE49-F238E27FC236}">
                <a16:creationId xmlns:a16="http://schemas.microsoft.com/office/drawing/2014/main" id="{701D46B6-08CC-411E-BC38-D6C7FC2EDBA8}"/>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6F2C4CB-4DD2-43EF-B746-01A5368B3478}"/>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R4 оголошує: «До N моя метрика 1». R3 додає вартість переходу 1.</a:t>
            </a:r>
          </a:p>
        </p:txBody>
      </p:sp>
    </p:spTree>
    <p:extLst>
      <p:ext uri="{BB962C8B-B14F-4D97-AF65-F5344CB8AC3E}">
        <p14:creationId xmlns:p14="http://schemas.microsoft.com/office/powerpoint/2010/main" val="1714165999"/>
      </p:ext>
    </p:extLst>
  </p:cSld>
</p:sld>
</file>

<file path=ppt/slides/rip8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D616890-7693-4569-9DE4-16D2A0248CB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2, маршрут з’являється в R2</a:t>
            </a:r>
          </a:p>
        </p:txBody>
      </p:sp>
      <p:sp>
        <p:nvSpPr>
          <p:cNvPr id="2" name="">
            <a:extLst xmlns:a="http://schemas.openxmlformats.org/drawingml/2006/main">
              <a:ext uri="{FF2B5EF4-FFF2-40B4-BE49-F238E27FC236}">
                <a16:creationId xmlns:a16="http://schemas.microsoft.com/office/drawing/2014/main" id="{19B44ABF-F7AD-4D9C-BFF4-9628CCE6707C}"/>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R2: min(16, 1 + 2) = 3. Наступний вузол для пакета: R3.</a:t>
            </a:r>
          </a:p>
        </p:txBody>
      </p:sp>
      <p:sp>
        <p:nvSpPr>
          <p:cNvPr id="3" name="">
            <a:extLst xmlns:a="http://schemas.openxmlformats.org/drawingml/2006/main">
              <a:ext uri="{FF2B5EF4-FFF2-40B4-BE49-F238E27FC236}">
                <a16:creationId xmlns:a16="http://schemas.microsoft.com/office/drawing/2014/main" id="{6BDF32E5-3731-4727-92C0-E2A779EDD555}"/>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3CAC8883-A82A-4017-BCC0-A99AFF8EB4AD}"/>
              </a:ext>
            </a:extLst>
          </p:cNvPr>
          <p:cNvSpPr>
            <a:spLocks xmlns:a="http://schemas.openxmlformats.org/drawingml/2006/main" noGrp="1"/>
          </p:cNvSpPr>
          <p:nvPr/>
        </p:nvSpPr>
        <p:spPr>
          <a:xfrm xmlns:a="http://schemas.openxmlformats.org/drawingml/2006/main">
            <a:off x="2143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C34296-E161-4DF4-AD94-3E059A883016}"/>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769C548-54D0-4736-B203-49CAFFC45351}"/>
              </a:ext>
            </a:extLst>
          </p:cNvPr>
          <p:cNvSpPr>
            <a:spLocks xmlns:a="http://schemas.openxmlformats.org/drawingml/2006/main" noGrp="1"/>
          </p:cNvSpPr>
          <p:nvPr/>
        </p:nvSpPr>
        <p:spPr>
          <a:xfrm xmlns:a="http://schemas.openxmlformats.org/drawingml/2006/main">
            <a:off x="4619625" y="2352675"/>
            <a:ext cx="1428750" cy="238125"/>
          </a:xfrm>
          <a:prstGeom xmlns:a="http://schemas.openxmlformats.org/drawingml/2006/main" prst="leftArrow">
            <a:avLst/>
          </a:prstGeom>
          <a:solidFill xmlns:a="http://schemas.openxmlformats.org/drawingml/2006/main">
            <a:srgbClr val="008B8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8BB1F56-D811-40AB-B7EC-432084AC8FB7}"/>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Оголошує 2</a:t>
            </a:r>
          </a:p>
        </p:txBody>
      </p:sp>
      <p:sp>
        <p:nvSpPr>
          <p:cNvPr id="8" name="">
            <a:extLst xmlns:a="http://schemas.openxmlformats.org/drawingml/2006/main">
              <a:ext uri="{FF2B5EF4-FFF2-40B4-BE49-F238E27FC236}">
                <a16:creationId xmlns:a16="http://schemas.microsoft.com/office/drawing/2014/main" id="{4722E4A4-9BA9-42B6-BBB7-DC7221B9EFA1}"/>
              </a:ext>
            </a:extLst>
          </p:cNvPr>
          <p:cNvSpPr>
            <a:spLocks xmlns:a="http://schemas.openxmlformats.org/drawingml/2006/main" noGrp="1"/>
          </p:cNvSpPr>
          <p:nvPr/>
        </p:nvSpPr>
        <p:spPr>
          <a:xfrm xmlns:a="http://schemas.openxmlformats.org/drawingml/2006/main">
            <a:off x="7096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EB2655-B2B9-40C6-B58B-A3E0AB35F387}"/>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93D70608-45E8-40B8-A477-9639CEDEFBC9}"/>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1" name="">
            <a:extLst xmlns:a="http://schemas.openxmlformats.org/drawingml/2006/main">
              <a:ext uri="{FF2B5EF4-FFF2-40B4-BE49-F238E27FC236}">
                <a16:creationId xmlns:a16="http://schemas.microsoft.com/office/drawing/2014/main" id="{FCF74441-9797-4384-A521-38D5AB9E3D7B}"/>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2D928F40-B2A9-47CA-B7A1-1075588DC3CE}"/>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B1B0DE2E-99B3-40A7-B89F-7A63C8CA2BAC}"/>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72D879BE-D643-4B51-8BE8-EF057158E065}"/>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15" name="">
            <a:extLst xmlns:a="http://schemas.openxmlformats.org/drawingml/2006/main">
              <a:ext uri="{FF2B5EF4-FFF2-40B4-BE49-F238E27FC236}">
                <a16:creationId xmlns:a16="http://schemas.microsoft.com/office/drawing/2014/main" id="{80E4CC8C-A20E-4B25-978E-86BE25D13B75}"/>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6" name="">
            <a:extLst xmlns:a="http://schemas.openxmlformats.org/drawingml/2006/main">
              <a:ext uri="{FF2B5EF4-FFF2-40B4-BE49-F238E27FC236}">
                <a16:creationId xmlns:a16="http://schemas.microsoft.com/office/drawing/2014/main" id="{71079077-CA97-4918-B8FA-21DBADFC9625}"/>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7" name="">
            <a:extLst xmlns:a="http://schemas.openxmlformats.org/drawingml/2006/main">
              <a:ext uri="{FF2B5EF4-FFF2-40B4-BE49-F238E27FC236}">
                <a16:creationId xmlns:a16="http://schemas.microsoft.com/office/drawing/2014/main" id="{35EBBA25-8E5A-4154-8A8E-E4A80D613923}"/>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R3</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18" name="">
            <a:extLst xmlns:a="http://schemas.openxmlformats.org/drawingml/2006/main">
              <a:ext uri="{FF2B5EF4-FFF2-40B4-BE49-F238E27FC236}">
                <a16:creationId xmlns:a16="http://schemas.microsoft.com/office/drawing/2014/main" id="{191C1095-2AA9-4339-B768-227F90F6B311}"/>
              </a:ext>
            </a:extLst>
          </p:cNvPr>
          <p:cNvSpPr>
            <a:spLocks xmlns:a="http://schemas.openxmlformats.org/drawingml/2006/main" noGrp="1"/>
          </p:cNvSpPr>
          <p:nvPr/>
        </p:nvSpPr>
        <p:spPr>
          <a:xfrm xmlns:a="http://schemas.openxmlformats.org/drawingml/2006/main">
            <a:off x="3143250" y="5048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16 → 3</a:t>
            </a:r>
          </a:p>
        </p:txBody>
      </p:sp>
      <p:sp>
        <p:nvSpPr>
          <p:cNvPr id="19" name="">
            <a:extLst xmlns:a="http://schemas.openxmlformats.org/drawingml/2006/main">
              <a:ext uri="{FF2B5EF4-FFF2-40B4-BE49-F238E27FC236}">
                <a16:creationId xmlns:a16="http://schemas.microsoft.com/office/drawing/2014/main" id="{188D9E25-9D72-4379-98B9-8C421DFF7335}"/>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0" name="">
            <a:extLst xmlns:a="http://schemas.openxmlformats.org/drawingml/2006/main">
              <a:ext uri="{FF2B5EF4-FFF2-40B4-BE49-F238E27FC236}">
                <a16:creationId xmlns:a16="http://schemas.microsoft.com/office/drawing/2014/main" id="{6794A3D2-6E57-4C2B-9CCC-7A17ADA3306A}"/>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1" name="">
            <a:extLst xmlns:a="http://schemas.openxmlformats.org/drawingml/2006/main">
              <a:ext uri="{FF2B5EF4-FFF2-40B4-BE49-F238E27FC236}">
                <a16:creationId xmlns:a16="http://schemas.microsoft.com/office/drawing/2014/main" id="{A423BFBD-C582-47B1-9663-3486F1825395}"/>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2" name="">
            <a:extLst xmlns:a="http://schemas.openxmlformats.org/drawingml/2006/main">
              <a:ext uri="{FF2B5EF4-FFF2-40B4-BE49-F238E27FC236}">
                <a16:creationId xmlns:a16="http://schemas.microsoft.com/office/drawing/2014/main" id="{C7CFD64A-A5ED-45A1-B41F-2ACA11CD7DE5}"/>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3" name="">
            <a:extLst xmlns:a="http://schemas.openxmlformats.org/drawingml/2006/main">
              <a:ext uri="{FF2B5EF4-FFF2-40B4-BE49-F238E27FC236}">
                <a16:creationId xmlns:a16="http://schemas.microsoft.com/office/drawing/2014/main" id="{B21E45D3-87C5-4E43-9486-BB3B6E04BA33}"/>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4" name="">
            <a:extLst xmlns:a="http://schemas.openxmlformats.org/drawingml/2006/main">
              <a:ext uri="{FF2B5EF4-FFF2-40B4-BE49-F238E27FC236}">
                <a16:creationId xmlns:a16="http://schemas.microsoft.com/office/drawing/2014/main" id="{C12E7A58-6B10-416E-A709-FFE3CE87DB71}"/>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5" name="">
            <a:extLst xmlns:a="http://schemas.openxmlformats.org/drawingml/2006/main">
              <a:ext uri="{FF2B5EF4-FFF2-40B4-BE49-F238E27FC236}">
                <a16:creationId xmlns:a16="http://schemas.microsoft.com/office/drawing/2014/main" id="{DC20582D-0ECC-40CF-B210-C33FD7AE3908}"/>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6" name="">
            <a:extLst xmlns:a="http://schemas.openxmlformats.org/drawingml/2006/main">
              <a:ext uri="{FF2B5EF4-FFF2-40B4-BE49-F238E27FC236}">
                <a16:creationId xmlns:a16="http://schemas.microsoft.com/office/drawing/2014/main" id="{7DF192BF-8955-4287-A03B-B3BD1374A1BF}"/>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90621CC4-DF48-4EF5-852F-684B83A79E86}"/>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8" name="">
            <a:extLst xmlns:a="http://schemas.openxmlformats.org/drawingml/2006/main">
              <a:ext uri="{FF2B5EF4-FFF2-40B4-BE49-F238E27FC236}">
                <a16:creationId xmlns:a16="http://schemas.microsoft.com/office/drawing/2014/main" id="{868998DF-68D4-487F-B843-7E2CDBD6B541}"/>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1C8F47D-FB9A-4077-A6D8-253D41B986A6}"/>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R3 оголошує метрику 2 з попереднього раунду. R2 додає 1.</a:t>
            </a:r>
          </a:p>
        </p:txBody>
      </p:sp>
    </p:spTree>
    <p:extLst>
      <p:ext uri="{BB962C8B-B14F-4D97-AF65-F5344CB8AC3E}">
        <p14:creationId xmlns:p14="http://schemas.microsoft.com/office/powerpoint/2010/main" val="1616428081"/>
      </p:ext>
    </p:extLst>
  </p:cSld>
</p:sld>
</file>

<file path=ppt/slides/rip8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7FF8356-9610-4207-8780-D32CED2C4F4E}"/>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3, маршрут з’являється в R1</a:t>
            </a:r>
          </a:p>
        </p:txBody>
      </p:sp>
      <p:sp>
        <p:nvSpPr>
          <p:cNvPr id="2" name="">
            <a:extLst xmlns:a="http://schemas.openxmlformats.org/drawingml/2006/main">
              <a:ext uri="{FF2B5EF4-FFF2-40B4-BE49-F238E27FC236}">
                <a16:creationId xmlns:a16="http://schemas.microsoft.com/office/drawing/2014/main" id="{F7E4053C-52AA-4E06-97B2-64B5B68F827E}"/>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R1: min(16, 1 + 3) = 4. Наступний вузол для пакета: R2.</a:t>
            </a:r>
          </a:p>
        </p:txBody>
      </p:sp>
      <p:sp>
        <p:nvSpPr>
          <p:cNvPr id="3" name="">
            <a:extLst xmlns:a="http://schemas.openxmlformats.org/drawingml/2006/main">
              <a:ext uri="{FF2B5EF4-FFF2-40B4-BE49-F238E27FC236}">
                <a16:creationId xmlns:a16="http://schemas.microsoft.com/office/drawing/2014/main" id="{B9005A0E-2387-470F-A8FD-017B3F27280E}"/>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D7E3B243-A8F4-48C6-BDE1-225F8264F551}"/>
              </a:ext>
            </a:extLst>
          </p:cNvPr>
          <p:cNvSpPr>
            <a:spLocks xmlns:a="http://schemas.openxmlformats.org/drawingml/2006/main" noGrp="1"/>
          </p:cNvSpPr>
          <p:nvPr/>
        </p:nvSpPr>
        <p:spPr>
          <a:xfrm xmlns:a="http://schemas.openxmlformats.org/drawingml/2006/main">
            <a:off x="2143125" y="2352675"/>
            <a:ext cx="1428750" cy="238125"/>
          </a:xfrm>
          <a:prstGeom xmlns:a="http://schemas.openxmlformats.org/drawingml/2006/main" prst="leftArrow">
            <a:avLst/>
          </a:prstGeom>
          <a:solidFill xmlns:a="http://schemas.openxmlformats.org/drawingml/2006/main">
            <a:srgbClr val="008B8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0E146-E566-4319-A4AE-3A0BC44ECAC3}"/>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Оголошує 3</a:t>
            </a:r>
          </a:p>
        </p:txBody>
      </p:sp>
      <p:sp>
        <p:nvSpPr>
          <p:cNvPr id="6" name="">
            <a:extLst xmlns:a="http://schemas.openxmlformats.org/drawingml/2006/main">
              <a:ext uri="{FF2B5EF4-FFF2-40B4-BE49-F238E27FC236}">
                <a16:creationId xmlns:a16="http://schemas.microsoft.com/office/drawing/2014/main" id="{6D0DDCE9-6791-4632-A5BD-98F6B706310B}"/>
              </a:ext>
            </a:extLst>
          </p:cNvPr>
          <p:cNvSpPr>
            <a:spLocks xmlns:a="http://schemas.openxmlformats.org/drawingml/2006/main" noGrp="1"/>
          </p:cNvSpPr>
          <p:nvPr/>
        </p:nvSpPr>
        <p:spPr>
          <a:xfrm xmlns:a="http://schemas.openxmlformats.org/drawingml/2006/main">
            <a:off x="46196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2272CF-2724-4859-96A7-F29D8F6AC7F7}"/>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73EA2167-8516-4876-A618-DC83B3982877}"/>
              </a:ext>
            </a:extLst>
          </p:cNvPr>
          <p:cNvSpPr>
            <a:spLocks xmlns:a="http://schemas.openxmlformats.org/drawingml/2006/main" noGrp="1"/>
          </p:cNvSpPr>
          <p:nvPr/>
        </p:nvSpPr>
        <p:spPr>
          <a:xfrm xmlns:a="http://schemas.openxmlformats.org/drawingml/2006/main">
            <a:off x="7096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BC9F71-51CB-4F0B-8267-DF00CBCDEF7E}"/>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F96EE57-A716-4992-A825-FFDF27F814B3}"/>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11" name="">
            <a:extLst xmlns:a="http://schemas.openxmlformats.org/drawingml/2006/main">
              <a:ext uri="{FF2B5EF4-FFF2-40B4-BE49-F238E27FC236}">
                <a16:creationId xmlns:a16="http://schemas.microsoft.com/office/drawing/2014/main" id="{35955ABC-997A-4B21-82D6-CDF01EDE192E}"/>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B02F5F8B-9F0A-4A67-BF9B-090077DE07F8}"/>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DC789E41-391B-4EB8-B5FC-2AF65744A15C}"/>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4</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R2</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14" name="">
            <a:extLst xmlns:a="http://schemas.openxmlformats.org/drawingml/2006/main">
              <a:ext uri="{FF2B5EF4-FFF2-40B4-BE49-F238E27FC236}">
                <a16:creationId xmlns:a16="http://schemas.microsoft.com/office/drawing/2014/main" id="{C310E0DE-526D-4C87-B891-D8D9C7322CDE}"/>
              </a:ext>
            </a:extLst>
          </p:cNvPr>
          <p:cNvSpPr>
            <a:spLocks xmlns:a="http://schemas.openxmlformats.org/drawingml/2006/main" noGrp="1"/>
          </p:cNvSpPr>
          <p:nvPr/>
        </p:nvSpPr>
        <p:spPr>
          <a:xfrm xmlns:a="http://schemas.openxmlformats.org/drawingml/2006/main">
            <a:off x="666750" y="5048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16 → 4</a:t>
            </a:r>
          </a:p>
        </p:txBody>
      </p:sp>
      <p:sp>
        <p:nvSpPr>
          <p:cNvPr id="15" name="">
            <a:extLst xmlns:a="http://schemas.openxmlformats.org/drawingml/2006/main">
              <a:ext uri="{FF2B5EF4-FFF2-40B4-BE49-F238E27FC236}">
                <a16:creationId xmlns:a16="http://schemas.microsoft.com/office/drawing/2014/main" id="{C7301EAE-DC28-47A1-8CF3-F8FC27BDFCA5}"/>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6" name="">
            <a:extLst xmlns:a="http://schemas.openxmlformats.org/drawingml/2006/main">
              <a:ext uri="{FF2B5EF4-FFF2-40B4-BE49-F238E27FC236}">
                <a16:creationId xmlns:a16="http://schemas.microsoft.com/office/drawing/2014/main" id="{19427E3D-9F09-487C-8196-3AA369CE42C2}"/>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7" name="">
            <a:extLst xmlns:a="http://schemas.openxmlformats.org/drawingml/2006/main">
              <a:ext uri="{FF2B5EF4-FFF2-40B4-BE49-F238E27FC236}">
                <a16:creationId xmlns:a16="http://schemas.microsoft.com/office/drawing/2014/main" id="{95CF02D5-CBE0-4481-80A0-2B202A7FC907}"/>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8" name="">
            <a:extLst xmlns:a="http://schemas.openxmlformats.org/drawingml/2006/main">
              <a:ext uri="{FF2B5EF4-FFF2-40B4-BE49-F238E27FC236}">
                <a16:creationId xmlns:a16="http://schemas.microsoft.com/office/drawing/2014/main" id="{ACE96C8F-CB05-4480-B4F6-04274C6F4696}"/>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R3</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C46668A6-E6E8-43C7-B56A-0EEB084CD147}"/>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0" name="">
            <a:extLst xmlns:a="http://schemas.openxmlformats.org/drawingml/2006/main">
              <a:ext uri="{FF2B5EF4-FFF2-40B4-BE49-F238E27FC236}">
                <a16:creationId xmlns:a16="http://schemas.microsoft.com/office/drawing/2014/main" id="{607BA41C-6AF7-4B3E-805E-DCF318728B74}"/>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1" name="">
            <a:extLst xmlns:a="http://schemas.openxmlformats.org/drawingml/2006/main">
              <a:ext uri="{FF2B5EF4-FFF2-40B4-BE49-F238E27FC236}">
                <a16:creationId xmlns:a16="http://schemas.microsoft.com/office/drawing/2014/main" id="{E91EA7E7-570D-460A-87CC-955623AD31E4}"/>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2" name="">
            <a:extLst xmlns:a="http://schemas.openxmlformats.org/drawingml/2006/main">
              <a:ext uri="{FF2B5EF4-FFF2-40B4-BE49-F238E27FC236}">
                <a16:creationId xmlns:a16="http://schemas.microsoft.com/office/drawing/2014/main" id="{A42BBB41-2CCD-4C18-8526-9FBAACC52E7A}"/>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3" name="">
            <a:extLst xmlns:a="http://schemas.openxmlformats.org/drawingml/2006/main">
              <a:ext uri="{FF2B5EF4-FFF2-40B4-BE49-F238E27FC236}">
                <a16:creationId xmlns:a16="http://schemas.microsoft.com/office/drawing/2014/main" id="{8B7D4807-3493-4E85-A872-AF9B8058DE48}"/>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4" name="">
            <a:extLst xmlns:a="http://schemas.openxmlformats.org/drawingml/2006/main">
              <a:ext uri="{FF2B5EF4-FFF2-40B4-BE49-F238E27FC236}">
                <a16:creationId xmlns:a16="http://schemas.microsoft.com/office/drawing/2014/main" id="{BA405EBE-114A-4EE5-98B2-430B2F45F749}"/>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5" name="">
            <a:extLst xmlns:a="http://schemas.openxmlformats.org/drawingml/2006/main">
              <a:ext uri="{FF2B5EF4-FFF2-40B4-BE49-F238E27FC236}">
                <a16:creationId xmlns:a16="http://schemas.microsoft.com/office/drawing/2014/main" id="{77E55A32-80CF-4FBE-9835-411090B89AD7}"/>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6" name="">
            <a:extLst xmlns:a="http://schemas.openxmlformats.org/drawingml/2006/main">
              <a:ext uri="{FF2B5EF4-FFF2-40B4-BE49-F238E27FC236}">
                <a16:creationId xmlns:a16="http://schemas.microsoft.com/office/drawing/2014/main" id="{4C02A312-DA75-45CD-A8D5-1B3458F97EC2}"/>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2E06E0B0-39D8-4902-88AF-842566986497}"/>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8" name="">
            <a:extLst xmlns:a="http://schemas.openxmlformats.org/drawingml/2006/main">
              <a:ext uri="{FF2B5EF4-FFF2-40B4-BE49-F238E27FC236}">
                <a16:creationId xmlns:a16="http://schemas.microsoft.com/office/drawing/2014/main" id="{F7A0768F-1D10-482C-87E6-DD7B36F758C7}"/>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F040B84-6A02-4960-93C4-72EE29FF03A8}"/>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R2 оголошує метрику 3 з попереднього раунду. R1 додає 1.</a:t>
            </a:r>
          </a:p>
        </p:txBody>
      </p:sp>
    </p:spTree>
    <p:extLst>
      <p:ext uri="{BB962C8B-B14F-4D97-AF65-F5344CB8AC3E}">
        <p14:creationId xmlns:p14="http://schemas.microsoft.com/office/powerpoint/2010/main" val="526918449"/>
      </p:ext>
    </p:extLst>
  </p:cSld>
</p:sld>
</file>

<file path=ppt/slides/slide1.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7B2CAE-0582-4871-A060-BAA66762FEDC}"/>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Від послідовності рішень — до оптимального плану</a:t>
            </a:r>
          </a:p>
        </p:txBody>
      </p:sp>
      <p:sp>
        <p:nvSpPr>
          <p:cNvPr id="3" name="">
            <a:extLst xmlns:a="http://schemas.openxmlformats.org/drawingml/2006/main">
              <a:ext uri="{FF2B5EF4-FFF2-40B4-BE49-F238E27FC236}">
                <a16:creationId xmlns:a16="http://schemas.microsoft.com/office/drawing/2014/main" id="{05A5B3BA-F143-471E-B5F6-390C53DBAB65}"/>
              </a:ext>
            </a:extLst>
          </p:cNvPr>
          <p:cNvSpPr>
            <a:spLocks xmlns:a="http://schemas.openxmlformats.org/drawingml/2006/main" noGrp="1"/>
          </p:cNvSpPr>
          <p:nvPr/>
        </p:nvSpPr>
        <p:spPr>
          <a:xfrm xmlns:a="http://schemas.openxmlformats.org/drawingml/2006/main">
            <a:off x="685800" y="8763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ЛЕКЦІЯ 6</a:t>
            </a:r>
          </a:p>
        </p:txBody>
      </p:sp>
      <p:sp>
        <p:nvSpPr>
          <p:cNvPr id="4" name="">
            <a:extLst xmlns:a="http://schemas.openxmlformats.org/drawingml/2006/main">
              <a:ext uri="{FF2B5EF4-FFF2-40B4-BE49-F238E27FC236}">
                <a16:creationId xmlns:a16="http://schemas.microsoft.com/office/drawing/2014/main" id="{AB1DF802-4317-4901-ABC8-BA361631C3C5}"/>
              </a:ext>
            </a:extLst>
          </p:cNvPr>
          <p:cNvSpPr>
            <a:spLocks xmlns:a="http://schemas.openxmlformats.org/drawingml/2006/main" noGrp="1"/>
          </p:cNvSpPr>
          <p:nvPr/>
        </p:nvSpPr>
        <p:spPr>
          <a:xfrm xmlns:a="http://schemas.openxmlformats.org/drawingml/2006/main">
            <a:off x="685800" y="1981200"/>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Динамічне</a:t>
            </a:r>
          </a:p>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програмування</a:t>
            </a:r>
          </a:p>
        </p:txBody>
      </p:sp>
      <p:sp>
        <p:nvSpPr>
          <p:cNvPr id="5" name="">
            <a:extLst xmlns:a="http://schemas.openxmlformats.org/drawingml/2006/main">
              <a:ext uri="{FF2B5EF4-FFF2-40B4-BE49-F238E27FC236}">
                <a16:creationId xmlns:a16="http://schemas.microsoft.com/office/drawing/2014/main" id="{149CD3A5-72E1-4E5F-AEC3-4BAF438DA58C}"/>
              </a:ext>
            </a:extLst>
          </p:cNvPr>
          <p:cNvSpPr>
            <a:spLocks xmlns:a="http://schemas.openxmlformats.org/drawingml/2006/main" noGrp="1"/>
          </p:cNvSpPr>
          <p:nvPr/>
        </p:nvSpPr>
        <p:spPr>
          <a:xfrm xmlns:a="http://schemas.openxmlformats.org/drawingml/2006/main">
            <a:off x="685800" y="4286250"/>
            <a:ext cx="1028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FFFFFF"/>
                </a:solidFill>
                <a:latin typeface="Arial"/>
                <a:ea typeface="Arial"/>
                <a:cs typeface="Arial"/>
              </a:defRPr>
            </a:pPr>
            <a:r>
              <a:rPr sz="2550" b="0">
                <a:solidFill>
                  <a:srgbClr val="FFFFFF"/>
                </a:solidFill>
                <a:latin typeface="Arial"/>
                <a:ea typeface="Arial"/>
                <a:cs typeface="Arial"/>
              </a:rPr>
              <a:t>Стан · рішення · рекурентне співвідношення</a:t>
            </a:r>
          </a:p>
          <a:p xmlns:a="http://schemas.openxmlformats.org/drawingml/2006/main">
            <a:pPr algn="l">
              <a:buNone/>
              <a:defRPr sz="2550" b="0">
                <a:solidFill>
                  <a:srgbClr val="FFFFFF"/>
                </a:solidFill>
                <a:latin typeface="Arial"/>
                <a:ea typeface="Arial"/>
                <a:cs typeface="Arial"/>
              </a:defRPr>
            </a:pPr>
            <a:r>
              <a:rPr sz="2550" b="0">
                <a:solidFill>
                  <a:srgbClr val="FFFFFF"/>
                </a:solidFill>
                <a:latin typeface="Arial"/>
                <a:ea typeface="Arial"/>
                <a:cs typeface="Arial"/>
              </a:rPr>
              <a:t>Принцип оптимальності Беллмана</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a:t>
            </a:r>
          </a:p>
        </p:txBody>
      </p:sp>
    </p:spTree>
    <p:extLst>
      <p:ext uri="{BB962C8B-B14F-4D97-AF65-F5344CB8AC3E}">
        <p14:creationId xmlns:p14="http://schemas.microsoft.com/office/powerpoint/2010/main" val="189954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0BFE23-36C0-4602-BEC0-3899CA1E6F56}"/>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Що ви зможете після лекції</a:t>
            </a:r>
          </a:p>
        </p:txBody>
      </p:sp>
      <p:sp>
        <p:nvSpPr>
          <p:cNvPr id="2" name="">
            <a:extLst xmlns:a="http://schemas.openxmlformats.org/drawingml/2006/main">
              <a:ext uri="{FF2B5EF4-FFF2-40B4-BE49-F238E27FC236}">
                <a16:creationId xmlns:a16="http://schemas.microsoft.com/office/drawing/2014/main" id="{2688E7C5-7BD0-4BF9-8EE9-C3E5B145D24C}"/>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Оптимум — це і значення функції, і конкретний план.</a:t>
            </a:r>
          </a:p>
        </p:txBody>
      </p:sp>
      <p:sp>
        <p:nvSpPr>
          <p:cNvPr id="4" name="">
            <a:extLst xmlns:a="http://schemas.openxmlformats.org/drawingml/2006/main">
              <a:ext uri="{FF2B5EF4-FFF2-40B4-BE49-F238E27FC236}">
                <a16:creationId xmlns:a16="http://schemas.microsoft.com/office/drawing/2014/main" id="{F8DA3849-3B32-4C3D-960E-0A61A913DD47}"/>
              </a:ext>
            </a:extLst>
          </p:cNvPr>
          <p:cNvSpPr>
            <a:spLocks xmlns:a="http://schemas.openxmlformats.org/drawingml/2006/main" noGrp="1"/>
          </p:cNvSpPr>
          <p:nvPr/>
        </p:nvSpPr>
        <p:spPr>
          <a:xfrm xmlns:a="http://schemas.openxmlformats.org/drawingml/2006/main">
            <a:off x="685800" y="15430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1. Визначити етап, стан, рішення та перехід.</a:t>
            </a:r>
          </a:p>
        </p:txBody>
      </p:sp>
      <p:sp>
        <p:nvSpPr>
          <p:cNvPr id="5" name="">
            <a:extLst xmlns:a="http://schemas.openxmlformats.org/drawingml/2006/main">
              <a:ext uri="{FF2B5EF4-FFF2-40B4-BE49-F238E27FC236}">
                <a16:creationId xmlns:a16="http://schemas.microsoft.com/office/drawing/2014/main" id="{0D1F69EB-701F-4A89-9123-C344205D66E0}"/>
              </a:ext>
            </a:extLst>
          </p:cNvPr>
          <p:cNvSpPr>
            <a:spLocks xmlns:a="http://schemas.openxmlformats.org/drawingml/2006/main" noGrp="1"/>
          </p:cNvSpPr>
          <p:nvPr/>
        </p:nvSpPr>
        <p:spPr>
          <a:xfrm xmlns:a="http://schemas.openxmlformats.org/drawingml/2006/main">
            <a:off x="685800" y="2495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2. Побудувати рекурентне співвідношення.</a:t>
            </a:r>
          </a:p>
        </p:txBody>
      </p:sp>
      <p:sp>
        <p:nvSpPr>
          <p:cNvPr id="6" name="">
            <a:extLst xmlns:a="http://schemas.openxmlformats.org/drawingml/2006/main">
              <a:ext uri="{FF2B5EF4-FFF2-40B4-BE49-F238E27FC236}">
                <a16:creationId xmlns:a16="http://schemas.microsoft.com/office/drawing/2014/main" id="{CD207804-3517-46FF-9BAE-3A07C2005420}"/>
              </a:ext>
            </a:extLst>
          </p:cNvPr>
          <p:cNvSpPr>
            <a:spLocks xmlns:a="http://schemas.openxmlformats.org/drawingml/2006/main" noGrp="1"/>
          </p:cNvSpPr>
          <p:nvPr/>
        </p:nvSpPr>
        <p:spPr>
          <a:xfrm xmlns:a="http://schemas.openxmlformats.org/drawingml/2006/main">
            <a:off x="685800" y="34480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3. Заповнити таблицю й відновити план.</a:t>
            </a:r>
          </a:p>
        </p:txBody>
      </p:sp>
      <p:sp>
        <p:nvSpPr>
          <p:cNvPr id="7" name="">
            <a:extLst xmlns:a="http://schemas.openxmlformats.org/drawingml/2006/main">
              <a:ext uri="{FF2B5EF4-FFF2-40B4-BE49-F238E27FC236}">
                <a16:creationId xmlns:a16="http://schemas.microsoft.com/office/drawing/2014/main" id="{5211553D-F1A0-463A-BE10-92526A42F3C5}"/>
              </a:ext>
            </a:extLst>
          </p:cNvPr>
          <p:cNvSpPr>
            <a:spLocks xmlns:a="http://schemas.openxmlformats.org/drawingml/2006/main" noGrp="1"/>
          </p:cNvSpPr>
          <p:nvPr/>
        </p:nvSpPr>
        <p:spPr>
          <a:xfrm xmlns:a="http://schemas.openxmlformats.org/drawingml/2006/main">
            <a:off x="685800" y="44005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4. Написати Python і перевірити план або маршрут.</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a:t>
            </a:r>
          </a:p>
        </p:txBody>
      </p:sp>
    </p:spTree>
    <p:extLst>
      <p:ext uri="{BB962C8B-B14F-4D97-AF65-F5344CB8AC3E}">
        <p14:creationId xmlns:p14="http://schemas.microsoft.com/office/powerpoint/2010/main" val="7251383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B10DC0-9863-4A40-B98D-C0F6CDC53E2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План лекції та матеріали для практики</a:t>
            </a:r>
          </a:p>
        </p:txBody>
      </p:sp>
      <p:sp>
        <p:nvSpPr>
          <p:cNvPr id="2" name="">
            <a:extLst xmlns:a="http://schemas.openxmlformats.org/drawingml/2006/main">
              <a:ext uri="{FF2B5EF4-FFF2-40B4-BE49-F238E27FC236}">
                <a16:creationId xmlns:a16="http://schemas.microsoft.com/office/drawing/2014/main" id="{1AFCCE0F-CF9D-4270-A2EB-CDA956CE887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Основна мета: самостійно визначити стан, побудувати перехід і відновити рішення.</a:t>
            </a:r>
          </a:p>
        </p:txBody>
      </p:sp>
      <p:graphicFrame>
        <p:nvGraphicFramePr>
          <p:cNvPr id="3" name="">
            <a:extLst xmlns:a="http://schemas.openxmlformats.org/drawingml/2006/main">
              <a:ext uri="{FF2B5EF4-FFF2-40B4-BE49-F238E27FC236}">
                <a16:creationId xmlns:a16="http://schemas.microsoft.com/office/drawing/2014/main" id="{DBDB6A30-88B9-44DA-A924-A140A2953B67}"/>
              </a:ext>
            </a:extLst>
          </p:cNvPr>
          <p:cNvGraphicFramePr/>
          <p:nvPr/>
        </p:nvGraphicFramePr>
        <p:xfrm>
          <a:off xmlns:a="http://schemas.openxmlformats.org/drawingml/2006/main" x="685800" y="1714500"/>
          <a:ext xmlns:a="http://schemas.openxmlformats.org/drawingml/2006/main" cx="10820400" cy="3524250"/>
        </p:xfrm>
        <a:graphic xmlns:a="http://schemas.openxmlformats.org/drawingml/2006/main">
          <a:graphicData uri="http://schemas.openxmlformats.org/drawingml/2006/table">
            <a:tbl>
              <a:tblPr/>
              <a:tblGrid>
                <a:gridCol w="3714750"/>
                <a:gridCol w="7105650"/>
              </a:tblGrid>
              <a:tr h="587375">
                <a:tc>
                  <a:txBody>
                    <a:bodyPr/>
                    <a:lstStyle/>
                    <a:p>
                      <a:r>
                        <a:rPr sz="1875" b="1">
                          <a:solidFill>
                            <a:srgbClr val="FFFFFF"/>
                          </a:solidFill>
                          <a:latin typeface="Arial"/>
                          <a:ea typeface="Arial"/>
                          <a:cs typeface="Arial"/>
                        </a:rPr>
                        <a:t>Частина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Зміст</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87375">
                <a:tc>
                  <a:txBody>
                    <a:bodyPr/>
                    <a:lstStyle/>
                    <a:p>
                      <a:r>
                        <a:rPr sz="1875" b="0">
                          <a:solidFill>
                            <a:srgbClr val="193247"/>
                          </a:solidFill>
                          <a:latin typeface="Arial"/>
                          <a:ea typeface="Arial"/>
                          <a:cs typeface="Arial"/>
                        </a:rPr>
                        <a:t>Основи ДП</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Стан, дії, база, порядок, план</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Два ресурсні приклади</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Розподіл GPU та вибір завдань 0/1</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Маршрути й RIP</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Розрахунок на графі та обмін між вузлами</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Практикум із Python</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Таблиці, кеш, Беллман–Форд і SciPy</a:t>
                      </a:r>
                    </a:p>
                  </a:txBody>
                  <a:tcPr marL="91440" marR="91440" marT="45720" marB="45720">
                    <a:lnR w="9525">
                      <a:solidFill>
                        <a:srgbClr val="A8B7C0"/>
                      </a:solidFill>
                      <a:prstDash val="solid"/>
                    </a:lnR>
                    <a:lnB w="9525">
                      <a:solidFill>
                        <a:srgbClr val="A8B7C0"/>
                      </a:solidFill>
                      <a:prstDash val="solid"/>
                    </a:lnB>
                    <a:solidFill>
                      <a:srgbClr val="FFFFFF"/>
                    </a:solidFill>
                  </a:tcPr>
                </a:tc>
              </a:tr>
              <a:tr h="587375">
                <a:tc>
                  <a:txBody>
                    <a:bodyPr/>
                    <a:lstStyle/>
                    <a:p>
                      <a:r>
                        <a:rPr sz="1875" b="0">
                          <a:solidFill>
                            <a:srgbClr val="193247"/>
                          </a:solidFill>
                          <a:latin typeface="Arial"/>
                          <a:ea typeface="Arial"/>
                          <a:cs typeface="Arial"/>
                        </a:rPr>
                        <a:t>Додаткові застосування</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Рядки, Вітербі, матриці та всі пари шляхів</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a:t>
            </a:r>
          </a:p>
        </p:txBody>
      </p:sp>
    </p:spTree>
    <p:extLst>
      <p:ext uri="{BB962C8B-B14F-4D97-AF65-F5344CB8AC3E}">
        <p14:creationId xmlns:p14="http://schemas.microsoft.com/office/powerpoint/2010/main" val="4303521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p:cNvCxnSpPr>
            <a:stCxn xmlns:a="http://schemas.openxmlformats.org/drawingml/2006/main" id="4" idx="2"/>
            <a:endCxn xmlns:a="http://schemas.openxmlformats.org/drawingml/2006/main" id="10" idx="0"/>
          </p:cNvCxnSpPr>
          <p:nvPr/>
        </p:nvCxnSpPr>
        <p:spPr>
          <a:xfrm xmlns:a="http://schemas.openxmlformats.org/drawingml/2006/main">
            <a:off x="6096000" y="2438400"/>
            <a:ext cx="3933825" cy="1085850"/>
          </a:xfrm>
          <a:prstGeom xmlns:a="http://schemas.openxmlformats.org/drawingml/2006/main" prst="bentConnector4">
            <a:avLst>
              <a:gd name="adj1" fmla="val 0"/>
              <a:gd name="adj2" fmla="val 50000"/>
            </a:avLst>
          </a:prstGeom>
          <a:ln xmlns:a="http://schemas.openxmlformats.org/drawingml/2006/main" w="28575">
            <a:solidFill>
              <a:srgbClr val="00857D"/>
            </a:solidFill>
            <a:tailEnd type="triangle" w="med" len="med"/>
          </a:ln>
        </p:spPr>
      </p:cxnSp>
      <p:cxnSp>
        <p:nvCxnSpPr>
          <p:cNvPr id="21" name=""/>
          <p:cNvCxnSpPr>
            <a:stCxn xmlns:a="http://schemas.openxmlformats.org/drawingml/2006/main" id="4" idx="2"/>
            <a:endCxn xmlns:a="http://schemas.openxmlformats.org/drawingml/2006/main" id="8" idx="0"/>
          </p:cNvCxnSpPr>
          <p:nvPr/>
        </p:nvCxnSpPr>
        <p:spPr>
          <a:xfrm xmlns:a="http://schemas.openxmlformats.org/drawingml/2006/main">
            <a:off x="6096000" y="2438400"/>
            <a:ext cx="9525" cy="108585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22" name=""/>
          <p:cNvCxnSpPr>
            <a:stCxn xmlns:a="http://schemas.openxmlformats.org/drawingml/2006/main" id="4" idx="2"/>
            <a:endCxn xmlns:a="http://schemas.openxmlformats.org/drawingml/2006/main" id="6" idx="0"/>
          </p:cNvCxnSpPr>
          <p:nvPr/>
        </p:nvCxnSpPr>
        <p:spPr>
          <a:xfrm xmlns:a="http://schemas.openxmlformats.org/drawingml/2006/main" flipH="1">
            <a:off x="2162175" y="2438400"/>
            <a:ext cx="3933825" cy="1085850"/>
          </a:xfrm>
          <a:prstGeom xmlns:a="http://schemas.openxmlformats.org/drawingml/2006/main" prst="bentConnector4">
            <a:avLst>
              <a:gd name="adj1" fmla="val 0"/>
              <a:gd name="adj2" fmla="val 50000"/>
            </a:avLst>
          </a:prstGeom>
          <a:ln xmlns:a="http://schemas.openxmlformats.org/drawingml/2006/main" w="28575">
            <a:solidFill>
              <a:srgbClr val="00857D"/>
            </a:solidFill>
            <a:tailEnd type="triangle" w="med" len="med"/>
          </a:ln>
        </p:spPr>
      </p:cxnSp>
      <p:sp>
        <p:nvSpPr>
          <p:cNvPr id="19" name="">
            <a:extLst xmlns:a="http://schemas.openxmlformats.org/drawingml/2006/main">
              <a:ext uri="{FF2B5EF4-FFF2-40B4-BE49-F238E27FC236}">
                <a16:creationId xmlns:a16="http://schemas.microsoft.com/office/drawing/2014/main" id="{5BEDCE5F-3F65-41EF-86F3-31791CD6614F}"/>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ІТ-задача: 6 GPU-слотів для 3 сервісів</a:t>
            </a:r>
          </a:p>
        </p:txBody>
      </p:sp>
      <p:sp>
        <p:nvSpPr>
          <p:cNvPr id="2" name="">
            <a:extLst xmlns:a="http://schemas.openxmlformats.org/drawingml/2006/main">
              <a:ext uri="{FF2B5EF4-FFF2-40B4-BE49-F238E27FC236}">
                <a16:creationId xmlns:a16="http://schemas.microsoft.com/office/drawing/2014/main" id="{6EE8BF8B-55AA-4AF0-BF16-A8E776D7F6E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Потрібно максимізувати сумарну користь за один період.</a:t>
            </a:r>
          </a:p>
        </p:txBody>
      </p:sp>
      <p:sp>
        <p:nvSpPr>
          <p:cNvPr id="4" name="">
            <a:extLst xmlns:a="http://schemas.openxmlformats.org/drawingml/2006/main">
              <a:ext uri="{FF2B5EF4-FFF2-40B4-BE49-F238E27FC236}">
                <a16:creationId xmlns:a16="http://schemas.microsoft.com/office/drawing/2014/main" id="{08FBBE86-EBE8-4129-911F-E0D58BE31BA1}"/>
              </a:ext>
            </a:extLst>
          </p:cNvPr>
          <p:cNvSpPr>
            <a:spLocks xmlns:a="http://schemas.openxmlformats.org/drawingml/2006/main" noGrp="1"/>
          </p:cNvSpPr>
          <p:nvPr/>
        </p:nvSpPr>
        <p:spPr>
          <a:xfrm xmlns:a="http://schemas.openxmlformats.org/drawingml/2006/main">
            <a:off x="3448050" y="1619250"/>
            <a:ext cx="5295900" cy="819150"/>
          </a:xfrm>
          <a:prstGeom xmlns:a="http://schemas.openxmlformats.org/drawingml/2006/main" prst="rect">
            <a:avLst/>
          </a:prstGeom>
          <a:solidFill xmlns:a="http://schemas.openxmlformats.org/drawingml/2006/main">
            <a:srgbClr val="DDF3EC"/>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1E6BE330-97E4-4421-B2F2-C186296AF904}"/>
              </a:ext>
            </a:extLst>
          </p:cNvPr>
          <p:cNvSpPr>
            <a:spLocks xmlns:a="http://schemas.openxmlformats.org/drawingml/2006/main" noGrp="1"/>
          </p:cNvSpPr>
          <p:nvPr/>
        </p:nvSpPr>
        <p:spPr>
          <a:xfrm xmlns:a="http://schemas.openxmlformats.org/drawingml/2006/main">
            <a:off x="3562350" y="1676400"/>
            <a:ext cx="5067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700" b="1">
                <a:solidFill>
                  <a:srgbClr val="173047"/>
                </a:solidFill>
                <a:latin typeface="Arial"/>
                <a:ea typeface="Arial"/>
                <a:cs typeface="Arial"/>
              </a:defRPr>
            </a:pPr>
            <a:r>
              <a:rPr sz="2700" b="1">
                <a:solidFill>
                  <a:srgbClr val="173047"/>
                </a:solidFill>
                <a:latin typeface="Arial"/>
                <a:ea typeface="Arial"/>
                <a:cs typeface="Arial"/>
              </a:rPr>
              <a:t>Спільний пул: 6 GPU</a:t>
            </a:r>
          </a:p>
        </p:txBody>
      </p:sp>
      <p:sp>
        <p:nvSpPr>
          <p:cNvPr id="6" name="">
            <a:extLst xmlns:a="http://schemas.openxmlformats.org/drawingml/2006/main">
              <a:ext uri="{FF2B5EF4-FFF2-40B4-BE49-F238E27FC236}">
                <a16:creationId xmlns:a16="http://schemas.microsoft.com/office/drawing/2014/main" id="{39D8117B-9BE5-4332-B6D9-B5394B3E1C7E}"/>
              </a:ext>
            </a:extLst>
          </p:cNvPr>
          <p:cNvSpPr>
            <a:spLocks xmlns:a="http://schemas.openxmlformats.org/drawingml/2006/main" noGrp="1"/>
          </p:cNvSpPr>
          <p:nvPr/>
        </p:nvSpPr>
        <p:spPr>
          <a:xfrm xmlns:a="http://schemas.openxmlformats.org/drawingml/2006/main">
            <a:off x="685800" y="3524250"/>
            <a:ext cx="2952750" cy="10668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B1C424ED-91E4-43D1-ACA6-3A07A0AEA37B}"/>
              </a:ext>
            </a:extLst>
          </p:cNvPr>
          <p:cNvSpPr>
            <a:spLocks xmlns:a="http://schemas.openxmlformats.org/drawingml/2006/main" noGrp="1"/>
          </p:cNvSpPr>
          <p:nvPr/>
        </p:nvSpPr>
        <p:spPr>
          <a:xfrm xmlns:a="http://schemas.openxmlformats.org/drawingml/2006/main">
            <a:off x="800100" y="3581400"/>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A</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Інференс</a:t>
            </a:r>
          </a:p>
        </p:txBody>
      </p:sp>
      <p:sp>
        <p:nvSpPr>
          <p:cNvPr id="8" name="">
            <a:extLst xmlns:a="http://schemas.openxmlformats.org/drawingml/2006/main">
              <a:ext uri="{FF2B5EF4-FFF2-40B4-BE49-F238E27FC236}">
                <a16:creationId xmlns:a16="http://schemas.microsoft.com/office/drawing/2014/main" id="{A9ABE636-EAB6-4983-A8A8-C7E9B0259880}"/>
              </a:ext>
            </a:extLst>
          </p:cNvPr>
          <p:cNvSpPr>
            <a:spLocks xmlns:a="http://schemas.openxmlformats.org/drawingml/2006/main" noGrp="1"/>
          </p:cNvSpPr>
          <p:nvPr/>
        </p:nvSpPr>
        <p:spPr>
          <a:xfrm xmlns:a="http://schemas.openxmlformats.org/drawingml/2006/main">
            <a:off x="4629150" y="3524250"/>
            <a:ext cx="2952750" cy="10668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9" name="">
            <a:extLst xmlns:a="http://schemas.openxmlformats.org/drawingml/2006/main">
              <a:ext uri="{FF2B5EF4-FFF2-40B4-BE49-F238E27FC236}">
                <a16:creationId xmlns:a16="http://schemas.microsoft.com/office/drawing/2014/main" id="{A33C3F9E-D92F-43A5-AEA7-003ED6B37060}"/>
              </a:ext>
            </a:extLst>
          </p:cNvPr>
          <p:cNvSpPr>
            <a:spLocks xmlns:a="http://schemas.openxmlformats.org/drawingml/2006/main" noGrp="1"/>
          </p:cNvSpPr>
          <p:nvPr/>
        </p:nvSpPr>
        <p:spPr>
          <a:xfrm xmlns:a="http://schemas.openxmlformats.org/drawingml/2006/main">
            <a:off x="4743450" y="3581400"/>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B</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Пакетна аналітика</a:t>
            </a:r>
          </a:p>
        </p:txBody>
      </p:sp>
      <p:sp>
        <p:nvSpPr>
          <p:cNvPr id="10" name="">
            <a:extLst xmlns:a="http://schemas.openxmlformats.org/drawingml/2006/main">
              <a:ext uri="{FF2B5EF4-FFF2-40B4-BE49-F238E27FC236}">
                <a16:creationId xmlns:a16="http://schemas.microsoft.com/office/drawing/2014/main" id="{32F6A23C-06A4-4693-A732-A7A75EFE2245}"/>
              </a:ext>
            </a:extLst>
          </p:cNvPr>
          <p:cNvSpPr>
            <a:spLocks xmlns:a="http://schemas.openxmlformats.org/drawingml/2006/main" noGrp="1"/>
          </p:cNvSpPr>
          <p:nvPr/>
        </p:nvSpPr>
        <p:spPr>
          <a:xfrm xmlns:a="http://schemas.openxmlformats.org/drawingml/2006/main">
            <a:off x="8553450" y="3524250"/>
            <a:ext cx="2952750" cy="10668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11" name="">
            <a:extLst xmlns:a="http://schemas.openxmlformats.org/drawingml/2006/main">
              <a:ext uri="{FF2B5EF4-FFF2-40B4-BE49-F238E27FC236}">
                <a16:creationId xmlns:a16="http://schemas.microsoft.com/office/drawing/2014/main" id="{DB35E312-5960-4C46-A625-E6C2639EE7BD}"/>
              </a:ext>
            </a:extLst>
          </p:cNvPr>
          <p:cNvSpPr>
            <a:spLocks xmlns:a="http://schemas.openxmlformats.org/drawingml/2006/main" noGrp="1"/>
          </p:cNvSpPr>
          <p:nvPr/>
        </p:nvSpPr>
        <p:spPr>
          <a:xfrm xmlns:a="http://schemas.openxmlformats.org/drawingml/2006/main">
            <a:off x="8667750" y="3581400"/>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C</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Індексація</a:t>
            </a:r>
          </a:p>
        </p:txBody>
      </p:sp>
      <p:sp>
        <p:nvSpPr>
          <p:cNvPr id="15" name="">
            <a:extLst xmlns:a="http://schemas.openxmlformats.org/drawingml/2006/main">
              <a:ext uri="{FF2B5EF4-FFF2-40B4-BE49-F238E27FC236}">
                <a16:creationId xmlns:a16="http://schemas.microsoft.com/office/drawing/2014/main" id="{2B3065FC-FD3A-49B9-B750-6C6BD5E49F4F}"/>
              </a:ext>
            </a:extLst>
          </p:cNvPr>
          <p:cNvSpPr>
            <a:spLocks xmlns:a="http://schemas.openxmlformats.org/drawingml/2006/main" noGrp="1"/>
          </p:cNvSpPr>
          <p:nvPr/>
        </p:nvSpPr>
        <p:spPr>
          <a:xfrm xmlns:a="http://schemas.openxmlformats.org/drawingml/2006/main">
            <a:off x="685800" y="5029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x = (x_A, x_B, x_C) — кількість слотів для кожного сервісу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a:t>
            </a:r>
          </a:p>
        </p:txBody>
      </p:sp>
    </p:spTree>
    <p:extLst>
      <p:ext uri="{BB962C8B-B14F-4D97-AF65-F5344CB8AC3E}">
        <p14:creationId xmlns:p14="http://schemas.microsoft.com/office/powerpoint/2010/main" val="735212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6D768F-1115-4A62-92D4-889728DF936B}"/>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Користь залежить від виділеного ресурсу</a:t>
            </a:r>
          </a:p>
        </p:txBody>
      </p:sp>
      <p:sp>
        <p:nvSpPr>
          <p:cNvPr id="2" name="">
            <a:extLst xmlns:a="http://schemas.openxmlformats.org/drawingml/2006/main">
              <a:ext uri="{FF2B5EF4-FFF2-40B4-BE49-F238E27FC236}">
                <a16:creationId xmlns:a16="http://schemas.microsoft.com/office/drawing/2014/main" id="{B0C00D87-B566-4044-9616-BC434DADB44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 третім GPU користь сервісу B зростає на 14 балів.</a:t>
            </a:r>
          </a:p>
        </p:txBody>
      </p:sp>
      <p:graphicFrame>
        <p:nvGraphicFramePr>
          <p:cNvPr id="11" name=""/>
          <p:cNvGraphicFramePr/>
          <p:nvPr/>
        </p:nvGraphicFramePr>
        <p:xfrm>
          <a:off xmlns:a="http://schemas.openxmlformats.org/drawingml/2006/main" x="685800" y="1952625"/>
          <a:ext xmlns:a="http://schemas.openxmlformats.org/drawingml/2006/main" cx="10820400" cy="2800350"/>
        </p:xfrm>
        <a:graphic xmlns:a="http://schemas.openxmlformats.org/drawingml/2006/main">
          <a:graphicData uri="http://schemas.openxmlformats.org/drawingml/2006/table">
            <a:tbl>
              <a:tblPr/>
              <a:tblGrid>
                <a:gridCol w="2686050"/>
                <a:gridCol w="1162050"/>
                <a:gridCol w="1162050"/>
                <a:gridCol w="1162050"/>
                <a:gridCol w="1162050"/>
                <a:gridCol w="1162050"/>
                <a:gridCol w="1162050"/>
                <a:gridCol w="1162050"/>
              </a:tblGrid>
              <a:tr h="700088">
                <a:tc>
                  <a:txBody>
                    <a:bodyPr/>
                    <a:lstStyle/>
                    <a:p>
                      <a:r>
                        <a:rPr sz="2400" b="1">
                          <a:solidFill>
                            <a:srgbClr val="FFFFFF"/>
                          </a:solidFill>
                          <a:latin typeface="Arial"/>
                          <a:ea typeface="Arial"/>
                          <a:cs typeface="Arial"/>
                        </a:rPr>
                        <a:t>GPU, u</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0</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1</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2</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3</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4</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5</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6</a:t>
                      </a:r>
                    </a:p>
                  </a:txBody>
                  <a:tcPr marL="95250" marR="95250" marT="57150" marB="57150" anchor="ctr">
                    <a:solidFill>
                      <a:srgbClr val="173047"/>
                    </a:solidFill>
                  </a:tcPr>
                </a:tc>
              </a:tr>
              <a:tr h="700088">
                <a:tc>
                  <a:txBody>
                    <a:bodyPr/>
                    <a:lstStyle/>
                    <a:p>
                      <a:r>
                        <a:rPr sz="2400">
                          <a:solidFill>
                            <a:srgbClr val="173047"/>
                          </a:solidFill>
                          <a:latin typeface="Arial"/>
                          <a:ea typeface="Arial"/>
                          <a:cs typeface="Arial"/>
                        </a:rPr>
                        <a:t>A: інференс</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6</a:t>
                      </a:r>
                    </a:p>
                  </a:txBody>
                  <a:tcPr marL="95250" marR="95250" marT="57150" marB="57150" anchor="ctr">
                    <a:solidFill>
                      <a:srgbClr val="FFFFFF"/>
                    </a:solidFill>
                  </a:tcPr>
                </a:tc>
                <a:tc>
                  <a:txBody>
                    <a:bodyPr/>
                    <a:lstStyle/>
                    <a:p>
                      <a:r>
                        <a:rPr sz="2400">
                          <a:solidFill>
                            <a:srgbClr val="173047"/>
                          </a:solidFill>
                          <a:latin typeface="Arial"/>
                          <a:ea typeface="Arial"/>
                          <a:cs typeface="Arial"/>
                        </a:rPr>
                        <a:t>11</a:t>
                      </a:r>
                    </a:p>
                  </a:txBody>
                  <a:tcPr marL="95250" marR="95250" marT="57150" marB="57150" anchor="ctr">
                    <a:solidFill>
                      <a:srgbClr val="FFFFFF"/>
                    </a:solidFill>
                  </a:tcPr>
                </a:tc>
                <a:tc>
                  <a:txBody>
                    <a:bodyPr/>
                    <a:lstStyle/>
                    <a:p>
                      <a:r>
                        <a:rPr sz="2400">
                          <a:solidFill>
                            <a:srgbClr val="173047"/>
                          </a:solidFill>
                          <a:latin typeface="Arial"/>
                          <a:ea typeface="Arial"/>
                          <a:cs typeface="Arial"/>
                        </a:rPr>
                        <a:t>13</a:t>
                      </a:r>
                    </a:p>
                  </a:txBody>
                  <a:tcPr marL="95250" marR="95250" marT="57150" marB="57150" anchor="ctr">
                    <a:solidFill>
                      <a:srgbClr val="FFFFFF"/>
                    </a:solidFill>
                  </a:tcPr>
                </a:tc>
                <a:tc>
                  <a:txBody>
                    <a:bodyPr/>
                    <a:lstStyle/>
                    <a:p>
                      <a:r>
                        <a:rPr sz="2400">
                          <a:solidFill>
                            <a:srgbClr val="173047"/>
                          </a:solidFill>
                          <a:latin typeface="Arial"/>
                          <a:ea typeface="Arial"/>
                          <a:cs typeface="Arial"/>
                        </a:rPr>
                        <a:t>14</a:t>
                      </a:r>
                    </a:p>
                  </a:txBody>
                  <a:tcPr marL="95250" marR="95250" marT="57150" marB="57150" anchor="ctr">
                    <a:solidFill>
                      <a:srgbClr val="FFFFFF"/>
                    </a:solidFill>
                  </a:tcPr>
                </a:tc>
                <a:tc>
                  <a:txBody>
                    <a:bodyPr/>
                    <a:lstStyle/>
                    <a:p>
                      <a:r>
                        <a:rPr sz="2400">
                          <a:solidFill>
                            <a:srgbClr val="173047"/>
                          </a:solidFill>
                          <a:latin typeface="Arial"/>
                          <a:ea typeface="Arial"/>
                          <a:cs typeface="Arial"/>
                        </a:rPr>
                        <a:t>15</a:t>
                      </a:r>
                    </a:p>
                  </a:txBody>
                  <a:tcPr marL="95250" marR="95250" marT="57150" marB="57150" anchor="ctr">
                    <a:solidFill>
                      <a:srgbClr val="FFFFFF"/>
                    </a:solidFill>
                  </a:tcPr>
                </a:tc>
                <a:tc>
                  <a:txBody>
                    <a:bodyPr/>
                    <a:lstStyle/>
                    <a:p>
                      <a:r>
                        <a:rPr sz="2400">
                          <a:solidFill>
                            <a:srgbClr val="173047"/>
                          </a:solidFill>
                          <a:latin typeface="Arial"/>
                          <a:ea typeface="Arial"/>
                          <a:cs typeface="Arial"/>
                        </a:rPr>
                        <a:t>16</a:t>
                      </a:r>
                    </a:p>
                  </a:txBody>
                  <a:tcPr marL="95250" marR="95250" marT="57150" marB="57150" anchor="ctr">
                    <a:solidFill>
                      <a:srgbClr val="FFFFFF"/>
                    </a:solidFill>
                  </a:tcPr>
                </a:tc>
              </a:tr>
              <a:tr h="700088">
                <a:tc>
                  <a:txBody>
                    <a:bodyPr/>
                    <a:lstStyle/>
                    <a:p>
                      <a:r>
                        <a:rPr sz="2400">
                          <a:solidFill>
                            <a:srgbClr val="173047"/>
                          </a:solidFill>
                          <a:latin typeface="Arial"/>
                          <a:ea typeface="Arial"/>
                          <a:cs typeface="Arial"/>
                        </a:rPr>
                        <a:t>B: аналітика</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3</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17</a:t>
                      </a:r>
                    </a:p>
                  </a:txBody>
                  <a:tcPr marL="95250" marR="95250" marT="57150" marB="57150" anchor="ctr">
                    <a:solidFill>
                      <a:srgbClr val="DDF3EC"/>
                    </a:solidFill>
                  </a:tcPr>
                </a:tc>
                <a:tc>
                  <a:txBody>
                    <a:bodyPr/>
                    <a:lstStyle/>
                    <a:p>
                      <a:r>
                        <a:rPr sz="2400">
                          <a:solidFill>
                            <a:srgbClr val="173047"/>
                          </a:solidFill>
                          <a:latin typeface="Arial"/>
                          <a:ea typeface="Arial"/>
                          <a:cs typeface="Arial"/>
                        </a:rPr>
                        <a:t>18</a:t>
                      </a:r>
                    </a:p>
                  </a:txBody>
                  <a:tcPr marL="95250" marR="95250" marT="57150" marB="57150" anchor="ctr">
                    <a:solidFill>
                      <a:srgbClr val="FFFFFF"/>
                    </a:solidFill>
                  </a:tcPr>
                </a:tc>
                <a:tc>
                  <a:txBody>
                    <a:bodyPr/>
                    <a:lstStyle/>
                    <a:p>
                      <a:r>
                        <a:rPr sz="2400">
                          <a:solidFill>
                            <a:srgbClr val="173047"/>
                          </a:solidFill>
                          <a:latin typeface="Arial"/>
                          <a:ea typeface="Arial"/>
                          <a:cs typeface="Arial"/>
                        </a:rPr>
                        <a:t>19</a:t>
                      </a:r>
                    </a:p>
                  </a:txBody>
                  <a:tcPr marL="95250" marR="95250" marT="57150" marB="57150" anchor="ctr">
                    <a:solidFill>
                      <a:srgbClr val="FFFFFF"/>
                    </a:solidFill>
                  </a:tcPr>
                </a:tc>
                <a:tc>
                  <a:txBody>
                    <a:bodyPr/>
                    <a:lstStyle/>
                    <a:p>
                      <a:r>
                        <a:rPr sz="2400">
                          <a:solidFill>
                            <a:srgbClr val="173047"/>
                          </a:solidFill>
                          <a:latin typeface="Arial"/>
                          <a:ea typeface="Arial"/>
                          <a:cs typeface="Arial"/>
                        </a:rPr>
                        <a:t>20</a:t>
                      </a:r>
                    </a:p>
                  </a:txBody>
                  <a:tcPr marL="95250" marR="95250" marT="57150" marB="57150" anchor="ctr">
                    <a:solidFill>
                      <a:srgbClr val="FFFFFF"/>
                    </a:solidFill>
                  </a:tcPr>
                </a:tc>
              </a:tr>
              <a:tr h="700088">
                <a:tc>
                  <a:txBody>
                    <a:bodyPr/>
                    <a:lstStyle/>
                    <a:p>
                      <a:r>
                        <a:rPr sz="2400">
                          <a:solidFill>
                            <a:srgbClr val="173047"/>
                          </a:solidFill>
                          <a:latin typeface="Arial"/>
                          <a:ea typeface="Arial"/>
                          <a:cs typeface="Arial"/>
                        </a:rPr>
                        <a:t>C: індексація</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5</a:t>
                      </a:r>
                    </a:p>
                  </a:txBody>
                  <a:tcPr marL="95250" marR="95250" marT="57150" marB="57150" anchor="ctr">
                    <a:solidFill>
                      <a:srgbClr val="FFFFFF"/>
                    </a:solidFill>
                  </a:tcPr>
                </a:tc>
                <a:tc>
                  <a:txBody>
                    <a:bodyPr/>
                    <a:lstStyle/>
                    <a:p>
                      <a:r>
                        <a:rPr sz="2400">
                          <a:solidFill>
                            <a:srgbClr val="173047"/>
                          </a:solidFill>
                          <a:latin typeface="Arial"/>
                          <a:ea typeface="Arial"/>
                          <a:cs typeface="Arial"/>
                        </a:rPr>
                        <a:t>9</a:t>
                      </a:r>
                    </a:p>
                  </a:txBody>
                  <a:tcPr marL="95250" marR="95250" marT="57150" marB="57150" anchor="ctr">
                    <a:solidFill>
                      <a:srgbClr val="FFFFFF"/>
                    </a:solidFill>
                  </a:tcPr>
                </a:tc>
                <a:tc>
                  <a:txBody>
                    <a:bodyPr/>
                    <a:lstStyle/>
                    <a:p>
                      <a:r>
                        <a:rPr sz="2400">
                          <a:solidFill>
                            <a:srgbClr val="173047"/>
                          </a:solidFill>
                          <a:latin typeface="Arial"/>
                          <a:ea typeface="Arial"/>
                          <a:cs typeface="Arial"/>
                        </a:rPr>
                        <a:t>11</a:t>
                      </a:r>
                    </a:p>
                  </a:txBody>
                  <a:tcPr marL="95250" marR="95250" marT="57150" marB="57150" anchor="ctr">
                    <a:solidFill>
                      <a:srgbClr val="FFFFFF"/>
                    </a:solidFill>
                  </a:tcPr>
                </a:tc>
                <a:tc>
                  <a:txBody>
                    <a:bodyPr/>
                    <a:lstStyle/>
                    <a:p>
                      <a:r>
                        <a:rPr sz="2400">
                          <a:solidFill>
                            <a:srgbClr val="173047"/>
                          </a:solidFill>
                          <a:latin typeface="Arial"/>
                          <a:ea typeface="Arial"/>
                          <a:cs typeface="Arial"/>
                        </a:rPr>
                        <a:t>12</a:t>
                      </a:r>
                    </a:p>
                  </a:txBody>
                  <a:tcPr marL="95250" marR="95250" marT="57150" marB="57150" anchor="ctr">
                    <a:solidFill>
                      <a:srgbClr val="FFFFFF"/>
                    </a:solidFill>
                  </a:tcPr>
                </a:tc>
                <a:tc>
                  <a:txBody>
                    <a:bodyPr/>
                    <a:lstStyle/>
                    <a:p>
                      <a:r>
                        <a:rPr sz="2400">
                          <a:solidFill>
                            <a:srgbClr val="173047"/>
                          </a:solidFill>
                          <a:latin typeface="Arial"/>
                          <a:ea typeface="Arial"/>
                          <a:cs typeface="Arial"/>
                        </a:rPr>
                        <a:t>13</a:t>
                      </a:r>
                    </a:p>
                  </a:txBody>
                  <a:tcPr marL="95250" marR="95250" marT="57150" marB="57150" anchor="ctr">
                    <a:solidFill>
                      <a:srgbClr val="FFFFFF"/>
                    </a:solidFill>
                  </a:tcPr>
                </a:tc>
                <a:tc>
                  <a:txBody>
                    <a:bodyPr/>
                    <a:lstStyle/>
                    <a:p>
                      <a:r>
                        <a:rPr sz="2400">
                          <a:solidFill>
                            <a:srgbClr val="173047"/>
                          </a:solidFill>
                          <a:latin typeface="Arial"/>
                          <a:ea typeface="Arial"/>
                          <a:cs typeface="Arial"/>
                        </a:rPr>
                        <a:t>14</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967890F-71F0-4BA9-8668-8DD4A6497A4F}"/>
              </a:ext>
            </a:extLst>
          </p:cNvPr>
          <p:cNvSpPr>
            <a:spLocks xmlns:a="http://schemas.openxmlformats.org/drawingml/2006/main" noGrp="1"/>
          </p:cNvSpPr>
          <p:nvPr/>
        </p:nvSpPr>
        <p:spPr>
          <a:xfrm xmlns:a="http://schemas.openxmlformats.org/drawingml/2006/main">
            <a:off x="685800" y="5038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Користь — бали якості; ресурс — цілі GPU-слоти.</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Значення відомі до ухвалення рішень.</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a:t>
            </a:r>
          </a:p>
        </p:txBody>
      </p:sp>
    </p:spTree>
    <p:extLst>
      <p:ext uri="{BB962C8B-B14F-4D97-AF65-F5344CB8AC3E}">
        <p14:creationId xmlns:p14="http://schemas.microsoft.com/office/powerpoint/2010/main" val="965189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87708C-408A-4E8E-B84F-C4C6B2B3B17A}"/>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Конкретна математична модель</a:t>
            </a:r>
          </a:p>
        </p:txBody>
      </p:sp>
      <p:sp>
        <p:nvSpPr>
          <p:cNvPr id="2" name="">
            <a:extLst xmlns:a="http://schemas.openxmlformats.org/drawingml/2006/main">
              <a:ext uri="{FF2B5EF4-FFF2-40B4-BE49-F238E27FC236}">
                <a16:creationId xmlns:a16="http://schemas.microsoft.com/office/drawing/2014/main" id="{929D1FB6-9A3B-4944-8C77-666C15294317}"/>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Шукаємо вектор x, а не найбільше число в окремому рядку.</a:t>
            </a:r>
          </a:p>
        </p:txBody>
      </p:sp>
      <p:sp>
        <p:nvSpPr>
          <p:cNvPr id="4" name="">
            <a:extLst xmlns:a="http://schemas.openxmlformats.org/drawingml/2006/main">
              <a:ext uri="{FF2B5EF4-FFF2-40B4-BE49-F238E27FC236}">
                <a16:creationId xmlns:a16="http://schemas.microsoft.com/office/drawing/2014/main" id="{1B20C1C2-5A3A-40F2-AAAA-9FA7E60919E6}"/>
              </a:ext>
            </a:extLst>
          </p:cNvPr>
          <p:cNvSpPr>
            <a:spLocks xmlns:a="http://schemas.openxmlformats.org/drawingml/2006/main" noGrp="1"/>
          </p:cNvSpPr>
          <p:nvPr/>
        </p:nvSpPr>
        <p:spPr>
          <a:xfrm xmlns:a="http://schemas.openxmlformats.org/drawingml/2006/main">
            <a:off x="685800" y="1562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Максимізувати сумарну користь:</a:t>
            </a:r>
          </a:p>
        </p:txBody>
      </p:sp>
      <p:sp>
        <p:nvSpPr>
          <p:cNvPr id="5" name="">
            <a:extLst xmlns:a="http://schemas.openxmlformats.org/drawingml/2006/main">
              <a:ext uri="{FF2B5EF4-FFF2-40B4-BE49-F238E27FC236}">
                <a16:creationId xmlns:a16="http://schemas.microsoft.com/office/drawing/2014/main" id="{CF230D39-1A66-4F7D-9DE4-EEE231E16250}"/>
              </a:ext>
            </a:extLst>
          </p:cNvPr>
          <p:cNvSpPr>
            <a:spLocks xmlns:a="http://schemas.openxmlformats.org/drawingml/2006/main" noGrp="1"/>
          </p:cNvSpPr>
          <p:nvPr/>
        </p:nvSpPr>
        <p:spPr>
          <a:xfrm xmlns:a="http://schemas.openxmlformats.org/drawingml/2006/main">
            <a:off x="685800" y="2362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00857D"/>
                </a:solidFill>
                <a:latin typeface="Arial"/>
                <a:ea typeface="Arial"/>
                <a:cs typeface="Arial"/>
              </a:defRPr>
            </a:pPr>
            <a:r>
              <a:rPr sz="3150" b="1">
                <a:solidFill>
                  <a:srgbClr val="00857D"/>
                </a:solidFill>
                <a:latin typeface="Arial"/>
                <a:ea typeface="Arial"/>
                <a:cs typeface="Arial"/>
              </a:rPr>
              <a:t>Z = g_A(x_A) + g_B(x_B) + g_C(x_C) → max</a:t>
            </a:r>
          </a:p>
        </p:txBody>
      </p:sp>
      <p:sp>
        <p:nvSpPr>
          <p:cNvPr id="6" name="">
            <a:extLst xmlns:a="http://schemas.openxmlformats.org/drawingml/2006/main">
              <a:ext uri="{FF2B5EF4-FFF2-40B4-BE49-F238E27FC236}">
                <a16:creationId xmlns:a16="http://schemas.microsoft.com/office/drawing/2014/main" id="{11B53803-EE7E-4ABF-81B0-3176429F91E1}"/>
              </a:ext>
            </a:extLst>
          </p:cNvPr>
          <p:cNvSpPr>
            <a:spLocks xmlns:a="http://schemas.openxmlformats.org/drawingml/2006/main" noGrp="1"/>
          </p:cNvSpPr>
          <p:nvPr/>
        </p:nvSpPr>
        <p:spPr>
          <a:xfrm xmlns:a="http://schemas.openxmlformats.org/drawingml/2006/main">
            <a:off x="685800" y="33337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73047"/>
                </a:solidFill>
                <a:latin typeface="Arial"/>
                <a:ea typeface="Arial"/>
                <a:cs typeface="Arial"/>
              </a:defRPr>
            </a:pPr>
            <a:r>
              <a:rPr sz="3150" b="1">
                <a:solidFill>
                  <a:srgbClr val="173047"/>
                </a:solidFill>
                <a:latin typeface="Arial"/>
                <a:ea typeface="Arial"/>
                <a:cs typeface="Arial"/>
              </a:rPr>
              <a:t>x_A + x_B + x_C ≤ 6</a:t>
            </a:r>
          </a:p>
        </p:txBody>
      </p:sp>
      <p:sp>
        <p:nvSpPr>
          <p:cNvPr id="7" name="">
            <a:extLst xmlns:a="http://schemas.openxmlformats.org/drawingml/2006/main">
              <a:ext uri="{FF2B5EF4-FFF2-40B4-BE49-F238E27FC236}">
                <a16:creationId xmlns:a16="http://schemas.microsoft.com/office/drawing/2014/main" id="{27AB8590-F0C9-4B6B-B919-B8F0ECF42377}"/>
              </a:ext>
            </a:extLst>
          </p:cNvPr>
          <p:cNvSpPr>
            <a:spLocks xmlns:a="http://schemas.openxmlformats.org/drawingml/2006/main" noGrp="1"/>
          </p:cNvSpPr>
          <p:nvPr/>
        </p:nvSpPr>
        <p:spPr>
          <a:xfrm xmlns:a="http://schemas.openxmlformats.org/drawingml/2006/main">
            <a:off x="685800" y="41433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x_A, x_B, x_C — невід’ємні цілі числа</a:t>
            </a:r>
          </a:p>
        </p:txBody>
      </p:sp>
      <p:sp>
        <p:nvSpPr>
          <p:cNvPr id="8" name="">
            <a:extLst xmlns:a="http://schemas.openxmlformats.org/drawingml/2006/main">
              <a:ext uri="{FF2B5EF4-FFF2-40B4-BE49-F238E27FC236}">
                <a16:creationId xmlns:a16="http://schemas.microsoft.com/office/drawing/2014/main" id="{F37CFB12-E39B-4534-B7C0-6CA8E1CF0B67}"/>
              </a:ext>
            </a:extLst>
          </p:cNvPr>
          <p:cNvSpPr>
            <a:spLocks xmlns:a="http://schemas.openxmlformats.org/drawingml/2006/main" noGrp="1"/>
          </p:cNvSpPr>
          <p:nvPr/>
        </p:nvSpPr>
        <p:spPr>
          <a:xfrm xmlns:a="http://schemas.openxmlformats.org/drawingml/2006/main">
            <a:off x="685800" y="50673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Припущення: однакові GPU; незалежні ефекти;</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спільний бюджет; дані не змінюються під час розрахунку.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a:t>
            </a:r>
          </a:p>
        </p:txBody>
      </p:sp>
    </p:spTree>
    <p:extLst>
      <p:ext uri="{BB962C8B-B14F-4D97-AF65-F5344CB8AC3E}">
        <p14:creationId xmlns:p14="http://schemas.microsoft.com/office/powerpoint/2010/main" val="16786841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35689B-51C7-44F1-AA31-77C4E1F5FAEA}"/>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Чому жадібний вибір може програти</a:t>
            </a:r>
          </a:p>
        </p:txBody>
      </p:sp>
      <p:sp>
        <p:nvSpPr>
          <p:cNvPr id="2" name="">
            <a:extLst xmlns:a="http://schemas.openxmlformats.org/drawingml/2006/main">
              <a:ext uri="{FF2B5EF4-FFF2-40B4-BE49-F238E27FC236}">
                <a16:creationId xmlns:a16="http://schemas.microsoft.com/office/drawing/2014/main" id="{0E010702-017C-4753-A646-3257FA9E545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Жадібний план (3, 0, 3): лише 24 бали.</a:t>
            </a:r>
          </a:p>
        </p:txBody>
      </p:sp>
      <p:sp>
        <p:nvSpPr>
          <p:cNvPr id="4" name="">
            <a:extLst xmlns:a="http://schemas.openxmlformats.org/drawingml/2006/main">
              <a:ext uri="{FF2B5EF4-FFF2-40B4-BE49-F238E27FC236}">
                <a16:creationId xmlns:a16="http://schemas.microsoft.com/office/drawing/2014/main" id="{A6E4F0D6-3102-43E9-BB1A-63D8090795CB}"/>
              </a:ext>
            </a:extLst>
          </p:cNvPr>
          <p:cNvSpPr>
            <a:spLocks xmlns:a="http://schemas.openxmlformats.org/drawingml/2006/main" noGrp="1"/>
          </p:cNvSpPr>
          <p:nvPr/>
        </p:nvSpPr>
        <p:spPr>
          <a:xfrm xmlns:a="http://schemas.openxmlformats.org/drawingml/2006/main">
            <a:off x="685800" y="13811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0">
                <a:solidFill>
                  <a:srgbClr val="173047"/>
                </a:solidFill>
                <a:latin typeface="Arial"/>
                <a:ea typeface="Arial"/>
                <a:cs typeface="Arial"/>
              </a:defRPr>
            </a:pPr>
            <a:r>
              <a:rPr sz="2100" b="0">
                <a:solidFill>
                  <a:srgbClr val="173047"/>
                </a:solidFill>
                <a:latin typeface="Arial"/>
                <a:ea typeface="Arial"/>
                <a:cs typeface="Arial"/>
              </a:rPr>
              <a:t>Кожен слот — сервісу з найбільшим негайним приростом.</a:t>
            </a:r>
          </a:p>
        </p:txBody>
      </p:sp>
      <p:graphicFrame>
        <p:nvGraphicFramePr>
          <p:cNvPr id="13" name=""/>
          <p:cNvGraphicFramePr/>
          <p:nvPr/>
        </p:nvGraphicFramePr>
        <p:xfrm>
          <a:off xmlns:a="http://schemas.openxmlformats.org/drawingml/2006/main" x="685800" y="1866900"/>
          <a:ext xmlns:a="http://schemas.openxmlformats.org/drawingml/2006/main" cx="10820400" cy="3352800"/>
        </p:xfrm>
        <a:graphic xmlns:a="http://schemas.openxmlformats.org/drawingml/2006/main">
          <a:graphicData uri="http://schemas.openxmlformats.org/drawingml/2006/table">
            <a:tbl>
              <a:tblPr/>
              <a:tblGrid>
                <a:gridCol w="1524000"/>
                <a:gridCol w="2286000"/>
                <a:gridCol w="1524000"/>
                <a:gridCol w="1524000"/>
                <a:gridCol w="1524000"/>
                <a:gridCol w="2438400"/>
              </a:tblGrid>
              <a:tr h="478971">
                <a:tc>
                  <a:txBody>
                    <a:bodyPr/>
                    <a:lstStyle/>
                    <a:p>
                      <a:r>
                        <a:rPr sz="2175" b="1">
                          <a:solidFill>
                            <a:srgbClr val="FFFFFF"/>
                          </a:solidFill>
                          <a:latin typeface="Arial"/>
                          <a:ea typeface="Arial"/>
                          <a:cs typeface="Arial"/>
                        </a:rPr>
                        <a:t>Крок</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Кому GPU</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x_A</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x_B</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x_C</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Користь</a:t>
                      </a:r>
                    </a:p>
                  </a:txBody>
                  <a:tcPr marL="95250" marR="95250" marT="57150" marB="57150" anchor="ctr">
                    <a:solidFill>
                      <a:srgbClr val="173047"/>
                    </a:solidFill>
                  </a:tcPr>
                </a:tc>
              </a:tr>
              <a:tr h="478971">
                <a:tc>
                  <a:txBody>
                    <a:bodyPr/>
                    <a:lstStyle/>
                    <a:p>
                      <a:r>
                        <a:rPr sz="2175">
                          <a:solidFill>
                            <a:srgbClr val="173047"/>
                          </a:solidFill>
                          <a:latin typeface="Arial"/>
                          <a:ea typeface="Arial"/>
                          <a:cs typeface="Arial"/>
                        </a:rPr>
                        <a:t>1</a:t>
                      </a:r>
                    </a:p>
                  </a:txBody>
                  <a:tcPr marL="95250" marR="95250" marT="57150" marB="57150" anchor="ctr">
                    <a:solidFill>
                      <a:srgbClr val="FFFFFF"/>
                    </a:solidFill>
                  </a:tcPr>
                </a:tc>
                <a:tc>
                  <a:txBody>
                    <a:bodyPr/>
                    <a:lstStyle/>
                    <a:p>
                      <a:r>
                        <a:rPr sz="2175">
                          <a:solidFill>
                            <a:srgbClr val="173047"/>
                          </a:solidFill>
                          <a:latin typeface="Arial"/>
                          <a:ea typeface="Arial"/>
                          <a:cs typeface="Arial"/>
                        </a:rPr>
                        <a:t>A</a:t>
                      </a:r>
                    </a:p>
                  </a:txBody>
                  <a:tcPr marL="95250" marR="95250" marT="57150" marB="57150" anchor="ctr">
                    <a:solidFill>
                      <a:srgbClr val="FFFFFF"/>
                    </a:solidFill>
                  </a:tcPr>
                </a:tc>
                <a:tc>
                  <a:txBody>
                    <a:bodyPr/>
                    <a:lstStyle/>
                    <a:p>
                      <a:r>
                        <a:rPr sz="2175">
                          <a:solidFill>
                            <a:srgbClr val="173047"/>
                          </a:solidFill>
                          <a:latin typeface="Arial"/>
                          <a:ea typeface="Arial"/>
                          <a:cs typeface="Arial"/>
                        </a:rPr>
                        <a:t>1</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6</a:t>
                      </a:r>
                    </a:p>
                  </a:txBody>
                  <a:tcPr marL="95250" marR="95250" marT="57150" marB="57150" anchor="ctr">
                    <a:solidFill>
                      <a:srgbClr val="FFFFFF"/>
                    </a:solidFill>
                  </a:tcPr>
                </a:tc>
              </a:tr>
              <a:tr h="478971">
                <a:tc>
                  <a:txBody>
                    <a:bodyPr/>
                    <a:lstStyle/>
                    <a:p>
                      <a:r>
                        <a:rPr sz="2175">
                          <a:solidFill>
                            <a:srgbClr val="173047"/>
                          </a:solidFill>
                          <a:latin typeface="Arial"/>
                          <a:ea typeface="Arial"/>
                          <a:cs typeface="Arial"/>
                        </a:rPr>
                        <a:t>2</a:t>
                      </a:r>
                    </a:p>
                  </a:txBody>
                  <a:tcPr marL="95250" marR="95250" marT="57150" marB="57150" anchor="ctr">
                    <a:solidFill>
                      <a:srgbClr val="FFFFFF"/>
                    </a:solidFill>
                  </a:tcPr>
                </a:tc>
                <a:tc>
                  <a:txBody>
                    <a:bodyPr/>
                    <a:lstStyle/>
                    <a:p>
                      <a:r>
                        <a:rPr sz="2175">
                          <a:solidFill>
                            <a:srgbClr val="173047"/>
                          </a:solidFill>
                          <a:latin typeface="Arial"/>
                          <a:ea typeface="Arial"/>
                          <a:cs typeface="Arial"/>
                        </a:rPr>
                        <a:t>A</a:t>
                      </a:r>
                    </a:p>
                  </a:txBody>
                  <a:tcPr marL="95250" marR="95250" marT="57150" marB="57150" anchor="ctr">
                    <a:solidFill>
                      <a:srgbClr val="FFFFFF"/>
                    </a:solidFill>
                  </a:tcPr>
                </a:tc>
                <a:tc>
                  <a:txBody>
                    <a:bodyPr/>
                    <a:lstStyle/>
                    <a:p>
                      <a:r>
                        <a:rPr sz="2175">
                          <a:solidFill>
                            <a:srgbClr val="173047"/>
                          </a:solidFill>
                          <a:latin typeface="Arial"/>
                          <a:ea typeface="Arial"/>
                          <a:cs typeface="Arial"/>
                        </a:rPr>
                        <a:t>2</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11</a:t>
                      </a:r>
                    </a:p>
                  </a:txBody>
                  <a:tcPr marL="95250" marR="95250" marT="57150" marB="57150" anchor="ctr">
                    <a:solidFill>
                      <a:srgbClr val="FFFFFF"/>
                    </a:solidFill>
                  </a:tcPr>
                </a:tc>
              </a:tr>
              <a:tr h="478971">
                <a:tc>
                  <a:txBody>
                    <a:bodyPr/>
                    <a:lstStyle/>
                    <a:p>
                      <a:r>
                        <a:rPr sz="2175">
                          <a:solidFill>
                            <a:srgbClr val="173047"/>
                          </a:solidFill>
                          <a:latin typeface="Arial"/>
                          <a:ea typeface="Arial"/>
                          <a:cs typeface="Arial"/>
                        </a:rPr>
                        <a:t>3</a:t>
                      </a:r>
                    </a:p>
                  </a:txBody>
                  <a:tcPr marL="95250" marR="95250" marT="57150" marB="57150" anchor="ctr">
                    <a:solidFill>
                      <a:srgbClr val="FFFFFF"/>
                    </a:solidFill>
                  </a:tcPr>
                </a:tc>
                <a:tc>
                  <a:txBody>
                    <a:bodyPr/>
                    <a:lstStyle/>
                    <a:p>
                      <a:r>
                        <a:rPr sz="2175">
                          <a:solidFill>
                            <a:srgbClr val="173047"/>
                          </a:solidFill>
                          <a:latin typeface="Arial"/>
                          <a:ea typeface="Arial"/>
                          <a:cs typeface="Arial"/>
                        </a:rPr>
                        <a:t>C</a:t>
                      </a:r>
                    </a:p>
                  </a:txBody>
                  <a:tcPr marL="95250" marR="95250" marT="57150" marB="57150" anchor="ctr">
                    <a:solidFill>
                      <a:srgbClr val="FFFFFF"/>
                    </a:solidFill>
                  </a:tcPr>
                </a:tc>
                <a:tc>
                  <a:txBody>
                    <a:bodyPr/>
                    <a:lstStyle/>
                    <a:p>
                      <a:r>
                        <a:rPr sz="2175">
                          <a:solidFill>
                            <a:srgbClr val="173047"/>
                          </a:solidFill>
                          <a:latin typeface="Arial"/>
                          <a:ea typeface="Arial"/>
                          <a:cs typeface="Arial"/>
                        </a:rPr>
                        <a:t>2</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1</a:t>
                      </a:r>
                    </a:p>
                  </a:txBody>
                  <a:tcPr marL="95250" marR="95250" marT="57150" marB="57150" anchor="ctr">
                    <a:solidFill>
                      <a:srgbClr val="FFFFFF"/>
                    </a:solidFill>
                  </a:tcPr>
                </a:tc>
                <a:tc>
                  <a:txBody>
                    <a:bodyPr/>
                    <a:lstStyle/>
                    <a:p>
                      <a:r>
                        <a:rPr sz="2175">
                          <a:solidFill>
                            <a:srgbClr val="173047"/>
                          </a:solidFill>
                          <a:latin typeface="Arial"/>
                          <a:ea typeface="Arial"/>
                          <a:cs typeface="Arial"/>
                        </a:rPr>
                        <a:t>16</a:t>
                      </a:r>
                    </a:p>
                  </a:txBody>
                  <a:tcPr marL="95250" marR="95250" marT="57150" marB="57150" anchor="ctr">
                    <a:solidFill>
                      <a:srgbClr val="FFFFFF"/>
                    </a:solidFill>
                  </a:tcPr>
                </a:tc>
              </a:tr>
              <a:tr h="478971">
                <a:tc>
                  <a:txBody>
                    <a:bodyPr/>
                    <a:lstStyle/>
                    <a:p>
                      <a:r>
                        <a:rPr sz="2175">
                          <a:solidFill>
                            <a:srgbClr val="173047"/>
                          </a:solidFill>
                          <a:latin typeface="Arial"/>
                          <a:ea typeface="Arial"/>
                          <a:cs typeface="Arial"/>
                        </a:rPr>
                        <a:t>4</a:t>
                      </a:r>
                    </a:p>
                  </a:txBody>
                  <a:tcPr marL="95250" marR="95250" marT="57150" marB="57150" anchor="ctr">
                    <a:solidFill>
                      <a:srgbClr val="FFFFFF"/>
                    </a:solidFill>
                  </a:tcPr>
                </a:tc>
                <a:tc>
                  <a:txBody>
                    <a:bodyPr/>
                    <a:lstStyle/>
                    <a:p>
                      <a:r>
                        <a:rPr sz="2175">
                          <a:solidFill>
                            <a:srgbClr val="173047"/>
                          </a:solidFill>
                          <a:latin typeface="Arial"/>
                          <a:ea typeface="Arial"/>
                          <a:cs typeface="Arial"/>
                        </a:rPr>
                        <a:t>C</a:t>
                      </a:r>
                    </a:p>
                  </a:txBody>
                  <a:tcPr marL="95250" marR="95250" marT="57150" marB="57150" anchor="ctr">
                    <a:solidFill>
                      <a:srgbClr val="FFFFFF"/>
                    </a:solidFill>
                  </a:tcPr>
                </a:tc>
                <a:tc>
                  <a:txBody>
                    <a:bodyPr/>
                    <a:lstStyle/>
                    <a:p>
                      <a:r>
                        <a:rPr sz="2175">
                          <a:solidFill>
                            <a:srgbClr val="173047"/>
                          </a:solidFill>
                          <a:latin typeface="Arial"/>
                          <a:ea typeface="Arial"/>
                          <a:cs typeface="Arial"/>
                        </a:rPr>
                        <a:t>2</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2</a:t>
                      </a:r>
                    </a:p>
                  </a:txBody>
                  <a:tcPr marL="95250" marR="95250" marT="57150" marB="57150" anchor="ctr">
                    <a:solidFill>
                      <a:srgbClr val="FFFFFF"/>
                    </a:solidFill>
                  </a:tcPr>
                </a:tc>
                <a:tc>
                  <a:txBody>
                    <a:bodyPr/>
                    <a:lstStyle/>
                    <a:p>
                      <a:r>
                        <a:rPr sz="2175">
                          <a:solidFill>
                            <a:srgbClr val="173047"/>
                          </a:solidFill>
                          <a:latin typeface="Arial"/>
                          <a:ea typeface="Arial"/>
                          <a:cs typeface="Arial"/>
                        </a:rPr>
                        <a:t>20</a:t>
                      </a:r>
                    </a:p>
                  </a:txBody>
                  <a:tcPr marL="95250" marR="95250" marT="57150" marB="57150" anchor="ctr">
                    <a:solidFill>
                      <a:srgbClr val="FFFFFF"/>
                    </a:solidFill>
                  </a:tcPr>
                </a:tc>
              </a:tr>
              <a:tr h="478971">
                <a:tc>
                  <a:txBody>
                    <a:bodyPr/>
                    <a:lstStyle/>
                    <a:p>
                      <a:r>
                        <a:rPr sz="2175">
                          <a:solidFill>
                            <a:srgbClr val="173047"/>
                          </a:solidFill>
                          <a:latin typeface="Arial"/>
                          <a:ea typeface="Arial"/>
                          <a:cs typeface="Arial"/>
                        </a:rPr>
                        <a:t>5</a:t>
                      </a:r>
                    </a:p>
                  </a:txBody>
                  <a:tcPr marL="95250" marR="95250" marT="57150" marB="57150" anchor="ctr">
                    <a:solidFill>
                      <a:srgbClr val="FFFFFF"/>
                    </a:solidFill>
                  </a:tcPr>
                </a:tc>
                <a:tc>
                  <a:txBody>
                    <a:bodyPr/>
                    <a:lstStyle/>
                    <a:p>
                      <a:r>
                        <a:rPr sz="2175">
                          <a:solidFill>
                            <a:srgbClr val="173047"/>
                          </a:solidFill>
                          <a:latin typeface="Arial"/>
                          <a:ea typeface="Arial"/>
                          <a:cs typeface="Arial"/>
                        </a:rPr>
                        <a:t>A</a:t>
                      </a:r>
                    </a:p>
                  </a:txBody>
                  <a:tcPr marL="95250" marR="95250" marT="57150" marB="57150" anchor="ctr">
                    <a:solidFill>
                      <a:srgbClr val="FFFFFF"/>
                    </a:solidFill>
                  </a:tcPr>
                </a:tc>
                <a:tc>
                  <a:txBody>
                    <a:bodyPr/>
                    <a:lstStyle/>
                    <a:p>
                      <a:r>
                        <a:rPr sz="2175">
                          <a:solidFill>
                            <a:srgbClr val="173047"/>
                          </a:solidFill>
                          <a:latin typeface="Arial"/>
                          <a:ea typeface="Arial"/>
                          <a:cs typeface="Arial"/>
                        </a:rPr>
                        <a:t>3</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2</a:t>
                      </a:r>
                    </a:p>
                  </a:txBody>
                  <a:tcPr marL="95250" marR="95250" marT="57150" marB="57150" anchor="ctr">
                    <a:solidFill>
                      <a:srgbClr val="FFFFFF"/>
                    </a:solidFill>
                  </a:tcPr>
                </a:tc>
                <a:tc>
                  <a:txBody>
                    <a:bodyPr/>
                    <a:lstStyle/>
                    <a:p>
                      <a:r>
                        <a:rPr sz="2175">
                          <a:solidFill>
                            <a:srgbClr val="173047"/>
                          </a:solidFill>
                          <a:latin typeface="Arial"/>
                          <a:ea typeface="Arial"/>
                          <a:cs typeface="Arial"/>
                        </a:rPr>
                        <a:t>22</a:t>
                      </a:r>
                    </a:p>
                  </a:txBody>
                  <a:tcPr marL="95250" marR="95250" marT="57150" marB="57150" anchor="ctr">
                    <a:solidFill>
                      <a:srgbClr val="FFFFFF"/>
                    </a:solidFill>
                  </a:tcPr>
                </a:tc>
              </a:tr>
              <a:tr h="478971">
                <a:tc>
                  <a:txBody>
                    <a:bodyPr/>
                    <a:lstStyle/>
                    <a:p>
                      <a:r>
                        <a:rPr sz="2175">
                          <a:solidFill>
                            <a:srgbClr val="173047"/>
                          </a:solidFill>
                          <a:latin typeface="Arial"/>
                          <a:ea typeface="Arial"/>
                          <a:cs typeface="Arial"/>
                        </a:rPr>
                        <a:t>6</a:t>
                      </a:r>
                    </a:p>
                  </a:txBody>
                  <a:tcPr marL="95250" marR="95250" marT="57150" marB="57150" anchor="ctr">
                    <a:solidFill>
                      <a:srgbClr val="FFFFFF"/>
                    </a:solidFill>
                  </a:tcPr>
                </a:tc>
                <a:tc>
                  <a:txBody>
                    <a:bodyPr/>
                    <a:lstStyle/>
                    <a:p>
                      <a:r>
                        <a:rPr sz="2175">
                          <a:solidFill>
                            <a:srgbClr val="173047"/>
                          </a:solidFill>
                          <a:latin typeface="Arial"/>
                          <a:ea typeface="Arial"/>
                          <a:cs typeface="Arial"/>
                        </a:rPr>
                        <a:t>C</a:t>
                      </a:r>
                    </a:p>
                  </a:txBody>
                  <a:tcPr marL="95250" marR="95250" marT="57150" marB="57150" anchor="ctr">
                    <a:solidFill>
                      <a:srgbClr val="FFFFFF"/>
                    </a:solidFill>
                  </a:tcPr>
                </a:tc>
                <a:tc>
                  <a:txBody>
                    <a:bodyPr/>
                    <a:lstStyle/>
                    <a:p>
                      <a:r>
                        <a:rPr sz="2175">
                          <a:solidFill>
                            <a:srgbClr val="173047"/>
                          </a:solidFill>
                          <a:latin typeface="Arial"/>
                          <a:ea typeface="Arial"/>
                          <a:cs typeface="Arial"/>
                        </a:rPr>
                        <a:t>3</a:t>
                      </a:r>
                    </a:p>
                  </a:txBody>
                  <a:tcPr marL="95250" marR="95250" marT="57150" marB="57150" anchor="ctr">
                    <a:solidFill>
                      <a:srgbClr val="FFFFFF"/>
                    </a:solidFill>
                  </a:tcPr>
                </a:tc>
                <a:tc>
                  <a:txBody>
                    <a:bodyPr/>
                    <a:lstStyle/>
                    <a:p>
                      <a:r>
                        <a:rPr sz="2175">
                          <a:solidFill>
                            <a:srgbClr val="173047"/>
                          </a:solidFill>
                          <a:latin typeface="Arial"/>
                          <a:ea typeface="Arial"/>
                          <a:cs typeface="Arial"/>
                        </a:rPr>
                        <a:t>0</a:t>
                      </a:r>
                    </a:p>
                  </a:txBody>
                  <a:tcPr marL="95250" marR="95250" marT="57150" marB="57150" anchor="ctr">
                    <a:solidFill>
                      <a:srgbClr val="FFFFFF"/>
                    </a:solidFill>
                  </a:tcPr>
                </a:tc>
                <a:tc>
                  <a:txBody>
                    <a:bodyPr/>
                    <a:lstStyle/>
                    <a:p>
                      <a:r>
                        <a:rPr sz="2175">
                          <a:solidFill>
                            <a:srgbClr val="173047"/>
                          </a:solidFill>
                          <a:latin typeface="Arial"/>
                          <a:ea typeface="Arial"/>
                          <a:cs typeface="Arial"/>
                        </a:rPr>
                        <a:t>3</a:t>
                      </a:r>
                    </a:p>
                  </a:txBody>
                  <a:tcPr marL="95250" marR="95250" marT="57150" marB="57150" anchor="ctr">
                    <a:solidFill>
                      <a:srgbClr val="FFFFFF"/>
                    </a:solidFill>
                  </a:tcPr>
                </a:tc>
                <a:tc>
                  <a:txBody>
                    <a:bodyPr/>
                    <a:lstStyle/>
                    <a:p>
                      <a:r>
                        <a:rPr sz="2175">
                          <a:solidFill>
                            <a:srgbClr val="173047"/>
                          </a:solidFill>
                          <a:latin typeface="Arial"/>
                          <a:ea typeface="Arial"/>
                          <a:cs typeface="Arial"/>
                        </a:rPr>
                        <a:t>24</a:t>
                      </a:r>
                    </a:p>
                  </a:txBody>
                  <a:tcPr marL="95250" marR="95250" marT="57150" marB="571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10402B2-EFE3-4FCC-ABFF-AB9D2E117B67}"/>
              </a:ext>
            </a:extLst>
          </p:cNvPr>
          <p:cNvSpPr>
            <a:spLocks xmlns:a="http://schemas.openxmlformats.org/drawingml/2006/main" noGrp="1"/>
          </p:cNvSpPr>
          <p:nvPr/>
        </p:nvSpPr>
        <p:spPr>
          <a:xfrm xmlns:a="http://schemas.openxmlformats.org/drawingml/2006/main">
            <a:off x="685800" y="54102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B64436"/>
                </a:solidFill>
                <a:latin typeface="Arial"/>
                <a:ea typeface="Arial"/>
                <a:cs typeface="Arial"/>
              </a:defRPr>
            </a:pPr>
            <a:r>
              <a:rPr sz="2250" b="0">
                <a:solidFill>
                  <a:srgbClr val="B64436"/>
                </a:solidFill>
                <a:latin typeface="Arial"/>
                <a:ea typeface="Arial"/>
                <a:cs typeface="Arial"/>
              </a:rPr>
              <a:t>B ніколи не отримує перший слот:</a:t>
            </a:r>
          </a:p>
          <a:p xmlns:a="http://schemas.openxmlformats.org/drawingml/2006/main">
            <a:pPr algn="l">
              <a:buNone/>
              <a:defRPr sz="2250" b="0">
                <a:solidFill>
                  <a:srgbClr val="B64436"/>
                </a:solidFill>
                <a:latin typeface="Arial"/>
                <a:ea typeface="Arial"/>
                <a:cs typeface="Arial"/>
              </a:defRPr>
            </a:pPr>
            <a:r>
              <a:rPr sz="2250" b="0">
                <a:solidFill>
                  <a:srgbClr val="B64436"/>
                </a:solidFill>
                <a:latin typeface="Arial"/>
                <a:ea typeface="Arial"/>
                <a:cs typeface="Arial"/>
              </a:rPr>
              <a:t>його негайний приріст дорівнює 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a:t>
            </a:r>
          </a:p>
        </p:txBody>
      </p:sp>
    </p:spTree>
    <p:extLst>
      <p:ext uri="{BB962C8B-B14F-4D97-AF65-F5344CB8AC3E}">
        <p14:creationId xmlns:p14="http://schemas.microsoft.com/office/powerpoint/2010/main" val="19753329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6" idx="3"/>
            <a:endCxn xmlns:a="http://schemas.openxmlformats.org/drawingml/2006/main" id="8" idx="1"/>
          </p:cNvCxnSpPr>
          <p:nvPr/>
        </p:nvCxnSpPr>
        <p:spPr>
          <a:xfrm xmlns:a="http://schemas.openxmlformats.org/drawingml/2006/main">
            <a:off x="7620000" y="2914650"/>
            <a:ext cx="83820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17" name=""/>
          <p:cNvCxnSpPr>
            <a:stCxn xmlns:a="http://schemas.openxmlformats.org/drawingml/2006/main" id="4" idx="3"/>
            <a:endCxn xmlns:a="http://schemas.openxmlformats.org/drawingml/2006/main" id="6" idx="1"/>
          </p:cNvCxnSpPr>
          <p:nvPr/>
        </p:nvCxnSpPr>
        <p:spPr>
          <a:xfrm xmlns:a="http://schemas.openxmlformats.org/drawingml/2006/main">
            <a:off x="3733800" y="2914650"/>
            <a:ext cx="83820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5" name="">
            <a:extLst xmlns:a="http://schemas.openxmlformats.org/drawingml/2006/main">
              <a:ext uri="{FF2B5EF4-FFF2-40B4-BE49-F238E27FC236}">
                <a16:creationId xmlns:a16="http://schemas.microsoft.com/office/drawing/2014/main" id="{F5EDDB16-3A08-4A2A-B133-D8D3D03B928A}"/>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Одна задача — послідовність рішень</a:t>
            </a:r>
          </a:p>
        </p:txBody>
      </p:sp>
      <p:sp>
        <p:nvSpPr>
          <p:cNvPr id="2" name="">
            <a:extLst xmlns:a="http://schemas.openxmlformats.org/drawingml/2006/main">
              <a:ext uri="{FF2B5EF4-FFF2-40B4-BE49-F238E27FC236}">
                <a16:creationId xmlns:a16="http://schemas.microsoft.com/office/drawing/2014/main" id="{36D34460-0A57-4E98-96EF-AE409BCC62C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Етап — порядок ухвалення рішень; це не обов’язково час.</a:t>
            </a:r>
          </a:p>
        </p:txBody>
      </p:sp>
      <p:sp>
        <p:nvSpPr>
          <p:cNvPr id="4" name="">
            <a:extLst xmlns:a="http://schemas.openxmlformats.org/drawingml/2006/main">
              <a:ext uri="{FF2B5EF4-FFF2-40B4-BE49-F238E27FC236}">
                <a16:creationId xmlns:a16="http://schemas.microsoft.com/office/drawing/2014/main" id="{13752487-7AD5-45A7-BCCE-4012D0211C0A}"/>
              </a:ext>
            </a:extLst>
          </p:cNvPr>
          <p:cNvSpPr>
            <a:spLocks xmlns:a="http://schemas.openxmlformats.org/drawingml/2006/main" noGrp="1"/>
          </p:cNvSpPr>
          <p:nvPr/>
        </p:nvSpPr>
        <p:spPr>
          <a:xfrm xmlns:a="http://schemas.openxmlformats.org/drawingml/2006/main">
            <a:off x="685800" y="234315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B6CE3401-1D10-42FC-B4CE-13BD109F9CF1}"/>
              </a:ext>
            </a:extLst>
          </p:cNvPr>
          <p:cNvSpPr>
            <a:spLocks xmlns:a="http://schemas.openxmlformats.org/drawingml/2006/main" noGrp="1"/>
          </p:cNvSpPr>
          <p:nvPr/>
        </p:nvSpPr>
        <p:spPr>
          <a:xfrm xmlns:a="http://schemas.openxmlformats.org/drawingml/2006/main">
            <a:off x="800100" y="240030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Етап 1</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Обрати x_A</a:t>
            </a:r>
          </a:p>
        </p:txBody>
      </p:sp>
      <p:sp>
        <p:nvSpPr>
          <p:cNvPr id="6" name="">
            <a:extLst xmlns:a="http://schemas.openxmlformats.org/drawingml/2006/main">
              <a:ext uri="{FF2B5EF4-FFF2-40B4-BE49-F238E27FC236}">
                <a16:creationId xmlns:a16="http://schemas.microsoft.com/office/drawing/2014/main" id="{06F9B506-DF05-4A94-9246-9F7E6990D640}"/>
              </a:ext>
            </a:extLst>
          </p:cNvPr>
          <p:cNvSpPr>
            <a:spLocks xmlns:a="http://schemas.openxmlformats.org/drawingml/2006/main" noGrp="1"/>
          </p:cNvSpPr>
          <p:nvPr/>
        </p:nvSpPr>
        <p:spPr>
          <a:xfrm xmlns:a="http://schemas.openxmlformats.org/drawingml/2006/main">
            <a:off x="4572000" y="234315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96951495-8BE5-4F02-8928-48820A4889B6}"/>
              </a:ext>
            </a:extLst>
          </p:cNvPr>
          <p:cNvSpPr>
            <a:spLocks xmlns:a="http://schemas.openxmlformats.org/drawingml/2006/main" noGrp="1"/>
          </p:cNvSpPr>
          <p:nvPr/>
        </p:nvSpPr>
        <p:spPr>
          <a:xfrm xmlns:a="http://schemas.openxmlformats.org/drawingml/2006/main">
            <a:off x="4686300" y="240030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Етап 2</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Обрати x_B</a:t>
            </a:r>
          </a:p>
        </p:txBody>
      </p:sp>
      <p:sp>
        <p:nvSpPr>
          <p:cNvPr id="8" name="">
            <a:extLst xmlns:a="http://schemas.openxmlformats.org/drawingml/2006/main">
              <a:ext uri="{FF2B5EF4-FFF2-40B4-BE49-F238E27FC236}">
                <a16:creationId xmlns:a16="http://schemas.microsoft.com/office/drawing/2014/main" id="{5C8F1EEA-BB1D-46B2-9D0F-10DB8C267331}"/>
              </a:ext>
            </a:extLst>
          </p:cNvPr>
          <p:cNvSpPr>
            <a:spLocks xmlns:a="http://schemas.openxmlformats.org/drawingml/2006/main" noGrp="1"/>
          </p:cNvSpPr>
          <p:nvPr/>
        </p:nvSpPr>
        <p:spPr>
          <a:xfrm xmlns:a="http://schemas.openxmlformats.org/drawingml/2006/main">
            <a:off x="8458200" y="234315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9" name="">
            <a:extLst xmlns:a="http://schemas.openxmlformats.org/drawingml/2006/main">
              <a:ext uri="{FF2B5EF4-FFF2-40B4-BE49-F238E27FC236}">
                <a16:creationId xmlns:a16="http://schemas.microsoft.com/office/drawing/2014/main" id="{BBC16221-528D-41DF-8852-E3449E8B80B2}"/>
              </a:ext>
            </a:extLst>
          </p:cNvPr>
          <p:cNvSpPr>
            <a:spLocks xmlns:a="http://schemas.openxmlformats.org/drawingml/2006/main" noGrp="1"/>
          </p:cNvSpPr>
          <p:nvPr/>
        </p:nvSpPr>
        <p:spPr>
          <a:xfrm xmlns:a="http://schemas.openxmlformats.org/drawingml/2006/main">
            <a:off x="8572500" y="240030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Етап 3</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Обрати x_C</a:t>
            </a:r>
          </a:p>
        </p:txBody>
      </p:sp>
      <p:sp>
        <p:nvSpPr>
          <p:cNvPr id="12" name="">
            <a:extLst xmlns:a="http://schemas.openxmlformats.org/drawingml/2006/main">
              <a:ext uri="{FF2B5EF4-FFF2-40B4-BE49-F238E27FC236}">
                <a16:creationId xmlns:a16="http://schemas.microsoft.com/office/drawing/2014/main" id="{E916807D-DABE-4418-B6E9-5C63609835D8}"/>
              </a:ext>
            </a:extLst>
          </p:cNvPr>
          <p:cNvSpPr>
            <a:spLocks xmlns:a="http://schemas.openxmlformats.org/drawingml/2006/main" noGrp="1"/>
          </p:cNvSpPr>
          <p:nvPr/>
        </p:nvSpPr>
        <p:spPr>
          <a:xfrm xmlns:a="http://schemas.openxmlformats.org/drawingml/2006/main">
            <a:off x="685800" y="429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Залишок бюджету перед наступним етапом</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визначається попереднім рішенням.</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a:t>
            </a:r>
          </a:p>
        </p:txBody>
      </p:sp>
    </p:spTree>
    <p:extLst>
      <p:ext uri="{BB962C8B-B14F-4D97-AF65-F5344CB8AC3E}">
        <p14:creationId xmlns:p14="http://schemas.microsoft.com/office/powerpoint/2010/main" val="15333295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89C5B5-3CEA-4529-B8F1-52022084456A}"/>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Стан, рішення, перехід: різні поняття</a:t>
            </a:r>
          </a:p>
        </p:txBody>
      </p:sp>
      <p:sp>
        <p:nvSpPr>
          <p:cNvPr id="2" name="">
            <a:extLst xmlns:a="http://schemas.openxmlformats.org/drawingml/2006/main">
              <a:ext uri="{FF2B5EF4-FFF2-40B4-BE49-F238E27FC236}">
                <a16:creationId xmlns:a16="http://schemas.microsoft.com/office/drawing/2014/main" id="{5AAE8806-6FD0-431F-8B2E-92218F1E3DA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Стан відповідає на запитання: «Яка підзадача залишилася?»</a:t>
            </a:r>
          </a:p>
        </p:txBody>
      </p:sp>
      <p:graphicFrame>
        <p:nvGraphicFramePr>
          <p:cNvPr id="10" name=""/>
          <p:cNvGraphicFramePr/>
          <p:nvPr/>
        </p:nvGraphicFramePr>
        <p:xfrm>
          <a:off xmlns:a="http://schemas.openxmlformats.org/drawingml/2006/main" x="685800" y="1504950"/>
          <a:ext xmlns:a="http://schemas.openxmlformats.org/drawingml/2006/main" cx="10820400" cy="3867150"/>
        </p:xfrm>
        <a:graphic xmlns:a="http://schemas.openxmlformats.org/drawingml/2006/main">
          <a:graphicData uri="http://schemas.openxmlformats.org/drawingml/2006/table">
            <a:tbl>
              <a:tblPr/>
              <a:tblGrid>
                <a:gridCol w="3067050"/>
                <a:gridCol w="7753350"/>
              </a:tblGrid>
              <a:tr h="644525">
                <a:tc>
                  <a:txBody>
                    <a:bodyPr/>
                    <a:lstStyle/>
                    <a:p>
                      <a:r>
                        <a:rPr sz="2250" b="1">
                          <a:solidFill>
                            <a:srgbClr val="FFFFFF"/>
                          </a:solidFill>
                          <a:latin typeface="Arial"/>
                          <a:ea typeface="Arial"/>
                          <a:cs typeface="Arial"/>
                        </a:rPr>
                        <a:t>Поняття</a:t>
                      </a:r>
                    </a:p>
                  </a:txBody>
                  <a:tcPr marL="95250" marR="95250" marT="57150" marB="57150" anchor="ctr">
                    <a:solidFill>
                      <a:srgbClr val="173047"/>
                    </a:solidFill>
                  </a:tcPr>
                </a:tc>
                <a:tc>
                  <a:txBody>
                    <a:bodyPr/>
                    <a:lstStyle/>
                    <a:p>
                      <a:r>
                        <a:rPr sz="2250" b="1">
                          <a:solidFill>
                            <a:srgbClr val="FFFFFF"/>
                          </a:solidFill>
                          <a:latin typeface="Arial"/>
                          <a:ea typeface="Arial"/>
                          <a:cs typeface="Arial"/>
                        </a:rPr>
                        <a:t>У нашому прикладі</a:t>
                      </a:r>
                    </a:p>
                  </a:txBody>
                  <a:tcPr marL="95250" marR="95250" marT="57150" marB="57150" anchor="ctr">
                    <a:solidFill>
                      <a:srgbClr val="173047"/>
                    </a:solidFill>
                  </a:tcPr>
                </a:tc>
              </a:tr>
              <a:tr h="644525">
                <a:tc>
                  <a:txBody>
                    <a:bodyPr/>
                    <a:lstStyle/>
                    <a:p>
                      <a:r>
                        <a:rPr sz="2250">
                          <a:solidFill>
                            <a:srgbClr val="173047"/>
                          </a:solidFill>
                          <a:latin typeface="Arial"/>
                          <a:ea typeface="Arial"/>
                          <a:cs typeface="Arial"/>
                        </a:rPr>
                        <a:t>Етап k</a:t>
                      </a:r>
                    </a:p>
                  </a:txBody>
                  <a:tcPr marL="95250" marR="95250" marT="57150" marB="57150" anchor="ctr">
                    <a:solidFill>
                      <a:srgbClr val="FFFFFF"/>
                    </a:solidFill>
                  </a:tcPr>
                </a:tc>
                <a:tc>
                  <a:txBody>
                    <a:bodyPr/>
                    <a:lstStyle/>
                    <a:p>
                      <a:r>
                        <a:rPr sz="2250">
                          <a:solidFill>
                            <a:srgbClr val="173047"/>
                          </a:solidFill>
                          <a:latin typeface="Arial"/>
                          <a:ea typeface="Arial"/>
                          <a:cs typeface="Arial"/>
                        </a:rPr>
                        <a:t>Який сервіс розглядаємо: A, B або C</a:t>
                      </a:r>
                    </a:p>
                  </a:txBody>
                  <a:tcPr marL="95250" marR="95250" marT="57150" marB="57150" anchor="ctr">
                    <a:solidFill>
                      <a:srgbClr val="FFFFFF"/>
                    </a:solidFill>
                  </a:tcPr>
                </a:tc>
              </a:tr>
              <a:tr h="644525">
                <a:tc>
                  <a:txBody>
                    <a:bodyPr/>
                    <a:lstStyle/>
                    <a:p>
                      <a:r>
                        <a:rPr sz="2250">
                          <a:solidFill>
                            <a:srgbClr val="173047"/>
                          </a:solidFill>
                          <a:latin typeface="Arial"/>
                          <a:ea typeface="Arial"/>
                          <a:cs typeface="Arial"/>
                        </a:rPr>
                        <a:t>Стан (k, b)</a:t>
                      </a:r>
                    </a:p>
                  </a:txBody>
                  <a:tcPr marL="95250" marR="95250" marT="57150" marB="57150" anchor="ctr">
                    <a:solidFill>
                      <a:srgbClr val="FFFFFF"/>
                    </a:solidFill>
                  </a:tcPr>
                </a:tc>
                <a:tc>
                  <a:txBody>
                    <a:bodyPr/>
                    <a:lstStyle/>
                    <a:p>
                      <a:r>
                        <a:rPr sz="2250">
                          <a:solidFill>
                            <a:srgbClr val="173047"/>
                          </a:solidFill>
                          <a:latin typeface="Arial"/>
                          <a:ea typeface="Arial"/>
                          <a:cs typeface="Arial"/>
                        </a:rPr>
                        <a:t>Сервіс k і доступний залишок b</a:t>
                      </a:r>
                    </a:p>
                  </a:txBody>
                  <a:tcPr marL="95250" marR="95250" marT="57150" marB="57150" anchor="ctr">
                    <a:solidFill>
                      <a:srgbClr val="FFFFFF"/>
                    </a:solidFill>
                  </a:tcPr>
                </a:tc>
              </a:tr>
              <a:tr h="644525">
                <a:tc>
                  <a:txBody>
                    <a:bodyPr/>
                    <a:lstStyle/>
                    <a:p>
                      <a:r>
                        <a:rPr sz="2250">
                          <a:solidFill>
                            <a:srgbClr val="173047"/>
                          </a:solidFill>
                          <a:latin typeface="Arial"/>
                          <a:ea typeface="Arial"/>
                          <a:cs typeface="Arial"/>
                        </a:rPr>
                        <a:t>Рішення u</a:t>
                      </a:r>
                    </a:p>
                  </a:txBody>
                  <a:tcPr marL="95250" marR="95250" marT="57150" marB="57150" anchor="ctr">
                    <a:solidFill>
                      <a:srgbClr val="FFFFFF"/>
                    </a:solidFill>
                  </a:tcPr>
                </a:tc>
                <a:tc>
                  <a:txBody>
                    <a:bodyPr/>
                    <a:lstStyle/>
                    <a:p>
                      <a:r>
                        <a:rPr sz="2250">
                          <a:solidFill>
                            <a:srgbClr val="173047"/>
                          </a:solidFill>
                          <a:latin typeface="Arial"/>
                          <a:ea typeface="Arial"/>
                          <a:cs typeface="Arial"/>
                        </a:rPr>
                        <a:t>Скільки GPU віддати поточному сервісу</a:t>
                      </a:r>
                    </a:p>
                  </a:txBody>
                  <a:tcPr marL="95250" marR="95250" marT="57150" marB="57150" anchor="ctr">
                    <a:solidFill>
                      <a:srgbClr val="FFFFFF"/>
                    </a:solidFill>
                  </a:tcPr>
                </a:tc>
              </a:tr>
              <a:tr h="644525">
                <a:tc>
                  <a:txBody>
                    <a:bodyPr/>
                    <a:lstStyle/>
                    <a:p>
                      <a:r>
                        <a:rPr sz="2250">
                          <a:solidFill>
                            <a:srgbClr val="173047"/>
                          </a:solidFill>
                          <a:latin typeface="Arial"/>
                          <a:ea typeface="Arial"/>
                          <a:cs typeface="Arial"/>
                        </a:rPr>
                        <a:t>Перехід</a:t>
                      </a:r>
                    </a:p>
                  </a:txBody>
                  <a:tcPr marL="95250" marR="95250" marT="57150" marB="57150" anchor="ctr">
                    <a:solidFill>
                      <a:srgbClr val="FFFFFF"/>
                    </a:solidFill>
                  </a:tcPr>
                </a:tc>
                <a:tc>
                  <a:txBody>
                    <a:bodyPr/>
                    <a:lstStyle/>
                    <a:p>
                      <a:r>
                        <a:rPr sz="2250">
                          <a:solidFill>
                            <a:srgbClr val="173047"/>
                          </a:solidFill>
                          <a:latin typeface="Arial"/>
                          <a:ea typeface="Arial"/>
                          <a:cs typeface="Arial"/>
                        </a:rPr>
                        <a:t>Наступний сервіс; залишок b − u</a:t>
                      </a:r>
                    </a:p>
                  </a:txBody>
                  <a:tcPr marL="95250" marR="95250" marT="57150" marB="57150" anchor="ctr">
                    <a:solidFill>
                      <a:srgbClr val="FFFFFF"/>
                    </a:solidFill>
                  </a:tcPr>
                </a:tc>
              </a:tr>
              <a:tr h="644525">
                <a:tc>
                  <a:txBody>
                    <a:bodyPr/>
                    <a:lstStyle/>
                    <a:p>
                      <a:r>
                        <a:rPr sz="2250">
                          <a:solidFill>
                            <a:srgbClr val="173047"/>
                          </a:solidFill>
                          <a:latin typeface="Arial"/>
                          <a:ea typeface="Arial"/>
                          <a:cs typeface="Arial"/>
                        </a:rPr>
                        <a:t>Користь gₖ(u)</a:t>
                      </a:r>
                    </a:p>
                  </a:txBody>
                  <a:tcPr marL="95250" marR="95250" marT="57150" marB="57150" anchor="ctr">
                    <a:solidFill>
                      <a:srgbClr val="FFFFFF"/>
                    </a:solidFill>
                  </a:tcPr>
                </a:tc>
                <a:tc>
                  <a:txBody>
                    <a:bodyPr/>
                    <a:lstStyle/>
                    <a:p>
                      <a:r>
                        <a:rPr sz="2250">
                          <a:solidFill>
                            <a:srgbClr val="173047"/>
                          </a:solidFill>
                          <a:latin typeface="Arial"/>
                          <a:ea typeface="Arial"/>
                          <a:cs typeface="Arial"/>
                        </a:rPr>
                        <a:t>Бали поточного сервісу за u GPU</a:t>
                      </a:r>
                    </a:p>
                  </a:txBody>
                  <a:tcPr marL="95250" marR="95250" marT="57150" marB="57150" anchor="ctr">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10</a:t>
            </a:r>
          </a:p>
        </p:txBody>
      </p:sp>
    </p:spTree>
    <p:extLst>
      <p:ext uri="{BB962C8B-B14F-4D97-AF65-F5344CB8AC3E}">
        <p14:creationId xmlns:p14="http://schemas.microsoft.com/office/powerpoint/2010/main" val="17938814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4" idx="3"/>
            <a:endCxn xmlns:a="http://schemas.openxmlformats.org/drawingml/2006/main" id="6" idx="1"/>
          </p:cNvCxnSpPr>
          <p:nvPr/>
        </p:nvCxnSpPr>
        <p:spPr>
          <a:xfrm xmlns:a="http://schemas.openxmlformats.org/drawingml/2006/main">
            <a:off x="4400550" y="2857500"/>
            <a:ext cx="339090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3" name="">
            <a:extLst xmlns:a="http://schemas.openxmlformats.org/drawingml/2006/main">
              <a:ext uri="{FF2B5EF4-FFF2-40B4-BE49-F238E27FC236}">
                <a16:creationId xmlns:a16="http://schemas.microsoft.com/office/drawing/2014/main" id="{36888F31-3D8D-4CA4-9E81-758B15918AFD}"/>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Один перехід: A отримує 2 GPU</a:t>
            </a:r>
          </a:p>
        </p:txBody>
      </p:sp>
      <p:sp>
        <p:nvSpPr>
          <p:cNvPr id="2" name="">
            <a:extLst xmlns:a="http://schemas.openxmlformats.org/drawingml/2006/main">
              <a:ext uri="{FF2B5EF4-FFF2-40B4-BE49-F238E27FC236}">
                <a16:creationId xmlns:a16="http://schemas.microsoft.com/office/drawing/2014/main" id="{59A1D36E-CF74-432A-9688-6546CC41E98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рішення майбутню підзадачу задає стан (2, 4).</a:t>
            </a:r>
          </a:p>
        </p:txBody>
      </p:sp>
      <p:sp>
        <p:nvSpPr>
          <p:cNvPr id="4" name="">
            <a:extLst xmlns:a="http://schemas.openxmlformats.org/drawingml/2006/main">
              <a:ext uri="{FF2B5EF4-FFF2-40B4-BE49-F238E27FC236}">
                <a16:creationId xmlns:a16="http://schemas.microsoft.com/office/drawing/2014/main" id="{D0E73BDB-279B-4586-8AE3-92FD18E89AEB}"/>
              </a:ext>
            </a:extLst>
          </p:cNvPr>
          <p:cNvSpPr>
            <a:spLocks xmlns:a="http://schemas.openxmlformats.org/drawingml/2006/main" noGrp="1"/>
          </p:cNvSpPr>
          <p:nvPr/>
        </p:nvSpPr>
        <p:spPr>
          <a:xfrm xmlns:a="http://schemas.openxmlformats.org/drawingml/2006/main">
            <a:off x="685800" y="2257425"/>
            <a:ext cx="3714750" cy="120015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2652A538-77B9-4D1E-9953-D041F9F48E0F}"/>
              </a:ext>
            </a:extLst>
          </p:cNvPr>
          <p:cNvSpPr>
            <a:spLocks xmlns:a="http://schemas.openxmlformats.org/drawingml/2006/main" noGrp="1"/>
          </p:cNvSpPr>
          <p:nvPr/>
        </p:nvSpPr>
        <p:spPr>
          <a:xfrm xmlns:a="http://schemas.openxmlformats.org/drawingml/2006/main">
            <a:off x="800100" y="2314575"/>
            <a:ext cx="34861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Стан (1, 6)</a:t>
            </a:r>
          </a:p>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Попереду A, B, C</a:t>
            </a:r>
          </a:p>
        </p:txBody>
      </p:sp>
      <p:sp>
        <p:nvSpPr>
          <p:cNvPr id="6" name="">
            <a:extLst xmlns:a="http://schemas.openxmlformats.org/drawingml/2006/main">
              <a:ext uri="{FF2B5EF4-FFF2-40B4-BE49-F238E27FC236}">
                <a16:creationId xmlns:a16="http://schemas.microsoft.com/office/drawing/2014/main" id="{D8CE83F1-AD4B-43EF-BA62-91C47C2E8601}"/>
              </a:ext>
            </a:extLst>
          </p:cNvPr>
          <p:cNvSpPr>
            <a:spLocks xmlns:a="http://schemas.openxmlformats.org/drawingml/2006/main" noGrp="1"/>
          </p:cNvSpPr>
          <p:nvPr/>
        </p:nvSpPr>
        <p:spPr>
          <a:xfrm xmlns:a="http://schemas.openxmlformats.org/drawingml/2006/main">
            <a:off x="7791450" y="2257425"/>
            <a:ext cx="3714750" cy="1200150"/>
          </a:xfrm>
          <a:prstGeom xmlns:a="http://schemas.openxmlformats.org/drawingml/2006/main" prst="rect">
            <a:avLst/>
          </a:prstGeom>
          <a:solidFill xmlns:a="http://schemas.openxmlformats.org/drawingml/2006/main">
            <a:srgbClr val="DDF3EC"/>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71812F33-26C5-4AA9-A65D-EDE4C58439E5}"/>
              </a:ext>
            </a:extLst>
          </p:cNvPr>
          <p:cNvSpPr>
            <a:spLocks xmlns:a="http://schemas.openxmlformats.org/drawingml/2006/main" noGrp="1"/>
          </p:cNvSpPr>
          <p:nvPr/>
        </p:nvSpPr>
        <p:spPr>
          <a:xfrm xmlns:a="http://schemas.openxmlformats.org/drawingml/2006/main">
            <a:off x="7905750" y="2314575"/>
            <a:ext cx="34861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Стан (2, 4)</a:t>
            </a:r>
          </a:p>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Попереду B, C</a:t>
            </a:r>
          </a:p>
        </p:txBody>
      </p:sp>
      <p:sp>
        <p:nvSpPr>
          <p:cNvPr id="9" name="">
            <a:extLst xmlns:a="http://schemas.openxmlformats.org/drawingml/2006/main">
              <a:ext uri="{FF2B5EF4-FFF2-40B4-BE49-F238E27FC236}">
                <a16:creationId xmlns:a16="http://schemas.microsoft.com/office/drawing/2014/main" id="{106A80F3-72BF-4CB4-A953-6702E93DACA7}"/>
              </a:ext>
            </a:extLst>
          </p:cNvPr>
          <p:cNvSpPr>
            <a:spLocks xmlns:a="http://schemas.openxmlformats.org/drawingml/2006/main" noGrp="1"/>
          </p:cNvSpPr>
          <p:nvPr/>
        </p:nvSpPr>
        <p:spPr>
          <a:xfrm xmlns:a="http://schemas.openxmlformats.org/drawingml/2006/main">
            <a:off x="4724400" y="1905000"/>
            <a:ext cx="274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1">
                <a:solidFill>
                  <a:srgbClr val="00857D"/>
                </a:solidFill>
                <a:latin typeface="Arial"/>
                <a:ea typeface="Arial"/>
                <a:cs typeface="Arial"/>
              </a:defRPr>
            </a:pPr>
            <a:r>
              <a:rPr sz="2850" b="1">
                <a:solidFill>
                  <a:srgbClr val="00857D"/>
                </a:solidFill>
                <a:latin typeface="Arial"/>
                <a:ea typeface="Arial"/>
                <a:cs typeface="Arial"/>
              </a:rPr>
              <a:t>u = 2</a:t>
            </a:r>
          </a:p>
        </p:txBody>
      </p:sp>
      <p:sp>
        <p:nvSpPr>
          <p:cNvPr id="10" name="">
            <a:extLst xmlns:a="http://schemas.openxmlformats.org/drawingml/2006/main">
              <a:ext uri="{FF2B5EF4-FFF2-40B4-BE49-F238E27FC236}">
                <a16:creationId xmlns:a16="http://schemas.microsoft.com/office/drawing/2014/main" id="{2EC1409B-F3A6-4599-9D75-2A3DC9A5944A}"/>
              </a:ext>
            </a:extLst>
          </p:cNvPr>
          <p:cNvSpPr>
            <a:spLocks xmlns:a="http://schemas.openxmlformats.org/drawingml/2006/main" noGrp="1"/>
          </p:cNvSpPr>
          <p:nvPr/>
        </p:nvSpPr>
        <p:spPr>
          <a:xfrm xmlns:a="http://schemas.openxmlformats.org/drawingml/2006/main">
            <a:off x="4667250" y="364807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1">
                <a:solidFill>
                  <a:srgbClr val="00857D"/>
                </a:solidFill>
                <a:latin typeface="Arial"/>
                <a:ea typeface="Arial"/>
                <a:cs typeface="Arial"/>
              </a:defRPr>
            </a:pPr>
            <a:r>
              <a:rPr sz="2850" b="1">
                <a:solidFill>
                  <a:srgbClr val="00857D"/>
                </a:solidFill>
                <a:latin typeface="Arial"/>
                <a:ea typeface="Arial"/>
                <a:cs typeface="Arial"/>
              </a:rPr>
              <a:t>g_A(2) = 11</a:t>
            </a:r>
          </a:p>
        </p:txBody>
      </p:sp>
      <p:sp>
        <p:nvSpPr>
          <p:cNvPr id="11" name="">
            <a:extLst xmlns:a="http://schemas.openxmlformats.org/drawingml/2006/main">
              <a:ext uri="{FF2B5EF4-FFF2-40B4-BE49-F238E27FC236}">
                <a16:creationId xmlns:a16="http://schemas.microsoft.com/office/drawing/2014/main" id="{08494369-8906-48AE-B45D-41544864DA96}"/>
              </a:ext>
            </a:extLst>
          </p:cNvPr>
          <p:cNvSpPr>
            <a:spLocks xmlns:a="http://schemas.openxmlformats.org/drawingml/2006/main" noGrp="1"/>
          </p:cNvSpPr>
          <p:nvPr/>
        </p:nvSpPr>
        <p:spPr>
          <a:xfrm xmlns:a="http://schemas.openxmlformats.org/drawingml/2006/main">
            <a:off x="685800" y="46482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Новий бюджет: 6 − 2 = 4</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Уже отримані 11 балів не змінюють вибір для B і C.</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11</a:t>
            </a:r>
          </a:p>
        </p:txBody>
      </p:sp>
    </p:spTree>
    <p:extLst>
      <p:ext uri="{BB962C8B-B14F-4D97-AF65-F5344CB8AC3E}">
        <p14:creationId xmlns:p14="http://schemas.microsoft.com/office/powerpoint/2010/main" val="3236142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D61892-2BD5-4D24-B59A-2CFF4FAAF962}"/>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Що зберігає таблиця V?</a:t>
            </a:r>
          </a:p>
        </p:txBody>
      </p:sp>
      <p:sp>
        <p:nvSpPr>
          <p:cNvPr id="2" name="">
            <a:extLst xmlns:a="http://schemas.openxmlformats.org/drawingml/2006/main">
              <a:ext uri="{FF2B5EF4-FFF2-40B4-BE49-F238E27FC236}">
                <a16:creationId xmlns:a16="http://schemas.microsoft.com/office/drawing/2014/main" id="{43401AC4-2B32-48EC-9AA5-8C55D368177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V — найкраща користь від решти сервісів, а не кількість GPU.</a:t>
            </a:r>
          </a:p>
        </p:txBody>
      </p:sp>
      <p:sp>
        <p:nvSpPr>
          <p:cNvPr id="4" name="">
            <a:extLst xmlns:a="http://schemas.openxmlformats.org/drawingml/2006/main">
              <a:ext uri="{FF2B5EF4-FFF2-40B4-BE49-F238E27FC236}">
                <a16:creationId xmlns:a16="http://schemas.microsoft.com/office/drawing/2014/main" id="{AA638B5D-241B-44E8-99FD-7BA82401C6B2}"/>
              </a:ext>
            </a:extLst>
          </p:cNvPr>
          <p:cNvSpPr>
            <a:spLocks xmlns:a="http://schemas.openxmlformats.org/drawingml/2006/main" noGrp="1"/>
          </p:cNvSpPr>
          <p:nvPr/>
        </p:nvSpPr>
        <p:spPr>
          <a:xfrm xmlns:a="http://schemas.openxmlformats.org/drawingml/2006/main">
            <a:off x="685800" y="16573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Vₖ(b) = найбільша користь від сервісів k…3,</a:t>
            </a:r>
          </a:p>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якщо для них доступно b GPU.</a:t>
            </a:r>
          </a:p>
        </p:txBody>
      </p:sp>
      <p:graphicFrame>
        <p:nvGraphicFramePr>
          <p:cNvPr id="12" name=""/>
          <p:cNvGraphicFramePr/>
          <p:nvPr/>
        </p:nvGraphicFramePr>
        <p:xfrm>
          <a:off xmlns:a="http://schemas.openxmlformats.org/drawingml/2006/main" x="685800" y="3190875"/>
          <a:ext xmlns:a="http://schemas.openxmlformats.org/drawingml/2006/main" cx="10820400" cy="2457450"/>
        </p:xfrm>
        <a:graphic xmlns:a="http://schemas.openxmlformats.org/drawingml/2006/main">
          <a:graphicData uri="http://schemas.openxmlformats.org/drawingml/2006/table">
            <a:tbl>
              <a:tblPr/>
              <a:tblGrid>
                <a:gridCol w="3143250"/>
                <a:gridCol w="7677150"/>
              </a:tblGrid>
              <a:tr h="491490">
                <a:tc>
                  <a:txBody>
                    <a:bodyPr/>
                    <a:lstStyle/>
                    <a:p>
                      <a:r>
                        <a:rPr sz="2250" b="1">
                          <a:solidFill>
                            <a:srgbClr val="FFFFFF"/>
                          </a:solidFill>
                          <a:latin typeface="Arial"/>
                          <a:ea typeface="Arial"/>
                          <a:cs typeface="Arial"/>
                        </a:rPr>
                        <a:t>Позначення</a:t>
                      </a:r>
                    </a:p>
                  </a:txBody>
                  <a:tcPr marL="95250" marR="95250" marT="57150" marB="57150" anchor="ctr">
                    <a:solidFill>
                      <a:srgbClr val="173047"/>
                    </a:solidFill>
                  </a:tcPr>
                </a:tc>
                <a:tc>
                  <a:txBody>
                    <a:bodyPr/>
                    <a:lstStyle/>
                    <a:p>
                      <a:r>
                        <a:rPr sz="2250" b="1">
                          <a:solidFill>
                            <a:srgbClr val="FFFFFF"/>
                          </a:solidFill>
                          <a:latin typeface="Arial"/>
                          <a:ea typeface="Arial"/>
                          <a:cs typeface="Arial"/>
                        </a:rPr>
                        <a:t>Як читати</a:t>
                      </a:r>
                    </a:p>
                  </a:txBody>
                  <a:tcPr marL="95250" marR="95250" marT="57150" marB="57150" anchor="ctr">
                    <a:solidFill>
                      <a:srgbClr val="173047"/>
                    </a:solidFill>
                  </a:tcPr>
                </a:tc>
              </a:tr>
              <a:tr h="491490">
                <a:tc>
                  <a:txBody>
                    <a:bodyPr/>
                    <a:lstStyle/>
                    <a:p>
                      <a:r>
                        <a:rPr sz="2250">
                          <a:solidFill>
                            <a:srgbClr val="173047"/>
                          </a:solidFill>
                          <a:latin typeface="Arial"/>
                          <a:ea typeface="Arial"/>
                          <a:cs typeface="Arial"/>
                        </a:rPr>
                        <a:t>V₁(6)</a:t>
                      </a:r>
                    </a:p>
                  </a:txBody>
                  <a:tcPr marL="95250" marR="95250" marT="57150" marB="57150" anchor="ctr">
                    <a:solidFill>
                      <a:srgbClr val="FFFFFF"/>
                    </a:solidFill>
                  </a:tcPr>
                </a:tc>
                <a:tc>
                  <a:txBody>
                    <a:bodyPr/>
                    <a:lstStyle/>
                    <a:p>
                      <a:r>
                        <a:rPr sz="2250">
                          <a:solidFill>
                            <a:srgbClr val="173047"/>
                          </a:solidFill>
                          <a:latin typeface="Arial"/>
                          <a:ea typeface="Arial"/>
                          <a:cs typeface="Arial"/>
                        </a:rPr>
                        <a:t>Найкращий результат усієї задачі</a:t>
                      </a:r>
                    </a:p>
                  </a:txBody>
                  <a:tcPr marL="95250" marR="95250" marT="57150" marB="57150" anchor="ctr">
                    <a:solidFill>
                      <a:srgbClr val="FFFFFF"/>
                    </a:solidFill>
                  </a:tcPr>
                </a:tc>
              </a:tr>
              <a:tr h="491490">
                <a:tc>
                  <a:txBody>
                    <a:bodyPr/>
                    <a:lstStyle/>
                    <a:p>
                      <a:r>
                        <a:rPr sz="2250">
                          <a:solidFill>
                            <a:srgbClr val="173047"/>
                          </a:solidFill>
                          <a:latin typeface="Arial"/>
                          <a:ea typeface="Arial"/>
                          <a:cs typeface="Arial"/>
                        </a:rPr>
                        <a:t>V₂(4)</a:t>
                      </a:r>
                    </a:p>
                  </a:txBody>
                  <a:tcPr marL="95250" marR="95250" marT="57150" marB="57150" anchor="ctr">
                    <a:solidFill>
                      <a:srgbClr val="FFFFFF"/>
                    </a:solidFill>
                  </a:tcPr>
                </a:tc>
                <a:tc>
                  <a:txBody>
                    <a:bodyPr/>
                    <a:lstStyle/>
                    <a:p>
                      <a:r>
                        <a:rPr sz="2250">
                          <a:solidFill>
                            <a:srgbClr val="173047"/>
                          </a:solidFill>
                          <a:latin typeface="Arial"/>
                          <a:ea typeface="Arial"/>
                          <a:cs typeface="Arial"/>
                        </a:rPr>
                        <a:t>Найкращий результат тільки B і C за 4 GPU</a:t>
                      </a:r>
                    </a:p>
                  </a:txBody>
                  <a:tcPr marL="95250" marR="95250" marT="57150" marB="57150" anchor="ctr">
                    <a:solidFill>
                      <a:srgbClr val="FFFFFF"/>
                    </a:solidFill>
                  </a:tcPr>
                </a:tc>
              </a:tr>
              <a:tr h="491490">
                <a:tc>
                  <a:txBody>
                    <a:bodyPr/>
                    <a:lstStyle/>
                    <a:p>
                      <a:r>
                        <a:rPr sz="2250">
                          <a:solidFill>
                            <a:srgbClr val="173047"/>
                          </a:solidFill>
                          <a:latin typeface="Arial"/>
                          <a:ea typeface="Arial"/>
                          <a:cs typeface="Arial"/>
                        </a:rPr>
                        <a:t>V₃(1)</a:t>
                      </a:r>
                    </a:p>
                  </a:txBody>
                  <a:tcPr marL="95250" marR="95250" marT="57150" marB="57150" anchor="ctr">
                    <a:solidFill>
                      <a:srgbClr val="FFFFFF"/>
                    </a:solidFill>
                  </a:tcPr>
                </a:tc>
                <a:tc>
                  <a:txBody>
                    <a:bodyPr/>
                    <a:lstStyle/>
                    <a:p>
                      <a:r>
                        <a:rPr sz="2250">
                          <a:solidFill>
                            <a:srgbClr val="173047"/>
                          </a:solidFill>
                          <a:latin typeface="Arial"/>
                          <a:ea typeface="Arial"/>
                          <a:cs typeface="Arial"/>
                        </a:rPr>
                        <a:t>Найкращий результат тільки C за 1 GPU</a:t>
                      </a:r>
                    </a:p>
                  </a:txBody>
                  <a:tcPr marL="95250" marR="95250" marT="57150" marB="57150" anchor="ctr">
                    <a:solidFill>
                      <a:srgbClr val="FFFFFF"/>
                    </a:solidFill>
                  </a:tcPr>
                </a:tc>
              </a:tr>
              <a:tr h="491490">
                <a:tc>
                  <a:txBody>
                    <a:bodyPr/>
                    <a:lstStyle/>
                    <a:p>
                      <a:r>
                        <a:rPr sz="2250">
                          <a:solidFill>
                            <a:srgbClr val="173047"/>
                          </a:solidFill>
                          <a:latin typeface="Arial"/>
                          <a:ea typeface="Arial"/>
                          <a:cs typeface="Arial"/>
                        </a:rPr>
                        <a:t>V₄(b) = 0</a:t>
                      </a:r>
                    </a:p>
                  </a:txBody>
                  <a:tcPr marL="95250" marR="95250" marT="57150" marB="57150" anchor="ctr">
                    <a:solidFill>
                      <a:srgbClr val="FFFFFF"/>
                    </a:solidFill>
                  </a:tcPr>
                </a:tc>
                <a:tc>
                  <a:txBody>
                    <a:bodyPr/>
                    <a:lstStyle/>
                    <a:p>
                      <a:r>
                        <a:rPr sz="2250">
                          <a:solidFill>
                            <a:srgbClr val="173047"/>
                          </a:solidFill>
                          <a:latin typeface="Arial"/>
                          <a:ea typeface="Arial"/>
                          <a:cs typeface="Arial"/>
                        </a:rPr>
                        <a:t>Сервісів не залишилося — нова користь 0</a:t>
                      </a:r>
                    </a:p>
                  </a:txBody>
                  <a:tcPr marL="95250" marR="95250" marT="57150" marB="57150" anchor="ctr">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12</a:t>
            </a:r>
          </a:p>
        </p:txBody>
      </p:sp>
    </p:spTree>
    <p:extLst>
      <p:ext uri="{BB962C8B-B14F-4D97-AF65-F5344CB8AC3E}">
        <p14:creationId xmlns:p14="http://schemas.microsoft.com/office/powerpoint/2010/main" val="1396200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7DD6C4-9E20-43A7-A7EC-550D0CE32BA0}"/>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Принцип оптимальності Беллмана</a:t>
            </a:r>
          </a:p>
        </p:txBody>
      </p:sp>
      <p:sp>
        <p:nvSpPr>
          <p:cNvPr id="2" name="">
            <a:extLst xmlns:a="http://schemas.openxmlformats.org/drawingml/2006/main">
              <a:ext uri="{FF2B5EF4-FFF2-40B4-BE49-F238E27FC236}">
                <a16:creationId xmlns:a16="http://schemas.microsoft.com/office/drawing/2014/main" id="{E202EF82-E63D-4F05-ACC4-7C6AD38C42E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першого рішення решта плану має бути оптимальною.</a:t>
            </a:r>
          </a:p>
        </p:txBody>
      </p:sp>
      <p:sp>
        <p:nvSpPr>
          <p:cNvPr id="4" name="">
            <a:extLst xmlns:a="http://schemas.openxmlformats.org/drawingml/2006/main">
              <a:ext uri="{FF2B5EF4-FFF2-40B4-BE49-F238E27FC236}">
                <a16:creationId xmlns:a16="http://schemas.microsoft.com/office/drawing/2014/main" id="{EF78CFF4-3D29-4570-825E-E0C057D863C3}"/>
              </a:ext>
            </a:extLst>
          </p:cNvPr>
          <p:cNvSpPr>
            <a:spLocks xmlns:a="http://schemas.openxmlformats.org/drawingml/2006/main" noGrp="1"/>
          </p:cNvSpPr>
          <p:nvPr/>
        </p:nvSpPr>
        <p:spPr>
          <a:xfrm xmlns:a="http://schemas.openxmlformats.org/drawingml/2006/main">
            <a:off x="685800" y="1485900"/>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Припустімо: A вже отримав 2 GPU.</a:t>
            </a:r>
          </a:p>
        </p:txBody>
      </p:sp>
      <p:sp>
        <p:nvSpPr>
          <p:cNvPr id="5" name="">
            <a:extLst xmlns:a="http://schemas.openxmlformats.org/drawingml/2006/main">
              <a:ext uri="{FF2B5EF4-FFF2-40B4-BE49-F238E27FC236}">
                <a16:creationId xmlns:a16="http://schemas.microsoft.com/office/drawing/2014/main" id="{7AF0A319-6911-4148-903A-2CEB36BC265B}"/>
              </a:ext>
            </a:extLst>
          </p:cNvPr>
          <p:cNvSpPr>
            <a:spLocks xmlns:a="http://schemas.openxmlformats.org/drawingml/2006/main" noGrp="1"/>
          </p:cNvSpPr>
          <p:nvPr/>
        </p:nvSpPr>
        <p:spPr>
          <a:xfrm xmlns:a="http://schemas.openxmlformats.org/drawingml/2006/main">
            <a:off x="685800" y="24860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Залишилися B, C та 4 GPU.</a:t>
            </a:r>
          </a:p>
        </p:txBody>
      </p:sp>
      <p:sp>
        <p:nvSpPr>
          <p:cNvPr id="6" name="">
            <a:extLst xmlns:a="http://schemas.openxmlformats.org/drawingml/2006/main">
              <a:ext uri="{FF2B5EF4-FFF2-40B4-BE49-F238E27FC236}">
                <a16:creationId xmlns:a16="http://schemas.microsoft.com/office/drawing/2014/main" id="{D28A0D2A-763D-4AE6-983F-0D6638A17AA5}"/>
              </a:ext>
            </a:extLst>
          </p:cNvPr>
          <p:cNvSpPr>
            <a:spLocks xmlns:a="http://schemas.openxmlformats.org/drawingml/2006/main" noGrp="1"/>
          </p:cNvSpPr>
          <p:nvPr/>
        </p:nvSpPr>
        <p:spPr>
          <a:xfrm xmlns:a="http://schemas.openxmlformats.org/drawingml/2006/main">
            <a:off x="685800" y="3486150"/>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Якщо їхній план гірший за найкращий,</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замінюємо лише цей залишок плану.</a:t>
            </a:r>
          </a:p>
        </p:txBody>
      </p:sp>
      <p:sp>
        <p:nvSpPr>
          <p:cNvPr id="7" name="">
            <a:extLst xmlns:a="http://schemas.openxmlformats.org/drawingml/2006/main">
              <a:ext uri="{FF2B5EF4-FFF2-40B4-BE49-F238E27FC236}">
                <a16:creationId xmlns:a16="http://schemas.microsoft.com/office/drawing/2014/main" id="{5E8C7AD6-F46F-493D-80A5-D0764FBE8BE3}"/>
              </a:ext>
            </a:extLst>
          </p:cNvPr>
          <p:cNvSpPr>
            <a:spLocks xmlns:a="http://schemas.openxmlformats.org/drawingml/2006/main" noGrp="1"/>
          </p:cNvSpPr>
          <p:nvPr/>
        </p:nvSpPr>
        <p:spPr>
          <a:xfrm xmlns:a="http://schemas.openxmlformats.org/drawingml/2006/main">
            <a:off x="685800" y="448627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Користь A не зміниться, а загальний результат зросте.</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13</a:t>
            </a:r>
          </a:p>
        </p:txBody>
      </p:sp>
    </p:spTree>
    <p:extLst>
      <p:ext uri="{BB962C8B-B14F-4D97-AF65-F5344CB8AC3E}">
        <p14:creationId xmlns:p14="http://schemas.microsoft.com/office/powerpoint/2010/main" val="17584027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4175A9-FDC0-4647-BCFB-53DB7190C69E}"/>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Спочатку арифметика, потім формула</a:t>
            </a:r>
          </a:p>
        </p:txBody>
      </p:sp>
      <p:sp>
        <p:nvSpPr>
          <p:cNvPr id="2" name="">
            <a:extLst xmlns:a="http://schemas.openxmlformats.org/drawingml/2006/main">
              <a:ext uri="{FF2B5EF4-FFF2-40B4-BE49-F238E27FC236}">
                <a16:creationId xmlns:a16="http://schemas.microsoft.com/office/drawing/2014/main" id="{D68AAC13-ED84-489B-A3DB-924289A9453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Порівнюємо «користь зараз + найкраща користь потім».</a:t>
            </a:r>
          </a:p>
        </p:txBody>
      </p:sp>
      <p:graphicFrame>
        <p:nvGraphicFramePr>
          <p:cNvPr id="11" name=""/>
          <p:cNvGraphicFramePr/>
          <p:nvPr/>
        </p:nvGraphicFramePr>
        <p:xfrm>
          <a:off xmlns:a="http://schemas.openxmlformats.org/drawingml/2006/main" x="685800" y="1924050"/>
          <a:ext xmlns:a="http://schemas.openxmlformats.org/drawingml/2006/main" cx="10820400" cy="2647950"/>
        </p:xfrm>
        <a:graphic xmlns:a="http://schemas.openxmlformats.org/drawingml/2006/main">
          <a:graphicData uri="http://schemas.openxmlformats.org/drawingml/2006/table">
            <a:tbl>
              <a:tblPr/>
              <a:tblGrid>
                <a:gridCol w="3000375"/>
                <a:gridCol w="2381250"/>
                <a:gridCol w="3048000"/>
                <a:gridCol w="2390775"/>
              </a:tblGrid>
              <a:tr h="661988">
                <a:tc>
                  <a:txBody>
                    <a:bodyPr/>
                    <a:lstStyle/>
                    <a:p>
                      <a:r>
                        <a:rPr sz="2400" b="1">
                          <a:solidFill>
                            <a:srgbClr val="FFFFFF"/>
                          </a:solidFill>
                          <a:latin typeface="Arial"/>
                          <a:ea typeface="Arial"/>
                          <a:cs typeface="Arial"/>
                        </a:rPr>
                        <a:t>Рішення для A</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Зараз</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Потім</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Разом</a:t>
                      </a:r>
                    </a:p>
                  </a:txBody>
                  <a:tcPr marL="95250" marR="95250" marT="57150" marB="57150" anchor="ctr">
                    <a:solidFill>
                      <a:srgbClr val="173047"/>
                    </a:solidFill>
                  </a:tcPr>
                </a:tc>
              </a:tr>
              <a:tr h="661988">
                <a:tc>
                  <a:txBody>
                    <a:bodyPr/>
                    <a:lstStyle/>
                    <a:p>
                      <a:r>
                        <a:rPr sz="2400">
                          <a:solidFill>
                            <a:srgbClr val="173047"/>
                          </a:solidFill>
                          <a:latin typeface="Arial"/>
                          <a:ea typeface="Arial"/>
                          <a:cs typeface="Arial"/>
                        </a:rPr>
                        <a:t>u = 1</a:t>
                      </a:r>
                    </a:p>
                  </a:txBody>
                  <a:tcPr marL="95250" marR="95250" marT="57150" marB="57150" anchor="ctr">
                    <a:solidFill>
                      <a:srgbClr val="FFFFFF"/>
                    </a:solidFill>
                  </a:tcPr>
                </a:tc>
                <a:tc>
                  <a:txBody>
                    <a:bodyPr/>
                    <a:lstStyle/>
                    <a:p>
                      <a:r>
                        <a:rPr sz="2400">
                          <a:solidFill>
                            <a:srgbClr val="173047"/>
                          </a:solidFill>
                          <a:latin typeface="Arial"/>
                          <a:ea typeface="Arial"/>
                          <a:cs typeface="Arial"/>
                        </a:rPr>
                        <a:t>g_A(1) = 6</a:t>
                      </a:r>
                    </a:p>
                  </a:txBody>
                  <a:tcPr marL="95250" marR="95250" marT="57150" marB="57150" anchor="ctr">
                    <a:solidFill>
                      <a:srgbClr val="FFFFFF"/>
                    </a:solidFill>
                  </a:tcPr>
                </a:tc>
                <a:tc>
                  <a:txBody>
                    <a:bodyPr/>
                    <a:lstStyle/>
                    <a:p>
                      <a:r>
                        <a:rPr sz="2400">
                          <a:solidFill>
                            <a:srgbClr val="173047"/>
                          </a:solidFill>
                          <a:latin typeface="Arial"/>
                          <a:ea typeface="Arial"/>
                          <a:cs typeface="Arial"/>
                        </a:rPr>
                        <a:t>V₂(5) = 26</a:t>
                      </a:r>
                    </a:p>
                  </a:txBody>
                  <a:tcPr marL="95250" marR="95250" marT="57150" marB="57150" anchor="ctr">
                    <a:solidFill>
                      <a:srgbClr val="FFFFFF"/>
                    </a:solidFill>
                  </a:tcPr>
                </a:tc>
                <a:tc>
                  <a:txBody>
                    <a:bodyPr/>
                    <a:lstStyle/>
                    <a:p>
                      <a:r>
                        <a:rPr sz="2400">
                          <a:solidFill>
                            <a:srgbClr val="173047"/>
                          </a:solidFill>
                          <a:latin typeface="Arial"/>
                          <a:ea typeface="Arial"/>
                          <a:cs typeface="Arial"/>
                        </a:rPr>
                        <a:t>32</a:t>
                      </a:r>
                    </a:p>
                  </a:txBody>
                  <a:tcPr marL="95250" marR="95250" marT="57150" marB="57150" anchor="ctr">
                    <a:solidFill>
                      <a:srgbClr val="FFFFFF"/>
                    </a:solidFill>
                  </a:tcPr>
                </a:tc>
              </a:tr>
              <a:tr h="661988">
                <a:tc>
                  <a:txBody>
                    <a:bodyPr/>
                    <a:lstStyle/>
                    <a:p>
                      <a:r>
                        <a:rPr sz="2400" b="1">
                          <a:solidFill>
                            <a:srgbClr val="00857D"/>
                          </a:solidFill>
                          <a:latin typeface="Arial"/>
                          <a:ea typeface="Arial"/>
                          <a:cs typeface="Arial"/>
                        </a:rPr>
                        <a:t>u = 2</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g_A(2) = 11</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V₂(4) = 22</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33</a:t>
                      </a:r>
                    </a:p>
                  </a:txBody>
                  <a:tcPr marL="95250" marR="95250" marT="57150" marB="57150" anchor="ctr">
                    <a:solidFill>
                      <a:srgbClr val="DDF3EC"/>
                    </a:solidFill>
                  </a:tcPr>
                </a:tc>
              </a:tr>
              <a:tr h="661988">
                <a:tc>
                  <a:txBody>
                    <a:bodyPr/>
                    <a:lstStyle/>
                    <a:p>
                      <a:r>
                        <a:rPr sz="2400">
                          <a:solidFill>
                            <a:srgbClr val="173047"/>
                          </a:solidFill>
                          <a:latin typeface="Arial"/>
                          <a:ea typeface="Arial"/>
                          <a:cs typeface="Arial"/>
                        </a:rPr>
                        <a:t>u = 3</a:t>
                      </a:r>
                    </a:p>
                  </a:txBody>
                  <a:tcPr marL="95250" marR="95250" marT="57150" marB="57150" anchor="ctr">
                    <a:solidFill>
                      <a:srgbClr val="FFFFFF"/>
                    </a:solidFill>
                  </a:tcPr>
                </a:tc>
                <a:tc>
                  <a:txBody>
                    <a:bodyPr/>
                    <a:lstStyle/>
                    <a:p>
                      <a:r>
                        <a:rPr sz="2400">
                          <a:solidFill>
                            <a:srgbClr val="173047"/>
                          </a:solidFill>
                          <a:latin typeface="Arial"/>
                          <a:ea typeface="Arial"/>
                          <a:cs typeface="Arial"/>
                        </a:rPr>
                        <a:t>g_A(3) = 13</a:t>
                      </a:r>
                    </a:p>
                  </a:txBody>
                  <a:tcPr marL="95250" marR="95250" marT="57150" marB="57150" anchor="ctr">
                    <a:solidFill>
                      <a:srgbClr val="FFFFFF"/>
                    </a:solidFill>
                  </a:tcPr>
                </a:tc>
                <a:tc>
                  <a:txBody>
                    <a:bodyPr/>
                    <a:lstStyle/>
                    <a:p>
                      <a:r>
                        <a:rPr sz="2400">
                          <a:solidFill>
                            <a:srgbClr val="173047"/>
                          </a:solidFill>
                          <a:latin typeface="Arial"/>
                          <a:ea typeface="Arial"/>
                          <a:cs typeface="Arial"/>
                        </a:rPr>
                        <a:t>V₂(3) = 17</a:t>
                      </a:r>
                    </a:p>
                  </a:txBody>
                  <a:tcPr marL="95250" marR="95250" marT="57150" marB="57150" anchor="ctr">
                    <a:solidFill>
                      <a:srgbClr val="FFFFFF"/>
                    </a:solidFill>
                  </a:tcPr>
                </a:tc>
                <a:tc>
                  <a:txBody>
                    <a:bodyPr/>
                    <a:lstStyle/>
                    <a:p>
                      <a:r>
                        <a:rPr sz="2400">
                          <a:solidFill>
                            <a:srgbClr val="173047"/>
                          </a:solidFill>
                          <a:latin typeface="Arial"/>
                          <a:ea typeface="Arial"/>
                          <a:cs typeface="Arial"/>
                        </a:rPr>
                        <a:t>30</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E79B165-BA58-4A44-A20C-AD17AD45735C}"/>
              </a:ext>
            </a:extLst>
          </p:cNvPr>
          <p:cNvSpPr>
            <a:spLocks xmlns:a="http://schemas.openxmlformats.org/drawingml/2006/main" noGrp="1"/>
          </p:cNvSpPr>
          <p:nvPr/>
        </p:nvSpPr>
        <p:spPr>
          <a:xfrm xmlns:a="http://schemas.openxmlformats.org/drawingml/2006/main">
            <a:off x="685800" y="4876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566779"/>
                </a:solidFill>
                <a:latin typeface="Arial"/>
                <a:ea typeface="Arial"/>
                <a:cs typeface="Arial"/>
              </a:defRPr>
            </a:pPr>
            <a:r>
              <a:rPr sz="2400" b="0">
                <a:solidFill>
                  <a:srgbClr val="566779"/>
                </a:solidFill>
                <a:latin typeface="Arial"/>
                <a:ea typeface="Arial"/>
                <a:cs typeface="Arial"/>
              </a:rPr>
              <a:t>Потрібно перевірити всі u = 0…6.</a:t>
            </a:r>
          </a:p>
          <a:p xmlns:a="http://schemas.openxmlformats.org/drawingml/2006/main">
            <a:pPr algn="l">
              <a:buNone/>
              <a:defRPr sz="2400" b="0">
                <a:solidFill>
                  <a:srgbClr val="566779"/>
                </a:solidFill>
                <a:latin typeface="Arial"/>
                <a:ea typeface="Arial"/>
                <a:cs typeface="Arial"/>
              </a:defRPr>
            </a:pPr>
            <a:r>
              <a:rPr sz="2400" b="0">
                <a:solidFill>
                  <a:srgbClr val="566779"/>
                </a:solidFill>
                <a:latin typeface="Arial"/>
                <a:ea typeface="Arial"/>
                <a:cs typeface="Arial"/>
              </a:rPr>
              <a:t>Тут показано три варіанти для пояснення.</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15</a:t>
            </a:r>
          </a:p>
        </p:txBody>
      </p:sp>
    </p:spTree>
    <p:extLst>
      <p:ext uri="{BB962C8B-B14F-4D97-AF65-F5344CB8AC3E}">
        <p14:creationId xmlns:p14="http://schemas.microsoft.com/office/powerpoint/2010/main" val="11963467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DC6AB4-9D91-47FB-BF16-C8A273BB8CBE}"/>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Рекурентне співвідношення Беллмана</a:t>
            </a:r>
          </a:p>
        </p:txBody>
      </p:sp>
      <p:sp>
        <p:nvSpPr>
          <p:cNvPr id="2" name="">
            <a:extLst xmlns:a="http://schemas.openxmlformats.org/drawingml/2006/main">
              <a:ext uri="{FF2B5EF4-FFF2-40B4-BE49-F238E27FC236}">
                <a16:creationId xmlns:a16="http://schemas.microsoft.com/office/drawing/2014/main" id="{DE6298A2-850E-46BD-A7E0-E3BB3DD8E75E}"/>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Перебираємо дозволені рішення й запам’ятовуємо найкраще.</a:t>
            </a:r>
          </a:p>
        </p:txBody>
      </p:sp>
      <p:sp>
        <p:nvSpPr>
          <p:cNvPr id="4" name="">
            <a:extLst xmlns:a="http://schemas.openxmlformats.org/drawingml/2006/main">
              <a:ext uri="{FF2B5EF4-FFF2-40B4-BE49-F238E27FC236}">
                <a16:creationId xmlns:a16="http://schemas.microsoft.com/office/drawing/2014/main" id="{39252062-4FB5-4F23-8A55-098AB6CC6112}"/>
              </a:ext>
            </a:extLst>
          </p:cNvPr>
          <p:cNvSpPr>
            <a:spLocks xmlns:a="http://schemas.openxmlformats.org/drawingml/2006/main" noGrp="1"/>
          </p:cNvSpPr>
          <p:nvPr/>
        </p:nvSpPr>
        <p:spPr>
          <a:xfrm xmlns:a="http://schemas.openxmlformats.org/drawingml/2006/main">
            <a:off x="685800" y="2038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00857D"/>
                </a:solidFill>
                <a:latin typeface="Arial"/>
                <a:ea typeface="Arial"/>
                <a:cs typeface="Arial"/>
              </a:defRPr>
            </a:pPr>
            <a:r>
              <a:rPr sz="3600" b="1">
                <a:solidFill>
                  <a:srgbClr val="00857D"/>
                </a:solidFill>
                <a:latin typeface="Arial"/>
                <a:ea typeface="Arial"/>
                <a:cs typeface="Arial"/>
              </a:rPr>
              <a:t>Vₖ(b) = max [ gₖ(u) + Vₖ₊₁(b − u) ]</a:t>
            </a:r>
          </a:p>
        </p:txBody>
      </p:sp>
      <p:sp>
        <p:nvSpPr>
          <p:cNvPr id="5" name="">
            <a:extLst xmlns:a="http://schemas.openxmlformats.org/drawingml/2006/main">
              <a:ext uri="{FF2B5EF4-FFF2-40B4-BE49-F238E27FC236}">
                <a16:creationId xmlns:a16="http://schemas.microsoft.com/office/drawing/2014/main" id="{8867D559-DB79-4C3E-8D73-E30E0CEAAEA3}"/>
              </a:ext>
            </a:extLst>
          </p:cNvPr>
          <p:cNvSpPr>
            <a:spLocks xmlns:a="http://schemas.openxmlformats.org/drawingml/2006/main" noGrp="1"/>
          </p:cNvSpPr>
          <p:nvPr/>
        </p:nvSpPr>
        <p:spPr>
          <a:xfrm xmlns:a="http://schemas.openxmlformats.org/drawingml/2006/main">
            <a:off x="685800" y="28765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566779"/>
                </a:solidFill>
                <a:latin typeface="Arial"/>
                <a:ea typeface="Arial"/>
                <a:cs typeface="Arial"/>
              </a:defRPr>
            </a:pPr>
            <a:r>
              <a:rPr sz="2550" b="0">
                <a:solidFill>
                  <a:srgbClr val="566779"/>
                </a:solidFill>
                <a:latin typeface="Arial"/>
                <a:ea typeface="Arial"/>
                <a:cs typeface="Arial"/>
              </a:rPr>
              <a:t>u — ціле, 0 ≤ u ≤ b</a:t>
            </a:r>
          </a:p>
        </p:txBody>
      </p:sp>
      <p:graphicFrame>
        <p:nvGraphicFramePr>
          <p:cNvPr id="14" name=""/>
          <p:cNvGraphicFramePr/>
          <p:nvPr/>
        </p:nvGraphicFramePr>
        <p:xfrm>
          <a:off xmlns:a="http://schemas.openxmlformats.org/drawingml/2006/main" x="685800" y="3752850"/>
          <a:ext xmlns:a="http://schemas.openxmlformats.org/drawingml/2006/main" cx="10820400" cy="2019300"/>
        </p:xfrm>
        <a:graphic xmlns:a="http://schemas.openxmlformats.org/drawingml/2006/main">
          <a:graphicData uri="http://schemas.openxmlformats.org/drawingml/2006/table">
            <a:tbl>
              <a:tblPr/>
              <a:tblGrid>
                <a:gridCol w="3524250"/>
                <a:gridCol w="7296150"/>
              </a:tblGrid>
              <a:tr h="504825">
                <a:tc>
                  <a:txBody>
                    <a:bodyPr/>
                    <a:lstStyle/>
                    <a:p>
                      <a:r>
                        <a:rPr sz="2250" b="1">
                          <a:solidFill>
                            <a:srgbClr val="FFFFFF"/>
                          </a:solidFill>
                          <a:latin typeface="Arial"/>
                          <a:ea typeface="Arial"/>
                          <a:cs typeface="Arial"/>
                        </a:rPr>
                        <a:t>Частина</a:t>
                      </a:r>
                    </a:p>
                  </a:txBody>
                  <a:tcPr marL="95250" marR="95250" marT="57150" marB="57150" anchor="ctr">
                    <a:solidFill>
                      <a:srgbClr val="173047"/>
                    </a:solidFill>
                  </a:tcPr>
                </a:tc>
                <a:tc>
                  <a:txBody>
                    <a:bodyPr/>
                    <a:lstStyle/>
                    <a:p>
                      <a:r>
                        <a:rPr sz="2250" b="1">
                          <a:solidFill>
                            <a:srgbClr val="FFFFFF"/>
                          </a:solidFill>
                          <a:latin typeface="Arial"/>
                          <a:ea typeface="Arial"/>
                          <a:cs typeface="Arial"/>
                        </a:rPr>
                        <a:t>Зміст</a:t>
                      </a:r>
                    </a:p>
                  </a:txBody>
                  <a:tcPr marL="95250" marR="95250" marT="57150" marB="57150" anchor="ctr">
                    <a:solidFill>
                      <a:srgbClr val="173047"/>
                    </a:solidFill>
                  </a:tcPr>
                </a:tc>
              </a:tr>
              <a:tr h="504825">
                <a:tc>
                  <a:txBody>
                    <a:bodyPr/>
                    <a:lstStyle/>
                    <a:p>
                      <a:r>
                        <a:rPr sz="2250">
                          <a:solidFill>
                            <a:srgbClr val="173047"/>
                          </a:solidFill>
                          <a:latin typeface="Arial"/>
                          <a:ea typeface="Arial"/>
                          <a:cs typeface="Arial"/>
                        </a:rPr>
                        <a:t>gₖ(u)</a:t>
                      </a:r>
                    </a:p>
                  </a:txBody>
                  <a:tcPr marL="95250" marR="95250" marT="57150" marB="57150" anchor="ctr">
                    <a:solidFill>
                      <a:srgbClr val="FFFFFF"/>
                    </a:solidFill>
                  </a:tcPr>
                </a:tc>
                <a:tc>
                  <a:txBody>
                    <a:bodyPr/>
                    <a:lstStyle/>
                    <a:p>
                      <a:r>
                        <a:rPr sz="2250">
                          <a:solidFill>
                            <a:srgbClr val="173047"/>
                          </a:solidFill>
                          <a:latin typeface="Arial"/>
                          <a:ea typeface="Arial"/>
                          <a:cs typeface="Arial"/>
                        </a:rPr>
                        <a:t>Користь поточного рішення</a:t>
                      </a:r>
                    </a:p>
                  </a:txBody>
                  <a:tcPr marL="95250" marR="95250" marT="57150" marB="57150" anchor="ctr">
                    <a:solidFill>
                      <a:srgbClr val="FFFFFF"/>
                    </a:solidFill>
                  </a:tcPr>
                </a:tc>
              </a:tr>
              <a:tr h="504825">
                <a:tc>
                  <a:txBody>
                    <a:bodyPr/>
                    <a:lstStyle/>
                    <a:p>
                      <a:r>
                        <a:rPr sz="2250">
                          <a:solidFill>
                            <a:srgbClr val="173047"/>
                          </a:solidFill>
                          <a:latin typeface="Arial"/>
                          <a:ea typeface="Arial"/>
                          <a:cs typeface="Arial"/>
                        </a:rPr>
                        <a:t>Vₖ₊₁(b − u)</a:t>
                      </a:r>
                    </a:p>
                  </a:txBody>
                  <a:tcPr marL="95250" marR="95250" marT="57150" marB="57150" anchor="ctr">
                    <a:solidFill>
                      <a:srgbClr val="FFFFFF"/>
                    </a:solidFill>
                  </a:tcPr>
                </a:tc>
                <a:tc>
                  <a:txBody>
                    <a:bodyPr/>
                    <a:lstStyle/>
                    <a:p>
                      <a:r>
                        <a:rPr sz="2250">
                          <a:solidFill>
                            <a:srgbClr val="173047"/>
                          </a:solidFill>
                          <a:latin typeface="Arial"/>
                          <a:ea typeface="Arial"/>
                          <a:cs typeface="Arial"/>
                        </a:rPr>
                        <a:t>Найкращий результат з рештою ресурсу</a:t>
                      </a:r>
                    </a:p>
                  </a:txBody>
                  <a:tcPr marL="95250" marR="95250" marT="57150" marB="57150" anchor="ctr">
                    <a:solidFill>
                      <a:srgbClr val="FFFFFF"/>
                    </a:solidFill>
                  </a:tcPr>
                </a:tc>
              </a:tr>
              <a:tr h="504825">
                <a:tc>
                  <a:txBody>
                    <a:bodyPr/>
                    <a:lstStyle/>
                    <a:p>
                      <a:r>
                        <a:rPr sz="2250">
                          <a:solidFill>
                            <a:srgbClr val="173047"/>
                          </a:solidFill>
                          <a:latin typeface="Arial"/>
                          <a:ea typeface="Arial"/>
                          <a:cs typeface="Arial"/>
                        </a:rPr>
                        <a:t>max</a:t>
                      </a:r>
                    </a:p>
                  </a:txBody>
                  <a:tcPr marL="95250" marR="95250" marT="57150" marB="57150" anchor="ctr">
                    <a:solidFill>
                      <a:srgbClr val="FFFFFF"/>
                    </a:solidFill>
                  </a:tcPr>
                </a:tc>
                <a:tc>
                  <a:txBody>
                    <a:bodyPr/>
                    <a:lstStyle/>
                    <a:p>
                      <a:r>
                        <a:rPr sz="2250">
                          <a:solidFill>
                            <a:srgbClr val="173047"/>
                          </a:solidFill>
                          <a:latin typeface="Arial"/>
                          <a:ea typeface="Arial"/>
                          <a:cs typeface="Arial"/>
                        </a:rPr>
                        <a:t>Вибір найкращого з дозволених варіантів</a:t>
                      </a:r>
                    </a:p>
                  </a:txBody>
                  <a:tcPr marL="95250" marR="95250" marT="57150" marB="57150" anchor="ctr">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16</a:t>
            </a:r>
          </a:p>
        </p:txBody>
      </p:sp>
    </p:spTree>
    <p:extLst>
      <p:ext uri="{BB962C8B-B14F-4D97-AF65-F5344CB8AC3E}">
        <p14:creationId xmlns:p14="http://schemas.microsoft.com/office/powerpoint/2010/main" val="1468014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4B4C40-DDCB-481B-8F2E-3F4063DA9068}"/>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Умовна оптимізація: починаємо з кінця</a:t>
            </a:r>
          </a:p>
        </p:txBody>
      </p:sp>
      <p:sp>
        <p:nvSpPr>
          <p:cNvPr id="2" name="">
            <a:extLst xmlns:a="http://schemas.openxmlformats.org/drawingml/2006/main">
              <a:ext uri="{FF2B5EF4-FFF2-40B4-BE49-F238E27FC236}">
                <a16:creationId xmlns:a16="http://schemas.microsoft.com/office/drawing/2014/main" id="{B7E7E4F3-3022-4F11-BCD8-040A6181033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Базовий рядок V₄ заповнюємо нулями.</a:t>
            </a:r>
          </a:p>
        </p:txBody>
      </p:sp>
      <p:graphicFrame>
        <p:nvGraphicFramePr>
          <p:cNvPr id="12" name=""/>
          <p:cNvGraphicFramePr/>
          <p:nvPr/>
        </p:nvGraphicFramePr>
        <p:xfrm>
          <a:off xmlns:a="http://schemas.openxmlformats.org/drawingml/2006/main" x="685800" y="2076450"/>
          <a:ext xmlns:a="http://schemas.openxmlformats.org/drawingml/2006/main" cx="10820400" cy="1428750"/>
        </p:xfrm>
        <a:graphic xmlns:a="http://schemas.openxmlformats.org/drawingml/2006/main">
          <a:graphicData uri="http://schemas.openxmlformats.org/drawingml/2006/table">
            <a:tbl>
              <a:tblPr/>
              <a:tblGrid>
                <a:gridCol w="2686050"/>
                <a:gridCol w="1162050"/>
                <a:gridCol w="1162050"/>
                <a:gridCol w="1162050"/>
                <a:gridCol w="1162050"/>
                <a:gridCol w="1162050"/>
                <a:gridCol w="1162050"/>
                <a:gridCol w="1162050"/>
              </a:tblGrid>
              <a:tr h="714375">
                <a:tc>
                  <a:txBody>
                    <a:bodyPr/>
                    <a:lstStyle/>
                    <a:p>
                      <a:r>
                        <a:rPr sz="2700" b="1">
                          <a:solidFill>
                            <a:srgbClr val="FFFFFF"/>
                          </a:solidFill>
                          <a:latin typeface="Arial"/>
                          <a:ea typeface="Arial"/>
                          <a:cs typeface="Arial"/>
                        </a:rPr>
                        <a:t>b</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0</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1</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2</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3</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4</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5</a:t>
                      </a:r>
                    </a:p>
                  </a:txBody>
                  <a:tcPr marL="95250" marR="95250" marT="57150" marB="57150" anchor="ctr">
                    <a:solidFill>
                      <a:srgbClr val="173047"/>
                    </a:solidFill>
                  </a:tcPr>
                </a:tc>
                <a:tc>
                  <a:txBody>
                    <a:bodyPr/>
                    <a:lstStyle/>
                    <a:p>
                      <a:r>
                        <a:rPr sz="2700" b="1">
                          <a:solidFill>
                            <a:srgbClr val="FFFFFF"/>
                          </a:solidFill>
                          <a:latin typeface="Arial"/>
                          <a:ea typeface="Arial"/>
                          <a:cs typeface="Arial"/>
                        </a:rPr>
                        <a:t>6</a:t>
                      </a:r>
                    </a:p>
                  </a:txBody>
                  <a:tcPr marL="95250" marR="95250" marT="57150" marB="57150" anchor="ctr">
                    <a:solidFill>
                      <a:srgbClr val="173047"/>
                    </a:solidFill>
                  </a:tcPr>
                </a:tc>
              </a:tr>
              <a:tr h="714375">
                <a:tc>
                  <a:txBody>
                    <a:bodyPr/>
                    <a:lstStyle/>
                    <a:p>
                      <a:r>
                        <a:rPr sz="2700">
                          <a:solidFill>
                            <a:srgbClr val="173047"/>
                          </a:solidFill>
                          <a:latin typeface="Arial"/>
                          <a:ea typeface="Arial"/>
                          <a:cs typeface="Arial"/>
                        </a:rPr>
                        <a:t>V₄(b)</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c>
                  <a:txBody>
                    <a:bodyPr/>
                    <a:lstStyle/>
                    <a:p>
                      <a:r>
                        <a:rPr sz="2700">
                          <a:solidFill>
                            <a:srgbClr val="173047"/>
                          </a:solidFill>
                          <a:latin typeface="Arial"/>
                          <a:ea typeface="Arial"/>
                          <a:cs typeface="Arial"/>
                        </a:rPr>
                        <a:t>0</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CDD85E8-6D36-49CF-8C17-19E8A93F8426}"/>
              </a:ext>
            </a:extLst>
          </p:cNvPr>
          <p:cNvSpPr>
            <a:spLocks xmlns:a="http://schemas.openxmlformats.org/drawingml/2006/main" noGrp="1"/>
          </p:cNvSpPr>
          <p:nvPr/>
        </p:nvSpPr>
        <p:spPr>
          <a:xfrm xmlns:a="http://schemas.openxmlformats.org/drawingml/2006/main">
            <a:off x="685800" y="4105275"/>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Не залишилося сервісів:</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за будь-якого залишку нових балів не отримуємо.</a:t>
            </a:r>
          </a:p>
        </p:txBody>
      </p:sp>
      <p:sp>
        <p:nvSpPr>
          <p:cNvPr id="6" name="">
            <a:extLst xmlns:a="http://schemas.openxmlformats.org/drawingml/2006/main">
              <a:ext uri="{FF2B5EF4-FFF2-40B4-BE49-F238E27FC236}">
                <a16:creationId xmlns:a16="http://schemas.microsoft.com/office/drawing/2014/main" id="{CF850AF8-8C24-4FD9-946D-2F88F4065CFB}"/>
              </a:ext>
            </a:extLst>
          </p:cNvPr>
          <p:cNvSpPr>
            <a:spLocks xmlns:a="http://schemas.openxmlformats.org/drawingml/2006/main" noGrp="1"/>
          </p:cNvSpPr>
          <p:nvPr/>
        </p:nvSpPr>
        <p:spPr>
          <a:xfrm xmlns:a="http://schemas.openxmlformats.org/drawingml/2006/main">
            <a:off x="685800" y="52482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00857D"/>
                </a:solidFill>
                <a:latin typeface="Arial"/>
                <a:ea typeface="Arial"/>
                <a:cs typeface="Arial"/>
              </a:defRPr>
            </a:pPr>
            <a:r>
              <a:rPr sz="2550" b="1">
                <a:solidFill>
                  <a:srgbClr val="00857D"/>
                </a:solidFill>
                <a:latin typeface="Arial"/>
                <a:ea typeface="Arial"/>
                <a:cs typeface="Arial"/>
              </a:rPr>
              <a:t>Порядок обчислення: V₄ → V₃ → V₂ → V₁</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19</a:t>
            </a:r>
          </a:p>
        </p:txBody>
      </p:sp>
    </p:spTree>
    <p:extLst>
      <p:ext uri="{BB962C8B-B14F-4D97-AF65-F5344CB8AC3E}">
        <p14:creationId xmlns:p14="http://schemas.microsoft.com/office/powerpoint/2010/main" val="209107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56E504-D837-4D9F-8F3A-9DC4B130836F}"/>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Етап C: останній сервіс</a:t>
            </a:r>
          </a:p>
        </p:txBody>
      </p:sp>
      <p:sp>
        <p:nvSpPr>
          <p:cNvPr id="2" name="">
            <a:extLst xmlns:a="http://schemas.openxmlformats.org/drawingml/2006/main">
              <a:ext uri="{FF2B5EF4-FFF2-40B4-BE49-F238E27FC236}">
                <a16:creationId xmlns:a16="http://schemas.microsoft.com/office/drawing/2014/main" id="{2BD0F336-02F4-4275-AA07-1B3E3BB4D9D7}"/>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V₃(b) = g_C(b), бо g_C не зменшується зі зростанням b.</a:t>
            </a:r>
          </a:p>
        </p:txBody>
      </p:sp>
      <p:graphicFrame>
        <p:nvGraphicFramePr>
          <p:cNvPr id="11" name=""/>
          <p:cNvGraphicFramePr/>
          <p:nvPr/>
        </p:nvGraphicFramePr>
        <p:xfrm>
          <a:off xmlns:a="http://schemas.openxmlformats.org/drawingml/2006/main" x="685800" y="1733550"/>
          <a:ext xmlns:a="http://schemas.openxmlformats.org/drawingml/2006/main" cx="10820400" cy="2571750"/>
        </p:xfrm>
        <a:graphic xmlns:a="http://schemas.openxmlformats.org/drawingml/2006/main">
          <a:graphicData uri="http://schemas.openxmlformats.org/drawingml/2006/table">
            <a:tbl>
              <a:tblPr/>
              <a:tblGrid>
                <a:gridCol w="2686050"/>
                <a:gridCol w="1162050"/>
                <a:gridCol w="1162050"/>
                <a:gridCol w="1162050"/>
                <a:gridCol w="1162050"/>
                <a:gridCol w="1162050"/>
                <a:gridCol w="1162050"/>
                <a:gridCol w="1162050"/>
              </a:tblGrid>
              <a:tr h="642938">
                <a:tc>
                  <a:txBody>
                    <a:bodyPr/>
                    <a:lstStyle/>
                    <a:p>
                      <a:r>
                        <a:rPr sz="2400" b="1">
                          <a:solidFill>
                            <a:srgbClr val="FFFFFF"/>
                          </a:solidFill>
                          <a:latin typeface="Arial"/>
                          <a:ea typeface="Arial"/>
                          <a:cs typeface="Arial"/>
                        </a:rPr>
                        <a:t>b</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0</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1</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2</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3</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4</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5</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6</a:t>
                      </a:r>
                    </a:p>
                  </a:txBody>
                  <a:tcPr marL="95250" marR="95250" marT="57150" marB="57150" anchor="ctr">
                    <a:solidFill>
                      <a:srgbClr val="173047"/>
                    </a:solidFill>
                  </a:tcPr>
                </a:tc>
              </a:tr>
              <a:tr h="642938">
                <a:tc>
                  <a:txBody>
                    <a:bodyPr/>
                    <a:lstStyle/>
                    <a:p>
                      <a:r>
                        <a:rPr sz="2400">
                          <a:solidFill>
                            <a:srgbClr val="173047"/>
                          </a:solidFill>
                          <a:latin typeface="Arial"/>
                          <a:ea typeface="Arial"/>
                          <a:cs typeface="Arial"/>
                        </a:rPr>
                        <a:t>V₄(b)</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r>
              <a:tr h="642938">
                <a:tc>
                  <a:txBody>
                    <a:bodyPr/>
                    <a:lstStyle/>
                    <a:p>
                      <a:r>
                        <a:rPr sz="2400" b="1">
                          <a:solidFill>
                            <a:srgbClr val="00857D"/>
                          </a:solidFill>
                          <a:latin typeface="Arial"/>
                          <a:ea typeface="Arial"/>
                          <a:cs typeface="Arial"/>
                        </a:rPr>
                        <a:t>V₃(b)</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0</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5</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9</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11</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12</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13</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14</a:t>
                      </a:r>
                    </a:p>
                  </a:txBody>
                  <a:tcPr marL="95250" marR="95250" marT="57150" marB="57150" anchor="ctr">
                    <a:solidFill>
                      <a:srgbClr val="DDF3EC"/>
                    </a:solidFill>
                  </a:tcPr>
                </a:tc>
              </a:tr>
              <a:tr h="642938">
                <a:tc>
                  <a:txBody>
                    <a:bodyPr/>
                    <a:lstStyle/>
                    <a:p>
                      <a:r>
                        <a:rPr sz="2400">
                          <a:solidFill>
                            <a:srgbClr val="173047"/>
                          </a:solidFill>
                          <a:latin typeface="Arial"/>
                          <a:ea typeface="Arial"/>
                          <a:cs typeface="Arial"/>
                        </a:rPr>
                        <a:t>Рішення для C</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1</a:t>
                      </a:r>
                    </a:p>
                  </a:txBody>
                  <a:tcPr marL="95250" marR="95250" marT="57150" marB="57150" anchor="ctr">
                    <a:solidFill>
                      <a:srgbClr val="FFFFFF"/>
                    </a:solidFill>
                  </a:tcPr>
                </a:tc>
                <a:tc>
                  <a:txBody>
                    <a:bodyPr/>
                    <a:lstStyle/>
                    <a:p>
                      <a:r>
                        <a:rPr sz="2400">
                          <a:solidFill>
                            <a:srgbClr val="173047"/>
                          </a:solidFill>
                          <a:latin typeface="Arial"/>
                          <a:ea typeface="Arial"/>
                          <a:cs typeface="Arial"/>
                        </a:rPr>
                        <a:t>2</a:t>
                      </a:r>
                    </a:p>
                  </a:txBody>
                  <a:tcPr marL="95250" marR="95250" marT="57150" marB="57150" anchor="ctr">
                    <a:solidFill>
                      <a:srgbClr val="FFFFFF"/>
                    </a:solidFill>
                  </a:tcPr>
                </a:tc>
                <a:tc>
                  <a:txBody>
                    <a:bodyPr/>
                    <a:lstStyle/>
                    <a:p>
                      <a:r>
                        <a:rPr sz="2400">
                          <a:solidFill>
                            <a:srgbClr val="173047"/>
                          </a:solidFill>
                          <a:latin typeface="Arial"/>
                          <a:ea typeface="Arial"/>
                          <a:cs typeface="Arial"/>
                        </a:rPr>
                        <a:t>3</a:t>
                      </a:r>
                    </a:p>
                  </a:txBody>
                  <a:tcPr marL="95250" marR="95250" marT="57150" marB="57150" anchor="ctr">
                    <a:solidFill>
                      <a:srgbClr val="FFFFFF"/>
                    </a:solidFill>
                  </a:tcPr>
                </a:tc>
                <a:tc>
                  <a:txBody>
                    <a:bodyPr/>
                    <a:lstStyle/>
                    <a:p>
                      <a:r>
                        <a:rPr sz="2400">
                          <a:solidFill>
                            <a:srgbClr val="173047"/>
                          </a:solidFill>
                          <a:latin typeface="Arial"/>
                          <a:ea typeface="Arial"/>
                          <a:cs typeface="Arial"/>
                        </a:rPr>
                        <a:t>4</a:t>
                      </a:r>
                    </a:p>
                  </a:txBody>
                  <a:tcPr marL="95250" marR="95250" marT="57150" marB="57150" anchor="ctr">
                    <a:solidFill>
                      <a:srgbClr val="FFFFFF"/>
                    </a:solidFill>
                  </a:tcPr>
                </a:tc>
                <a:tc>
                  <a:txBody>
                    <a:bodyPr/>
                    <a:lstStyle/>
                    <a:p>
                      <a:r>
                        <a:rPr sz="2400">
                          <a:solidFill>
                            <a:srgbClr val="173047"/>
                          </a:solidFill>
                          <a:latin typeface="Arial"/>
                          <a:ea typeface="Arial"/>
                          <a:cs typeface="Arial"/>
                        </a:rPr>
                        <a:t>5</a:t>
                      </a:r>
                    </a:p>
                  </a:txBody>
                  <a:tcPr marL="95250" marR="95250" marT="57150" marB="57150" anchor="ctr">
                    <a:solidFill>
                      <a:srgbClr val="FFFFFF"/>
                    </a:solidFill>
                  </a:tcPr>
                </a:tc>
                <a:tc>
                  <a:txBody>
                    <a:bodyPr/>
                    <a:lstStyle/>
                    <a:p>
                      <a:r>
                        <a:rPr sz="2400">
                          <a:solidFill>
                            <a:srgbClr val="173047"/>
                          </a:solidFill>
                          <a:latin typeface="Arial"/>
                          <a:ea typeface="Arial"/>
                          <a:cs typeface="Arial"/>
                        </a:rPr>
                        <a:t>6</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7BB98E0-9EEB-4786-A596-A57B6798C246}"/>
              </a:ext>
            </a:extLst>
          </p:cNvPr>
          <p:cNvSpPr>
            <a:spLocks xmlns:a="http://schemas.openxmlformats.org/drawingml/2006/main" noGrp="1"/>
          </p:cNvSpPr>
          <p:nvPr/>
        </p:nvSpPr>
        <p:spPr>
          <a:xfrm xmlns:a="http://schemas.openxmlformats.org/drawingml/2006/main">
            <a:off x="685800" y="47625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Наприклад: V₃(4) = max(0, 5, 9, 11, 12) = 12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20</a:t>
            </a:r>
          </a:p>
        </p:txBody>
      </p:sp>
    </p:spTree>
    <p:extLst>
      <p:ext uri="{BB962C8B-B14F-4D97-AF65-F5344CB8AC3E}">
        <p14:creationId xmlns:p14="http://schemas.microsoft.com/office/powerpoint/2010/main" val="3463800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FAD9E7-90E8-4A1B-987B-C595AF77078B}"/>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Етап B: обчислимо одну клітинку V₂(4)</a:t>
            </a:r>
          </a:p>
        </p:txBody>
      </p:sp>
      <p:sp>
        <p:nvSpPr>
          <p:cNvPr id="2" name="">
            <a:extLst xmlns:a="http://schemas.openxmlformats.org/drawingml/2006/main">
              <a:ext uri="{FF2B5EF4-FFF2-40B4-BE49-F238E27FC236}">
                <a16:creationId xmlns:a16="http://schemas.microsoft.com/office/drawing/2014/main" id="{DB998E18-3150-4C4B-A749-7A65EF91E88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Найкраще: B отримує 3 GPU, C — 1 GPU; користь 22.</a:t>
            </a:r>
          </a:p>
        </p:txBody>
      </p:sp>
      <p:graphicFrame>
        <p:nvGraphicFramePr>
          <p:cNvPr id="11" name=""/>
          <p:cNvGraphicFramePr/>
          <p:nvPr/>
        </p:nvGraphicFramePr>
        <p:xfrm>
          <a:off xmlns:a="http://schemas.openxmlformats.org/drawingml/2006/main" x="685800" y="1562100"/>
          <a:ext xmlns:a="http://schemas.openxmlformats.org/drawingml/2006/main" cx="10820400" cy="3695700"/>
        </p:xfrm>
        <a:graphic xmlns:a="http://schemas.openxmlformats.org/drawingml/2006/main">
          <a:graphicData uri="http://schemas.openxmlformats.org/drawingml/2006/table">
            <a:tbl>
              <a:tblPr/>
              <a:tblGrid>
                <a:gridCol w="2324100"/>
                <a:gridCol w="2476500"/>
                <a:gridCol w="3238500"/>
                <a:gridCol w="2781300"/>
              </a:tblGrid>
              <a:tr h="615950">
                <a:tc>
                  <a:txBody>
                    <a:bodyPr/>
                    <a:lstStyle/>
                    <a:p>
                      <a:r>
                        <a:rPr sz="2550" b="1">
                          <a:solidFill>
                            <a:srgbClr val="FFFFFF"/>
                          </a:solidFill>
                          <a:latin typeface="Arial"/>
                          <a:ea typeface="Arial"/>
                          <a:cs typeface="Arial"/>
                        </a:rPr>
                        <a:t>u для B</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g_B(u)</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V₃(4 − u)</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Разом</a:t>
                      </a:r>
                    </a:p>
                  </a:txBody>
                  <a:tcPr marL="95250" marR="95250" marT="57150" marB="57150" anchor="ctr">
                    <a:solidFill>
                      <a:srgbClr val="173047"/>
                    </a:solidFill>
                  </a:tcPr>
                </a:tc>
              </a:tr>
              <a:tr h="615950">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12</a:t>
                      </a:r>
                    </a:p>
                  </a:txBody>
                  <a:tcPr marL="95250" marR="95250" marT="57150" marB="57150" anchor="ctr">
                    <a:solidFill>
                      <a:srgbClr val="FFFFFF"/>
                    </a:solidFill>
                  </a:tcPr>
                </a:tc>
                <a:tc>
                  <a:txBody>
                    <a:bodyPr/>
                    <a:lstStyle/>
                    <a:p>
                      <a:r>
                        <a:rPr sz="2550">
                          <a:solidFill>
                            <a:srgbClr val="173047"/>
                          </a:solidFill>
                          <a:latin typeface="Arial"/>
                          <a:ea typeface="Arial"/>
                          <a:cs typeface="Arial"/>
                        </a:rPr>
                        <a:t>12</a:t>
                      </a:r>
                    </a:p>
                  </a:txBody>
                  <a:tcPr marL="95250" marR="95250" marT="57150" marB="57150" anchor="ctr">
                    <a:solidFill>
                      <a:srgbClr val="FFFFFF"/>
                    </a:solidFill>
                  </a:tcPr>
                </a:tc>
              </a:tr>
              <a:tr h="615950">
                <a:tc>
                  <a:txBody>
                    <a:bodyPr/>
                    <a:lstStyle/>
                    <a:p>
                      <a:r>
                        <a:rPr sz="2550">
                          <a:solidFill>
                            <a:srgbClr val="173047"/>
                          </a:solidFill>
                          <a:latin typeface="Arial"/>
                          <a:ea typeface="Arial"/>
                          <a:cs typeface="Arial"/>
                        </a:rPr>
                        <a:t>1</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11</a:t>
                      </a:r>
                    </a:p>
                  </a:txBody>
                  <a:tcPr marL="95250" marR="95250" marT="57150" marB="57150" anchor="ctr">
                    <a:solidFill>
                      <a:srgbClr val="FFFFFF"/>
                    </a:solidFill>
                  </a:tcPr>
                </a:tc>
                <a:tc>
                  <a:txBody>
                    <a:bodyPr/>
                    <a:lstStyle/>
                    <a:p>
                      <a:r>
                        <a:rPr sz="2550">
                          <a:solidFill>
                            <a:srgbClr val="173047"/>
                          </a:solidFill>
                          <a:latin typeface="Arial"/>
                          <a:ea typeface="Arial"/>
                          <a:cs typeface="Arial"/>
                        </a:rPr>
                        <a:t>11</a:t>
                      </a:r>
                    </a:p>
                  </a:txBody>
                  <a:tcPr marL="95250" marR="95250" marT="57150" marB="57150" anchor="ctr">
                    <a:solidFill>
                      <a:srgbClr val="FFFFFF"/>
                    </a:solidFill>
                  </a:tcPr>
                </a:tc>
              </a:tr>
              <a:tr h="615950">
                <a:tc>
                  <a:txBody>
                    <a:bodyPr/>
                    <a:lstStyle/>
                    <a:p>
                      <a:r>
                        <a:rPr sz="2550">
                          <a:solidFill>
                            <a:srgbClr val="173047"/>
                          </a:solidFill>
                          <a:latin typeface="Arial"/>
                          <a:ea typeface="Arial"/>
                          <a:cs typeface="Arial"/>
                        </a:rPr>
                        <a:t>2</a:t>
                      </a:r>
                    </a:p>
                  </a:txBody>
                  <a:tcPr marL="95250" marR="95250" marT="57150" marB="57150" anchor="ctr">
                    <a:solidFill>
                      <a:srgbClr val="FFFFFF"/>
                    </a:solidFill>
                  </a:tcPr>
                </a:tc>
                <a:tc>
                  <a:txBody>
                    <a:bodyPr/>
                    <a:lstStyle/>
                    <a:p>
                      <a:r>
                        <a:rPr sz="2550">
                          <a:solidFill>
                            <a:srgbClr val="173047"/>
                          </a:solidFill>
                          <a:latin typeface="Arial"/>
                          <a:ea typeface="Arial"/>
                          <a:cs typeface="Arial"/>
                        </a:rPr>
                        <a:t>3</a:t>
                      </a:r>
                    </a:p>
                  </a:txBody>
                  <a:tcPr marL="95250" marR="95250" marT="57150" marB="57150" anchor="ctr">
                    <a:solidFill>
                      <a:srgbClr val="FFFFFF"/>
                    </a:solidFill>
                  </a:tcPr>
                </a:tc>
                <a:tc>
                  <a:txBody>
                    <a:bodyPr/>
                    <a:lstStyle/>
                    <a:p>
                      <a:r>
                        <a:rPr sz="2550">
                          <a:solidFill>
                            <a:srgbClr val="173047"/>
                          </a:solidFill>
                          <a:latin typeface="Arial"/>
                          <a:ea typeface="Arial"/>
                          <a:cs typeface="Arial"/>
                        </a:rPr>
                        <a:t>9</a:t>
                      </a:r>
                    </a:p>
                  </a:txBody>
                  <a:tcPr marL="95250" marR="95250" marT="57150" marB="57150" anchor="ctr">
                    <a:solidFill>
                      <a:srgbClr val="FFFFFF"/>
                    </a:solidFill>
                  </a:tcPr>
                </a:tc>
                <a:tc>
                  <a:txBody>
                    <a:bodyPr/>
                    <a:lstStyle/>
                    <a:p>
                      <a:r>
                        <a:rPr sz="2550">
                          <a:solidFill>
                            <a:srgbClr val="173047"/>
                          </a:solidFill>
                          <a:latin typeface="Arial"/>
                          <a:ea typeface="Arial"/>
                          <a:cs typeface="Arial"/>
                        </a:rPr>
                        <a:t>12</a:t>
                      </a:r>
                    </a:p>
                  </a:txBody>
                  <a:tcPr marL="95250" marR="95250" marT="57150" marB="57150" anchor="ctr">
                    <a:solidFill>
                      <a:srgbClr val="FFFFFF"/>
                    </a:solidFill>
                  </a:tcPr>
                </a:tc>
              </a:tr>
              <a:tr h="615950">
                <a:tc>
                  <a:txBody>
                    <a:bodyPr/>
                    <a:lstStyle/>
                    <a:p>
                      <a:r>
                        <a:rPr sz="2400" b="1">
                          <a:solidFill>
                            <a:srgbClr val="00857D"/>
                          </a:solidFill>
                          <a:latin typeface="Arial"/>
                          <a:ea typeface="Arial"/>
                          <a:cs typeface="Arial"/>
                        </a:rPr>
                        <a:t>3</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17</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5</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22</a:t>
                      </a:r>
                    </a:p>
                  </a:txBody>
                  <a:tcPr marL="95250" marR="95250" marT="57150" marB="57150" anchor="ctr">
                    <a:solidFill>
                      <a:srgbClr val="DDF3EC"/>
                    </a:solidFill>
                  </a:tcPr>
                </a:tc>
              </a:tr>
              <a:tr h="615950">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18</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18</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2491ECA-B025-45A6-996B-96FF5200E25C}"/>
              </a:ext>
            </a:extLst>
          </p:cNvPr>
          <p:cNvSpPr>
            <a:spLocks xmlns:a="http://schemas.openxmlformats.org/drawingml/2006/main" noGrp="1"/>
          </p:cNvSpPr>
          <p:nvPr/>
        </p:nvSpPr>
        <p:spPr>
          <a:xfrm xmlns:a="http://schemas.openxmlformats.org/drawingml/2006/main">
            <a:off x="685800" y="53721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566779"/>
                </a:solidFill>
                <a:latin typeface="Arial"/>
                <a:ea typeface="Arial"/>
                <a:cs typeface="Arial"/>
              </a:defRPr>
            </a:pPr>
            <a:r>
              <a:rPr sz="2400" b="0">
                <a:solidFill>
                  <a:srgbClr val="566779"/>
                </a:solidFill>
                <a:latin typeface="Arial"/>
                <a:ea typeface="Arial"/>
                <a:cs typeface="Arial"/>
              </a:rPr>
              <a:t>Чому не u = 4? 18 + 0 = 18 &lt; 17 + 5 = 22.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22</a:t>
            </a:r>
          </a:p>
        </p:txBody>
      </p:sp>
    </p:spTree>
    <p:extLst>
      <p:ext uri="{BB962C8B-B14F-4D97-AF65-F5344CB8AC3E}">
        <p14:creationId xmlns:p14="http://schemas.microsoft.com/office/powerpoint/2010/main" val="2315555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C6F432-4B30-46F5-849D-2B464E217204}"/>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Етап B: тепер заповнюємо весь рядок</a:t>
            </a:r>
          </a:p>
        </p:txBody>
      </p:sp>
      <p:sp>
        <p:nvSpPr>
          <p:cNvPr id="2" name="">
            <a:extLst xmlns:a="http://schemas.openxmlformats.org/drawingml/2006/main">
              <a:ext uri="{FF2B5EF4-FFF2-40B4-BE49-F238E27FC236}">
                <a16:creationId xmlns:a16="http://schemas.microsoft.com/office/drawing/2014/main" id="{2F0428FB-AD87-4A2F-A7C5-49522F761C5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Кожна клітинка обчислюється так само, як V₂(4).</a:t>
            </a:r>
          </a:p>
        </p:txBody>
      </p:sp>
      <p:graphicFrame>
        <p:nvGraphicFramePr>
          <p:cNvPr id="11" name=""/>
          <p:cNvGraphicFramePr/>
          <p:nvPr/>
        </p:nvGraphicFramePr>
        <p:xfrm>
          <a:off xmlns:a="http://schemas.openxmlformats.org/drawingml/2006/main" x="685800" y="1743075"/>
          <a:ext xmlns:a="http://schemas.openxmlformats.org/drawingml/2006/main" cx="10820400" cy="2781300"/>
        </p:xfrm>
        <a:graphic xmlns:a="http://schemas.openxmlformats.org/drawingml/2006/main">
          <a:graphicData uri="http://schemas.openxmlformats.org/drawingml/2006/table">
            <a:tbl>
              <a:tblPr/>
              <a:tblGrid>
                <a:gridCol w="2686050"/>
                <a:gridCol w="1162050"/>
                <a:gridCol w="1162050"/>
                <a:gridCol w="1162050"/>
                <a:gridCol w="1162050"/>
                <a:gridCol w="1162050"/>
                <a:gridCol w="1162050"/>
                <a:gridCol w="1162050"/>
              </a:tblGrid>
              <a:tr h="695325">
                <a:tc>
                  <a:txBody>
                    <a:bodyPr/>
                    <a:lstStyle/>
                    <a:p>
                      <a:r>
                        <a:rPr sz="2400" b="1">
                          <a:solidFill>
                            <a:srgbClr val="FFFFFF"/>
                          </a:solidFill>
                          <a:latin typeface="Arial"/>
                          <a:ea typeface="Arial"/>
                          <a:cs typeface="Arial"/>
                        </a:rPr>
                        <a:t>b</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0</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1</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2</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3</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4</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5</a:t>
                      </a:r>
                    </a:p>
                  </a:txBody>
                  <a:tcPr marL="95250" marR="95250" marT="57150" marB="57150" anchor="ctr">
                    <a:solidFill>
                      <a:srgbClr val="173047"/>
                    </a:solidFill>
                  </a:tcPr>
                </a:tc>
                <a:tc>
                  <a:txBody>
                    <a:bodyPr/>
                    <a:lstStyle/>
                    <a:p>
                      <a:r>
                        <a:rPr sz="2400" b="1">
                          <a:solidFill>
                            <a:srgbClr val="FFFFFF"/>
                          </a:solidFill>
                          <a:latin typeface="Arial"/>
                          <a:ea typeface="Arial"/>
                          <a:cs typeface="Arial"/>
                        </a:rPr>
                        <a:t>6</a:t>
                      </a:r>
                    </a:p>
                  </a:txBody>
                  <a:tcPr marL="95250" marR="95250" marT="57150" marB="57150" anchor="ctr">
                    <a:solidFill>
                      <a:srgbClr val="173047"/>
                    </a:solidFill>
                  </a:tcPr>
                </a:tc>
              </a:tr>
              <a:tr h="695325">
                <a:tc>
                  <a:txBody>
                    <a:bodyPr/>
                    <a:lstStyle/>
                    <a:p>
                      <a:r>
                        <a:rPr sz="2400">
                          <a:solidFill>
                            <a:srgbClr val="173047"/>
                          </a:solidFill>
                          <a:latin typeface="Arial"/>
                          <a:ea typeface="Arial"/>
                          <a:cs typeface="Arial"/>
                        </a:rPr>
                        <a:t>V₃(b)</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5</a:t>
                      </a:r>
                    </a:p>
                  </a:txBody>
                  <a:tcPr marL="95250" marR="95250" marT="57150" marB="57150" anchor="ctr">
                    <a:solidFill>
                      <a:srgbClr val="FFFFFF"/>
                    </a:solidFill>
                  </a:tcPr>
                </a:tc>
                <a:tc>
                  <a:txBody>
                    <a:bodyPr/>
                    <a:lstStyle/>
                    <a:p>
                      <a:r>
                        <a:rPr sz="2400">
                          <a:solidFill>
                            <a:srgbClr val="173047"/>
                          </a:solidFill>
                          <a:latin typeface="Arial"/>
                          <a:ea typeface="Arial"/>
                          <a:cs typeface="Arial"/>
                        </a:rPr>
                        <a:t>9</a:t>
                      </a:r>
                    </a:p>
                  </a:txBody>
                  <a:tcPr marL="95250" marR="95250" marT="57150" marB="57150" anchor="ctr">
                    <a:solidFill>
                      <a:srgbClr val="FFFFFF"/>
                    </a:solidFill>
                  </a:tcPr>
                </a:tc>
                <a:tc>
                  <a:txBody>
                    <a:bodyPr/>
                    <a:lstStyle/>
                    <a:p>
                      <a:r>
                        <a:rPr sz="2400">
                          <a:solidFill>
                            <a:srgbClr val="173047"/>
                          </a:solidFill>
                          <a:latin typeface="Arial"/>
                          <a:ea typeface="Arial"/>
                          <a:cs typeface="Arial"/>
                        </a:rPr>
                        <a:t>11</a:t>
                      </a:r>
                    </a:p>
                  </a:txBody>
                  <a:tcPr marL="95250" marR="95250" marT="57150" marB="57150" anchor="ctr">
                    <a:solidFill>
                      <a:srgbClr val="FFFFFF"/>
                    </a:solidFill>
                  </a:tcPr>
                </a:tc>
                <a:tc>
                  <a:txBody>
                    <a:bodyPr/>
                    <a:lstStyle/>
                    <a:p>
                      <a:r>
                        <a:rPr sz="2400">
                          <a:solidFill>
                            <a:srgbClr val="173047"/>
                          </a:solidFill>
                          <a:latin typeface="Arial"/>
                          <a:ea typeface="Arial"/>
                          <a:cs typeface="Arial"/>
                        </a:rPr>
                        <a:t>12</a:t>
                      </a:r>
                    </a:p>
                  </a:txBody>
                  <a:tcPr marL="95250" marR="95250" marT="57150" marB="57150" anchor="ctr">
                    <a:solidFill>
                      <a:srgbClr val="FFFFFF"/>
                    </a:solidFill>
                  </a:tcPr>
                </a:tc>
                <a:tc>
                  <a:txBody>
                    <a:bodyPr/>
                    <a:lstStyle/>
                    <a:p>
                      <a:r>
                        <a:rPr sz="2400">
                          <a:solidFill>
                            <a:srgbClr val="173047"/>
                          </a:solidFill>
                          <a:latin typeface="Arial"/>
                          <a:ea typeface="Arial"/>
                          <a:cs typeface="Arial"/>
                        </a:rPr>
                        <a:t>13</a:t>
                      </a:r>
                    </a:p>
                  </a:txBody>
                  <a:tcPr marL="95250" marR="95250" marT="57150" marB="57150" anchor="ctr">
                    <a:solidFill>
                      <a:srgbClr val="FFFFFF"/>
                    </a:solidFill>
                  </a:tcPr>
                </a:tc>
                <a:tc>
                  <a:txBody>
                    <a:bodyPr/>
                    <a:lstStyle/>
                    <a:p>
                      <a:r>
                        <a:rPr sz="2400">
                          <a:solidFill>
                            <a:srgbClr val="173047"/>
                          </a:solidFill>
                          <a:latin typeface="Arial"/>
                          <a:ea typeface="Arial"/>
                          <a:cs typeface="Arial"/>
                        </a:rPr>
                        <a:t>14</a:t>
                      </a:r>
                    </a:p>
                  </a:txBody>
                  <a:tcPr marL="95250" marR="95250" marT="57150" marB="57150" anchor="ctr">
                    <a:solidFill>
                      <a:srgbClr val="FFFFFF"/>
                    </a:solidFill>
                  </a:tcPr>
                </a:tc>
              </a:tr>
              <a:tr h="695325">
                <a:tc>
                  <a:txBody>
                    <a:bodyPr/>
                    <a:lstStyle/>
                    <a:p>
                      <a:r>
                        <a:rPr sz="2400" b="1">
                          <a:solidFill>
                            <a:srgbClr val="00857D"/>
                          </a:solidFill>
                          <a:latin typeface="Arial"/>
                          <a:ea typeface="Arial"/>
                          <a:cs typeface="Arial"/>
                        </a:rPr>
                        <a:t>V₂(b)</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0</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5</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9</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17</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22</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26</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28</a:t>
                      </a:r>
                    </a:p>
                  </a:txBody>
                  <a:tcPr marL="95250" marR="95250" marT="57150" marB="57150" anchor="ctr">
                    <a:solidFill>
                      <a:srgbClr val="DDF3EC"/>
                    </a:solidFill>
                  </a:tcPr>
                </a:tc>
              </a:tr>
              <a:tr h="695325">
                <a:tc>
                  <a:txBody>
                    <a:bodyPr/>
                    <a:lstStyle/>
                    <a:p>
                      <a:r>
                        <a:rPr sz="2400">
                          <a:solidFill>
                            <a:srgbClr val="173047"/>
                          </a:solidFill>
                          <a:latin typeface="Arial"/>
                          <a:ea typeface="Arial"/>
                          <a:cs typeface="Arial"/>
                        </a:rPr>
                        <a:t>u для B</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0</a:t>
                      </a:r>
                    </a:p>
                  </a:txBody>
                  <a:tcPr marL="95250" marR="95250" marT="57150" marB="57150" anchor="ctr">
                    <a:solidFill>
                      <a:srgbClr val="FFFFFF"/>
                    </a:solidFill>
                  </a:tcPr>
                </a:tc>
                <a:tc>
                  <a:txBody>
                    <a:bodyPr/>
                    <a:lstStyle/>
                    <a:p>
                      <a:r>
                        <a:rPr sz="2400">
                          <a:solidFill>
                            <a:srgbClr val="173047"/>
                          </a:solidFill>
                          <a:latin typeface="Arial"/>
                          <a:ea typeface="Arial"/>
                          <a:cs typeface="Arial"/>
                        </a:rPr>
                        <a:t>3</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3</a:t>
                      </a:r>
                    </a:p>
                  </a:txBody>
                  <a:tcPr marL="95250" marR="95250" marT="57150" marB="57150" anchor="ctr">
                    <a:solidFill>
                      <a:srgbClr val="DDF3EC"/>
                    </a:solidFill>
                  </a:tcPr>
                </a:tc>
                <a:tc>
                  <a:txBody>
                    <a:bodyPr/>
                    <a:lstStyle/>
                    <a:p>
                      <a:r>
                        <a:rPr sz="2400">
                          <a:solidFill>
                            <a:srgbClr val="173047"/>
                          </a:solidFill>
                          <a:latin typeface="Arial"/>
                          <a:ea typeface="Arial"/>
                          <a:cs typeface="Arial"/>
                        </a:rPr>
                        <a:t>3</a:t>
                      </a:r>
                    </a:p>
                  </a:txBody>
                  <a:tcPr marL="95250" marR="95250" marT="57150" marB="57150" anchor="ctr">
                    <a:solidFill>
                      <a:srgbClr val="FFFFFF"/>
                    </a:solidFill>
                  </a:tcPr>
                </a:tc>
                <a:tc>
                  <a:txBody>
                    <a:bodyPr/>
                    <a:lstStyle/>
                    <a:p>
                      <a:r>
                        <a:rPr sz="2400">
                          <a:solidFill>
                            <a:srgbClr val="173047"/>
                          </a:solidFill>
                          <a:latin typeface="Arial"/>
                          <a:ea typeface="Arial"/>
                          <a:cs typeface="Arial"/>
                        </a:rPr>
                        <a:t>3</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BA127E9-499B-4C97-B873-1FC99FE82C1F}"/>
              </a:ext>
            </a:extLst>
          </p:cNvPr>
          <p:cNvSpPr>
            <a:spLocks xmlns:a="http://schemas.openxmlformats.org/drawingml/2006/main" noGrp="1"/>
          </p:cNvSpPr>
          <p:nvPr/>
        </p:nvSpPr>
        <p:spPr>
          <a:xfrm xmlns:a="http://schemas.openxmlformats.org/drawingml/2006/main">
            <a:off x="685800" y="48768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V₂(6) = 17 + 11 = 28</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Для B і C окремо: розподіл (3, 3).</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23</a:t>
            </a:r>
          </a:p>
        </p:txBody>
      </p:sp>
    </p:spTree>
    <p:extLst>
      <p:ext uri="{BB962C8B-B14F-4D97-AF65-F5344CB8AC3E}">
        <p14:creationId xmlns:p14="http://schemas.microsoft.com/office/powerpoint/2010/main" val="140636456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C1D942-CC08-4467-9269-216B50812C75}"/>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Етап A: всі варіанти для початкового стану</a:t>
            </a:r>
          </a:p>
        </p:txBody>
      </p:sp>
      <p:sp>
        <p:nvSpPr>
          <p:cNvPr id="2" name="">
            <a:extLst xmlns:a="http://schemas.openxmlformats.org/drawingml/2006/main">
              <a:ext uri="{FF2B5EF4-FFF2-40B4-BE49-F238E27FC236}">
                <a16:creationId xmlns:a16="http://schemas.microsoft.com/office/drawing/2014/main" id="{8AD1CC17-4C9A-4186-B7F5-E5DF84638AFF}"/>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V₁(6) = 33; перше рішення — віддати A два GPU.</a:t>
            </a:r>
          </a:p>
        </p:txBody>
      </p:sp>
      <p:graphicFrame>
        <p:nvGraphicFramePr>
          <p:cNvPr id="10" name=""/>
          <p:cNvGraphicFramePr/>
          <p:nvPr/>
        </p:nvGraphicFramePr>
        <p:xfrm>
          <a:off xmlns:a="http://schemas.openxmlformats.org/drawingml/2006/main" x="685800" y="1466850"/>
          <a:ext xmlns:a="http://schemas.openxmlformats.org/drawingml/2006/main" cx="10820400" cy="4229100"/>
        </p:xfrm>
        <a:graphic xmlns:a="http://schemas.openxmlformats.org/drawingml/2006/main">
          <a:graphicData uri="http://schemas.openxmlformats.org/drawingml/2006/table">
            <a:tbl>
              <a:tblPr/>
              <a:tblGrid>
                <a:gridCol w="2324100"/>
                <a:gridCol w="2476500"/>
                <a:gridCol w="3238500"/>
                <a:gridCol w="2781300"/>
              </a:tblGrid>
              <a:tr h="528638">
                <a:tc>
                  <a:txBody>
                    <a:bodyPr/>
                    <a:lstStyle/>
                    <a:p>
                      <a:r>
                        <a:rPr sz="2325" b="1">
                          <a:solidFill>
                            <a:srgbClr val="FFFFFF"/>
                          </a:solidFill>
                          <a:latin typeface="Arial"/>
                          <a:ea typeface="Arial"/>
                          <a:cs typeface="Arial"/>
                        </a:rPr>
                        <a:t>u для A</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g_A(u)</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V₂(6 − u)</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Разом</a:t>
                      </a:r>
                    </a:p>
                  </a:txBody>
                  <a:tcPr marL="95250" marR="95250" marT="57150" marB="57150" anchor="ctr">
                    <a:solidFill>
                      <a:srgbClr val="173047"/>
                    </a:solidFill>
                  </a:tcPr>
                </a:tc>
              </a:tr>
              <a:tr h="528638">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28</a:t>
                      </a:r>
                    </a:p>
                  </a:txBody>
                  <a:tcPr marL="95250" marR="95250" marT="57150" marB="57150" anchor="ctr">
                    <a:solidFill>
                      <a:srgbClr val="FFFFFF"/>
                    </a:solidFill>
                  </a:tcPr>
                </a:tc>
                <a:tc>
                  <a:txBody>
                    <a:bodyPr/>
                    <a:lstStyle/>
                    <a:p>
                      <a:r>
                        <a:rPr sz="2325">
                          <a:solidFill>
                            <a:srgbClr val="173047"/>
                          </a:solidFill>
                          <a:latin typeface="Arial"/>
                          <a:ea typeface="Arial"/>
                          <a:cs typeface="Arial"/>
                        </a:rPr>
                        <a:t>28</a:t>
                      </a:r>
                    </a:p>
                  </a:txBody>
                  <a:tcPr marL="95250" marR="95250" marT="57150" marB="57150" anchor="ctr">
                    <a:solidFill>
                      <a:srgbClr val="FFFFFF"/>
                    </a:solidFill>
                  </a:tcPr>
                </a:tc>
              </a:tr>
              <a:tr h="528638">
                <a:tc>
                  <a:txBody>
                    <a:bodyPr/>
                    <a:lstStyle/>
                    <a:p>
                      <a:r>
                        <a:rPr sz="2325">
                          <a:solidFill>
                            <a:srgbClr val="173047"/>
                          </a:solidFill>
                          <a:latin typeface="Arial"/>
                          <a:ea typeface="Arial"/>
                          <a:cs typeface="Arial"/>
                        </a:rPr>
                        <a:t>1</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26</a:t>
                      </a:r>
                    </a:p>
                  </a:txBody>
                  <a:tcPr marL="95250" marR="95250" marT="57150" marB="57150" anchor="ctr">
                    <a:solidFill>
                      <a:srgbClr val="FFFFFF"/>
                    </a:solidFill>
                  </a:tcPr>
                </a:tc>
                <a:tc>
                  <a:txBody>
                    <a:bodyPr/>
                    <a:lstStyle/>
                    <a:p>
                      <a:r>
                        <a:rPr sz="2325">
                          <a:solidFill>
                            <a:srgbClr val="173047"/>
                          </a:solidFill>
                          <a:latin typeface="Arial"/>
                          <a:ea typeface="Arial"/>
                          <a:cs typeface="Arial"/>
                        </a:rPr>
                        <a:t>32</a:t>
                      </a:r>
                    </a:p>
                  </a:txBody>
                  <a:tcPr marL="95250" marR="95250" marT="57150" marB="57150" anchor="ctr">
                    <a:solidFill>
                      <a:srgbClr val="FFFFFF"/>
                    </a:solidFill>
                  </a:tcPr>
                </a:tc>
              </a:tr>
              <a:tr h="528638">
                <a:tc>
                  <a:txBody>
                    <a:bodyPr/>
                    <a:lstStyle/>
                    <a:p>
                      <a:r>
                        <a:rPr sz="2400" b="1">
                          <a:solidFill>
                            <a:srgbClr val="00857D"/>
                          </a:solidFill>
                          <a:latin typeface="Arial"/>
                          <a:ea typeface="Arial"/>
                          <a:cs typeface="Arial"/>
                        </a:rPr>
                        <a:t>2</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11</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22</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33</a:t>
                      </a:r>
                    </a:p>
                  </a:txBody>
                  <a:tcPr marL="95250" marR="95250" marT="57150" marB="57150" anchor="ctr">
                    <a:solidFill>
                      <a:srgbClr val="DDF3EC"/>
                    </a:solidFill>
                  </a:tcPr>
                </a:tc>
              </a:tr>
              <a:tr h="528638">
                <a:tc>
                  <a:txBody>
                    <a:bodyPr/>
                    <a:lstStyle/>
                    <a:p>
                      <a:r>
                        <a:rPr sz="2325">
                          <a:solidFill>
                            <a:srgbClr val="173047"/>
                          </a:solidFill>
                          <a:latin typeface="Arial"/>
                          <a:ea typeface="Arial"/>
                          <a:cs typeface="Arial"/>
                        </a:rPr>
                        <a:t>3</a:t>
                      </a:r>
                    </a:p>
                  </a:txBody>
                  <a:tcPr marL="95250" marR="95250" marT="57150" marB="57150" anchor="ctr">
                    <a:solidFill>
                      <a:srgbClr val="FFFFFF"/>
                    </a:solidFill>
                  </a:tcPr>
                </a:tc>
                <a:tc>
                  <a:txBody>
                    <a:bodyPr/>
                    <a:lstStyle/>
                    <a:p>
                      <a:r>
                        <a:rPr sz="2325">
                          <a:solidFill>
                            <a:srgbClr val="173047"/>
                          </a:solidFill>
                          <a:latin typeface="Arial"/>
                          <a:ea typeface="Arial"/>
                          <a:cs typeface="Arial"/>
                        </a:rPr>
                        <a:t>13</a:t>
                      </a:r>
                    </a:p>
                  </a:txBody>
                  <a:tcPr marL="95250" marR="95250" marT="57150" marB="57150" anchor="ctr">
                    <a:solidFill>
                      <a:srgbClr val="FFFFFF"/>
                    </a:solidFill>
                  </a:tcPr>
                </a:tc>
                <a:tc>
                  <a:txBody>
                    <a:bodyPr/>
                    <a:lstStyle/>
                    <a:p>
                      <a:r>
                        <a:rPr sz="2325">
                          <a:solidFill>
                            <a:srgbClr val="173047"/>
                          </a:solidFill>
                          <a:latin typeface="Arial"/>
                          <a:ea typeface="Arial"/>
                          <a:cs typeface="Arial"/>
                        </a:rPr>
                        <a:t>17</a:t>
                      </a:r>
                    </a:p>
                  </a:txBody>
                  <a:tcPr marL="95250" marR="95250" marT="57150" marB="57150" anchor="ctr">
                    <a:solidFill>
                      <a:srgbClr val="FFFFFF"/>
                    </a:solidFill>
                  </a:tcPr>
                </a:tc>
                <a:tc>
                  <a:txBody>
                    <a:bodyPr/>
                    <a:lstStyle/>
                    <a:p>
                      <a:r>
                        <a:rPr sz="2325">
                          <a:solidFill>
                            <a:srgbClr val="173047"/>
                          </a:solidFill>
                          <a:latin typeface="Arial"/>
                          <a:ea typeface="Arial"/>
                          <a:cs typeface="Arial"/>
                        </a:rPr>
                        <a:t>30</a:t>
                      </a:r>
                    </a:p>
                  </a:txBody>
                  <a:tcPr marL="95250" marR="95250" marT="57150" marB="57150" anchor="ctr">
                    <a:solidFill>
                      <a:srgbClr val="FFFFFF"/>
                    </a:solidFill>
                  </a:tcPr>
                </a:tc>
              </a:tr>
              <a:tr h="528638">
                <a:tc>
                  <a:txBody>
                    <a:bodyPr/>
                    <a:lstStyle/>
                    <a:p>
                      <a:r>
                        <a:rPr sz="2325">
                          <a:solidFill>
                            <a:srgbClr val="173047"/>
                          </a:solidFill>
                          <a:latin typeface="Arial"/>
                          <a:ea typeface="Arial"/>
                          <a:cs typeface="Arial"/>
                        </a:rPr>
                        <a:t>4</a:t>
                      </a:r>
                    </a:p>
                  </a:txBody>
                  <a:tcPr marL="95250" marR="95250" marT="57150" marB="57150" anchor="ctr">
                    <a:solidFill>
                      <a:srgbClr val="FFFFFF"/>
                    </a:solidFill>
                  </a:tcPr>
                </a:tc>
                <a:tc>
                  <a:txBody>
                    <a:bodyPr/>
                    <a:lstStyle/>
                    <a:p>
                      <a:r>
                        <a:rPr sz="2325">
                          <a:solidFill>
                            <a:srgbClr val="173047"/>
                          </a:solidFill>
                          <a:latin typeface="Arial"/>
                          <a:ea typeface="Arial"/>
                          <a:cs typeface="Arial"/>
                        </a:rPr>
                        <a:t>14</a:t>
                      </a:r>
                    </a:p>
                  </a:txBody>
                  <a:tcPr marL="95250" marR="95250" marT="57150" marB="57150" anchor="ctr">
                    <a:solidFill>
                      <a:srgbClr val="FFFFFF"/>
                    </a:solidFill>
                  </a:tcPr>
                </a:tc>
                <a:tc>
                  <a:txBody>
                    <a:bodyPr/>
                    <a:lstStyle/>
                    <a:p>
                      <a:r>
                        <a:rPr sz="2325">
                          <a:solidFill>
                            <a:srgbClr val="173047"/>
                          </a:solidFill>
                          <a:latin typeface="Arial"/>
                          <a:ea typeface="Arial"/>
                          <a:cs typeface="Arial"/>
                        </a:rPr>
                        <a:t>9</a:t>
                      </a:r>
                    </a:p>
                  </a:txBody>
                  <a:tcPr marL="95250" marR="95250" marT="57150" marB="57150" anchor="ctr">
                    <a:solidFill>
                      <a:srgbClr val="FFFFFF"/>
                    </a:solidFill>
                  </a:tcPr>
                </a:tc>
                <a:tc>
                  <a:txBody>
                    <a:bodyPr/>
                    <a:lstStyle/>
                    <a:p>
                      <a:r>
                        <a:rPr sz="2325">
                          <a:solidFill>
                            <a:srgbClr val="173047"/>
                          </a:solidFill>
                          <a:latin typeface="Arial"/>
                          <a:ea typeface="Arial"/>
                          <a:cs typeface="Arial"/>
                        </a:rPr>
                        <a:t>23</a:t>
                      </a:r>
                    </a:p>
                  </a:txBody>
                  <a:tcPr marL="95250" marR="95250" marT="57150" marB="57150" anchor="ctr">
                    <a:solidFill>
                      <a:srgbClr val="FFFFFF"/>
                    </a:solidFill>
                  </a:tcPr>
                </a:tc>
              </a:tr>
              <a:tr h="528638">
                <a:tc>
                  <a:txBody>
                    <a:bodyPr/>
                    <a:lstStyle/>
                    <a:p>
                      <a:r>
                        <a:rPr sz="2325">
                          <a:solidFill>
                            <a:srgbClr val="173047"/>
                          </a:solidFill>
                          <a:latin typeface="Arial"/>
                          <a:ea typeface="Arial"/>
                          <a:cs typeface="Arial"/>
                        </a:rPr>
                        <a:t>5</a:t>
                      </a:r>
                    </a:p>
                  </a:txBody>
                  <a:tcPr marL="95250" marR="95250" marT="57150" marB="57150" anchor="ctr">
                    <a:solidFill>
                      <a:srgbClr val="FFFFFF"/>
                    </a:solidFill>
                  </a:tcPr>
                </a:tc>
                <a:tc>
                  <a:txBody>
                    <a:bodyPr/>
                    <a:lstStyle/>
                    <a:p>
                      <a:r>
                        <a:rPr sz="2325">
                          <a:solidFill>
                            <a:srgbClr val="173047"/>
                          </a:solidFill>
                          <a:latin typeface="Arial"/>
                          <a:ea typeface="Arial"/>
                          <a:cs typeface="Arial"/>
                        </a:rPr>
                        <a:t>15</a:t>
                      </a:r>
                    </a:p>
                  </a:txBody>
                  <a:tcPr marL="95250" marR="95250" marT="57150" marB="57150" anchor="ctr">
                    <a:solidFill>
                      <a:srgbClr val="FFFFFF"/>
                    </a:solidFill>
                  </a:tcPr>
                </a:tc>
                <a:tc>
                  <a:txBody>
                    <a:bodyPr/>
                    <a:lstStyle/>
                    <a:p>
                      <a:r>
                        <a:rPr sz="2325">
                          <a:solidFill>
                            <a:srgbClr val="173047"/>
                          </a:solidFill>
                          <a:latin typeface="Arial"/>
                          <a:ea typeface="Arial"/>
                          <a:cs typeface="Arial"/>
                        </a:rPr>
                        <a:t>5</a:t>
                      </a:r>
                    </a:p>
                  </a:txBody>
                  <a:tcPr marL="95250" marR="95250" marT="57150" marB="57150" anchor="ctr">
                    <a:solidFill>
                      <a:srgbClr val="FFFFFF"/>
                    </a:solidFill>
                  </a:tcPr>
                </a:tc>
                <a:tc>
                  <a:txBody>
                    <a:bodyPr/>
                    <a:lstStyle/>
                    <a:p>
                      <a:r>
                        <a:rPr sz="2325">
                          <a:solidFill>
                            <a:srgbClr val="173047"/>
                          </a:solidFill>
                          <a:latin typeface="Arial"/>
                          <a:ea typeface="Arial"/>
                          <a:cs typeface="Arial"/>
                        </a:rPr>
                        <a:t>20</a:t>
                      </a:r>
                    </a:p>
                  </a:txBody>
                  <a:tcPr marL="95250" marR="95250" marT="57150" marB="57150" anchor="ctr">
                    <a:solidFill>
                      <a:srgbClr val="FFFFFF"/>
                    </a:solidFill>
                  </a:tcPr>
                </a:tc>
              </a:tr>
              <a:tr h="528638">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24</a:t>
            </a:r>
          </a:p>
        </p:txBody>
      </p:sp>
    </p:spTree>
    <p:extLst>
      <p:ext uri="{BB962C8B-B14F-4D97-AF65-F5344CB8AC3E}">
        <p14:creationId xmlns:p14="http://schemas.microsoft.com/office/powerpoint/2010/main" val="733198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7AA5E8-D4A1-4BC7-ADA5-CCEF40C03734}"/>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Умовна оптимізація: результат V і дія P</a:t>
            </a:r>
          </a:p>
        </p:txBody>
      </p:sp>
      <p:sp>
        <p:nvSpPr>
          <p:cNvPr id="2" name="">
            <a:extLst xmlns:a="http://schemas.openxmlformats.org/drawingml/2006/main">
              <a:ext uri="{FF2B5EF4-FFF2-40B4-BE49-F238E27FC236}">
                <a16:creationId xmlns:a16="http://schemas.microsoft.com/office/drawing/2014/main" id="{4E7E7011-E01A-47EC-8A99-E16D4A43C260}"/>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фактичного плану читаємо P₁(6)=2, потім P₂(4)=3 і P₃(1)=1.</a:t>
            </a:r>
          </a:p>
        </p:txBody>
      </p:sp>
      <p:sp>
        <p:nvSpPr>
          <p:cNvPr id="3" name="">
            <a:extLst xmlns:a="http://schemas.openxmlformats.org/drawingml/2006/main">
              <a:ext uri="{FF2B5EF4-FFF2-40B4-BE49-F238E27FC236}">
                <a16:creationId xmlns:a16="http://schemas.microsoft.com/office/drawing/2014/main" id="{2D30A2CA-077F-4BCD-AFB7-B9164C5BA53C}"/>
              </a:ext>
            </a:extLst>
          </p:cNvPr>
          <p:cNvSpPr>
            <a:spLocks xmlns:a="http://schemas.openxmlformats.org/drawingml/2006/main" noGrp="1"/>
          </p:cNvSpPr>
          <p:nvPr/>
        </p:nvSpPr>
        <p:spPr>
          <a:xfrm xmlns:a="http://schemas.openxmlformats.org/drawingml/2006/main">
            <a:off x="685800" y="14763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08B85"/>
                </a:solidFill>
                <a:latin typeface="Arial"/>
                <a:ea typeface="Arial"/>
                <a:cs typeface="Arial"/>
              </a:defRPr>
            </a:defPPr>
          </a:lstStyle>
          <a:p xmlns:a="http://schemas.openxmlformats.org/drawingml/2006/main">
            <a:pPr>
              <a:defRPr sz="2100" b="1">
                <a:solidFill>
                  <a:srgbClr val="008B85"/>
                </a:solidFill>
                <a:latin typeface="Arial"/>
                <a:ea typeface="Arial"/>
                <a:cs typeface="Arial"/>
              </a:defRPr>
            </a:pPr>
            <a:r>
              <a:rPr sz="2100" b="1">
                <a:solidFill>
                  <a:srgbClr val="008B85"/>
                </a:solidFill>
                <a:latin typeface="Arial"/>
                <a:ea typeface="Arial"/>
                <a:cs typeface="Arial"/>
              </a:rPr>
              <a:t>V: скільки користі отримаємо</a:t>
            </a:r>
          </a:p>
        </p:txBody>
      </p:sp>
      <p:sp>
        <p:nvSpPr>
          <p:cNvPr id="4" name="">
            <a:extLst xmlns:a="http://schemas.openxmlformats.org/drawingml/2006/main">
              <a:ext uri="{FF2B5EF4-FFF2-40B4-BE49-F238E27FC236}">
                <a16:creationId xmlns:a16="http://schemas.microsoft.com/office/drawing/2014/main" id="{06423287-4C48-46AC-A4A6-7C68A8A3110D}"/>
              </a:ext>
            </a:extLst>
          </p:cNvPr>
          <p:cNvSpPr>
            <a:spLocks xmlns:a="http://schemas.openxmlformats.org/drawingml/2006/main" noGrp="1"/>
          </p:cNvSpPr>
          <p:nvPr/>
        </p:nvSpPr>
        <p:spPr>
          <a:xfrm xmlns:a="http://schemas.openxmlformats.org/drawingml/2006/main">
            <a:off x="6429375" y="1476375"/>
            <a:ext cx="514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B86B19"/>
                </a:solidFill>
                <a:latin typeface="Arial"/>
                <a:ea typeface="Arial"/>
                <a:cs typeface="Arial"/>
              </a:defRPr>
            </a:defPPr>
          </a:lstStyle>
          <a:p xmlns:a="http://schemas.openxmlformats.org/drawingml/2006/main">
            <a:pPr>
              <a:defRPr sz="2100" b="1">
                <a:solidFill>
                  <a:srgbClr val="B86B19"/>
                </a:solidFill>
                <a:latin typeface="Arial"/>
                <a:ea typeface="Arial"/>
                <a:cs typeface="Arial"/>
              </a:defRPr>
            </a:pPr>
            <a:r>
              <a:rPr sz="2100" b="1">
                <a:solidFill>
                  <a:srgbClr val="B86B19"/>
                </a:solidFill>
                <a:latin typeface="Arial"/>
                <a:ea typeface="Arial"/>
                <a:cs typeface="Arial"/>
              </a:rPr>
              <a:t>P: скільки GPU віддамо зараз</a:t>
            </a:r>
          </a:p>
        </p:txBody>
      </p:sp>
      <p:graphicFrame>
        <p:nvGraphicFramePr>
          <p:cNvPr id="5" name="">
            <a:extLst xmlns:a="http://schemas.openxmlformats.org/drawingml/2006/main">
              <a:ext uri="{FF2B5EF4-FFF2-40B4-BE49-F238E27FC236}">
                <a16:creationId xmlns:a16="http://schemas.microsoft.com/office/drawing/2014/main" id="{52BDA2CB-0CE7-4387-845C-B61BCB5BFAA3}"/>
              </a:ext>
            </a:extLst>
          </p:cNvPr>
          <p:cNvGraphicFramePr/>
          <p:nvPr/>
        </p:nvGraphicFramePr>
        <p:xfrm>
          <a:off xmlns:a="http://schemas.openxmlformats.org/drawingml/2006/main" x="685800" y="2000250"/>
          <a:ext xmlns:a="http://schemas.openxmlformats.org/drawingml/2006/main" cx="5095875" cy="3333750"/>
        </p:xfrm>
        <a:graphic xmlns:a="http://schemas.openxmlformats.org/drawingml/2006/main">
          <a:graphicData uri="http://schemas.openxmlformats.org/drawingml/2006/table">
            <a:tbl>
              <a:tblPr/>
              <a:tblGrid>
                <a:gridCol w="1273969"/>
                <a:gridCol w="1273969"/>
                <a:gridCol w="1273969"/>
                <a:gridCol w="1273969"/>
              </a:tblGrid>
              <a:tr h="416719">
                <a:tc>
                  <a:txBody>
                    <a:bodyPr/>
                    <a:lstStyle/>
                    <a:p>
                      <a:r>
                        <a:rPr sz="1875" b="1">
                          <a:solidFill>
                            <a:srgbClr val="FFFFFF"/>
                          </a:solidFill>
                          <a:latin typeface="Arial"/>
                          <a:ea typeface="Arial"/>
                          <a:cs typeface="Arial"/>
                        </a:rPr>
                        <a:t>b</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C: V₃</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B: V₂</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A: V₁</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16719">
                <a:tc>
                  <a:txBody>
                    <a:bodyPr/>
                    <a:lstStyle/>
                    <a:p>
                      <a:r>
                        <a:rPr sz="1875" b="0">
                          <a:solidFill>
                            <a:srgbClr val="193247"/>
                          </a:solidFill>
                          <a:latin typeface="Arial"/>
                          <a:ea typeface="Arial"/>
                          <a:cs typeface="Arial"/>
                        </a:rPr>
                        <a:t>0</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DEF3EC"/>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11</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17</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17</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4</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22</a:t>
                      </a:r>
                    </a:p>
                  </a:txBody>
                  <a:tcPr marL="91440" marR="91440" marT="45720" marB="45720">
                    <a:lnR w="9525">
                      <a:solidFill>
                        <a:srgbClr val="A8B7C0"/>
                      </a:solidFill>
                      <a:prstDash val="solid"/>
                    </a:lnR>
                    <a:lnB w="9525">
                      <a:solidFill>
                        <a:srgbClr val="A8B7C0"/>
                      </a:solidFill>
                      <a:prstDash val="solid"/>
                    </a:lnB>
                    <a:solidFill>
                      <a:srgbClr val="DEF3EC"/>
                    </a:solidFill>
                  </a:tcPr>
                </a:tc>
                <a:tc>
                  <a:txBody>
                    <a:bodyPr/>
                    <a:lstStyle/>
                    <a:p>
                      <a:r>
                        <a:rPr sz="1875" b="0">
                          <a:solidFill>
                            <a:srgbClr val="193247"/>
                          </a:solidFill>
                          <a:latin typeface="Arial"/>
                          <a:ea typeface="Arial"/>
                          <a:cs typeface="Arial"/>
                        </a:rPr>
                        <a:t>23</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5</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28</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28</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33</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F7927EDC-D3C7-4930-A27F-69F0C66509D8}"/>
              </a:ext>
            </a:extLst>
          </p:cNvPr>
          <p:cNvGraphicFramePr/>
          <p:nvPr/>
        </p:nvGraphicFramePr>
        <p:xfrm>
          <a:off xmlns:a="http://schemas.openxmlformats.org/drawingml/2006/main" x="6429375" y="2000250"/>
          <a:ext xmlns:a="http://schemas.openxmlformats.org/drawingml/2006/main" cx="5095875" cy="3333750"/>
        </p:xfrm>
        <a:graphic xmlns:a="http://schemas.openxmlformats.org/drawingml/2006/main">
          <a:graphicData uri="http://schemas.openxmlformats.org/drawingml/2006/table">
            <a:tbl>
              <a:tblPr/>
              <a:tblGrid>
                <a:gridCol w="1273969"/>
                <a:gridCol w="1273969"/>
                <a:gridCol w="1273969"/>
                <a:gridCol w="1273969"/>
              </a:tblGrid>
              <a:tr h="416719">
                <a:tc>
                  <a:txBody>
                    <a:bodyPr/>
                    <a:lstStyle/>
                    <a:p>
                      <a:r>
                        <a:rPr sz="1875" b="1">
                          <a:solidFill>
                            <a:srgbClr val="FFFFFF"/>
                          </a:solidFill>
                          <a:latin typeface="Arial"/>
                          <a:ea typeface="Arial"/>
                          <a:cs typeface="Arial"/>
                        </a:rPr>
                        <a:t>b</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C: P₃</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B: P₂</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A: P₁</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16719">
                <a:tc>
                  <a:txBody>
                    <a:bodyPr/>
                    <a:lstStyle/>
                    <a:p>
                      <a:r>
                        <a:rPr sz="1875" b="0">
                          <a:solidFill>
                            <a:srgbClr val="193247"/>
                          </a:solidFill>
                          <a:latin typeface="Arial"/>
                          <a:ea typeface="Arial"/>
                          <a:cs typeface="Arial"/>
                        </a:rPr>
                        <a:t>0</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DEF3EC"/>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4</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DEF3EC"/>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5</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416719">
                <a:tc>
                  <a:txBody>
                    <a:bodyPr/>
                    <a:lstStyle/>
                    <a:p>
                      <a:r>
                        <a:rPr sz="1875" b="0">
                          <a:solidFill>
                            <a:srgbClr val="193247"/>
                          </a:solidFill>
                          <a:latin typeface="Arial"/>
                          <a:ea typeface="Arial"/>
                          <a:cs typeface="Arial"/>
                        </a:rPr>
                        <a:t>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7" name="">
            <a:extLst xmlns:a="http://schemas.openxmlformats.org/drawingml/2006/main">
              <a:ext uri="{FF2B5EF4-FFF2-40B4-BE49-F238E27FC236}">
                <a16:creationId xmlns:a16="http://schemas.microsoft.com/office/drawing/2014/main" id="{8AAA1650-0069-4B36-848B-49E6E856D027}"/>
              </a:ext>
            </a:extLst>
          </p:cNvPr>
          <p:cNvSpPr>
            <a:spLocks xmlns:a="http://schemas.openxmlformats.org/drawingml/2006/main" noGrp="1"/>
          </p:cNvSpPr>
          <p:nvPr/>
        </p:nvSpPr>
        <p:spPr>
          <a:xfrm xmlns:a="http://schemas.openxmlformats.org/drawingml/2006/main">
            <a:off x="685800" y="56197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56B80"/>
                </a:solidFill>
                <a:latin typeface="Arial"/>
                <a:ea typeface="Arial"/>
                <a:cs typeface="Arial"/>
              </a:defRPr>
            </a:defPPr>
          </a:lstStyle>
          <a:p xmlns:a="http://schemas.openxmlformats.org/drawingml/2006/main">
            <a:pPr>
              <a:defRPr sz="2100" b="0">
                <a:solidFill>
                  <a:srgbClr val="556B80"/>
                </a:solidFill>
                <a:latin typeface="Arial"/>
                <a:ea typeface="Arial"/>
                <a:cs typeface="Arial"/>
              </a:defRPr>
            </a:pPr>
            <a:r>
              <a:rPr sz="2100" b="0">
                <a:solidFill>
                  <a:srgbClr val="556B80"/>
                </a:solidFill>
                <a:latin typeface="Arial"/>
                <a:ea typeface="Arial"/>
                <a:cs typeface="Arial"/>
              </a:rPr>
              <a:t>Стовпці обчислюємо C, B, A. Рекомендації читаємо A, B, C.</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25</a:t>
            </a:r>
          </a:p>
        </p:txBody>
      </p:sp>
    </p:spTree>
    <p:extLst>
      <p:ext uri="{BB962C8B-B14F-4D97-AF65-F5344CB8AC3E}">
        <p14:creationId xmlns:p14="http://schemas.microsoft.com/office/powerpoint/2010/main" val="5340202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p:cNvCxnSpPr>
            <a:stCxn xmlns:a="http://schemas.openxmlformats.org/drawingml/2006/main" id="7" idx="3"/>
            <a:endCxn xmlns:a="http://schemas.openxmlformats.org/drawingml/2006/main" id="9" idx="1"/>
          </p:cNvCxnSpPr>
          <p:nvPr/>
        </p:nvCxnSpPr>
        <p:spPr>
          <a:xfrm xmlns:a="http://schemas.openxmlformats.org/drawingml/2006/main">
            <a:off x="7620000" y="5124450"/>
            <a:ext cx="83820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18" name=""/>
          <p:cNvCxnSpPr>
            <a:stCxn xmlns:a="http://schemas.openxmlformats.org/drawingml/2006/main" id="5" idx="3"/>
            <a:endCxn xmlns:a="http://schemas.openxmlformats.org/drawingml/2006/main" id="7" idx="1"/>
          </p:cNvCxnSpPr>
          <p:nvPr/>
        </p:nvCxnSpPr>
        <p:spPr>
          <a:xfrm xmlns:a="http://schemas.openxmlformats.org/drawingml/2006/main">
            <a:off x="3733800" y="5124450"/>
            <a:ext cx="83820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5" name="">
            <a:extLst xmlns:a="http://schemas.openxmlformats.org/drawingml/2006/main">
              <a:ext uri="{FF2B5EF4-FFF2-40B4-BE49-F238E27FC236}">
                <a16:creationId xmlns:a16="http://schemas.microsoft.com/office/drawing/2014/main" id="{E654C3E3-9310-46D0-8091-243C77D1190E}"/>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Безумовна оптимізація: читаємо рішення P</a:t>
            </a:r>
          </a:p>
        </p:txBody>
      </p:sp>
      <p:sp>
        <p:nvSpPr>
          <p:cNvPr id="2" name="">
            <a:extLst xmlns:a="http://schemas.openxmlformats.org/drawingml/2006/main">
              <a:ext uri="{FF2B5EF4-FFF2-40B4-BE49-F238E27FC236}">
                <a16:creationId xmlns:a16="http://schemas.microsoft.com/office/drawing/2014/main" id="{2D016A82-50A6-4A7A-B939-282E225D39C4}"/>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Обчислювали C → B → A; відновлюємо план A → B → C.</a:t>
            </a:r>
          </a:p>
        </p:txBody>
      </p:sp>
      <p:graphicFrame>
        <p:nvGraphicFramePr>
          <p:cNvPr id="22" name=""/>
          <p:cNvGraphicFramePr/>
          <p:nvPr/>
        </p:nvGraphicFramePr>
        <p:xfrm>
          <a:off xmlns:a="http://schemas.openxmlformats.org/drawingml/2006/main" x="685800" y="1638300"/>
          <a:ext xmlns:a="http://schemas.openxmlformats.org/drawingml/2006/main" cx="10820400" cy="2514600"/>
        </p:xfrm>
        <a:graphic xmlns:a="http://schemas.openxmlformats.org/drawingml/2006/main">
          <a:graphicData uri="http://schemas.openxmlformats.org/drawingml/2006/table">
            <a:tbl>
              <a:tblPr/>
              <a:tblGrid>
                <a:gridCol w="2857500"/>
                <a:gridCol w="2286000"/>
                <a:gridCol w="3009900"/>
                <a:gridCol w="2667000"/>
              </a:tblGrid>
              <a:tr h="628650">
                <a:tc>
                  <a:txBody>
                    <a:bodyPr/>
                    <a:lstStyle/>
                    <a:p>
                      <a:r>
                        <a:rPr sz="2550" b="1">
                          <a:solidFill>
                            <a:srgbClr val="FFFFFF"/>
                          </a:solidFill>
                          <a:latin typeface="Arial"/>
                          <a:ea typeface="Arial"/>
                          <a:cs typeface="Arial"/>
                        </a:rPr>
                        <a:t>Сервіс</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b до</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Обране u</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b після</a:t>
                      </a:r>
                    </a:p>
                  </a:txBody>
                  <a:tcPr marL="95250" marR="95250" marT="57150" marB="57150" anchor="ctr">
                    <a:solidFill>
                      <a:srgbClr val="173047"/>
                    </a:solidFill>
                  </a:tcPr>
                </a:tc>
              </a:tr>
              <a:tr h="628650">
                <a:tc>
                  <a:txBody>
                    <a:bodyPr/>
                    <a:lstStyle/>
                    <a:p>
                      <a:r>
                        <a:rPr sz="2550">
                          <a:solidFill>
                            <a:srgbClr val="173047"/>
                          </a:solidFill>
                          <a:latin typeface="Arial"/>
                          <a:ea typeface="Arial"/>
                          <a:cs typeface="Arial"/>
                        </a:rPr>
                        <a:t>A</a:t>
                      </a:r>
                    </a:p>
                  </a:txBody>
                  <a:tcPr marL="95250" marR="95250" marT="57150" marB="57150" anchor="ctr">
                    <a:solidFill>
                      <a:srgbClr val="FFFFFF"/>
                    </a:solidFill>
                  </a:tcPr>
                </a:tc>
                <a:tc>
                  <a:txBody>
                    <a:bodyPr/>
                    <a:lstStyle/>
                    <a:p>
                      <a:r>
                        <a:rPr sz="2550">
                          <a:solidFill>
                            <a:srgbClr val="173047"/>
                          </a:solidFill>
                          <a:latin typeface="Arial"/>
                          <a:ea typeface="Arial"/>
                          <a:cs typeface="Arial"/>
                        </a:rPr>
                        <a:t>6</a:t>
                      </a:r>
                    </a:p>
                  </a:txBody>
                  <a:tcPr marL="95250" marR="95250" marT="57150" marB="57150" anchor="ctr">
                    <a:solidFill>
                      <a:srgbClr val="FFFFFF"/>
                    </a:solidFill>
                  </a:tcPr>
                </a:tc>
                <a:tc>
                  <a:txBody>
                    <a:bodyPr/>
                    <a:lstStyle/>
                    <a:p>
                      <a:r>
                        <a:rPr sz="2550">
                          <a:solidFill>
                            <a:srgbClr val="173047"/>
                          </a:solidFill>
                          <a:latin typeface="Arial"/>
                          <a:ea typeface="Arial"/>
                          <a:cs typeface="Arial"/>
                        </a:rPr>
                        <a:t>2</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r>
              <a:tr h="628650">
                <a:tc>
                  <a:txBody>
                    <a:bodyPr/>
                    <a:lstStyle/>
                    <a:p>
                      <a:r>
                        <a:rPr sz="2550">
                          <a:solidFill>
                            <a:srgbClr val="173047"/>
                          </a:solidFill>
                          <a:latin typeface="Arial"/>
                          <a:ea typeface="Arial"/>
                          <a:cs typeface="Arial"/>
                        </a:rPr>
                        <a:t>B</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3</a:t>
                      </a:r>
                    </a:p>
                  </a:txBody>
                  <a:tcPr marL="95250" marR="95250" marT="57150" marB="57150" anchor="ctr">
                    <a:solidFill>
                      <a:srgbClr val="FFFFFF"/>
                    </a:solidFill>
                  </a:tcPr>
                </a:tc>
                <a:tc>
                  <a:txBody>
                    <a:bodyPr/>
                    <a:lstStyle/>
                    <a:p>
                      <a:r>
                        <a:rPr sz="2550">
                          <a:solidFill>
                            <a:srgbClr val="173047"/>
                          </a:solidFill>
                          <a:latin typeface="Arial"/>
                          <a:ea typeface="Arial"/>
                          <a:cs typeface="Arial"/>
                        </a:rPr>
                        <a:t>1</a:t>
                      </a:r>
                    </a:p>
                  </a:txBody>
                  <a:tcPr marL="95250" marR="95250" marT="57150" marB="57150" anchor="ctr">
                    <a:solidFill>
                      <a:srgbClr val="FFFFFF"/>
                    </a:solidFill>
                  </a:tcPr>
                </a:tc>
              </a:tr>
              <a:tr h="628650">
                <a:tc>
                  <a:txBody>
                    <a:bodyPr/>
                    <a:lstStyle/>
                    <a:p>
                      <a:r>
                        <a:rPr sz="2550">
                          <a:solidFill>
                            <a:srgbClr val="173047"/>
                          </a:solidFill>
                          <a:latin typeface="Arial"/>
                          <a:ea typeface="Arial"/>
                          <a:cs typeface="Arial"/>
                        </a:rPr>
                        <a:t>C</a:t>
                      </a:r>
                    </a:p>
                  </a:txBody>
                  <a:tcPr marL="95250" marR="95250" marT="57150" marB="57150" anchor="ctr">
                    <a:solidFill>
                      <a:srgbClr val="FFFFFF"/>
                    </a:solidFill>
                  </a:tcPr>
                </a:tc>
                <a:tc>
                  <a:txBody>
                    <a:bodyPr/>
                    <a:lstStyle/>
                    <a:p>
                      <a:r>
                        <a:rPr sz="2550">
                          <a:solidFill>
                            <a:srgbClr val="173047"/>
                          </a:solidFill>
                          <a:latin typeface="Arial"/>
                          <a:ea typeface="Arial"/>
                          <a:cs typeface="Arial"/>
                        </a:rPr>
                        <a:t>1</a:t>
                      </a:r>
                    </a:p>
                  </a:txBody>
                  <a:tcPr marL="95250" marR="95250" marT="57150" marB="57150" anchor="ctr">
                    <a:solidFill>
                      <a:srgbClr val="FFFFFF"/>
                    </a:solidFill>
                  </a:tcPr>
                </a:tc>
                <a:tc>
                  <a:txBody>
                    <a:bodyPr/>
                    <a:lstStyle/>
                    <a:p>
                      <a:r>
                        <a:rPr sz="2550">
                          <a:solidFill>
                            <a:srgbClr val="173047"/>
                          </a:solidFill>
                          <a:latin typeface="Arial"/>
                          <a:ea typeface="Arial"/>
                          <a:cs typeface="Arial"/>
                        </a:rPr>
                        <a:t>1</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2B312B7-900C-4080-8BAA-8EF2A7036300}"/>
              </a:ext>
            </a:extLst>
          </p:cNvPr>
          <p:cNvSpPr>
            <a:spLocks xmlns:a="http://schemas.openxmlformats.org/drawingml/2006/main" noGrp="1"/>
          </p:cNvSpPr>
          <p:nvPr/>
        </p:nvSpPr>
        <p:spPr>
          <a:xfrm xmlns:a="http://schemas.openxmlformats.org/drawingml/2006/main">
            <a:off x="685800" y="455295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6" name="">
            <a:extLst xmlns:a="http://schemas.openxmlformats.org/drawingml/2006/main">
              <a:ext uri="{FF2B5EF4-FFF2-40B4-BE49-F238E27FC236}">
                <a16:creationId xmlns:a16="http://schemas.microsoft.com/office/drawing/2014/main" id="{7B0A9FF4-7A07-400E-A266-88C2E00C4B43}"/>
              </a:ext>
            </a:extLst>
          </p:cNvPr>
          <p:cNvSpPr>
            <a:spLocks xmlns:a="http://schemas.openxmlformats.org/drawingml/2006/main" noGrp="1"/>
          </p:cNvSpPr>
          <p:nvPr/>
        </p:nvSpPr>
        <p:spPr>
          <a:xfrm xmlns:a="http://schemas.openxmlformats.org/drawingml/2006/main">
            <a:off x="800100" y="461010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6 GPU</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A отримує 2</a:t>
            </a:r>
          </a:p>
        </p:txBody>
      </p:sp>
      <p:sp>
        <p:nvSpPr>
          <p:cNvPr id="7" name="">
            <a:extLst xmlns:a="http://schemas.openxmlformats.org/drawingml/2006/main">
              <a:ext uri="{FF2B5EF4-FFF2-40B4-BE49-F238E27FC236}">
                <a16:creationId xmlns:a16="http://schemas.microsoft.com/office/drawing/2014/main" id="{C961CD2C-EC68-4C2C-B679-21A616FBFF24}"/>
              </a:ext>
            </a:extLst>
          </p:cNvPr>
          <p:cNvSpPr>
            <a:spLocks xmlns:a="http://schemas.openxmlformats.org/drawingml/2006/main" noGrp="1"/>
          </p:cNvSpPr>
          <p:nvPr/>
        </p:nvSpPr>
        <p:spPr>
          <a:xfrm xmlns:a="http://schemas.openxmlformats.org/drawingml/2006/main">
            <a:off x="4572000" y="455295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8" name="">
            <a:extLst xmlns:a="http://schemas.openxmlformats.org/drawingml/2006/main">
              <a:ext uri="{FF2B5EF4-FFF2-40B4-BE49-F238E27FC236}">
                <a16:creationId xmlns:a16="http://schemas.microsoft.com/office/drawing/2014/main" id="{29A8DF6E-C136-4C55-BF23-464A7EFF25BB}"/>
              </a:ext>
            </a:extLst>
          </p:cNvPr>
          <p:cNvSpPr>
            <a:spLocks xmlns:a="http://schemas.openxmlformats.org/drawingml/2006/main" noGrp="1"/>
          </p:cNvSpPr>
          <p:nvPr/>
        </p:nvSpPr>
        <p:spPr>
          <a:xfrm xmlns:a="http://schemas.openxmlformats.org/drawingml/2006/main">
            <a:off x="4686300" y="461010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4 GPU</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B отримує 3</a:t>
            </a:r>
          </a:p>
        </p:txBody>
      </p:sp>
      <p:sp>
        <p:nvSpPr>
          <p:cNvPr id="9" name="">
            <a:extLst xmlns:a="http://schemas.openxmlformats.org/drawingml/2006/main">
              <a:ext uri="{FF2B5EF4-FFF2-40B4-BE49-F238E27FC236}">
                <a16:creationId xmlns:a16="http://schemas.microsoft.com/office/drawing/2014/main" id="{C78276A1-0283-443E-92B2-74C179112929}"/>
              </a:ext>
            </a:extLst>
          </p:cNvPr>
          <p:cNvSpPr>
            <a:spLocks xmlns:a="http://schemas.openxmlformats.org/drawingml/2006/main" noGrp="1"/>
          </p:cNvSpPr>
          <p:nvPr/>
        </p:nvSpPr>
        <p:spPr>
          <a:xfrm xmlns:a="http://schemas.openxmlformats.org/drawingml/2006/main">
            <a:off x="8458200" y="455295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10" name="">
            <a:extLst xmlns:a="http://schemas.openxmlformats.org/drawingml/2006/main">
              <a:ext uri="{FF2B5EF4-FFF2-40B4-BE49-F238E27FC236}">
                <a16:creationId xmlns:a16="http://schemas.microsoft.com/office/drawing/2014/main" id="{E7CDCED9-91D4-4DAD-9B76-50CD7D70C8E7}"/>
              </a:ext>
            </a:extLst>
          </p:cNvPr>
          <p:cNvSpPr>
            <a:spLocks xmlns:a="http://schemas.openxmlformats.org/drawingml/2006/main" noGrp="1"/>
          </p:cNvSpPr>
          <p:nvPr/>
        </p:nvSpPr>
        <p:spPr>
          <a:xfrm xmlns:a="http://schemas.openxmlformats.org/drawingml/2006/main">
            <a:off x="8572500" y="461010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1 GPU</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C отримує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27</a:t>
            </a:r>
          </a:p>
        </p:txBody>
      </p:sp>
    </p:spTree>
    <p:extLst>
      <p:ext uri="{BB962C8B-B14F-4D97-AF65-F5344CB8AC3E}">
        <p14:creationId xmlns:p14="http://schemas.microsoft.com/office/powerpoint/2010/main" val="7421327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705630-F36F-4ED2-B62E-D9C23A01C893}"/>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Оптимальний план: x = (2, 3, 1)</a:t>
            </a:r>
          </a:p>
        </p:txBody>
      </p:sp>
      <p:sp>
        <p:nvSpPr>
          <p:cNvPr id="2" name="">
            <a:extLst xmlns:a="http://schemas.openxmlformats.org/drawingml/2006/main">
              <a:ext uri="{FF2B5EF4-FFF2-40B4-BE49-F238E27FC236}">
                <a16:creationId xmlns:a16="http://schemas.microsoft.com/office/drawing/2014/main" id="{37C0CF66-FC8A-4C4B-82BD-90C1232496AC}"/>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Перевірка: 2 + 3 + 1 = 6; 11 + 17 + 5 = 33.</a:t>
            </a:r>
          </a:p>
        </p:txBody>
      </p:sp>
      <p:sp>
        <p:nvSpPr>
          <p:cNvPr id="4" name="">
            <a:extLst xmlns:a="http://schemas.openxmlformats.org/drawingml/2006/main">
              <a:ext uri="{FF2B5EF4-FFF2-40B4-BE49-F238E27FC236}">
                <a16:creationId xmlns:a16="http://schemas.microsoft.com/office/drawing/2014/main" id="{92753032-0496-4684-8D57-2F6D753108EE}"/>
              </a:ext>
            </a:extLst>
          </p:cNvPr>
          <p:cNvSpPr>
            <a:spLocks xmlns:a="http://schemas.openxmlformats.org/drawingml/2006/main" noGrp="1"/>
          </p:cNvSpPr>
          <p:nvPr/>
        </p:nvSpPr>
        <p:spPr>
          <a:xfrm xmlns:a="http://schemas.openxmlformats.org/drawingml/2006/main">
            <a:off x="685800" y="1743075"/>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0" b="1">
                <a:solidFill>
                  <a:srgbClr val="00857D"/>
                </a:solidFill>
                <a:latin typeface="Arial"/>
                <a:ea typeface="Arial"/>
                <a:cs typeface="Arial"/>
              </a:defRPr>
            </a:pPr>
            <a:r>
              <a:rPr sz="9000" b="1">
                <a:solidFill>
                  <a:srgbClr val="00857D"/>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B7B200C8-F4E6-40BD-A973-6755ECF541B1}"/>
              </a:ext>
            </a:extLst>
          </p:cNvPr>
          <p:cNvSpPr>
            <a:spLocks xmlns:a="http://schemas.openxmlformats.org/drawingml/2006/main" noGrp="1"/>
          </p:cNvSpPr>
          <p:nvPr/>
        </p:nvSpPr>
        <p:spPr>
          <a:xfrm xmlns:a="http://schemas.openxmlformats.org/drawingml/2006/main">
            <a:off x="685800" y="328612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бали користі</a:t>
            </a:r>
          </a:p>
        </p:txBody>
      </p:sp>
      <p:graphicFrame>
        <p:nvGraphicFramePr>
          <p:cNvPr id="15" name="Chart"/>
          <p:cNvGraphicFramePr/>
          <p:nvPr/>
        </p:nvGraphicFramePr>
        <p:xfrm>
          <a:off xmlns:a="http://schemas.openxmlformats.org/drawingml/2006/main" x="4686300" y="1695450"/>
          <a:ext xmlns:a="http://schemas.openxmlformats.org/drawingml/2006/main" cx="6819900" cy="3371850"/>
        </p:xfrm>
        <a:graphic xmlns:a="http://schemas.openxmlformats.org/drawingml/2006/main">
          <a:graphicData uri="http://schemas.openxmlformats.org/drawingml/2006/chart">
            <c:chart xmlns:r="http://schemas.openxmlformats.org/officeDocument/2006/relationships" xmlns:c="http://schemas.openxmlformats.org/drawingml/2006/chart" r:id="R3bdabd6e51264a79"/>
          </a:graphicData>
        </a:graphic>
      </p:graphicFrame>
      <p:sp>
        <p:nvSpPr>
          <p:cNvPr id="7" name="">
            <a:extLst xmlns:a="http://schemas.openxmlformats.org/drawingml/2006/main">
              <a:ext uri="{FF2B5EF4-FFF2-40B4-BE49-F238E27FC236}">
                <a16:creationId xmlns:a16="http://schemas.microsoft.com/office/drawing/2014/main" id="{7B7B7D96-A97E-4871-9971-C4042D46EFD8}"/>
              </a:ext>
            </a:extLst>
          </p:cNvPr>
          <p:cNvSpPr>
            <a:spLocks xmlns:a="http://schemas.openxmlformats.org/drawingml/2006/main" noGrp="1"/>
          </p:cNvSpPr>
          <p:nvPr/>
        </p:nvSpPr>
        <p:spPr>
          <a:xfrm xmlns:a="http://schemas.openxmlformats.org/drawingml/2006/main">
            <a:off x="4686300" y="5219700"/>
            <a:ext cx="6819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00857D"/>
                </a:solidFill>
                <a:latin typeface="Arial"/>
                <a:ea typeface="Arial"/>
                <a:cs typeface="Arial"/>
              </a:defRPr>
            </a:pPr>
            <a:r>
              <a:rPr sz="2400" b="1">
                <a:solidFill>
                  <a:srgbClr val="00857D"/>
                </a:solidFill>
                <a:latin typeface="Arial"/>
                <a:ea typeface="Arial"/>
                <a:cs typeface="Arial"/>
              </a:rPr>
              <a:t>Виграш над жадібним планом: 9 балів.</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28</a:t>
            </a:r>
          </a:p>
        </p:txBody>
      </p:sp>
    </p:spTree>
    <p:extLst>
      <p:ext uri="{BB962C8B-B14F-4D97-AF65-F5344CB8AC3E}">
        <p14:creationId xmlns:p14="http://schemas.microsoft.com/office/powerpoint/2010/main" val="3318323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7F1349-4301-4106-80DA-5CBADDB8E27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Умовний розрахунок і конкретний план</a:t>
            </a:r>
          </a:p>
        </p:txBody>
      </p:sp>
      <p:sp>
        <p:nvSpPr>
          <p:cNvPr id="2" name="">
            <a:extLst xmlns:a="http://schemas.openxmlformats.org/drawingml/2006/main">
              <a:ext uri="{FF2B5EF4-FFF2-40B4-BE49-F238E27FC236}">
                <a16:creationId xmlns:a16="http://schemas.microsoft.com/office/drawing/2014/main" id="{2132F62F-AFE1-433D-828A-73E94647C54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нашої скінченної задачі спочатку обчислюємо таблиці, потім відновлюємо розподіл.</a:t>
            </a:r>
          </a:p>
        </p:txBody>
      </p:sp>
      <p:sp>
        <p:nvSpPr>
          <p:cNvPr id="3" name="">
            <a:extLst xmlns:a="http://schemas.openxmlformats.org/drawingml/2006/main">
              <a:ext uri="{FF2B5EF4-FFF2-40B4-BE49-F238E27FC236}">
                <a16:creationId xmlns:a16="http://schemas.microsoft.com/office/drawing/2014/main" id="{4C8AFD66-C30F-4BEF-B94A-4E35DB4FF631}"/>
              </a:ext>
            </a:extLst>
          </p:cNvPr>
          <p:cNvSpPr>
            <a:spLocks xmlns:a="http://schemas.openxmlformats.org/drawingml/2006/main" noGrp="1"/>
          </p:cNvSpPr>
          <p:nvPr/>
        </p:nvSpPr>
        <p:spPr>
          <a:xfrm xmlns:a="http://schemas.openxmlformats.org/drawingml/2006/main">
            <a:off x="685800" y="16192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УМОВНА ОПТИМІЗАЦІЯ</a:t>
            </a:r>
          </a:p>
        </p:txBody>
      </p:sp>
      <p:sp>
        <p:nvSpPr>
          <p:cNvPr id="4" name="">
            <a:extLst xmlns:a="http://schemas.openxmlformats.org/drawingml/2006/main">
              <a:ext uri="{FF2B5EF4-FFF2-40B4-BE49-F238E27FC236}">
                <a16:creationId xmlns:a16="http://schemas.microsoft.com/office/drawing/2014/main" id="{58917E23-10F0-4ED3-87C6-9F556BE0626A}"/>
              </a:ext>
            </a:extLst>
          </p:cNvPr>
          <p:cNvSpPr>
            <a:spLocks xmlns:a="http://schemas.openxmlformats.org/drawingml/2006/main" noGrp="1"/>
          </p:cNvSpPr>
          <p:nvPr/>
        </p:nvSpPr>
        <p:spPr>
          <a:xfrm xmlns:a="http://schemas.openxmlformats.org/drawingml/2006/main">
            <a:off x="685800" y="2333625"/>
            <a:ext cx="108204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C, потім B, потім A</a:t>
            </a:r>
          </a:p>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Для кожного b перебираємо u.</a:t>
            </a:r>
          </a:p>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Зберігаємо пару: Vₖ(b) та Pₖ(b).</a:t>
            </a:r>
          </a:p>
        </p:txBody>
      </p:sp>
      <p:sp>
        <p:nvSpPr>
          <p:cNvPr id="5" name="">
            <a:extLst xmlns:a="http://schemas.openxmlformats.org/drawingml/2006/main">
              <a:ext uri="{FF2B5EF4-FFF2-40B4-BE49-F238E27FC236}">
                <a16:creationId xmlns:a16="http://schemas.microsoft.com/office/drawing/2014/main" id="{DCD0CEA4-3068-47D1-90EA-632B8AFA3F84}"/>
              </a:ext>
            </a:extLst>
          </p:cNvPr>
          <p:cNvSpPr>
            <a:spLocks xmlns:a="http://schemas.openxmlformats.org/drawingml/2006/main" noGrp="1"/>
          </p:cNvSpPr>
          <p:nvPr/>
        </p:nvSpPr>
        <p:spPr>
          <a:xfrm xmlns:a="http://schemas.openxmlformats.org/drawingml/2006/main">
            <a:off x="685800" y="4048125"/>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B86B19"/>
                </a:solidFill>
                <a:latin typeface="Arial"/>
                <a:ea typeface="Arial"/>
                <a:cs typeface="Arial"/>
              </a:defRPr>
            </a:defPPr>
          </a:lstStyle>
          <a:p xmlns:a="http://schemas.openxmlformats.org/drawingml/2006/main">
            <a:pPr>
              <a:defRPr sz="2400" b="1">
                <a:solidFill>
                  <a:srgbClr val="B86B19"/>
                </a:solidFill>
                <a:latin typeface="Arial"/>
                <a:ea typeface="Arial"/>
                <a:cs typeface="Arial"/>
              </a:defRPr>
            </a:pPr>
            <a:r>
              <a:rPr sz="2400" b="1">
                <a:solidFill>
                  <a:srgbClr val="B86B19"/>
                </a:solidFill>
                <a:latin typeface="Arial"/>
                <a:ea typeface="Arial"/>
                <a:cs typeface="Arial"/>
              </a:rPr>
              <a:t>БЕЗУМОВНА ОПТИМІЗАЦІЯ</a:t>
            </a:r>
          </a:p>
        </p:txBody>
      </p:sp>
      <p:sp>
        <p:nvSpPr>
          <p:cNvPr id="6" name="">
            <a:extLst xmlns:a="http://schemas.openxmlformats.org/drawingml/2006/main">
              <a:ext uri="{FF2B5EF4-FFF2-40B4-BE49-F238E27FC236}">
                <a16:creationId xmlns:a16="http://schemas.microsoft.com/office/drawing/2014/main" id="{8BCE9C31-E8E5-4598-8934-D8406D77E242}"/>
              </a:ext>
            </a:extLst>
          </p:cNvPr>
          <p:cNvSpPr>
            <a:spLocks xmlns:a="http://schemas.openxmlformats.org/drawingml/2006/main" noGrp="1"/>
          </p:cNvSpPr>
          <p:nvPr/>
        </p:nvSpPr>
        <p:spPr>
          <a:xfrm xmlns:a="http://schemas.openxmlformats.org/drawingml/2006/main">
            <a:off x="685800" y="4714875"/>
            <a:ext cx="108204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Старт b=6: A отримує 2, залишається 4.</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B отримує 3, залишається 1. C отримує 1.</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План x=(2,3,1), користь 33.</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29</a:t>
            </a:r>
          </a:p>
        </p:txBody>
      </p:sp>
    </p:spTree>
    <p:extLst>
      <p:ext uri="{BB962C8B-B14F-4D97-AF65-F5344CB8AC3E}">
        <p14:creationId xmlns:p14="http://schemas.microsoft.com/office/powerpoint/2010/main" val="206134801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154C6C-B3D3-402C-8B2B-AACBAF95D596}"/>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Python: дані й початкові таблиці</a:t>
            </a:r>
          </a:p>
        </p:txBody>
      </p:sp>
      <p:sp>
        <p:nvSpPr>
          <p:cNvPr id="2" name="">
            <a:extLst xmlns:a="http://schemas.openxmlformats.org/drawingml/2006/main">
              <a:ext uri="{FF2B5EF4-FFF2-40B4-BE49-F238E27FC236}">
                <a16:creationId xmlns:a16="http://schemas.microsoft.com/office/drawing/2014/main" id="{FDEE895B-5E37-42E1-815A-1083AD93A3A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Індекс Python k = 0 відповідає математичному етапу 1.</a:t>
            </a:r>
          </a:p>
        </p:txBody>
      </p:sp>
      <p:sp>
        <p:nvSpPr>
          <p:cNvPr id="4" name="">
            <a:extLst xmlns:a="http://schemas.openxmlformats.org/drawingml/2006/main">
              <a:ext uri="{FF2B5EF4-FFF2-40B4-BE49-F238E27FC236}">
                <a16:creationId xmlns:a16="http://schemas.microsoft.com/office/drawing/2014/main" id="{9AD331A3-64D4-4153-AF14-3CC821C4F7E1}"/>
              </a:ext>
            </a:extLst>
          </p:cNvPr>
          <p:cNvSpPr>
            <a:spLocks xmlns:a="http://schemas.openxmlformats.org/drawingml/2006/main" noGrp="1"/>
          </p:cNvSpPr>
          <p:nvPr/>
        </p:nvSpPr>
        <p:spPr>
          <a:xfrm xmlns:a="http://schemas.openxmlformats.org/drawingml/2006/main">
            <a:off x="685800" y="1581150"/>
            <a:ext cx="10820400" cy="288217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976A8E-970C-41DE-9CC9-F938679719B8}"/>
              </a:ext>
            </a:extLst>
          </p:cNvPr>
          <p:cNvSpPr>
            <a:spLocks xmlns:a="http://schemas.openxmlformats.org/drawingml/2006/main" noGrp="1"/>
          </p:cNvSpPr>
          <p:nvPr/>
        </p:nvSpPr>
        <p:spPr>
          <a:xfrm xmlns:a="http://schemas.openxmlformats.org/drawingml/2006/main">
            <a:off x="857250" y="1676400"/>
            <a:ext cx="10477500" cy="2691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g = [</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[0, 6, 11, 13, 14, 15, 16],  # A</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[0, 0, 3, 17, 18, 19, 20],   # B</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[0, 5, 9, 11, 12, 13, 14],   # C</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B, n = 6, len(g)</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V[n] — термінальний рядок з нулів</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V = [[0] * (B + 1) for _ in range(n + 1)]</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policy = [[0] * (B + 1) for _ in range(n)]</a:t>
            </a:r>
          </a:p>
        </p:txBody>
      </p:sp>
      <p:sp>
        <p:nvSpPr>
          <p:cNvPr id="6" name="">
            <a:extLst xmlns:a="http://schemas.openxmlformats.org/drawingml/2006/main">
              <a:ext uri="{FF2B5EF4-FFF2-40B4-BE49-F238E27FC236}">
                <a16:creationId xmlns:a16="http://schemas.microsoft.com/office/drawing/2014/main" id="{B5A5A9AF-484E-488D-BDAF-77DABCF0DD3C}"/>
              </a:ext>
            </a:extLst>
          </p:cNvPr>
          <p:cNvSpPr>
            <a:spLocks xmlns:a="http://schemas.openxmlformats.org/drawingml/2006/main" noGrp="1"/>
          </p:cNvSpPr>
          <p:nvPr/>
        </p:nvSpPr>
        <p:spPr>
          <a:xfrm xmlns:a="http://schemas.openxmlformats.org/drawingml/2006/main">
            <a:off x="685800" y="48958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V: 4 × 7 клітинок           policy: 3 × 7 клітинок</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34</a:t>
            </a:r>
          </a:p>
        </p:txBody>
      </p:sp>
    </p:spTree>
    <p:extLst>
      <p:ext uri="{BB962C8B-B14F-4D97-AF65-F5344CB8AC3E}">
        <p14:creationId xmlns:p14="http://schemas.microsoft.com/office/powerpoint/2010/main" val="18039743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248493-5BC0-4F3B-9642-04959C4FABB7}"/>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Python: обчислюємо V та policy</a:t>
            </a:r>
          </a:p>
        </p:txBody>
      </p:sp>
      <p:sp>
        <p:nvSpPr>
          <p:cNvPr id="2" name="">
            <a:extLst xmlns:a="http://schemas.openxmlformats.org/drawingml/2006/main">
              <a:ext uri="{FF2B5EF4-FFF2-40B4-BE49-F238E27FC236}">
                <a16:creationId xmlns:a16="http://schemas.microsoft.com/office/drawing/2014/main" id="{E0280E80-DA0E-44D8-AA12-5337D0D17AD2}"/>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1900" b="1">
                <a:solidFill>
                  <a:srgbClr val="00857D"/>
                </a:solidFill>
                <a:latin typeface="Arial"/>
                <a:ea typeface="Arial"/>
                <a:cs typeface="Arial"/>
              </a:rPr>
              <a:t>b−u — залишок. За однакової користі index обирає перше u.</a:t>
            </a:r>
          </a:p>
        </p:txBody>
      </p:sp>
      <p:sp>
        <p:nvSpPr>
          <p:cNvPr id="4" name="">
            <a:extLst xmlns:a="http://schemas.openxmlformats.org/drawingml/2006/main">
              <a:ext uri="{FF2B5EF4-FFF2-40B4-BE49-F238E27FC236}">
                <a16:creationId xmlns:a16="http://schemas.microsoft.com/office/drawing/2014/main" id="{0B21CD28-8BC2-4F50-8CD0-31BB3E144014}"/>
              </a:ext>
            </a:extLst>
          </p:cNvPr>
          <p:cNvSpPr>
            <a:spLocks xmlns:a="http://schemas.openxmlformats.org/drawingml/2006/main" noGrp="1"/>
          </p:cNvSpPr>
          <p:nvPr/>
        </p:nvSpPr>
        <p:spPr>
          <a:xfrm xmlns:a="http://schemas.openxmlformats.org/drawingml/2006/main">
            <a:off x="685800" y="1504950"/>
            <a:ext cx="10820400" cy="3344989"/>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5DB4CC-D06F-441A-8190-1B20ABEF7A0C}"/>
              </a:ext>
            </a:extLst>
          </p:cNvPr>
          <p:cNvSpPr>
            <a:spLocks xmlns:a="http://schemas.openxmlformats.org/drawingml/2006/main" noGrp="1"/>
          </p:cNvSpPr>
          <p:nvPr/>
        </p:nvSpPr>
        <p:spPr>
          <a:xfrm xmlns:a="http://schemas.openxmlformats.org/drawingml/2006/main">
            <a:off x="857250" y="1600200"/>
            <a:ext cx="10477500" cy="3154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k in range(n - 1, -1, -1):   # C, B, A</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for b in range(B + 1):       # усі залишки</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candidates = [</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g[k][u] + V[k + 1][b - u]</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for u in range(b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V[k][b] = max(candidates)</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policy[k][b] = candidates.index(V[k][b])</a:t>
            </a:r>
          </a:p>
          <a:p xmlns:a="http://schemas.openxmlformats.org/drawingml/2006/main">
            <a:r>
              <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print("V1 =", V[0])</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print("P1 =", policy[0])</a:t>
            </a:r>
          </a:p>
        </p:txBody>
      </p:sp>
      <p:sp>
        <p:nvSpPr>
          <p:cNvPr id="6" name="">
            <a:extLst xmlns:a="http://schemas.openxmlformats.org/drawingml/2006/main">
              <a:ext uri="{FF2B5EF4-FFF2-40B4-BE49-F238E27FC236}">
                <a16:creationId xmlns:a16="http://schemas.microsoft.com/office/drawing/2014/main" id="{F5EEA248-1EA8-466B-993A-860C1A427B0C}"/>
              </a:ext>
            </a:extLst>
          </p:cNvPr>
          <p:cNvSpPr>
            <a:spLocks xmlns:a="http://schemas.openxmlformats.org/drawingml/2006/main" noGrp="1"/>
          </p:cNvSpPr>
          <p:nvPr/>
        </p:nvSpPr>
        <p:spPr>
          <a:xfrm xmlns:a="http://schemas.openxmlformats.org/drawingml/2006/main">
            <a:off x="685800" y="4953000"/>
            <a:ext cx="10820400" cy="8763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9E58B4-FEC8-4CBE-BD8C-EA7F49B5399F}"/>
              </a:ext>
            </a:extLst>
          </p:cNvPr>
          <p:cNvSpPr>
            <a:spLocks xmlns:a="http://schemas.openxmlformats.org/drawingml/2006/main" noGrp="1"/>
          </p:cNvSpPr>
          <p:nvPr/>
        </p:nvSpPr>
        <p:spPr>
          <a:xfrm xmlns:a="http://schemas.openxmlformats.org/drawingml/2006/main">
            <a:off x="857250" y="50482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V1 = [0, 6, 11, 17, 23, 28, 33]</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P1 = [0, 1, 1, 0, 1, 1, 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35</a:t>
            </a:r>
          </a:p>
        </p:txBody>
      </p:sp>
    </p:spTree>
    <p:extLst>
      <p:ext uri="{BB962C8B-B14F-4D97-AF65-F5344CB8AC3E}">
        <p14:creationId xmlns:p14="http://schemas.microsoft.com/office/powerpoint/2010/main" val="132609163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A5215F-3FDF-4473-B67B-AA7559E1F5B4}"/>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Python: відновлюємо розподіл ресурсу</a:t>
            </a:r>
          </a:p>
        </p:txBody>
      </p:sp>
      <p:sp>
        <p:nvSpPr>
          <p:cNvPr id="2" name="">
            <a:extLst xmlns:a="http://schemas.openxmlformats.org/drawingml/2006/main">
              <a:ext uri="{FF2B5EF4-FFF2-40B4-BE49-F238E27FC236}">
                <a16:creationId xmlns:a16="http://schemas.microsoft.com/office/drawing/2014/main" id="{6EAA6215-85A8-4250-8F86-36DBF0A1CDDD}"/>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Кожне наступне рішення читаємо для нового залишку b.</a:t>
            </a:r>
          </a:p>
        </p:txBody>
      </p:sp>
      <p:sp>
        <p:nvSpPr>
          <p:cNvPr id="4" name="">
            <a:extLst xmlns:a="http://schemas.openxmlformats.org/drawingml/2006/main">
              <a:ext uri="{FF2B5EF4-FFF2-40B4-BE49-F238E27FC236}">
                <a16:creationId xmlns:a16="http://schemas.microsoft.com/office/drawing/2014/main" id="{2381F18F-7FC8-48C1-9337-528730A8B992}"/>
              </a:ext>
            </a:extLst>
          </p:cNvPr>
          <p:cNvSpPr>
            <a:spLocks xmlns:a="http://schemas.openxmlformats.org/drawingml/2006/main" noGrp="1"/>
          </p:cNvSpPr>
          <p:nvPr/>
        </p:nvSpPr>
        <p:spPr>
          <a:xfrm xmlns:a="http://schemas.openxmlformats.org/drawingml/2006/main">
            <a:off x="685800" y="1504950"/>
            <a:ext cx="10820400" cy="2225611"/>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2FAB6E-87D9-4084-B8AB-7111266E3580}"/>
              </a:ext>
            </a:extLst>
          </p:cNvPr>
          <p:cNvSpPr>
            <a:spLocks xmlns:a="http://schemas.openxmlformats.org/drawingml/2006/main" noGrp="1"/>
          </p:cNvSpPr>
          <p:nvPr/>
        </p:nvSpPr>
        <p:spPr>
          <a:xfrm xmlns:a="http://schemas.openxmlformats.org/drawingml/2006/main">
            <a:off x="857250" y="1600200"/>
            <a:ext cx="10477500" cy="20351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b, x = B, []</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k in range(n):               # A, B, C</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u = policy[k][b]</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x.append(u)</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print(f"k={k + 1}: b={b}, u={u}, next={b-u}")</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 -= u                      # новий залишок</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print("x =", x, "Z =", V[0][B])</a:t>
            </a:r>
          </a:p>
        </p:txBody>
      </p:sp>
      <p:sp>
        <p:nvSpPr>
          <p:cNvPr id="6" name="">
            <a:extLst xmlns:a="http://schemas.openxmlformats.org/drawingml/2006/main">
              <a:ext uri="{FF2B5EF4-FFF2-40B4-BE49-F238E27FC236}">
                <a16:creationId xmlns:a16="http://schemas.microsoft.com/office/drawing/2014/main" id="{FF1174A9-E785-482A-959B-FB2718BD3688}"/>
              </a:ext>
            </a:extLst>
          </p:cNvPr>
          <p:cNvSpPr>
            <a:spLocks xmlns:a="http://schemas.openxmlformats.org/drawingml/2006/main" noGrp="1"/>
          </p:cNvSpPr>
          <p:nvPr/>
        </p:nvSpPr>
        <p:spPr>
          <a:xfrm xmlns:a="http://schemas.openxmlformats.org/drawingml/2006/main">
            <a:off x="685800" y="3905250"/>
            <a:ext cx="10820400" cy="18097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8C88F3-22AD-4AE9-9E72-577D237AD414}"/>
              </a:ext>
            </a:extLst>
          </p:cNvPr>
          <p:cNvSpPr>
            <a:spLocks xmlns:a="http://schemas.openxmlformats.org/drawingml/2006/main" noGrp="1"/>
          </p:cNvSpPr>
          <p:nvPr/>
        </p:nvSpPr>
        <p:spPr>
          <a:xfrm xmlns:a="http://schemas.openxmlformats.org/drawingml/2006/main">
            <a:off x="857250" y="40005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k=1: b=6, u=2, next=4</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k=2: b=4, u=3, next=1</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k=3: b=1, u=1, next=0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x = [2, 3, 1] Z = 33</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36</a:t>
            </a:r>
          </a:p>
        </p:txBody>
      </p:sp>
    </p:spTree>
    <p:extLst>
      <p:ext uri="{BB962C8B-B14F-4D97-AF65-F5344CB8AC3E}">
        <p14:creationId xmlns:p14="http://schemas.microsoft.com/office/powerpoint/2010/main" val="58520730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777906-5AAB-4DEF-8B81-A6AECEA85971}"/>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Фактичний запуск і незалежна перевірка</a:t>
            </a:r>
          </a:p>
        </p:txBody>
      </p:sp>
      <p:sp>
        <p:nvSpPr>
          <p:cNvPr id="2" name="">
            <a:extLst xmlns:a="http://schemas.openxmlformats.org/drawingml/2006/main">
              <a:ext uri="{FF2B5EF4-FFF2-40B4-BE49-F238E27FC236}">
                <a16:creationId xmlns:a16="http://schemas.microsoft.com/office/drawing/2014/main" id="{5864D561-3AD5-4923-BCC6-E92DAD29259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000" b="1">
                <a:solidFill>
                  <a:srgbClr val="00857D"/>
                </a:solidFill>
                <a:latin typeface="Arial"/>
                <a:ea typeface="Arial"/>
                <a:cs typeface="Arial"/>
              </a:rPr>
              <a:t>Перебір незалежно перевіряє оптимум розподілу GPU.</a:t>
            </a:r>
          </a:p>
        </p:txBody>
      </p:sp>
      <p:sp>
        <p:nvSpPr>
          <p:cNvPr id="4" name="">
            <a:extLst xmlns:a="http://schemas.openxmlformats.org/drawingml/2006/main">
              <a:ext uri="{FF2B5EF4-FFF2-40B4-BE49-F238E27FC236}">
                <a16:creationId xmlns:a16="http://schemas.microsoft.com/office/drawing/2014/main" id="{FDD7EA25-4AAF-4C53-8A21-23BC385066D4}"/>
              </a:ext>
            </a:extLst>
          </p:cNvPr>
          <p:cNvSpPr>
            <a:spLocks xmlns:a="http://schemas.openxmlformats.org/drawingml/2006/main" noGrp="1"/>
          </p:cNvSpPr>
          <p:nvPr/>
        </p:nvSpPr>
        <p:spPr>
          <a:xfrm xmlns:a="http://schemas.openxmlformats.org/drawingml/2006/main">
            <a:off x="685800" y="1514475"/>
            <a:ext cx="10820400" cy="589598"/>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F03899-7DD8-4C86-B481-DD4880E63696}"/>
              </a:ext>
            </a:extLst>
          </p:cNvPr>
          <p:cNvSpPr>
            <a:spLocks xmlns:a="http://schemas.openxmlformats.org/drawingml/2006/main" noGrp="1"/>
          </p:cNvSpPr>
          <p:nvPr/>
        </p:nvSpPr>
        <p:spPr>
          <a:xfrm xmlns:a="http://schemas.openxmlformats.org/drawingml/2006/main">
            <a:off x="857250" y="1609725"/>
            <a:ext cx="10477500" cy="3990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Courier New"/>
                <a:ea typeface="Courier New"/>
                <a:cs typeface="Courier New"/>
              </a:defRPr>
            </a:pPr>
            <a:r>
              <a:rPr sz="2250" b="0">
                <a:solidFill>
                  <a:srgbClr val="173047"/>
                </a:solidFill>
                <a:latin typeface="Courier New"/>
                <a:ea typeface="Courier New"/>
                <a:cs typeface="Courier New"/>
              </a:rPr>
              <a:t>python lecture6_dp.py</a:t>
            </a:r>
          </a:p>
        </p:txBody>
      </p:sp>
      <p:sp>
        <p:nvSpPr>
          <p:cNvPr id="6" name="">
            <a:extLst xmlns:a="http://schemas.openxmlformats.org/drawingml/2006/main">
              <a:ext uri="{FF2B5EF4-FFF2-40B4-BE49-F238E27FC236}">
                <a16:creationId xmlns:a16="http://schemas.microsoft.com/office/drawing/2014/main" id="{6FB0D4FD-376B-4527-A170-5021790C802B}"/>
              </a:ext>
            </a:extLst>
          </p:cNvPr>
          <p:cNvSpPr>
            <a:spLocks xmlns:a="http://schemas.openxmlformats.org/drawingml/2006/main" noGrp="1"/>
          </p:cNvSpPr>
          <p:nvPr/>
        </p:nvSpPr>
        <p:spPr>
          <a:xfrm xmlns:a="http://schemas.openxmlformats.org/drawingml/2006/main">
            <a:off x="685800" y="2486025"/>
            <a:ext cx="10820400" cy="26670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F3E1DD1-AE0C-4D07-9389-FE549A45E3D0}"/>
              </a:ext>
            </a:extLst>
          </p:cNvPr>
          <p:cNvSpPr>
            <a:spLocks xmlns:a="http://schemas.openxmlformats.org/drawingml/2006/main" noGrp="1"/>
          </p:cNvSpPr>
          <p:nvPr/>
        </p:nvSpPr>
        <p:spPr>
          <a:xfrm xmlns:a="http://schemas.openxmlformats.org/drawingml/2006/main">
            <a:off x="857250" y="2581275"/>
            <a:ext cx="1047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V4 = [0, 0, 0, 0, 0, 0, 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V3 = [0, 5, 9, 11, 12, 13, 14]</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V2 = [0, 5, 9, 17, 22, 26, 28]</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V1 = [0, 6, 11, 17, 23, 28, 33]</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Перебір: 84 допустимих планів; Z = 33</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Усі оптимальні плани: [[2, 3, 1]]</a:t>
            </a:r>
          </a:p>
        </p:txBody>
      </p:sp>
      <p:sp>
        <p:nvSpPr>
          <p:cNvPr id="8" name="">
            <a:extLst xmlns:a="http://schemas.openxmlformats.org/drawingml/2006/main">
              <a:ext uri="{FF2B5EF4-FFF2-40B4-BE49-F238E27FC236}">
                <a16:creationId xmlns:a16="http://schemas.microsoft.com/office/drawing/2014/main" id="{875ACDB5-E575-46E3-8263-BB2943EE229D}"/>
              </a:ext>
            </a:extLst>
          </p:cNvPr>
          <p:cNvSpPr>
            <a:spLocks xmlns:a="http://schemas.openxmlformats.org/drawingml/2006/main" noGrp="1"/>
          </p:cNvSpPr>
          <p:nvPr/>
        </p:nvSpPr>
        <p:spPr>
          <a:xfrm xmlns:a="http://schemas.openxmlformats.org/drawingml/2006/main">
            <a:off x="685800" y="53054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Вхідні дані, повний вивід і перевірки — у файлах практикуму.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37</a:t>
            </a:r>
          </a:p>
        </p:txBody>
      </p:sp>
    </p:spTree>
    <p:extLst>
      <p:ext uri="{BB962C8B-B14F-4D97-AF65-F5344CB8AC3E}">
        <p14:creationId xmlns:p14="http://schemas.microsoft.com/office/powerpoint/2010/main" val="8517959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A3507F-BA59-4E2D-A9F5-EFA34A0220AD}"/>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Інший спосіб: рекурсія з мемоізацією</a:t>
            </a:r>
          </a:p>
        </p:txBody>
      </p:sp>
      <p:sp>
        <p:nvSpPr>
          <p:cNvPr id="2" name="">
            <a:extLst xmlns:a="http://schemas.openxmlformats.org/drawingml/2006/main">
              <a:ext uri="{FF2B5EF4-FFF2-40B4-BE49-F238E27FC236}">
                <a16:creationId xmlns:a16="http://schemas.microsoft.com/office/drawing/2014/main" id="{D9B4A4C6-5FE5-4165-9C88-F831B498330D}"/>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Повторний виклик value(k, b) бере збережену відповідь.</a:t>
            </a:r>
          </a:p>
        </p:txBody>
      </p:sp>
      <p:sp>
        <p:nvSpPr>
          <p:cNvPr id="4" name="">
            <a:extLst xmlns:a="http://schemas.openxmlformats.org/drawingml/2006/main">
              <a:ext uri="{FF2B5EF4-FFF2-40B4-BE49-F238E27FC236}">
                <a16:creationId xmlns:a16="http://schemas.microsoft.com/office/drawing/2014/main" id="{2D495C51-8F12-4FB6-BC61-00DAF9612921}"/>
              </a:ext>
            </a:extLst>
          </p:cNvPr>
          <p:cNvSpPr>
            <a:spLocks xmlns:a="http://schemas.openxmlformats.org/drawingml/2006/main" noGrp="1"/>
          </p:cNvSpPr>
          <p:nvPr/>
        </p:nvSpPr>
        <p:spPr>
          <a:xfrm xmlns:a="http://schemas.openxmlformats.org/drawingml/2006/main">
            <a:off x="685800" y="1504950"/>
            <a:ext cx="10820400" cy="3344989"/>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75D254-4D8A-43B7-AD43-87EF07B2DA85}"/>
              </a:ext>
            </a:extLst>
          </p:cNvPr>
          <p:cNvSpPr>
            <a:spLocks xmlns:a="http://schemas.openxmlformats.org/drawingml/2006/main" noGrp="1"/>
          </p:cNvSpPr>
          <p:nvPr/>
        </p:nvSpPr>
        <p:spPr>
          <a:xfrm xmlns:a="http://schemas.openxmlformats.org/drawingml/2006/main">
            <a:off x="857250" y="1600200"/>
            <a:ext cx="10477500" cy="3154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functools import lru_cache</a:t>
            </a:r>
          </a:p>
          <a:p xmlns:a="http://schemas.openxmlformats.org/drawingml/2006/main">
            <a:r>
              <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@lru_cache(maxsize=None)</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def value(k, b):</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k == len(g):</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return 0</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return max(g[k][u] + value(k + 1, b - u)</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for u in range(b + 1))</a:t>
            </a:r>
          </a:p>
          <a:p xmlns:a="http://schemas.openxmlformats.org/drawingml/2006/main">
            <a:r>
              <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print(value(0, B))</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print(value.cache_info())</a:t>
            </a:r>
          </a:p>
        </p:txBody>
      </p:sp>
      <p:sp>
        <p:nvSpPr>
          <p:cNvPr id="6" name="">
            <a:extLst xmlns:a="http://schemas.openxmlformats.org/drawingml/2006/main">
              <a:ext uri="{FF2B5EF4-FFF2-40B4-BE49-F238E27FC236}">
                <a16:creationId xmlns:a16="http://schemas.microsoft.com/office/drawing/2014/main" id="{BDE7159D-F73B-44C4-A7BA-F25AAD628A5C}"/>
              </a:ext>
            </a:extLst>
          </p:cNvPr>
          <p:cNvSpPr>
            <a:spLocks xmlns:a="http://schemas.openxmlformats.org/drawingml/2006/main" noGrp="1"/>
          </p:cNvSpPr>
          <p:nvPr/>
        </p:nvSpPr>
        <p:spPr>
          <a:xfrm xmlns:a="http://schemas.openxmlformats.org/drawingml/2006/main">
            <a:off x="685800" y="4857750"/>
            <a:ext cx="10820400" cy="9906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5B55B4-4059-4D09-AF68-70F7209B91C8}"/>
              </a:ext>
            </a:extLst>
          </p:cNvPr>
          <p:cNvSpPr>
            <a:spLocks xmlns:a="http://schemas.openxmlformats.org/drawingml/2006/main" noGrp="1"/>
          </p:cNvSpPr>
          <p:nvPr/>
        </p:nvSpPr>
        <p:spPr>
          <a:xfrm xmlns:a="http://schemas.openxmlformats.org/drawingml/2006/main">
            <a:off x="857250" y="4953000"/>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33</a:t>
            </a:r>
          </a:p>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CacheInfo(hits=42, misses=22,</a:t>
            </a:r>
          </a:p>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          maxsize=None, currsize=22)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38</a:t>
            </a:r>
          </a:p>
        </p:txBody>
      </p:sp>
    </p:spTree>
    <p:extLst>
      <p:ext uri="{BB962C8B-B14F-4D97-AF65-F5344CB8AC3E}">
        <p14:creationId xmlns:p14="http://schemas.microsoft.com/office/powerpoint/2010/main" val="14863371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566C95-53D5-4FDD-9363-160E0FBEFD67}"/>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Скільки роботи виконує цей алгоритм?</a:t>
            </a:r>
          </a:p>
        </p:txBody>
      </p:sp>
      <p:sp>
        <p:nvSpPr>
          <p:cNvPr id="2" name="">
            <a:extLst xmlns:a="http://schemas.openxmlformats.org/drawingml/2006/main">
              <a:ext uri="{FF2B5EF4-FFF2-40B4-BE49-F238E27FC236}">
                <a16:creationId xmlns:a16="http://schemas.microsoft.com/office/drawing/2014/main" id="{3DB5D25D-AEC4-4FBB-9D7E-55B5855EFE6C}"/>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Час O(nB²), пам’ять таблиць O(nB): не плутайте з рюкзаком.</a:t>
            </a:r>
          </a:p>
        </p:txBody>
      </p:sp>
      <p:graphicFrame>
        <p:nvGraphicFramePr>
          <p:cNvPr id="11" name=""/>
          <p:cNvGraphicFramePr/>
          <p:nvPr/>
        </p:nvGraphicFramePr>
        <p:xfrm>
          <a:off xmlns:a="http://schemas.openxmlformats.org/drawingml/2006/main" x="685800" y="1685925"/>
          <a:ext xmlns:a="http://schemas.openxmlformats.org/drawingml/2006/main" cx="10820400" cy="2686050"/>
        </p:xfrm>
        <a:graphic xmlns:a="http://schemas.openxmlformats.org/drawingml/2006/main">
          <a:graphicData uri="http://schemas.openxmlformats.org/drawingml/2006/table">
            <a:tbl>
              <a:tblPr/>
              <a:tblGrid>
                <a:gridCol w="4019550"/>
                <a:gridCol w="3181350"/>
                <a:gridCol w="3619500"/>
              </a:tblGrid>
              <a:tr h="671513">
                <a:tc>
                  <a:txBody>
                    <a:bodyPr/>
                    <a:lstStyle/>
                    <a:p>
                      <a:r>
                        <a:rPr sz="2175" b="1">
                          <a:solidFill>
                            <a:srgbClr val="FFFFFF"/>
                          </a:solidFill>
                          <a:latin typeface="Arial"/>
                          <a:ea typeface="Arial"/>
                          <a:cs typeface="Arial"/>
                        </a:rPr>
                        <a:t>Показник</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3 сервіси, B = 6</a:t>
                      </a:r>
                    </a:p>
                  </a:txBody>
                  <a:tcPr marL="95250" marR="95250" marT="57150" marB="57150" anchor="ctr">
                    <a:solidFill>
                      <a:srgbClr val="173047"/>
                    </a:solidFill>
                  </a:tcPr>
                </a:tc>
                <a:tc>
                  <a:txBody>
                    <a:bodyPr/>
                    <a:lstStyle/>
                    <a:p>
                      <a:r>
                        <a:rPr sz="2175" b="1">
                          <a:solidFill>
                            <a:srgbClr val="FFFFFF"/>
                          </a:solidFill>
                          <a:latin typeface="Arial"/>
                          <a:ea typeface="Arial"/>
                          <a:cs typeface="Arial"/>
                        </a:rPr>
                        <a:t>10 сервісів, B = 50</a:t>
                      </a:r>
                    </a:p>
                  </a:txBody>
                  <a:tcPr marL="95250" marR="95250" marT="57150" marB="57150" anchor="ctr">
                    <a:solidFill>
                      <a:srgbClr val="173047"/>
                    </a:solidFill>
                  </a:tcPr>
                </a:tc>
              </a:tr>
              <a:tr h="671513">
                <a:tc>
                  <a:txBody>
                    <a:bodyPr/>
                    <a:lstStyle/>
                    <a:p>
                      <a:r>
                        <a:rPr sz="2175">
                          <a:solidFill>
                            <a:srgbClr val="173047"/>
                          </a:solidFill>
                          <a:latin typeface="Arial"/>
                          <a:ea typeface="Arial"/>
                          <a:cs typeface="Arial"/>
                        </a:rPr>
                        <a:t>Обчислених станів</a:t>
                      </a:r>
                    </a:p>
                  </a:txBody>
                  <a:tcPr marL="95250" marR="95250" marT="57150" marB="57150" anchor="ctr">
                    <a:solidFill>
                      <a:srgbClr val="FFFFFF"/>
                    </a:solidFill>
                  </a:tcPr>
                </a:tc>
                <a:tc>
                  <a:txBody>
                    <a:bodyPr/>
                    <a:lstStyle/>
                    <a:p>
                      <a:r>
                        <a:rPr sz="2175">
                          <a:solidFill>
                            <a:srgbClr val="173047"/>
                          </a:solidFill>
                          <a:latin typeface="Arial"/>
                          <a:ea typeface="Arial"/>
                          <a:cs typeface="Arial"/>
                        </a:rPr>
                        <a:t>21</a:t>
                      </a:r>
                    </a:p>
                  </a:txBody>
                  <a:tcPr marL="95250" marR="95250" marT="57150" marB="57150" anchor="ctr">
                    <a:solidFill>
                      <a:srgbClr val="FFFFFF"/>
                    </a:solidFill>
                  </a:tcPr>
                </a:tc>
                <a:tc>
                  <a:txBody>
                    <a:bodyPr/>
                    <a:lstStyle/>
                    <a:p>
                      <a:r>
                        <a:rPr sz="2175">
                          <a:solidFill>
                            <a:srgbClr val="173047"/>
                          </a:solidFill>
                          <a:latin typeface="Arial"/>
                          <a:ea typeface="Arial"/>
                          <a:cs typeface="Arial"/>
                        </a:rPr>
                        <a:t>510</a:t>
                      </a:r>
                    </a:p>
                  </a:txBody>
                  <a:tcPr marL="95250" marR="95250" marT="57150" marB="57150" anchor="ctr">
                    <a:solidFill>
                      <a:srgbClr val="FFFFFF"/>
                    </a:solidFill>
                  </a:tcPr>
                </a:tc>
              </a:tr>
              <a:tr h="671513">
                <a:tc>
                  <a:txBody>
                    <a:bodyPr/>
                    <a:lstStyle/>
                    <a:p>
                      <a:r>
                        <a:rPr sz="2175">
                          <a:solidFill>
                            <a:srgbClr val="173047"/>
                          </a:solidFill>
                          <a:latin typeface="Arial"/>
                          <a:ea typeface="Arial"/>
                          <a:cs typeface="Arial"/>
                        </a:rPr>
                        <a:t>Перевірок кандидатів</a:t>
                      </a:r>
                    </a:p>
                  </a:txBody>
                  <a:tcPr marL="95250" marR="95250" marT="57150" marB="57150" anchor="ctr">
                    <a:solidFill>
                      <a:srgbClr val="FFFFFF"/>
                    </a:solidFill>
                  </a:tcPr>
                </a:tc>
                <a:tc>
                  <a:txBody>
                    <a:bodyPr/>
                    <a:lstStyle/>
                    <a:p>
                      <a:r>
                        <a:rPr sz="2175">
                          <a:solidFill>
                            <a:srgbClr val="173047"/>
                          </a:solidFill>
                          <a:latin typeface="Arial"/>
                          <a:ea typeface="Arial"/>
                          <a:cs typeface="Arial"/>
                        </a:rPr>
                        <a:t>84</a:t>
                      </a:r>
                    </a:p>
                  </a:txBody>
                  <a:tcPr marL="95250" marR="95250" marT="57150" marB="57150" anchor="ctr">
                    <a:solidFill>
                      <a:srgbClr val="FFFFFF"/>
                    </a:solidFill>
                  </a:tcPr>
                </a:tc>
                <a:tc>
                  <a:txBody>
                    <a:bodyPr/>
                    <a:lstStyle/>
                    <a:p>
                      <a:r>
                        <a:rPr sz="2175">
                          <a:solidFill>
                            <a:srgbClr val="173047"/>
                          </a:solidFill>
                          <a:latin typeface="Arial"/>
                          <a:ea typeface="Arial"/>
                          <a:cs typeface="Arial"/>
                        </a:rPr>
                        <a:t>13 260</a:t>
                      </a:r>
                    </a:p>
                  </a:txBody>
                  <a:tcPr marL="95250" marR="95250" marT="57150" marB="57150" anchor="ctr">
                    <a:solidFill>
                      <a:srgbClr val="FFFFFF"/>
                    </a:solidFill>
                  </a:tcPr>
                </a:tc>
              </a:tr>
              <a:tr h="671513">
                <a:tc>
                  <a:txBody>
                    <a:bodyPr/>
                    <a:lstStyle/>
                    <a:p>
                      <a:r>
                        <a:rPr sz="2175">
                          <a:solidFill>
                            <a:srgbClr val="173047"/>
                          </a:solidFill>
                          <a:latin typeface="Arial"/>
                          <a:ea typeface="Arial"/>
                          <a:cs typeface="Arial"/>
                        </a:rPr>
                        <a:t>Допустимих повних планів</a:t>
                      </a:r>
                    </a:p>
                  </a:txBody>
                  <a:tcPr marL="95250" marR="95250" marT="57150" marB="57150" anchor="ctr">
                    <a:solidFill>
                      <a:srgbClr val="FFFFFF"/>
                    </a:solidFill>
                  </a:tcPr>
                </a:tc>
                <a:tc>
                  <a:txBody>
                    <a:bodyPr/>
                    <a:lstStyle/>
                    <a:p>
                      <a:r>
                        <a:rPr sz="2175">
                          <a:solidFill>
                            <a:srgbClr val="173047"/>
                          </a:solidFill>
                          <a:latin typeface="Arial"/>
                          <a:ea typeface="Arial"/>
                          <a:cs typeface="Arial"/>
                        </a:rPr>
                        <a:t>84</a:t>
                      </a:r>
                    </a:p>
                  </a:txBody>
                  <a:tcPr marL="95250" marR="95250" marT="57150" marB="57150" anchor="ctr">
                    <a:solidFill>
                      <a:srgbClr val="FFFFFF"/>
                    </a:solidFill>
                  </a:tcPr>
                </a:tc>
                <a:tc>
                  <a:txBody>
                    <a:bodyPr/>
                    <a:lstStyle/>
                    <a:p>
                      <a:r>
                        <a:rPr sz="2175">
                          <a:solidFill>
                            <a:srgbClr val="173047"/>
                          </a:solidFill>
                          <a:latin typeface="Arial"/>
                          <a:ea typeface="Arial"/>
                          <a:cs typeface="Arial"/>
                        </a:rPr>
                        <a:t>75 394 027 566</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6B95A73-F40B-4BEE-9E65-201BCFA07F8B}"/>
              </a:ext>
            </a:extLst>
          </p:cNvPr>
          <p:cNvSpPr>
            <a:spLocks xmlns:a="http://schemas.openxmlformats.org/drawingml/2006/main" noGrp="1"/>
          </p:cNvSpPr>
          <p:nvPr/>
        </p:nvSpPr>
        <p:spPr>
          <a:xfrm xmlns:a="http://schemas.openxmlformats.org/drawingml/2006/main">
            <a:off x="685800" y="46958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На кожному стані перебираємо до B + 1 рішень.</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Великий числовий бюджет може зробити ДП дорогим.</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43</a:t>
            </a:r>
          </a:p>
        </p:txBody>
      </p:sp>
    </p:spTree>
    <p:extLst>
      <p:ext uri="{BB962C8B-B14F-4D97-AF65-F5344CB8AC3E}">
        <p14:creationId xmlns:p14="http://schemas.microsoft.com/office/powerpoint/2010/main" val="6299677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127C32-2F9C-4E53-8DE7-AB4DC4287945}"/>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Коли одного залишку b недостатньо?</a:t>
            </a:r>
          </a:p>
        </p:txBody>
      </p:sp>
      <p:sp>
        <p:nvSpPr>
          <p:cNvPr id="2" name="">
            <a:extLst xmlns:a="http://schemas.openxmlformats.org/drawingml/2006/main">
              <a:ext uri="{FF2B5EF4-FFF2-40B4-BE49-F238E27FC236}">
                <a16:creationId xmlns:a16="http://schemas.microsoft.com/office/drawing/2014/main" id="{8F380669-DB61-4D5E-A748-E2C1B9301EA0}"/>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Стан має зберігати всю інформацію, що впливає на майбутнє.</a:t>
            </a:r>
          </a:p>
        </p:txBody>
      </p:sp>
      <p:graphicFrame>
        <p:nvGraphicFramePr>
          <p:cNvPr id="11" name=""/>
          <p:cNvGraphicFramePr/>
          <p:nvPr/>
        </p:nvGraphicFramePr>
        <p:xfrm>
          <a:off xmlns:a="http://schemas.openxmlformats.org/drawingml/2006/main" x="685800" y="1562100"/>
          <a:ext xmlns:a="http://schemas.openxmlformats.org/drawingml/2006/main" cx="10820400" cy="3524250"/>
        </p:xfrm>
        <a:graphic xmlns:a="http://schemas.openxmlformats.org/drawingml/2006/main">
          <a:graphicData uri="http://schemas.openxmlformats.org/drawingml/2006/table">
            <a:tbl>
              <a:tblPr/>
              <a:tblGrid>
                <a:gridCol w="5524500"/>
                <a:gridCol w="5295900"/>
              </a:tblGrid>
              <a:tr h="704850">
                <a:tc>
                  <a:txBody>
                    <a:bodyPr/>
                    <a:lstStyle/>
                    <a:p>
                      <a:r>
                        <a:rPr sz="2250" b="1">
                          <a:solidFill>
                            <a:srgbClr val="FFFFFF"/>
                          </a:solidFill>
                          <a:latin typeface="Arial"/>
                          <a:ea typeface="Arial"/>
                          <a:cs typeface="Arial"/>
                        </a:rPr>
                        <a:t>Зміна задачі</a:t>
                      </a:r>
                    </a:p>
                  </a:txBody>
                  <a:tcPr marL="95250" marR="95250" marT="57150" marB="57150" anchor="ctr">
                    <a:solidFill>
                      <a:srgbClr val="173047"/>
                    </a:solidFill>
                  </a:tcPr>
                </a:tc>
                <a:tc>
                  <a:txBody>
                    <a:bodyPr/>
                    <a:lstStyle/>
                    <a:p>
                      <a:r>
                        <a:rPr sz="2250" b="1">
                          <a:solidFill>
                            <a:srgbClr val="FFFFFF"/>
                          </a:solidFill>
                          <a:latin typeface="Arial"/>
                          <a:ea typeface="Arial"/>
                          <a:cs typeface="Arial"/>
                        </a:rPr>
                        <a:t>Що додати до стану</a:t>
                      </a:r>
                    </a:p>
                  </a:txBody>
                  <a:tcPr marL="95250" marR="95250" marT="57150" marB="57150" anchor="ctr">
                    <a:solidFill>
                      <a:srgbClr val="173047"/>
                    </a:solidFill>
                  </a:tcPr>
                </a:tc>
              </a:tr>
              <a:tr h="704850">
                <a:tc>
                  <a:txBody>
                    <a:bodyPr/>
                    <a:lstStyle/>
                    <a:p>
                      <a:r>
                        <a:rPr sz="2250">
                          <a:solidFill>
                            <a:srgbClr val="173047"/>
                          </a:solidFill>
                          <a:latin typeface="Arial"/>
                          <a:ea typeface="Arial"/>
                          <a:cs typeface="Arial"/>
                        </a:rPr>
                        <a:t>GPU і RAM обмежені окремо</a:t>
                      </a:r>
                    </a:p>
                  </a:txBody>
                  <a:tcPr marL="95250" marR="95250" marT="57150" marB="57150" anchor="ctr">
                    <a:solidFill>
                      <a:srgbClr val="FFFFFF"/>
                    </a:solidFill>
                  </a:tcPr>
                </a:tc>
                <a:tc>
                  <a:txBody>
                    <a:bodyPr/>
                    <a:lstStyle/>
                    <a:p>
                      <a:r>
                        <a:rPr sz="2250">
                          <a:solidFill>
                            <a:srgbClr val="173047"/>
                          </a:solidFill>
                          <a:latin typeface="Arial"/>
                          <a:ea typeface="Arial"/>
                          <a:cs typeface="Arial"/>
                        </a:rPr>
                        <a:t>Залишки GPU та RAM</a:t>
                      </a:r>
                    </a:p>
                  </a:txBody>
                  <a:tcPr marL="95250" marR="95250" marT="57150" marB="57150" anchor="ctr">
                    <a:solidFill>
                      <a:srgbClr val="FFFFFF"/>
                    </a:solidFill>
                  </a:tcPr>
                </a:tc>
              </a:tr>
              <a:tr h="704850">
                <a:tc>
                  <a:txBody>
                    <a:bodyPr/>
                    <a:lstStyle/>
                    <a:p>
                      <a:r>
                        <a:rPr sz="2250">
                          <a:solidFill>
                            <a:srgbClr val="173047"/>
                          </a:solidFill>
                          <a:latin typeface="Arial"/>
                          <a:ea typeface="Arial"/>
                          <a:cs typeface="Arial"/>
                        </a:rPr>
                        <a:t>B залежить від запуску A</a:t>
                      </a:r>
                    </a:p>
                  </a:txBody>
                  <a:tcPr marL="95250" marR="95250" marT="57150" marB="57150" anchor="ctr">
                    <a:solidFill>
                      <a:srgbClr val="FFFFFF"/>
                    </a:solidFill>
                  </a:tcPr>
                </a:tc>
                <a:tc>
                  <a:txBody>
                    <a:bodyPr/>
                    <a:lstStyle/>
                    <a:p>
                      <a:r>
                        <a:rPr sz="2250">
                          <a:solidFill>
                            <a:srgbClr val="173047"/>
                          </a:solidFill>
                          <a:latin typeface="Arial"/>
                          <a:ea typeface="Arial"/>
                          <a:cs typeface="Arial"/>
                        </a:rPr>
                        <a:t>Ознаку: чи запущено A</a:t>
                      </a:r>
                    </a:p>
                  </a:txBody>
                  <a:tcPr marL="95250" marR="95250" marT="57150" marB="57150" anchor="ctr">
                    <a:solidFill>
                      <a:srgbClr val="FFFFFF"/>
                    </a:solidFill>
                  </a:tcPr>
                </a:tc>
              </a:tr>
              <a:tr h="704850">
                <a:tc>
                  <a:txBody>
                    <a:bodyPr/>
                    <a:lstStyle/>
                    <a:p>
                      <a:r>
                        <a:rPr sz="2250">
                          <a:solidFill>
                            <a:srgbClr val="173047"/>
                          </a:solidFill>
                          <a:latin typeface="Arial"/>
                          <a:ea typeface="Arial"/>
                          <a:cs typeface="Arial"/>
                        </a:rPr>
                        <a:t>Є вартість перемикання сервісу</a:t>
                      </a:r>
                    </a:p>
                  </a:txBody>
                  <a:tcPr marL="95250" marR="95250" marT="57150" marB="57150" anchor="ctr">
                    <a:solidFill>
                      <a:srgbClr val="FFFFFF"/>
                    </a:solidFill>
                  </a:tcPr>
                </a:tc>
                <a:tc>
                  <a:txBody>
                    <a:bodyPr/>
                    <a:lstStyle/>
                    <a:p>
                      <a:r>
                        <a:rPr sz="2250">
                          <a:solidFill>
                            <a:srgbClr val="173047"/>
                          </a:solidFill>
                          <a:latin typeface="Arial"/>
                          <a:ea typeface="Arial"/>
                          <a:cs typeface="Arial"/>
                        </a:rPr>
                        <a:t>Попередній активний сервіс</a:t>
                      </a:r>
                    </a:p>
                  </a:txBody>
                  <a:tcPr marL="95250" marR="95250" marT="57150" marB="57150" anchor="ctr">
                    <a:solidFill>
                      <a:srgbClr val="FFFFFF"/>
                    </a:solidFill>
                  </a:tcPr>
                </a:tc>
              </a:tr>
              <a:tr h="704850">
                <a:tc>
                  <a:txBody>
                    <a:bodyPr/>
                    <a:lstStyle/>
                    <a:p>
                      <a:r>
                        <a:rPr sz="2250">
                          <a:solidFill>
                            <a:srgbClr val="173047"/>
                          </a:solidFill>
                          <a:latin typeface="Arial"/>
                          <a:ea typeface="Arial"/>
                          <a:cs typeface="Arial"/>
                        </a:rPr>
                        <a:t>Дозволено до двох запусків</a:t>
                      </a:r>
                    </a:p>
                  </a:txBody>
                  <a:tcPr marL="95250" marR="95250" marT="57150" marB="57150" anchor="ctr">
                    <a:solidFill>
                      <a:srgbClr val="FFFFFF"/>
                    </a:solidFill>
                  </a:tcPr>
                </a:tc>
                <a:tc>
                  <a:txBody>
                    <a:bodyPr/>
                    <a:lstStyle/>
                    <a:p>
                      <a:r>
                        <a:rPr sz="2250">
                          <a:solidFill>
                            <a:srgbClr val="173047"/>
                          </a:solidFill>
                          <a:latin typeface="Arial"/>
                          <a:ea typeface="Arial"/>
                          <a:cs typeface="Arial"/>
                        </a:rPr>
                        <a:t>Число ще доступних запусків</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96ADDFE-657E-456E-89C8-EE9D547D8AEE}"/>
              </a:ext>
            </a:extLst>
          </p:cNvPr>
          <p:cNvSpPr>
            <a:spLocks xmlns:a="http://schemas.openxmlformats.org/drawingml/2006/main" noGrp="1"/>
          </p:cNvSpPr>
          <p:nvPr/>
        </p:nvSpPr>
        <p:spPr>
          <a:xfrm xmlns:a="http://schemas.openxmlformats.org/drawingml/2006/main">
            <a:off x="685800" y="5286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Неповний стан → неправильна модель.</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Надто великий стан → надто багато клітинок.</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44</a:t>
            </a:r>
          </a:p>
        </p:txBody>
      </p:sp>
    </p:spTree>
    <p:extLst>
      <p:ext uri="{BB962C8B-B14F-4D97-AF65-F5344CB8AC3E}">
        <p14:creationId xmlns:p14="http://schemas.microsoft.com/office/powerpoint/2010/main" val="53204038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p:cNvCxnSpPr>
            <a:stCxn xmlns:a="http://schemas.openxmlformats.org/drawingml/2006/main" id="7" idx="3"/>
            <a:endCxn xmlns:a="http://schemas.openxmlformats.org/drawingml/2006/main" id="9" idx="1"/>
          </p:cNvCxnSpPr>
          <p:nvPr/>
        </p:nvCxnSpPr>
        <p:spPr>
          <a:xfrm xmlns:a="http://schemas.openxmlformats.org/drawingml/2006/main">
            <a:off x="7620000" y="2743200"/>
            <a:ext cx="83820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20" name=""/>
          <p:cNvCxnSpPr>
            <a:stCxn xmlns:a="http://schemas.openxmlformats.org/drawingml/2006/main" id="5" idx="3"/>
            <a:endCxn xmlns:a="http://schemas.openxmlformats.org/drawingml/2006/main" id="7" idx="1"/>
          </p:cNvCxnSpPr>
          <p:nvPr/>
        </p:nvCxnSpPr>
        <p:spPr>
          <a:xfrm xmlns:a="http://schemas.openxmlformats.org/drawingml/2006/main">
            <a:off x="3733800" y="2743200"/>
            <a:ext cx="83820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8" name="">
            <a:extLst xmlns:a="http://schemas.openxmlformats.org/drawingml/2006/main">
              <a:ext uri="{FF2B5EF4-FFF2-40B4-BE49-F238E27FC236}">
                <a16:creationId xmlns:a16="http://schemas.microsoft.com/office/drawing/2014/main" id="{36FE7499-E7E3-48D8-87CA-298DF74655FB}"/>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Узагальнена модель багатокрокової задачі</a:t>
            </a:r>
          </a:p>
        </p:txBody>
      </p:sp>
      <p:sp>
        <p:nvSpPr>
          <p:cNvPr id="2" name="">
            <a:extLst xmlns:a="http://schemas.openxmlformats.org/drawingml/2006/main">
              <a:ext uri="{FF2B5EF4-FFF2-40B4-BE49-F238E27FC236}">
                <a16:creationId xmlns:a16="http://schemas.microsoft.com/office/drawing/2014/main" id="{EC76C3B8-0851-4177-8F8D-C5984523177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витрат замість max використовуємо min.</a:t>
            </a:r>
          </a:p>
        </p:txBody>
      </p:sp>
      <p:sp>
        <p:nvSpPr>
          <p:cNvPr id="4" name="">
            <a:extLst xmlns:a="http://schemas.openxmlformats.org/drawingml/2006/main">
              <a:ext uri="{FF2B5EF4-FFF2-40B4-BE49-F238E27FC236}">
                <a16:creationId xmlns:a16="http://schemas.microsoft.com/office/drawing/2014/main" id="{2B86516C-F53F-4985-8A9F-16F052D2DFF1}"/>
              </a:ext>
            </a:extLst>
          </p:cNvPr>
          <p:cNvSpPr>
            <a:spLocks xmlns:a="http://schemas.openxmlformats.org/drawingml/2006/main" noGrp="1"/>
          </p:cNvSpPr>
          <p:nvPr/>
        </p:nvSpPr>
        <p:spPr>
          <a:xfrm xmlns:a="http://schemas.openxmlformats.org/drawingml/2006/main">
            <a:off x="685800" y="14382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Мета: найбільша сумарна користь до завершення процесу.</a:t>
            </a:r>
          </a:p>
        </p:txBody>
      </p:sp>
      <p:sp>
        <p:nvSpPr>
          <p:cNvPr id="5" name="">
            <a:extLst xmlns:a="http://schemas.openxmlformats.org/drawingml/2006/main">
              <a:ext uri="{FF2B5EF4-FFF2-40B4-BE49-F238E27FC236}">
                <a16:creationId xmlns:a16="http://schemas.microsoft.com/office/drawing/2014/main" id="{DED7D487-2BF0-4CD8-94F1-3CDB395A45D9}"/>
              </a:ext>
            </a:extLst>
          </p:cNvPr>
          <p:cNvSpPr>
            <a:spLocks xmlns:a="http://schemas.openxmlformats.org/drawingml/2006/main" noGrp="1"/>
          </p:cNvSpPr>
          <p:nvPr/>
        </p:nvSpPr>
        <p:spPr>
          <a:xfrm xmlns:a="http://schemas.openxmlformats.org/drawingml/2006/main">
            <a:off x="685800" y="217170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6" name="">
            <a:extLst xmlns:a="http://schemas.openxmlformats.org/drawingml/2006/main">
              <a:ext uri="{FF2B5EF4-FFF2-40B4-BE49-F238E27FC236}">
                <a16:creationId xmlns:a16="http://schemas.microsoft.com/office/drawing/2014/main" id="{D2723478-663F-4BA3-B2CF-218951B1F893}"/>
              </a:ext>
            </a:extLst>
          </p:cNvPr>
          <p:cNvSpPr>
            <a:spLocks xmlns:a="http://schemas.openxmlformats.org/drawingml/2006/main" noGrp="1"/>
          </p:cNvSpPr>
          <p:nvPr/>
        </p:nvSpPr>
        <p:spPr>
          <a:xfrm xmlns:a="http://schemas.openxmlformats.org/drawingml/2006/main">
            <a:off x="800100" y="222885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Стан s</a:t>
            </a:r>
          </a:p>
        </p:txBody>
      </p:sp>
      <p:sp>
        <p:nvSpPr>
          <p:cNvPr id="7" name="">
            <a:extLst xmlns:a="http://schemas.openxmlformats.org/drawingml/2006/main">
              <a:ext uri="{FF2B5EF4-FFF2-40B4-BE49-F238E27FC236}">
                <a16:creationId xmlns:a16="http://schemas.microsoft.com/office/drawing/2014/main" id="{5E1F6EFB-692D-4AD5-85E2-16CA1099F749}"/>
              </a:ext>
            </a:extLst>
          </p:cNvPr>
          <p:cNvSpPr>
            <a:spLocks xmlns:a="http://schemas.openxmlformats.org/drawingml/2006/main" noGrp="1"/>
          </p:cNvSpPr>
          <p:nvPr/>
        </p:nvSpPr>
        <p:spPr>
          <a:xfrm xmlns:a="http://schemas.openxmlformats.org/drawingml/2006/main">
            <a:off x="4572000" y="217170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8" name="">
            <a:extLst xmlns:a="http://schemas.openxmlformats.org/drawingml/2006/main">
              <a:ext uri="{FF2B5EF4-FFF2-40B4-BE49-F238E27FC236}">
                <a16:creationId xmlns:a16="http://schemas.microsoft.com/office/drawing/2014/main" id="{1B8D75A3-717F-470F-888F-191178CFD670}"/>
              </a:ext>
            </a:extLst>
          </p:cNvPr>
          <p:cNvSpPr>
            <a:spLocks xmlns:a="http://schemas.openxmlformats.org/drawingml/2006/main" noGrp="1"/>
          </p:cNvSpPr>
          <p:nvPr/>
        </p:nvSpPr>
        <p:spPr>
          <a:xfrm xmlns:a="http://schemas.openxmlformats.org/drawingml/2006/main">
            <a:off x="4686300" y="222885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Дія u ∈ Uₖ(s)</a:t>
            </a:r>
          </a:p>
        </p:txBody>
      </p:sp>
      <p:sp>
        <p:nvSpPr>
          <p:cNvPr id="9" name="">
            <a:extLst xmlns:a="http://schemas.openxmlformats.org/drawingml/2006/main">
              <a:ext uri="{FF2B5EF4-FFF2-40B4-BE49-F238E27FC236}">
                <a16:creationId xmlns:a16="http://schemas.microsoft.com/office/drawing/2014/main" id="{4E4042B2-FA86-4738-A303-467F6818E483}"/>
              </a:ext>
            </a:extLst>
          </p:cNvPr>
          <p:cNvSpPr>
            <a:spLocks xmlns:a="http://schemas.openxmlformats.org/drawingml/2006/main" noGrp="1"/>
          </p:cNvSpPr>
          <p:nvPr/>
        </p:nvSpPr>
        <p:spPr>
          <a:xfrm xmlns:a="http://schemas.openxmlformats.org/drawingml/2006/main">
            <a:off x="8458200" y="2171700"/>
            <a:ext cx="3048000" cy="1143000"/>
          </a:xfrm>
          <a:prstGeom xmlns:a="http://schemas.openxmlformats.org/drawingml/2006/main" prst="rect">
            <a:avLst/>
          </a:prstGeom>
          <a:solidFill xmlns:a="http://schemas.openxmlformats.org/drawingml/2006/main">
            <a:srgbClr val="F1F5F8"/>
          </a:solidFill>
          <a:ln xmlns:a="http://schemas.openxmlformats.org/drawingml/2006/main" w="14288">
            <a:solidFill>
              <a:srgbClr val="CDD8E1"/>
            </a:solidFill>
          </a:ln>
        </p:spPr>
      </p:sp>
      <p:sp>
        <p:nvSpPr>
          <p:cNvPr id="10" name="">
            <a:extLst xmlns:a="http://schemas.openxmlformats.org/drawingml/2006/main">
              <a:ext uri="{FF2B5EF4-FFF2-40B4-BE49-F238E27FC236}">
                <a16:creationId xmlns:a16="http://schemas.microsoft.com/office/drawing/2014/main" id="{2B8DAECA-6721-489C-B9D8-84A091C031B5}"/>
              </a:ext>
            </a:extLst>
          </p:cNvPr>
          <p:cNvSpPr>
            <a:spLocks xmlns:a="http://schemas.openxmlformats.org/drawingml/2006/main" noGrp="1"/>
          </p:cNvSpPr>
          <p:nvPr/>
        </p:nvSpPr>
        <p:spPr>
          <a:xfrm xmlns:a="http://schemas.openxmlformats.org/drawingml/2006/main">
            <a:off x="8572500" y="2228850"/>
            <a:ext cx="281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Новий стан</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fₖ(s, u)</a:t>
            </a:r>
          </a:p>
        </p:txBody>
      </p:sp>
      <p:sp>
        <p:nvSpPr>
          <p:cNvPr id="13" name="">
            <a:extLst xmlns:a="http://schemas.openxmlformats.org/drawingml/2006/main">
              <a:ext uri="{FF2B5EF4-FFF2-40B4-BE49-F238E27FC236}">
                <a16:creationId xmlns:a16="http://schemas.microsoft.com/office/drawing/2014/main" id="{03A10740-A8E8-471C-A792-9ED2B11C64CC}"/>
              </a:ext>
            </a:extLst>
          </p:cNvPr>
          <p:cNvSpPr>
            <a:spLocks xmlns:a="http://schemas.openxmlformats.org/drawingml/2006/main" noGrp="1"/>
          </p:cNvSpPr>
          <p:nvPr/>
        </p:nvSpPr>
        <p:spPr>
          <a:xfrm xmlns:a="http://schemas.openxmlformats.org/drawingml/2006/main">
            <a:off x="685800" y="38195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00857D"/>
                </a:solidFill>
                <a:latin typeface="Arial"/>
                <a:ea typeface="Arial"/>
                <a:cs typeface="Arial"/>
              </a:defRPr>
            </a:pPr>
            <a:r>
              <a:rPr sz="3150" b="1">
                <a:solidFill>
                  <a:srgbClr val="00857D"/>
                </a:solidFill>
                <a:latin typeface="Arial"/>
                <a:ea typeface="Arial"/>
                <a:cs typeface="Arial"/>
              </a:rPr>
              <a:t>Vₖ(s) = max [ gₖ(s, u) + Vₖ₊₁(fₖ(s, u)) ]</a:t>
            </a:r>
          </a:p>
        </p:txBody>
      </p:sp>
      <p:sp>
        <p:nvSpPr>
          <p:cNvPr id="14" name="">
            <a:extLst xmlns:a="http://schemas.openxmlformats.org/drawingml/2006/main">
              <a:ext uri="{FF2B5EF4-FFF2-40B4-BE49-F238E27FC236}">
                <a16:creationId xmlns:a16="http://schemas.microsoft.com/office/drawing/2014/main" id="{99F28034-50AF-4E26-8E66-4D40D29724D5}"/>
              </a:ext>
            </a:extLst>
          </p:cNvPr>
          <p:cNvSpPr>
            <a:spLocks xmlns:a="http://schemas.openxmlformats.org/drawingml/2006/main" noGrp="1"/>
          </p:cNvSpPr>
          <p:nvPr/>
        </p:nvSpPr>
        <p:spPr>
          <a:xfrm xmlns:a="http://schemas.openxmlformats.org/drawingml/2006/main">
            <a:off x="685800" y="47148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Перебір u ∈ Uₖ(s). База: Vₙ₊₁(s) = h(s).</a:t>
            </a:r>
          </a:p>
        </p:txBody>
      </p:sp>
      <p:sp>
        <p:nvSpPr>
          <p:cNvPr id="15" name="">
            <a:extLst xmlns:a="http://schemas.openxmlformats.org/drawingml/2006/main">
              <a:ext uri="{FF2B5EF4-FFF2-40B4-BE49-F238E27FC236}">
                <a16:creationId xmlns:a16="http://schemas.microsoft.com/office/drawing/2014/main" id="{0350BA44-28B5-437D-B6FD-3AF4725D3FDD}"/>
              </a:ext>
            </a:extLst>
          </p:cNvPr>
          <p:cNvSpPr>
            <a:spLocks xmlns:a="http://schemas.openxmlformats.org/drawingml/2006/main" noGrp="1"/>
          </p:cNvSpPr>
          <p:nvPr/>
        </p:nvSpPr>
        <p:spPr>
          <a:xfrm xmlns:a="http://schemas.openxmlformats.org/drawingml/2006/main">
            <a:off x="685800" y="53054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Для розподілу GPU: s = b; fₖ(b, u) = b − u; h = 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45</a:t>
            </a:r>
          </a:p>
        </p:txBody>
      </p:sp>
    </p:spTree>
    <p:extLst>
      <p:ext uri="{BB962C8B-B14F-4D97-AF65-F5344CB8AC3E}">
        <p14:creationId xmlns:p14="http://schemas.microsoft.com/office/powerpoint/2010/main" val="152226912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0" name=""/>
          <p:cNvCxnSpPr>
            <a:stCxn xmlns:a="http://schemas.openxmlformats.org/drawingml/2006/main" id="41" idx="3"/>
            <a:endCxn xmlns:a="http://schemas.openxmlformats.org/drawingml/2006/main" id="6" idx="4"/>
          </p:cNvCxnSpPr>
          <p:nvPr/>
        </p:nvCxnSpPr>
        <p:spPr>
          <a:xfrm xmlns:a="http://schemas.openxmlformats.org/drawingml/2006/main" flipH="1" flipV="1">
            <a:off x="3524250" y="3648075"/>
            <a:ext cx="9525" cy="1128713"/>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51" name=""/>
          <p:cNvCxnSpPr>
            <a:stCxn xmlns:a="http://schemas.openxmlformats.org/drawingml/2006/main" id="40" idx="3"/>
            <a:endCxn xmlns:a="http://schemas.openxmlformats.org/drawingml/2006/main" id="41" idx="1"/>
          </p:cNvCxnSpPr>
          <p:nvPr/>
        </p:nvCxnSpPr>
        <p:spPr>
          <a:xfrm xmlns:a="http://schemas.openxmlformats.org/drawingml/2006/main" flipH="1">
            <a:off x="3524250" y="4776788"/>
            <a:ext cx="458152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2" name=""/>
          <p:cNvCxnSpPr>
            <a:stCxn xmlns:a="http://schemas.openxmlformats.org/drawingml/2006/main" id="10" idx="4"/>
            <a:endCxn xmlns:a="http://schemas.openxmlformats.org/drawingml/2006/main" id="40" idx="1"/>
          </p:cNvCxnSpPr>
          <p:nvPr/>
        </p:nvCxnSpPr>
        <p:spPr>
          <a:xfrm xmlns:a="http://schemas.openxmlformats.org/drawingml/2006/main">
            <a:off x="8096250" y="3648075"/>
            <a:ext cx="0" cy="1128713"/>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3" name=""/>
          <p:cNvCxnSpPr>
            <a:stCxn xmlns:a="http://schemas.openxmlformats.org/drawingml/2006/main" id="35" idx="3"/>
            <a:endCxn xmlns:a="http://schemas.openxmlformats.org/drawingml/2006/main" id="10" idx="4"/>
          </p:cNvCxnSpPr>
          <p:nvPr/>
        </p:nvCxnSpPr>
        <p:spPr>
          <a:xfrm xmlns:a="http://schemas.openxmlformats.org/drawingml/2006/main" flipH="1" flipV="1">
            <a:off x="8096250" y="3648075"/>
            <a:ext cx="9525" cy="461963"/>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54" name=""/>
          <p:cNvCxnSpPr>
            <a:stCxn xmlns:a="http://schemas.openxmlformats.org/drawingml/2006/main" id="34" idx="3"/>
            <a:endCxn xmlns:a="http://schemas.openxmlformats.org/drawingml/2006/main" id="35" idx="1"/>
          </p:cNvCxnSpPr>
          <p:nvPr/>
        </p:nvCxnSpPr>
        <p:spPr>
          <a:xfrm xmlns:a="http://schemas.openxmlformats.org/drawingml/2006/main">
            <a:off x="3533775" y="4110038"/>
            <a:ext cx="45624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5" name=""/>
          <p:cNvCxnSpPr>
            <a:stCxn xmlns:a="http://schemas.openxmlformats.org/drawingml/2006/main" id="6" idx="4"/>
            <a:endCxn xmlns:a="http://schemas.openxmlformats.org/drawingml/2006/main" id="34" idx="1"/>
          </p:cNvCxnSpPr>
          <p:nvPr/>
        </p:nvCxnSpPr>
        <p:spPr>
          <a:xfrm xmlns:a="http://schemas.openxmlformats.org/drawingml/2006/main">
            <a:off x="3524250" y="3648075"/>
            <a:ext cx="0" cy="461963"/>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6" name=""/>
          <p:cNvCxnSpPr>
            <a:stCxn xmlns:a="http://schemas.openxmlformats.org/drawingml/2006/main" id="29" idx="3"/>
            <a:endCxn xmlns:a="http://schemas.openxmlformats.org/drawingml/2006/main" id="12" idx="0"/>
          </p:cNvCxnSpPr>
          <p:nvPr/>
        </p:nvCxnSpPr>
        <p:spPr>
          <a:xfrm xmlns:a="http://schemas.openxmlformats.org/drawingml/2006/main" flipH="1">
            <a:off x="10382250" y="2738438"/>
            <a:ext cx="9525" cy="185738"/>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57" name=""/>
          <p:cNvCxnSpPr>
            <a:stCxn xmlns:a="http://schemas.openxmlformats.org/drawingml/2006/main" id="28" idx="3"/>
            <a:endCxn xmlns:a="http://schemas.openxmlformats.org/drawingml/2006/main" id="29" idx="1"/>
          </p:cNvCxnSpPr>
          <p:nvPr/>
        </p:nvCxnSpPr>
        <p:spPr>
          <a:xfrm xmlns:a="http://schemas.openxmlformats.org/drawingml/2006/main">
            <a:off x="5819775" y="2738438"/>
            <a:ext cx="45624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8" name=""/>
          <p:cNvCxnSpPr>
            <a:stCxn xmlns:a="http://schemas.openxmlformats.org/drawingml/2006/main" id="8" idx="0"/>
            <a:endCxn xmlns:a="http://schemas.openxmlformats.org/drawingml/2006/main" id="28" idx="1"/>
          </p:cNvCxnSpPr>
          <p:nvPr/>
        </p:nvCxnSpPr>
        <p:spPr>
          <a:xfrm xmlns:a="http://schemas.openxmlformats.org/drawingml/2006/main" flipV="1">
            <a:off x="5810250" y="2738438"/>
            <a:ext cx="0" cy="185738"/>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9" name=""/>
          <p:cNvCxnSpPr>
            <a:stCxn xmlns:a="http://schemas.openxmlformats.org/drawingml/2006/main" id="23" idx="3"/>
            <a:endCxn xmlns:a="http://schemas.openxmlformats.org/drawingml/2006/main" id="8" idx="0"/>
          </p:cNvCxnSpPr>
          <p:nvPr/>
        </p:nvCxnSpPr>
        <p:spPr>
          <a:xfrm xmlns:a="http://schemas.openxmlformats.org/drawingml/2006/main" flipH="1">
            <a:off x="5810250" y="2243138"/>
            <a:ext cx="9525" cy="681038"/>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1247775" y="2243138"/>
            <a:ext cx="45624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61" name=""/>
          <p:cNvCxnSpPr>
            <a:stCxn xmlns:a="http://schemas.openxmlformats.org/drawingml/2006/main" id="4" idx="0"/>
            <a:endCxn xmlns:a="http://schemas.openxmlformats.org/drawingml/2006/main" id="22" idx="1"/>
          </p:cNvCxnSpPr>
          <p:nvPr/>
        </p:nvCxnSpPr>
        <p:spPr>
          <a:xfrm xmlns:a="http://schemas.openxmlformats.org/drawingml/2006/main" flipV="1">
            <a:off x="1238250" y="2243138"/>
            <a:ext cx="0" cy="681038"/>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62" name=""/>
          <p:cNvCxnSpPr>
            <a:stCxn xmlns:a="http://schemas.openxmlformats.org/drawingml/2006/main" id="10" idx="6"/>
            <a:endCxn xmlns:a="http://schemas.openxmlformats.org/drawingml/2006/main" id="12" idx="2"/>
          </p:cNvCxnSpPr>
          <p:nvPr/>
        </p:nvCxnSpPr>
        <p:spPr>
          <a:xfrm xmlns:a="http://schemas.openxmlformats.org/drawingml/2006/main">
            <a:off x="8505825" y="3286125"/>
            <a:ext cx="1466850" cy="0"/>
          </a:xfrm>
          <a:prstGeom xmlns:a="http://schemas.openxmlformats.org/drawingml/2006/main" prst="straightConnector1">
            <a:avLst/>
          </a:prstGeom>
          <a:ln xmlns:a="http://schemas.openxmlformats.org/drawingml/2006/main" w="28575">
            <a:solidFill>
              <a:srgbClr val="1479AE"/>
            </a:solidFill>
            <a:tailEnd type="triangle" w="med" len="med"/>
          </a:ln>
        </p:spPr>
      </p:cxnSp>
      <p:cxnSp>
        <p:nvCxnSpPr>
          <p:cNvPr id="63" name=""/>
          <p:cNvCxnSpPr>
            <a:stCxn xmlns:a="http://schemas.openxmlformats.org/drawingml/2006/main" id="8" idx="6"/>
            <a:endCxn xmlns:a="http://schemas.openxmlformats.org/drawingml/2006/main" id="10" idx="2"/>
          </p:cNvCxnSpPr>
          <p:nvPr/>
        </p:nvCxnSpPr>
        <p:spPr>
          <a:xfrm xmlns:a="http://schemas.openxmlformats.org/drawingml/2006/main">
            <a:off x="6219825" y="3286125"/>
            <a:ext cx="1466850" cy="0"/>
          </a:xfrm>
          <a:prstGeom xmlns:a="http://schemas.openxmlformats.org/drawingml/2006/main" prst="straightConnector1">
            <a:avLst/>
          </a:prstGeom>
          <a:ln xmlns:a="http://schemas.openxmlformats.org/drawingml/2006/main" w="28575">
            <a:solidFill>
              <a:srgbClr val="1479AE"/>
            </a:solidFill>
            <a:tailEnd type="triangle" w="med" len="med"/>
          </a:ln>
        </p:spPr>
      </p:cxnSp>
      <p:cxnSp>
        <p:nvCxnSpPr>
          <p:cNvPr id="64" name=""/>
          <p:cNvCxnSpPr>
            <a:stCxn xmlns:a="http://schemas.openxmlformats.org/drawingml/2006/main" id="6" idx="6"/>
            <a:endCxn xmlns:a="http://schemas.openxmlformats.org/drawingml/2006/main" id="8" idx="2"/>
          </p:cNvCxnSpPr>
          <p:nvPr/>
        </p:nvCxnSpPr>
        <p:spPr>
          <a:xfrm xmlns:a="http://schemas.openxmlformats.org/drawingml/2006/main">
            <a:off x="3933825" y="3286125"/>
            <a:ext cx="1466850" cy="0"/>
          </a:xfrm>
          <a:prstGeom xmlns:a="http://schemas.openxmlformats.org/drawingml/2006/main" prst="straightConnector1">
            <a:avLst/>
          </a:prstGeom>
          <a:ln xmlns:a="http://schemas.openxmlformats.org/drawingml/2006/main" w="28575">
            <a:solidFill>
              <a:srgbClr val="1479AE"/>
            </a:solidFill>
            <a:tailEnd type="triangle" w="med" len="med"/>
          </a:ln>
        </p:spPr>
      </p:cxnSp>
      <p:cxnSp>
        <p:nvCxnSpPr>
          <p:cNvPr id="65" name=""/>
          <p:cNvCxnSpPr>
            <a:stCxn xmlns:a="http://schemas.openxmlformats.org/drawingml/2006/main" id="4" idx="6"/>
            <a:endCxn xmlns:a="http://schemas.openxmlformats.org/drawingml/2006/main" id="6" idx="2"/>
          </p:cNvCxnSpPr>
          <p:nvPr/>
        </p:nvCxnSpPr>
        <p:spPr>
          <a:xfrm xmlns:a="http://schemas.openxmlformats.org/drawingml/2006/main">
            <a:off x="1647825" y="3286125"/>
            <a:ext cx="1466850" cy="0"/>
          </a:xfrm>
          <a:prstGeom xmlns:a="http://schemas.openxmlformats.org/drawingml/2006/main" prst="straightConnector1">
            <a:avLst/>
          </a:prstGeom>
          <a:ln xmlns:a="http://schemas.openxmlformats.org/drawingml/2006/main" w="28575">
            <a:solidFill>
              <a:srgbClr val="1479AE"/>
            </a:solidFill>
            <a:tailEnd type="triangle" w="med" len="med"/>
          </a:ln>
        </p:spPr>
      </p:cxnSp>
      <p:sp>
        <p:nvSpPr>
          <p:cNvPr id="66" name="">
            <a:extLst xmlns:a="http://schemas.openxmlformats.org/drawingml/2006/main">
              <a:ext uri="{FF2B5EF4-FFF2-40B4-BE49-F238E27FC236}">
                <a16:creationId xmlns:a16="http://schemas.microsoft.com/office/drawing/2014/main" id="{9BA542B5-ECF0-4F48-9383-8326BCF94DAC}"/>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Беллман–Форд: найкоротший маршрут у мережі</a:t>
            </a:r>
          </a:p>
        </p:txBody>
      </p:sp>
      <p:sp>
        <p:nvSpPr>
          <p:cNvPr id="2" name="">
            <a:extLst xmlns:a="http://schemas.openxmlformats.org/drawingml/2006/main">
              <a:ext uri="{FF2B5EF4-FFF2-40B4-BE49-F238E27FC236}">
                <a16:creationId xmlns:a16="http://schemas.microsoft.com/office/drawing/2014/main" id="{E73AF1C3-8103-4473-B6B7-F7E346E26F4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Вага ребра — затримка. Шукаємо мінімальну суму від S до T.</a:t>
            </a:r>
          </a:p>
        </p:txBody>
      </p:sp>
      <p:sp>
        <p:nvSpPr>
          <p:cNvPr id="3" name="">
            <a:extLst xmlns:a="http://schemas.openxmlformats.org/drawingml/2006/main">
              <a:ext uri="{FF2B5EF4-FFF2-40B4-BE49-F238E27FC236}">
                <a16:creationId xmlns:a16="http://schemas.microsoft.com/office/drawing/2014/main" id="{9B5275B9-5D47-4394-9866-2A7ED88D1588}"/>
              </a:ext>
            </a:extLst>
          </p:cNvPr>
          <p:cNvSpPr>
            <a:spLocks xmlns:a="http://schemas.openxmlformats.org/drawingml/2006/main" noGrp="1"/>
          </p:cNvSpPr>
          <p:nvPr/>
        </p:nvSpPr>
        <p:spPr>
          <a:xfrm xmlns:a="http://schemas.openxmlformats.org/drawingml/2006/main">
            <a:off x="685800" y="1390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Один пакет. Фіксовані затримки каналів, мс.</a:t>
            </a:r>
          </a:p>
        </p:txBody>
      </p:sp>
      <p:sp>
        <p:nvSpPr>
          <p:cNvPr id="4" name="">
            <a:extLst xmlns:a="http://schemas.openxmlformats.org/drawingml/2006/main">
              <a:ext uri="{FF2B5EF4-FFF2-40B4-BE49-F238E27FC236}">
                <a16:creationId xmlns:a16="http://schemas.microsoft.com/office/drawing/2014/main" id="{2EE8AFAE-E3C5-48D6-B6B7-73A21CDEB79F}"/>
              </a:ext>
            </a:extLst>
          </p:cNvPr>
          <p:cNvSpPr>
            <a:spLocks xmlns:a="http://schemas.openxmlformats.org/drawingml/2006/main" noGrp="1"/>
          </p:cNvSpPr>
          <p:nvPr/>
        </p:nvSpPr>
        <p:spPr>
          <a:xfrm xmlns:a="http://schemas.openxmlformats.org/drawingml/2006/main">
            <a:off x="828675" y="29241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6BB8C593-C95B-4094-B53E-27E46357B331}"/>
              </a:ext>
            </a:extLst>
          </p:cNvPr>
          <p:cNvSpPr>
            <a:spLocks xmlns:a="http://schemas.openxmlformats.org/drawingml/2006/main" noGrp="1"/>
          </p:cNvSpPr>
          <p:nvPr/>
        </p:nvSpPr>
        <p:spPr>
          <a:xfrm xmlns:a="http://schemas.openxmlformats.org/drawingml/2006/main">
            <a:off x="942975" y="29718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6" name="">
            <a:extLst xmlns:a="http://schemas.openxmlformats.org/drawingml/2006/main">
              <a:ext uri="{FF2B5EF4-FFF2-40B4-BE49-F238E27FC236}">
                <a16:creationId xmlns:a16="http://schemas.microsoft.com/office/drawing/2014/main" id="{BACCA094-0CDB-4D18-8988-749356303BBA}"/>
              </a:ext>
            </a:extLst>
          </p:cNvPr>
          <p:cNvSpPr>
            <a:spLocks xmlns:a="http://schemas.openxmlformats.org/drawingml/2006/main" noGrp="1"/>
          </p:cNvSpPr>
          <p:nvPr/>
        </p:nvSpPr>
        <p:spPr>
          <a:xfrm xmlns:a="http://schemas.openxmlformats.org/drawingml/2006/main">
            <a:off x="3114675" y="29241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609C53AA-420D-4A57-BF4E-4DC3F300ECC8}"/>
              </a:ext>
            </a:extLst>
          </p:cNvPr>
          <p:cNvSpPr>
            <a:spLocks xmlns:a="http://schemas.openxmlformats.org/drawingml/2006/main" noGrp="1"/>
          </p:cNvSpPr>
          <p:nvPr/>
        </p:nvSpPr>
        <p:spPr>
          <a:xfrm xmlns:a="http://schemas.openxmlformats.org/drawingml/2006/main">
            <a:off x="3228975" y="29718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A</a:t>
            </a:r>
          </a:p>
        </p:txBody>
      </p:sp>
      <p:sp>
        <p:nvSpPr>
          <p:cNvPr id="8" name="">
            <a:extLst xmlns:a="http://schemas.openxmlformats.org/drawingml/2006/main">
              <a:ext uri="{FF2B5EF4-FFF2-40B4-BE49-F238E27FC236}">
                <a16:creationId xmlns:a16="http://schemas.microsoft.com/office/drawing/2014/main" id="{326124C5-B3C8-49B3-90EB-2C4E89588DCA}"/>
              </a:ext>
            </a:extLst>
          </p:cNvPr>
          <p:cNvSpPr>
            <a:spLocks xmlns:a="http://schemas.openxmlformats.org/drawingml/2006/main" noGrp="1"/>
          </p:cNvSpPr>
          <p:nvPr/>
        </p:nvSpPr>
        <p:spPr>
          <a:xfrm xmlns:a="http://schemas.openxmlformats.org/drawingml/2006/main">
            <a:off x="5400675" y="29241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9" name="">
            <a:extLst xmlns:a="http://schemas.openxmlformats.org/drawingml/2006/main">
              <a:ext uri="{FF2B5EF4-FFF2-40B4-BE49-F238E27FC236}">
                <a16:creationId xmlns:a16="http://schemas.microsoft.com/office/drawing/2014/main" id="{A4172784-2524-467E-8183-B4AE60FA9FB3}"/>
              </a:ext>
            </a:extLst>
          </p:cNvPr>
          <p:cNvSpPr>
            <a:spLocks xmlns:a="http://schemas.openxmlformats.org/drawingml/2006/main" noGrp="1"/>
          </p:cNvSpPr>
          <p:nvPr/>
        </p:nvSpPr>
        <p:spPr>
          <a:xfrm xmlns:a="http://schemas.openxmlformats.org/drawingml/2006/main">
            <a:off x="5514975" y="29718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B</a:t>
            </a:r>
          </a:p>
        </p:txBody>
      </p:sp>
      <p:sp>
        <p:nvSpPr>
          <p:cNvPr id="10" name="">
            <a:extLst xmlns:a="http://schemas.openxmlformats.org/drawingml/2006/main">
              <a:ext uri="{FF2B5EF4-FFF2-40B4-BE49-F238E27FC236}">
                <a16:creationId xmlns:a16="http://schemas.microsoft.com/office/drawing/2014/main" id="{A3F609A3-5EFF-4B65-B1E7-070E4EF80DCB}"/>
              </a:ext>
            </a:extLst>
          </p:cNvPr>
          <p:cNvSpPr>
            <a:spLocks xmlns:a="http://schemas.openxmlformats.org/drawingml/2006/main" noGrp="1"/>
          </p:cNvSpPr>
          <p:nvPr/>
        </p:nvSpPr>
        <p:spPr>
          <a:xfrm xmlns:a="http://schemas.openxmlformats.org/drawingml/2006/main">
            <a:off x="7686675" y="29241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11" name="">
            <a:extLst xmlns:a="http://schemas.openxmlformats.org/drawingml/2006/main">
              <a:ext uri="{FF2B5EF4-FFF2-40B4-BE49-F238E27FC236}">
                <a16:creationId xmlns:a16="http://schemas.microsoft.com/office/drawing/2014/main" id="{0BDEE0C1-2CF5-4293-B825-F9591BC72F7B}"/>
              </a:ext>
            </a:extLst>
          </p:cNvPr>
          <p:cNvSpPr>
            <a:spLocks xmlns:a="http://schemas.openxmlformats.org/drawingml/2006/main" noGrp="1"/>
          </p:cNvSpPr>
          <p:nvPr/>
        </p:nvSpPr>
        <p:spPr>
          <a:xfrm xmlns:a="http://schemas.openxmlformats.org/drawingml/2006/main">
            <a:off x="7800975" y="29718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C</a:t>
            </a:r>
          </a:p>
        </p:txBody>
      </p:sp>
      <p:sp>
        <p:nvSpPr>
          <p:cNvPr id="12" name="">
            <a:extLst xmlns:a="http://schemas.openxmlformats.org/drawingml/2006/main">
              <a:ext uri="{FF2B5EF4-FFF2-40B4-BE49-F238E27FC236}">
                <a16:creationId xmlns:a16="http://schemas.microsoft.com/office/drawing/2014/main" id="{3C402DB3-DA2D-44DB-B79C-5976FD7D1661}"/>
              </a:ext>
            </a:extLst>
          </p:cNvPr>
          <p:cNvSpPr>
            <a:spLocks xmlns:a="http://schemas.openxmlformats.org/drawingml/2006/main" noGrp="1"/>
          </p:cNvSpPr>
          <p:nvPr/>
        </p:nvSpPr>
        <p:spPr>
          <a:xfrm xmlns:a="http://schemas.openxmlformats.org/drawingml/2006/main">
            <a:off x="9972675" y="29241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13" name="">
            <a:extLst xmlns:a="http://schemas.openxmlformats.org/drawingml/2006/main">
              <a:ext uri="{FF2B5EF4-FFF2-40B4-BE49-F238E27FC236}">
                <a16:creationId xmlns:a16="http://schemas.microsoft.com/office/drawing/2014/main" id="{15ED2B67-52E1-4FD5-8263-7C4B80F04066}"/>
              </a:ext>
            </a:extLst>
          </p:cNvPr>
          <p:cNvSpPr>
            <a:spLocks xmlns:a="http://schemas.openxmlformats.org/drawingml/2006/main" noGrp="1"/>
          </p:cNvSpPr>
          <p:nvPr/>
        </p:nvSpPr>
        <p:spPr>
          <a:xfrm xmlns:a="http://schemas.openxmlformats.org/drawingml/2006/main">
            <a:off x="10086975" y="29718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T</a:t>
            </a:r>
          </a:p>
        </p:txBody>
      </p:sp>
      <p:sp>
        <p:nvSpPr>
          <p:cNvPr id="15" name="">
            <a:extLst xmlns:a="http://schemas.openxmlformats.org/drawingml/2006/main">
              <a:ext uri="{FF2B5EF4-FFF2-40B4-BE49-F238E27FC236}">
                <a16:creationId xmlns:a16="http://schemas.microsoft.com/office/drawing/2014/main" id="{7F601797-6C83-4AE1-89DE-15C779B30C93}"/>
              </a:ext>
            </a:extLst>
          </p:cNvPr>
          <p:cNvSpPr>
            <a:spLocks xmlns:a="http://schemas.openxmlformats.org/drawingml/2006/main" noGrp="1"/>
          </p:cNvSpPr>
          <p:nvPr/>
        </p:nvSpPr>
        <p:spPr>
          <a:xfrm xmlns:a="http://schemas.openxmlformats.org/drawingml/2006/main">
            <a:off x="2095500" y="27146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479AE"/>
                </a:solidFill>
                <a:latin typeface="Arial"/>
                <a:ea typeface="Arial"/>
                <a:cs typeface="Arial"/>
              </a:defRPr>
            </a:pPr>
            <a:r>
              <a:rPr sz="2250" b="1">
                <a:solidFill>
                  <a:srgbClr val="1479AE"/>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15FF1CB3-77CD-45FE-9243-5B821F8FB3C9}"/>
              </a:ext>
            </a:extLst>
          </p:cNvPr>
          <p:cNvSpPr>
            <a:spLocks xmlns:a="http://schemas.openxmlformats.org/drawingml/2006/main" noGrp="1"/>
          </p:cNvSpPr>
          <p:nvPr/>
        </p:nvSpPr>
        <p:spPr>
          <a:xfrm xmlns:a="http://schemas.openxmlformats.org/drawingml/2006/main">
            <a:off x="4381500" y="27146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479AE"/>
                </a:solidFill>
                <a:latin typeface="Arial"/>
                <a:ea typeface="Arial"/>
                <a:cs typeface="Arial"/>
              </a:defRPr>
            </a:pPr>
            <a:r>
              <a:rPr sz="2250" b="1">
                <a:solidFill>
                  <a:srgbClr val="1479AE"/>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3F7001E2-8FD3-4DCA-BBC6-C8E41F59A294}"/>
              </a:ext>
            </a:extLst>
          </p:cNvPr>
          <p:cNvSpPr>
            <a:spLocks xmlns:a="http://schemas.openxmlformats.org/drawingml/2006/main" noGrp="1"/>
          </p:cNvSpPr>
          <p:nvPr/>
        </p:nvSpPr>
        <p:spPr>
          <a:xfrm xmlns:a="http://schemas.openxmlformats.org/drawingml/2006/main">
            <a:off x="6667500" y="27146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479AE"/>
                </a:solidFill>
                <a:latin typeface="Arial"/>
                <a:ea typeface="Arial"/>
                <a:cs typeface="Arial"/>
              </a:defRPr>
            </a:pPr>
            <a:r>
              <a:rPr sz="2250" b="1">
                <a:solidFill>
                  <a:srgbClr val="1479AE"/>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87E119E7-9A01-49A6-AC3B-307AE66BFA77}"/>
              </a:ext>
            </a:extLst>
          </p:cNvPr>
          <p:cNvSpPr>
            <a:spLocks xmlns:a="http://schemas.openxmlformats.org/drawingml/2006/main" noGrp="1"/>
          </p:cNvSpPr>
          <p:nvPr/>
        </p:nvSpPr>
        <p:spPr>
          <a:xfrm xmlns:a="http://schemas.openxmlformats.org/drawingml/2006/main">
            <a:off x="8953500" y="27146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479AE"/>
                </a:solidFill>
                <a:latin typeface="Arial"/>
                <a:ea typeface="Arial"/>
                <a:cs typeface="Arial"/>
              </a:defRPr>
            </a:pPr>
            <a:r>
              <a:rPr sz="2250" b="1">
                <a:solidFill>
                  <a:srgbClr val="1479AE"/>
                </a:solidFill>
                <a:latin typeface="Arial"/>
                <a:ea typeface="Arial"/>
                <a:cs typeface="Arial"/>
              </a:rPr>
              <a:t>1</a:t>
            </a:r>
          </a:p>
        </p:txBody>
      </p:sp>
      <p:sp>
        <p:nvSpPr>
          <p:cNvPr id="22" name="">
            <a:extLst xmlns:a="http://schemas.openxmlformats.org/drawingml/2006/main">
              <a:ext uri="{FF2B5EF4-FFF2-40B4-BE49-F238E27FC236}">
                <a16:creationId xmlns:a16="http://schemas.microsoft.com/office/drawing/2014/main" id="{56C1282F-612A-436B-93C6-262D2E4EC137}"/>
              </a:ext>
            </a:extLst>
          </p:cNvPr>
          <p:cNvSpPr>
            <a:spLocks xmlns:a="http://schemas.openxmlformats.org/drawingml/2006/main" noGrp="1"/>
          </p:cNvSpPr>
          <p:nvPr/>
        </p:nvSpPr>
        <p:spPr>
          <a:xfrm xmlns:a="http://schemas.openxmlformats.org/drawingml/2006/main">
            <a:off x="1238250" y="2238375"/>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D5CF6FE-6E4A-434F-9C21-38C595F4DF42}"/>
              </a:ext>
            </a:extLst>
          </p:cNvPr>
          <p:cNvSpPr>
            <a:spLocks xmlns:a="http://schemas.openxmlformats.org/drawingml/2006/main" noGrp="1"/>
          </p:cNvSpPr>
          <p:nvPr/>
        </p:nvSpPr>
        <p:spPr>
          <a:xfrm xmlns:a="http://schemas.openxmlformats.org/drawingml/2006/main">
            <a:off x="5810250" y="2238375"/>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5AB7856-7E60-46DE-AE75-D44AFAE3B779}"/>
              </a:ext>
            </a:extLst>
          </p:cNvPr>
          <p:cNvSpPr>
            <a:spLocks xmlns:a="http://schemas.openxmlformats.org/drawingml/2006/main" noGrp="1"/>
          </p:cNvSpPr>
          <p:nvPr/>
        </p:nvSpPr>
        <p:spPr>
          <a:xfrm xmlns:a="http://schemas.openxmlformats.org/drawingml/2006/main">
            <a:off x="3238500" y="18478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8</a:t>
            </a:r>
          </a:p>
        </p:txBody>
      </p:sp>
      <p:sp>
        <p:nvSpPr>
          <p:cNvPr id="28" name="">
            <a:extLst xmlns:a="http://schemas.openxmlformats.org/drawingml/2006/main">
              <a:ext uri="{FF2B5EF4-FFF2-40B4-BE49-F238E27FC236}">
                <a16:creationId xmlns:a16="http://schemas.microsoft.com/office/drawing/2014/main" id="{36AAFB89-9C55-472A-A099-91F4600BB28C}"/>
              </a:ext>
            </a:extLst>
          </p:cNvPr>
          <p:cNvSpPr>
            <a:spLocks xmlns:a="http://schemas.openxmlformats.org/drawingml/2006/main" noGrp="1"/>
          </p:cNvSpPr>
          <p:nvPr/>
        </p:nvSpPr>
        <p:spPr>
          <a:xfrm xmlns:a="http://schemas.openxmlformats.org/drawingml/2006/main">
            <a:off x="5810250" y="2733675"/>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063625E-79E8-4DEE-9083-3CD36BF65F8D}"/>
              </a:ext>
            </a:extLst>
          </p:cNvPr>
          <p:cNvSpPr>
            <a:spLocks xmlns:a="http://schemas.openxmlformats.org/drawingml/2006/main" noGrp="1"/>
          </p:cNvSpPr>
          <p:nvPr/>
        </p:nvSpPr>
        <p:spPr>
          <a:xfrm xmlns:a="http://schemas.openxmlformats.org/drawingml/2006/main">
            <a:off x="10382250" y="2733675"/>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A046726-347F-4D44-AD15-D288B0221CF1}"/>
              </a:ext>
            </a:extLst>
          </p:cNvPr>
          <p:cNvSpPr>
            <a:spLocks xmlns:a="http://schemas.openxmlformats.org/drawingml/2006/main" noGrp="1"/>
          </p:cNvSpPr>
          <p:nvPr/>
        </p:nvSpPr>
        <p:spPr>
          <a:xfrm xmlns:a="http://schemas.openxmlformats.org/drawingml/2006/main">
            <a:off x="7810500" y="23241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E383D0F4-B4C9-42AD-9BBE-2F1EA7915EA5}"/>
              </a:ext>
            </a:extLst>
          </p:cNvPr>
          <p:cNvSpPr>
            <a:spLocks xmlns:a="http://schemas.openxmlformats.org/drawingml/2006/main" noGrp="1"/>
          </p:cNvSpPr>
          <p:nvPr/>
        </p:nvSpPr>
        <p:spPr>
          <a:xfrm xmlns:a="http://schemas.openxmlformats.org/drawingml/2006/main">
            <a:off x="3524250" y="410527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9180F37-45EF-483B-B9B2-A4812C61D758}"/>
              </a:ext>
            </a:extLst>
          </p:cNvPr>
          <p:cNvSpPr>
            <a:spLocks xmlns:a="http://schemas.openxmlformats.org/drawingml/2006/main" noGrp="1"/>
          </p:cNvSpPr>
          <p:nvPr/>
        </p:nvSpPr>
        <p:spPr>
          <a:xfrm xmlns:a="http://schemas.openxmlformats.org/drawingml/2006/main">
            <a:off x="8096250" y="4105275"/>
            <a:ext cx="9525" cy="9525"/>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4310310-D4EB-4286-B879-98052964795E}"/>
              </a:ext>
            </a:extLst>
          </p:cNvPr>
          <p:cNvSpPr>
            <a:spLocks xmlns:a="http://schemas.openxmlformats.org/drawingml/2006/main" noGrp="1"/>
          </p:cNvSpPr>
          <p:nvPr/>
        </p:nvSpPr>
        <p:spPr>
          <a:xfrm xmlns:a="http://schemas.openxmlformats.org/drawingml/2006/main">
            <a:off x="5524500" y="41529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7</a:t>
            </a:r>
          </a:p>
        </p:txBody>
      </p:sp>
      <p:sp>
        <p:nvSpPr>
          <p:cNvPr id="40" name="">
            <a:extLst xmlns:a="http://schemas.openxmlformats.org/drawingml/2006/main">
              <a:ext uri="{FF2B5EF4-FFF2-40B4-BE49-F238E27FC236}">
                <a16:creationId xmlns:a16="http://schemas.microsoft.com/office/drawing/2014/main" id="{E413349C-A3B9-480C-8208-4D04D88F9D52}"/>
              </a:ext>
            </a:extLst>
          </p:cNvPr>
          <p:cNvSpPr>
            <a:spLocks xmlns:a="http://schemas.openxmlformats.org/drawingml/2006/main" noGrp="1"/>
          </p:cNvSpPr>
          <p:nvPr/>
        </p:nvSpPr>
        <p:spPr>
          <a:xfrm xmlns:a="http://schemas.openxmlformats.org/drawingml/2006/main">
            <a:off x="8096250" y="4772025"/>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8B1DEC3-F711-42D9-A198-0B21504DD9DC}"/>
              </a:ext>
            </a:extLst>
          </p:cNvPr>
          <p:cNvSpPr>
            <a:spLocks xmlns:a="http://schemas.openxmlformats.org/drawingml/2006/main" noGrp="1"/>
          </p:cNvSpPr>
          <p:nvPr/>
        </p:nvSpPr>
        <p:spPr>
          <a:xfrm xmlns:a="http://schemas.openxmlformats.org/drawingml/2006/main">
            <a:off x="3524250" y="4772025"/>
            <a:ext cx="9525" cy="9525"/>
          </a:xfrm>
          <a:prstGeom xmlns:a="http://schemas.openxmlformats.org/drawingml/2006/main" prst="rect">
            <a:avLst/>
          </a:prstGeom>
          <a:noFill xmlns:a="http://schemas.openxmlformats.org/drawingml/2006/main"/>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BD30608-23EA-4870-A480-1595EEAEED23}"/>
              </a:ext>
            </a:extLst>
          </p:cNvPr>
          <p:cNvSpPr>
            <a:spLocks xmlns:a="http://schemas.openxmlformats.org/drawingml/2006/main" noGrp="1"/>
          </p:cNvSpPr>
          <p:nvPr/>
        </p:nvSpPr>
        <p:spPr>
          <a:xfrm xmlns:a="http://schemas.openxmlformats.org/drawingml/2006/main">
            <a:off x="5524500" y="48291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2</a:t>
            </a:r>
          </a:p>
        </p:txBody>
      </p:sp>
      <p:sp>
        <p:nvSpPr>
          <p:cNvPr id="46" name="">
            <a:extLst xmlns:a="http://schemas.openxmlformats.org/drawingml/2006/main">
              <a:ext uri="{FF2B5EF4-FFF2-40B4-BE49-F238E27FC236}">
                <a16:creationId xmlns:a16="http://schemas.microsoft.com/office/drawing/2014/main" id="{41DDD1FE-5DED-4FBD-9F62-9F19A4F078E2}"/>
              </a:ext>
            </a:extLst>
          </p:cNvPr>
          <p:cNvSpPr>
            <a:spLocks xmlns:a="http://schemas.openxmlformats.org/drawingml/2006/main" noGrp="1"/>
          </p:cNvSpPr>
          <p:nvPr/>
        </p:nvSpPr>
        <p:spPr>
          <a:xfrm xmlns:a="http://schemas.openxmlformats.org/drawingml/2006/main">
            <a:off x="685800" y="3743325"/>
            <a:ext cx="1104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779"/>
                </a:solidFill>
                <a:latin typeface="Arial"/>
                <a:ea typeface="Arial"/>
                <a:cs typeface="Arial"/>
              </a:defRPr>
            </a:pPr>
            <a:r>
              <a:rPr sz="1875" b="0">
                <a:solidFill>
                  <a:srgbClr val="566779"/>
                </a:solidFill>
                <a:latin typeface="Arial"/>
                <a:ea typeface="Arial"/>
                <a:cs typeface="Arial"/>
              </a:rPr>
              <a:t>Джерело</a:t>
            </a:r>
          </a:p>
        </p:txBody>
      </p:sp>
      <p:sp>
        <p:nvSpPr>
          <p:cNvPr id="47" name="">
            <a:extLst xmlns:a="http://schemas.openxmlformats.org/drawingml/2006/main">
              <a:ext uri="{FF2B5EF4-FFF2-40B4-BE49-F238E27FC236}">
                <a16:creationId xmlns:a16="http://schemas.microsoft.com/office/drawing/2014/main" id="{FB717301-279C-4DFC-8C68-D3DB8CECCC48}"/>
              </a:ext>
            </a:extLst>
          </p:cNvPr>
          <p:cNvSpPr>
            <a:spLocks xmlns:a="http://schemas.openxmlformats.org/drawingml/2006/main" noGrp="1"/>
          </p:cNvSpPr>
          <p:nvPr/>
        </p:nvSpPr>
        <p:spPr>
          <a:xfrm xmlns:a="http://schemas.openxmlformats.org/drawingml/2006/main">
            <a:off x="9982200" y="3743325"/>
            <a:ext cx="1047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779"/>
                </a:solidFill>
                <a:latin typeface="Arial"/>
                <a:ea typeface="Arial"/>
                <a:cs typeface="Arial"/>
              </a:defRPr>
            </a:pPr>
            <a:r>
              <a:rPr sz="1875" b="0">
                <a:solidFill>
                  <a:srgbClr val="566779"/>
                </a:solidFill>
                <a:latin typeface="Arial"/>
                <a:ea typeface="Arial"/>
                <a:cs typeface="Arial"/>
              </a:rPr>
              <a:t>Ціль</a:t>
            </a:r>
          </a:p>
        </p:txBody>
      </p:sp>
      <p:sp>
        <p:nvSpPr>
          <p:cNvPr id="48" name="">
            <a:extLst xmlns:a="http://schemas.openxmlformats.org/drawingml/2006/main">
              <a:ext uri="{FF2B5EF4-FFF2-40B4-BE49-F238E27FC236}">
                <a16:creationId xmlns:a16="http://schemas.microsoft.com/office/drawing/2014/main" id="{9341D919-051B-4D2F-89BE-34B5169834A7}"/>
              </a:ext>
            </a:extLst>
          </p:cNvPr>
          <p:cNvSpPr>
            <a:spLocks xmlns:a="http://schemas.openxmlformats.org/drawingml/2006/main" noGrp="1"/>
          </p:cNvSpPr>
          <p:nvPr/>
        </p:nvSpPr>
        <p:spPr>
          <a:xfrm xmlns:a="http://schemas.openxmlformats.org/drawingml/2006/main">
            <a:off x="685800" y="533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00857D"/>
                </a:solidFill>
                <a:latin typeface="Arial"/>
                <a:ea typeface="Arial"/>
                <a:cs typeface="Arial"/>
              </a:defRPr>
            </a:pPr>
            <a:r>
              <a:rPr sz="2550" b="1">
                <a:solidFill>
                  <a:srgbClr val="00857D"/>
                </a:solidFill>
                <a:latin typeface="Arial"/>
                <a:ea typeface="Arial"/>
                <a:cs typeface="Arial"/>
              </a:rPr>
              <a:t>Z(P) = сума ваг ребер маршруту P  →  min</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63</a:t>
            </a:r>
          </a:p>
        </p:txBody>
      </p:sp>
    </p:spTree>
    <p:extLst>
      <p:ext uri="{BB962C8B-B14F-4D97-AF65-F5344CB8AC3E}">
        <p14:creationId xmlns:p14="http://schemas.microsoft.com/office/powerpoint/2010/main" val="176774873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6977FB-484B-4040-B6F8-40695B7618EC}"/>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Як зазвичай обирають алгоритм?</a:t>
            </a:r>
          </a:p>
        </p:txBody>
      </p:sp>
      <p:sp>
        <p:nvSpPr>
          <p:cNvPr id="2" name="">
            <a:extLst xmlns:a="http://schemas.openxmlformats.org/drawingml/2006/main">
              <a:ext uri="{FF2B5EF4-FFF2-40B4-BE49-F238E27FC236}">
                <a16:creationId xmlns:a16="http://schemas.microsoft.com/office/drawing/2014/main" id="{8EB9D902-FD54-4E8A-81E4-32DB741FF2C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Для нашого графа підходить Дейкстра. Беллман–Форд показує ДП.</a:t>
            </a:r>
          </a:p>
        </p:txBody>
      </p:sp>
      <p:graphicFrame>
        <p:nvGraphicFramePr>
          <p:cNvPr id="8" name=""/>
          <p:cNvGraphicFramePr/>
          <p:nvPr/>
        </p:nvGraphicFramePr>
        <p:xfrm>
          <a:off xmlns:a="http://schemas.openxmlformats.org/drawingml/2006/main" x="685800" y="1552575"/>
          <a:ext xmlns:a="http://schemas.openxmlformats.org/drawingml/2006/main" cx="10820400" cy="3762375"/>
        </p:xfrm>
        <a:graphic xmlns:a="http://schemas.openxmlformats.org/drawingml/2006/main">
          <a:graphicData uri="http://schemas.openxmlformats.org/drawingml/2006/table">
            <a:tbl>
              <a:tblPr/>
              <a:tblGrid>
                <a:gridCol w="4333875"/>
                <a:gridCol w="4191000"/>
                <a:gridCol w="2295525"/>
              </a:tblGrid>
              <a:tr h="627063">
                <a:tc>
                  <a:txBody>
                    <a:bodyPr/>
                    <a:lstStyle/>
                    <a:p>
                      <a:r>
                        <a:rPr sz="2100" b="1">
                          <a:solidFill>
                            <a:srgbClr val="FFFFFF"/>
                          </a:solidFill>
                          <a:latin typeface="Arial"/>
                          <a:ea typeface="Arial"/>
                          <a:cs typeface="Arial"/>
                        </a:rPr>
                        <a:t>Умова задачі</a:t>
                      </a:r>
                    </a:p>
                  </a:txBody>
                  <a:tcPr marL="95250" marR="95250" marT="57150" marB="57150" anchor="ctr">
                    <a:solidFill>
                      <a:srgbClr val="173047"/>
                    </a:solidFill>
                  </a:tcPr>
                </a:tc>
                <a:tc>
                  <a:txBody>
                    <a:bodyPr/>
                    <a:lstStyle/>
                    <a:p>
                      <a:r>
                        <a:rPr sz="2100" b="1">
                          <a:solidFill>
                            <a:srgbClr val="FFFFFF"/>
                          </a:solidFill>
                          <a:latin typeface="Arial"/>
                          <a:ea typeface="Arial"/>
                          <a:cs typeface="Arial"/>
                        </a:rPr>
                        <a:t>Метод</a:t>
                      </a:r>
                    </a:p>
                  </a:txBody>
                  <a:tcPr marL="95250" marR="95250" marT="57150" marB="57150" anchor="ctr">
                    <a:solidFill>
                      <a:srgbClr val="173047"/>
                    </a:solidFill>
                  </a:tcPr>
                </a:tc>
                <a:tc>
                  <a:txBody>
                    <a:bodyPr/>
                    <a:lstStyle/>
                    <a:p>
                      <a:r>
                        <a:rPr sz="2100" b="1">
                          <a:solidFill>
                            <a:srgbClr val="FFFFFF"/>
                          </a:solidFill>
                          <a:latin typeface="Arial"/>
                          <a:ea typeface="Arial"/>
                          <a:cs typeface="Arial"/>
                        </a:rPr>
                        <a:t>Час</a:t>
                      </a:r>
                    </a:p>
                  </a:txBody>
                  <a:tcPr marL="95250" marR="95250" marT="57150" marB="57150" anchor="ctr">
                    <a:solidFill>
                      <a:srgbClr val="173047"/>
                    </a:solidFill>
                  </a:tcPr>
                </a:tc>
              </a:tr>
              <a:tr h="627063">
                <a:tc>
                  <a:txBody>
                    <a:bodyPr/>
                    <a:lstStyle/>
                    <a:p>
                      <a:r>
                        <a:rPr sz="2100">
                          <a:solidFill>
                            <a:srgbClr val="173047"/>
                          </a:solidFill>
                          <a:latin typeface="Arial"/>
                          <a:ea typeface="Arial"/>
                          <a:cs typeface="Arial"/>
                        </a:rPr>
                        <a:t>Однакова вага всіх ребер</a:t>
                      </a:r>
                    </a:p>
                  </a:txBody>
                  <a:tcPr marL="95250" marR="95250" marT="57150" marB="57150" anchor="ctr">
                    <a:solidFill>
                      <a:srgbClr val="FFFFFF"/>
                    </a:solidFill>
                  </a:tcPr>
                </a:tc>
                <a:tc>
                  <a:txBody>
                    <a:bodyPr/>
                    <a:lstStyle/>
                    <a:p>
                      <a:r>
                        <a:rPr sz="2100">
                          <a:solidFill>
                            <a:srgbClr val="173047"/>
                          </a:solidFill>
                          <a:latin typeface="Arial"/>
                          <a:ea typeface="Arial"/>
                          <a:cs typeface="Arial"/>
                        </a:rPr>
                        <a:t>Пошук у ширину (BFS)</a:t>
                      </a:r>
                    </a:p>
                  </a:txBody>
                  <a:tcPr marL="95250" marR="95250" marT="57150" marB="57150" anchor="ctr">
                    <a:solidFill>
                      <a:srgbClr val="FFFFFF"/>
                    </a:solidFill>
                  </a:tcPr>
                </a:tc>
                <a:tc>
                  <a:txBody>
                    <a:bodyPr/>
                    <a:lstStyle/>
                    <a:p>
                      <a:r>
                        <a:rPr sz="2100">
                          <a:solidFill>
                            <a:srgbClr val="173047"/>
                          </a:solidFill>
                          <a:latin typeface="Arial"/>
                          <a:ea typeface="Arial"/>
                          <a:cs typeface="Arial"/>
                        </a:rPr>
                        <a:t>O(V + E)</a:t>
                      </a:r>
                    </a:p>
                  </a:txBody>
                  <a:tcPr marL="95250" marR="95250" marT="57150" marB="57150" anchor="ctr">
                    <a:solidFill>
                      <a:srgbClr val="FFFFFF"/>
                    </a:solidFill>
                  </a:tcPr>
                </a:tc>
              </a:tr>
              <a:tr h="627063">
                <a:tc>
                  <a:txBody>
                    <a:bodyPr/>
                    <a:lstStyle/>
                    <a:p>
                      <a:r>
                        <a:rPr sz="2100">
                          <a:solidFill>
                            <a:srgbClr val="173047"/>
                          </a:solidFill>
                          <a:latin typeface="Arial"/>
                          <a:ea typeface="Arial"/>
                          <a:cs typeface="Arial"/>
                        </a:rPr>
                        <a:t>Ваги невід’ємні</a:t>
                      </a:r>
                    </a:p>
                  </a:txBody>
                  <a:tcPr marL="95250" marR="95250" marT="57150" marB="57150" anchor="ctr">
                    <a:solidFill>
                      <a:srgbClr val="FFFFFF"/>
                    </a:solidFill>
                  </a:tcPr>
                </a:tc>
                <a:tc>
                  <a:txBody>
                    <a:bodyPr/>
                    <a:lstStyle/>
                    <a:p>
                      <a:r>
                        <a:rPr sz="2100">
                          <a:solidFill>
                            <a:srgbClr val="173047"/>
                          </a:solidFill>
                          <a:latin typeface="Arial"/>
                          <a:ea typeface="Arial"/>
                          <a:cs typeface="Arial"/>
                        </a:rPr>
                        <a:t>Дейкстра з купою</a:t>
                      </a:r>
                    </a:p>
                  </a:txBody>
                  <a:tcPr marL="95250" marR="95250" marT="57150" marB="57150" anchor="ctr">
                    <a:solidFill>
                      <a:srgbClr val="FFFFFF"/>
                    </a:solidFill>
                  </a:tcPr>
                </a:tc>
                <a:tc>
                  <a:txBody>
                    <a:bodyPr/>
                    <a:lstStyle/>
                    <a:p>
                      <a:r>
                        <a:rPr sz="2100">
                          <a:solidFill>
                            <a:srgbClr val="173047"/>
                          </a:solidFill>
                          <a:latin typeface="Arial"/>
                          <a:ea typeface="Arial"/>
                          <a:cs typeface="Arial"/>
                        </a:rPr>
                        <a:t>O((V + E) log V)</a:t>
                      </a:r>
                    </a:p>
                  </a:txBody>
                  <a:tcPr marL="95250" marR="95250" marT="57150" marB="57150" anchor="ctr">
                    <a:solidFill>
                      <a:srgbClr val="FFFFFF"/>
                    </a:solidFill>
                  </a:tcPr>
                </a:tc>
              </a:tr>
              <a:tr h="627063">
                <a:tc>
                  <a:txBody>
                    <a:bodyPr/>
                    <a:lstStyle/>
                    <a:p>
                      <a:r>
                        <a:rPr sz="2100">
                          <a:solidFill>
                            <a:srgbClr val="173047"/>
                          </a:solidFill>
                          <a:latin typeface="Arial"/>
                          <a:ea typeface="Arial"/>
                          <a:cs typeface="Arial"/>
                        </a:rPr>
                        <a:t>Можливі від’ємні ваги</a:t>
                      </a:r>
                    </a:p>
                  </a:txBody>
                  <a:tcPr marL="95250" marR="95250" marT="57150" marB="57150" anchor="ctr">
                    <a:solidFill>
                      <a:srgbClr val="FFFFFF"/>
                    </a:solidFill>
                  </a:tcPr>
                </a:tc>
                <a:tc>
                  <a:txBody>
                    <a:bodyPr/>
                    <a:lstStyle/>
                    <a:p>
                      <a:r>
                        <a:rPr sz="2100">
                          <a:solidFill>
                            <a:srgbClr val="173047"/>
                          </a:solidFill>
                          <a:latin typeface="Arial"/>
                          <a:ea typeface="Arial"/>
                          <a:cs typeface="Arial"/>
                        </a:rPr>
                        <a:t>Беллман–Форд</a:t>
                      </a:r>
                    </a:p>
                  </a:txBody>
                  <a:tcPr marL="95250" marR="95250" marT="57150" marB="57150" anchor="ctr">
                    <a:solidFill>
                      <a:srgbClr val="FFFFFF"/>
                    </a:solidFill>
                  </a:tcPr>
                </a:tc>
                <a:tc>
                  <a:txBody>
                    <a:bodyPr/>
                    <a:lstStyle/>
                    <a:p>
                      <a:r>
                        <a:rPr sz="2100">
                          <a:solidFill>
                            <a:srgbClr val="173047"/>
                          </a:solidFill>
                          <a:latin typeface="Arial"/>
                          <a:ea typeface="Arial"/>
                          <a:cs typeface="Arial"/>
                        </a:rPr>
                        <a:t>O(VE)</a:t>
                      </a:r>
                    </a:p>
                  </a:txBody>
                  <a:tcPr marL="95250" marR="95250" marT="57150" marB="57150" anchor="ctr">
                    <a:solidFill>
                      <a:srgbClr val="FFFFFF"/>
                    </a:solidFill>
                  </a:tcPr>
                </a:tc>
              </a:tr>
              <a:tr h="627063">
                <a:tc>
                  <a:txBody>
                    <a:bodyPr/>
                    <a:lstStyle/>
                    <a:p>
                      <a:r>
                        <a:rPr sz="2100">
                          <a:solidFill>
                            <a:srgbClr val="173047"/>
                          </a:solidFill>
                          <a:latin typeface="Arial"/>
                          <a:ea typeface="Arial"/>
                          <a:cs typeface="Arial"/>
                        </a:rPr>
                        <a:t>Граф без напрямлених циклів</a:t>
                      </a:r>
                    </a:p>
                  </a:txBody>
                  <a:tcPr marL="95250" marR="95250" marT="57150" marB="57150" anchor="ctr">
                    <a:solidFill>
                      <a:srgbClr val="FFFFFF"/>
                    </a:solidFill>
                  </a:tcPr>
                </a:tc>
                <a:tc>
                  <a:txBody>
                    <a:bodyPr/>
                    <a:lstStyle/>
                    <a:p>
                      <a:r>
                        <a:rPr sz="2100">
                          <a:solidFill>
                            <a:srgbClr val="173047"/>
                          </a:solidFill>
                          <a:latin typeface="Arial"/>
                          <a:ea typeface="Arial"/>
                          <a:cs typeface="Arial"/>
                        </a:rPr>
                        <a:t>Топологічний порядок (DAG)</a:t>
                      </a:r>
                    </a:p>
                  </a:txBody>
                  <a:tcPr marL="95250" marR="95250" marT="57150" marB="57150" anchor="ctr">
                    <a:solidFill>
                      <a:srgbClr val="FFFFFF"/>
                    </a:solidFill>
                  </a:tcPr>
                </a:tc>
                <a:tc>
                  <a:txBody>
                    <a:bodyPr/>
                    <a:lstStyle/>
                    <a:p>
                      <a:r>
                        <a:rPr sz="2100">
                          <a:solidFill>
                            <a:srgbClr val="173047"/>
                          </a:solidFill>
                          <a:latin typeface="Arial"/>
                          <a:ea typeface="Arial"/>
                          <a:cs typeface="Arial"/>
                        </a:rPr>
                        <a:t>O(V + E)</a:t>
                      </a:r>
                    </a:p>
                  </a:txBody>
                  <a:tcPr marL="95250" marR="95250" marT="57150" marB="57150" anchor="ctr">
                    <a:solidFill>
                      <a:srgbClr val="FFFFFF"/>
                    </a:solidFill>
                  </a:tcPr>
                </a:tc>
              </a:tr>
              <a:tr h="627063">
                <a:tc>
                  <a:txBody>
                    <a:bodyPr/>
                    <a:lstStyle/>
                    <a:p>
                      <a:r>
                        <a:rPr sz="2100">
                          <a:solidFill>
                            <a:srgbClr val="173047"/>
                          </a:solidFill>
                          <a:latin typeface="Arial"/>
                          <a:ea typeface="Arial"/>
                          <a:cs typeface="Arial"/>
                        </a:rPr>
                        <a:t>Потрібні відстані для всіх пар</a:t>
                      </a:r>
                    </a:p>
                  </a:txBody>
                  <a:tcPr marL="95250" marR="95250" marT="57150" marB="57150" anchor="ctr">
                    <a:solidFill>
                      <a:srgbClr val="FFFFFF"/>
                    </a:solidFill>
                  </a:tcPr>
                </a:tc>
                <a:tc>
                  <a:txBody>
                    <a:bodyPr/>
                    <a:lstStyle/>
                    <a:p>
                      <a:r>
                        <a:rPr sz="2100">
                          <a:solidFill>
                            <a:srgbClr val="173047"/>
                          </a:solidFill>
                          <a:latin typeface="Arial"/>
                          <a:ea typeface="Arial"/>
                          <a:cs typeface="Arial"/>
                        </a:rPr>
                        <a:t>Флойд–Воршелл</a:t>
                      </a:r>
                    </a:p>
                  </a:txBody>
                  <a:tcPr marL="95250" marR="95250" marT="57150" marB="57150" anchor="ctr">
                    <a:solidFill>
                      <a:srgbClr val="FFFFFF"/>
                    </a:solidFill>
                  </a:tcPr>
                </a:tc>
                <a:tc>
                  <a:txBody>
                    <a:bodyPr/>
                    <a:lstStyle/>
                    <a:p>
                      <a:r>
                        <a:rPr sz="2100">
                          <a:solidFill>
                            <a:srgbClr val="173047"/>
                          </a:solidFill>
                          <a:latin typeface="Arial"/>
                          <a:ea typeface="Arial"/>
                          <a:cs typeface="Arial"/>
                        </a:rPr>
                        <a:t>O(V³)</a:t>
                      </a:r>
                    </a:p>
                  </a:txBody>
                  <a:tcPr marL="95250" marR="9525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0911145-BB4D-40EE-B21A-AF3F08166AD6}"/>
              </a:ext>
            </a:extLst>
          </p:cNvPr>
          <p:cNvSpPr>
            <a:spLocks xmlns:a="http://schemas.openxmlformats.org/drawingml/2006/main" noGrp="1"/>
          </p:cNvSpPr>
          <p:nvPr/>
        </p:nvSpPr>
        <p:spPr>
          <a:xfrm xmlns:a="http://schemas.openxmlformats.org/drawingml/2006/main">
            <a:off x="685800" y="53911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566779"/>
                </a:solidFill>
                <a:latin typeface="Arial"/>
                <a:ea typeface="Arial"/>
                <a:cs typeface="Arial"/>
              </a:defRPr>
            </a:pPr>
            <a:r>
              <a:rPr sz="1800" b="0">
                <a:solidFill>
                  <a:srgbClr val="566779"/>
                </a:solidFill>
                <a:latin typeface="Arial"/>
                <a:ea typeface="Arial"/>
                <a:cs typeface="Arial"/>
              </a:rPr>
              <a:t>V — кількість вершин, E — ребер. Для від’ємних ваг перевіряємо цикли.</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64</a:t>
            </a:r>
          </a:p>
        </p:txBody>
      </p:sp>
    </p:spTree>
    <p:extLst>
      <p:ext uri="{BB962C8B-B14F-4D97-AF65-F5344CB8AC3E}">
        <p14:creationId xmlns:p14="http://schemas.microsoft.com/office/powerpoint/2010/main" val="116248707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912008-6F63-44A4-BD02-C8A6C746EC90}"/>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Чому Беллман–Форд — це ДП?</a:t>
            </a:r>
          </a:p>
        </p:txBody>
      </p:sp>
      <p:sp>
        <p:nvSpPr>
          <p:cNvPr id="2" name="">
            <a:extLst xmlns:a="http://schemas.openxmlformats.org/drawingml/2006/main">
              <a:ext uri="{FF2B5EF4-FFF2-40B4-BE49-F238E27FC236}">
                <a16:creationId xmlns:a16="http://schemas.microsoft.com/office/drawing/2014/main" id="{9D5DF4B2-A29E-43BD-BC35-F5C73DAEC0E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Додаємо одне ребро до вже обчисленого найкращого шляху.</a:t>
            </a:r>
          </a:p>
        </p:txBody>
      </p:sp>
      <p:sp>
        <p:nvSpPr>
          <p:cNvPr id="3" name="">
            <a:extLst xmlns:a="http://schemas.openxmlformats.org/drawingml/2006/main">
              <a:ext uri="{FF2B5EF4-FFF2-40B4-BE49-F238E27FC236}">
                <a16:creationId xmlns:a16="http://schemas.microsoft.com/office/drawing/2014/main" id="{BCD6B595-7018-4E00-94A3-FC5A17B6AAC9}"/>
              </a:ext>
            </a:extLst>
          </p:cNvPr>
          <p:cNvSpPr>
            <a:spLocks xmlns:a="http://schemas.openxmlformats.org/drawingml/2006/main" noGrp="1"/>
          </p:cNvSpPr>
          <p:nvPr/>
        </p:nvSpPr>
        <p:spPr>
          <a:xfrm xmlns:a="http://schemas.openxmlformats.org/drawingml/2006/main">
            <a:off x="685800" y="14859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Стан (k, v): вершина v та не більше ніж k ребер.</a:t>
            </a:r>
          </a:p>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dₖ(v): найменша сумарна затримка для цього стану.</a:t>
            </a:r>
          </a:p>
        </p:txBody>
      </p:sp>
      <p:sp>
        <p:nvSpPr>
          <p:cNvPr id="4" name="">
            <a:extLst xmlns:a="http://schemas.openxmlformats.org/drawingml/2006/main">
              <a:ext uri="{FF2B5EF4-FFF2-40B4-BE49-F238E27FC236}">
                <a16:creationId xmlns:a16="http://schemas.microsoft.com/office/drawing/2014/main" id="{72BB4DE9-A483-446A-8DBC-F296DC6959D0}"/>
              </a:ext>
            </a:extLst>
          </p:cNvPr>
          <p:cNvSpPr>
            <a:spLocks xmlns:a="http://schemas.openxmlformats.org/drawingml/2006/main" noGrp="1"/>
          </p:cNvSpPr>
          <p:nvPr/>
        </p:nvSpPr>
        <p:spPr>
          <a:xfrm xmlns:a="http://schemas.openxmlformats.org/drawingml/2006/main">
            <a:off x="685800" y="25431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73047"/>
                </a:solidFill>
                <a:latin typeface="Arial"/>
                <a:ea typeface="Arial"/>
                <a:cs typeface="Arial"/>
              </a:defRPr>
            </a:pPr>
            <a:r>
              <a:rPr sz="2550" b="0">
                <a:solidFill>
                  <a:srgbClr val="173047"/>
                </a:solidFill>
                <a:latin typeface="Arial"/>
                <a:ea typeface="Arial"/>
                <a:cs typeface="Arial"/>
              </a:rPr>
              <a:t>База: d₀(S) = 0;  d₀(v) = ∞ для v ≠ S.</a:t>
            </a:r>
          </a:p>
        </p:txBody>
      </p:sp>
      <p:sp>
        <p:nvSpPr>
          <p:cNvPr id="5" name="">
            <a:extLst xmlns:a="http://schemas.openxmlformats.org/drawingml/2006/main">
              <a:ext uri="{FF2B5EF4-FFF2-40B4-BE49-F238E27FC236}">
                <a16:creationId xmlns:a16="http://schemas.microsoft.com/office/drawing/2014/main" id="{B4E847DD-55AB-4B72-BE21-E3AFBB0C687F}"/>
              </a:ext>
            </a:extLst>
          </p:cNvPr>
          <p:cNvSpPr>
            <a:spLocks xmlns:a="http://schemas.openxmlformats.org/drawingml/2006/main" noGrp="1"/>
          </p:cNvSpPr>
          <p:nvPr/>
        </p:nvSpPr>
        <p:spPr>
          <a:xfrm xmlns:a="http://schemas.openxmlformats.org/drawingml/2006/main">
            <a:off x="685800" y="33718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0857D"/>
                </a:solidFill>
                <a:latin typeface="Arial"/>
                <a:ea typeface="Arial"/>
                <a:cs typeface="Arial"/>
              </a:defRPr>
            </a:pPr>
            <a:r>
              <a:rPr sz="2850" b="1">
                <a:solidFill>
                  <a:srgbClr val="00857D"/>
                </a:solidFill>
                <a:latin typeface="Arial"/>
                <a:ea typeface="Arial"/>
                <a:cs typeface="Arial"/>
              </a:rPr>
              <a:t>dₖ(v) = min { dₖ₋₁(v), min [dₖ₋₁(u) + w(u,v)] }</a:t>
            </a:r>
          </a:p>
        </p:txBody>
      </p:sp>
      <p:sp>
        <p:nvSpPr>
          <p:cNvPr id="6" name="">
            <a:extLst xmlns:a="http://schemas.openxmlformats.org/drawingml/2006/main">
              <a:ext uri="{FF2B5EF4-FFF2-40B4-BE49-F238E27FC236}">
                <a16:creationId xmlns:a16="http://schemas.microsoft.com/office/drawing/2014/main" id="{687F72FF-FF43-4D5C-9C78-0E95532D946D}"/>
              </a:ext>
            </a:extLst>
          </p:cNvPr>
          <p:cNvSpPr>
            <a:spLocks xmlns:a="http://schemas.openxmlformats.org/drawingml/2006/main" noGrp="1"/>
          </p:cNvSpPr>
          <p:nvPr/>
        </p:nvSpPr>
        <p:spPr>
          <a:xfrm xmlns:a="http://schemas.openxmlformats.org/drawingml/2006/main">
            <a:off x="685800" y="412432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566779"/>
                </a:solidFill>
                <a:latin typeface="Arial"/>
                <a:ea typeface="Arial"/>
                <a:cs typeface="Arial"/>
              </a:defRPr>
            </a:pPr>
            <a:r>
              <a:rPr sz="2250" b="0">
                <a:solidFill>
                  <a:srgbClr val="566779"/>
                </a:solidFill>
                <a:latin typeface="Arial"/>
                <a:ea typeface="Arial"/>
                <a:cs typeface="Arial"/>
              </a:rPr>
              <a:t>Внутрішній min — за всіма ребрами u → v.</a:t>
            </a:r>
          </a:p>
        </p:txBody>
      </p:sp>
      <p:sp>
        <p:nvSpPr>
          <p:cNvPr id="7" name="">
            <a:extLst xmlns:a="http://schemas.openxmlformats.org/drawingml/2006/main">
              <a:ext uri="{FF2B5EF4-FFF2-40B4-BE49-F238E27FC236}">
                <a16:creationId xmlns:a16="http://schemas.microsoft.com/office/drawing/2014/main" id="{9DDC39B8-D36C-4379-9D39-5CEE4A58229B}"/>
              </a:ext>
            </a:extLst>
          </p:cNvPr>
          <p:cNvSpPr>
            <a:spLocks xmlns:a="http://schemas.openxmlformats.org/drawingml/2006/main" noGrp="1"/>
          </p:cNvSpPr>
          <p:nvPr/>
        </p:nvSpPr>
        <p:spPr>
          <a:xfrm xmlns:a="http://schemas.openxmlformats.org/drawingml/2006/main">
            <a:off x="685800" y="50482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173047"/>
                </a:solidFill>
                <a:latin typeface="Arial"/>
                <a:ea typeface="Arial"/>
                <a:cs typeface="Arial"/>
              </a:defRPr>
            </a:pPr>
            <a:r>
              <a:rPr sz="2325" b="0">
                <a:solidFill>
                  <a:srgbClr val="173047"/>
                </a:solidFill>
                <a:latin typeface="Arial"/>
                <a:ea typeface="Arial"/>
                <a:cs typeface="Arial"/>
              </a:rPr>
              <a:t>Або зберігаємо старий шлях, або завершуємо його ребром u → v.</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65</a:t>
            </a:r>
          </a:p>
        </p:txBody>
      </p:sp>
    </p:spTree>
    <p:extLst>
      <p:ext uri="{BB962C8B-B14F-4D97-AF65-F5344CB8AC3E}">
        <p14:creationId xmlns:p14="http://schemas.microsoft.com/office/powerpoint/2010/main" val="83385273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A1A36D-6385-45A0-9516-40C1E628AE3D}"/>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Перші кроки: від 0 до 2 ребер</a:t>
            </a:r>
          </a:p>
        </p:txBody>
      </p:sp>
      <p:sp>
        <p:nvSpPr>
          <p:cNvPr id="2" name="">
            <a:extLst xmlns:a="http://schemas.openxmlformats.org/drawingml/2006/main">
              <a:ext uri="{FF2B5EF4-FFF2-40B4-BE49-F238E27FC236}">
                <a16:creationId xmlns:a16="http://schemas.microsoft.com/office/drawing/2014/main" id="{04A55F2A-12A0-4B31-9CF2-0CDCECAEAD10}"/>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Релаксація — перевірка, чи новий шлях покращує поточну оцінку.</a:t>
            </a:r>
          </a:p>
        </p:txBody>
      </p:sp>
      <p:graphicFrame>
        <p:nvGraphicFramePr>
          <p:cNvPr id="10" name=""/>
          <p:cNvGraphicFramePr/>
          <p:nvPr/>
        </p:nvGraphicFramePr>
        <p:xfrm>
          <a:off xmlns:a="http://schemas.openxmlformats.org/drawingml/2006/main" x="685800" y="1552575"/>
          <a:ext xmlns:a="http://schemas.openxmlformats.org/drawingml/2006/main" cx="10820400" cy="2533650"/>
        </p:xfrm>
        <a:graphic xmlns:a="http://schemas.openxmlformats.org/drawingml/2006/main">
          <a:graphicData uri="http://schemas.openxmlformats.org/drawingml/2006/table">
            <a:tbl>
              <a:tblPr/>
              <a:tblGrid>
                <a:gridCol w="1771650"/>
                <a:gridCol w="1809750"/>
                <a:gridCol w="1809750"/>
                <a:gridCol w="1809750"/>
                <a:gridCol w="1809750"/>
                <a:gridCol w="1809750"/>
              </a:tblGrid>
              <a:tr h="633413">
                <a:tc>
                  <a:txBody>
                    <a:bodyPr/>
                    <a:lstStyle/>
                    <a:p>
                      <a:r>
                        <a:rPr sz="2550" b="1">
                          <a:solidFill>
                            <a:srgbClr val="FFFFFF"/>
                          </a:solidFill>
                          <a:latin typeface="Arial"/>
                          <a:ea typeface="Arial"/>
                          <a:cs typeface="Arial"/>
                        </a:rPr>
                        <a:t>k</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S</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A</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B</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C</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T</a:t>
                      </a:r>
                    </a:p>
                  </a:txBody>
                  <a:tcPr marL="95250" marR="95250" marT="57150" marB="57150" anchor="ctr">
                    <a:solidFill>
                      <a:srgbClr val="173047"/>
                    </a:solidFill>
                  </a:tcPr>
                </a:tc>
              </a:tr>
              <a:tr h="633413">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a:t>
                      </a:r>
                    </a:p>
                  </a:txBody>
                  <a:tcPr marL="95250" marR="95250" marT="57150" marB="57150" anchor="ctr">
                    <a:solidFill>
                      <a:srgbClr val="FFFFFF"/>
                    </a:solidFill>
                  </a:tcPr>
                </a:tc>
                <a:tc>
                  <a:txBody>
                    <a:bodyPr/>
                    <a:lstStyle/>
                    <a:p>
                      <a:r>
                        <a:rPr sz="2550">
                          <a:solidFill>
                            <a:srgbClr val="173047"/>
                          </a:solidFill>
                          <a:latin typeface="Arial"/>
                          <a:ea typeface="Arial"/>
                          <a:cs typeface="Arial"/>
                        </a:rPr>
                        <a:t>∞</a:t>
                      </a:r>
                    </a:p>
                  </a:txBody>
                  <a:tcPr marL="95250" marR="95250" marT="57150" marB="57150" anchor="ctr">
                    <a:solidFill>
                      <a:srgbClr val="FFFFFF"/>
                    </a:solidFill>
                  </a:tcPr>
                </a:tc>
                <a:tc>
                  <a:txBody>
                    <a:bodyPr/>
                    <a:lstStyle/>
                    <a:p>
                      <a:r>
                        <a:rPr sz="2550">
                          <a:solidFill>
                            <a:srgbClr val="173047"/>
                          </a:solidFill>
                          <a:latin typeface="Arial"/>
                          <a:ea typeface="Arial"/>
                          <a:cs typeface="Arial"/>
                        </a:rPr>
                        <a:t>∞</a:t>
                      </a:r>
                    </a:p>
                  </a:txBody>
                  <a:tcPr marL="95250" marR="95250" marT="57150" marB="57150" anchor="ctr">
                    <a:solidFill>
                      <a:srgbClr val="FFFFFF"/>
                    </a:solidFill>
                  </a:tcPr>
                </a:tc>
                <a:tc>
                  <a:txBody>
                    <a:bodyPr/>
                    <a:lstStyle/>
                    <a:p>
                      <a:r>
                        <a:rPr sz="2550">
                          <a:solidFill>
                            <a:srgbClr val="173047"/>
                          </a:solidFill>
                          <a:latin typeface="Arial"/>
                          <a:ea typeface="Arial"/>
                          <a:cs typeface="Arial"/>
                        </a:rPr>
                        <a:t>∞</a:t>
                      </a:r>
                    </a:p>
                  </a:txBody>
                  <a:tcPr marL="95250" marR="95250" marT="57150" marB="57150" anchor="ctr">
                    <a:solidFill>
                      <a:srgbClr val="FFFFFF"/>
                    </a:solidFill>
                  </a:tcPr>
                </a:tc>
              </a:tr>
              <a:tr h="633413">
                <a:tc>
                  <a:txBody>
                    <a:bodyPr/>
                    <a:lstStyle/>
                    <a:p>
                      <a:r>
                        <a:rPr sz="2550">
                          <a:solidFill>
                            <a:srgbClr val="173047"/>
                          </a:solidFill>
                          <a:latin typeface="Arial"/>
                          <a:ea typeface="Arial"/>
                          <a:cs typeface="Arial"/>
                        </a:rPr>
                        <a:t>1</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8</a:t>
                      </a:r>
                    </a:p>
                  </a:txBody>
                  <a:tcPr marL="95250" marR="95250" marT="57150" marB="57150" anchor="ctr">
                    <a:solidFill>
                      <a:srgbClr val="FFFFFF"/>
                    </a:solidFill>
                  </a:tcPr>
                </a:tc>
                <a:tc>
                  <a:txBody>
                    <a:bodyPr/>
                    <a:lstStyle/>
                    <a:p>
                      <a:r>
                        <a:rPr sz="2550">
                          <a:solidFill>
                            <a:srgbClr val="173047"/>
                          </a:solidFill>
                          <a:latin typeface="Arial"/>
                          <a:ea typeface="Arial"/>
                          <a:cs typeface="Arial"/>
                        </a:rPr>
                        <a:t>∞</a:t>
                      </a:r>
                    </a:p>
                  </a:txBody>
                  <a:tcPr marL="95250" marR="95250" marT="57150" marB="57150" anchor="ctr">
                    <a:solidFill>
                      <a:srgbClr val="FFFFFF"/>
                    </a:solidFill>
                  </a:tcPr>
                </a:tc>
                <a:tc>
                  <a:txBody>
                    <a:bodyPr/>
                    <a:lstStyle/>
                    <a:p>
                      <a:r>
                        <a:rPr sz="2550">
                          <a:solidFill>
                            <a:srgbClr val="173047"/>
                          </a:solidFill>
                          <a:latin typeface="Arial"/>
                          <a:ea typeface="Arial"/>
                          <a:cs typeface="Arial"/>
                        </a:rPr>
                        <a:t>∞</a:t>
                      </a:r>
                    </a:p>
                  </a:txBody>
                  <a:tcPr marL="95250" marR="95250" marT="57150" marB="57150" anchor="ctr">
                    <a:solidFill>
                      <a:srgbClr val="FFFFFF"/>
                    </a:solidFill>
                  </a:tcPr>
                </a:tc>
              </a:tr>
              <a:tr h="633413">
                <a:tc>
                  <a:txBody>
                    <a:bodyPr/>
                    <a:lstStyle/>
                    <a:p>
                      <a:r>
                        <a:rPr sz="2550">
                          <a:solidFill>
                            <a:srgbClr val="173047"/>
                          </a:solidFill>
                          <a:latin typeface="Arial"/>
                          <a:ea typeface="Arial"/>
                          <a:cs typeface="Arial"/>
                        </a:rPr>
                        <a:t>2</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5</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9</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14</a:t>
                      </a:r>
                    </a:p>
                  </a:txBody>
                  <a:tcPr marL="95250" marR="95250" marT="57150" marB="57150" anchor="ctr">
                    <a:solidFill>
                      <a:srgbClr val="DDF3EC"/>
                    </a:solidFill>
                  </a:tcPr>
                </a:tc>
              </a:tr>
            </a:tbl>
          </a:graphicData>
        </a:graphic>
      </p:graphicFrame>
      <p:sp>
        <p:nvSpPr>
          <p:cNvPr id="4" name="">
            <a:extLst xmlns:a="http://schemas.openxmlformats.org/drawingml/2006/main">
              <a:ext uri="{FF2B5EF4-FFF2-40B4-BE49-F238E27FC236}">
                <a16:creationId xmlns:a16="http://schemas.microsoft.com/office/drawing/2014/main" id="{15F1676C-063C-4DC1-8E2C-AB6419CEE03A}"/>
              </a:ext>
            </a:extLst>
          </p:cNvPr>
          <p:cNvSpPr>
            <a:spLocks xmlns:a="http://schemas.openxmlformats.org/drawingml/2006/main" noGrp="1"/>
          </p:cNvSpPr>
          <p:nvPr/>
        </p:nvSpPr>
        <p:spPr>
          <a:xfrm xmlns:a="http://schemas.openxmlformats.org/drawingml/2006/main">
            <a:off x="685800" y="42957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00857D"/>
                </a:solidFill>
                <a:latin typeface="Arial"/>
                <a:ea typeface="Arial"/>
                <a:cs typeface="Arial"/>
              </a:defRPr>
            </a:pPr>
            <a:r>
              <a:rPr sz="2700" b="1">
                <a:solidFill>
                  <a:srgbClr val="00857D"/>
                </a:solidFill>
                <a:latin typeface="Arial"/>
                <a:ea typeface="Arial"/>
                <a:cs typeface="Arial"/>
              </a:rPr>
              <a:t>Для B: min(8, 4 + 1) = 5 мс.</a:t>
            </a:r>
          </a:p>
        </p:txBody>
      </p:sp>
      <p:sp>
        <p:nvSpPr>
          <p:cNvPr id="5" name="">
            <a:extLst xmlns:a="http://schemas.openxmlformats.org/drawingml/2006/main">
              <a:ext uri="{FF2B5EF4-FFF2-40B4-BE49-F238E27FC236}">
                <a16:creationId xmlns:a16="http://schemas.microsoft.com/office/drawing/2014/main" id="{C808033F-B832-4734-8FA5-56A22D00BE25}"/>
              </a:ext>
            </a:extLst>
          </p:cNvPr>
          <p:cNvSpPr>
            <a:spLocks xmlns:a="http://schemas.openxmlformats.org/drawingml/2006/main" noGrp="1"/>
          </p:cNvSpPr>
          <p:nvPr/>
        </p:nvSpPr>
        <p:spPr>
          <a:xfrm xmlns:a="http://schemas.openxmlformats.org/drawingml/2006/main">
            <a:off x="685800" y="48482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73047"/>
                </a:solidFill>
                <a:latin typeface="Arial"/>
                <a:ea typeface="Arial"/>
                <a:cs typeface="Arial"/>
              </a:defRPr>
            </a:pPr>
            <a:r>
              <a:rPr sz="2550" b="0">
                <a:solidFill>
                  <a:srgbClr val="173047"/>
                </a:solidFill>
                <a:latin typeface="Arial"/>
                <a:ea typeface="Arial"/>
                <a:cs typeface="Arial"/>
              </a:rPr>
              <a:t>Для C: min(∞, 4 + 7, 8 + 1) = 9 мс.</a:t>
            </a:r>
          </a:p>
        </p:txBody>
      </p:sp>
      <p:sp>
        <p:nvSpPr>
          <p:cNvPr id="6" name="">
            <a:extLst xmlns:a="http://schemas.openxmlformats.org/drawingml/2006/main">
              <a:ext uri="{FF2B5EF4-FFF2-40B4-BE49-F238E27FC236}">
                <a16:creationId xmlns:a16="http://schemas.microsoft.com/office/drawing/2014/main" id="{B446E9A1-766D-4C2B-B430-8427E29DF1B0}"/>
              </a:ext>
            </a:extLst>
          </p:cNvPr>
          <p:cNvSpPr>
            <a:spLocks xmlns:a="http://schemas.openxmlformats.org/drawingml/2006/main" noGrp="1"/>
          </p:cNvSpPr>
          <p:nvPr/>
        </p:nvSpPr>
        <p:spPr>
          <a:xfrm xmlns:a="http://schemas.openxmlformats.org/drawingml/2006/main">
            <a:off x="685800" y="5429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566779"/>
                </a:solidFill>
                <a:latin typeface="Arial"/>
                <a:ea typeface="Arial"/>
                <a:cs typeface="Arial"/>
              </a:defRPr>
            </a:pPr>
            <a:r>
              <a:rPr sz="2100" b="0">
                <a:solidFill>
                  <a:srgbClr val="566779"/>
                </a:solidFill>
                <a:latin typeface="Arial"/>
                <a:ea typeface="Arial"/>
                <a:cs typeface="Arial"/>
              </a:rPr>
              <a:t>∞ у рядку k означає: шляху з ≤ k ребрами ще немає.</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67</a:t>
            </a:r>
          </a:p>
        </p:txBody>
      </p:sp>
    </p:spTree>
    <p:extLst>
      <p:ext uri="{BB962C8B-B14F-4D97-AF65-F5344CB8AC3E}">
        <p14:creationId xmlns:p14="http://schemas.microsoft.com/office/powerpoint/2010/main" val="182653188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98BAB8-50CC-4B92-942C-A2C7C267BE46}"/>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Наступні кроки: 3 та 4 ребра</a:t>
            </a:r>
          </a:p>
        </p:txBody>
      </p:sp>
      <p:sp>
        <p:nvSpPr>
          <p:cNvPr id="2" name="">
            <a:extLst xmlns:a="http://schemas.openxmlformats.org/drawingml/2006/main">
              <a:ext uri="{FF2B5EF4-FFF2-40B4-BE49-F238E27FC236}">
                <a16:creationId xmlns:a16="http://schemas.microsoft.com/office/drawing/2014/main" id="{C7A384D5-07AE-4595-B9A7-245E9373D81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Проміжна краща оцінка ще може покращитися на наступному шарі.</a:t>
            </a:r>
          </a:p>
        </p:txBody>
      </p:sp>
      <p:graphicFrame>
        <p:nvGraphicFramePr>
          <p:cNvPr id="10" name=""/>
          <p:cNvGraphicFramePr/>
          <p:nvPr/>
        </p:nvGraphicFramePr>
        <p:xfrm>
          <a:off xmlns:a="http://schemas.openxmlformats.org/drawingml/2006/main" x="685800" y="1552575"/>
          <a:ext xmlns:a="http://schemas.openxmlformats.org/drawingml/2006/main" cx="10820400" cy="2533650"/>
        </p:xfrm>
        <a:graphic xmlns:a="http://schemas.openxmlformats.org/drawingml/2006/main">
          <a:graphicData uri="http://schemas.openxmlformats.org/drawingml/2006/table">
            <a:tbl>
              <a:tblPr/>
              <a:tblGrid>
                <a:gridCol w="1771650"/>
                <a:gridCol w="1809750"/>
                <a:gridCol w="1809750"/>
                <a:gridCol w="1809750"/>
                <a:gridCol w="1809750"/>
                <a:gridCol w="1809750"/>
              </a:tblGrid>
              <a:tr h="633413">
                <a:tc>
                  <a:txBody>
                    <a:bodyPr/>
                    <a:lstStyle/>
                    <a:p>
                      <a:r>
                        <a:rPr sz="2550" b="1">
                          <a:solidFill>
                            <a:srgbClr val="FFFFFF"/>
                          </a:solidFill>
                          <a:latin typeface="Arial"/>
                          <a:ea typeface="Arial"/>
                          <a:cs typeface="Arial"/>
                        </a:rPr>
                        <a:t>k</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S</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A</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B</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C</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T</a:t>
                      </a:r>
                    </a:p>
                  </a:txBody>
                  <a:tcPr marL="95250" marR="95250" marT="57150" marB="57150" anchor="ctr">
                    <a:solidFill>
                      <a:srgbClr val="173047"/>
                    </a:solidFill>
                  </a:tcPr>
                </a:tc>
              </a:tr>
              <a:tr h="633413">
                <a:tc>
                  <a:txBody>
                    <a:bodyPr/>
                    <a:lstStyle/>
                    <a:p>
                      <a:r>
                        <a:rPr sz="2550">
                          <a:solidFill>
                            <a:srgbClr val="173047"/>
                          </a:solidFill>
                          <a:latin typeface="Arial"/>
                          <a:ea typeface="Arial"/>
                          <a:cs typeface="Arial"/>
                        </a:rPr>
                        <a:t>2</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5</a:t>
                      </a:r>
                    </a:p>
                  </a:txBody>
                  <a:tcPr marL="95250" marR="95250" marT="57150" marB="57150" anchor="ctr">
                    <a:solidFill>
                      <a:srgbClr val="FFFFFF"/>
                    </a:solidFill>
                  </a:tcPr>
                </a:tc>
                <a:tc>
                  <a:txBody>
                    <a:bodyPr/>
                    <a:lstStyle/>
                    <a:p>
                      <a:r>
                        <a:rPr sz="2550">
                          <a:solidFill>
                            <a:srgbClr val="173047"/>
                          </a:solidFill>
                          <a:latin typeface="Arial"/>
                          <a:ea typeface="Arial"/>
                          <a:cs typeface="Arial"/>
                        </a:rPr>
                        <a:t>9</a:t>
                      </a:r>
                    </a:p>
                  </a:txBody>
                  <a:tcPr marL="95250" marR="95250" marT="57150" marB="57150" anchor="ctr">
                    <a:solidFill>
                      <a:srgbClr val="FFFFFF"/>
                    </a:solidFill>
                  </a:tcPr>
                </a:tc>
                <a:tc>
                  <a:txBody>
                    <a:bodyPr/>
                    <a:lstStyle/>
                    <a:p>
                      <a:r>
                        <a:rPr sz="2550">
                          <a:solidFill>
                            <a:srgbClr val="173047"/>
                          </a:solidFill>
                          <a:latin typeface="Arial"/>
                          <a:ea typeface="Arial"/>
                          <a:cs typeface="Arial"/>
                        </a:rPr>
                        <a:t>14</a:t>
                      </a:r>
                    </a:p>
                  </a:txBody>
                  <a:tcPr marL="95250" marR="95250" marT="57150" marB="57150" anchor="ctr">
                    <a:solidFill>
                      <a:srgbClr val="FFFFFF"/>
                    </a:solidFill>
                  </a:tcPr>
                </a:tc>
              </a:tr>
              <a:tr h="633413">
                <a:tc>
                  <a:txBody>
                    <a:bodyPr/>
                    <a:lstStyle/>
                    <a:p>
                      <a:r>
                        <a:rPr sz="2550">
                          <a:solidFill>
                            <a:srgbClr val="173047"/>
                          </a:solidFill>
                          <a:latin typeface="Arial"/>
                          <a:ea typeface="Arial"/>
                          <a:cs typeface="Arial"/>
                        </a:rPr>
                        <a:t>3</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5</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6</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10</a:t>
                      </a:r>
                    </a:p>
                  </a:txBody>
                  <a:tcPr marL="95250" marR="95250" marT="57150" marB="57150" anchor="ctr">
                    <a:solidFill>
                      <a:srgbClr val="DDF3EC"/>
                    </a:solidFill>
                  </a:tcPr>
                </a:tc>
              </a:tr>
              <a:tr h="633413">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0</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5</a:t>
                      </a:r>
                    </a:p>
                  </a:txBody>
                  <a:tcPr marL="95250" marR="95250" marT="57150" marB="57150" anchor="ctr">
                    <a:solidFill>
                      <a:srgbClr val="FFFFFF"/>
                    </a:solidFill>
                  </a:tcPr>
                </a:tc>
                <a:tc>
                  <a:txBody>
                    <a:bodyPr/>
                    <a:lstStyle/>
                    <a:p>
                      <a:r>
                        <a:rPr sz="2550">
                          <a:solidFill>
                            <a:srgbClr val="173047"/>
                          </a:solidFill>
                          <a:latin typeface="Arial"/>
                          <a:ea typeface="Arial"/>
                          <a:cs typeface="Arial"/>
                        </a:rPr>
                        <a:t>6</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7</a:t>
                      </a:r>
                    </a:p>
                  </a:txBody>
                  <a:tcPr marL="95250" marR="95250" marT="57150" marB="57150" anchor="ctr">
                    <a:solidFill>
                      <a:srgbClr val="DDF3EC"/>
                    </a:solidFill>
                  </a:tcPr>
                </a:tc>
              </a:tr>
            </a:tbl>
          </a:graphicData>
        </a:graphic>
      </p:graphicFrame>
      <p:sp>
        <p:nvSpPr>
          <p:cNvPr id="4" name="">
            <a:extLst xmlns:a="http://schemas.openxmlformats.org/drawingml/2006/main">
              <a:ext uri="{FF2B5EF4-FFF2-40B4-BE49-F238E27FC236}">
                <a16:creationId xmlns:a16="http://schemas.microsoft.com/office/drawing/2014/main" id="{1FEF0326-E2DC-4339-9397-D94192C61ECD}"/>
              </a:ext>
            </a:extLst>
          </p:cNvPr>
          <p:cNvSpPr>
            <a:spLocks xmlns:a="http://schemas.openxmlformats.org/drawingml/2006/main" noGrp="1"/>
          </p:cNvSpPr>
          <p:nvPr/>
        </p:nvSpPr>
        <p:spPr>
          <a:xfrm xmlns:a="http://schemas.openxmlformats.org/drawingml/2006/main">
            <a:off x="685800" y="43148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73047"/>
                </a:solidFill>
                <a:latin typeface="Arial"/>
                <a:ea typeface="Arial"/>
                <a:cs typeface="Arial"/>
              </a:defRPr>
            </a:pPr>
            <a:r>
              <a:rPr sz="2550" b="0">
                <a:solidFill>
                  <a:srgbClr val="173047"/>
                </a:solidFill>
                <a:latin typeface="Arial"/>
                <a:ea typeface="Arial"/>
                <a:cs typeface="Arial"/>
              </a:rPr>
              <a:t>k = 3: для T  min(14, 5 + 6, 9 + 1) = 10.</a:t>
            </a:r>
          </a:p>
        </p:txBody>
      </p:sp>
      <p:sp>
        <p:nvSpPr>
          <p:cNvPr id="5" name="">
            <a:extLst xmlns:a="http://schemas.openxmlformats.org/drawingml/2006/main">
              <a:ext uri="{FF2B5EF4-FFF2-40B4-BE49-F238E27FC236}">
                <a16:creationId xmlns:a16="http://schemas.microsoft.com/office/drawing/2014/main" id="{929C7CA6-B60F-43C5-82F0-6A7B1C1F63ED}"/>
              </a:ext>
            </a:extLst>
          </p:cNvPr>
          <p:cNvSpPr>
            <a:spLocks xmlns:a="http://schemas.openxmlformats.org/drawingml/2006/main" noGrp="1"/>
          </p:cNvSpPr>
          <p:nvPr/>
        </p:nvSpPr>
        <p:spPr>
          <a:xfrm xmlns:a="http://schemas.openxmlformats.org/drawingml/2006/main">
            <a:off x="685800" y="493395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00857D"/>
                </a:solidFill>
                <a:latin typeface="Arial"/>
                <a:ea typeface="Arial"/>
                <a:cs typeface="Arial"/>
              </a:defRPr>
            </a:pPr>
            <a:r>
              <a:rPr sz="2550" b="1">
                <a:solidFill>
                  <a:srgbClr val="00857D"/>
                </a:solidFill>
                <a:latin typeface="Arial"/>
                <a:ea typeface="Arial"/>
                <a:cs typeface="Arial"/>
              </a:rPr>
              <a:t>k = 4: для T  min(10, 5 + 6, 6 + 1) = 7.</a:t>
            </a:r>
          </a:p>
        </p:txBody>
      </p:sp>
      <p:sp>
        <p:nvSpPr>
          <p:cNvPr id="6" name="">
            <a:extLst xmlns:a="http://schemas.openxmlformats.org/drawingml/2006/main">
              <a:ext uri="{FF2B5EF4-FFF2-40B4-BE49-F238E27FC236}">
                <a16:creationId xmlns:a16="http://schemas.microsoft.com/office/drawing/2014/main" id="{50B1C8F8-54E1-4B67-A02D-9B8BBE67D441}"/>
              </a:ext>
            </a:extLst>
          </p:cNvPr>
          <p:cNvSpPr>
            <a:spLocks xmlns:a="http://schemas.openxmlformats.org/drawingml/2006/main" noGrp="1"/>
          </p:cNvSpPr>
          <p:nvPr/>
        </p:nvSpPr>
        <p:spPr>
          <a:xfrm xmlns:a="http://schemas.openxmlformats.org/drawingml/2006/main">
            <a:off x="685800" y="54673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566779"/>
                </a:solidFill>
                <a:latin typeface="Arial"/>
                <a:ea typeface="Arial"/>
                <a:cs typeface="Arial"/>
              </a:defRPr>
            </a:pPr>
            <a:r>
              <a:rPr sz="2100" b="0">
                <a:solidFill>
                  <a:srgbClr val="566779"/>
                </a:solidFill>
                <a:latin typeface="Arial"/>
                <a:ea typeface="Arial"/>
                <a:cs typeface="Arial"/>
              </a:rPr>
              <a:t>Рядки читаємо окремо: новий шар використовує тільки старий.</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68</a:t>
            </a:r>
          </a:p>
        </p:txBody>
      </p:sp>
    </p:spTree>
    <p:extLst>
      <p:ext uri="{BB962C8B-B14F-4D97-AF65-F5344CB8AC3E}">
        <p14:creationId xmlns:p14="http://schemas.microsoft.com/office/powerpoint/2010/main" val="38475355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8" name=""/>
          <p:cNvCxnSpPr>
            <a:stCxn xmlns:a="http://schemas.openxmlformats.org/drawingml/2006/main" id="41" idx="3"/>
            <a:endCxn xmlns:a="http://schemas.openxmlformats.org/drawingml/2006/main" id="6" idx="4"/>
          </p:cNvCxnSpPr>
          <p:nvPr/>
        </p:nvCxnSpPr>
        <p:spPr>
          <a:xfrm xmlns:a="http://schemas.openxmlformats.org/drawingml/2006/main" flipH="1" flipV="1">
            <a:off x="3524250" y="3609975"/>
            <a:ext cx="9525" cy="1128713"/>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49" name=""/>
          <p:cNvCxnSpPr>
            <a:stCxn xmlns:a="http://schemas.openxmlformats.org/drawingml/2006/main" id="40" idx="3"/>
            <a:endCxn xmlns:a="http://schemas.openxmlformats.org/drawingml/2006/main" id="41" idx="1"/>
          </p:cNvCxnSpPr>
          <p:nvPr/>
        </p:nvCxnSpPr>
        <p:spPr>
          <a:xfrm xmlns:a="http://schemas.openxmlformats.org/drawingml/2006/main" flipH="1">
            <a:off x="3524250" y="4738688"/>
            <a:ext cx="458152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0" name=""/>
          <p:cNvCxnSpPr>
            <a:stCxn xmlns:a="http://schemas.openxmlformats.org/drawingml/2006/main" id="10" idx="4"/>
            <a:endCxn xmlns:a="http://schemas.openxmlformats.org/drawingml/2006/main" id="40" idx="1"/>
          </p:cNvCxnSpPr>
          <p:nvPr/>
        </p:nvCxnSpPr>
        <p:spPr>
          <a:xfrm xmlns:a="http://schemas.openxmlformats.org/drawingml/2006/main">
            <a:off x="8096250" y="3609975"/>
            <a:ext cx="0" cy="1128713"/>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1" name=""/>
          <p:cNvCxnSpPr>
            <a:stCxn xmlns:a="http://schemas.openxmlformats.org/drawingml/2006/main" id="35" idx="3"/>
            <a:endCxn xmlns:a="http://schemas.openxmlformats.org/drawingml/2006/main" id="10" idx="4"/>
          </p:cNvCxnSpPr>
          <p:nvPr/>
        </p:nvCxnSpPr>
        <p:spPr>
          <a:xfrm xmlns:a="http://schemas.openxmlformats.org/drawingml/2006/main" flipH="1" flipV="1">
            <a:off x="8096250" y="3609975"/>
            <a:ext cx="9525" cy="461963"/>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52" name=""/>
          <p:cNvCxnSpPr>
            <a:stCxn xmlns:a="http://schemas.openxmlformats.org/drawingml/2006/main" id="34" idx="3"/>
            <a:endCxn xmlns:a="http://schemas.openxmlformats.org/drawingml/2006/main" id="35" idx="1"/>
          </p:cNvCxnSpPr>
          <p:nvPr/>
        </p:nvCxnSpPr>
        <p:spPr>
          <a:xfrm xmlns:a="http://schemas.openxmlformats.org/drawingml/2006/main">
            <a:off x="3533775" y="4071938"/>
            <a:ext cx="45624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3" name=""/>
          <p:cNvCxnSpPr>
            <a:stCxn xmlns:a="http://schemas.openxmlformats.org/drawingml/2006/main" id="6" idx="4"/>
            <a:endCxn xmlns:a="http://schemas.openxmlformats.org/drawingml/2006/main" id="34" idx="1"/>
          </p:cNvCxnSpPr>
          <p:nvPr/>
        </p:nvCxnSpPr>
        <p:spPr>
          <a:xfrm xmlns:a="http://schemas.openxmlformats.org/drawingml/2006/main">
            <a:off x="3524250" y="3609975"/>
            <a:ext cx="0" cy="461963"/>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4" name=""/>
          <p:cNvCxnSpPr>
            <a:stCxn xmlns:a="http://schemas.openxmlformats.org/drawingml/2006/main" id="29" idx="3"/>
            <a:endCxn xmlns:a="http://schemas.openxmlformats.org/drawingml/2006/main" id="12" idx="0"/>
          </p:cNvCxnSpPr>
          <p:nvPr/>
        </p:nvCxnSpPr>
        <p:spPr>
          <a:xfrm xmlns:a="http://schemas.openxmlformats.org/drawingml/2006/main" flipH="1">
            <a:off x="10382250" y="2700338"/>
            <a:ext cx="9525" cy="185738"/>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55" name=""/>
          <p:cNvCxnSpPr>
            <a:stCxn xmlns:a="http://schemas.openxmlformats.org/drawingml/2006/main" id="28" idx="3"/>
            <a:endCxn xmlns:a="http://schemas.openxmlformats.org/drawingml/2006/main" id="29" idx="1"/>
          </p:cNvCxnSpPr>
          <p:nvPr/>
        </p:nvCxnSpPr>
        <p:spPr>
          <a:xfrm xmlns:a="http://schemas.openxmlformats.org/drawingml/2006/main">
            <a:off x="5819775" y="2700338"/>
            <a:ext cx="45624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6" name=""/>
          <p:cNvCxnSpPr>
            <a:stCxn xmlns:a="http://schemas.openxmlformats.org/drawingml/2006/main" id="8" idx="0"/>
            <a:endCxn xmlns:a="http://schemas.openxmlformats.org/drawingml/2006/main" id="28" idx="1"/>
          </p:cNvCxnSpPr>
          <p:nvPr/>
        </p:nvCxnSpPr>
        <p:spPr>
          <a:xfrm xmlns:a="http://schemas.openxmlformats.org/drawingml/2006/main" flipV="1">
            <a:off x="5810250" y="2700338"/>
            <a:ext cx="0" cy="185738"/>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7" name=""/>
          <p:cNvCxnSpPr>
            <a:stCxn xmlns:a="http://schemas.openxmlformats.org/drawingml/2006/main" id="23" idx="3"/>
            <a:endCxn xmlns:a="http://schemas.openxmlformats.org/drawingml/2006/main" id="8" idx="0"/>
          </p:cNvCxnSpPr>
          <p:nvPr/>
        </p:nvCxnSpPr>
        <p:spPr>
          <a:xfrm xmlns:a="http://schemas.openxmlformats.org/drawingml/2006/main" flipH="1">
            <a:off x="5810250" y="2205038"/>
            <a:ext cx="9525" cy="681038"/>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58" name=""/>
          <p:cNvCxnSpPr>
            <a:stCxn xmlns:a="http://schemas.openxmlformats.org/drawingml/2006/main" id="22" idx="3"/>
            <a:endCxn xmlns:a="http://schemas.openxmlformats.org/drawingml/2006/main" id="23" idx="1"/>
          </p:cNvCxnSpPr>
          <p:nvPr/>
        </p:nvCxnSpPr>
        <p:spPr>
          <a:xfrm xmlns:a="http://schemas.openxmlformats.org/drawingml/2006/main">
            <a:off x="1247775" y="2205038"/>
            <a:ext cx="45624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59" name=""/>
          <p:cNvCxnSpPr>
            <a:stCxn xmlns:a="http://schemas.openxmlformats.org/drawingml/2006/main" id="4" idx="0"/>
            <a:endCxn xmlns:a="http://schemas.openxmlformats.org/drawingml/2006/main" id="22" idx="1"/>
          </p:cNvCxnSpPr>
          <p:nvPr/>
        </p:nvCxnSpPr>
        <p:spPr>
          <a:xfrm xmlns:a="http://schemas.openxmlformats.org/drawingml/2006/main" flipV="1">
            <a:off x="1238250" y="2205038"/>
            <a:ext cx="0" cy="681038"/>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60" name=""/>
          <p:cNvCxnSpPr>
            <a:stCxn xmlns:a="http://schemas.openxmlformats.org/drawingml/2006/main" id="10" idx="6"/>
            <a:endCxn xmlns:a="http://schemas.openxmlformats.org/drawingml/2006/main" id="12" idx="2"/>
          </p:cNvCxnSpPr>
          <p:nvPr/>
        </p:nvCxnSpPr>
        <p:spPr>
          <a:xfrm xmlns:a="http://schemas.openxmlformats.org/drawingml/2006/main">
            <a:off x="8505825" y="3248025"/>
            <a:ext cx="1466850" cy="0"/>
          </a:xfrm>
          <a:prstGeom xmlns:a="http://schemas.openxmlformats.org/drawingml/2006/main" prst="straightConnector1">
            <a:avLst/>
          </a:prstGeom>
          <a:ln xmlns:a="http://schemas.openxmlformats.org/drawingml/2006/main" w="47625">
            <a:solidFill>
              <a:srgbClr val="00857D"/>
            </a:solidFill>
            <a:tailEnd type="triangle" w="med" len="med"/>
          </a:ln>
        </p:spPr>
      </p:cxnSp>
      <p:cxnSp>
        <p:nvCxnSpPr>
          <p:cNvPr id="61" name=""/>
          <p:cNvCxnSpPr>
            <a:stCxn xmlns:a="http://schemas.openxmlformats.org/drawingml/2006/main" id="8" idx="6"/>
            <a:endCxn xmlns:a="http://schemas.openxmlformats.org/drawingml/2006/main" id="10" idx="2"/>
          </p:cNvCxnSpPr>
          <p:nvPr/>
        </p:nvCxnSpPr>
        <p:spPr>
          <a:xfrm xmlns:a="http://schemas.openxmlformats.org/drawingml/2006/main">
            <a:off x="6219825" y="3248025"/>
            <a:ext cx="1466850" cy="0"/>
          </a:xfrm>
          <a:prstGeom xmlns:a="http://schemas.openxmlformats.org/drawingml/2006/main" prst="straightConnector1">
            <a:avLst/>
          </a:prstGeom>
          <a:ln xmlns:a="http://schemas.openxmlformats.org/drawingml/2006/main" w="47625">
            <a:solidFill>
              <a:srgbClr val="00857D"/>
            </a:solidFill>
            <a:tailEnd type="triangle" w="med" len="med"/>
          </a:ln>
        </p:spPr>
      </p:cxnSp>
      <p:cxnSp>
        <p:nvCxnSpPr>
          <p:cNvPr id="62" name=""/>
          <p:cNvCxnSpPr>
            <a:stCxn xmlns:a="http://schemas.openxmlformats.org/drawingml/2006/main" id="6" idx="6"/>
            <a:endCxn xmlns:a="http://schemas.openxmlformats.org/drawingml/2006/main" id="8" idx="2"/>
          </p:cNvCxnSpPr>
          <p:nvPr/>
        </p:nvCxnSpPr>
        <p:spPr>
          <a:xfrm xmlns:a="http://schemas.openxmlformats.org/drawingml/2006/main">
            <a:off x="3933825" y="3248025"/>
            <a:ext cx="1466850" cy="0"/>
          </a:xfrm>
          <a:prstGeom xmlns:a="http://schemas.openxmlformats.org/drawingml/2006/main" prst="straightConnector1">
            <a:avLst/>
          </a:prstGeom>
          <a:ln xmlns:a="http://schemas.openxmlformats.org/drawingml/2006/main" w="47625">
            <a:solidFill>
              <a:srgbClr val="00857D"/>
            </a:solidFill>
            <a:tailEnd type="triangle" w="med" len="med"/>
          </a:ln>
        </p:spPr>
      </p:cxnSp>
      <p:cxnSp>
        <p:nvCxnSpPr>
          <p:cNvPr id="63" name=""/>
          <p:cNvCxnSpPr>
            <a:stCxn xmlns:a="http://schemas.openxmlformats.org/drawingml/2006/main" id="4" idx="6"/>
            <a:endCxn xmlns:a="http://schemas.openxmlformats.org/drawingml/2006/main" id="6" idx="2"/>
          </p:cNvCxnSpPr>
          <p:nvPr/>
        </p:nvCxnSpPr>
        <p:spPr>
          <a:xfrm xmlns:a="http://schemas.openxmlformats.org/drawingml/2006/main">
            <a:off x="1647825" y="3248025"/>
            <a:ext cx="1466850" cy="0"/>
          </a:xfrm>
          <a:prstGeom xmlns:a="http://schemas.openxmlformats.org/drawingml/2006/main" prst="straightConnector1">
            <a:avLst/>
          </a:prstGeom>
          <a:ln xmlns:a="http://schemas.openxmlformats.org/drawingml/2006/main" w="47625">
            <a:solidFill>
              <a:srgbClr val="00857D"/>
            </a:solidFill>
            <a:tailEnd type="triangle" w="med" len="med"/>
          </a:ln>
        </p:spPr>
      </p:cxnSp>
      <p:sp>
        <p:nvSpPr>
          <p:cNvPr id="64" name="">
            <a:extLst xmlns:a="http://schemas.openxmlformats.org/drawingml/2006/main">
              <a:ext uri="{FF2B5EF4-FFF2-40B4-BE49-F238E27FC236}">
                <a16:creationId xmlns:a16="http://schemas.microsoft.com/office/drawing/2014/main" id="{6C43F788-0E1D-4212-BA62-32E25B5E0B88}"/>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Відновлення маршруту: відповідь 7 мс</a:t>
            </a:r>
          </a:p>
        </p:txBody>
      </p:sp>
      <p:sp>
        <p:nvSpPr>
          <p:cNvPr id="2" name="">
            <a:extLst xmlns:a="http://schemas.openxmlformats.org/drawingml/2006/main">
              <a:ext uri="{FF2B5EF4-FFF2-40B4-BE49-F238E27FC236}">
                <a16:creationId xmlns:a16="http://schemas.microsoft.com/office/drawing/2014/main" id="{2EAF038F-A4FB-4ADF-9922-69831DA51BE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Маршрут S → A → B → C → T: 4 + 1 + 1 + 1 = 7 мс.</a:t>
            </a:r>
          </a:p>
        </p:txBody>
      </p:sp>
      <p:sp>
        <p:nvSpPr>
          <p:cNvPr id="3" name="">
            <a:extLst xmlns:a="http://schemas.openxmlformats.org/drawingml/2006/main">
              <a:ext uri="{FF2B5EF4-FFF2-40B4-BE49-F238E27FC236}">
                <a16:creationId xmlns:a16="http://schemas.microsoft.com/office/drawing/2014/main" id="{C42BA98C-A5EC-4BBD-BE05-7DFC70849F3D}"/>
              </a:ext>
            </a:extLst>
          </p:cNvPr>
          <p:cNvSpPr>
            <a:spLocks xmlns:a="http://schemas.openxmlformats.org/drawingml/2006/main" noGrp="1"/>
          </p:cNvSpPr>
          <p:nvPr/>
        </p:nvSpPr>
        <p:spPr>
          <a:xfrm xmlns:a="http://schemas.openxmlformats.org/drawingml/2006/main">
            <a:off x="685800" y="14097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73047"/>
                </a:solidFill>
                <a:latin typeface="Arial"/>
                <a:ea typeface="Arial"/>
                <a:cs typeface="Arial"/>
              </a:defRPr>
            </a:pPr>
            <a:r>
              <a:rPr sz="2250" b="0">
                <a:solidFill>
                  <a:srgbClr val="173047"/>
                </a:solidFill>
                <a:latin typeface="Arial"/>
                <a:ea typeface="Arial"/>
                <a:cs typeface="Arial"/>
              </a:rPr>
              <a:t>Повертаємося за збереженими рішеннями: T, C, B, A, S.</a:t>
            </a:r>
          </a:p>
        </p:txBody>
      </p:sp>
      <p:sp>
        <p:nvSpPr>
          <p:cNvPr id="4" name="">
            <a:extLst xmlns:a="http://schemas.openxmlformats.org/drawingml/2006/main">
              <a:ext uri="{FF2B5EF4-FFF2-40B4-BE49-F238E27FC236}">
                <a16:creationId xmlns:a16="http://schemas.microsoft.com/office/drawing/2014/main" id="{0ACF41C7-FF84-4327-8C85-B859E16238B8}"/>
              </a:ext>
            </a:extLst>
          </p:cNvPr>
          <p:cNvSpPr>
            <a:spLocks xmlns:a="http://schemas.openxmlformats.org/drawingml/2006/main" noGrp="1"/>
          </p:cNvSpPr>
          <p:nvPr/>
        </p:nvSpPr>
        <p:spPr>
          <a:xfrm xmlns:a="http://schemas.openxmlformats.org/drawingml/2006/main">
            <a:off x="828675" y="28860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5F9B3428-71AD-470C-ABFC-594CDAA0FC2F}"/>
              </a:ext>
            </a:extLst>
          </p:cNvPr>
          <p:cNvSpPr>
            <a:spLocks xmlns:a="http://schemas.openxmlformats.org/drawingml/2006/main" noGrp="1"/>
          </p:cNvSpPr>
          <p:nvPr/>
        </p:nvSpPr>
        <p:spPr>
          <a:xfrm xmlns:a="http://schemas.openxmlformats.org/drawingml/2006/main">
            <a:off x="942975" y="29337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6" name="">
            <a:extLst xmlns:a="http://schemas.openxmlformats.org/drawingml/2006/main">
              <a:ext uri="{FF2B5EF4-FFF2-40B4-BE49-F238E27FC236}">
                <a16:creationId xmlns:a16="http://schemas.microsoft.com/office/drawing/2014/main" id="{13FA0805-46D2-4B6A-95C3-ECF3CD82A5E8}"/>
              </a:ext>
            </a:extLst>
          </p:cNvPr>
          <p:cNvSpPr>
            <a:spLocks xmlns:a="http://schemas.openxmlformats.org/drawingml/2006/main" noGrp="1"/>
          </p:cNvSpPr>
          <p:nvPr/>
        </p:nvSpPr>
        <p:spPr>
          <a:xfrm xmlns:a="http://schemas.openxmlformats.org/drawingml/2006/main">
            <a:off x="3114675" y="28860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249F657F-CC22-4A40-B429-05031EC793F8}"/>
              </a:ext>
            </a:extLst>
          </p:cNvPr>
          <p:cNvSpPr>
            <a:spLocks xmlns:a="http://schemas.openxmlformats.org/drawingml/2006/main" noGrp="1"/>
          </p:cNvSpPr>
          <p:nvPr/>
        </p:nvSpPr>
        <p:spPr>
          <a:xfrm xmlns:a="http://schemas.openxmlformats.org/drawingml/2006/main">
            <a:off x="3228975" y="29337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A</a:t>
            </a:r>
          </a:p>
        </p:txBody>
      </p:sp>
      <p:sp>
        <p:nvSpPr>
          <p:cNvPr id="8" name="">
            <a:extLst xmlns:a="http://schemas.openxmlformats.org/drawingml/2006/main">
              <a:ext uri="{FF2B5EF4-FFF2-40B4-BE49-F238E27FC236}">
                <a16:creationId xmlns:a16="http://schemas.microsoft.com/office/drawing/2014/main" id="{02D5FFA1-673F-4D95-8850-17B364DE716B}"/>
              </a:ext>
            </a:extLst>
          </p:cNvPr>
          <p:cNvSpPr>
            <a:spLocks xmlns:a="http://schemas.openxmlformats.org/drawingml/2006/main" noGrp="1"/>
          </p:cNvSpPr>
          <p:nvPr/>
        </p:nvSpPr>
        <p:spPr>
          <a:xfrm xmlns:a="http://schemas.openxmlformats.org/drawingml/2006/main">
            <a:off x="5400675" y="28860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9" name="">
            <a:extLst xmlns:a="http://schemas.openxmlformats.org/drawingml/2006/main">
              <a:ext uri="{FF2B5EF4-FFF2-40B4-BE49-F238E27FC236}">
                <a16:creationId xmlns:a16="http://schemas.microsoft.com/office/drawing/2014/main" id="{18FFD5E8-7BF1-42C8-9C80-3D3AD3091AF5}"/>
              </a:ext>
            </a:extLst>
          </p:cNvPr>
          <p:cNvSpPr>
            <a:spLocks xmlns:a="http://schemas.openxmlformats.org/drawingml/2006/main" noGrp="1"/>
          </p:cNvSpPr>
          <p:nvPr/>
        </p:nvSpPr>
        <p:spPr>
          <a:xfrm xmlns:a="http://schemas.openxmlformats.org/drawingml/2006/main">
            <a:off x="5514975" y="29337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B</a:t>
            </a:r>
          </a:p>
        </p:txBody>
      </p:sp>
      <p:sp>
        <p:nvSpPr>
          <p:cNvPr id="10" name="">
            <a:extLst xmlns:a="http://schemas.openxmlformats.org/drawingml/2006/main">
              <a:ext uri="{FF2B5EF4-FFF2-40B4-BE49-F238E27FC236}">
                <a16:creationId xmlns:a16="http://schemas.microsoft.com/office/drawing/2014/main" id="{E4C5CED6-CF8C-465B-80F0-76F49B4380A1}"/>
              </a:ext>
            </a:extLst>
          </p:cNvPr>
          <p:cNvSpPr>
            <a:spLocks xmlns:a="http://schemas.openxmlformats.org/drawingml/2006/main" noGrp="1"/>
          </p:cNvSpPr>
          <p:nvPr/>
        </p:nvSpPr>
        <p:spPr>
          <a:xfrm xmlns:a="http://schemas.openxmlformats.org/drawingml/2006/main">
            <a:off x="7686675" y="28860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11" name="">
            <a:extLst xmlns:a="http://schemas.openxmlformats.org/drawingml/2006/main">
              <a:ext uri="{FF2B5EF4-FFF2-40B4-BE49-F238E27FC236}">
                <a16:creationId xmlns:a16="http://schemas.microsoft.com/office/drawing/2014/main" id="{A1AF2E51-F4BB-4829-A076-3837B944D74D}"/>
              </a:ext>
            </a:extLst>
          </p:cNvPr>
          <p:cNvSpPr>
            <a:spLocks xmlns:a="http://schemas.openxmlformats.org/drawingml/2006/main" noGrp="1"/>
          </p:cNvSpPr>
          <p:nvPr/>
        </p:nvSpPr>
        <p:spPr>
          <a:xfrm xmlns:a="http://schemas.openxmlformats.org/drawingml/2006/main">
            <a:off x="7800975" y="29337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C</a:t>
            </a:r>
          </a:p>
        </p:txBody>
      </p:sp>
      <p:sp>
        <p:nvSpPr>
          <p:cNvPr id="12" name="">
            <a:extLst xmlns:a="http://schemas.openxmlformats.org/drawingml/2006/main">
              <a:ext uri="{FF2B5EF4-FFF2-40B4-BE49-F238E27FC236}">
                <a16:creationId xmlns:a16="http://schemas.microsoft.com/office/drawing/2014/main" id="{B95DC591-F401-43AB-A9C7-1CEB5814B179}"/>
              </a:ext>
            </a:extLst>
          </p:cNvPr>
          <p:cNvSpPr>
            <a:spLocks xmlns:a="http://schemas.openxmlformats.org/drawingml/2006/main" noGrp="1"/>
          </p:cNvSpPr>
          <p:nvPr/>
        </p:nvSpPr>
        <p:spPr>
          <a:xfrm xmlns:a="http://schemas.openxmlformats.org/drawingml/2006/main">
            <a:off x="9972675" y="2886075"/>
            <a:ext cx="819150" cy="723900"/>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13" name="">
            <a:extLst xmlns:a="http://schemas.openxmlformats.org/drawingml/2006/main">
              <a:ext uri="{FF2B5EF4-FFF2-40B4-BE49-F238E27FC236}">
                <a16:creationId xmlns:a16="http://schemas.microsoft.com/office/drawing/2014/main" id="{9707B310-F163-4DE6-ACF7-EAD255093E8D}"/>
              </a:ext>
            </a:extLst>
          </p:cNvPr>
          <p:cNvSpPr>
            <a:spLocks xmlns:a="http://schemas.openxmlformats.org/drawingml/2006/main" noGrp="1"/>
          </p:cNvSpPr>
          <p:nvPr/>
        </p:nvSpPr>
        <p:spPr>
          <a:xfrm xmlns:a="http://schemas.openxmlformats.org/drawingml/2006/main">
            <a:off x="10086975" y="2933700"/>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73047"/>
                </a:solidFill>
                <a:latin typeface="Arial"/>
                <a:ea typeface="Arial"/>
                <a:cs typeface="Arial"/>
              </a:defRPr>
            </a:pPr>
            <a:r>
              <a:rPr sz="2550" b="1">
                <a:solidFill>
                  <a:srgbClr val="173047"/>
                </a:solidFill>
                <a:latin typeface="Arial"/>
                <a:ea typeface="Arial"/>
                <a:cs typeface="Arial"/>
              </a:rPr>
              <a:t>T</a:t>
            </a:r>
          </a:p>
        </p:txBody>
      </p:sp>
      <p:sp>
        <p:nvSpPr>
          <p:cNvPr id="15" name="">
            <a:extLst xmlns:a="http://schemas.openxmlformats.org/drawingml/2006/main">
              <a:ext uri="{FF2B5EF4-FFF2-40B4-BE49-F238E27FC236}">
                <a16:creationId xmlns:a16="http://schemas.microsoft.com/office/drawing/2014/main" id="{4FADC181-6A2C-4CCA-A777-078C8C1A51E8}"/>
              </a:ext>
            </a:extLst>
          </p:cNvPr>
          <p:cNvSpPr>
            <a:spLocks xmlns:a="http://schemas.openxmlformats.org/drawingml/2006/main" noGrp="1"/>
          </p:cNvSpPr>
          <p:nvPr/>
        </p:nvSpPr>
        <p:spPr>
          <a:xfrm xmlns:a="http://schemas.openxmlformats.org/drawingml/2006/main">
            <a:off x="2095500" y="26765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0857D"/>
                </a:solidFill>
                <a:latin typeface="Arial"/>
                <a:ea typeface="Arial"/>
                <a:cs typeface="Arial"/>
              </a:defRPr>
            </a:pPr>
            <a:r>
              <a:rPr sz="2250" b="1">
                <a:solidFill>
                  <a:srgbClr val="00857D"/>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37EB862F-E7E8-46B2-A8FC-E0AD35C3F581}"/>
              </a:ext>
            </a:extLst>
          </p:cNvPr>
          <p:cNvSpPr>
            <a:spLocks xmlns:a="http://schemas.openxmlformats.org/drawingml/2006/main" noGrp="1"/>
          </p:cNvSpPr>
          <p:nvPr/>
        </p:nvSpPr>
        <p:spPr>
          <a:xfrm xmlns:a="http://schemas.openxmlformats.org/drawingml/2006/main">
            <a:off x="4381500" y="26765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0857D"/>
                </a:solidFill>
                <a:latin typeface="Arial"/>
                <a:ea typeface="Arial"/>
                <a:cs typeface="Arial"/>
              </a:defRPr>
            </a:pPr>
            <a:r>
              <a:rPr sz="2250" b="1">
                <a:solidFill>
                  <a:srgbClr val="00857D"/>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EE556459-985D-4601-AC7C-80B4001D8A66}"/>
              </a:ext>
            </a:extLst>
          </p:cNvPr>
          <p:cNvSpPr>
            <a:spLocks xmlns:a="http://schemas.openxmlformats.org/drawingml/2006/main" noGrp="1"/>
          </p:cNvSpPr>
          <p:nvPr/>
        </p:nvSpPr>
        <p:spPr>
          <a:xfrm xmlns:a="http://schemas.openxmlformats.org/drawingml/2006/main">
            <a:off x="6667500" y="26765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0857D"/>
                </a:solidFill>
                <a:latin typeface="Arial"/>
                <a:ea typeface="Arial"/>
                <a:cs typeface="Arial"/>
              </a:defRPr>
            </a:pPr>
            <a:r>
              <a:rPr sz="2250" b="1">
                <a:solidFill>
                  <a:srgbClr val="00857D"/>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5C2253FF-D5C7-43EF-8AE2-311801A83DBE}"/>
              </a:ext>
            </a:extLst>
          </p:cNvPr>
          <p:cNvSpPr>
            <a:spLocks xmlns:a="http://schemas.openxmlformats.org/drawingml/2006/main" noGrp="1"/>
          </p:cNvSpPr>
          <p:nvPr/>
        </p:nvSpPr>
        <p:spPr>
          <a:xfrm xmlns:a="http://schemas.openxmlformats.org/drawingml/2006/main">
            <a:off x="8953500" y="2676525"/>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0857D"/>
                </a:solidFill>
                <a:latin typeface="Arial"/>
                <a:ea typeface="Arial"/>
                <a:cs typeface="Arial"/>
              </a:defRPr>
            </a:pPr>
            <a:r>
              <a:rPr sz="2250" b="1">
                <a:solidFill>
                  <a:srgbClr val="00857D"/>
                </a:solidFill>
                <a:latin typeface="Arial"/>
                <a:ea typeface="Arial"/>
                <a:cs typeface="Arial"/>
              </a:rPr>
              <a:t>1</a:t>
            </a:r>
          </a:p>
        </p:txBody>
      </p:sp>
      <p:sp>
        <p:nvSpPr>
          <p:cNvPr id="22" name="">
            <a:extLst xmlns:a="http://schemas.openxmlformats.org/drawingml/2006/main">
              <a:ext uri="{FF2B5EF4-FFF2-40B4-BE49-F238E27FC236}">
                <a16:creationId xmlns:a16="http://schemas.microsoft.com/office/drawing/2014/main" id="{EDB4DC9A-DFDD-4739-B945-B2223CD87437}"/>
              </a:ext>
            </a:extLst>
          </p:cNvPr>
          <p:cNvSpPr>
            <a:spLocks xmlns:a="http://schemas.openxmlformats.org/drawingml/2006/main" noGrp="1"/>
          </p:cNvSpPr>
          <p:nvPr/>
        </p:nvSpPr>
        <p:spPr>
          <a:xfrm xmlns:a="http://schemas.openxmlformats.org/drawingml/2006/main">
            <a:off x="1238250" y="2200275"/>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56B69E-4B42-495A-83A7-C913383CDED0}"/>
              </a:ext>
            </a:extLst>
          </p:cNvPr>
          <p:cNvSpPr>
            <a:spLocks xmlns:a="http://schemas.openxmlformats.org/drawingml/2006/main" noGrp="1"/>
          </p:cNvSpPr>
          <p:nvPr/>
        </p:nvSpPr>
        <p:spPr>
          <a:xfrm xmlns:a="http://schemas.openxmlformats.org/drawingml/2006/main">
            <a:off x="5810250" y="2200275"/>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BE530E5-2049-4E37-B2C2-74A371C6F741}"/>
              </a:ext>
            </a:extLst>
          </p:cNvPr>
          <p:cNvSpPr>
            <a:spLocks xmlns:a="http://schemas.openxmlformats.org/drawingml/2006/main" noGrp="1"/>
          </p:cNvSpPr>
          <p:nvPr/>
        </p:nvSpPr>
        <p:spPr>
          <a:xfrm xmlns:a="http://schemas.openxmlformats.org/drawingml/2006/main">
            <a:off x="3238500" y="1809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8</a:t>
            </a:r>
          </a:p>
        </p:txBody>
      </p:sp>
      <p:sp>
        <p:nvSpPr>
          <p:cNvPr id="28" name="">
            <a:extLst xmlns:a="http://schemas.openxmlformats.org/drawingml/2006/main">
              <a:ext uri="{FF2B5EF4-FFF2-40B4-BE49-F238E27FC236}">
                <a16:creationId xmlns:a16="http://schemas.microsoft.com/office/drawing/2014/main" id="{FAE5D117-80A4-4573-905B-54FABB0EBA0B}"/>
              </a:ext>
            </a:extLst>
          </p:cNvPr>
          <p:cNvSpPr>
            <a:spLocks xmlns:a="http://schemas.openxmlformats.org/drawingml/2006/main" noGrp="1"/>
          </p:cNvSpPr>
          <p:nvPr/>
        </p:nvSpPr>
        <p:spPr>
          <a:xfrm xmlns:a="http://schemas.openxmlformats.org/drawingml/2006/main">
            <a:off x="5810250" y="2695575"/>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3DBB14F-FC90-4C13-94E9-368DCFF1919E}"/>
              </a:ext>
            </a:extLst>
          </p:cNvPr>
          <p:cNvSpPr>
            <a:spLocks xmlns:a="http://schemas.openxmlformats.org/drawingml/2006/main" noGrp="1"/>
          </p:cNvSpPr>
          <p:nvPr/>
        </p:nvSpPr>
        <p:spPr>
          <a:xfrm xmlns:a="http://schemas.openxmlformats.org/drawingml/2006/main">
            <a:off x="10382250" y="2695575"/>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ADA8414-AA7E-4912-A8D1-D8B4B8BECC28}"/>
              </a:ext>
            </a:extLst>
          </p:cNvPr>
          <p:cNvSpPr>
            <a:spLocks xmlns:a="http://schemas.openxmlformats.org/drawingml/2006/main" noGrp="1"/>
          </p:cNvSpPr>
          <p:nvPr/>
        </p:nvSpPr>
        <p:spPr>
          <a:xfrm xmlns:a="http://schemas.openxmlformats.org/drawingml/2006/main">
            <a:off x="7810500" y="2286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24D0FFC0-2187-4098-8381-3471BBB70301}"/>
              </a:ext>
            </a:extLst>
          </p:cNvPr>
          <p:cNvSpPr>
            <a:spLocks xmlns:a="http://schemas.openxmlformats.org/drawingml/2006/main" noGrp="1"/>
          </p:cNvSpPr>
          <p:nvPr/>
        </p:nvSpPr>
        <p:spPr>
          <a:xfrm xmlns:a="http://schemas.openxmlformats.org/drawingml/2006/main">
            <a:off x="3524250" y="406717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E07B994-B6EA-4CE7-8283-50EA15E0EAF4}"/>
              </a:ext>
            </a:extLst>
          </p:cNvPr>
          <p:cNvSpPr>
            <a:spLocks xmlns:a="http://schemas.openxmlformats.org/drawingml/2006/main" noGrp="1"/>
          </p:cNvSpPr>
          <p:nvPr/>
        </p:nvSpPr>
        <p:spPr>
          <a:xfrm xmlns:a="http://schemas.openxmlformats.org/drawingml/2006/main">
            <a:off x="8096250" y="4067175"/>
            <a:ext cx="9525" cy="9525"/>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93C4EA4-FD7D-4DAD-9916-29DA04D5195E}"/>
              </a:ext>
            </a:extLst>
          </p:cNvPr>
          <p:cNvSpPr>
            <a:spLocks xmlns:a="http://schemas.openxmlformats.org/drawingml/2006/main" noGrp="1"/>
          </p:cNvSpPr>
          <p:nvPr/>
        </p:nvSpPr>
        <p:spPr>
          <a:xfrm xmlns:a="http://schemas.openxmlformats.org/drawingml/2006/main">
            <a:off x="5524500" y="41148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7</a:t>
            </a:r>
          </a:p>
        </p:txBody>
      </p:sp>
      <p:sp>
        <p:nvSpPr>
          <p:cNvPr id="40" name="">
            <a:extLst xmlns:a="http://schemas.openxmlformats.org/drawingml/2006/main">
              <a:ext uri="{FF2B5EF4-FFF2-40B4-BE49-F238E27FC236}">
                <a16:creationId xmlns:a16="http://schemas.microsoft.com/office/drawing/2014/main" id="{FBC1A677-7525-4226-A0EB-81CE57D90731}"/>
              </a:ext>
            </a:extLst>
          </p:cNvPr>
          <p:cNvSpPr>
            <a:spLocks xmlns:a="http://schemas.openxmlformats.org/drawingml/2006/main" noGrp="1"/>
          </p:cNvSpPr>
          <p:nvPr/>
        </p:nvSpPr>
        <p:spPr>
          <a:xfrm xmlns:a="http://schemas.openxmlformats.org/drawingml/2006/main">
            <a:off x="8096250" y="4733925"/>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A7F9D9E-D316-44DB-B5F2-EAD4B8F89076}"/>
              </a:ext>
            </a:extLst>
          </p:cNvPr>
          <p:cNvSpPr>
            <a:spLocks xmlns:a="http://schemas.openxmlformats.org/drawingml/2006/main" noGrp="1"/>
          </p:cNvSpPr>
          <p:nvPr/>
        </p:nvSpPr>
        <p:spPr>
          <a:xfrm xmlns:a="http://schemas.openxmlformats.org/drawingml/2006/main">
            <a:off x="3524250" y="4733925"/>
            <a:ext cx="9525" cy="9525"/>
          </a:xfrm>
          <a:prstGeom xmlns:a="http://schemas.openxmlformats.org/drawingml/2006/main" prst="rect">
            <a:avLst/>
          </a:prstGeom>
          <a:noFill xmlns:a="http://schemas.openxmlformats.org/drawingml/2006/main"/>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5FD31FA-F8BC-4B1E-A875-73FBD3FDC386}"/>
              </a:ext>
            </a:extLst>
          </p:cNvPr>
          <p:cNvSpPr>
            <a:spLocks xmlns:a="http://schemas.openxmlformats.org/drawingml/2006/main" noGrp="1"/>
          </p:cNvSpPr>
          <p:nvPr/>
        </p:nvSpPr>
        <p:spPr>
          <a:xfrm xmlns:a="http://schemas.openxmlformats.org/drawingml/2006/main">
            <a:off x="5524500" y="47910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66779"/>
                </a:solidFill>
                <a:latin typeface="Arial"/>
                <a:ea typeface="Arial"/>
                <a:cs typeface="Arial"/>
              </a:defRPr>
            </a:pPr>
            <a:r>
              <a:rPr sz="2100" b="0">
                <a:solidFill>
                  <a:srgbClr val="566779"/>
                </a:solidFill>
                <a:latin typeface="Arial"/>
                <a:ea typeface="Arial"/>
                <a:cs typeface="Arial"/>
              </a:rPr>
              <a:t>2</a:t>
            </a:r>
          </a:p>
        </p:txBody>
      </p:sp>
      <p:sp>
        <p:nvSpPr>
          <p:cNvPr id="46" name="">
            <a:extLst xmlns:a="http://schemas.openxmlformats.org/drawingml/2006/main">
              <a:ext uri="{FF2B5EF4-FFF2-40B4-BE49-F238E27FC236}">
                <a16:creationId xmlns:a16="http://schemas.microsoft.com/office/drawing/2014/main" id="{B5E4520E-CF44-4EB1-89AB-212EBE4FCC04}"/>
              </a:ext>
            </a:extLst>
          </p:cNvPr>
          <p:cNvSpPr>
            <a:spLocks xmlns:a="http://schemas.openxmlformats.org/drawingml/2006/main" noGrp="1"/>
          </p:cNvSpPr>
          <p:nvPr/>
        </p:nvSpPr>
        <p:spPr>
          <a:xfrm xmlns:a="http://schemas.openxmlformats.org/drawingml/2006/main">
            <a:off x="685800" y="53244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00857D"/>
                </a:solidFill>
                <a:latin typeface="Arial"/>
                <a:ea typeface="Arial"/>
                <a:cs typeface="Arial"/>
              </a:defRPr>
            </a:pPr>
            <a:r>
              <a:rPr sz="2550" b="1">
                <a:solidFill>
                  <a:srgbClr val="00857D"/>
                </a:solidFill>
                <a:latin typeface="Arial"/>
                <a:ea typeface="Arial"/>
                <a:cs typeface="Arial"/>
              </a:rPr>
              <a:t>Оптимальний шлях містить 4 ребра.</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69</a:t>
            </a:r>
          </a:p>
        </p:txBody>
      </p:sp>
    </p:spTree>
    <p:extLst>
      <p:ext uri="{BB962C8B-B14F-4D97-AF65-F5344CB8AC3E}">
        <p14:creationId xmlns:p14="http://schemas.microsoft.com/office/powerpoint/2010/main" val="85257102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5BA2E2C-A671-49B2-860F-FE519984809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Алгоритм Беллмана–Форда</a:t>
            </a:r>
          </a:p>
        </p:txBody>
      </p:sp>
      <p:sp>
        <p:nvSpPr>
          <p:cNvPr id="2" name="">
            <a:extLst xmlns:a="http://schemas.openxmlformats.org/drawingml/2006/main">
              <a:ext uri="{FF2B5EF4-FFF2-40B4-BE49-F238E27FC236}">
                <a16:creationId xmlns:a16="http://schemas.microsoft.com/office/drawing/2014/main" id="{7D6FA611-78B8-44D3-B402-8E19773B519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Якщо весь шар не змінився, можна завершити основні проходи раніше.</a:t>
            </a:r>
          </a:p>
        </p:txBody>
      </p:sp>
      <p:sp>
        <p:nvSpPr>
          <p:cNvPr id="3" name="">
            <a:extLst xmlns:a="http://schemas.openxmlformats.org/drawingml/2006/main">
              <a:ext uri="{FF2B5EF4-FFF2-40B4-BE49-F238E27FC236}">
                <a16:creationId xmlns:a16="http://schemas.microsoft.com/office/drawing/2014/main" id="{4CC0540C-00FA-45A3-99E7-7AB0BB045E9F}"/>
              </a:ext>
            </a:extLst>
          </p:cNvPr>
          <p:cNvSpPr>
            <a:spLocks xmlns:a="http://schemas.openxmlformats.org/drawingml/2006/main" noGrp="1"/>
          </p:cNvSpPr>
          <p:nvPr/>
        </p:nvSpPr>
        <p:spPr>
          <a:xfrm xmlns:a="http://schemas.openxmlformats.org/drawingml/2006/main">
            <a:off x="685800" y="1476375"/>
            <a:ext cx="4095750" cy="61912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308716EB-E8BF-4B1D-A632-832FC0DCB761}"/>
              </a:ext>
            </a:extLst>
          </p:cNvPr>
          <p:cNvSpPr>
            <a:spLocks xmlns:a="http://schemas.openxmlformats.org/drawingml/2006/main" noGrp="1"/>
          </p:cNvSpPr>
          <p:nvPr/>
        </p:nvSpPr>
        <p:spPr>
          <a:xfrm xmlns:a="http://schemas.openxmlformats.org/drawingml/2006/main">
            <a:off x="819150" y="159067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d(S)=0, інші d=∞; k=0</a:t>
            </a:r>
          </a:p>
        </p:txBody>
      </p:sp>
      <p:sp>
        <p:nvSpPr>
          <p:cNvPr id="5" name="">
            <a:extLst xmlns:a="http://schemas.openxmlformats.org/drawingml/2006/main">
              <a:ext uri="{FF2B5EF4-FFF2-40B4-BE49-F238E27FC236}">
                <a16:creationId xmlns:a16="http://schemas.microsoft.com/office/drawing/2014/main" id="{E823CAE8-D098-427D-9E3D-3E88FEE81129}"/>
              </a:ext>
            </a:extLst>
          </p:cNvPr>
          <p:cNvSpPr>
            <a:spLocks xmlns:a="http://schemas.openxmlformats.org/drawingml/2006/main" noGrp="1"/>
          </p:cNvSpPr>
          <p:nvPr/>
        </p:nvSpPr>
        <p:spPr>
          <a:xfrm xmlns:a="http://schemas.openxmlformats.org/drawingml/2006/main">
            <a:off x="685800" y="2476500"/>
            <a:ext cx="409575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F906ECFE-0EED-4F33-A024-1D4EF052A6BA}"/>
              </a:ext>
            </a:extLst>
          </p:cNvPr>
          <p:cNvSpPr>
            <a:spLocks xmlns:a="http://schemas.openxmlformats.org/drawingml/2006/main" noGrp="1"/>
          </p:cNvSpPr>
          <p:nvPr/>
        </p:nvSpPr>
        <p:spPr>
          <a:xfrm xmlns:a="http://schemas.openxmlformats.org/drawingml/2006/main">
            <a:off x="819150" y="2590800"/>
            <a:ext cx="38290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Побудувати новий шар</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із попереднього; k=k+1</a:t>
            </a:r>
          </a:p>
        </p:txBody>
      </p:sp>
      <p:sp>
        <p:nvSpPr>
          <p:cNvPr id="7" name="">
            <a:extLst xmlns:a="http://schemas.openxmlformats.org/drawingml/2006/main">
              <a:ext uri="{FF2B5EF4-FFF2-40B4-BE49-F238E27FC236}">
                <a16:creationId xmlns:a16="http://schemas.microsoft.com/office/drawing/2014/main" id="{1D504ED6-12BE-46A1-914D-E0DD4A3D5BCD}"/>
              </a:ext>
            </a:extLst>
          </p:cNvPr>
          <p:cNvSpPr>
            <a:spLocks xmlns:a="http://schemas.openxmlformats.org/drawingml/2006/main" noGrp="1"/>
          </p:cNvSpPr>
          <p:nvPr/>
        </p:nvSpPr>
        <p:spPr>
          <a:xfrm xmlns:a="http://schemas.openxmlformats.org/drawingml/2006/main" rot="5400000">
            <a:off x="2590800" y="2190750"/>
            <a:ext cx="2857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5A0A30-DA60-428A-837A-E43A4203E547}"/>
              </a:ext>
            </a:extLst>
          </p:cNvPr>
          <p:cNvSpPr>
            <a:spLocks xmlns:a="http://schemas.openxmlformats.org/drawingml/2006/main" noGrp="1"/>
          </p:cNvSpPr>
          <p:nvPr/>
        </p:nvSpPr>
        <p:spPr>
          <a:xfrm xmlns:a="http://schemas.openxmlformats.org/drawingml/2006/main">
            <a:off x="685800" y="3857625"/>
            <a:ext cx="4095750" cy="61912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9" name="">
            <a:extLst xmlns:a="http://schemas.openxmlformats.org/drawingml/2006/main">
              <a:ext uri="{FF2B5EF4-FFF2-40B4-BE49-F238E27FC236}">
                <a16:creationId xmlns:a16="http://schemas.microsoft.com/office/drawing/2014/main" id="{AE5E0984-542C-46F9-AF5C-850289921FFC}"/>
              </a:ext>
            </a:extLst>
          </p:cNvPr>
          <p:cNvSpPr>
            <a:spLocks xmlns:a="http://schemas.openxmlformats.org/drawingml/2006/main" noGrp="1"/>
          </p:cNvSpPr>
          <p:nvPr/>
        </p:nvSpPr>
        <p:spPr>
          <a:xfrm xmlns:a="http://schemas.openxmlformats.org/drawingml/2006/main">
            <a:off x="819150" y="397192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Є зміни і k &lt; |V|−1?</a:t>
            </a:r>
          </a:p>
        </p:txBody>
      </p:sp>
      <p:sp>
        <p:nvSpPr>
          <p:cNvPr id="10" name="">
            <a:extLst xmlns:a="http://schemas.openxmlformats.org/drawingml/2006/main">
              <a:ext uri="{FF2B5EF4-FFF2-40B4-BE49-F238E27FC236}">
                <a16:creationId xmlns:a16="http://schemas.microsoft.com/office/drawing/2014/main" id="{C38DACFB-DF35-4607-813B-2228D42B5772}"/>
              </a:ext>
            </a:extLst>
          </p:cNvPr>
          <p:cNvSpPr>
            <a:spLocks xmlns:a="http://schemas.openxmlformats.org/drawingml/2006/main" noGrp="1"/>
          </p:cNvSpPr>
          <p:nvPr/>
        </p:nvSpPr>
        <p:spPr>
          <a:xfrm xmlns:a="http://schemas.openxmlformats.org/drawingml/2006/main" rot="5400000">
            <a:off x="2566988" y="3548063"/>
            <a:ext cx="333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5D0F5E-A6FF-4316-8B9B-3315A9DBEAAA}"/>
              </a:ext>
            </a:extLst>
          </p:cNvPr>
          <p:cNvSpPr>
            <a:spLocks xmlns:a="http://schemas.openxmlformats.org/drawingml/2006/main" noGrp="1"/>
          </p:cNvSpPr>
          <p:nvPr/>
        </p:nvSpPr>
        <p:spPr>
          <a:xfrm xmlns:a="http://schemas.openxmlformats.org/drawingml/2006/main" rot="10800000">
            <a:off x="400050" y="4143375"/>
            <a:ext cx="2952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44B68C3-0D60-417B-A923-D47249816F0A}"/>
              </a:ext>
            </a:extLst>
          </p:cNvPr>
          <p:cNvSpPr>
            <a:spLocks xmlns:a="http://schemas.openxmlformats.org/drawingml/2006/main" noGrp="1"/>
          </p:cNvSpPr>
          <p:nvPr/>
        </p:nvSpPr>
        <p:spPr>
          <a:xfrm xmlns:a="http://schemas.openxmlformats.org/drawingml/2006/main" rot="-5400000">
            <a:off x="-219075" y="3524250"/>
            <a:ext cx="12382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2A6F79-8415-499B-A69C-6958427F4E3F}"/>
              </a:ext>
            </a:extLst>
          </p:cNvPr>
          <p:cNvSpPr>
            <a:spLocks xmlns:a="http://schemas.openxmlformats.org/drawingml/2006/main" noGrp="1"/>
          </p:cNvSpPr>
          <p:nvPr/>
        </p:nvSpPr>
        <p:spPr>
          <a:xfrm xmlns:a="http://schemas.openxmlformats.org/drawingml/2006/main" rot="0">
            <a:off x="400050" y="2905125"/>
            <a:ext cx="2476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B9BDD8-1762-416D-BF34-A46A7D604E3E}"/>
              </a:ext>
            </a:extLst>
          </p:cNvPr>
          <p:cNvSpPr>
            <a:spLocks xmlns:a="http://schemas.openxmlformats.org/drawingml/2006/main" noGrp="1"/>
          </p:cNvSpPr>
          <p:nvPr/>
        </p:nvSpPr>
        <p:spPr>
          <a:xfrm xmlns:a="http://schemas.openxmlformats.org/drawingml/2006/main">
            <a:off x="190500" y="347662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так</a:t>
            </a:r>
          </a:p>
        </p:txBody>
      </p:sp>
      <p:sp>
        <p:nvSpPr>
          <p:cNvPr id="15" name="">
            <a:extLst xmlns:a="http://schemas.openxmlformats.org/drawingml/2006/main">
              <a:ext uri="{FF2B5EF4-FFF2-40B4-BE49-F238E27FC236}">
                <a16:creationId xmlns:a16="http://schemas.microsoft.com/office/drawing/2014/main" id="{888D2C35-CDC0-4218-AA0C-6484B7B37067}"/>
              </a:ext>
            </a:extLst>
          </p:cNvPr>
          <p:cNvSpPr>
            <a:spLocks xmlns:a="http://schemas.openxmlformats.org/drawingml/2006/main" noGrp="1"/>
          </p:cNvSpPr>
          <p:nvPr/>
        </p:nvSpPr>
        <p:spPr>
          <a:xfrm xmlns:a="http://schemas.openxmlformats.org/drawingml/2006/main">
            <a:off x="5905500" y="2476500"/>
            <a:ext cx="5572125"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6" name="">
            <a:extLst xmlns:a="http://schemas.openxmlformats.org/drawingml/2006/main">
              <a:ext uri="{FF2B5EF4-FFF2-40B4-BE49-F238E27FC236}">
                <a16:creationId xmlns:a16="http://schemas.microsoft.com/office/drawing/2014/main" id="{84E82B9D-E4A8-4E10-9655-C5664819AFBD}"/>
              </a:ext>
            </a:extLst>
          </p:cNvPr>
          <p:cNvSpPr>
            <a:spLocks xmlns:a="http://schemas.openxmlformats.org/drawingml/2006/main" noGrp="1"/>
          </p:cNvSpPr>
          <p:nvPr/>
        </p:nvSpPr>
        <p:spPr>
          <a:xfrm xmlns:a="http://schemas.openxmlformats.org/drawingml/2006/main">
            <a:off x="6038850" y="2590800"/>
            <a:ext cx="53054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Чи можна ще покращити</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відстань із досяжного вузла?</a:t>
            </a:r>
          </a:p>
        </p:txBody>
      </p:sp>
      <p:sp>
        <p:nvSpPr>
          <p:cNvPr id="17" name="">
            <a:extLst xmlns:a="http://schemas.openxmlformats.org/drawingml/2006/main">
              <a:ext uri="{FF2B5EF4-FFF2-40B4-BE49-F238E27FC236}">
                <a16:creationId xmlns:a16="http://schemas.microsoft.com/office/drawing/2014/main" id="{B90858FE-9D44-418C-A6B9-51E51CF8A0E1}"/>
              </a:ext>
            </a:extLst>
          </p:cNvPr>
          <p:cNvSpPr>
            <a:spLocks xmlns:a="http://schemas.openxmlformats.org/drawingml/2006/main" noGrp="1"/>
          </p:cNvSpPr>
          <p:nvPr/>
        </p:nvSpPr>
        <p:spPr>
          <a:xfrm xmlns:a="http://schemas.openxmlformats.org/drawingml/2006/main" rot="0">
            <a:off x="4810125" y="4124325"/>
            <a:ext cx="8096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4324A7-9614-480A-BD64-19F7EA706428}"/>
              </a:ext>
            </a:extLst>
          </p:cNvPr>
          <p:cNvSpPr>
            <a:spLocks xmlns:a="http://schemas.openxmlformats.org/drawingml/2006/main" noGrp="1"/>
          </p:cNvSpPr>
          <p:nvPr/>
        </p:nvSpPr>
        <p:spPr>
          <a:xfrm xmlns:a="http://schemas.openxmlformats.org/drawingml/2006/main" rot="-5400000">
            <a:off x="5010150" y="3514725"/>
            <a:ext cx="12192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C1F1D0-EDB8-43FD-90DD-C0F9A136D775}"/>
              </a:ext>
            </a:extLst>
          </p:cNvPr>
          <p:cNvSpPr>
            <a:spLocks xmlns:a="http://schemas.openxmlformats.org/drawingml/2006/main" noGrp="1"/>
          </p:cNvSpPr>
          <p:nvPr/>
        </p:nvSpPr>
        <p:spPr>
          <a:xfrm xmlns:a="http://schemas.openxmlformats.org/drawingml/2006/main" rot="0">
            <a:off x="5619750" y="2905125"/>
            <a:ext cx="2381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C626AA0-6A29-47CD-8F37-419F9C295ECC}"/>
              </a:ext>
            </a:extLst>
          </p:cNvPr>
          <p:cNvSpPr>
            <a:spLocks xmlns:a="http://schemas.openxmlformats.org/drawingml/2006/main" noGrp="1"/>
          </p:cNvSpPr>
          <p:nvPr/>
        </p:nvSpPr>
        <p:spPr>
          <a:xfrm xmlns:a="http://schemas.openxmlformats.org/drawingml/2006/main">
            <a:off x="5095875" y="37814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ні</a:t>
            </a:r>
          </a:p>
        </p:txBody>
      </p:sp>
      <p:sp>
        <p:nvSpPr>
          <p:cNvPr id="21" name="">
            <a:extLst xmlns:a="http://schemas.openxmlformats.org/drawingml/2006/main">
              <a:ext uri="{FF2B5EF4-FFF2-40B4-BE49-F238E27FC236}">
                <a16:creationId xmlns:a16="http://schemas.microsoft.com/office/drawing/2014/main" id="{C381A316-B491-41DE-9DEC-12FFE5BAFA71}"/>
              </a:ext>
            </a:extLst>
          </p:cNvPr>
          <p:cNvSpPr>
            <a:spLocks xmlns:a="http://schemas.openxmlformats.org/drawingml/2006/main" noGrp="1"/>
          </p:cNvSpPr>
          <p:nvPr/>
        </p:nvSpPr>
        <p:spPr>
          <a:xfrm xmlns:a="http://schemas.openxmlformats.org/drawingml/2006/main">
            <a:off x="5905500" y="4429125"/>
            <a:ext cx="2571750" cy="1000125"/>
          </a:xfrm>
          <a:prstGeom xmlns:a="http://schemas.openxmlformats.org/drawingml/2006/main" prst="rect">
            <a:avLst/>
          </a:prstGeom>
          <a:solidFill xmlns:a="http://schemas.openxmlformats.org/drawingml/2006/main">
            <a:srgbClr val="FBE9E6"/>
          </a:solidFill>
          <a:ln xmlns:a="http://schemas.openxmlformats.org/drawingml/2006/main" w="9525">
            <a:solidFill>
              <a:srgbClr val="A8B7C0"/>
            </a:solidFill>
          </a:ln>
        </p:spPr>
      </p:sp>
      <p:sp>
        <p:nvSpPr>
          <p:cNvPr id="22" name="">
            <a:extLst xmlns:a="http://schemas.openxmlformats.org/drawingml/2006/main">
              <a:ext uri="{FF2B5EF4-FFF2-40B4-BE49-F238E27FC236}">
                <a16:creationId xmlns:a16="http://schemas.microsoft.com/office/drawing/2014/main" id="{4B63C1B6-061D-4113-BE57-69AA89AAEC05}"/>
              </a:ext>
            </a:extLst>
          </p:cNvPr>
          <p:cNvSpPr>
            <a:spLocks xmlns:a="http://schemas.openxmlformats.org/drawingml/2006/main" noGrp="1"/>
          </p:cNvSpPr>
          <p:nvPr/>
        </p:nvSpPr>
        <p:spPr>
          <a:xfrm xmlns:a="http://schemas.openxmlformats.org/drawingml/2006/main">
            <a:off x="6038850" y="4543425"/>
            <a:ext cx="2305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Так: досяжний</a:t>
            </a:r>
          </a:p>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від’ємний цикл</a:t>
            </a:r>
          </a:p>
        </p:txBody>
      </p:sp>
      <p:sp>
        <p:nvSpPr>
          <p:cNvPr id="23" name="">
            <a:extLst xmlns:a="http://schemas.openxmlformats.org/drawingml/2006/main">
              <a:ext uri="{FF2B5EF4-FFF2-40B4-BE49-F238E27FC236}">
                <a16:creationId xmlns:a16="http://schemas.microsoft.com/office/drawing/2014/main" id="{F5FCC749-1E77-4A5D-8C4B-327A166BB3D0}"/>
              </a:ext>
            </a:extLst>
          </p:cNvPr>
          <p:cNvSpPr>
            <a:spLocks xmlns:a="http://schemas.openxmlformats.org/drawingml/2006/main" noGrp="1"/>
          </p:cNvSpPr>
          <p:nvPr/>
        </p:nvSpPr>
        <p:spPr>
          <a:xfrm xmlns:a="http://schemas.openxmlformats.org/drawingml/2006/main">
            <a:off x="8905875" y="4429125"/>
            <a:ext cx="2571750" cy="100012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24" name="">
            <a:extLst xmlns:a="http://schemas.openxmlformats.org/drawingml/2006/main">
              <a:ext uri="{FF2B5EF4-FFF2-40B4-BE49-F238E27FC236}">
                <a16:creationId xmlns:a16="http://schemas.microsoft.com/office/drawing/2014/main" id="{2C082553-BC42-4CCA-AF79-F49E2243B04C}"/>
              </a:ext>
            </a:extLst>
          </p:cNvPr>
          <p:cNvSpPr>
            <a:spLocks xmlns:a="http://schemas.openxmlformats.org/drawingml/2006/main" noGrp="1"/>
          </p:cNvSpPr>
          <p:nvPr/>
        </p:nvSpPr>
        <p:spPr>
          <a:xfrm xmlns:a="http://schemas.openxmlformats.org/drawingml/2006/main">
            <a:off x="9039225" y="4543425"/>
            <a:ext cx="2305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Ні: відстані</a:t>
            </a:r>
          </a:p>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 маршрут</a:t>
            </a:r>
          </a:p>
        </p:txBody>
      </p:sp>
      <p:sp>
        <p:nvSpPr>
          <p:cNvPr id="25" name="">
            <a:extLst xmlns:a="http://schemas.openxmlformats.org/drawingml/2006/main">
              <a:ext uri="{FF2B5EF4-FFF2-40B4-BE49-F238E27FC236}">
                <a16:creationId xmlns:a16="http://schemas.microsoft.com/office/drawing/2014/main" id="{8A13A0F9-B028-4F1C-A2CC-4EC862BF9E21}"/>
              </a:ext>
            </a:extLst>
          </p:cNvPr>
          <p:cNvSpPr>
            <a:spLocks xmlns:a="http://schemas.openxmlformats.org/drawingml/2006/main" noGrp="1"/>
          </p:cNvSpPr>
          <p:nvPr/>
        </p:nvSpPr>
        <p:spPr>
          <a:xfrm xmlns:a="http://schemas.openxmlformats.org/drawingml/2006/main" rot="6993903">
            <a:off x="6926470" y="3857625"/>
            <a:ext cx="958435" cy="9525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952AF5A-F0B9-4F21-AE4F-0C2CBFFDD407}"/>
              </a:ext>
            </a:extLst>
          </p:cNvPr>
          <p:cNvSpPr>
            <a:spLocks xmlns:a="http://schemas.openxmlformats.org/drawingml/2006/main" noGrp="1"/>
          </p:cNvSpPr>
          <p:nvPr/>
        </p:nvSpPr>
        <p:spPr>
          <a:xfrm xmlns:a="http://schemas.openxmlformats.org/drawingml/2006/main" rot="3656724">
            <a:off x="9463296" y="3857625"/>
            <a:ext cx="980659"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70</a:t>
            </a:r>
          </a:p>
        </p:txBody>
      </p:sp>
    </p:spTree>
    <p:extLst>
      <p:ext uri="{BB962C8B-B14F-4D97-AF65-F5344CB8AC3E}">
        <p14:creationId xmlns:p14="http://schemas.microsoft.com/office/powerpoint/2010/main" val="119734079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6" name=""/>
          <p:cNvCxnSpPr>
            <a:stCxn xmlns:a="http://schemas.openxmlformats.org/drawingml/2006/main" id="29" idx="3"/>
            <a:endCxn xmlns:a="http://schemas.openxmlformats.org/drawingml/2006/main" id="22" idx="4"/>
          </p:cNvCxnSpPr>
          <p:nvPr/>
        </p:nvCxnSpPr>
        <p:spPr>
          <a:xfrm xmlns:a="http://schemas.openxmlformats.org/drawingml/2006/main" flipH="1" flipV="1">
            <a:off x="7658100" y="3333750"/>
            <a:ext cx="9525" cy="557213"/>
          </a:xfrm>
          <a:prstGeom xmlns:a="http://schemas.openxmlformats.org/drawingml/2006/main" prst="straightConnector1">
            <a:avLst/>
          </a:prstGeom>
          <a:ln xmlns:a="http://schemas.openxmlformats.org/drawingml/2006/main" w="23813">
            <a:solidFill>
              <a:srgbClr val="B64436"/>
            </a:solidFill>
            <a:tailEnd type="triangle" w="med" len="med"/>
          </a:ln>
        </p:spPr>
      </p:cxnSp>
      <p:cxnSp>
        <p:nvCxnSpPr>
          <p:cNvPr id="37" name=""/>
          <p:cNvCxnSpPr>
            <a:stCxn xmlns:a="http://schemas.openxmlformats.org/drawingml/2006/main" id="28" idx="3"/>
            <a:endCxn xmlns:a="http://schemas.openxmlformats.org/drawingml/2006/main" id="29" idx="1"/>
          </p:cNvCxnSpPr>
          <p:nvPr/>
        </p:nvCxnSpPr>
        <p:spPr>
          <a:xfrm xmlns:a="http://schemas.openxmlformats.org/drawingml/2006/main" flipH="1">
            <a:off x="7658100" y="3890963"/>
            <a:ext cx="2867025" cy="0"/>
          </a:xfrm>
          <a:prstGeom xmlns:a="http://schemas.openxmlformats.org/drawingml/2006/main" prst="straightConnector1">
            <a:avLst/>
          </a:prstGeom>
          <a:ln xmlns:a="http://schemas.openxmlformats.org/drawingml/2006/main" w="23813">
            <a:solidFill>
              <a:srgbClr val="B64436"/>
            </a:solidFill>
            <a:tailEnd type="none" w="med" len="med"/>
          </a:ln>
        </p:spPr>
      </p:cxnSp>
      <p:cxnSp>
        <p:nvCxnSpPr>
          <p:cNvPr id="38" name=""/>
          <p:cNvCxnSpPr>
            <a:stCxn xmlns:a="http://schemas.openxmlformats.org/drawingml/2006/main" id="24" idx="4"/>
            <a:endCxn xmlns:a="http://schemas.openxmlformats.org/drawingml/2006/main" id="28" idx="1"/>
          </p:cNvCxnSpPr>
          <p:nvPr/>
        </p:nvCxnSpPr>
        <p:spPr>
          <a:xfrm xmlns:a="http://schemas.openxmlformats.org/drawingml/2006/main">
            <a:off x="10515600" y="3333750"/>
            <a:ext cx="0" cy="557213"/>
          </a:xfrm>
          <a:prstGeom xmlns:a="http://schemas.openxmlformats.org/drawingml/2006/main" prst="straightConnector1">
            <a:avLst/>
          </a:prstGeom>
          <a:ln xmlns:a="http://schemas.openxmlformats.org/drawingml/2006/main" w="23813">
            <a:solidFill>
              <a:srgbClr val="B64436"/>
            </a:solidFill>
            <a:tailEnd type="none" w="med" len="med"/>
          </a:ln>
        </p:spPr>
      </p:cxnSp>
      <p:cxnSp>
        <p:nvCxnSpPr>
          <p:cNvPr id="39" name=""/>
          <p:cNvCxnSpPr>
            <a:stCxn xmlns:a="http://schemas.openxmlformats.org/drawingml/2006/main" id="22" idx="6"/>
            <a:endCxn xmlns:a="http://schemas.openxmlformats.org/drawingml/2006/main" id="24" idx="2"/>
          </p:cNvCxnSpPr>
          <p:nvPr/>
        </p:nvCxnSpPr>
        <p:spPr>
          <a:xfrm xmlns:a="http://schemas.openxmlformats.org/drawingml/2006/main">
            <a:off x="8134350" y="2976563"/>
            <a:ext cx="1905000" cy="0"/>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40" name=""/>
          <p:cNvCxnSpPr>
            <a:stCxn xmlns:a="http://schemas.openxmlformats.org/drawingml/2006/main" id="15" idx="3"/>
            <a:endCxn xmlns:a="http://schemas.openxmlformats.org/drawingml/2006/main" id="8" idx="4"/>
          </p:cNvCxnSpPr>
          <p:nvPr/>
        </p:nvCxnSpPr>
        <p:spPr>
          <a:xfrm xmlns:a="http://schemas.openxmlformats.org/drawingml/2006/main" flipH="1" flipV="1">
            <a:off x="5248275" y="3333750"/>
            <a:ext cx="9525" cy="481013"/>
          </a:xfrm>
          <a:prstGeom xmlns:a="http://schemas.openxmlformats.org/drawingml/2006/main" prst="straightConnector1">
            <a:avLst/>
          </a:prstGeom>
          <a:ln xmlns:a="http://schemas.openxmlformats.org/drawingml/2006/main" w="23813">
            <a:solidFill>
              <a:srgbClr val="566779"/>
            </a:solidFill>
            <a:tailEnd type="triangle" w="med" len="med"/>
          </a:ln>
        </p:spPr>
      </p:cxnSp>
      <p:cxnSp>
        <p:nvCxnSpPr>
          <p:cNvPr id="41" name=""/>
          <p:cNvCxnSpPr>
            <a:stCxn xmlns:a="http://schemas.openxmlformats.org/drawingml/2006/main" id="14" idx="3"/>
            <a:endCxn xmlns:a="http://schemas.openxmlformats.org/drawingml/2006/main" id="15" idx="1"/>
          </p:cNvCxnSpPr>
          <p:nvPr/>
        </p:nvCxnSpPr>
        <p:spPr>
          <a:xfrm xmlns:a="http://schemas.openxmlformats.org/drawingml/2006/main">
            <a:off x="1485900" y="3814763"/>
            <a:ext cx="3762375" cy="0"/>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42" name=""/>
          <p:cNvCxnSpPr>
            <a:stCxn xmlns:a="http://schemas.openxmlformats.org/drawingml/2006/main" id="4" idx="4"/>
            <a:endCxn xmlns:a="http://schemas.openxmlformats.org/drawingml/2006/main" id="14" idx="1"/>
          </p:cNvCxnSpPr>
          <p:nvPr/>
        </p:nvCxnSpPr>
        <p:spPr>
          <a:xfrm xmlns:a="http://schemas.openxmlformats.org/drawingml/2006/main">
            <a:off x="1476375" y="3333750"/>
            <a:ext cx="0" cy="481013"/>
          </a:xfrm>
          <a:prstGeom xmlns:a="http://schemas.openxmlformats.org/drawingml/2006/main" prst="straightConnector1">
            <a:avLst/>
          </a:prstGeom>
          <a:ln xmlns:a="http://schemas.openxmlformats.org/drawingml/2006/main" w="23813">
            <a:solidFill>
              <a:srgbClr val="566779"/>
            </a:solidFill>
            <a:tailEnd type="none" w="med" len="med"/>
          </a:ln>
        </p:spPr>
      </p:cxnSp>
      <p:cxnSp>
        <p:nvCxnSpPr>
          <p:cNvPr id="43" name=""/>
          <p:cNvCxnSpPr>
            <a:stCxn xmlns:a="http://schemas.openxmlformats.org/drawingml/2006/main" id="6" idx="6"/>
            <a:endCxn xmlns:a="http://schemas.openxmlformats.org/drawingml/2006/main" id="8" idx="2"/>
          </p:cNvCxnSpPr>
          <p:nvPr/>
        </p:nvCxnSpPr>
        <p:spPr>
          <a:xfrm xmlns:a="http://schemas.openxmlformats.org/drawingml/2006/main">
            <a:off x="3790950" y="2976563"/>
            <a:ext cx="102870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44" name=""/>
          <p:cNvCxnSpPr>
            <a:stCxn xmlns:a="http://schemas.openxmlformats.org/drawingml/2006/main" id="4" idx="6"/>
            <a:endCxn xmlns:a="http://schemas.openxmlformats.org/drawingml/2006/main" id="6" idx="2"/>
          </p:cNvCxnSpPr>
          <p:nvPr/>
        </p:nvCxnSpPr>
        <p:spPr>
          <a:xfrm xmlns:a="http://schemas.openxmlformats.org/drawingml/2006/main">
            <a:off x="1905000" y="2976563"/>
            <a:ext cx="102870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45" name="">
            <a:extLst xmlns:a="http://schemas.openxmlformats.org/drawingml/2006/main">
              <a:ext uri="{FF2B5EF4-FFF2-40B4-BE49-F238E27FC236}">
                <a16:creationId xmlns:a16="http://schemas.microsoft.com/office/drawing/2014/main" id="{45244A6D-5216-416F-9957-1EB29EF7A92D}"/>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Від’ємне ребро та від’ємний цикл</a:t>
            </a:r>
          </a:p>
        </p:txBody>
      </p:sp>
      <p:sp>
        <p:nvSpPr>
          <p:cNvPr id="2" name="">
            <a:extLst xmlns:a="http://schemas.openxmlformats.org/drawingml/2006/main">
              <a:ext uri="{FF2B5EF4-FFF2-40B4-BE49-F238E27FC236}">
                <a16:creationId xmlns:a16="http://schemas.microsoft.com/office/drawing/2014/main" id="{F179AB75-548B-4C39-B81A-61DBB997F05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1700" b="1">
                <a:solidFill>
                  <a:srgbClr val="00857D"/>
                </a:solidFill>
                <a:latin typeface="Arial"/>
                <a:ea typeface="Arial"/>
                <a:cs typeface="Arial"/>
              </a:rPr>
              <a:t>Від’ємні ваги тут — умовні витрати. У правому прикладі є шлях від S до A.</a:t>
            </a:r>
          </a:p>
        </p:txBody>
      </p:sp>
      <p:sp>
        <p:nvSpPr>
          <p:cNvPr id="3" name="">
            <a:extLst xmlns:a="http://schemas.openxmlformats.org/drawingml/2006/main">
              <a:ext uri="{FF2B5EF4-FFF2-40B4-BE49-F238E27FC236}">
                <a16:creationId xmlns:a16="http://schemas.microsoft.com/office/drawing/2014/main" id="{2A64D91D-6FC0-4152-BB46-3A91E47A6926}"/>
              </a:ext>
            </a:extLst>
          </p:cNvPr>
          <p:cNvSpPr>
            <a:spLocks xmlns:a="http://schemas.openxmlformats.org/drawingml/2006/main" noGrp="1"/>
          </p:cNvSpPr>
          <p:nvPr/>
        </p:nvSpPr>
        <p:spPr>
          <a:xfrm xmlns:a="http://schemas.openxmlformats.org/drawingml/2006/main">
            <a:off x="685800" y="1514475"/>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00857D"/>
                </a:solidFill>
                <a:latin typeface="Arial"/>
                <a:ea typeface="Arial"/>
                <a:cs typeface="Arial"/>
              </a:defRPr>
            </a:pPr>
            <a:r>
              <a:rPr sz="2325" b="1">
                <a:solidFill>
                  <a:srgbClr val="00857D"/>
                </a:solidFill>
                <a:latin typeface="Arial"/>
                <a:ea typeface="Arial"/>
                <a:cs typeface="Arial"/>
              </a:rPr>
              <a:t>Від’ємне ребро: розв’язок існує</a:t>
            </a:r>
          </a:p>
        </p:txBody>
      </p:sp>
      <p:sp>
        <p:nvSpPr>
          <p:cNvPr id="4" name="">
            <a:extLst xmlns:a="http://schemas.openxmlformats.org/drawingml/2006/main">
              <a:ext uri="{FF2B5EF4-FFF2-40B4-BE49-F238E27FC236}">
                <a16:creationId xmlns:a16="http://schemas.microsoft.com/office/drawing/2014/main" id="{D8D36693-183D-4C41-9799-BACD4946BBC6}"/>
              </a:ext>
            </a:extLst>
          </p:cNvPr>
          <p:cNvSpPr>
            <a:spLocks xmlns:a="http://schemas.openxmlformats.org/drawingml/2006/main" noGrp="1"/>
          </p:cNvSpPr>
          <p:nvPr/>
        </p:nvSpPr>
        <p:spPr>
          <a:xfrm xmlns:a="http://schemas.openxmlformats.org/drawingml/2006/main">
            <a:off x="1047750" y="2619375"/>
            <a:ext cx="857250" cy="714375"/>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B951E18D-2264-48AF-8776-FBA8C7DA2A8A}"/>
              </a:ext>
            </a:extLst>
          </p:cNvPr>
          <p:cNvSpPr>
            <a:spLocks xmlns:a="http://schemas.openxmlformats.org/drawingml/2006/main" noGrp="1"/>
          </p:cNvSpPr>
          <p:nvPr/>
        </p:nvSpPr>
        <p:spPr>
          <a:xfrm xmlns:a="http://schemas.openxmlformats.org/drawingml/2006/main">
            <a:off x="1162050" y="2667000"/>
            <a:ext cx="62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73047"/>
                </a:solidFill>
                <a:latin typeface="Arial"/>
                <a:ea typeface="Arial"/>
                <a:cs typeface="Arial"/>
              </a:defRPr>
            </a:pPr>
            <a:r>
              <a:rPr sz="2400" b="1">
                <a:solidFill>
                  <a:srgbClr val="173047"/>
                </a:solidFill>
                <a:latin typeface="Arial"/>
                <a:ea typeface="Arial"/>
                <a:cs typeface="Arial"/>
              </a:rPr>
              <a:t>S</a:t>
            </a:r>
          </a:p>
        </p:txBody>
      </p:sp>
      <p:sp>
        <p:nvSpPr>
          <p:cNvPr id="6" name="">
            <a:extLst xmlns:a="http://schemas.openxmlformats.org/drawingml/2006/main">
              <a:ext uri="{FF2B5EF4-FFF2-40B4-BE49-F238E27FC236}">
                <a16:creationId xmlns:a16="http://schemas.microsoft.com/office/drawing/2014/main" id="{A7219C5B-E496-4314-9C7E-27F69DC308F1}"/>
              </a:ext>
            </a:extLst>
          </p:cNvPr>
          <p:cNvSpPr>
            <a:spLocks xmlns:a="http://schemas.openxmlformats.org/drawingml/2006/main" noGrp="1"/>
          </p:cNvSpPr>
          <p:nvPr/>
        </p:nvSpPr>
        <p:spPr>
          <a:xfrm xmlns:a="http://schemas.openxmlformats.org/drawingml/2006/main">
            <a:off x="2933700" y="2619375"/>
            <a:ext cx="857250" cy="714375"/>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02886BC8-89CA-4EC2-88A0-A4B04474F250}"/>
              </a:ext>
            </a:extLst>
          </p:cNvPr>
          <p:cNvSpPr>
            <a:spLocks xmlns:a="http://schemas.openxmlformats.org/drawingml/2006/main" noGrp="1"/>
          </p:cNvSpPr>
          <p:nvPr/>
        </p:nvSpPr>
        <p:spPr>
          <a:xfrm xmlns:a="http://schemas.openxmlformats.org/drawingml/2006/main">
            <a:off x="3048000" y="2667000"/>
            <a:ext cx="62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73047"/>
                </a:solidFill>
                <a:latin typeface="Arial"/>
                <a:ea typeface="Arial"/>
                <a:cs typeface="Arial"/>
              </a:defRPr>
            </a:pPr>
            <a:r>
              <a:rPr sz="2400" b="1">
                <a:solidFill>
                  <a:srgbClr val="173047"/>
                </a:solidFill>
                <a:latin typeface="Arial"/>
                <a:ea typeface="Arial"/>
                <a:cs typeface="Arial"/>
              </a:rPr>
              <a:t>A</a:t>
            </a:r>
          </a:p>
        </p:txBody>
      </p:sp>
      <p:sp>
        <p:nvSpPr>
          <p:cNvPr id="8" name="">
            <a:extLst xmlns:a="http://schemas.openxmlformats.org/drawingml/2006/main">
              <a:ext uri="{FF2B5EF4-FFF2-40B4-BE49-F238E27FC236}">
                <a16:creationId xmlns:a16="http://schemas.microsoft.com/office/drawing/2014/main" id="{82988105-ECF3-49FD-BB26-DBAEF6E66CF2}"/>
              </a:ext>
            </a:extLst>
          </p:cNvPr>
          <p:cNvSpPr>
            <a:spLocks xmlns:a="http://schemas.openxmlformats.org/drawingml/2006/main" noGrp="1"/>
          </p:cNvSpPr>
          <p:nvPr/>
        </p:nvSpPr>
        <p:spPr>
          <a:xfrm xmlns:a="http://schemas.openxmlformats.org/drawingml/2006/main">
            <a:off x="4819650" y="2619375"/>
            <a:ext cx="857250" cy="714375"/>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9" name="">
            <a:extLst xmlns:a="http://schemas.openxmlformats.org/drawingml/2006/main">
              <a:ext uri="{FF2B5EF4-FFF2-40B4-BE49-F238E27FC236}">
                <a16:creationId xmlns:a16="http://schemas.microsoft.com/office/drawing/2014/main" id="{D5B28A3E-1138-4A83-97F6-E6D13EB58E5B}"/>
              </a:ext>
            </a:extLst>
          </p:cNvPr>
          <p:cNvSpPr>
            <a:spLocks xmlns:a="http://schemas.openxmlformats.org/drawingml/2006/main" noGrp="1"/>
          </p:cNvSpPr>
          <p:nvPr/>
        </p:nvSpPr>
        <p:spPr>
          <a:xfrm xmlns:a="http://schemas.openxmlformats.org/drawingml/2006/main">
            <a:off x="4933950" y="2667000"/>
            <a:ext cx="62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73047"/>
                </a:solidFill>
                <a:latin typeface="Arial"/>
                <a:ea typeface="Arial"/>
                <a:cs typeface="Arial"/>
              </a:defRPr>
            </a:pPr>
            <a:r>
              <a:rPr sz="2400" b="1">
                <a:solidFill>
                  <a:srgbClr val="173047"/>
                </a:solidFill>
                <a:latin typeface="Arial"/>
                <a:ea typeface="Arial"/>
                <a:cs typeface="Arial"/>
              </a:rPr>
              <a:t>T</a:t>
            </a:r>
          </a:p>
        </p:txBody>
      </p:sp>
      <p:sp>
        <p:nvSpPr>
          <p:cNvPr id="12" name="">
            <a:extLst xmlns:a="http://schemas.openxmlformats.org/drawingml/2006/main">
              <a:ext uri="{FF2B5EF4-FFF2-40B4-BE49-F238E27FC236}">
                <a16:creationId xmlns:a16="http://schemas.microsoft.com/office/drawing/2014/main" id="{451BE5B6-64C1-48DE-9459-4E96EECD50E2}"/>
              </a:ext>
            </a:extLst>
          </p:cNvPr>
          <p:cNvSpPr>
            <a:spLocks xmlns:a="http://schemas.openxmlformats.org/drawingml/2006/main" noGrp="1"/>
          </p:cNvSpPr>
          <p:nvPr/>
        </p:nvSpPr>
        <p:spPr>
          <a:xfrm xmlns:a="http://schemas.openxmlformats.org/drawingml/2006/main">
            <a:off x="2171700" y="2238375"/>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0857D"/>
                </a:solidFill>
                <a:latin typeface="Arial"/>
                <a:ea typeface="Arial"/>
                <a:cs typeface="Arial"/>
              </a:defRPr>
            </a:pPr>
            <a:r>
              <a:rPr sz="2250" b="1">
                <a:solidFill>
                  <a:srgbClr val="00857D"/>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0345A018-089C-4161-B7F9-B0A7A364020F}"/>
              </a:ext>
            </a:extLst>
          </p:cNvPr>
          <p:cNvSpPr>
            <a:spLocks xmlns:a="http://schemas.openxmlformats.org/drawingml/2006/main" noGrp="1"/>
          </p:cNvSpPr>
          <p:nvPr/>
        </p:nvSpPr>
        <p:spPr>
          <a:xfrm xmlns:a="http://schemas.openxmlformats.org/drawingml/2006/main">
            <a:off x="4010025" y="2238375"/>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C3AB621C-15D7-40DA-8CDF-1D1F543F375C}"/>
              </a:ext>
            </a:extLst>
          </p:cNvPr>
          <p:cNvSpPr>
            <a:spLocks xmlns:a="http://schemas.openxmlformats.org/drawingml/2006/main" noGrp="1"/>
          </p:cNvSpPr>
          <p:nvPr/>
        </p:nvSpPr>
        <p:spPr>
          <a:xfrm xmlns:a="http://schemas.openxmlformats.org/drawingml/2006/main">
            <a:off x="1476375" y="3810000"/>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40A05D0-4CBB-4FAD-9FBA-AEB9AAEC3FD7}"/>
              </a:ext>
            </a:extLst>
          </p:cNvPr>
          <p:cNvSpPr>
            <a:spLocks xmlns:a="http://schemas.openxmlformats.org/drawingml/2006/main" noGrp="1"/>
          </p:cNvSpPr>
          <p:nvPr/>
        </p:nvSpPr>
        <p:spPr>
          <a:xfrm xmlns:a="http://schemas.openxmlformats.org/drawingml/2006/main">
            <a:off x="5248275" y="3810000"/>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FAF1D9-BDE6-4789-8FA4-BC23B0C50B08}"/>
              </a:ext>
            </a:extLst>
          </p:cNvPr>
          <p:cNvSpPr>
            <a:spLocks xmlns:a="http://schemas.openxmlformats.org/drawingml/2006/main" noGrp="1"/>
          </p:cNvSpPr>
          <p:nvPr/>
        </p:nvSpPr>
        <p:spPr>
          <a:xfrm xmlns:a="http://schemas.openxmlformats.org/drawingml/2006/main">
            <a:off x="3057525" y="38671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566779"/>
                </a:solidFill>
                <a:latin typeface="Arial"/>
                <a:ea typeface="Arial"/>
                <a:cs typeface="Arial"/>
              </a:defRPr>
            </a:pPr>
            <a:r>
              <a:rPr sz="2250" b="0">
                <a:solidFill>
                  <a:srgbClr val="566779"/>
                </a:solidFill>
                <a:latin typeface="Arial"/>
                <a:ea typeface="Arial"/>
                <a:cs typeface="Arial"/>
              </a:rPr>
              <a:t>5</a:t>
            </a:r>
          </a:p>
        </p:txBody>
      </p:sp>
      <p:sp>
        <p:nvSpPr>
          <p:cNvPr id="20" name="">
            <a:extLst xmlns:a="http://schemas.openxmlformats.org/drawingml/2006/main">
              <a:ext uri="{FF2B5EF4-FFF2-40B4-BE49-F238E27FC236}">
                <a16:creationId xmlns:a16="http://schemas.microsoft.com/office/drawing/2014/main" id="{BFD49AE5-7A82-4A08-8144-176F1591E37D}"/>
              </a:ext>
            </a:extLst>
          </p:cNvPr>
          <p:cNvSpPr>
            <a:spLocks xmlns:a="http://schemas.openxmlformats.org/drawingml/2006/main" noGrp="1"/>
          </p:cNvSpPr>
          <p:nvPr/>
        </p:nvSpPr>
        <p:spPr>
          <a:xfrm xmlns:a="http://schemas.openxmlformats.org/drawingml/2006/main">
            <a:off x="685800" y="4724400"/>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00857D"/>
                </a:solidFill>
                <a:latin typeface="Arial"/>
                <a:ea typeface="Arial"/>
                <a:cs typeface="Arial"/>
              </a:defRPr>
            </a:pPr>
            <a:r>
              <a:rPr sz="2400" b="1">
                <a:solidFill>
                  <a:srgbClr val="00857D"/>
                </a:solidFill>
                <a:latin typeface="Arial"/>
                <a:ea typeface="Arial"/>
                <a:cs typeface="Arial"/>
              </a:rPr>
              <a:t>Найкраща вартість: 4 − 2 = 2.</a:t>
            </a:r>
          </a:p>
        </p:txBody>
      </p:sp>
      <p:sp>
        <p:nvSpPr>
          <p:cNvPr id="21" name="">
            <a:extLst xmlns:a="http://schemas.openxmlformats.org/drawingml/2006/main">
              <a:ext uri="{FF2B5EF4-FFF2-40B4-BE49-F238E27FC236}">
                <a16:creationId xmlns:a16="http://schemas.microsoft.com/office/drawing/2014/main" id="{AF8FF7E1-6374-4FEA-883A-EDE63B854016}"/>
              </a:ext>
            </a:extLst>
          </p:cNvPr>
          <p:cNvSpPr>
            <a:spLocks xmlns:a="http://schemas.openxmlformats.org/drawingml/2006/main" noGrp="1"/>
          </p:cNvSpPr>
          <p:nvPr/>
        </p:nvSpPr>
        <p:spPr>
          <a:xfrm xmlns:a="http://schemas.openxmlformats.org/drawingml/2006/main">
            <a:off x="6762750" y="1514475"/>
            <a:ext cx="4743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B64436"/>
                </a:solidFill>
                <a:latin typeface="Arial"/>
                <a:ea typeface="Arial"/>
                <a:cs typeface="Arial"/>
              </a:defRPr>
            </a:pPr>
            <a:r>
              <a:rPr sz="2325" b="1">
                <a:solidFill>
                  <a:srgbClr val="B64436"/>
                </a:solidFill>
                <a:latin typeface="Arial"/>
                <a:ea typeface="Arial"/>
                <a:cs typeface="Arial"/>
              </a:rPr>
              <a:t>Досяжний від’ємний цикл</a:t>
            </a:r>
          </a:p>
        </p:txBody>
      </p:sp>
      <p:sp>
        <p:nvSpPr>
          <p:cNvPr id="22" name="">
            <a:extLst xmlns:a="http://schemas.openxmlformats.org/drawingml/2006/main">
              <a:ext uri="{FF2B5EF4-FFF2-40B4-BE49-F238E27FC236}">
                <a16:creationId xmlns:a16="http://schemas.microsoft.com/office/drawing/2014/main" id="{EF36E56B-1F55-4137-93CC-AB38729CC453}"/>
              </a:ext>
            </a:extLst>
          </p:cNvPr>
          <p:cNvSpPr>
            <a:spLocks xmlns:a="http://schemas.openxmlformats.org/drawingml/2006/main" noGrp="1"/>
          </p:cNvSpPr>
          <p:nvPr/>
        </p:nvSpPr>
        <p:spPr>
          <a:xfrm xmlns:a="http://schemas.openxmlformats.org/drawingml/2006/main">
            <a:off x="7181850" y="2619375"/>
            <a:ext cx="952500" cy="714375"/>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23" name="">
            <a:extLst xmlns:a="http://schemas.openxmlformats.org/drawingml/2006/main">
              <a:ext uri="{FF2B5EF4-FFF2-40B4-BE49-F238E27FC236}">
                <a16:creationId xmlns:a16="http://schemas.microsoft.com/office/drawing/2014/main" id="{AEC4F0A2-8A6C-45DA-A2F0-41EEA877BA18}"/>
              </a:ext>
            </a:extLst>
          </p:cNvPr>
          <p:cNvSpPr>
            <a:spLocks xmlns:a="http://schemas.openxmlformats.org/drawingml/2006/main" noGrp="1"/>
          </p:cNvSpPr>
          <p:nvPr/>
        </p:nvSpPr>
        <p:spPr>
          <a:xfrm xmlns:a="http://schemas.openxmlformats.org/drawingml/2006/main">
            <a:off x="7296150" y="2667000"/>
            <a:ext cx="723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73047"/>
                </a:solidFill>
                <a:latin typeface="Arial"/>
                <a:ea typeface="Arial"/>
                <a:cs typeface="Arial"/>
              </a:defRPr>
            </a:pPr>
            <a:r>
              <a:rPr sz="2400" b="1">
                <a:solidFill>
                  <a:srgbClr val="1730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539F1F3C-B6F7-4023-BDFA-EFE4C14505D5}"/>
              </a:ext>
            </a:extLst>
          </p:cNvPr>
          <p:cNvSpPr>
            <a:spLocks xmlns:a="http://schemas.openxmlformats.org/drawingml/2006/main" noGrp="1"/>
          </p:cNvSpPr>
          <p:nvPr/>
        </p:nvSpPr>
        <p:spPr>
          <a:xfrm xmlns:a="http://schemas.openxmlformats.org/drawingml/2006/main">
            <a:off x="10039350" y="2619375"/>
            <a:ext cx="952500" cy="714375"/>
          </a:xfrm>
          <a:prstGeom xmlns:a="http://schemas.openxmlformats.org/drawingml/2006/main" prst="ellipse">
            <a:avLst/>
          </a:prstGeom>
          <a:solidFill xmlns:a="http://schemas.openxmlformats.org/drawingml/2006/main">
            <a:srgbClr val="F1F5F8"/>
          </a:solidFill>
          <a:ln xmlns:a="http://schemas.openxmlformats.org/drawingml/2006/main" w="14288">
            <a:solidFill>
              <a:srgbClr val="CDD8E1"/>
            </a:solidFill>
          </a:ln>
        </p:spPr>
      </p:sp>
      <p:sp>
        <p:nvSpPr>
          <p:cNvPr id="25" name="">
            <a:extLst xmlns:a="http://schemas.openxmlformats.org/drawingml/2006/main">
              <a:ext uri="{FF2B5EF4-FFF2-40B4-BE49-F238E27FC236}">
                <a16:creationId xmlns:a16="http://schemas.microsoft.com/office/drawing/2014/main" id="{AA0DDFB7-9AB2-4042-85A5-AA37824AF08E}"/>
              </a:ext>
            </a:extLst>
          </p:cNvPr>
          <p:cNvSpPr>
            <a:spLocks xmlns:a="http://schemas.openxmlformats.org/drawingml/2006/main" noGrp="1"/>
          </p:cNvSpPr>
          <p:nvPr/>
        </p:nvSpPr>
        <p:spPr>
          <a:xfrm xmlns:a="http://schemas.openxmlformats.org/drawingml/2006/main">
            <a:off x="10153650" y="2667000"/>
            <a:ext cx="723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73047"/>
                </a:solidFill>
                <a:latin typeface="Arial"/>
                <a:ea typeface="Arial"/>
                <a:cs typeface="Arial"/>
              </a:defRPr>
            </a:pPr>
            <a:r>
              <a:rPr sz="2400" b="1">
                <a:solidFill>
                  <a:srgbClr val="173047"/>
                </a:solidFill>
                <a:latin typeface="Arial"/>
                <a:ea typeface="Arial"/>
                <a:cs typeface="Arial"/>
              </a:rPr>
              <a:t>B</a:t>
            </a:r>
          </a:p>
        </p:txBody>
      </p:sp>
      <p:sp>
        <p:nvSpPr>
          <p:cNvPr id="27" name="">
            <a:extLst xmlns:a="http://schemas.openxmlformats.org/drawingml/2006/main">
              <a:ext uri="{FF2B5EF4-FFF2-40B4-BE49-F238E27FC236}">
                <a16:creationId xmlns:a16="http://schemas.microsoft.com/office/drawing/2014/main" id="{D8BE50EE-2809-47B3-A470-C88FBB273ADF}"/>
              </a:ext>
            </a:extLst>
          </p:cNvPr>
          <p:cNvSpPr>
            <a:spLocks xmlns:a="http://schemas.openxmlformats.org/drawingml/2006/main" noGrp="1"/>
          </p:cNvSpPr>
          <p:nvPr/>
        </p:nvSpPr>
        <p:spPr>
          <a:xfrm xmlns:a="http://schemas.openxmlformats.org/drawingml/2006/main">
            <a:off x="8705850" y="21907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B64436"/>
                </a:solidFill>
                <a:latin typeface="Arial"/>
                <a:ea typeface="Arial"/>
                <a:cs typeface="Arial"/>
              </a:defRPr>
            </a:pPr>
            <a:r>
              <a:rPr sz="2250" b="1">
                <a:solidFill>
                  <a:srgbClr val="B64436"/>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C081EE49-9D2C-4814-A874-6403028592AF}"/>
              </a:ext>
            </a:extLst>
          </p:cNvPr>
          <p:cNvSpPr>
            <a:spLocks xmlns:a="http://schemas.openxmlformats.org/drawingml/2006/main" noGrp="1"/>
          </p:cNvSpPr>
          <p:nvPr/>
        </p:nvSpPr>
        <p:spPr>
          <a:xfrm xmlns:a="http://schemas.openxmlformats.org/drawingml/2006/main">
            <a:off x="10515600" y="3886200"/>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616AB2F-5BB3-41BB-AC44-29DA1900773E}"/>
              </a:ext>
            </a:extLst>
          </p:cNvPr>
          <p:cNvSpPr>
            <a:spLocks xmlns:a="http://schemas.openxmlformats.org/drawingml/2006/main" noGrp="1"/>
          </p:cNvSpPr>
          <p:nvPr/>
        </p:nvSpPr>
        <p:spPr>
          <a:xfrm xmlns:a="http://schemas.openxmlformats.org/drawingml/2006/main">
            <a:off x="7658100" y="3886200"/>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E1E3359-E0C6-4A57-8347-E3A34249FFF0}"/>
              </a:ext>
            </a:extLst>
          </p:cNvPr>
          <p:cNvSpPr>
            <a:spLocks xmlns:a="http://schemas.openxmlformats.org/drawingml/2006/main" noGrp="1"/>
          </p:cNvSpPr>
          <p:nvPr/>
        </p:nvSpPr>
        <p:spPr>
          <a:xfrm xmlns:a="http://schemas.openxmlformats.org/drawingml/2006/main">
            <a:off x="8734425" y="40005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B64436"/>
                </a:solidFill>
                <a:latin typeface="Arial"/>
                <a:ea typeface="Arial"/>
                <a:cs typeface="Arial"/>
              </a:defRPr>
            </a:pPr>
            <a:r>
              <a:rPr sz="2250" b="1">
                <a:solidFill>
                  <a:srgbClr val="B64436"/>
                </a:solidFill>
                <a:latin typeface="Arial"/>
                <a:ea typeface="Arial"/>
                <a:cs typeface="Arial"/>
              </a:rPr>
              <a:t>+1</a:t>
            </a:r>
          </a:p>
        </p:txBody>
      </p:sp>
      <p:sp>
        <p:nvSpPr>
          <p:cNvPr id="34" name="">
            <a:extLst xmlns:a="http://schemas.openxmlformats.org/drawingml/2006/main">
              <a:ext uri="{FF2B5EF4-FFF2-40B4-BE49-F238E27FC236}">
                <a16:creationId xmlns:a16="http://schemas.microsoft.com/office/drawing/2014/main" id="{5DAE9377-30D1-40C2-A81E-80103B29C90C}"/>
              </a:ext>
            </a:extLst>
          </p:cNvPr>
          <p:cNvSpPr>
            <a:spLocks xmlns:a="http://schemas.openxmlformats.org/drawingml/2006/main" noGrp="1"/>
          </p:cNvSpPr>
          <p:nvPr/>
        </p:nvSpPr>
        <p:spPr>
          <a:xfrm xmlns:a="http://schemas.openxmlformats.org/drawingml/2006/main">
            <a:off x="6762750" y="4695825"/>
            <a:ext cx="4743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4436"/>
                </a:solidFill>
                <a:latin typeface="Arial"/>
                <a:ea typeface="Arial"/>
                <a:cs typeface="Arial"/>
              </a:defRPr>
            </a:pPr>
            <a:r>
              <a:rPr sz="2250" b="1">
                <a:solidFill>
                  <a:srgbClr val="B64436"/>
                </a:solidFill>
                <a:latin typeface="Arial"/>
                <a:ea typeface="Arial"/>
                <a:cs typeface="Arial"/>
              </a:rPr>
              <a:t>Сума циклу: −2.</a:t>
            </a:r>
          </a:p>
          <a:p xmlns:a="http://schemas.openxmlformats.org/drawingml/2006/main">
            <a:pPr algn="l">
              <a:defRPr sz="2250" b="1">
                <a:solidFill>
                  <a:srgbClr val="B64436"/>
                </a:solidFill>
                <a:latin typeface="Arial"/>
                <a:ea typeface="Arial"/>
                <a:cs typeface="Arial"/>
              </a:defRPr>
            </a:pPr>
            <a:r>
              <a:rPr sz="2250" b="1">
                <a:solidFill>
                  <a:srgbClr val="B64436"/>
                </a:solidFill>
                <a:latin typeface="Arial"/>
                <a:ea typeface="Arial"/>
                <a:cs typeface="Arial"/>
              </a:rPr>
              <a:t>Кожне коло зменшує вартість.</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71</a:t>
            </a:r>
          </a:p>
        </p:txBody>
      </p:sp>
    </p:spTree>
    <p:extLst>
      <p:ext uri="{BB962C8B-B14F-4D97-AF65-F5344CB8AC3E}">
        <p14:creationId xmlns:p14="http://schemas.microsoft.com/office/powerpoint/2010/main" val="120311058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9E305F-6F97-4A53-AA64-8EADD1EF46BA}"/>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Python: дані графа та початковий рядок</a:t>
            </a:r>
          </a:p>
        </p:txBody>
      </p:sp>
      <p:sp>
        <p:nvSpPr>
          <p:cNvPr id="2" name="">
            <a:extLst xmlns:a="http://schemas.openxmlformats.org/drawingml/2006/main">
              <a:ext uri="{FF2B5EF4-FFF2-40B4-BE49-F238E27FC236}">
                <a16:creationId xmlns:a16="http://schemas.microsoft.com/office/drawing/2014/main" id="{14DCEC16-9F12-4E72-8740-F456A27D8BE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Дані збігаються з графом. На старті відома тільки відстань до S.</a:t>
            </a:r>
          </a:p>
        </p:txBody>
      </p:sp>
      <p:sp>
        <p:nvSpPr>
          <p:cNvPr id="3" name="">
            <a:extLst xmlns:a="http://schemas.openxmlformats.org/drawingml/2006/main">
              <a:ext uri="{FF2B5EF4-FFF2-40B4-BE49-F238E27FC236}">
                <a16:creationId xmlns:a16="http://schemas.microsoft.com/office/drawing/2014/main" id="{2A6C9E1E-B81D-4523-90F4-ABD1FBBBE77A}"/>
              </a:ext>
            </a:extLst>
          </p:cNvPr>
          <p:cNvSpPr>
            <a:spLocks xmlns:a="http://schemas.openxmlformats.org/drawingml/2006/main" noGrp="1"/>
          </p:cNvSpPr>
          <p:nvPr/>
        </p:nvSpPr>
        <p:spPr>
          <a:xfrm xmlns:a="http://schemas.openxmlformats.org/drawingml/2006/main">
            <a:off x="685800" y="1495425"/>
            <a:ext cx="10820400" cy="306514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820758-3B9C-4907-8E32-421651B46BFB}"/>
              </a:ext>
            </a:extLst>
          </p:cNvPr>
          <p:cNvSpPr>
            <a:spLocks xmlns:a="http://schemas.openxmlformats.org/drawingml/2006/main" noGrp="1"/>
          </p:cNvSpPr>
          <p:nvPr/>
        </p:nvSpPr>
        <p:spPr>
          <a:xfrm xmlns:a="http://schemas.openxmlformats.org/drawingml/2006/main">
            <a:off x="857250" y="1590675"/>
            <a:ext cx="10477500" cy="2874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math import inf</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nodes = ["S", "A", "B", "C", "T"]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edges = [("S", "A", 4), ("S", "B", 8),</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 "B", 1), ("A", "C", 7),</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 "C", 1), ("B", "T", 6),</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 "T", 1), ("C", "A", 2)]</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d = {v: inf for v in nodes}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d["S"] = 0</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history, parents = [d.copy()], []</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print("Старт:", d)</a:t>
            </a:r>
          </a:p>
        </p:txBody>
      </p:sp>
      <p:sp>
        <p:nvSpPr>
          <p:cNvPr id="5" name="">
            <a:extLst xmlns:a="http://schemas.openxmlformats.org/drawingml/2006/main">
              <a:ext uri="{FF2B5EF4-FFF2-40B4-BE49-F238E27FC236}">
                <a16:creationId xmlns:a16="http://schemas.microsoft.com/office/drawing/2014/main" id="{DC9ED429-5A9D-4394-A939-6F2FCA0EDDC3}"/>
              </a:ext>
            </a:extLst>
          </p:cNvPr>
          <p:cNvSpPr>
            <a:spLocks xmlns:a="http://schemas.openxmlformats.org/drawingml/2006/main" noGrp="1"/>
          </p:cNvSpPr>
          <p:nvPr/>
        </p:nvSpPr>
        <p:spPr>
          <a:xfrm xmlns:a="http://schemas.openxmlformats.org/drawingml/2006/main">
            <a:off x="685800" y="4876800"/>
            <a:ext cx="10820400" cy="8382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60479D-6C5F-438F-AA4E-FB0C7A10EC8F}"/>
              </a:ext>
            </a:extLst>
          </p:cNvPr>
          <p:cNvSpPr>
            <a:spLocks xmlns:a="http://schemas.openxmlformats.org/drawingml/2006/main" noGrp="1"/>
          </p:cNvSpPr>
          <p:nvPr/>
        </p:nvSpPr>
        <p:spPr>
          <a:xfrm xmlns:a="http://schemas.openxmlformats.org/drawingml/2006/main">
            <a:off x="857250" y="49720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Старт: {'S': 0, 'A': inf, 'B': inf,</a:t>
            </a:r>
          </a:p>
          <a:p xmlns:a="http://schemas.openxmlformats.org/drawingml/2006/main">
            <a:pPr algn="l">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        'C': inf, 'T': inf}</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72</a:t>
            </a:r>
          </a:p>
        </p:txBody>
      </p:sp>
    </p:spTree>
    <p:extLst>
      <p:ext uri="{BB962C8B-B14F-4D97-AF65-F5344CB8AC3E}">
        <p14:creationId xmlns:p14="http://schemas.microsoft.com/office/powerpoint/2010/main" val="27647487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BFA8F1-C999-48C5-B895-2414DEFC3287}"/>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Python: релаксації та рядки ДП</a:t>
            </a:r>
          </a:p>
        </p:txBody>
      </p:sp>
      <p:sp>
        <p:nvSpPr>
          <p:cNvPr id="2" name="">
            <a:extLst xmlns:a="http://schemas.openxmlformats.org/drawingml/2006/main">
              <a:ext uri="{FF2B5EF4-FFF2-40B4-BE49-F238E27FC236}">
                <a16:creationId xmlns:a16="http://schemas.microsoft.com/office/drawing/2014/main" id="{B0DBC660-C0FA-4EED-AE5A-BB562FC8637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new = d.copy() зберігає вже знайдені шляхи з меншою кількістю ребер.</a:t>
            </a:r>
          </a:p>
        </p:txBody>
      </p:sp>
      <p:sp>
        <p:nvSpPr>
          <p:cNvPr id="3" name="">
            <a:extLst xmlns:a="http://schemas.openxmlformats.org/drawingml/2006/main">
              <a:ext uri="{FF2B5EF4-FFF2-40B4-BE49-F238E27FC236}">
                <a16:creationId xmlns:a16="http://schemas.microsoft.com/office/drawing/2014/main" id="{C6AE3C93-3AF8-4C12-98E1-7A56F561FC9D}"/>
              </a:ext>
            </a:extLst>
          </p:cNvPr>
          <p:cNvSpPr>
            <a:spLocks xmlns:a="http://schemas.openxmlformats.org/drawingml/2006/main" noGrp="1"/>
          </p:cNvSpPr>
          <p:nvPr/>
        </p:nvSpPr>
        <p:spPr>
          <a:xfrm xmlns:a="http://schemas.openxmlformats.org/drawingml/2006/main">
            <a:off x="685800" y="1466850"/>
            <a:ext cx="10820400" cy="362483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8B12D3-E655-49E6-A802-195F51140CCE}"/>
              </a:ext>
            </a:extLst>
          </p:cNvPr>
          <p:cNvSpPr>
            <a:spLocks xmlns:a="http://schemas.openxmlformats.org/drawingml/2006/main" noGrp="1"/>
          </p:cNvSpPr>
          <p:nvPr/>
        </p:nvSpPr>
        <p:spPr>
          <a:xfrm xmlns:a="http://schemas.openxmlformats.org/drawingml/2006/main">
            <a:off x="857250" y="1562100"/>
            <a:ext cx="10477500" cy="34343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k in range(1, len(nodes)):       # 1, 2, 3, 4</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new = d.copy()                  # старий шлях теж можливий</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parent = {v: None for v in nodes}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for u, v, w in edges: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candidate = d[u] + w        # тільки попередній рядок</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candidate &lt; new[v]: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new[v] = candidate     # краще через u</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parent[v] = u</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history.append(new.copy())</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parents.append(parent)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d = new</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print("Після 4 проходів:", d["T"])</a:t>
            </a:r>
          </a:p>
        </p:txBody>
      </p:sp>
      <p:sp>
        <p:nvSpPr>
          <p:cNvPr id="5" name="">
            <a:extLst xmlns:a="http://schemas.openxmlformats.org/drawingml/2006/main">
              <a:ext uri="{FF2B5EF4-FFF2-40B4-BE49-F238E27FC236}">
                <a16:creationId xmlns:a16="http://schemas.microsoft.com/office/drawing/2014/main" id="{C2CD95C4-681A-49B6-8617-E9C56D30B0C2}"/>
              </a:ext>
            </a:extLst>
          </p:cNvPr>
          <p:cNvSpPr>
            <a:spLocks xmlns:a="http://schemas.openxmlformats.org/drawingml/2006/main" noGrp="1"/>
          </p:cNvSpPr>
          <p:nvPr/>
        </p:nvSpPr>
        <p:spPr>
          <a:xfrm xmlns:a="http://schemas.openxmlformats.org/drawingml/2006/main">
            <a:off x="685800" y="5191125"/>
            <a:ext cx="10820400" cy="56197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10A557-7F2D-40A8-8E46-7772F1B0D488}"/>
              </a:ext>
            </a:extLst>
          </p:cNvPr>
          <p:cNvSpPr>
            <a:spLocks xmlns:a="http://schemas.openxmlformats.org/drawingml/2006/main" noGrp="1"/>
          </p:cNvSpPr>
          <p:nvPr/>
        </p:nvSpPr>
        <p:spPr>
          <a:xfrm xmlns:a="http://schemas.openxmlformats.org/drawingml/2006/main">
            <a:off x="857250" y="528637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Після 4 проходів: 7</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73</a:t>
            </a:r>
          </a:p>
        </p:txBody>
      </p:sp>
    </p:spTree>
    <p:extLst>
      <p:ext uri="{BB962C8B-B14F-4D97-AF65-F5344CB8AC3E}">
        <p14:creationId xmlns:p14="http://schemas.microsoft.com/office/powerpoint/2010/main" val="98641429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23B2E6-21FB-4E71-8AB2-3B31253FFE0E}"/>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Python: перевірка циклу та відновлення шляху</a:t>
            </a:r>
          </a:p>
        </p:txBody>
      </p:sp>
      <p:sp>
        <p:nvSpPr>
          <p:cNvPr id="2" name="">
            <a:extLst xmlns:a="http://schemas.openxmlformats.org/drawingml/2006/main">
              <a:ext uri="{FF2B5EF4-FFF2-40B4-BE49-F238E27FC236}">
                <a16:creationId xmlns:a16="http://schemas.microsoft.com/office/drawing/2014/main" id="{29BE2065-102D-4B27-952B-48579919F8DE}"/>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Батьків читаємо у зворотному порядку шарів, потім розвертаємо шлях.</a:t>
            </a:r>
          </a:p>
        </p:txBody>
      </p:sp>
      <p:sp>
        <p:nvSpPr>
          <p:cNvPr id="3" name="">
            <a:extLst xmlns:a="http://schemas.openxmlformats.org/drawingml/2006/main">
              <a:ext uri="{FF2B5EF4-FFF2-40B4-BE49-F238E27FC236}">
                <a16:creationId xmlns:a16="http://schemas.microsoft.com/office/drawing/2014/main" id="{DA97A415-2105-441C-90D3-002585339C40}"/>
              </a:ext>
            </a:extLst>
          </p:cNvPr>
          <p:cNvSpPr>
            <a:spLocks xmlns:a="http://schemas.openxmlformats.org/drawingml/2006/main" noGrp="1"/>
          </p:cNvSpPr>
          <p:nvPr/>
        </p:nvSpPr>
        <p:spPr>
          <a:xfrm xmlns:a="http://schemas.openxmlformats.org/drawingml/2006/main">
            <a:off x="685800" y="1504950"/>
            <a:ext cx="10820400" cy="306514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684B1D-C922-4984-A24C-991A25244586}"/>
              </a:ext>
            </a:extLst>
          </p:cNvPr>
          <p:cNvSpPr>
            <a:spLocks xmlns:a="http://schemas.openxmlformats.org/drawingml/2006/main" noGrp="1"/>
          </p:cNvSpPr>
          <p:nvPr/>
        </p:nvSpPr>
        <p:spPr>
          <a:xfrm xmlns:a="http://schemas.openxmlformats.org/drawingml/2006/main">
            <a:off x="857250" y="1600200"/>
            <a:ext cx="10477500" cy="2874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u, v, w in edges:             # ще одна перевірка</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d[u] != inf and d[u] + w &lt; d[v]: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raise ValueError("Досяжний від'ємний цикл")</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path, v = ["T"], "T"              # T досяжна в цьому прикладі</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parent in reversed(parents):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parent[v] is not None: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v = parent[v]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path.append(v)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path.reverse()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print("Маршрут:", " -&gt; ".join(path))</a:t>
            </a:r>
          </a:p>
        </p:txBody>
      </p:sp>
      <p:sp>
        <p:nvSpPr>
          <p:cNvPr id="5" name="">
            <a:extLst xmlns:a="http://schemas.openxmlformats.org/drawingml/2006/main">
              <a:ext uri="{FF2B5EF4-FFF2-40B4-BE49-F238E27FC236}">
                <a16:creationId xmlns:a16="http://schemas.microsoft.com/office/drawing/2014/main" id="{BD78140C-55A7-4F42-8EAE-E8D8B7C8C6BF}"/>
              </a:ext>
            </a:extLst>
          </p:cNvPr>
          <p:cNvSpPr>
            <a:spLocks xmlns:a="http://schemas.openxmlformats.org/drawingml/2006/main" noGrp="1"/>
          </p:cNvSpPr>
          <p:nvPr/>
        </p:nvSpPr>
        <p:spPr>
          <a:xfrm xmlns:a="http://schemas.openxmlformats.org/drawingml/2006/main">
            <a:off x="685800" y="4857750"/>
            <a:ext cx="10820400" cy="7239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AE2409-E407-4FAD-91F4-4C9F7299E6B2}"/>
              </a:ext>
            </a:extLst>
          </p:cNvPr>
          <p:cNvSpPr>
            <a:spLocks xmlns:a="http://schemas.openxmlformats.org/drawingml/2006/main" noGrp="1"/>
          </p:cNvSpPr>
          <p:nvPr/>
        </p:nvSpPr>
        <p:spPr>
          <a:xfrm xmlns:a="http://schemas.openxmlformats.org/drawingml/2006/main">
            <a:off x="857250" y="49530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Маршрут: S -&gt; A -&gt; B -&gt; C -&gt; T</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74</a:t>
            </a:r>
          </a:p>
        </p:txBody>
      </p:sp>
    </p:spTree>
    <p:extLst>
      <p:ext uri="{BB962C8B-B14F-4D97-AF65-F5344CB8AC3E}">
        <p14:creationId xmlns:p14="http://schemas.microsoft.com/office/powerpoint/2010/main" val="139639857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902349-B27E-4416-B4C3-2708937E64B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Фактичний вивід: шари та відповідь</a:t>
            </a:r>
          </a:p>
        </p:txBody>
      </p:sp>
      <p:sp>
        <p:nvSpPr>
          <p:cNvPr id="2" name="">
            <a:extLst xmlns:a="http://schemas.openxmlformats.org/drawingml/2006/main">
              <a:ext uri="{FF2B5EF4-FFF2-40B4-BE49-F238E27FC236}">
                <a16:creationId xmlns:a16="http://schemas.microsoft.com/office/drawing/2014/main" id="{4AA51FAF-1775-4B55-BB44-61F7FACC1C5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Кожний рядок відповідає шляхам із не більше ніж k ребрами.</a:t>
            </a:r>
          </a:p>
        </p:txBody>
      </p:sp>
      <p:sp>
        <p:nvSpPr>
          <p:cNvPr id="3" name="">
            <a:extLst xmlns:a="http://schemas.openxmlformats.org/drawingml/2006/main">
              <a:ext uri="{FF2B5EF4-FFF2-40B4-BE49-F238E27FC236}">
                <a16:creationId xmlns:a16="http://schemas.microsoft.com/office/drawing/2014/main" id="{8B568027-FE25-424F-824B-DBDC6039F543}"/>
              </a:ext>
            </a:extLst>
          </p:cNvPr>
          <p:cNvSpPr>
            <a:spLocks xmlns:a="http://schemas.openxmlformats.org/drawingml/2006/main" noGrp="1"/>
          </p:cNvSpPr>
          <p:nvPr/>
        </p:nvSpPr>
        <p:spPr>
          <a:xfrm xmlns:a="http://schemas.openxmlformats.org/drawingml/2006/main">
            <a:off x="838200" y="1476375"/>
            <a:ext cx="10477500" cy="1576578"/>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Courier New"/>
                <a:ea typeface="Courier New"/>
                <a:cs typeface="Courier New"/>
              </a:defRPr>
            </a:defPPr>
          </a:lstStyle>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for k, row in enumerate(history):</a:t>
            </a:r>
          </a:p>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    values = [row[v] for v in nodes]</a:t>
            </a:r>
          </a:p>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    print(k, values)</a:t>
            </a:r>
          </a:p>
          <a:p xmlns:a="http://schemas.openxmlformats.org/drawingml/2006/main">
            <a:pPr>
              <a:defRPr sz="2175" b="0">
                <a:solidFill>
                  <a:srgbClr val="193247"/>
                </a:solidFill>
                <a:latin typeface="Courier New"/>
                <a:ea typeface="Courier New"/>
                <a:cs typeface="Courier New"/>
              </a:defRPr>
            </a:pPr>
            <a:r>
              <a:rPr sz="2175" b="0">
                <a:solidFill>
                  <a:srgbClr val="193247"/>
                </a:solidFill>
                <a:latin typeface="Courier New"/>
                <a:ea typeface="Courier New"/>
                <a:cs typeface="Courier New"/>
              </a:rPr>
              <a:t>print("Затримка:", d["T"], "мс")</a:t>
            </a:r>
          </a:p>
        </p:txBody>
      </p:sp>
      <p:sp>
        <p:nvSpPr>
          <p:cNvPr id="4" name="">
            <a:extLst xmlns:a="http://schemas.openxmlformats.org/drawingml/2006/main">
              <a:ext uri="{FF2B5EF4-FFF2-40B4-BE49-F238E27FC236}">
                <a16:creationId xmlns:a16="http://schemas.microsoft.com/office/drawing/2014/main" id="{07DE54C0-AB29-42B0-B7CE-12ED0211C9DA}"/>
              </a:ext>
            </a:extLst>
          </p:cNvPr>
          <p:cNvSpPr>
            <a:spLocks xmlns:a="http://schemas.openxmlformats.org/drawingml/2006/main" noGrp="1"/>
          </p:cNvSpPr>
          <p:nvPr/>
        </p:nvSpPr>
        <p:spPr>
          <a:xfrm xmlns:a="http://schemas.openxmlformats.org/drawingml/2006/main">
            <a:off x="838200" y="3291078"/>
            <a:ext cx="10477500" cy="2212467"/>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Courier New"/>
                <a:ea typeface="Courier New"/>
                <a:cs typeface="Courier New"/>
              </a:defRPr>
            </a:defPPr>
          </a:lstStyle>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0 [0, inf, inf, inf, inf]</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1 [0, 4, 8, inf, inf]</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2 [0, 4, 5, 9, 14]</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3 [0, 4, 5, 6, 10]</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4 [0, 4, 5, 6, 7]</a:t>
            </a:r>
          </a:p>
          <a:p xmlns:a="http://schemas.openxmlformats.org/drawingml/2006/main">
            <a:pPr>
              <a:defRPr sz="2175" b="1">
                <a:solidFill>
                  <a:srgbClr val="008B85"/>
                </a:solidFill>
                <a:latin typeface="Courier New"/>
                <a:ea typeface="Courier New"/>
                <a:cs typeface="Courier New"/>
              </a:defRPr>
            </a:pPr>
            <a:r>
              <a:rPr sz="2175" b="1">
                <a:solidFill>
                  <a:srgbClr val="008B85"/>
                </a:solidFill>
                <a:latin typeface="Courier New"/>
                <a:ea typeface="Courier New"/>
                <a:cs typeface="Courier New"/>
              </a:rPr>
              <a:t>Затримка: 7 мс</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75</a:t>
            </a:r>
          </a:p>
        </p:txBody>
      </p:sp>
    </p:spTree>
    <p:extLst>
      <p:ext uri="{BB962C8B-B14F-4D97-AF65-F5344CB8AC3E}">
        <p14:creationId xmlns:p14="http://schemas.microsoft.com/office/powerpoint/2010/main" val="51763096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B68F48-57F0-4275-A81A-16227E8D2D6C}"/>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SciPy має окрему функцію bellman_ford</a:t>
            </a:r>
          </a:p>
        </p:txBody>
      </p:sp>
      <p:sp>
        <p:nvSpPr>
          <p:cNvPr id="2" name="">
            <a:extLst xmlns:a="http://schemas.openxmlformats.org/drawingml/2006/main">
              <a:ext uri="{FF2B5EF4-FFF2-40B4-BE49-F238E27FC236}">
                <a16:creationId xmlns:a16="http://schemas.microsoft.com/office/drawing/2014/main" id="{AA65F23C-6014-4FB4-8D87-82F163130E49}"/>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Результат: відстані та, за запитом, попередники вершин.</a:t>
            </a:r>
          </a:p>
        </p:txBody>
      </p:sp>
      <p:sp>
        <p:nvSpPr>
          <p:cNvPr id="3" name="">
            <a:extLst xmlns:a="http://schemas.openxmlformats.org/drawingml/2006/main">
              <a:ext uri="{FF2B5EF4-FFF2-40B4-BE49-F238E27FC236}">
                <a16:creationId xmlns:a16="http://schemas.microsoft.com/office/drawing/2014/main" id="{79C3CB63-4DF6-4BD4-A671-3E0E213ED6CD}"/>
              </a:ext>
            </a:extLst>
          </p:cNvPr>
          <p:cNvSpPr>
            <a:spLocks xmlns:a="http://schemas.openxmlformats.org/drawingml/2006/main" noGrp="1"/>
          </p:cNvSpPr>
          <p:nvPr/>
        </p:nvSpPr>
        <p:spPr>
          <a:xfrm xmlns:a="http://schemas.openxmlformats.org/drawingml/2006/main">
            <a:off x="685800" y="1476375"/>
            <a:ext cx="10820400" cy="804863"/>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59F213-3306-4FB5-B8BC-BEEB243003AF}"/>
              </a:ext>
            </a:extLst>
          </p:cNvPr>
          <p:cNvSpPr>
            <a:spLocks xmlns:a="http://schemas.openxmlformats.org/drawingml/2006/main" noGrp="1"/>
          </p:cNvSpPr>
          <p:nvPr/>
        </p:nvSpPr>
        <p:spPr>
          <a:xfrm xmlns:a="http://schemas.openxmlformats.org/drawingml/2006/main">
            <a:off x="857250" y="1571625"/>
            <a:ext cx="10477500"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bellman_ford(csgraph, directed=True, indices=None,</a:t>
            </a:r>
          </a:p>
          <a:p xmlns:a="http://schemas.openxmlformats.org/drawingml/2006/main">
            <a:pPr algn="l">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return_predecessors=False, unweighted=False)</a:t>
            </a:r>
          </a:p>
        </p:txBody>
      </p:sp>
      <p:graphicFrame>
        <p:nvGraphicFramePr>
          <p:cNvPr id="11" name=""/>
          <p:cNvGraphicFramePr/>
          <p:nvPr/>
        </p:nvGraphicFramePr>
        <p:xfrm>
          <a:off xmlns:a="http://schemas.openxmlformats.org/drawingml/2006/main" x="685800" y="2581275"/>
          <a:ext xmlns:a="http://schemas.openxmlformats.org/drawingml/2006/main" cx="10820400" cy="3114675"/>
        </p:xfrm>
        <a:graphic xmlns:a="http://schemas.openxmlformats.org/drawingml/2006/main">
          <a:graphicData uri="http://schemas.openxmlformats.org/drawingml/2006/table">
            <a:tbl>
              <a:tblPr/>
              <a:tblGrid>
                <a:gridCol w="3857625"/>
                <a:gridCol w="6962775"/>
              </a:tblGrid>
              <a:tr h="519113">
                <a:tc>
                  <a:txBody>
                    <a:bodyPr/>
                    <a:lstStyle/>
                    <a:p>
                      <a:r>
                        <a:rPr sz="2100" b="1">
                          <a:solidFill>
                            <a:srgbClr val="FFFFFF"/>
                          </a:solidFill>
                          <a:latin typeface="Arial"/>
                          <a:ea typeface="Arial"/>
                          <a:cs typeface="Arial"/>
                        </a:rPr>
                        <a:t>Параметр</a:t>
                      </a:r>
                    </a:p>
                  </a:txBody>
                  <a:tcPr marL="95250" marR="95250" marT="57150" marB="57150" anchor="ctr">
                    <a:solidFill>
                      <a:srgbClr val="173047"/>
                    </a:solidFill>
                  </a:tcPr>
                </a:tc>
                <a:tc>
                  <a:txBody>
                    <a:bodyPr/>
                    <a:lstStyle/>
                    <a:p>
                      <a:r>
                        <a:rPr sz="2100" b="1">
                          <a:solidFill>
                            <a:srgbClr val="FFFFFF"/>
                          </a:solidFill>
                          <a:latin typeface="Arial"/>
                          <a:ea typeface="Arial"/>
                          <a:cs typeface="Arial"/>
                        </a:rPr>
                        <a:t>Що означає</a:t>
                      </a:r>
                    </a:p>
                  </a:txBody>
                  <a:tcPr marL="95250" marR="95250" marT="57150" marB="57150" anchor="ctr">
                    <a:solidFill>
                      <a:srgbClr val="173047"/>
                    </a:solidFill>
                  </a:tcPr>
                </a:tc>
              </a:tr>
              <a:tr h="519113">
                <a:tc>
                  <a:txBody>
                    <a:bodyPr/>
                    <a:lstStyle/>
                    <a:p>
                      <a:r>
                        <a:rPr sz="2100">
                          <a:solidFill>
                            <a:srgbClr val="173047"/>
                          </a:solidFill>
                          <a:latin typeface="Arial"/>
                          <a:ea typeface="Arial"/>
                          <a:cs typeface="Arial"/>
                        </a:rPr>
                        <a:t>csgraph</a:t>
                      </a:r>
                    </a:p>
                  </a:txBody>
                  <a:tcPr marL="95250" marR="95250" marT="57150" marB="57150" anchor="ctr">
                    <a:solidFill>
                      <a:srgbClr val="FFFFFF"/>
                    </a:solidFill>
                  </a:tcPr>
                </a:tc>
                <a:tc>
                  <a:txBody>
                    <a:bodyPr/>
                    <a:lstStyle/>
                    <a:p>
                      <a:r>
                        <a:rPr sz="2100">
                          <a:solidFill>
                            <a:srgbClr val="173047"/>
                          </a:solidFill>
                          <a:latin typeface="Arial"/>
                          <a:ea typeface="Arial"/>
                          <a:cs typeface="Arial"/>
                        </a:rPr>
                        <a:t>Матриця ваг графа, зокрема розріджена</a:t>
                      </a:r>
                    </a:p>
                  </a:txBody>
                  <a:tcPr marL="95250" marR="95250" marT="57150" marB="57150" anchor="ctr">
                    <a:solidFill>
                      <a:srgbClr val="FFFFFF"/>
                    </a:solidFill>
                  </a:tcPr>
                </a:tc>
              </a:tr>
              <a:tr h="519113">
                <a:tc>
                  <a:txBody>
                    <a:bodyPr/>
                    <a:lstStyle/>
                    <a:p>
                      <a:r>
                        <a:rPr sz="2100">
                          <a:solidFill>
                            <a:srgbClr val="173047"/>
                          </a:solidFill>
                          <a:latin typeface="Arial"/>
                          <a:ea typeface="Arial"/>
                          <a:cs typeface="Arial"/>
                        </a:rPr>
                        <a:t>directed</a:t>
                      </a:r>
                    </a:p>
                  </a:txBody>
                  <a:tcPr marL="95250" marR="95250" marT="57150" marB="57150" anchor="ctr">
                    <a:solidFill>
                      <a:srgbClr val="FFFFFF"/>
                    </a:solidFill>
                  </a:tcPr>
                </a:tc>
                <a:tc>
                  <a:txBody>
                    <a:bodyPr/>
                    <a:lstStyle/>
                    <a:p>
                      <a:r>
                        <a:rPr sz="2100">
                          <a:solidFill>
                            <a:srgbClr val="173047"/>
                          </a:solidFill>
                          <a:latin typeface="Arial"/>
                          <a:ea typeface="Arial"/>
                          <a:cs typeface="Arial"/>
                        </a:rPr>
                        <a:t>True: враховувати напрямки ребер</a:t>
                      </a:r>
                    </a:p>
                  </a:txBody>
                  <a:tcPr marL="95250" marR="95250" marT="57150" marB="57150" anchor="ctr">
                    <a:solidFill>
                      <a:srgbClr val="FFFFFF"/>
                    </a:solidFill>
                  </a:tcPr>
                </a:tc>
              </a:tr>
              <a:tr h="519113">
                <a:tc>
                  <a:txBody>
                    <a:bodyPr/>
                    <a:lstStyle/>
                    <a:p>
                      <a:r>
                        <a:rPr sz="2100">
                          <a:solidFill>
                            <a:srgbClr val="173047"/>
                          </a:solidFill>
                          <a:latin typeface="Arial"/>
                          <a:ea typeface="Arial"/>
                          <a:cs typeface="Arial"/>
                        </a:rPr>
                        <a:t>indices</a:t>
                      </a:r>
                    </a:p>
                  </a:txBody>
                  <a:tcPr marL="95250" marR="95250" marT="57150" marB="57150" anchor="ctr">
                    <a:solidFill>
                      <a:srgbClr val="FFFFFF"/>
                    </a:solidFill>
                  </a:tcPr>
                </a:tc>
                <a:tc>
                  <a:txBody>
                    <a:bodyPr/>
                    <a:lstStyle/>
                    <a:p>
                      <a:r>
                        <a:rPr sz="2100">
                          <a:solidFill>
                            <a:srgbClr val="173047"/>
                          </a:solidFill>
                          <a:latin typeface="Arial"/>
                          <a:ea typeface="Arial"/>
                          <a:cs typeface="Arial"/>
                        </a:rPr>
                        <a:t>Індекс джерела. None: усі джерела</a:t>
                      </a:r>
                    </a:p>
                  </a:txBody>
                  <a:tcPr marL="95250" marR="95250" marT="57150" marB="57150" anchor="ctr">
                    <a:solidFill>
                      <a:srgbClr val="FFFFFF"/>
                    </a:solidFill>
                  </a:tcPr>
                </a:tc>
              </a:tr>
              <a:tr h="519113">
                <a:tc>
                  <a:txBody>
                    <a:bodyPr/>
                    <a:lstStyle/>
                    <a:p>
                      <a:r>
                        <a:rPr sz="2100">
                          <a:solidFill>
                            <a:srgbClr val="173047"/>
                          </a:solidFill>
                          <a:latin typeface="Arial"/>
                          <a:ea typeface="Arial"/>
                          <a:cs typeface="Arial"/>
                        </a:rPr>
                        <a:t>return_predecessors</a:t>
                      </a:r>
                    </a:p>
                  </a:txBody>
                  <a:tcPr marL="95250" marR="95250" marT="57150" marB="57150" anchor="ctr">
                    <a:solidFill>
                      <a:srgbClr val="FFFFFF"/>
                    </a:solidFill>
                  </a:tcPr>
                </a:tc>
                <a:tc>
                  <a:txBody>
                    <a:bodyPr/>
                    <a:lstStyle/>
                    <a:p>
                      <a:r>
                        <a:rPr sz="2100">
                          <a:solidFill>
                            <a:srgbClr val="173047"/>
                          </a:solidFill>
                          <a:latin typeface="Arial"/>
                          <a:ea typeface="Arial"/>
                          <a:cs typeface="Arial"/>
                        </a:rPr>
                        <a:t>True: повернути також попередників</a:t>
                      </a:r>
                    </a:p>
                  </a:txBody>
                  <a:tcPr marL="95250" marR="95250" marT="57150" marB="57150" anchor="ctr">
                    <a:solidFill>
                      <a:srgbClr val="FFFFFF"/>
                    </a:solidFill>
                  </a:tcPr>
                </a:tc>
              </a:tr>
              <a:tr h="519113">
                <a:tc>
                  <a:txBody>
                    <a:bodyPr/>
                    <a:lstStyle/>
                    <a:p>
                      <a:r>
                        <a:rPr sz="2100">
                          <a:solidFill>
                            <a:srgbClr val="173047"/>
                          </a:solidFill>
                          <a:latin typeface="Arial"/>
                          <a:ea typeface="Arial"/>
                          <a:cs typeface="Arial"/>
                        </a:rPr>
                        <a:t>unweighted</a:t>
                      </a:r>
                    </a:p>
                  </a:txBody>
                  <a:tcPr marL="95250" marR="95250" marT="57150" marB="57150" anchor="ctr">
                    <a:solidFill>
                      <a:srgbClr val="FFFFFF"/>
                    </a:solidFill>
                  </a:tcPr>
                </a:tc>
                <a:tc>
                  <a:txBody>
                    <a:bodyPr/>
                    <a:lstStyle/>
                    <a:p>
                      <a:r>
                        <a:rPr sz="2100">
                          <a:solidFill>
                            <a:srgbClr val="173047"/>
                          </a:solidFill>
                          <a:latin typeface="Arial"/>
                          <a:ea typeface="Arial"/>
                          <a:cs typeface="Arial"/>
                        </a:rPr>
                        <a:t>True: усі наявні ребра мають вагу 1</a:t>
                      </a:r>
                    </a:p>
                  </a:txBody>
                  <a:tcPr marL="95250" marR="95250" marT="57150" marB="57150" anchor="ctr">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76</a:t>
            </a:r>
          </a:p>
        </p:txBody>
      </p:sp>
    </p:spTree>
    <p:extLst>
      <p:ext uri="{BB962C8B-B14F-4D97-AF65-F5344CB8AC3E}">
        <p14:creationId xmlns:p14="http://schemas.microsoft.com/office/powerpoint/2010/main" val="80844093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AD8641-D644-4D01-B8A6-1F463D13D566}"/>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Python + SciPy: матриця ваг і запуск</a:t>
            </a:r>
          </a:p>
        </p:txBody>
      </p:sp>
      <p:sp>
        <p:nvSpPr>
          <p:cNvPr id="2" name="">
            <a:extLst xmlns:a="http://schemas.openxmlformats.org/drawingml/2006/main">
              <a:ext uri="{FF2B5EF4-FFF2-40B4-BE49-F238E27FC236}">
                <a16:creationId xmlns:a16="http://schemas.microsoft.com/office/drawing/2014/main" id="{C5B90AA6-3C86-4B70-A65D-594DF0B8E70D}"/>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csr_matrix зберігає саме наявні ребра. indices=0 задає S.</a:t>
            </a:r>
          </a:p>
        </p:txBody>
      </p:sp>
      <p:sp>
        <p:nvSpPr>
          <p:cNvPr id="3" name="">
            <a:extLst xmlns:a="http://schemas.openxmlformats.org/drawingml/2006/main">
              <a:ext uri="{FF2B5EF4-FFF2-40B4-BE49-F238E27FC236}">
                <a16:creationId xmlns:a16="http://schemas.microsoft.com/office/drawing/2014/main" id="{EE1239C9-7FE2-4023-81F2-B9694FA546D3}"/>
              </a:ext>
            </a:extLst>
          </p:cNvPr>
          <p:cNvSpPr>
            <a:spLocks xmlns:a="http://schemas.openxmlformats.org/drawingml/2006/main" noGrp="1"/>
          </p:cNvSpPr>
          <p:nvPr/>
        </p:nvSpPr>
        <p:spPr>
          <a:xfrm xmlns:a="http://schemas.openxmlformats.org/drawingml/2006/main">
            <a:off x="685800" y="1476375"/>
            <a:ext cx="10820400" cy="3344989"/>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606850-3BE7-4628-A608-4A75E62CCFDE}"/>
              </a:ext>
            </a:extLst>
          </p:cNvPr>
          <p:cNvSpPr>
            <a:spLocks xmlns:a="http://schemas.openxmlformats.org/drawingml/2006/main" noGrp="1"/>
          </p:cNvSpPr>
          <p:nvPr/>
        </p:nvSpPr>
        <p:spPr>
          <a:xfrm xmlns:a="http://schemas.openxmlformats.org/drawingml/2006/main">
            <a:off x="857250" y="1571625"/>
            <a:ext cx="10477500" cy="3154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scipy.sparse import csr_matrix</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scipy.sparse.csgraph import bellman_ford</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names = ["S", "A", "B", "C", "T"]  # edges як у прикладі</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index = {v: i for i, v in enumerate(names)}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row = [index[u] for u, v, w in edges]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col = [index[v] for u, v, w in edges]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weights = [w for u, v, w in edges]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G = csr_matrix((weights, (row, col)), shape=(5, 5))</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d, pred = bellman_ford(G, directed=True, indices=0,</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return_predecessors=True)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print("Відстані:", d.tolist())</a:t>
            </a:r>
          </a:p>
        </p:txBody>
      </p:sp>
      <p:sp>
        <p:nvSpPr>
          <p:cNvPr id="5" name="">
            <a:extLst xmlns:a="http://schemas.openxmlformats.org/drawingml/2006/main">
              <a:ext uri="{FF2B5EF4-FFF2-40B4-BE49-F238E27FC236}">
                <a16:creationId xmlns:a16="http://schemas.microsoft.com/office/drawing/2014/main" id="{3BDAC4A6-4F62-49FC-A193-4CCA72580550}"/>
              </a:ext>
            </a:extLst>
          </p:cNvPr>
          <p:cNvSpPr>
            <a:spLocks xmlns:a="http://schemas.openxmlformats.org/drawingml/2006/main" noGrp="1"/>
          </p:cNvSpPr>
          <p:nvPr/>
        </p:nvSpPr>
        <p:spPr>
          <a:xfrm xmlns:a="http://schemas.openxmlformats.org/drawingml/2006/main">
            <a:off x="685800" y="4962525"/>
            <a:ext cx="10820400" cy="7334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B55076-92D0-4341-9704-898777EDD4B3}"/>
              </a:ext>
            </a:extLst>
          </p:cNvPr>
          <p:cNvSpPr>
            <a:spLocks xmlns:a="http://schemas.openxmlformats.org/drawingml/2006/main" noGrp="1"/>
          </p:cNvSpPr>
          <p:nvPr/>
        </p:nvSpPr>
        <p:spPr>
          <a:xfrm xmlns:a="http://schemas.openxmlformats.org/drawingml/2006/main">
            <a:off x="857250" y="50577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Відстані: [0.0, 4.0, 5.0, 6.0, 7.0]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77</a:t>
            </a:r>
          </a:p>
        </p:txBody>
      </p:sp>
    </p:spTree>
    <p:extLst>
      <p:ext uri="{BB962C8B-B14F-4D97-AF65-F5344CB8AC3E}">
        <p14:creationId xmlns:p14="http://schemas.microsoft.com/office/powerpoint/2010/main" val="206539448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C862F3-6441-4CFD-AD7A-466E6A62F390}"/>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047"/>
                </a:solidFill>
                <a:latin typeface="Arial"/>
                <a:ea typeface="Arial"/>
                <a:cs typeface="Arial"/>
              </a:defRPr>
            </a:pPr>
            <a:r>
              <a:rPr sz="3300" b="1">
                <a:solidFill>
                  <a:srgbClr val="173047"/>
                </a:solidFill>
                <a:latin typeface="Arial"/>
                <a:ea typeface="Arial"/>
                <a:cs typeface="Arial"/>
              </a:rPr>
              <a:t>SciPy: маршрут за попередниками</a:t>
            </a:r>
          </a:p>
        </p:txBody>
      </p:sp>
      <p:sp>
        <p:nvSpPr>
          <p:cNvPr id="2" name="">
            <a:extLst xmlns:a="http://schemas.openxmlformats.org/drawingml/2006/main">
              <a:ext uri="{FF2B5EF4-FFF2-40B4-BE49-F238E27FC236}">
                <a16:creationId xmlns:a16="http://schemas.microsoft.com/office/drawing/2014/main" id="{A5394461-47C1-4C75-9751-128FB4DE2414}"/>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pred = [−9999, 0, 1, 2, 3] задає ланцюг T, C, B, A, S.</a:t>
            </a:r>
          </a:p>
        </p:txBody>
      </p:sp>
      <p:sp>
        <p:nvSpPr>
          <p:cNvPr id="3" name="">
            <a:extLst xmlns:a="http://schemas.openxmlformats.org/drawingml/2006/main">
              <a:ext uri="{FF2B5EF4-FFF2-40B4-BE49-F238E27FC236}">
                <a16:creationId xmlns:a16="http://schemas.microsoft.com/office/drawing/2014/main" id="{69EB82FB-6106-4063-A9EE-CEB3D10D49D0}"/>
              </a:ext>
            </a:extLst>
          </p:cNvPr>
          <p:cNvSpPr>
            <a:spLocks xmlns:a="http://schemas.openxmlformats.org/drawingml/2006/main" noGrp="1"/>
          </p:cNvSpPr>
          <p:nvPr/>
        </p:nvSpPr>
        <p:spPr>
          <a:xfrm xmlns:a="http://schemas.openxmlformats.org/drawingml/2006/main">
            <a:off x="685800" y="1476375"/>
            <a:ext cx="10820400" cy="306514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614402-1158-439A-82CB-27913078B5F7}"/>
              </a:ext>
            </a:extLst>
          </p:cNvPr>
          <p:cNvSpPr>
            <a:spLocks xmlns:a="http://schemas.openxmlformats.org/drawingml/2006/main" noGrp="1"/>
          </p:cNvSpPr>
          <p:nvPr/>
        </p:nvSpPr>
        <p:spPr>
          <a:xfrm xmlns:a="http://schemas.openxmlformats.org/drawingml/2006/main">
            <a:off x="857250" y="1571625"/>
            <a:ext cx="10477500" cy="2874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import numpy as np</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path, v = [], index["T"]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if np.isfinite(d[v]):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while v != -9999:</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path.append(names[v])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v = int(pred[v])</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path.reverse()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print("Попередники:", pred.tolist())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print("Маршрут:", " -&gt; ".join(path))</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print("Затримка:", d[index["T"]], "мс")</a:t>
            </a:r>
          </a:p>
        </p:txBody>
      </p:sp>
      <p:sp>
        <p:nvSpPr>
          <p:cNvPr id="5" name="">
            <a:extLst xmlns:a="http://schemas.openxmlformats.org/drawingml/2006/main">
              <a:ext uri="{FF2B5EF4-FFF2-40B4-BE49-F238E27FC236}">
                <a16:creationId xmlns:a16="http://schemas.microsoft.com/office/drawing/2014/main" id="{F8DFDA49-9550-4F0C-BF1A-F422D229C3EB}"/>
              </a:ext>
            </a:extLst>
          </p:cNvPr>
          <p:cNvSpPr>
            <a:spLocks xmlns:a="http://schemas.openxmlformats.org/drawingml/2006/main" noGrp="1"/>
          </p:cNvSpPr>
          <p:nvPr/>
        </p:nvSpPr>
        <p:spPr>
          <a:xfrm xmlns:a="http://schemas.openxmlformats.org/drawingml/2006/main">
            <a:off x="685800" y="4791075"/>
            <a:ext cx="10820400" cy="94297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E6E1D3-1839-417B-A3A6-07240D998BAB}"/>
              </a:ext>
            </a:extLst>
          </p:cNvPr>
          <p:cNvSpPr>
            <a:spLocks xmlns:a="http://schemas.openxmlformats.org/drawingml/2006/main" noGrp="1"/>
          </p:cNvSpPr>
          <p:nvPr/>
        </p:nvSpPr>
        <p:spPr>
          <a:xfrm xmlns:a="http://schemas.openxmlformats.org/drawingml/2006/main">
            <a:off x="857250" y="488632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Попередники: [-9999, 0, 1, 2, 3]</a:t>
            </a:r>
          </a:p>
          <a:p xmlns:a="http://schemas.openxmlformats.org/drawingml/2006/main">
            <a:pPr algn="l">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Маршрут: S -&gt; A -&gt; B -&gt; C -&gt; T</a:t>
            </a:r>
          </a:p>
          <a:p xmlns:a="http://schemas.openxmlformats.org/drawingml/2006/main">
            <a:pPr algn="l">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Затримка: 7.0 мс</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78</a:t>
            </a:r>
          </a:p>
        </p:txBody>
      </p:sp>
    </p:spTree>
    <p:extLst>
      <p:ext uri="{BB962C8B-B14F-4D97-AF65-F5344CB8AC3E}">
        <p14:creationId xmlns:p14="http://schemas.microsoft.com/office/powerpoint/2010/main" val="58686715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163A8C-0A20-4CF1-812C-6200BD03FFF9}"/>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Рюкзак 0/1: які завдання запускати?</a:t>
            </a:r>
          </a:p>
        </p:txBody>
      </p:sp>
      <p:sp>
        <p:nvSpPr>
          <p:cNvPr id="2" name="">
            <a:extLst xmlns:a="http://schemas.openxmlformats.org/drawingml/2006/main">
              <a:ext uri="{FF2B5EF4-FFF2-40B4-BE49-F238E27FC236}">
                <a16:creationId xmlns:a16="http://schemas.microsoft.com/office/drawing/2014/main" id="{7F10D33B-6A56-4134-A001-B6F8494B501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Завдання неподільні: кожне запускаємо один раз або пропускаємо.</a:t>
            </a:r>
          </a:p>
        </p:txBody>
      </p:sp>
      <p:sp>
        <p:nvSpPr>
          <p:cNvPr id="4" name="">
            <a:extLst xmlns:a="http://schemas.openxmlformats.org/drawingml/2006/main">
              <a:ext uri="{FF2B5EF4-FFF2-40B4-BE49-F238E27FC236}">
                <a16:creationId xmlns:a16="http://schemas.microsoft.com/office/drawing/2014/main" id="{9FB0D675-0A4D-446F-B090-815F2B5DB0D8}"/>
              </a:ext>
            </a:extLst>
          </p:cNvPr>
          <p:cNvSpPr>
            <a:spLocks xmlns:a="http://schemas.openxmlformats.org/drawingml/2006/main" noGrp="1"/>
          </p:cNvSpPr>
          <p:nvPr/>
        </p:nvSpPr>
        <p:spPr>
          <a:xfrm xmlns:a="http://schemas.openxmlformats.org/drawingml/2006/main">
            <a:off x="3238500" y="1600200"/>
            <a:ext cx="5715000" cy="762000"/>
          </a:xfrm>
          <a:prstGeom xmlns:a="http://schemas.openxmlformats.org/drawingml/2006/main" prst="rect">
            <a:avLst/>
          </a:prstGeom>
          <a:solidFill xmlns:a="http://schemas.openxmlformats.org/drawingml/2006/main">
            <a:srgbClr val="DDF3EC"/>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B6AE5A26-1963-40D0-8FC9-C87A62BF3E57}"/>
              </a:ext>
            </a:extLst>
          </p:cNvPr>
          <p:cNvSpPr>
            <a:spLocks xmlns:a="http://schemas.openxmlformats.org/drawingml/2006/main" noGrp="1"/>
          </p:cNvSpPr>
          <p:nvPr/>
        </p:nvSpPr>
        <p:spPr>
          <a:xfrm xmlns:a="http://schemas.openxmlformats.org/drawingml/2006/main">
            <a:off x="3352800" y="1657350"/>
            <a:ext cx="5486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700" b="1">
                <a:solidFill>
                  <a:srgbClr val="173047"/>
                </a:solidFill>
                <a:latin typeface="Arial"/>
                <a:ea typeface="Arial"/>
                <a:cs typeface="Arial"/>
              </a:defRPr>
            </a:pPr>
            <a:r>
              <a:rPr sz="2700" b="1">
                <a:solidFill>
                  <a:srgbClr val="173047"/>
                </a:solidFill>
                <a:latin typeface="Arial"/>
                <a:ea typeface="Arial"/>
                <a:cs typeface="Arial"/>
              </a:rPr>
              <a:t>Бюджет: 7 GPU-годин</a:t>
            </a:r>
          </a:p>
        </p:txBody>
      </p:sp>
      <p:graphicFrame>
        <p:nvGraphicFramePr>
          <p:cNvPr id="14" name=""/>
          <p:cNvGraphicFramePr/>
          <p:nvPr/>
        </p:nvGraphicFramePr>
        <p:xfrm>
          <a:off xmlns:a="http://schemas.openxmlformats.org/drawingml/2006/main" x="685800" y="3095625"/>
          <a:ext xmlns:a="http://schemas.openxmlformats.org/drawingml/2006/main" cx="10820400" cy="2114550"/>
        </p:xfrm>
        <a:graphic xmlns:a="http://schemas.openxmlformats.org/drawingml/2006/main">
          <a:graphicData uri="http://schemas.openxmlformats.org/drawingml/2006/table">
            <a:tbl>
              <a:tblPr/>
              <a:tblGrid>
                <a:gridCol w="3429000"/>
                <a:gridCol w="1847850"/>
                <a:gridCol w="1847850"/>
                <a:gridCol w="1847850"/>
                <a:gridCol w="1847850"/>
              </a:tblGrid>
              <a:tr h="704850">
                <a:tc>
                  <a:txBody>
                    <a:bodyPr/>
                    <a:lstStyle/>
                    <a:p>
                      <a:r>
                        <a:rPr sz="2550" b="1">
                          <a:solidFill>
                            <a:srgbClr val="FFFFFF"/>
                          </a:solidFill>
                          <a:latin typeface="Arial"/>
                          <a:ea typeface="Arial"/>
                          <a:cs typeface="Arial"/>
                        </a:rPr>
                        <a:t>Завдання</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J1</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J2</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J3</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J4</a:t>
                      </a:r>
                    </a:p>
                  </a:txBody>
                  <a:tcPr marL="95250" marR="95250" marT="57150" marB="57150" anchor="ctr">
                    <a:solidFill>
                      <a:srgbClr val="173047"/>
                    </a:solidFill>
                  </a:tcPr>
                </a:tc>
              </a:tr>
              <a:tr h="704850">
                <a:tc>
                  <a:txBody>
                    <a:bodyPr/>
                    <a:lstStyle/>
                    <a:p>
                      <a:r>
                        <a:rPr sz="2550">
                          <a:solidFill>
                            <a:srgbClr val="173047"/>
                          </a:solidFill>
                          <a:latin typeface="Arial"/>
                          <a:ea typeface="Arial"/>
                          <a:cs typeface="Arial"/>
                        </a:rPr>
                        <a:t>Потрібно GPU-годин</a:t>
                      </a:r>
                    </a:p>
                  </a:txBody>
                  <a:tcPr marL="95250" marR="95250" marT="57150" marB="57150" anchor="ctr">
                    <a:solidFill>
                      <a:srgbClr val="FFFFFF"/>
                    </a:solidFill>
                  </a:tcPr>
                </a:tc>
                <a:tc>
                  <a:txBody>
                    <a:bodyPr/>
                    <a:lstStyle/>
                    <a:p>
                      <a:r>
                        <a:rPr sz="2550">
                          <a:solidFill>
                            <a:srgbClr val="173047"/>
                          </a:solidFill>
                          <a:latin typeface="Arial"/>
                          <a:ea typeface="Arial"/>
                          <a:cs typeface="Arial"/>
                        </a:rPr>
                        <a:t>2</a:t>
                      </a:r>
                    </a:p>
                  </a:txBody>
                  <a:tcPr marL="95250" marR="95250" marT="57150" marB="57150" anchor="ctr">
                    <a:solidFill>
                      <a:srgbClr val="FFFFFF"/>
                    </a:solidFill>
                  </a:tcPr>
                </a:tc>
                <a:tc>
                  <a:txBody>
                    <a:bodyPr/>
                    <a:lstStyle/>
                    <a:p>
                      <a:r>
                        <a:rPr sz="2550">
                          <a:solidFill>
                            <a:srgbClr val="173047"/>
                          </a:solidFill>
                          <a:latin typeface="Arial"/>
                          <a:ea typeface="Arial"/>
                          <a:cs typeface="Arial"/>
                        </a:rPr>
                        <a:t>3</a:t>
                      </a:r>
                    </a:p>
                  </a:txBody>
                  <a:tcPr marL="95250" marR="95250" marT="57150" marB="57150" anchor="ctr">
                    <a:solidFill>
                      <a:srgbClr val="FFFFFF"/>
                    </a:solidFill>
                  </a:tcPr>
                </a:tc>
                <a:tc>
                  <a:txBody>
                    <a:bodyPr/>
                    <a:lstStyle/>
                    <a:p>
                      <a:r>
                        <a:rPr sz="2550">
                          <a:solidFill>
                            <a:srgbClr val="173047"/>
                          </a:solidFill>
                          <a:latin typeface="Arial"/>
                          <a:ea typeface="Arial"/>
                          <a:cs typeface="Arial"/>
                        </a:rPr>
                        <a:t>4</a:t>
                      </a:r>
                    </a:p>
                  </a:txBody>
                  <a:tcPr marL="95250" marR="95250" marT="57150" marB="57150" anchor="ctr">
                    <a:solidFill>
                      <a:srgbClr val="FFFFFF"/>
                    </a:solidFill>
                  </a:tcPr>
                </a:tc>
                <a:tc>
                  <a:txBody>
                    <a:bodyPr/>
                    <a:lstStyle/>
                    <a:p>
                      <a:r>
                        <a:rPr sz="2550">
                          <a:solidFill>
                            <a:srgbClr val="173047"/>
                          </a:solidFill>
                          <a:latin typeface="Arial"/>
                          <a:ea typeface="Arial"/>
                          <a:cs typeface="Arial"/>
                        </a:rPr>
                        <a:t>5</a:t>
                      </a:r>
                    </a:p>
                  </a:txBody>
                  <a:tcPr marL="95250" marR="95250" marT="57150" marB="57150" anchor="ctr">
                    <a:solidFill>
                      <a:srgbClr val="FFFFFF"/>
                    </a:solidFill>
                  </a:tcPr>
                </a:tc>
              </a:tr>
              <a:tr h="704850">
                <a:tc>
                  <a:txBody>
                    <a:bodyPr/>
                    <a:lstStyle/>
                    <a:p>
                      <a:r>
                        <a:rPr sz="2550">
                          <a:solidFill>
                            <a:srgbClr val="173047"/>
                          </a:solidFill>
                          <a:latin typeface="Arial"/>
                          <a:ea typeface="Arial"/>
                          <a:cs typeface="Arial"/>
                        </a:rPr>
                        <a:t>Користь, бали</a:t>
                      </a:r>
                    </a:p>
                  </a:txBody>
                  <a:tcPr marL="95250" marR="95250" marT="57150" marB="57150" anchor="ctr">
                    <a:solidFill>
                      <a:srgbClr val="FFFFFF"/>
                    </a:solidFill>
                  </a:tcPr>
                </a:tc>
                <a:tc>
                  <a:txBody>
                    <a:bodyPr/>
                    <a:lstStyle/>
                    <a:p>
                      <a:r>
                        <a:rPr sz="2550">
                          <a:solidFill>
                            <a:srgbClr val="173047"/>
                          </a:solidFill>
                          <a:latin typeface="Arial"/>
                          <a:ea typeface="Arial"/>
                          <a:cs typeface="Arial"/>
                        </a:rPr>
                        <a:t>6</a:t>
                      </a:r>
                    </a:p>
                  </a:txBody>
                  <a:tcPr marL="95250" marR="95250" marT="57150" marB="57150" anchor="ctr">
                    <a:solidFill>
                      <a:srgbClr val="FFFFFF"/>
                    </a:solidFill>
                  </a:tcPr>
                </a:tc>
                <a:tc>
                  <a:txBody>
                    <a:bodyPr/>
                    <a:lstStyle/>
                    <a:p>
                      <a:r>
                        <a:rPr sz="2550">
                          <a:solidFill>
                            <a:srgbClr val="173047"/>
                          </a:solidFill>
                          <a:latin typeface="Arial"/>
                          <a:ea typeface="Arial"/>
                          <a:cs typeface="Arial"/>
                        </a:rPr>
                        <a:t>10</a:t>
                      </a:r>
                    </a:p>
                  </a:txBody>
                  <a:tcPr marL="95250" marR="95250" marT="57150" marB="57150" anchor="ctr">
                    <a:solidFill>
                      <a:srgbClr val="FFFFFF"/>
                    </a:solidFill>
                  </a:tcPr>
                </a:tc>
                <a:tc>
                  <a:txBody>
                    <a:bodyPr/>
                    <a:lstStyle/>
                    <a:p>
                      <a:r>
                        <a:rPr sz="2550">
                          <a:solidFill>
                            <a:srgbClr val="173047"/>
                          </a:solidFill>
                          <a:latin typeface="Arial"/>
                          <a:ea typeface="Arial"/>
                          <a:cs typeface="Arial"/>
                        </a:rPr>
                        <a:t>12</a:t>
                      </a:r>
                    </a:p>
                  </a:txBody>
                  <a:tcPr marL="95250" marR="95250" marT="57150" marB="57150" anchor="ctr">
                    <a:solidFill>
                      <a:srgbClr val="FFFFFF"/>
                    </a:solidFill>
                  </a:tcPr>
                </a:tc>
                <a:tc>
                  <a:txBody>
                    <a:bodyPr/>
                    <a:lstStyle/>
                    <a:p>
                      <a:r>
                        <a:rPr sz="2550">
                          <a:solidFill>
                            <a:srgbClr val="173047"/>
                          </a:solidFill>
                          <a:latin typeface="Arial"/>
                          <a:ea typeface="Arial"/>
                          <a:cs typeface="Arial"/>
                        </a:rPr>
                        <a:t>13</a:t>
                      </a:r>
                    </a:p>
                  </a:txBody>
                  <a:tcPr marL="95250" marR="95250" marT="57150" marB="57150" anchor="ctr">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47</a:t>
            </a:r>
          </a:p>
        </p:txBody>
      </p:sp>
    </p:spTree>
    <p:extLst>
      <p:ext uri="{BB962C8B-B14F-4D97-AF65-F5344CB8AC3E}">
        <p14:creationId xmlns:p14="http://schemas.microsoft.com/office/powerpoint/2010/main" val="140912362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E5405D-9CFF-48CF-81CC-181BB41785D2}"/>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Модель 0/1 та підзадача для неї</a:t>
            </a:r>
          </a:p>
        </p:txBody>
      </p:sp>
      <p:sp>
        <p:nvSpPr>
          <p:cNvPr id="2" name="">
            <a:extLst xmlns:a="http://schemas.openxmlformats.org/drawingml/2006/main">
              <a:ext uri="{FF2B5EF4-FFF2-40B4-BE49-F238E27FC236}">
                <a16:creationId xmlns:a16="http://schemas.microsoft.com/office/drawing/2014/main" id="{D2FC88AD-7A0C-4339-8CB4-F10C4739CAE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Це та сама задача 0/1, але розв’язана таблицею ДП.</a:t>
            </a:r>
          </a:p>
        </p:txBody>
      </p:sp>
      <p:sp>
        <p:nvSpPr>
          <p:cNvPr id="4" name="">
            <a:extLst xmlns:a="http://schemas.openxmlformats.org/drawingml/2006/main">
              <a:ext uri="{FF2B5EF4-FFF2-40B4-BE49-F238E27FC236}">
                <a16:creationId xmlns:a16="http://schemas.microsoft.com/office/drawing/2014/main" id="{4D44B894-05EE-4FA9-A21C-10A7ACE4CC2B}"/>
              </a:ext>
            </a:extLst>
          </p:cNvPr>
          <p:cNvSpPr>
            <a:spLocks xmlns:a="http://schemas.openxmlformats.org/drawingml/2006/main" noGrp="1"/>
          </p:cNvSpPr>
          <p:nvPr/>
        </p:nvSpPr>
        <p:spPr>
          <a:xfrm xmlns:a="http://schemas.openxmlformats.org/drawingml/2006/main">
            <a:off x="685800" y="1638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Z = 6x₁ + 10x₂ + 12x₃ + 13x₄ → max</a:t>
            </a:r>
          </a:p>
        </p:txBody>
      </p:sp>
      <p:sp>
        <p:nvSpPr>
          <p:cNvPr id="5" name="">
            <a:extLst xmlns:a="http://schemas.openxmlformats.org/drawingml/2006/main">
              <a:ext uri="{FF2B5EF4-FFF2-40B4-BE49-F238E27FC236}">
                <a16:creationId xmlns:a16="http://schemas.microsoft.com/office/drawing/2014/main" id="{6D210DB5-B183-4AC1-9372-B65EC6A11669}"/>
              </a:ext>
            </a:extLst>
          </p:cNvPr>
          <p:cNvSpPr>
            <a:spLocks xmlns:a="http://schemas.openxmlformats.org/drawingml/2006/main" noGrp="1"/>
          </p:cNvSpPr>
          <p:nvPr/>
        </p:nvSpPr>
        <p:spPr>
          <a:xfrm xmlns:a="http://schemas.openxmlformats.org/drawingml/2006/main">
            <a:off x="685800" y="2571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0">
                <a:solidFill>
                  <a:srgbClr val="173047"/>
                </a:solidFill>
                <a:latin typeface="Arial"/>
                <a:ea typeface="Arial"/>
                <a:cs typeface="Arial"/>
              </a:defRPr>
            </a:pPr>
            <a:r>
              <a:rPr sz="2850" b="0">
                <a:solidFill>
                  <a:srgbClr val="173047"/>
                </a:solidFill>
                <a:latin typeface="Arial"/>
                <a:ea typeface="Arial"/>
                <a:cs typeface="Arial"/>
              </a:rPr>
              <a:t>2x₁ + 3x₂ + 4x₃ + 5x₄ ≤ 7;     xᵢ ∈ {0, 1}</a:t>
            </a:r>
          </a:p>
        </p:txBody>
      </p:sp>
      <p:sp>
        <p:nvSpPr>
          <p:cNvPr id="6" name="">
            <a:extLst xmlns:a="http://schemas.openxmlformats.org/drawingml/2006/main">
              <a:ext uri="{FF2B5EF4-FFF2-40B4-BE49-F238E27FC236}">
                <a16:creationId xmlns:a16="http://schemas.microsoft.com/office/drawing/2014/main" id="{87F3DDA6-A0A0-40CB-9707-2C6B2ABD5139}"/>
              </a:ext>
            </a:extLst>
          </p:cNvPr>
          <p:cNvSpPr>
            <a:spLocks xmlns:a="http://schemas.openxmlformats.org/drawingml/2006/main" noGrp="1"/>
          </p:cNvSpPr>
          <p:nvPr/>
        </p:nvSpPr>
        <p:spPr>
          <a:xfrm xmlns:a="http://schemas.openxmlformats.org/drawingml/2006/main">
            <a:off x="685800" y="36957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173047"/>
                </a:solidFill>
                <a:latin typeface="Arial"/>
                <a:ea typeface="Arial"/>
                <a:cs typeface="Arial"/>
              </a:defRPr>
            </a:pPr>
            <a:r>
              <a:rPr sz="2700" b="1">
                <a:solidFill>
                  <a:srgbClr val="173047"/>
                </a:solidFill>
                <a:latin typeface="Arial"/>
                <a:ea typeface="Arial"/>
                <a:cs typeface="Arial"/>
              </a:rPr>
              <a:t>Dᵢ(b) — найбільша користь від перших i завдань</a:t>
            </a:r>
          </a:p>
          <a:p xmlns:a="http://schemas.openxmlformats.org/drawingml/2006/main">
            <a:pPr algn="l">
              <a:buNone/>
              <a:defRPr sz="2700" b="1">
                <a:solidFill>
                  <a:srgbClr val="173047"/>
                </a:solidFill>
                <a:latin typeface="Arial"/>
                <a:ea typeface="Arial"/>
                <a:cs typeface="Arial"/>
              </a:defRPr>
            </a:pPr>
            <a:r>
              <a:rPr sz="2700" b="1">
                <a:solidFill>
                  <a:srgbClr val="173047"/>
                </a:solidFill>
                <a:latin typeface="Arial"/>
                <a:ea typeface="Arial"/>
                <a:cs typeface="Arial"/>
              </a:rPr>
              <a:t>за доступного бюджету b.</a:t>
            </a:r>
          </a:p>
        </p:txBody>
      </p:sp>
      <p:sp>
        <p:nvSpPr>
          <p:cNvPr id="7" name="">
            <a:extLst xmlns:a="http://schemas.openxmlformats.org/drawingml/2006/main">
              <a:ext uri="{FF2B5EF4-FFF2-40B4-BE49-F238E27FC236}">
                <a16:creationId xmlns:a16="http://schemas.microsoft.com/office/drawing/2014/main" id="{86693AF3-F127-4D97-B99D-7792D5CAA6E7}"/>
              </a:ext>
            </a:extLst>
          </p:cNvPr>
          <p:cNvSpPr>
            <a:spLocks xmlns:a="http://schemas.openxmlformats.org/drawingml/2006/main" noGrp="1"/>
          </p:cNvSpPr>
          <p:nvPr/>
        </p:nvSpPr>
        <p:spPr>
          <a:xfrm xmlns:a="http://schemas.openxmlformats.org/drawingml/2006/main">
            <a:off x="685800" y="51625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566779"/>
                </a:solidFill>
                <a:latin typeface="Arial"/>
                <a:ea typeface="Arial"/>
                <a:cs typeface="Arial"/>
              </a:defRPr>
            </a:pPr>
            <a:r>
              <a:rPr sz="2550" b="0">
                <a:solidFill>
                  <a:srgbClr val="566779"/>
                </a:solidFill>
                <a:latin typeface="Arial"/>
                <a:ea typeface="Arial"/>
                <a:cs typeface="Arial"/>
              </a:rPr>
              <a:t>Стан (i, b). Дії: «пропустити» або «взяти».</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48</a:t>
            </a:r>
          </a:p>
        </p:txBody>
      </p:sp>
    </p:spTree>
    <p:extLst>
      <p:ext uri="{BB962C8B-B14F-4D97-AF65-F5344CB8AC3E}">
        <p14:creationId xmlns:p14="http://schemas.microsoft.com/office/powerpoint/2010/main" val="24023374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EE457A-F4C5-4E87-89CA-66045D6A2F9A}"/>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Для одного завдання є лише дві дії</a:t>
            </a:r>
          </a:p>
        </p:txBody>
      </p:sp>
      <p:sp>
        <p:nvSpPr>
          <p:cNvPr id="2" name="">
            <a:extLst xmlns:a="http://schemas.openxmlformats.org/drawingml/2006/main">
              <a:ext uri="{FF2B5EF4-FFF2-40B4-BE49-F238E27FC236}">
                <a16:creationId xmlns:a16="http://schemas.microsoft.com/office/drawing/2014/main" id="{EA7D143F-2204-492E-BEA0-6BC1FC72F8C2}"/>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Обидва варіанти посилаються на рядок i − 1.</a:t>
            </a:r>
          </a:p>
        </p:txBody>
      </p:sp>
      <p:graphicFrame>
        <p:nvGraphicFramePr>
          <p:cNvPr id="12" name=""/>
          <p:cNvGraphicFramePr/>
          <p:nvPr/>
        </p:nvGraphicFramePr>
        <p:xfrm>
          <a:off xmlns:a="http://schemas.openxmlformats.org/drawingml/2006/main" x="685800" y="1638300"/>
          <a:ext xmlns:a="http://schemas.openxmlformats.org/drawingml/2006/main" cx="10820400" cy="2381250"/>
        </p:xfrm>
        <a:graphic xmlns:a="http://schemas.openxmlformats.org/drawingml/2006/main">
          <a:graphicData uri="http://schemas.openxmlformats.org/drawingml/2006/table">
            <a:tbl>
              <a:tblPr/>
              <a:tblGrid>
                <a:gridCol w="4229100"/>
                <a:gridCol w="6591300"/>
              </a:tblGrid>
              <a:tr h="793750">
                <a:tc>
                  <a:txBody>
                    <a:bodyPr/>
                    <a:lstStyle/>
                    <a:p>
                      <a:r>
                        <a:rPr sz="2625" b="1">
                          <a:solidFill>
                            <a:srgbClr val="FFFFFF"/>
                          </a:solidFill>
                          <a:latin typeface="Arial"/>
                          <a:ea typeface="Arial"/>
                          <a:cs typeface="Arial"/>
                        </a:rPr>
                        <a:t>Дія</a:t>
                      </a:r>
                    </a:p>
                  </a:txBody>
                  <a:tcPr marL="95250" marR="95250" marT="57150" marB="57150" anchor="ctr">
                    <a:solidFill>
                      <a:srgbClr val="173047"/>
                    </a:solidFill>
                  </a:tcPr>
                </a:tc>
                <a:tc>
                  <a:txBody>
                    <a:bodyPr/>
                    <a:lstStyle/>
                    <a:p>
                      <a:r>
                        <a:rPr sz="2625" b="1">
                          <a:solidFill>
                            <a:srgbClr val="FFFFFF"/>
                          </a:solidFill>
                          <a:latin typeface="Arial"/>
                          <a:ea typeface="Arial"/>
                          <a:cs typeface="Arial"/>
                        </a:rPr>
                        <a:t>Кандидат на найкращий результат</a:t>
                      </a:r>
                    </a:p>
                  </a:txBody>
                  <a:tcPr marL="95250" marR="95250" marT="57150" marB="57150" anchor="ctr">
                    <a:solidFill>
                      <a:srgbClr val="173047"/>
                    </a:solidFill>
                  </a:tcPr>
                </a:tc>
              </a:tr>
              <a:tr h="793750">
                <a:tc>
                  <a:txBody>
                    <a:bodyPr/>
                    <a:lstStyle/>
                    <a:p>
                      <a:r>
                        <a:rPr sz="2625">
                          <a:solidFill>
                            <a:srgbClr val="173047"/>
                          </a:solidFill>
                          <a:latin typeface="Arial"/>
                          <a:ea typeface="Arial"/>
                          <a:cs typeface="Arial"/>
                        </a:rPr>
                        <a:t>Пропустити i</a:t>
                      </a:r>
                    </a:p>
                  </a:txBody>
                  <a:tcPr marL="95250" marR="95250" marT="57150" marB="57150" anchor="ctr">
                    <a:solidFill>
                      <a:srgbClr val="FFFFFF"/>
                    </a:solidFill>
                  </a:tcPr>
                </a:tc>
                <a:tc>
                  <a:txBody>
                    <a:bodyPr/>
                    <a:lstStyle/>
                    <a:p>
                      <a:r>
                        <a:rPr sz="2625">
                          <a:solidFill>
                            <a:srgbClr val="173047"/>
                          </a:solidFill>
                          <a:latin typeface="Arial"/>
                          <a:ea typeface="Arial"/>
                          <a:cs typeface="Arial"/>
                        </a:rPr>
                        <a:t>Dᵢ₋₁(b)</a:t>
                      </a:r>
                    </a:p>
                  </a:txBody>
                  <a:tcPr marL="95250" marR="95250" marT="57150" marB="57150" anchor="ctr">
                    <a:solidFill>
                      <a:srgbClr val="FFFFFF"/>
                    </a:solidFill>
                  </a:tcPr>
                </a:tc>
              </a:tr>
              <a:tr h="793750">
                <a:tc>
                  <a:txBody>
                    <a:bodyPr/>
                    <a:lstStyle/>
                    <a:p>
                      <a:r>
                        <a:rPr sz="2625">
                          <a:solidFill>
                            <a:srgbClr val="173047"/>
                          </a:solidFill>
                          <a:latin typeface="Arial"/>
                          <a:ea typeface="Arial"/>
                          <a:cs typeface="Arial"/>
                        </a:rPr>
                        <a:t>Взяти i, якщо wᵢ ≤ b</a:t>
                      </a:r>
                    </a:p>
                  </a:txBody>
                  <a:tcPr marL="95250" marR="95250" marT="57150" marB="57150" anchor="ctr">
                    <a:solidFill>
                      <a:srgbClr val="FFFFFF"/>
                    </a:solidFill>
                  </a:tcPr>
                </a:tc>
                <a:tc>
                  <a:txBody>
                    <a:bodyPr/>
                    <a:lstStyle/>
                    <a:p>
                      <a:r>
                        <a:rPr sz="2625">
                          <a:solidFill>
                            <a:srgbClr val="173047"/>
                          </a:solidFill>
                          <a:latin typeface="Arial"/>
                          <a:ea typeface="Arial"/>
                          <a:cs typeface="Arial"/>
                        </a:rPr>
                        <a:t>vᵢ + Dᵢ₋₁(b − wᵢ)</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119930C-8517-481F-AE6E-CAF3FB7D6CB8}"/>
              </a:ext>
            </a:extLst>
          </p:cNvPr>
          <p:cNvSpPr>
            <a:spLocks xmlns:a="http://schemas.openxmlformats.org/drawingml/2006/main" noGrp="1"/>
          </p:cNvSpPr>
          <p:nvPr/>
        </p:nvSpPr>
        <p:spPr>
          <a:xfrm xmlns:a="http://schemas.openxmlformats.org/drawingml/2006/main">
            <a:off x="685800" y="434340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Якщо обидві дії дозволені — беремо більший результат.</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База: D₀(b) = 0 для всіх бюджетів.</a:t>
            </a:r>
          </a:p>
        </p:txBody>
      </p:sp>
      <p:sp>
        <p:nvSpPr>
          <p:cNvPr id="6" name="">
            <a:extLst xmlns:a="http://schemas.openxmlformats.org/drawingml/2006/main">
              <a:ext uri="{FF2B5EF4-FFF2-40B4-BE49-F238E27FC236}">
                <a16:creationId xmlns:a16="http://schemas.microsoft.com/office/drawing/2014/main" id="{DB7F6117-D570-460C-A46C-BB5116C7A0FB}"/>
              </a:ext>
            </a:extLst>
          </p:cNvPr>
          <p:cNvSpPr>
            <a:spLocks xmlns:a="http://schemas.openxmlformats.org/drawingml/2006/main" noGrp="1"/>
          </p:cNvSpPr>
          <p:nvPr/>
        </p:nvSpPr>
        <p:spPr>
          <a:xfrm xmlns:a="http://schemas.openxmlformats.org/drawingml/2006/main">
            <a:off x="685800" y="53816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B64436"/>
                </a:solidFill>
                <a:latin typeface="Arial"/>
                <a:ea typeface="Arial"/>
                <a:cs typeface="Arial"/>
              </a:defRPr>
            </a:pPr>
            <a:r>
              <a:rPr sz="2250" b="0">
                <a:solidFill>
                  <a:srgbClr val="B64436"/>
                </a:solidFill>
                <a:latin typeface="Arial"/>
                <a:ea typeface="Arial"/>
                <a:cs typeface="Arial"/>
              </a:rPr>
              <a:t>Той самий рядок замість i − 1 може дозволити повтори.</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49</a:t>
            </a:r>
          </a:p>
        </p:txBody>
      </p:sp>
    </p:spTree>
    <p:extLst>
      <p:ext uri="{BB962C8B-B14F-4D97-AF65-F5344CB8AC3E}">
        <p14:creationId xmlns:p14="http://schemas.microsoft.com/office/powerpoint/2010/main" val="125992529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1286C5-F447-4880-98E4-F9849353CB1C}"/>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Один крок: додати J3 за бюджету 7</a:t>
            </a:r>
          </a:p>
        </p:txBody>
      </p:sp>
      <p:sp>
        <p:nvSpPr>
          <p:cNvPr id="2" name="">
            <a:extLst xmlns:a="http://schemas.openxmlformats.org/drawingml/2006/main">
              <a:ext uri="{FF2B5EF4-FFF2-40B4-BE49-F238E27FC236}">
                <a16:creationId xmlns:a16="http://schemas.microsoft.com/office/drawing/2014/main" id="{32FFDB32-0D04-4B87-9D34-D8310D1D7B5E}"/>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Беремо J3: 12 + 10 = 22, а не 16.</a:t>
            </a:r>
          </a:p>
        </p:txBody>
      </p:sp>
      <p:graphicFrame>
        <p:nvGraphicFramePr>
          <p:cNvPr id="11" name=""/>
          <p:cNvGraphicFramePr/>
          <p:nvPr/>
        </p:nvGraphicFramePr>
        <p:xfrm>
          <a:off xmlns:a="http://schemas.openxmlformats.org/drawingml/2006/main" x="685800" y="1828800"/>
          <a:ext xmlns:a="http://schemas.openxmlformats.org/drawingml/2006/main" cx="10820400" cy="2266950"/>
        </p:xfrm>
        <a:graphic xmlns:a="http://schemas.openxmlformats.org/drawingml/2006/main">
          <a:graphicData uri="http://schemas.openxmlformats.org/drawingml/2006/table">
            <a:tbl>
              <a:tblPr/>
              <a:tblGrid>
                <a:gridCol w="3238500"/>
                <a:gridCol w="5429250"/>
                <a:gridCol w="2152650"/>
              </a:tblGrid>
              <a:tr h="755650">
                <a:tc>
                  <a:txBody>
                    <a:bodyPr/>
                    <a:lstStyle/>
                    <a:p>
                      <a:r>
                        <a:rPr sz="2550" b="1">
                          <a:solidFill>
                            <a:srgbClr val="FFFFFF"/>
                          </a:solidFill>
                          <a:latin typeface="Arial"/>
                          <a:ea typeface="Arial"/>
                          <a:cs typeface="Arial"/>
                        </a:rPr>
                        <a:t>Дія щодо J3</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Розрахунок</a:t>
                      </a:r>
                    </a:p>
                  </a:txBody>
                  <a:tcPr marL="95250" marR="95250" marT="57150" marB="57150" anchor="ctr">
                    <a:solidFill>
                      <a:srgbClr val="173047"/>
                    </a:solidFill>
                  </a:tcPr>
                </a:tc>
                <a:tc>
                  <a:txBody>
                    <a:bodyPr/>
                    <a:lstStyle/>
                    <a:p>
                      <a:r>
                        <a:rPr sz="2550" b="1">
                          <a:solidFill>
                            <a:srgbClr val="FFFFFF"/>
                          </a:solidFill>
                          <a:latin typeface="Arial"/>
                          <a:ea typeface="Arial"/>
                          <a:cs typeface="Arial"/>
                        </a:rPr>
                        <a:t>Користь</a:t>
                      </a:r>
                    </a:p>
                  </a:txBody>
                  <a:tcPr marL="95250" marR="95250" marT="57150" marB="57150" anchor="ctr">
                    <a:solidFill>
                      <a:srgbClr val="173047"/>
                    </a:solidFill>
                  </a:tcPr>
                </a:tc>
              </a:tr>
              <a:tr h="755650">
                <a:tc>
                  <a:txBody>
                    <a:bodyPr/>
                    <a:lstStyle/>
                    <a:p>
                      <a:r>
                        <a:rPr sz="2550">
                          <a:solidFill>
                            <a:srgbClr val="173047"/>
                          </a:solidFill>
                          <a:latin typeface="Arial"/>
                          <a:ea typeface="Arial"/>
                          <a:cs typeface="Arial"/>
                        </a:rPr>
                        <a:t>Пропустити</a:t>
                      </a:r>
                    </a:p>
                  </a:txBody>
                  <a:tcPr marL="95250" marR="95250" marT="57150" marB="57150" anchor="ctr">
                    <a:solidFill>
                      <a:srgbClr val="FFFFFF"/>
                    </a:solidFill>
                  </a:tcPr>
                </a:tc>
                <a:tc>
                  <a:txBody>
                    <a:bodyPr/>
                    <a:lstStyle/>
                    <a:p>
                      <a:r>
                        <a:rPr sz="2550">
                          <a:solidFill>
                            <a:srgbClr val="173047"/>
                          </a:solidFill>
                          <a:latin typeface="Arial"/>
                          <a:ea typeface="Arial"/>
                          <a:cs typeface="Arial"/>
                        </a:rPr>
                        <a:t>D₂(7)</a:t>
                      </a:r>
                    </a:p>
                  </a:txBody>
                  <a:tcPr marL="95250" marR="95250" marT="57150" marB="57150" anchor="ctr">
                    <a:solidFill>
                      <a:srgbClr val="FFFFFF"/>
                    </a:solidFill>
                  </a:tcPr>
                </a:tc>
                <a:tc>
                  <a:txBody>
                    <a:bodyPr/>
                    <a:lstStyle/>
                    <a:p>
                      <a:r>
                        <a:rPr sz="2550">
                          <a:solidFill>
                            <a:srgbClr val="173047"/>
                          </a:solidFill>
                          <a:latin typeface="Arial"/>
                          <a:ea typeface="Arial"/>
                          <a:cs typeface="Arial"/>
                        </a:rPr>
                        <a:t>16</a:t>
                      </a:r>
                    </a:p>
                  </a:txBody>
                  <a:tcPr marL="95250" marR="95250" marT="57150" marB="57150" anchor="ctr">
                    <a:solidFill>
                      <a:srgbClr val="FFFFFF"/>
                    </a:solidFill>
                  </a:tcPr>
                </a:tc>
              </a:tr>
              <a:tr h="755650">
                <a:tc>
                  <a:txBody>
                    <a:bodyPr/>
                    <a:lstStyle/>
                    <a:p>
                      <a:r>
                        <a:rPr sz="2400" b="1">
                          <a:solidFill>
                            <a:srgbClr val="00857D"/>
                          </a:solidFill>
                          <a:latin typeface="Arial"/>
                          <a:ea typeface="Arial"/>
                          <a:cs typeface="Arial"/>
                        </a:rPr>
                        <a:t>Взяти</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12 + D₂(7 − 4) = 12 + 10</a:t>
                      </a:r>
                    </a:p>
                  </a:txBody>
                  <a:tcPr marL="95250" marR="95250" marT="57150" marB="57150" anchor="ctr">
                    <a:solidFill>
                      <a:srgbClr val="DDF3EC"/>
                    </a:solidFill>
                  </a:tcPr>
                </a:tc>
                <a:tc>
                  <a:txBody>
                    <a:bodyPr/>
                    <a:lstStyle/>
                    <a:p>
                      <a:r>
                        <a:rPr sz="2400" b="1">
                          <a:solidFill>
                            <a:srgbClr val="00857D"/>
                          </a:solidFill>
                          <a:latin typeface="Arial"/>
                          <a:ea typeface="Arial"/>
                          <a:cs typeface="Arial"/>
                        </a:rPr>
                        <a:t>22</a:t>
                      </a:r>
                    </a:p>
                  </a:txBody>
                  <a:tcPr marL="95250" marR="95250" marT="57150" marB="57150" anchor="ctr">
                    <a:solidFill>
                      <a:srgbClr val="DDF3EC"/>
                    </a:solidFill>
                  </a:tcPr>
                </a:tc>
              </a:tr>
            </a:tbl>
          </a:graphicData>
        </a:graphic>
      </p:graphicFrame>
      <p:sp>
        <p:nvSpPr>
          <p:cNvPr id="5" name="">
            <a:extLst xmlns:a="http://schemas.openxmlformats.org/drawingml/2006/main">
              <a:ext uri="{FF2B5EF4-FFF2-40B4-BE49-F238E27FC236}">
                <a16:creationId xmlns:a16="http://schemas.microsoft.com/office/drawing/2014/main" id="{244ABC1F-F98C-4D81-90C3-8AB8994C70F8}"/>
              </a:ext>
            </a:extLst>
          </p:cNvPr>
          <p:cNvSpPr>
            <a:spLocks xmlns:a="http://schemas.openxmlformats.org/drawingml/2006/main" noGrp="1"/>
          </p:cNvSpPr>
          <p:nvPr/>
        </p:nvSpPr>
        <p:spPr>
          <a:xfrm xmlns:a="http://schemas.openxmlformats.org/drawingml/2006/main">
            <a:off x="685800" y="45434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У стані (3, 7) оптимально взяти J3.</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Попередній стан — (2, 3).</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50</a:t>
            </a:r>
          </a:p>
        </p:txBody>
      </p:sp>
    </p:spTree>
    <p:extLst>
      <p:ext uri="{BB962C8B-B14F-4D97-AF65-F5344CB8AC3E}">
        <p14:creationId xmlns:p14="http://schemas.microsoft.com/office/powerpoint/2010/main" val="47140216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DFE128-ED8F-4AC9-8E1F-A4921E540DEE}"/>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Таблиця рюкзака 0/1: усі рядки</a:t>
            </a:r>
          </a:p>
        </p:txBody>
      </p:sp>
      <p:sp>
        <p:nvSpPr>
          <p:cNvPr id="2" name="">
            <a:extLst xmlns:a="http://schemas.openxmlformats.org/drawingml/2006/main">
              <a:ext uri="{FF2B5EF4-FFF2-40B4-BE49-F238E27FC236}">
                <a16:creationId xmlns:a16="http://schemas.microsoft.com/office/drawing/2014/main" id="{D631363A-3AFE-4477-BD9E-2558CF6596AD}"/>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J4 не покращує результат: оптимум залишається 22.</a:t>
            </a:r>
          </a:p>
        </p:txBody>
      </p:sp>
      <p:graphicFrame>
        <p:nvGraphicFramePr>
          <p:cNvPr id="11" name=""/>
          <p:cNvGraphicFramePr/>
          <p:nvPr/>
        </p:nvGraphicFramePr>
        <p:xfrm>
          <a:off xmlns:a="http://schemas.openxmlformats.org/drawingml/2006/main" x="685800" y="1552575"/>
          <a:ext xmlns:a="http://schemas.openxmlformats.org/drawingml/2006/main" cx="10820400" cy="3714750"/>
        </p:xfrm>
        <a:graphic xmlns:a="http://schemas.openxmlformats.org/drawingml/2006/main">
          <a:graphicData uri="http://schemas.openxmlformats.org/drawingml/2006/table">
            <a:tbl>
              <a:tblPr/>
              <a:tblGrid>
                <a:gridCol w="2133600"/>
                <a:gridCol w="1085850"/>
                <a:gridCol w="1085850"/>
                <a:gridCol w="1085850"/>
                <a:gridCol w="1085850"/>
                <a:gridCol w="1085850"/>
                <a:gridCol w="1085850"/>
                <a:gridCol w="1085850"/>
                <a:gridCol w="1085850"/>
              </a:tblGrid>
              <a:tr h="619125">
                <a:tc>
                  <a:txBody>
                    <a:bodyPr/>
                    <a:lstStyle/>
                    <a:p>
                      <a:r>
                        <a:rPr sz="2325" b="1">
                          <a:solidFill>
                            <a:srgbClr val="FFFFFF"/>
                          </a:solidFill>
                          <a:latin typeface="Arial"/>
                          <a:ea typeface="Arial"/>
                          <a:cs typeface="Arial"/>
                        </a:rPr>
                        <a:t>b</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0</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1</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2</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3</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4</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5</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6</a:t>
                      </a:r>
                    </a:p>
                  </a:txBody>
                  <a:tcPr marL="95250" marR="95250" marT="57150" marB="57150" anchor="ctr">
                    <a:solidFill>
                      <a:srgbClr val="173047"/>
                    </a:solidFill>
                  </a:tcPr>
                </a:tc>
                <a:tc>
                  <a:txBody>
                    <a:bodyPr/>
                    <a:lstStyle/>
                    <a:p>
                      <a:r>
                        <a:rPr sz="2325" b="1">
                          <a:solidFill>
                            <a:srgbClr val="FFFFFF"/>
                          </a:solidFill>
                          <a:latin typeface="Arial"/>
                          <a:ea typeface="Arial"/>
                          <a:cs typeface="Arial"/>
                        </a:rPr>
                        <a:t>7</a:t>
                      </a:r>
                    </a:p>
                  </a:txBody>
                  <a:tcPr marL="95250" marR="95250" marT="57150" marB="57150" anchor="ctr">
                    <a:solidFill>
                      <a:srgbClr val="173047"/>
                    </a:solidFill>
                  </a:tcPr>
                </a:tc>
              </a:tr>
              <a:tr h="619125">
                <a:tc>
                  <a:txBody>
                    <a:bodyPr/>
                    <a:lstStyle/>
                    <a:p>
                      <a:r>
                        <a:rPr sz="2325">
                          <a:solidFill>
                            <a:srgbClr val="173047"/>
                          </a:solidFill>
                          <a:latin typeface="Arial"/>
                          <a:ea typeface="Arial"/>
                          <a:cs typeface="Arial"/>
                        </a:rPr>
                        <a:t>D₀</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0</a:t>
                      </a:r>
                    </a:p>
                  </a:txBody>
                  <a:tcPr marL="95250" marR="95250" marT="57150" marB="57150" anchor="ctr">
                    <a:solidFill>
                      <a:srgbClr val="DDF3EC"/>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r>
              <a:tr h="619125">
                <a:tc>
                  <a:txBody>
                    <a:bodyPr/>
                    <a:lstStyle/>
                    <a:p>
                      <a:r>
                        <a:rPr sz="2325">
                          <a:solidFill>
                            <a:srgbClr val="173047"/>
                          </a:solidFill>
                          <a:latin typeface="Arial"/>
                          <a:ea typeface="Arial"/>
                          <a:cs typeface="Arial"/>
                        </a:rPr>
                        <a:t>D₁</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r>
              <a:tr h="619125">
                <a:tc>
                  <a:txBody>
                    <a:bodyPr/>
                    <a:lstStyle/>
                    <a:p>
                      <a:r>
                        <a:rPr sz="2325">
                          <a:solidFill>
                            <a:srgbClr val="173047"/>
                          </a:solidFill>
                          <a:latin typeface="Arial"/>
                          <a:ea typeface="Arial"/>
                          <a:cs typeface="Arial"/>
                        </a:rPr>
                        <a:t>D₂</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10</a:t>
                      </a:r>
                    </a:p>
                  </a:txBody>
                  <a:tcPr marL="95250" marR="95250" marT="57150" marB="57150" anchor="ctr">
                    <a:solidFill>
                      <a:srgbClr val="DDF3EC"/>
                    </a:solidFill>
                  </a:tcPr>
                </a:tc>
                <a:tc>
                  <a:txBody>
                    <a:bodyPr/>
                    <a:lstStyle/>
                    <a:p>
                      <a:r>
                        <a:rPr sz="2325">
                          <a:solidFill>
                            <a:srgbClr val="173047"/>
                          </a:solidFill>
                          <a:latin typeface="Arial"/>
                          <a:ea typeface="Arial"/>
                          <a:cs typeface="Arial"/>
                        </a:rPr>
                        <a:t>10</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r>
              <a:tr h="619125">
                <a:tc>
                  <a:txBody>
                    <a:bodyPr/>
                    <a:lstStyle/>
                    <a:p>
                      <a:r>
                        <a:rPr sz="2325">
                          <a:solidFill>
                            <a:srgbClr val="173047"/>
                          </a:solidFill>
                          <a:latin typeface="Arial"/>
                          <a:ea typeface="Arial"/>
                          <a:cs typeface="Arial"/>
                        </a:rPr>
                        <a:t>D₃</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10</a:t>
                      </a:r>
                    </a:p>
                  </a:txBody>
                  <a:tcPr marL="95250" marR="95250" marT="57150" marB="57150" anchor="ctr">
                    <a:solidFill>
                      <a:srgbClr val="FFFFFF"/>
                    </a:solidFill>
                  </a:tcPr>
                </a:tc>
                <a:tc>
                  <a:txBody>
                    <a:bodyPr/>
                    <a:lstStyle/>
                    <a:p>
                      <a:r>
                        <a:rPr sz="2325">
                          <a:solidFill>
                            <a:srgbClr val="173047"/>
                          </a:solidFill>
                          <a:latin typeface="Arial"/>
                          <a:ea typeface="Arial"/>
                          <a:cs typeface="Arial"/>
                        </a:rPr>
                        <a:t>12</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c>
                  <a:txBody>
                    <a:bodyPr/>
                    <a:lstStyle/>
                    <a:p>
                      <a:r>
                        <a:rPr sz="2325">
                          <a:solidFill>
                            <a:srgbClr val="173047"/>
                          </a:solidFill>
                          <a:latin typeface="Arial"/>
                          <a:ea typeface="Arial"/>
                          <a:cs typeface="Arial"/>
                        </a:rPr>
                        <a:t>18</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22</a:t>
                      </a:r>
                    </a:p>
                  </a:txBody>
                  <a:tcPr marL="95250" marR="95250" marT="57150" marB="57150" anchor="ctr">
                    <a:solidFill>
                      <a:srgbClr val="DDF3EC"/>
                    </a:solidFill>
                  </a:tcPr>
                </a:tc>
              </a:tr>
              <a:tr h="619125">
                <a:tc>
                  <a:txBody>
                    <a:bodyPr/>
                    <a:lstStyle/>
                    <a:p>
                      <a:r>
                        <a:rPr sz="2325">
                          <a:solidFill>
                            <a:srgbClr val="173047"/>
                          </a:solidFill>
                          <a:latin typeface="Arial"/>
                          <a:ea typeface="Arial"/>
                          <a:cs typeface="Arial"/>
                        </a:rPr>
                        <a:t>D₄</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0</a:t>
                      </a:r>
                    </a:p>
                  </a:txBody>
                  <a:tcPr marL="95250" marR="95250" marT="57150" marB="57150" anchor="ctr">
                    <a:solidFill>
                      <a:srgbClr val="FFFFFF"/>
                    </a:solidFill>
                  </a:tcPr>
                </a:tc>
                <a:tc>
                  <a:txBody>
                    <a:bodyPr/>
                    <a:lstStyle/>
                    <a:p>
                      <a:r>
                        <a:rPr sz="2325">
                          <a:solidFill>
                            <a:srgbClr val="173047"/>
                          </a:solidFill>
                          <a:latin typeface="Arial"/>
                          <a:ea typeface="Arial"/>
                          <a:cs typeface="Arial"/>
                        </a:rPr>
                        <a:t>6</a:t>
                      </a:r>
                    </a:p>
                  </a:txBody>
                  <a:tcPr marL="95250" marR="95250" marT="57150" marB="57150" anchor="ctr">
                    <a:solidFill>
                      <a:srgbClr val="FFFFFF"/>
                    </a:solidFill>
                  </a:tcPr>
                </a:tc>
                <a:tc>
                  <a:txBody>
                    <a:bodyPr/>
                    <a:lstStyle/>
                    <a:p>
                      <a:r>
                        <a:rPr sz="2325">
                          <a:solidFill>
                            <a:srgbClr val="173047"/>
                          </a:solidFill>
                          <a:latin typeface="Arial"/>
                          <a:ea typeface="Arial"/>
                          <a:cs typeface="Arial"/>
                        </a:rPr>
                        <a:t>10</a:t>
                      </a:r>
                    </a:p>
                  </a:txBody>
                  <a:tcPr marL="95250" marR="95250" marT="57150" marB="57150" anchor="ctr">
                    <a:solidFill>
                      <a:srgbClr val="FFFFFF"/>
                    </a:solidFill>
                  </a:tcPr>
                </a:tc>
                <a:tc>
                  <a:txBody>
                    <a:bodyPr/>
                    <a:lstStyle/>
                    <a:p>
                      <a:r>
                        <a:rPr sz="2325">
                          <a:solidFill>
                            <a:srgbClr val="173047"/>
                          </a:solidFill>
                          <a:latin typeface="Arial"/>
                          <a:ea typeface="Arial"/>
                          <a:cs typeface="Arial"/>
                        </a:rPr>
                        <a:t>12</a:t>
                      </a:r>
                    </a:p>
                  </a:txBody>
                  <a:tcPr marL="95250" marR="95250" marT="57150" marB="57150" anchor="ctr">
                    <a:solidFill>
                      <a:srgbClr val="FFFFFF"/>
                    </a:solidFill>
                  </a:tcPr>
                </a:tc>
                <a:tc>
                  <a:txBody>
                    <a:bodyPr/>
                    <a:lstStyle/>
                    <a:p>
                      <a:r>
                        <a:rPr sz="2325">
                          <a:solidFill>
                            <a:srgbClr val="173047"/>
                          </a:solidFill>
                          <a:latin typeface="Arial"/>
                          <a:ea typeface="Arial"/>
                          <a:cs typeface="Arial"/>
                        </a:rPr>
                        <a:t>16</a:t>
                      </a:r>
                    </a:p>
                  </a:txBody>
                  <a:tcPr marL="95250" marR="95250" marT="57150" marB="57150" anchor="ctr">
                    <a:solidFill>
                      <a:srgbClr val="FFFFFF"/>
                    </a:solidFill>
                  </a:tcPr>
                </a:tc>
                <a:tc>
                  <a:txBody>
                    <a:bodyPr/>
                    <a:lstStyle/>
                    <a:p>
                      <a:r>
                        <a:rPr sz="2325">
                          <a:solidFill>
                            <a:srgbClr val="173047"/>
                          </a:solidFill>
                          <a:latin typeface="Arial"/>
                          <a:ea typeface="Arial"/>
                          <a:cs typeface="Arial"/>
                        </a:rPr>
                        <a:t>18</a:t>
                      </a:r>
                    </a:p>
                  </a:txBody>
                  <a:tcPr marL="95250" marR="95250" marT="57150" marB="57150" anchor="ctr">
                    <a:solidFill>
                      <a:srgbClr val="FFFFFF"/>
                    </a:solidFill>
                  </a:tcPr>
                </a:tc>
                <a:tc>
                  <a:txBody>
                    <a:bodyPr/>
                    <a:lstStyle/>
                    <a:p>
                      <a:r>
                        <a:rPr sz="2400" b="1">
                          <a:solidFill>
                            <a:srgbClr val="00857D"/>
                          </a:solidFill>
                          <a:latin typeface="Arial"/>
                          <a:ea typeface="Arial"/>
                          <a:cs typeface="Arial"/>
                        </a:rPr>
                        <a:t>22</a:t>
                      </a:r>
                    </a:p>
                  </a:txBody>
                  <a:tcPr marL="95250" marR="95250" marT="57150" marB="57150" anchor="ctr">
                    <a:solidFill>
                      <a:srgbClr val="DDF3EC"/>
                    </a:solidFill>
                  </a:tcPr>
                </a:tc>
              </a:tr>
            </a:tbl>
          </a:graphicData>
        </a:graphic>
      </p:graphicFrame>
      <p:sp>
        <p:nvSpPr>
          <p:cNvPr id="5" name="">
            <a:extLst xmlns:a="http://schemas.openxmlformats.org/drawingml/2006/main">
              <a:ext uri="{FF2B5EF4-FFF2-40B4-BE49-F238E27FC236}">
                <a16:creationId xmlns:a16="http://schemas.microsoft.com/office/drawing/2014/main" id="{8B15C50F-FD29-48F1-BA3C-93C09FCBB671}"/>
              </a:ext>
            </a:extLst>
          </p:cNvPr>
          <p:cNvSpPr>
            <a:spLocks xmlns:a="http://schemas.openxmlformats.org/drawingml/2006/main" noGrp="1"/>
          </p:cNvSpPr>
          <p:nvPr/>
        </p:nvSpPr>
        <p:spPr>
          <a:xfrm xmlns:a="http://schemas.openxmlformats.org/drawingml/2006/main">
            <a:off x="685800" y="53721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Відновлення: J4 пропускаємо; J3 та J2 беремо.</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51</a:t>
            </a:r>
          </a:p>
        </p:txBody>
      </p:sp>
    </p:spTree>
    <p:extLst>
      <p:ext uri="{BB962C8B-B14F-4D97-AF65-F5344CB8AC3E}">
        <p14:creationId xmlns:p14="http://schemas.microsoft.com/office/powerpoint/2010/main" val="126919762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37B443-82C3-47C4-B3B5-67F2DFCAEB1E}"/>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Python: заповнення таблиці рюкзака</a:t>
            </a:r>
          </a:p>
        </p:txBody>
      </p:sp>
      <p:sp>
        <p:nvSpPr>
          <p:cNvPr id="2" name="">
            <a:extLst xmlns:a="http://schemas.openxmlformats.org/drawingml/2006/main">
              <a:ext uri="{FF2B5EF4-FFF2-40B4-BE49-F238E27FC236}">
                <a16:creationId xmlns:a16="http://schemas.microsoft.com/office/drawing/2014/main" id="{D8AFC94D-25EB-4C8A-BBC3-E0D8BEA661D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Час O(nB): на стані порівнюємо лише два варіанти.</a:t>
            </a:r>
          </a:p>
        </p:txBody>
      </p:sp>
      <p:sp>
        <p:nvSpPr>
          <p:cNvPr id="4" name="">
            <a:extLst xmlns:a="http://schemas.openxmlformats.org/drawingml/2006/main">
              <a:ext uri="{FF2B5EF4-FFF2-40B4-BE49-F238E27FC236}">
                <a16:creationId xmlns:a16="http://schemas.microsoft.com/office/drawing/2014/main" id="{FA409F24-2E2E-4C31-927A-FAF60011F1AB}"/>
              </a:ext>
            </a:extLst>
          </p:cNvPr>
          <p:cNvSpPr>
            <a:spLocks xmlns:a="http://schemas.openxmlformats.org/drawingml/2006/main" noGrp="1"/>
          </p:cNvSpPr>
          <p:nvPr/>
        </p:nvSpPr>
        <p:spPr>
          <a:xfrm xmlns:a="http://schemas.openxmlformats.org/drawingml/2006/main">
            <a:off x="685800" y="1504950"/>
            <a:ext cx="10820400" cy="306514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481ABC-A43E-4F99-B71F-57A2465E4FC2}"/>
              </a:ext>
            </a:extLst>
          </p:cNvPr>
          <p:cNvSpPr>
            <a:spLocks xmlns:a="http://schemas.openxmlformats.org/drawingml/2006/main" noGrp="1"/>
          </p:cNvSpPr>
          <p:nvPr/>
        </p:nvSpPr>
        <p:spPr>
          <a:xfrm xmlns:a="http://schemas.openxmlformats.org/drawingml/2006/main">
            <a:off x="857250" y="1600200"/>
            <a:ext cx="10477500" cy="28746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w, v, B = [2, 3, 4, 5], [6, 10, 12, 13], 7</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n = len(w)</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D = [[0] * (B + 1) for _ in range(n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i in range(1, n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for b in range(B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D[i][b] = D[i - 1][b]    # пропустити</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w[i - 1] &lt;= b:</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take = v[i - 1] + D[i - 1][b - w[i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D[i][b] = max(D[i][b], take)</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print("D4 =", D[4])</a:t>
            </a:r>
          </a:p>
        </p:txBody>
      </p:sp>
      <p:sp>
        <p:nvSpPr>
          <p:cNvPr id="6" name="">
            <a:extLst xmlns:a="http://schemas.openxmlformats.org/drawingml/2006/main">
              <a:ext uri="{FF2B5EF4-FFF2-40B4-BE49-F238E27FC236}">
                <a16:creationId xmlns:a16="http://schemas.microsoft.com/office/drawing/2014/main" id="{12B06FE8-8396-461A-B190-0D5908FE6E33}"/>
              </a:ext>
            </a:extLst>
          </p:cNvPr>
          <p:cNvSpPr>
            <a:spLocks xmlns:a="http://schemas.openxmlformats.org/drawingml/2006/main" noGrp="1"/>
          </p:cNvSpPr>
          <p:nvPr/>
        </p:nvSpPr>
        <p:spPr>
          <a:xfrm xmlns:a="http://schemas.openxmlformats.org/drawingml/2006/main">
            <a:off x="685800" y="4857750"/>
            <a:ext cx="10820400" cy="7429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F26A6B-A8F1-4CC8-AF6A-08D35013E2DA}"/>
              </a:ext>
            </a:extLst>
          </p:cNvPr>
          <p:cNvSpPr>
            <a:spLocks xmlns:a="http://schemas.openxmlformats.org/drawingml/2006/main" noGrp="1"/>
          </p:cNvSpPr>
          <p:nvPr/>
        </p:nvSpPr>
        <p:spPr>
          <a:xfrm xmlns:a="http://schemas.openxmlformats.org/drawingml/2006/main">
            <a:off x="857250" y="49530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D4 = [0, 0, 6, 10, 12, 16, 18, 22]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53</a:t>
            </a:r>
          </a:p>
        </p:txBody>
      </p:sp>
    </p:spTree>
    <p:extLst>
      <p:ext uri="{BB962C8B-B14F-4D97-AF65-F5344CB8AC3E}">
        <p14:creationId xmlns:p14="http://schemas.microsoft.com/office/powerpoint/2010/main" val="27926260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D209C9-46C3-494C-998D-2CE8C7CF182F}"/>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Python: які саме завдання обрано?</a:t>
            </a:r>
          </a:p>
        </p:txBody>
      </p:sp>
      <p:sp>
        <p:nvSpPr>
          <p:cNvPr id="2" name="">
            <a:extLst xmlns:a="http://schemas.openxmlformats.org/drawingml/2006/main">
              <a:ext uri="{FF2B5EF4-FFF2-40B4-BE49-F238E27FC236}">
                <a16:creationId xmlns:a16="http://schemas.microsoft.com/office/drawing/2014/main" id="{B4DDCC60-B20C-4167-AB78-3D10469DC4F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План: J2 та J3; ресурс 3 + 4 = 7; користь 10 + 12 = 22.</a:t>
            </a:r>
          </a:p>
        </p:txBody>
      </p:sp>
      <p:sp>
        <p:nvSpPr>
          <p:cNvPr id="4" name="">
            <a:extLst xmlns:a="http://schemas.openxmlformats.org/drawingml/2006/main">
              <a:ext uri="{FF2B5EF4-FFF2-40B4-BE49-F238E27FC236}">
                <a16:creationId xmlns:a16="http://schemas.microsoft.com/office/drawing/2014/main" id="{CF4279F3-9176-44CA-B41E-C00E0810006B}"/>
              </a:ext>
            </a:extLst>
          </p:cNvPr>
          <p:cNvSpPr>
            <a:spLocks xmlns:a="http://schemas.openxmlformats.org/drawingml/2006/main" noGrp="1"/>
          </p:cNvSpPr>
          <p:nvPr/>
        </p:nvSpPr>
        <p:spPr>
          <a:xfrm xmlns:a="http://schemas.openxmlformats.org/drawingml/2006/main">
            <a:off x="685800" y="1495425"/>
            <a:ext cx="10820400" cy="2505456"/>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0C2D78-0088-422B-866B-D2A0B33F2651}"/>
              </a:ext>
            </a:extLst>
          </p:cNvPr>
          <p:cNvSpPr>
            <a:spLocks xmlns:a="http://schemas.openxmlformats.org/drawingml/2006/main" noGrp="1"/>
          </p:cNvSpPr>
          <p:nvPr/>
        </p:nvSpPr>
        <p:spPr>
          <a:xfrm xmlns:a="http://schemas.openxmlformats.org/drawingml/2006/main">
            <a:off x="857250" y="1590675"/>
            <a:ext cx="10477500" cy="2314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chosen, b = [], B</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i in range(n, 0,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D[i][b] != D[i - 1][b]:</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chosen.append(i)</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 -= w[i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chosen.reverse()</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print("Завдання =", chosen)</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print("Z =", D[n][B], "GPU-години =", B - b)</a:t>
            </a:r>
          </a:p>
        </p:txBody>
      </p:sp>
      <p:sp>
        <p:nvSpPr>
          <p:cNvPr id="6" name="">
            <a:extLst xmlns:a="http://schemas.openxmlformats.org/drawingml/2006/main">
              <a:ext uri="{FF2B5EF4-FFF2-40B4-BE49-F238E27FC236}">
                <a16:creationId xmlns:a16="http://schemas.microsoft.com/office/drawing/2014/main" id="{166AF277-DE1F-4FA8-BF37-558D2396FCB7}"/>
              </a:ext>
            </a:extLst>
          </p:cNvPr>
          <p:cNvSpPr>
            <a:spLocks xmlns:a="http://schemas.openxmlformats.org/drawingml/2006/main" noGrp="1"/>
          </p:cNvSpPr>
          <p:nvPr/>
        </p:nvSpPr>
        <p:spPr>
          <a:xfrm xmlns:a="http://schemas.openxmlformats.org/drawingml/2006/main">
            <a:off x="685800" y="4476750"/>
            <a:ext cx="10820400" cy="10477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55C8A6-9F08-478E-A16A-60E99756AFAC}"/>
              </a:ext>
            </a:extLst>
          </p:cNvPr>
          <p:cNvSpPr>
            <a:spLocks xmlns:a="http://schemas.openxmlformats.org/drawingml/2006/main" noGrp="1"/>
          </p:cNvSpPr>
          <p:nvPr/>
        </p:nvSpPr>
        <p:spPr>
          <a:xfrm xmlns:a="http://schemas.openxmlformats.org/drawingml/2006/main">
            <a:off x="857250" y="45720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Завдання = [2, 3]</a:t>
            </a:r>
          </a:p>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Z = 22 GPU-години = 7</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54</a:t>
            </a:r>
          </a:p>
        </p:txBody>
      </p:sp>
    </p:spTree>
    <p:extLst>
      <p:ext uri="{BB962C8B-B14F-4D97-AF65-F5344CB8AC3E}">
        <p14:creationId xmlns:p14="http://schemas.microsoft.com/office/powerpoint/2010/main" val="85575367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4EB708-C9A9-42AE-9ADD-BC2A3A57606F}"/>
              </a:ext>
            </a:extLst>
          </p:cNvPr>
          <p:cNvSpPr>
            <a:spLocks xmlns:a="http://schemas.openxmlformats.org/drawingml/2006/main" noGrp="1"/>
          </p:cNvSpPr>
          <p:nvPr/>
        </p:nvSpPr>
        <p:spPr>
          <a:xfrm xmlns:a="http://schemas.openxmlformats.org/drawingml/2006/main">
            <a:off x="685800" y="361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00" b="1">
                <a:solidFill>
                  <a:srgbClr val="173047"/>
                </a:solidFill>
                <a:latin typeface="Arial"/>
                <a:ea typeface="Arial"/>
                <a:cs typeface="Arial"/>
              </a:defRPr>
            </a:pPr>
            <a:r>
              <a:rPr sz="3300" b="1">
                <a:solidFill>
                  <a:srgbClr val="173047"/>
                </a:solidFill>
                <a:latin typeface="Arial"/>
                <a:ea typeface="Arial"/>
                <a:cs typeface="Arial"/>
              </a:rPr>
              <a:t>ДП та цілочисельне програмування</a:t>
            </a:r>
          </a:p>
        </p:txBody>
      </p:sp>
      <p:sp>
        <p:nvSpPr>
          <p:cNvPr id="2" name="">
            <a:extLst xmlns:a="http://schemas.openxmlformats.org/drawingml/2006/main">
              <a:ext uri="{FF2B5EF4-FFF2-40B4-BE49-F238E27FC236}">
                <a16:creationId xmlns:a16="http://schemas.microsoft.com/office/drawing/2014/main" id="{86D980A0-5C48-469A-862F-48BABE0754B4}"/>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Модель може бути однакова, а алгоритм розв’язання — різний.</a:t>
            </a:r>
          </a:p>
        </p:txBody>
      </p:sp>
      <p:graphicFrame>
        <p:nvGraphicFramePr>
          <p:cNvPr id="11" name=""/>
          <p:cNvGraphicFramePr/>
          <p:nvPr/>
        </p:nvGraphicFramePr>
        <p:xfrm>
          <a:off xmlns:a="http://schemas.openxmlformats.org/drawingml/2006/main" x="685800" y="1552575"/>
          <a:ext xmlns:a="http://schemas.openxmlformats.org/drawingml/2006/main" cx="10820400" cy="3714750"/>
        </p:xfrm>
        <a:graphic xmlns:a="http://schemas.openxmlformats.org/drawingml/2006/main">
          <a:graphicData uri="http://schemas.openxmlformats.org/drawingml/2006/table">
            <a:tbl>
              <a:tblPr/>
              <a:tblGrid>
                <a:gridCol w="2781300"/>
                <a:gridCol w="4019550"/>
                <a:gridCol w="4019550"/>
              </a:tblGrid>
              <a:tr h="742950">
                <a:tc>
                  <a:txBody>
                    <a:bodyPr/>
                    <a:lstStyle/>
                    <a:p>
                      <a:r>
                        <a:rPr sz="2100" b="1">
                          <a:solidFill>
                            <a:srgbClr val="FFFFFF"/>
                          </a:solidFill>
                          <a:latin typeface="Arial"/>
                          <a:ea typeface="Arial"/>
                          <a:cs typeface="Arial"/>
                        </a:rPr>
                        <a:t>Питання</a:t>
                      </a:r>
                    </a:p>
                  </a:txBody>
                  <a:tcPr marL="95250" marR="95250" marT="57150" marB="57150" anchor="ctr">
                    <a:solidFill>
                      <a:srgbClr val="173047"/>
                    </a:solidFill>
                  </a:tcPr>
                </a:tc>
                <a:tc>
                  <a:txBody>
                    <a:bodyPr/>
                    <a:lstStyle/>
                    <a:p>
                      <a:r>
                        <a:rPr sz="2100" b="1">
                          <a:solidFill>
                            <a:srgbClr val="FFFFFF"/>
                          </a:solidFill>
                          <a:latin typeface="Arial"/>
                          <a:ea typeface="Arial"/>
                          <a:cs typeface="Arial"/>
                        </a:rPr>
                        <a:t>Динамічне програмування</a:t>
                      </a:r>
                    </a:p>
                  </a:txBody>
                  <a:tcPr marL="95250" marR="95250" marT="57150" marB="57150" anchor="ctr">
                    <a:solidFill>
                      <a:srgbClr val="173047"/>
                    </a:solidFill>
                  </a:tcPr>
                </a:tc>
                <a:tc>
                  <a:txBody>
                    <a:bodyPr/>
                    <a:lstStyle/>
                    <a:p>
                      <a:r>
                        <a:rPr sz="2100" b="1">
                          <a:solidFill>
                            <a:srgbClr val="FFFFFF"/>
                          </a:solidFill>
                          <a:latin typeface="Arial"/>
                          <a:ea typeface="Arial"/>
                          <a:cs typeface="Arial"/>
                        </a:rPr>
                        <a:t>Цілочисельна модель</a:t>
                      </a:r>
                    </a:p>
                  </a:txBody>
                  <a:tcPr marL="95250" marR="95250" marT="57150" marB="57150" anchor="ctr">
                    <a:solidFill>
                      <a:srgbClr val="173047"/>
                    </a:solidFill>
                  </a:tcPr>
                </a:tc>
              </a:tr>
              <a:tr h="742950">
                <a:tc>
                  <a:txBody>
                    <a:bodyPr/>
                    <a:lstStyle/>
                    <a:p>
                      <a:r>
                        <a:rPr sz="2100">
                          <a:solidFill>
                            <a:srgbClr val="173047"/>
                          </a:solidFill>
                          <a:latin typeface="Arial"/>
                          <a:ea typeface="Arial"/>
                          <a:cs typeface="Arial"/>
                        </a:rPr>
                        <a:t>Основна ідея</a:t>
                      </a:r>
                    </a:p>
                  </a:txBody>
                  <a:tcPr marL="95250" marR="95250" marT="57150" marB="57150" anchor="ctr">
                    <a:solidFill>
                      <a:srgbClr val="FFFFFF"/>
                    </a:solidFill>
                  </a:tcPr>
                </a:tc>
                <a:tc>
                  <a:txBody>
                    <a:bodyPr/>
                    <a:lstStyle/>
                    <a:p>
                      <a:r>
                        <a:rPr sz="2100">
                          <a:solidFill>
                            <a:srgbClr val="173047"/>
                          </a:solidFill>
                          <a:latin typeface="Arial"/>
                          <a:ea typeface="Arial"/>
                          <a:cs typeface="Arial"/>
                        </a:rPr>
                        <a:t>Стани, переходи, таблиця</a:t>
                      </a:r>
                    </a:p>
                  </a:txBody>
                  <a:tcPr marL="95250" marR="95250" marT="57150" marB="57150" anchor="ctr">
                    <a:solidFill>
                      <a:srgbClr val="FFFFFF"/>
                    </a:solidFill>
                  </a:tcPr>
                </a:tc>
                <a:tc>
                  <a:txBody>
                    <a:bodyPr/>
                    <a:lstStyle/>
                    <a:p>
                      <a:r>
                        <a:rPr sz="2100">
                          <a:solidFill>
                            <a:srgbClr val="173047"/>
                          </a:solidFill>
                          <a:latin typeface="Arial"/>
                          <a:ea typeface="Arial"/>
                          <a:cs typeface="Arial"/>
                        </a:rPr>
                        <a:t>Змінні й обмеження</a:t>
                      </a:r>
                    </a:p>
                  </a:txBody>
                  <a:tcPr marL="95250" marR="95250" marT="57150" marB="57150" anchor="ctr">
                    <a:solidFill>
                      <a:srgbClr val="FFFFFF"/>
                    </a:solidFill>
                  </a:tcPr>
                </a:tc>
              </a:tr>
              <a:tr h="742950">
                <a:tc>
                  <a:txBody>
                    <a:bodyPr/>
                    <a:lstStyle/>
                    <a:p>
                      <a:r>
                        <a:rPr sz="2100">
                          <a:solidFill>
                            <a:srgbClr val="173047"/>
                          </a:solidFill>
                          <a:latin typeface="Arial"/>
                          <a:ea typeface="Arial"/>
                          <a:cs typeface="Arial"/>
                        </a:rPr>
                        <a:t>Для нашого рюкзака</a:t>
                      </a:r>
                    </a:p>
                  </a:txBody>
                  <a:tcPr marL="95250" marR="95250" marT="57150" marB="57150" anchor="ctr">
                    <a:solidFill>
                      <a:srgbClr val="FFFFFF"/>
                    </a:solidFill>
                  </a:tcPr>
                </a:tc>
                <a:tc>
                  <a:txBody>
                    <a:bodyPr/>
                    <a:lstStyle/>
                    <a:p>
                      <a:r>
                        <a:rPr sz="2100">
                          <a:solidFill>
                            <a:srgbClr val="173047"/>
                          </a:solidFill>
                          <a:latin typeface="Arial"/>
                          <a:ea typeface="Arial"/>
                          <a:cs typeface="Arial"/>
                        </a:rPr>
                        <a:t>Два варіанти на стан</a:t>
                      </a:r>
                    </a:p>
                  </a:txBody>
                  <a:tcPr marL="95250" marR="95250" marT="57150" marB="57150" anchor="ctr">
                    <a:solidFill>
                      <a:srgbClr val="FFFFFF"/>
                    </a:solidFill>
                  </a:tcPr>
                </a:tc>
                <a:tc>
                  <a:txBody>
                    <a:bodyPr/>
                    <a:lstStyle/>
                    <a:p>
                      <a:r>
                        <a:rPr sz="2100">
                          <a:solidFill>
                            <a:srgbClr val="173047"/>
                          </a:solidFill>
                          <a:latin typeface="Arial"/>
                          <a:ea typeface="Arial"/>
                          <a:cs typeface="Arial"/>
                        </a:rPr>
                        <a:t>Булеві змінні x₁…x₄</a:t>
                      </a:r>
                    </a:p>
                  </a:txBody>
                  <a:tcPr marL="95250" marR="95250" marT="57150" marB="57150" anchor="ctr">
                    <a:solidFill>
                      <a:srgbClr val="FFFFFF"/>
                    </a:solidFill>
                  </a:tcPr>
                </a:tc>
              </a:tr>
              <a:tr h="742950">
                <a:tc>
                  <a:txBody>
                    <a:bodyPr/>
                    <a:lstStyle/>
                    <a:p>
                      <a:r>
                        <a:rPr sz="2100">
                          <a:solidFill>
                            <a:srgbClr val="173047"/>
                          </a:solidFill>
                          <a:latin typeface="Arial"/>
                          <a:ea typeface="Arial"/>
                          <a:cs typeface="Arial"/>
                        </a:rPr>
                        <a:t>Коли зручно</a:t>
                      </a:r>
                    </a:p>
                  </a:txBody>
                  <a:tcPr marL="95250" marR="95250" marT="57150" marB="57150" anchor="ctr">
                    <a:solidFill>
                      <a:srgbClr val="FFFFFF"/>
                    </a:solidFill>
                  </a:tcPr>
                </a:tc>
                <a:tc>
                  <a:txBody>
                    <a:bodyPr/>
                    <a:lstStyle/>
                    <a:p>
                      <a:r>
                        <a:rPr sz="2100">
                          <a:solidFill>
                            <a:srgbClr val="173047"/>
                          </a:solidFill>
                          <a:latin typeface="Arial"/>
                          <a:ea typeface="Arial"/>
                          <a:cs typeface="Arial"/>
                        </a:rPr>
                        <a:t>Невеликий цілий бюджет</a:t>
                      </a:r>
                    </a:p>
                  </a:txBody>
                  <a:tcPr marL="95250" marR="95250" marT="57150" marB="57150" anchor="ctr">
                    <a:solidFill>
                      <a:srgbClr val="FFFFFF"/>
                    </a:solidFill>
                  </a:tcPr>
                </a:tc>
                <a:tc>
                  <a:txBody>
                    <a:bodyPr/>
                    <a:lstStyle/>
                    <a:p>
                      <a:r>
                        <a:rPr sz="2100">
                          <a:solidFill>
                            <a:srgbClr val="173047"/>
                          </a:solidFill>
                          <a:latin typeface="Arial"/>
                          <a:ea typeface="Arial"/>
                          <a:cs typeface="Arial"/>
                        </a:rPr>
                        <a:t>Багато різних обмежень</a:t>
                      </a:r>
                    </a:p>
                  </a:txBody>
                  <a:tcPr marL="95250" marR="95250" marT="57150" marB="57150" anchor="ctr">
                    <a:solidFill>
                      <a:srgbClr val="FFFFFF"/>
                    </a:solidFill>
                  </a:tcPr>
                </a:tc>
              </a:tr>
              <a:tr h="742950">
                <a:tc>
                  <a:txBody>
                    <a:bodyPr/>
                    <a:lstStyle/>
                    <a:p>
                      <a:r>
                        <a:rPr sz="2100">
                          <a:solidFill>
                            <a:srgbClr val="173047"/>
                          </a:solidFill>
                          <a:latin typeface="Arial"/>
                          <a:ea typeface="Arial"/>
                          <a:cs typeface="Arial"/>
                        </a:rPr>
                        <a:t>Проміжні кроки</a:t>
                      </a:r>
                    </a:p>
                  </a:txBody>
                  <a:tcPr marL="95250" marR="95250" marT="57150" marB="57150" anchor="ctr">
                    <a:solidFill>
                      <a:srgbClr val="FFFFFF"/>
                    </a:solidFill>
                  </a:tcPr>
                </a:tc>
                <a:tc>
                  <a:txBody>
                    <a:bodyPr/>
                    <a:lstStyle/>
                    <a:p>
                      <a:r>
                        <a:rPr sz="2100">
                          <a:solidFill>
                            <a:srgbClr val="173047"/>
                          </a:solidFill>
                          <a:latin typeface="Arial"/>
                          <a:ea typeface="Arial"/>
                          <a:cs typeface="Arial"/>
                        </a:rPr>
                        <a:t>Можна показати кожну клітинку</a:t>
                      </a:r>
                    </a:p>
                  </a:txBody>
                  <a:tcPr marL="95250" marR="95250" marT="57150" marB="57150" anchor="ctr">
                    <a:solidFill>
                      <a:srgbClr val="FFFFFF"/>
                    </a:solidFill>
                  </a:tcPr>
                </a:tc>
                <a:tc>
                  <a:txBody>
                    <a:bodyPr/>
                    <a:lstStyle/>
                    <a:p>
                      <a:r>
                        <a:rPr sz="2100">
                          <a:solidFill>
                            <a:srgbClr val="173047"/>
                          </a:solidFill>
                          <a:latin typeface="Arial"/>
                          <a:ea typeface="Arial"/>
                          <a:cs typeface="Arial"/>
                        </a:rPr>
                        <a:t>Залежать від солвера</a:t>
                      </a:r>
                    </a:p>
                  </a:txBody>
                  <a:tcPr marL="95250" marR="9525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E273F0-3C1E-4040-9842-63250A4AAE9D}"/>
              </a:ext>
            </a:extLst>
          </p:cNvPr>
          <p:cNvSpPr>
            <a:spLocks xmlns:a="http://schemas.openxmlformats.org/drawingml/2006/main" noGrp="1"/>
          </p:cNvSpPr>
          <p:nvPr/>
        </p:nvSpPr>
        <p:spPr>
          <a:xfrm xmlns:a="http://schemas.openxmlformats.org/drawingml/2006/main">
            <a:off x="685800" y="53816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ЛП-релаксація може дозволити частину неподільного завдання.</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55</a:t>
            </a:r>
          </a:p>
        </p:txBody>
      </p:sp>
    </p:spTree>
    <p:extLst>
      <p:ext uri="{BB962C8B-B14F-4D97-AF65-F5344CB8AC3E}">
        <p14:creationId xmlns:p14="http://schemas.microsoft.com/office/powerpoint/2010/main" val="153699044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5341F6-4B7D-49EB-8896-1990D1E027C8}"/>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Самоперевірка та два оптимальні плани</a:t>
            </a:r>
          </a:p>
        </p:txBody>
      </p:sp>
      <p:sp>
        <p:nvSpPr>
          <p:cNvPr id="2" name="">
            <a:extLst xmlns:a="http://schemas.openxmlformats.org/drawingml/2006/main">
              <a:ext uri="{FF2B5EF4-FFF2-40B4-BE49-F238E27FC236}">
                <a16:creationId xmlns:a16="http://schemas.microsoft.com/office/drawing/2014/main" id="{7C77F181-1E44-4AD5-8A53-5317D0E2D73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Різні плани можуть давати однакове оптимальне значення.</a:t>
            </a:r>
          </a:p>
        </p:txBody>
      </p:sp>
      <p:sp>
        <p:nvSpPr>
          <p:cNvPr id="3" name="">
            <a:extLst xmlns:a="http://schemas.openxmlformats.org/drawingml/2006/main">
              <a:ext uri="{FF2B5EF4-FFF2-40B4-BE49-F238E27FC236}">
                <a16:creationId xmlns:a16="http://schemas.microsoft.com/office/drawing/2014/main" id="{51ADEC44-0EF6-4EFF-8151-7D152AD80103}"/>
              </a:ext>
            </a:extLst>
          </p:cNvPr>
          <p:cNvSpPr>
            <a:spLocks xmlns:a="http://schemas.openxmlformats.org/drawingml/2006/main" noGrp="1"/>
          </p:cNvSpPr>
          <p:nvPr/>
        </p:nvSpPr>
        <p:spPr>
          <a:xfrm xmlns:a="http://schemas.openxmlformats.org/drawingml/2006/main">
            <a:off x="685800" y="1476375"/>
            <a:ext cx="10820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93247"/>
                </a:solidFill>
                <a:latin typeface="Arial"/>
                <a:ea typeface="Arial"/>
                <a:cs typeface="Arial"/>
              </a:defRPr>
            </a:defPPr>
          </a:lstStyle>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1. Що означає одна клітинка V₂(4)?</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2. Чому потрібне значення для бюджету b−u?</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3. Де зберігається дія для відновлення плану?</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4. Як зміниться стан, якщо обмежити ще й RAM?</a:t>
            </a:r>
          </a:p>
        </p:txBody>
      </p:sp>
      <p:sp>
        <p:nvSpPr>
          <p:cNvPr id="4" name="">
            <a:extLst xmlns:a="http://schemas.openxmlformats.org/drawingml/2006/main">
              <a:ext uri="{FF2B5EF4-FFF2-40B4-BE49-F238E27FC236}">
                <a16:creationId xmlns:a16="http://schemas.microsoft.com/office/drawing/2014/main" id="{643AAC66-0D36-46B5-A764-BF7DBC50EF97}"/>
              </a:ext>
            </a:extLst>
          </p:cNvPr>
          <p:cNvSpPr>
            <a:spLocks xmlns:a="http://schemas.openxmlformats.org/drawingml/2006/main" noGrp="1"/>
          </p:cNvSpPr>
          <p:nvPr/>
        </p:nvSpPr>
        <p:spPr>
          <a:xfrm xmlns:a="http://schemas.openxmlformats.org/drawingml/2006/main">
            <a:off x="685800" y="38100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Бюджет 5 GPU: знайдіть два плани з користю 28.</a:t>
            </a:r>
          </a:p>
        </p:txBody>
      </p:sp>
      <p:graphicFrame>
        <p:nvGraphicFramePr>
          <p:cNvPr id="5" name="">
            <a:extLst xmlns:a="http://schemas.openxmlformats.org/drawingml/2006/main">
              <a:ext uri="{FF2B5EF4-FFF2-40B4-BE49-F238E27FC236}">
                <a16:creationId xmlns:a16="http://schemas.microsoft.com/office/drawing/2014/main" id="{912A0C28-8724-4F24-A33A-31FCD617575A}"/>
              </a:ext>
            </a:extLst>
          </p:cNvPr>
          <p:cNvGraphicFramePr/>
          <p:nvPr/>
        </p:nvGraphicFramePr>
        <p:xfrm>
          <a:off xmlns:a="http://schemas.openxmlformats.org/drawingml/2006/main" x="685800" y="4667250"/>
          <a:ext xmlns:a="http://schemas.openxmlformats.org/drawingml/2006/main" cx="10820400" cy="1238250"/>
        </p:xfrm>
        <a:graphic xmlns:a="http://schemas.openxmlformats.org/drawingml/2006/main">
          <a:graphicData uri="http://schemas.openxmlformats.org/drawingml/2006/table">
            <a:tbl>
              <a:tblPr/>
              <a:tblGrid>
                <a:gridCol w="4572000"/>
                <a:gridCol w="2667000"/>
                <a:gridCol w="3581400"/>
              </a:tblGrid>
              <a:tr h="412750">
                <a:tc>
                  <a:txBody>
                    <a:bodyPr/>
                    <a:lstStyle/>
                    <a:p>
                      <a:r>
                        <a:rPr sz="1875" b="1">
                          <a:solidFill>
                            <a:srgbClr val="FFFFFF"/>
                          </a:solidFill>
                          <a:latin typeface="Arial"/>
                          <a:ea typeface="Arial"/>
                          <a:cs typeface="Arial"/>
                        </a:rPr>
                        <a:t>План (A,B,C)</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Ресурс</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Користь</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12750">
                <a:tc>
                  <a:txBody>
                    <a:bodyPr/>
                    <a:lstStyle/>
                    <a:p>
                      <a:r>
                        <a:rPr sz="1875" b="0">
                          <a:solidFill>
                            <a:srgbClr val="193247"/>
                          </a:solidFill>
                          <a:latin typeface="Arial"/>
                          <a:ea typeface="Arial"/>
                          <a:cs typeface="Arial"/>
                        </a:rPr>
                        <a:t>(1,3,1)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1+3+1=5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6+17+5=28</a:t>
                      </a:r>
                    </a:p>
                  </a:txBody>
                  <a:tcPr marL="91440" marR="91440" marT="45720" marB="45720">
                    <a:lnR w="9525">
                      <a:solidFill>
                        <a:srgbClr val="A8B7C0"/>
                      </a:solidFill>
                      <a:prstDash val="solid"/>
                    </a:lnR>
                    <a:lnB w="9525">
                      <a:solidFill>
                        <a:srgbClr val="A8B7C0"/>
                      </a:solidFill>
                      <a:prstDash val="solid"/>
                    </a:lnB>
                    <a:solidFill>
                      <a:srgbClr val="FFFFFF"/>
                    </a:solidFill>
                  </a:tcPr>
                </a:tc>
              </a:tr>
              <a:tr h="412750">
                <a:tc>
                  <a:txBody>
                    <a:bodyPr/>
                    <a:lstStyle/>
                    <a:p>
                      <a:r>
                        <a:rPr sz="1875" b="0">
                          <a:solidFill>
                            <a:srgbClr val="193247"/>
                          </a:solidFill>
                          <a:latin typeface="Arial"/>
                          <a:ea typeface="Arial"/>
                          <a:cs typeface="Arial"/>
                        </a:rPr>
                        <a:t>(2,3,0)</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2+3+0=5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11+17+0=28</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103</a:t>
            </a:r>
          </a:p>
        </p:txBody>
      </p:sp>
    </p:spTree>
    <p:extLst>
      <p:ext uri="{BB962C8B-B14F-4D97-AF65-F5344CB8AC3E}">
        <p14:creationId xmlns:p14="http://schemas.microsoft.com/office/powerpoint/2010/main" val="2024838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DB73073-741D-4B7B-9BD3-A49C7B3E322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Джерела та матеріали для практики</a:t>
            </a:r>
          </a:p>
        </p:txBody>
      </p:sp>
      <p:sp>
        <p:nvSpPr>
          <p:cNvPr id="2" name="">
            <a:extLst xmlns:a="http://schemas.openxmlformats.org/drawingml/2006/main">
              <a:ext uri="{FF2B5EF4-FFF2-40B4-BE49-F238E27FC236}">
                <a16:creationId xmlns:a16="http://schemas.microsoft.com/office/drawing/2014/main" id="{91D0A747-C77D-4289-B6E1-63C0ECE825C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Оригінальні ілюстрації позначено біля рисунків. Повні посилання наведено в нотатках.</a:t>
            </a:r>
          </a:p>
        </p:txBody>
      </p:sp>
      <p:graphicFrame>
        <p:nvGraphicFramePr>
          <p:cNvPr id="3" name="">
            <a:extLst xmlns:a="http://schemas.openxmlformats.org/drawingml/2006/main">
              <a:ext uri="{FF2B5EF4-FFF2-40B4-BE49-F238E27FC236}">
                <a16:creationId xmlns:a16="http://schemas.microsoft.com/office/drawing/2014/main" id="{6EFB928A-CD75-4463-B444-AD2AF35BE2DA}"/>
              </a:ext>
            </a:extLst>
          </p:cNvPr>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a:tblGrid>
                <a:gridCol w="4667250"/>
                <a:gridCol w="6153150"/>
              </a:tblGrid>
              <a:tr h="557893">
                <a:tc>
                  <a:txBody>
                    <a:bodyPr/>
                    <a:lstStyle/>
                    <a:p>
                      <a:r>
                        <a:rPr sz="1875" b="1">
                          <a:solidFill>
                            <a:srgbClr val="FFFFFF"/>
                          </a:solidFill>
                          <a:latin typeface="Arial"/>
                          <a:ea typeface="Arial"/>
                          <a:cs typeface="Arial"/>
                        </a:rPr>
                        <a:t>Джерело</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Для чого використано</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57893">
                <a:tc>
                  <a:txBody>
                    <a:bodyPr/>
                    <a:lstStyle/>
                    <a:p>
                      <a:r>
                        <a:rPr sz="1875" b="0">
                          <a:solidFill>
                            <a:srgbClr val="193247"/>
                          </a:solidFill>
                          <a:latin typeface="Arial"/>
                          <a:ea typeface="Arial"/>
                          <a:cs typeface="Arial"/>
                        </a:rPr>
                        <a:t>Вентцель, гл.4 §13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Умовна оптимізація та відновлення маршруту</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Erickson, Algorithms, гл.3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Мемоізація та оригінальне дерево рекурсії</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Dasgupta та ін., Algorithms, §6.1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Граф залежностей і топологічний порядок</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MIT 6.006, CMU 15-451, Stanford EE365</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Побудова підзадач та рекурентностей</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RFC 2453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RIP: метрики, оновлення та захист від петель</a:t>
                      </a:r>
                    </a:p>
                  </a:txBody>
                  <a:tcPr marL="91440" marR="91440" marT="45720" marB="45720">
                    <a:lnR w="9525">
                      <a:solidFill>
                        <a:srgbClr val="A8B7C0"/>
                      </a:solidFill>
                      <a:prstDash val="solid"/>
                    </a:lnR>
                    <a:lnB w="9525">
                      <a:solidFill>
                        <a:srgbClr val="A8B7C0"/>
                      </a:solidFill>
                      <a:prstDash val="solid"/>
                    </a:lnB>
                    <a:solidFill>
                      <a:srgbClr val="FFFFFF"/>
                    </a:solidFill>
                  </a:tcPr>
                </a:tc>
              </a:tr>
              <a:tr h="557893">
                <a:tc>
                  <a:txBody>
                    <a:bodyPr/>
                    <a:lstStyle/>
                    <a:p>
                      <a:r>
                        <a:rPr sz="1875" b="0">
                          <a:solidFill>
                            <a:srgbClr val="193247"/>
                          </a:solidFill>
                          <a:latin typeface="Arial"/>
                          <a:ea typeface="Arial"/>
                          <a:cs typeface="Arial"/>
                        </a:rPr>
                        <a:t>Python, SciPy</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Кешування та бібліотечний Беллман–Форд</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104</a:t>
            </a:r>
          </a:p>
        </p:txBody>
      </p:sp>
    </p:spTree>
    <p:extLst>
      <p:ext uri="{BB962C8B-B14F-4D97-AF65-F5344CB8AC3E}">
        <p14:creationId xmlns:p14="http://schemas.microsoft.com/office/powerpoint/2010/main" val="30930000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5E7BCE-CC69-4307-A049-F27EB737CAE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Мемоізація: одна підзадача для різних планів</a:t>
            </a:r>
          </a:p>
        </p:txBody>
      </p:sp>
      <p:sp>
        <p:nvSpPr>
          <p:cNvPr id="2" name="">
            <a:extLst xmlns:a="http://schemas.openxmlformats.org/drawingml/2006/main">
              <a:ext uri="{FF2B5EF4-FFF2-40B4-BE49-F238E27FC236}">
                <a16:creationId xmlns:a16="http://schemas.microsoft.com/office/drawing/2014/main" id="{424A7256-B3FB-4841-8BC3-7EF74E313AA4}"/>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Стан (k, b) зберігає майбутню підзадачу. Уже отримана користь додається окремо.</a:t>
            </a:r>
          </a:p>
        </p:txBody>
      </p:sp>
      <p:sp>
        <p:nvSpPr>
          <p:cNvPr id="3" name="">
            <a:extLst xmlns:a="http://schemas.openxmlformats.org/drawingml/2006/main">
              <a:ext uri="{FF2B5EF4-FFF2-40B4-BE49-F238E27FC236}">
                <a16:creationId xmlns:a16="http://schemas.microsoft.com/office/drawing/2014/main" id="{5063BC9E-3920-4C63-94AE-57F9D4763897}"/>
              </a:ext>
            </a:extLst>
          </p:cNvPr>
          <p:cNvSpPr>
            <a:spLocks xmlns:a="http://schemas.openxmlformats.org/drawingml/2006/main" noGrp="1"/>
          </p:cNvSpPr>
          <p:nvPr/>
        </p:nvSpPr>
        <p:spPr>
          <a:xfrm xmlns:a="http://schemas.openxmlformats.org/drawingml/2006/main">
            <a:off x="685800" y="1714500"/>
            <a:ext cx="3810000" cy="90487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A=0, B=3</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витрачено 3 GPU</a:t>
            </a:r>
          </a:p>
        </p:txBody>
      </p:sp>
      <p:sp>
        <p:nvSpPr>
          <p:cNvPr id="4" name="">
            <a:extLst xmlns:a="http://schemas.openxmlformats.org/drawingml/2006/main">
              <a:ext uri="{FF2B5EF4-FFF2-40B4-BE49-F238E27FC236}">
                <a16:creationId xmlns:a16="http://schemas.microsoft.com/office/drawing/2014/main" id="{26AB9984-C5F1-47A6-B0B5-5116886C863D}"/>
              </a:ext>
            </a:extLst>
          </p:cNvPr>
          <p:cNvSpPr>
            <a:spLocks xmlns:a="http://schemas.openxmlformats.org/drawingml/2006/main" noGrp="1"/>
          </p:cNvSpPr>
          <p:nvPr/>
        </p:nvSpPr>
        <p:spPr>
          <a:xfrm xmlns:a="http://schemas.openxmlformats.org/drawingml/2006/main">
            <a:off x="685800" y="3857625"/>
            <a:ext cx="3810000" cy="90487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A=1, B=2</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витрачено 3 GPU</a:t>
            </a:r>
          </a:p>
        </p:txBody>
      </p:sp>
      <p:sp>
        <p:nvSpPr>
          <p:cNvPr id="5" name="">
            <a:extLst xmlns:a="http://schemas.openxmlformats.org/drawingml/2006/main">
              <a:ext uri="{FF2B5EF4-FFF2-40B4-BE49-F238E27FC236}">
                <a16:creationId xmlns:a16="http://schemas.microsoft.com/office/drawing/2014/main" id="{B0EDE713-4CE0-46E2-969A-35C583C57801}"/>
              </a:ext>
            </a:extLst>
          </p:cNvPr>
          <p:cNvSpPr>
            <a:spLocks xmlns:a="http://schemas.openxmlformats.org/drawingml/2006/main" noGrp="1"/>
          </p:cNvSpPr>
          <p:nvPr/>
        </p:nvSpPr>
        <p:spPr>
          <a:xfrm xmlns:a="http://schemas.openxmlformats.org/drawingml/2006/main">
            <a:off x="4495800" y="2162175"/>
            <a:ext cx="1714500" cy="0"/>
          </a:xfrm>
          <a:prstGeom xmlns:a="http://schemas.openxmlformats.org/drawingml/2006/main" prst="line">
            <a:avLst/>
          </a:prstGeom>
          <a:ln xmlns:a="http://schemas.openxmlformats.org/drawingml/2006/main" w="28575">
            <a:solidFill>
              <a:srgbClr val="008B85"/>
            </a:solidFill>
            <a:prstDash val="solid"/>
          </a:ln>
        </p:spPr>
      </p:sp>
      <p:sp>
        <p:nvSpPr>
          <p:cNvPr id="6" name="">
            <a:extLst xmlns:a="http://schemas.openxmlformats.org/drawingml/2006/main">
              <a:ext uri="{FF2B5EF4-FFF2-40B4-BE49-F238E27FC236}">
                <a16:creationId xmlns:a16="http://schemas.microsoft.com/office/drawing/2014/main" id="{CDC764B6-6B23-43DE-B8B7-65F13799ECAA}"/>
              </a:ext>
            </a:extLst>
          </p:cNvPr>
          <p:cNvSpPr>
            <a:spLocks xmlns:a="http://schemas.openxmlformats.org/drawingml/2006/main" noGrp="1"/>
          </p:cNvSpPr>
          <p:nvPr/>
        </p:nvSpPr>
        <p:spPr>
          <a:xfrm xmlns:a="http://schemas.openxmlformats.org/drawingml/2006/main">
            <a:off x="6210300" y="2162175"/>
            <a:ext cx="0" cy="790575"/>
          </a:xfrm>
          <a:prstGeom xmlns:a="http://schemas.openxmlformats.org/drawingml/2006/main" prst="line">
            <a:avLst/>
          </a:prstGeom>
          <a:ln xmlns:a="http://schemas.openxmlformats.org/drawingml/2006/main" w="28575">
            <a:solidFill>
              <a:srgbClr val="008B85"/>
            </a:solidFill>
            <a:prstDash val="solid"/>
          </a:ln>
        </p:spPr>
      </p:sp>
      <p:sp>
        <p:nvSpPr>
          <p:cNvPr id="7" name="">
            <a:extLst xmlns:a="http://schemas.openxmlformats.org/drawingml/2006/main">
              <a:ext uri="{FF2B5EF4-FFF2-40B4-BE49-F238E27FC236}">
                <a16:creationId xmlns:a16="http://schemas.microsoft.com/office/drawing/2014/main" id="{D9B6B639-ABC7-4CE8-BBEE-6BD00F2D12D2}"/>
              </a:ext>
            </a:extLst>
          </p:cNvPr>
          <p:cNvSpPr>
            <a:spLocks xmlns:a="http://schemas.openxmlformats.org/drawingml/2006/main" noGrp="1"/>
          </p:cNvSpPr>
          <p:nvPr/>
        </p:nvSpPr>
        <p:spPr>
          <a:xfrm xmlns:a="http://schemas.openxmlformats.org/drawingml/2006/main">
            <a:off x="6210300" y="2952750"/>
            <a:ext cx="790575"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8" name="">
            <a:extLst xmlns:a="http://schemas.openxmlformats.org/drawingml/2006/main">
              <a:ext uri="{FF2B5EF4-FFF2-40B4-BE49-F238E27FC236}">
                <a16:creationId xmlns:a16="http://schemas.microsoft.com/office/drawing/2014/main" id="{38F0D21A-9FAF-4810-A816-4BE803506061}"/>
              </a:ext>
            </a:extLst>
          </p:cNvPr>
          <p:cNvSpPr>
            <a:spLocks xmlns:a="http://schemas.openxmlformats.org/drawingml/2006/main" noGrp="1"/>
          </p:cNvSpPr>
          <p:nvPr/>
        </p:nvSpPr>
        <p:spPr>
          <a:xfrm xmlns:a="http://schemas.openxmlformats.org/drawingml/2006/main">
            <a:off x="4495800" y="4305300"/>
            <a:ext cx="1714500" cy="0"/>
          </a:xfrm>
          <a:prstGeom xmlns:a="http://schemas.openxmlformats.org/drawingml/2006/main" prst="line">
            <a:avLst/>
          </a:prstGeom>
          <a:ln xmlns:a="http://schemas.openxmlformats.org/drawingml/2006/main" w="28575">
            <a:solidFill>
              <a:srgbClr val="008B85"/>
            </a:solidFill>
            <a:prstDash val="solid"/>
          </a:ln>
        </p:spPr>
      </p:sp>
      <p:sp>
        <p:nvSpPr>
          <p:cNvPr id="9" name="">
            <a:extLst xmlns:a="http://schemas.openxmlformats.org/drawingml/2006/main">
              <a:ext uri="{FF2B5EF4-FFF2-40B4-BE49-F238E27FC236}">
                <a16:creationId xmlns:a16="http://schemas.microsoft.com/office/drawing/2014/main" id="{AA914EAE-F047-4969-96C7-FCB665A1D2BB}"/>
              </a:ext>
            </a:extLst>
          </p:cNvPr>
          <p:cNvSpPr>
            <a:spLocks xmlns:a="http://schemas.openxmlformats.org/drawingml/2006/main" noGrp="1"/>
          </p:cNvSpPr>
          <p:nvPr/>
        </p:nvSpPr>
        <p:spPr>
          <a:xfrm xmlns:a="http://schemas.openxmlformats.org/drawingml/2006/main">
            <a:off x="6210300" y="3714750"/>
            <a:ext cx="0" cy="590550"/>
          </a:xfrm>
          <a:prstGeom xmlns:a="http://schemas.openxmlformats.org/drawingml/2006/main" prst="line">
            <a:avLst/>
          </a:prstGeom>
          <a:ln xmlns:a="http://schemas.openxmlformats.org/drawingml/2006/main" w="28575">
            <a:solidFill>
              <a:srgbClr val="008B85"/>
            </a:solidFill>
            <a:prstDash val="solid"/>
          </a:ln>
        </p:spPr>
      </p:sp>
      <p:sp>
        <p:nvSpPr>
          <p:cNvPr id="10" name="">
            <a:extLst xmlns:a="http://schemas.openxmlformats.org/drawingml/2006/main">
              <a:ext uri="{FF2B5EF4-FFF2-40B4-BE49-F238E27FC236}">
                <a16:creationId xmlns:a16="http://schemas.microsoft.com/office/drawing/2014/main" id="{211E933E-D7AD-48C8-AD5B-4BB68643B4DE}"/>
              </a:ext>
            </a:extLst>
          </p:cNvPr>
          <p:cNvSpPr>
            <a:spLocks xmlns:a="http://schemas.openxmlformats.org/drawingml/2006/main" noGrp="1"/>
          </p:cNvSpPr>
          <p:nvPr/>
        </p:nvSpPr>
        <p:spPr>
          <a:xfrm xmlns:a="http://schemas.openxmlformats.org/drawingml/2006/main">
            <a:off x="6210300" y="3714750"/>
            <a:ext cx="790575"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1" name="">
            <a:extLst xmlns:a="http://schemas.openxmlformats.org/drawingml/2006/main">
              <a:ext uri="{FF2B5EF4-FFF2-40B4-BE49-F238E27FC236}">
                <a16:creationId xmlns:a16="http://schemas.microsoft.com/office/drawing/2014/main" id="{CA9678C9-0059-460E-95FD-8058410C2BF0}"/>
              </a:ext>
            </a:extLst>
          </p:cNvPr>
          <p:cNvSpPr>
            <a:spLocks xmlns:a="http://schemas.openxmlformats.org/drawingml/2006/main" noGrp="1"/>
          </p:cNvSpPr>
          <p:nvPr/>
        </p:nvSpPr>
        <p:spPr>
          <a:xfrm xmlns:a="http://schemas.openxmlformats.org/drawingml/2006/main">
            <a:off x="7000875" y="2619375"/>
            <a:ext cx="4286250" cy="13811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Попереду C</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залишилося 3 GPU</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V₃(3) = 11</a:t>
            </a:r>
          </a:p>
        </p:txBody>
      </p:sp>
      <p:sp>
        <p:nvSpPr>
          <p:cNvPr id="12" name="">
            <a:extLst xmlns:a="http://schemas.openxmlformats.org/drawingml/2006/main">
              <a:ext uri="{FF2B5EF4-FFF2-40B4-BE49-F238E27FC236}">
                <a16:creationId xmlns:a16="http://schemas.microsoft.com/office/drawing/2014/main" id="{D457CB87-E230-4802-9C53-FF12053480D0}"/>
              </a:ext>
            </a:extLst>
          </p:cNvPr>
          <p:cNvSpPr>
            <a:spLocks xmlns:a="http://schemas.openxmlformats.org/drawingml/2006/main" noGrp="1"/>
          </p:cNvSpPr>
          <p:nvPr/>
        </p:nvSpPr>
        <p:spPr>
          <a:xfrm xmlns:a="http://schemas.openxmlformats.org/drawingml/2006/main">
            <a:off x="685800" y="52387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Користь минулих рішень різна.</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Найкраще продовження однакове, тому V₃(3) обчислюємо один раз.</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39</a:t>
            </a:r>
          </a:p>
        </p:txBody>
      </p:sp>
    </p:spTree>
    <p:extLst>
      <p:ext uri="{BB962C8B-B14F-4D97-AF65-F5344CB8AC3E}">
        <p14:creationId xmlns:p14="http://schemas.microsoft.com/office/powerpoint/2010/main" val="84209326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C524E4D-C00A-4037-8A14-6BD5ACD58F0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Беллман–Форд: шари підзадач</a:t>
            </a:r>
          </a:p>
        </p:txBody>
      </p:sp>
      <p:sp>
        <p:nvSpPr>
          <p:cNvPr id="2" name="">
            <a:extLst xmlns:a="http://schemas.openxmlformats.org/drawingml/2006/main">
              <a:ext uri="{FF2B5EF4-FFF2-40B4-BE49-F238E27FC236}">
                <a16:creationId xmlns:a16="http://schemas.microsoft.com/office/drawing/2014/main" id="{A5FB74B4-7111-4080-AA84-32225F26C3B5}"/>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Це шлях залежностей обчислень. Шар k дозволяє не більше ніж k ребер.</a:t>
            </a:r>
          </a:p>
        </p:txBody>
      </p:sp>
      <p:sp>
        <p:nvSpPr>
          <p:cNvPr id="3" name="">
            <a:extLst xmlns:a="http://schemas.openxmlformats.org/drawingml/2006/main">
              <a:ext uri="{FF2B5EF4-FFF2-40B4-BE49-F238E27FC236}">
                <a16:creationId xmlns:a16="http://schemas.microsoft.com/office/drawing/2014/main" id="{A34E1E1C-0E57-48C2-BA23-7DFF142717FF}"/>
              </a:ext>
            </a:extLst>
          </p:cNvPr>
          <p:cNvSpPr>
            <a:spLocks xmlns:a="http://schemas.openxmlformats.org/drawingml/2006/main" noGrp="1"/>
          </p:cNvSpPr>
          <p:nvPr/>
        </p:nvSpPr>
        <p:spPr>
          <a:xfrm xmlns:a="http://schemas.openxmlformats.org/drawingml/2006/main">
            <a:off x="68580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0</a:t>
            </a:r>
          </a:p>
        </p:txBody>
      </p:sp>
      <p:sp>
        <p:nvSpPr>
          <p:cNvPr id="4" name="">
            <a:extLst xmlns:a="http://schemas.openxmlformats.org/drawingml/2006/main">
              <a:ext uri="{FF2B5EF4-FFF2-40B4-BE49-F238E27FC236}">
                <a16:creationId xmlns:a16="http://schemas.microsoft.com/office/drawing/2014/main" id="{6C54AB92-75F3-4128-8BEB-309FDA71D1FB}"/>
              </a:ext>
            </a:extLst>
          </p:cNvPr>
          <p:cNvSpPr>
            <a:spLocks xmlns:a="http://schemas.openxmlformats.org/drawingml/2006/main" noGrp="1"/>
          </p:cNvSpPr>
          <p:nvPr/>
        </p:nvSpPr>
        <p:spPr>
          <a:xfrm xmlns:a="http://schemas.openxmlformats.org/drawingml/2006/main">
            <a:off x="68580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S: 0</a:t>
            </a:r>
          </a:p>
        </p:txBody>
      </p:sp>
      <p:sp>
        <p:nvSpPr>
          <p:cNvPr id="5" name="">
            <a:extLst xmlns:a="http://schemas.openxmlformats.org/drawingml/2006/main">
              <a:ext uri="{FF2B5EF4-FFF2-40B4-BE49-F238E27FC236}">
                <a16:creationId xmlns:a16="http://schemas.microsoft.com/office/drawing/2014/main" id="{C1652AF3-820D-4F15-8F0C-1581B91A138C}"/>
              </a:ext>
            </a:extLst>
          </p:cNvPr>
          <p:cNvSpPr>
            <a:spLocks xmlns:a="http://schemas.openxmlformats.org/drawingml/2006/main" noGrp="1"/>
          </p:cNvSpPr>
          <p:nvPr/>
        </p:nvSpPr>
        <p:spPr>
          <a:xfrm xmlns:a="http://schemas.openxmlformats.org/drawingml/2006/main">
            <a:off x="259080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6" name="">
            <a:extLst xmlns:a="http://schemas.openxmlformats.org/drawingml/2006/main">
              <a:ext uri="{FF2B5EF4-FFF2-40B4-BE49-F238E27FC236}">
                <a16:creationId xmlns:a16="http://schemas.microsoft.com/office/drawing/2014/main" id="{EDF988D2-3AFA-4F72-A6BD-4DCECE0ADF59}"/>
              </a:ext>
            </a:extLst>
          </p:cNvPr>
          <p:cNvSpPr>
            <a:spLocks xmlns:a="http://schemas.openxmlformats.org/drawingml/2006/main" noGrp="1"/>
          </p:cNvSpPr>
          <p:nvPr/>
        </p:nvSpPr>
        <p:spPr>
          <a:xfrm xmlns:a="http://schemas.openxmlformats.org/drawingml/2006/main">
            <a:off x="287655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1</a:t>
            </a:r>
          </a:p>
        </p:txBody>
      </p:sp>
      <p:sp>
        <p:nvSpPr>
          <p:cNvPr id="7" name="">
            <a:extLst xmlns:a="http://schemas.openxmlformats.org/drawingml/2006/main">
              <a:ext uri="{FF2B5EF4-FFF2-40B4-BE49-F238E27FC236}">
                <a16:creationId xmlns:a16="http://schemas.microsoft.com/office/drawing/2014/main" id="{E07C8EC4-0ECF-4BC1-B720-3D7A2DCDF4C0}"/>
              </a:ext>
            </a:extLst>
          </p:cNvPr>
          <p:cNvSpPr>
            <a:spLocks xmlns:a="http://schemas.openxmlformats.org/drawingml/2006/main" noGrp="1"/>
          </p:cNvSpPr>
          <p:nvPr/>
        </p:nvSpPr>
        <p:spPr>
          <a:xfrm xmlns:a="http://schemas.openxmlformats.org/drawingml/2006/main">
            <a:off x="287655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 4</a:t>
            </a:r>
          </a:p>
        </p:txBody>
      </p:sp>
      <p:sp>
        <p:nvSpPr>
          <p:cNvPr id="8" name="">
            <a:extLst xmlns:a="http://schemas.openxmlformats.org/drawingml/2006/main">
              <a:ext uri="{FF2B5EF4-FFF2-40B4-BE49-F238E27FC236}">
                <a16:creationId xmlns:a16="http://schemas.microsoft.com/office/drawing/2014/main" id="{D95622AB-B996-490D-A8AE-4FD1E9B4088D}"/>
              </a:ext>
            </a:extLst>
          </p:cNvPr>
          <p:cNvSpPr>
            <a:spLocks xmlns:a="http://schemas.openxmlformats.org/drawingml/2006/main" noGrp="1"/>
          </p:cNvSpPr>
          <p:nvPr/>
        </p:nvSpPr>
        <p:spPr>
          <a:xfrm xmlns:a="http://schemas.openxmlformats.org/drawingml/2006/main">
            <a:off x="478155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9" name="">
            <a:extLst xmlns:a="http://schemas.openxmlformats.org/drawingml/2006/main">
              <a:ext uri="{FF2B5EF4-FFF2-40B4-BE49-F238E27FC236}">
                <a16:creationId xmlns:a16="http://schemas.microsoft.com/office/drawing/2014/main" id="{6CF4919A-29A5-4C3F-9686-CF71428B9D30}"/>
              </a:ext>
            </a:extLst>
          </p:cNvPr>
          <p:cNvSpPr>
            <a:spLocks xmlns:a="http://schemas.openxmlformats.org/drawingml/2006/main" noGrp="1"/>
          </p:cNvSpPr>
          <p:nvPr/>
        </p:nvSpPr>
        <p:spPr>
          <a:xfrm xmlns:a="http://schemas.openxmlformats.org/drawingml/2006/main">
            <a:off x="506730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2</a:t>
            </a:r>
          </a:p>
        </p:txBody>
      </p:sp>
      <p:sp>
        <p:nvSpPr>
          <p:cNvPr id="10" name="">
            <a:extLst xmlns:a="http://schemas.openxmlformats.org/drawingml/2006/main">
              <a:ext uri="{FF2B5EF4-FFF2-40B4-BE49-F238E27FC236}">
                <a16:creationId xmlns:a16="http://schemas.microsoft.com/office/drawing/2014/main" id="{9765429D-5975-4AAF-B985-676E21C32462}"/>
              </a:ext>
            </a:extLst>
          </p:cNvPr>
          <p:cNvSpPr>
            <a:spLocks xmlns:a="http://schemas.openxmlformats.org/drawingml/2006/main" noGrp="1"/>
          </p:cNvSpPr>
          <p:nvPr/>
        </p:nvSpPr>
        <p:spPr>
          <a:xfrm xmlns:a="http://schemas.openxmlformats.org/drawingml/2006/main">
            <a:off x="506730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B: 5</a:t>
            </a:r>
          </a:p>
        </p:txBody>
      </p:sp>
      <p:sp>
        <p:nvSpPr>
          <p:cNvPr id="11" name="">
            <a:extLst xmlns:a="http://schemas.openxmlformats.org/drawingml/2006/main">
              <a:ext uri="{FF2B5EF4-FFF2-40B4-BE49-F238E27FC236}">
                <a16:creationId xmlns:a16="http://schemas.microsoft.com/office/drawing/2014/main" id="{005D665E-8541-4606-AA9E-E3162D0D2C7A}"/>
              </a:ext>
            </a:extLst>
          </p:cNvPr>
          <p:cNvSpPr>
            <a:spLocks xmlns:a="http://schemas.openxmlformats.org/drawingml/2006/main" noGrp="1"/>
          </p:cNvSpPr>
          <p:nvPr/>
        </p:nvSpPr>
        <p:spPr>
          <a:xfrm xmlns:a="http://schemas.openxmlformats.org/drawingml/2006/main">
            <a:off x="697230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2" name="">
            <a:extLst xmlns:a="http://schemas.openxmlformats.org/drawingml/2006/main">
              <a:ext uri="{FF2B5EF4-FFF2-40B4-BE49-F238E27FC236}">
                <a16:creationId xmlns:a16="http://schemas.microsoft.com/office/drawing/2014/main" id="{BB47B2F1-C6B9-45F2-A429-A2AACDAF39DE}"/>
              </a:ext>
            </a:extLst>
          </p:cNvPr>
          <p:cNvSpPr>
            <a:spLocks xmlns:a="http://schemas.openxmlformats.org/drawingml/2006/main" noGrp="1"/>
          </p:cNvSpPr>
          <p:nvPr/>
        </p:nvSpPr>
        <p:spPr>
          <a:xfrm xmlns:a="http://schemas.openxmlformats.org/drawingml/2006/main">
            <a:off x="725805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3</a:t>
            </a:r>
          </a:p>
        </p:txBody>
      </p:sp>
      <p:sp>
        <p:nvSpPr>
          <p:cNvPr id="13" name="">
            <a:extLst xmlns:a="http://schemas.openxmlformats.org/drawingml/2006/main">
              <a:ext uri="{FF2B5EF4-FFF2-40B4-BE49-F238E27FC236}">
                <a16:creationId xmlns:a16="http://schemas.microsoft.com/office/drawing/2014/main" id="{32973462-AE08-45FB-B9B3-8AFB42DCB557}"/>
              </a:ext>
            </a:extLst>
          </p:cNvPr>
          <p:cNvSpPr>
            <a:spLocks xmlns:a="http://schemas.openxmlformats.org/drawingml/2006/main" noGrp="1"/>
          </p:cNvSpPr>
          <p:nvPr/>
        </p:nvSpPr>
        <p:spPr>
          <a:xfrm xmlns:a="http://schemas.openxmlformats.org/drawingml/2006/main">
            <a:off x="725805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C: 6</a:t>
            </a:r>
          </a:p>
        </p:txBody>
      </p:sp>
      <p:sp>
        <p:nvSpPr>
          <p:cNvPr id="14" name="">
            <a:extLst xmlns:a="http://schemas.openxmlformats.org/drawingml/2006/main">
              <a:ext uri="{FF2B5EF4-FFF2-40B4-BE49-F238E27FC236}">
                <a16:creationId xmlns:a16="http://schemas.microsoft.com/office/drawing/2014/main" id="{80FA7F6E-4BFD-4F6C-B1E3-9EC9EE3609FF}"/>
              </a:ext>
            </a:extLst>
          </p:cNvPr>
          <p:cNvSpPr>
            <a:spLocks xmlns:a="http://schemas.openxmlformats.org/drawingml/2006/main" noGrp="1"/>
          </p:cNvSpPr>
          <p:nvPr/>
        </p:nvSpPr>
        <p:spPr>
          <a:xfrm xmlns:a="http://schemas.openxmlformats.org/drawingml/2006/main">
            <a:off x="916305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5" name="">
            <a:extLst xmlns:a="http://schemas.openxmlformats.org/drawingml/2006/main">
              <a:ext uri="{FF2B5EF4-FFF2-40B4-BE49-F238E27FC236}">
                <a16:creationId xmlns:a16="http://schemas.microsoft.com/office/drawing/2014/main" id="{C928DC9A-ECCA-48C9-BC66-73C914A72F04}"/>
              </a:ext>
            </a:extLst>
          </p:cNvPr>
          <p:cNvSpPr>
            <a:spLocks xmlns:a="http://schemas.openxmlformats.org/drawingml/2006/main" noGrp="1"/>
          </p:cNvSpPr>
          <p:nvPr/>
        </p:nvSpPr>
        <p:spPr>
          <a:xfrm xmlns:a="http://schemas.openxmlformats.org/drawingml/2006/main">
            <a:off x="944880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4</a:t>
            </a:r>
          </a:p>
        </p:txBody>
      </p:sp>
      <p:sp>
        <p:nvSpPr>
          <p:cNvPr id="16" name="">
            <a:extLst xmlns:a="http://schemas.openxmlformats.org/drawingml/2006/main">
              <a:ext uri="{FF2B5EF4-FFF2-40B4-BE49-F238E27FC236}">
                <a16:creationId xmlns:a16="http://schemas.microsoft.com/office/drawing/2014/main" id="{8F447215-BE27-4162-9AEA-450121225919}"/>
              </a:ext>
            </a:extLst>
          </p:cNvPr>
          <p:cNvSpPr>
            <a:spLocks xmlns:a="http://schemas.openxmlformats.org/drawingml/2006/main" noGrp="1"/>
          </p:cNvSpPr>
          <p:nvPr/>
        </p:nvSpPr>
        <p:spPr>
          <a:xfrm xmlns:a="http://schemas.openxmlformats.org/drawingml/2006/main">
            <a:off x="944880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T: 7</a:t>
            </a:r>
          </a:p>
        </p:txBody>
      </p:sp>
      <p:sp>
        <p:nvSpPr>
          <p:cNvPr id="17" name="">
            <a:extLst xmlns:a="http://schemas.openxmlformats.org/drawingml/2006/main">
              <a:ext uri="{FF2B5EF4-FFF2-40B4-BE49-F238E27FC236}">
                <a16:creationId xmlns:a16="http://schemas.microsoft.com/office/drawing/2014/main" id="{856107F9-1235-49A8-AF6E-98DA0891AD6B}"/>
              </a:ext>
            </a:extLst>
          </p:cNvPr>
          <p:cNvSpPr>
            <a:spLocks xmlns:a="http://schemas.openxmlformats.org/drawingml/2006/main" noGrp="1"/>
          </p:cNvSpPr>
          <p:nvPr/>
        </p:nvSpPr>
        <p:spPr>
          <a:xfrm xmlns:a="http://schemas.openxmlformats.org/drawingml/2006/main">
            <a:off x="685800" y="41910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75" b="0">
                <a:solidFill>
                  <a:srgbClr val="193247"/>
                </a:solidFill>
                <a:latin typeface="Arial"/>
                <a:ea typeface="Arial"/>
                <a:cs typeface="Arial"/>
              </a:defRPr>
            </a:defPPr>
          </a:lstStyle>
          <a:p xmlns:a="http://schemas.openxmlformats.org/drawingml/2006/main">
            <a:pPr>
              <a:defRPr sz="2475" b="0">
                <a:solidFill>
                  <a:srgbClr val="193247"/>
                </a:solidFill>
                <a:latin typeface="Arial"/>
                <a:ea typeface="Arial"/>
                <a:cs typeface="Arial"/>
              </a:defRPr>
            </a:pPr>
            <a:r>
              <a:rPr sz="2475" b="0">
                <a:solidFill>
                  <a:srgbClr val="193247"/>
                </a:solidFill>
                <a:latin typeface="Arial"/>
                <a:ea typeface="Arial"/>
                <a:cs typeface="Arial"/>
              </a:rPr>
              <a:t>Кожне нове значення використовує попередній шар.</a:t>
            </a:r>
          </a:p>
          <a:p xmlns:a="http://schemas.openxmlformats.org/drawingml/2006/main">
            <a:pPr>
              <a:defRPr sz="2475" b="0">
                <a:solidFill>
                  <a:srgbClr val="193247"/>
                </a:solidFill>
                <a:latin typeface="Arial"/>
                <a:ea typeface="Arial"/>
                <a:cs typeface="Arial"/>
              </a:defRPr>
            </a:pPr>
            <a:r>
              <a:rPr sz="2475" b="0">
                <a:solidFill>
                  <a:srgbClr val="193247"/>
                </a:solidFill>
                <a:latin typeface="Arial"/>
                <a:ea typeface="Arial"/>
                <a:cs typeface="Arial"/>
              </a:rPr>
              <a:t>Наприклад, d₃(C) = d₂(B) + 1 = 5 + 1 = 6.</a:t>
            </a:r>
          </a:p>
        </p:txBody>
      </p:sp>
      <p:sp>
        <p:nvSpPr>
          <p:cNvPr id="18" name="">
            <a:extLst xmlns:a="http://schemas.openxmlformats.org/drawingml/2006/main">
              <a:ext uri="{FF2B5EF4-FFF2-40B4-BE49-F238E27FC236}">
                <a16:creationId xmlns:a16="http://schemas.microsoft.com/office/drawing/2014/main" id="{1C3478F8-B8DC-47A8-870B-09EA99EFB4A8}"/>
              </a:ext>
            </a:extLst>
          </p:cNvPr>
          <p:cNvSpPr>
            <a:spLocks xmlns:a="http://schemas.openxmlformats.org/drawingml/2006/main" noGrp="1"/>
          </p:cNvSpPr>
          <p:nvPr/>
        </p:nvSpPr>
        <p:spPr>
          <a:xfrm xmlns:a="http://schemas.openxmlformats.org/drawingml/2006/main">
            <a:off x="685800" y="52863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56B80"/>
                </a:solidFill>
                <a:latin typeface="Arial"/>
                <a:ea typeface="Arial"/>
                <a:cs typeface="Arial"/>
              </a:defRPr>
            </a:defPPr>
          </a:lstStyle>
          <a:p xmlns:a="http://schemas.openxmlformats.org/drawingml/2006/main">
            <a:pPr>
              <a:defRPr sz="2025" b="0">
                <a:solidFill>
                  <a:srgbClr val="556B80"/>
                </a:solidFill>
                <a:latin typeface="Arial"/>
                <a:ea typeface="Arial"/>
                <a:cs typeface="Arial"/>
              </a:defRPr>
            </a:pPr>
            <a:r>
              <a:rPr sz="2025" b="0">
                <a:solidFill>
                  <a:srgbClr val="556B80"/>
                </a:solidFill>
                <a:latin typeface="Arial"/>
                <a:ea typeface="Arial"/>
                <a:cs typeface="Arial"/>
              </a:rPr>
              <a:t>Показано лише залежності оптимального маршруту. У повній таблиці є всі вершини кожного шару.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66</a:t>
            </a:r>
          </a:p>
        </p:txBody>
      </p:sp>
    </p:spTree>
    <p:extLst>
      <p:ext uri="{BB962C8B-B14F-4D97-AF65-F5344CB8AC3E}">
        <p14:creationId xmlns:p14="http://schemas.microsoft.com/office/powerpoint/2010/main" val="9675653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D1E923-5B3C-45DF-ACCC-526F5723266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рівняння Беллмана між маршрутизаторами</a:t>
            </a:r>
          </a:p>
        </p:txBody>
      </p:sp>
      <p:sp>
        <p:nvSpPr>
          <p:cNvPr id="2" name="">
            <a:extLst xmlns:a="http://schemas.openxmlformats.org/drawingml/2006/main">
              <a:ext uri="{FF2B5EF4-FFF2-40B4-BE49-F238E27FC236}">
                <a16:creationId xmlns:a16="http://schemas.microsoft.com/office/drawing/2014/main" id="{BD8983D0-C72C-4054-BD44-C5E4CDC59841}"/>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Маршрутизатор зберігає оцінку відстані та наступний вузол для кожної мережі.</a:t>
            </a:r>
          </a:p>
        </p:txBody>
      </p:sp>
      <p:sp>
        <p:nvSpPr>
          <p:cNvPr id="3" name="">
            <a:extLst xmlns:a="http://schemas.openxmlformats.org/drawingml/2006/main">
              <a:ext uri="{FF2B5EF4-FFF2-40B4-BE49-F238E27FC236}">
                <a16:creationId xmlns:a16="http://schemas.microsoft.com/office/drawing/2014/main" id="{2672C7F6-BDED-48D0-9C74-6ED1AA0E41D4}"/>
              </a:ext>
            </a:extLst>
          </p:cNvPr>
          <p:cNvSpPr>
            <a:spLocks xmlns:a="http://schemas.openxmlformats.org/drawingml/2006/main" noGrp="1"/>
          </p:cNvSpPr>
          <p:nvPr/>
        </p:nvSpPr>
        <p:spPr>
          <a:xfrm xmlns:a="http://schemas.openxmlformats.org/drawingml/2006/main">
            <a:off x="685800" y="171450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Задача: доставити пакет до мережі N через сусідні маршрутизатори.</a:t>
            </a:r>
          </a:p>
        </p:txBody>
      </p:sp>
      <p:graphicFrame>
        <p:nvGraphicFramePr>
          <p:cNvPr id="4" name="">
            <a:extLst xmlns:a="http://schemas.openxmlformats.org/drawingml/2006/main">
              <a:ext uri="{FF2B5EF4-FFF2-40B4-BE49-F238E27FC236}">
                <a16:creationId xmlns:a16="http://schemas.microsoft.com/office/drawing/2014/main" id="{EA43ACEB-1B81-4732-89AD-5864DC0C37E2}"/>
              </a:ext>
            </a:extLst>
          </p:cNvPr>
          <p:cNvGraphicFramePr/>
          <p:nvPr/>
        </p:nvGraphicFramePr>
        <p:xfrm>
          <a:off xmlns:a="http://schemas.openxmlformats.org/drawingml/2006/main" x="685800" y="2857500"/>
          <a:ext xmlns:a="http://schemas.openxmlformats.org/drawingml/2006/main" cx="10820400" cy="2714625"/>
        </p:xfrm>
        <a:graphic xmlns:a="http://schemas.openxmlformats.org/drawingml/2006/main">
          <a:graphicData uri="http://schemas.openxmlformats.org/drawingml/2006/table">
            <a:tbl>
              <a:tblPr/>
              <a:tblGrid>
                <a:gridCol w="4572000"/>
                <a:gridCol w="6248400"/>
              </a:tblGrid>
              <a:tr h="678656">
                <a:tc>
                  <a:txBody>
                    <a:bodyPr/>
                    <a:lstStyle/>
                    <a:p>
                      <a:r>
                        <a:rPr sz="2025" b="1">
                          <a:solidFill>
                            <a:srgbClr val="FFFFFF"/>
                          </a:solidFill>
                          <a:latin typeface="Arial"/>
                          <a:ea typeface="Arial"/>
                          <a:cs typeface="Arial"/>
                        </a:rPr>
                        <a:t>ДП у таблиці</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Розподілений розрахунок RIP</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78656">
                <a:tc>
                  <a:txBody>
                    <a:bodyPr/>
                    <a:lstStyle/>
                    <a:p>
                      <a:r>
                        <a:rPr sz="2025" b="0">
                          <a:solidFill>
                            <a:srgbClr val="193247"/>
                          </a:solidFill>
                          <a:latin typeface="Arial"/>
                          <a:ea typeface="Arial"/>
                          <a:cs typeface="Arial"/>
                        </a:rPr>
                        <a:t>Готова відповідь підзадачі</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Оголошена сусідом відстань до N</a:t>
                      </a:r>
                    </a:p>
                  </a:txBody>
                  <a:tcPr marL="91440" marR="91440" marT="45720" marB="45720">
                    <a:lnR w="9525">
                      <a:solidFill>
                        <a:srgbClr val="A8B7C0"/>
                      </a:solidFill>
                      <a:prstDash val="solid"/>
                    </a:lnR>
                    <a:lnB w="9525">
                      <a:solidFill>
                        <a:srgbClr val="A8B7C0"/>
                      </a:solidFill>
                      <a:prstDash val="solid"/>
                    </a:lnB>
                    <a:solidFill>
                      <a:srgbClr val="FFFFFF"/>
                    </a:solidFill>
                  </a:tcPr>
                </a:tc>
              </a:tr>
              <a:tr h="678656">
                <a:tc>
                  <a:txBody>
                    <a:bodyPr/>
                    <a:lstStyle/>
                    <a:p>
                      <a:r>
                        <a:rPr sz="2025" b="0">
                          <a:solidFill>
                            <a:srgbClr val="193247"/>
                          </a:solidFill>
                          <a:latin typeface="Arial"/>
                          <a:ea typeface="Arial"/>
                          <a:cs typeface="Arial"/>
                        </a:rPr>
                        <a:t>Перевірка варіантів</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Порівняння маршрутів через сусідів</a:t>
                      </a:r>
                    </a:p>
                  </a:txBody>
                  <a:tcPr marL="91440" marR="91440" marT="45720" marB="45720">
                    <a:lnR w="9525">
                      <a:solidFill>
                        <a:srgbClr val="A8B7C0"/>
                      </a:solidFill>
                      <a:prstDash val="solid"/>
                    </a:lnR>
                    <a:lnB w="9525">
                      <a:solidFill>
                        <a:srgbClr val="A8B7C0"/>
                      </a:solidFill>
                      <a:prstDash val="solid"/>
                    </a:lnB>
                    <a:solidFill>
                      <a:srgbClr val="FFFFFF"/>
                    </a:solidFill>
                  </a:tcPr>
                </a:tc>
              </a:tr>
              <a:tr h="678656">
                <a:tc>
                  <a:txBody>
                    <a:bodyPr/>
                    <a:lstStyle/>
                    <a:p>
                      <a:r>
                        <a:rPr sz="2025" b="0">
                          <a:solidFill>
                            <a:srgbClr val="193247"/>
                          </a:solidFill>
                          <a:latin typeface="Arial"/>
                          <a:ea typeface="Arial"/>
                          <a:cs typeface="Arial"/>
                        </a:rPr>
                        <a:t>Збережене рішення</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Наступний маршрутизатор (next hop)</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79</a:t>
            </a:r>
          </a:p>
        </p:txBody>
      </p:sp>
    </p:spTree>
    <p:extLst>
      <p:ext uri="{BB962C8B-B14F-4D97-AF65-F5344CB8AC3E}">
        <p14:creationId xmlns:p14="http://schemas.microsoft.com/office/powerpoint/2010/main" val="5466480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A36CD8D-8B4A-408F-9FFF-B638C4C6350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мережа N підключена до R4</a:t>
            </a:r>
          </a:p>
        </p:txBody>
      </p:sp>
      <p:sp>
        <p:nvSpPr>
          <p:cNvPr id="2" name="">
            <a:extLst xmlns:a="http://schemas.openxmlformats.org/drawingml/2006/main">
              <a:ext uri="{FF2B5EF4-FFF2-40B4-BE49-F238E27FC236}">
                <a16:creationId xmlns:a16="http://schemas.microsoft.com/office/drawing/2014/main" id="{F8A036C7-889C-47E7-BB13-34BB520A8B1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R4 знає пряму мережу з метрикою 1. Для інших N спочатку недосяжна.</a:t>
            </a:r>
          </a:p>
        </p:txBody>
      </p:sp>
      <p:sp>
        <p:nvSpPr>
          <p:cNvPr id="3" name="">
            <a:extLst xmlns:a="http://schemas.openxmlformats.org/drawingml/2006/main">
              <a:ext uri="{FF2B5EF4-FFF2-40B4-BE49-F238E27FC236}">
                <a16:creationId xmlns:a16="http://schemas.microsoft.com/office/drawing/2014/main" id="{305F4B6F-24DF-45D5-8DBF-76F7047C2301}"/>
              </a:ext>
            </a:extLst>
          </p:cNvPr>
          <p:cNvSpPr>
            <a:spLocks xmlns:a="http://schemas.openxmlformats.org/drawingml/2006/main" noGrp="1"/>
          </p:cNvSpPr>
          <p:nvPr/>
        </p:nvSpPr>
        <p:spPr>
          <a:xfrm xmlns:a="http://schemas.openxmlformats.org/drawingml/2006/main">
            <a:off x="11430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4" name="">
            <a:extLst xmlns:a="http://schemas.openxmlformats.org/drawingml/2006/main">
              <a:ext uri="{FF2B5EF4-FFF2-40B4-BE49-F238E27FC236}">
                <a16:creationId xmlns:a16="http://schemas.microsoft.com/office/drawing/2014/main" id="{78790FFF-2F9F-4A50-8860-A8C1FCDB89BB}"/>
              </a:ext>
            </a:extLst>
          </p:cNvPr>
          <p:cNvSpPr>
            <a:spLocks xmlns:a="http://schemas.openxmlformats.org/drawingml/2006/main" noGrp="1"/>
          </p:cNvSpPr>
          <p:nvPr/>
        </p:nvSpPr>
        <p:spPr>
          <a:xfrm xmlns:a="http://schemas.openxmlformats.org/drawingml/2006/main">
            <a:off x="13239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5" name="">
            <a:extLst xmlns:a="http://schemas.openxmlformats.org/drawingml/2006/main">
              <a:ext uri="{FF2B5EF4-FFF2-40B4-BE49-F238E27FC236}">
                <a16:creationId xmlns:a16="http://schemas.microsoft.com/office/drawing/2014/main" id="{A1F40B74-C724-4009-842E-BA37E9C5EE52}"/>
              </a:ext>
            </a:extLst>
          </p:cNvPr>
          <p:cNvSpPr>
            <a:spLocks xmlns:a="http://schemas.openxmlformats.org/drawingml/2006/main" noGrp="1"/>
          </p:cNvSpPr>
          <p:nvPr/>
        </p:nvSpPr>
        <p:spPr>
          <a:xfrm xmlns:a="http://schemas.openxmlformats.org/drawingml/2006/main" rot="0">
            <a:off x="2143125" y="2886075"/>
            <a:ext cx="1428750" cy="3810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94D877-6AD0-4D2C-8073-98991E3FC149}"/>
              </a:ext>
            </a:extLst>
          </p:cNvPr>
          <p:cNvSpPr>
            <a:spLocks xmlns:a="http://schemas.openxmlformats.org/drawingml/2006/main" noGrp="1"/>
          </p:cNvSpPr>
          <p:nvPr/>
        </p:nvSpPr>
        <p:spPr>
          <a:xfrm xmlns:a="http://schemas.openxmlformats.org/drawingml/2006/main">
            <a:off x="2667000" y="24288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FD286A70-57E3-458D-853B-89D734058A3A}"/>
              </a:ext>
            </a:extLst>
          </p:cNvPr>
          <p:cNvSpPr>
            <a:spLocks xmlns:a="http://schemas.openxmlformats.org/drawingml/2006/main" noGrp="1"/>
          </p:cNvSpPr>
          <p:nvPr/>
        </p:nvSpPr>
        <p:spPr>
          <a:xfrm xmlns:a="http://schemas.openxmlformats.org/drawingml/2006/main">
            <a:off x="36195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8" name="">
            <a:extLst xmlns:a="http://schemas.openxmlformats.org/drawingml/2006/main">
              <a:ext uri="{FF2B5EF4-FFF2-40B4-BE49-F238E27FC236}">
                <a16:creationId xmlns:a16="http://schemas.microsoft.com/office/drawing/2014/main" id="{3DBA0A4F-308F-4306-AE50-FEBB749AB5BF}"/>
              </a:ext>
            </a:extLst>
          </p:cNvPr>
          <p:cNvSpPr>
            <a:spLocks xmlns:a="http://schemas.openxmlformats.org/drawingml/2006/main" noGrp="1"/>
          </p:cNvSpPr>
          <p:nvPr/>
        </p:nvSpPr>
        <p:spPr>
          <a:xfrm xmlns:a="http://schemas.openxmlformats.org/drawingml/2006/main">
            <a:off x="38004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9" name="">
            <a:extLst xmlns:a="http://schemas.openxmlformats.org/drawingml/2006/main">
              <a:ext uri="{FF2B5EF4-FFF2-40B4-BE49-F238E27FC236}">
                <a16:creationId xmlns:a16="http://schemas.microsoft.com/office/drawing/2014/main" id="{D53567D0-0F89-4DE5-B59B-344B56D8447A}"/>
              </a:ext>
            </a:extLst>
          </p:cNvPr>
          <p:cNvSpPr>
            <a:spLocks xmlns:a="http://schemas.openxmlformats.org/drawingml/2006/main" noGrp="1"/>
          </p:cNvSpPr>
          <p:nvPr/>
        </p:nvSpPr>
        <p:spPr>
          <a:xfrm xmlns:a="http://schemas.openxmlformats.org/drawingml/2006/main" rot="0">
            <a:off x="4619625" y="2886075"/>
            <a:ext cx="1428750" cy="3810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4CF6293-BD24-4551-A4F4-27A3169E3247}"/>
              </a:ext>
            </a:extLst>
          </p:cNvPr>
          <p:cNvSpPr>
            <a:spLocks xmlns:a="http://schemas.openxmlformats.org/drawingml/2006/main" noGrp="1"/>
          </p:cNvSpPr>
          <p:nvPr/>
        </p:nvSpPr>
        <p:spPr>
          <a:xfrm xmlns:a="http://schemas.openxmlformats.org/drawingml/2006/main">
            <a:off x="5143500" y="24288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E86B2BD2-6D5A-4541-BF5B-B0FAA02B2CA5}"/>
              </a:ext>
            </a:extLst>
          </p:cNvPr>
          <p:cNvSpPr>
            <a:spLocks xmlns:a="http://schemas.openxmlformats.org/drawingml/2006/main" noGrp="1"/>
          </p:cNvSpPr>
          <p:nvPr/>
        </p:nvSpPr>
        <p:spPr>
          <a:xfrm xmlns:a="http://schemas.openxmlformats.org/drawingml/2006/main">
            <a:off x="60960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2" name="">
            <a:extLst xmlns:a="http://schemas.openxmlformats.org/drawingml/2006/main">
              <a:ext uri="{FF2B5EF4-FFF2-40B4-BE49-F238E27FC236}">
                <a16:creationId xmlns:a16="http://schemas.microsoft.com/office/drawing/2014/main" id="{4CA36A69-5B7F-474B-ACDF-A2755E7B629A}"/>
              </a:ext>
            </a:extLst>
          </p:cNvPr>
          <p:cNvSpPr>
            <a:spLocks xmlns:a="http://schemas.openxmlformats.org/drawingml/2006/main" noGrp="1"/>
          </p:cNvSpPr>
          <p:nvPr/>
        </p:nvSpPr>
        <p:spPr>
          <a:xfrm xmlns:a="http://schemas.openxmlformats.org/drawingml/2006/main">
            <a:off x="62769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13" name="">
            <a:extLst xmlns:a="http://schemas.openxmlformats.org/drawingml/2006/main">
              <a:ext uri="{FF2B5EF4-FFF2-40B4-BE49-F238E27FC236}">
                <a16:creationId xmlns:a16="http://schemas.microsoft.com/office/drawing/2014/main" id="{6DEA8A02-6359-4F20-814C-BFD4553F0E01}"/>
              </a:ext>
            </a:extLst>
          </p:cNvPr>
          <p:cNvSpPr>
            <a:spLocks xmlns:a="http://schemas.openxmlformats.org/drawingml/2006/main" noGrp="1"/>
          </p:cNvSpPr>
          <p:nvPr/>
        </p:nvSpPr>
        <p:spPr>
          <a:xfrm xmlns:a="http://schemas.openxmlformats.org/drawingml/2006/main" rot="0">
            <a:off x="7096125" y="2886075"/>
            <a:ext cx="1428750" cy="3810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623BE0D-3AC9-45EF-9431-19695DCA79D4}"/>
              </a:ext>
            </a:extLst>
          </p:cNvPr>
          <p:cNvSpPr>
            <a:spLocks xmlns:a="http://schemas.openxmlformats.org/drawingml/2006/main" noGrp="1"/>
          </p:cNvSpPr>
          <p:nvPr/>
        </p:nvSpPr>
        <p:spPr>
          <a:xfrm xmlns:a="http://schemas.openxmlformats.org/drawingml/2006/main">
            <a:off x="7620000" y="24288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F09A43DD-4C0E-42F3-A9EF-16E322F2EB69}"/>
              </a:ext>
            </a:extLst>
          </p:cNvPr>
          <p:cNvSpPr>
            <a:spLocks xmlns:a="http://schemas.openxmlformats.org/drawingml/2006/main" noGrp="1"/>
          </p:cNvSpPr>
          <p:nvPr/>
        </p:nvSpPr>
        <p:spPr>
          <a:xfrm xmlns:a="http://schemas.openxmlformats.org/drawingml/2006/main">
            <a:off x="8572500" y="2524125"/>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6" name="">
            <a:extLst xmlns:a="http://schemas.openxmlformats.org/drawingml/2006/main">
              <a:ext uri="{FF2B5EF4-FFF2-40B4-BE49-F238E27FC236}">
                <a16:creationId xmlns:a16="http://schemas.microsoft.com/office/drawing/2014/main" id="{D7A8134E-5213-4AA5-9257-3CD6DE85CC2C}"/>
              </a:ext>
            </a:extLst>
          </p:cNvPr>
          <p:cNvSpPr>
            <a:spLocks xmlns:a="http://schemas.openxmlformats.org/drawingml/2006/main" noGrp="1"/>
          </p:cNvSpPr>
          <p:nvPr/>
        </p:nvSpPr>
        <p:spPr>
          <a:xfrm xmlns:a="http://schemas.openxmlformats.org/drawingml/2006/main">
            <a:off x="8753475"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17" name="">
            <a:extLst xmlns:a="http://schemas.openxmlformats.org/drawingml/2006/main">
              <a:ext uri="{FF2B5EF4-FFF2-40B4-BE49-F238E27FC236}">
                <a16:creationId xmlns:a16="http://schemas.microsoft.com/office/drawing/2014/main" id="{CB5490C3-DF7A-495B-B1DA-33B8DD548E07}"/>
              </a:ext>
            </a:extLst>
          </p:cNvPr>
          <p:cNvSpPr>
            <a:spLocks xmlns:a="http://schemas.openxmlformats.org/drawingml/2006/main" noGrp="1"/>
          </p:cNvSpPr>
          <p:nvPr/>
        </p:nvSpPr>
        <p:spPr>
          <a:xfrm xmlns:a="http://schemas.openxmlformats.org/drawingml/2006/main" rot="0">
            <a:off x="9572625" y="2857500"/>
            <a:ext cx="5238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43D761-F5FE-4312-BB78-678FE60853E1}"/>
              </a:ext>
            </a:extLst>
          </p:cNvPr>
          <p:cNvSpPr>
            <a:spLocks xmlns:a="http://schemas.openxmlformats.org/drawingml/2006/main" noGrp="1"/>
          </p:cNvSpPr>
          <p:nvPr/>
        </p:nvSpPr>
        <p:spPr>
          <a:xfrm xmlns:a="http://schemas.openxmlformats.org/drawingml/2006/main">
            <a:off x="10191750" y="2638425"/>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19" name="">
            <a:extLst xmlns:a="http://schemas.openxmlformats.org/drawingml/2006/main">
              <a:ext uri="{FF2B5EF4-FFF2-40B4-BE49-F238E27FC236}">
                <a16:creationId xmlns:a16="http://schemas.microsoft.com/office/drawing/2014/main" id="{626B7BE2-FA4B-4A54-BA4D-42945621A0E9}"/>
              </a:ext>
            </a:extLst>
          </p:cNvPr>
          <p:cNvSpPr>
            <a:spLocks xmlns:a="http://schemas.openxmlformats.org/drawingml/2006/main" noGrp="1"/>
          </p:cNvSpPr>
          <p:nvPr/>
        </p:nvSpPr>
        <p:spPr>
          <a:xfrm xmlns:a="http://schemas.openxmlformats.org/drawingml/2006/main">
            <a:off x="685800" y="40005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Метрики до N:</a:t>
            </a:r>
          </a:p>
        </p:txBody>
      </p:sp>
      <p:sp>
        <p:nvSpPr>
          <p:cNvPr id="20" name="">
            <a:extLst xmlns:a="http://schemas.openxmlformats.org/drawingml/2006/main">
              <a:ext uri="{FF2B5EF4-FFF2-40B4-BE49-F238E27FC236}">
                <a16:creationId xmlns:a16="http://schemas.microsoft.com/office/drawing/2014/main" id="{1BFB9CE0-4F67-4E62-B239-9C87E198AEAE}"/>
              </a:ext>
            </a:extLst>
          </p:cNvPr>
          <p:cNvSpPr>
            <a:spLocks xmlns:a="http://schemas.openxmlformats.org/drawingml/2006/main" noGrp="1"/>
          </p:cNvSpPr>
          <p:nvPr/>
        </p:nvSpPr>
        <p:spPr>
          <a:xfrm xmlns:a="http://schemas.openxmlformats.org/drawingml/2006/main">
            <a:off x="685800" y="48101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R1: 16       R2: 16       R3: 16       R4: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80</a:t>
            </a:r>
          </a:p>
        </p:txBody>
      </p:sp>
    </p:spTree>
    <p:extLst>
      <p:ext uri="{BB962C8B-B14F-4D97-AF65-F5344CB8AC3E}">
        <p14:creationId xmlns:p14="http://schemas.microsoft.com/office/powerpoint/2010/main" val="1269250339"/>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C671E-87B2-485A-A9AD-4B23AAF8CEFD}"/>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як обробити повідомлення сусіда</a:t>
            </a:r>
          </a:p>
        </p:txBody>
      </p:sp>
      <p:sp>
        <p:nvSpPr>
          <p:cNvPr id="2" name="">
            <a:extLst xmlns:a="http://schemas.openxmlformats.org/drawingml/2006/main">
              <a:ext uri="{FF2B5EF4-FFF2-40B4-BE49-F238E27FC236}">
                <a16:creationId xmlns:a16="http://schemas.microsoft.com/office/drawing/2014/main" id="{3187F297-CA8A-4A31-8AF8-5FAEFB4AA9CB}"/>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RIP метрики 1…15 означають досяжний маршрут, 16 — недосяжність.</a:t>
            </a:r>
          </a:p>
        </p:txBody>
      </p:sp>
      <p:sp>
        <p:nvSpPr>
          <p:cNvPr id="3" name="">
            <a:extLst xmlns:a="http://schemas.openxmlformats.org/drawingml/2006/main">
              <a:ext uri="{FF2B5EF4-FFF2-40B4-BE49-F238E27FC236}">
                <a16:creationId xmlns:a16="http://schemas.microsoft.com/office/drawing/2014/main" id="{4307D6C9-B88F-45A5-9A40-9EC11DA229AE}"/>
              </a:ext>
            </a:extLst>
          </p:cNvPr>
          <p:cNvSpPr>
            <a:spLocks xmlns:a="http://schemas.openxmlformats.org/drawingml/2006/main" noGrp="1"/>
          </p:cNvSpPr>
          <p:nvPr/>
        </p:nvSpPr>
        <p:spPr>
          <a:xfrm xmlns:a="http://schemas.openxmlformats.org/drawingml/2006/main">
            <a:off x="685800" y="1666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R3 отримав від R4: «до мережі N моя метрика 1».</a:t>
            </a:r>
          </a:p>
        </p:txBody>
      </p:sp>
      <p:sp>
        <p:nvSpPr>
          <p:cNvPr id="4" name="">
            <a:extLst xmlns:a="http://schemas.openxmlformats.org/drawingml/2006/main">
              <a:ext uri="{FF2B5EF4-FFF2-40B4-BE49-F238E27FC236}">
                <a16:creationId xmlns:a16="http://schemas.microsoft.com/office/drawing/2014/main" id="{B6772E75-2335-4BDD-B948-1C5D29B8F21C}"/>
              </a:ext>
            </a:extLst>
          </p:cNvPr>
          <p:cNvSpPr>
            <a:spLocks xmlns:a="http://schemas.openxmlformats.org/drawingml/2006/main" noGrp="1"/>
          </p:cNvSpPr>
          <p:nvPr/>
        </p:nvSpPr>
        <p:spPr>
          <a:xfrm xmlns:a="http://schemas.openxmlformats.org/drawingml/2006/main">
            <a:off x="685800" y="26193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008B85"/>
                </a:solidFill>
                <a:latin typeface="Arial"/>
                <a:ea typeface="Arial"/>
                <a:cs typeface="Arial"/>
              </a:defRPr>
            </a:defPPr>
          </a:lstStyle>
          <a:p xmlns:a="http://schemas.openxmlformats.org/drawingml/2006/main">
            <a:pPr>
              <a:defRPr sz="3225" b="1">
                <a:solidFill>
                  <a:srgbClr val="008B85"/>
                </a:solidFill>
                <a:latin typeface="Arial"/>
                <a:ea typeface="Arial"/>
                <a:cs typeface="Arial"/>
              </a:defRPr>
            </a:pPr>
            <a:r>
              <a:rPr sz="3225" b="1">
                <a:solidFill>
                  <a:srgbClr val="008B85"/>
                </a:solidFill>
                <a:latin typeface="Arial"/>
                <a:ea typeface="Arial"/>
                <a:cs typeface="Arial"/>
              </a:rPr>
              <a:t>Кандидат R3: 1 + 1 = 2</a:t>
            </a:r>
          </a:p>
        </p:txBody>
      </p:sp>
      <p:graphicFrame>
        <p:nvGraphicFramePr>
          <p:cNvPr id="5" name="">
            <a:extLst xmlns:a="http://schemas.openxmlformats.org/drawingml/2006/main">
              <a:ext uri="{FF2B5EF4-FFF2-40B4-BE49-F238E27FC236}">
                <a16:creationId xmlns:a16="http://schemas.microsoft.com/office/drawing/2014/main" id="{8EC1B655-EF9E-4B57-97EA-FD5423A93302}"/>
              </a:ext>
            </a:extLst>
          </p:cNvPr>
          <p:cNvGraphicFramePr/>
          <p:nvPr/>
        </p:nvGraphicFramePr>
        <p:xfrm>
          <a:off xmlns:a="http://schemas.openxmlformats.org/drawingml/2006/main" x="685800" y="3714750"/>
          <a:ext xmlns:a="http://schemas.openxmlformats.org/drawingml/2006/main" cx="10820400" cy="1428750"/>
        </p:xfrm>
        <a:graphic xmlns:a="http://schemas.openxmlformats.org/drawingml/2006/main">
          <a:graphicData uri="http://schemas.openxmlformats.org/drawingml/2006/table">
            <a:tbl>
              <a:tblPr/>
              <a:tblGrid>
                <a:gridCol w="3333750"/>
                <a:gridCol w="4000500"/>
                <a:gridCol w="3486150"/>
              </a:tblGrid>
              <a:tr h="714375">
                <a:tc>
                  <a:txBody>
                    <a:bodyPr/>
                    <a:lstStyle/>
                    <a:p>
                      <a:r>
                        <a:rPr sz="2025" b="1">
                          <a:solidFill>
                            <a:srgbClr val="FFFFFF"/>
                          </a:solidFill>
                          <a:latin typeface="Arial"/>
                          <a:ea typeface="Arial"/>
                          <a:cs typeface="Arial"/>
                        </a:rPr>
                        <a:t>Було на R3</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Кандидат через R4</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Нове рішення</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714375">
                <a:tc>
                  <a:txBody>
                    <a:bodyPr/>
                    <a:lstStyle/>
                    <a:p>
                      <a:r>
                        <a:rPr sz="2025" b="0">
                          <a:solidFill>
                            <a:srgbClr val="193247"/>
                          </a:solidFill>
                          <a:latin typeface="Arial"/>
                          <a:ea typeface="Arial"/>
                          <a:cs typeface="Arial"/>
                        </a:rPr>
                        <a:t>N: 16, маршруту немає</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N: min(16, 1 + 1) = 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N: метрика 2, next hop R4</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179217C-09D0-4A31-B3C5-6F498F84D324}"/>
              </a:ext>
            </a:extLst>
          </p:cNvPr>
          <p:cNvSpPr>
            <a:spLocks xmlns:a="http://schemas.openxmlformats.org/drawingml/2006/main" noGrp="1"/>
          </p:cNvSpPr>
          <p:nvPr/>
        </p:nvSpPr>
        <p:spPr>
          <a:xfrm xmlns:a="http://schemas.openxmlformats.org/drawingml/2006/main">
            <a:off x="685800" y="53816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556B80"/>
                </a:solidFill>
                <a:latin typeface="Arial"/>
                <a:ea typeface="Arial"/>
                <a:cs typeface="Arial"/>
              </a:defRPr>
            </a:defPPr>
          </a:lstStyle>
          <a:p xmlns:a="http://schemas.openxmlformats.org/drawingml/2006/main">
            <a:pPr>
              <a:defRPr sz="2175" b="0">
                <a:solidFill>
                  <a:srgbClr val="556B80"/>
                </a:solidFill>
                <a:latin typeface="Arial"/>
                <a:ea typeface="Arial"/>
                <a:cs typeface="Arial"/>
              </a:defRPr>
            </a:pPr>
            <a:r>
              <a:rPr sz="2175" b="0">
                <a:solidFill>
                  <a:srgbClr val="556B80"/>
                </a:solidFill>
                <a:latin typeface="Arial"/>
                <a:ea typeface="Arial"/>
                <a:cs typeface="Arial"/>
              </a:rPr>
              <a:t>Зміст рівняння: вартість переходу до сусіда + його оцінка решти шляху.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81</a:t>
            </a:r>
          </a:p>
        </p:txBody>
      </p:sp>
    </p:spTree>
    <p:extLst>
      <p:ext uri="{BB962C8B-B14F-4D97-AF65-F5344CB8AC3E}">
        <p14:creationId xmlns:p14="http://schemas.microsoft.com/office/powerpoint/2010/main" val="103632643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EC6B1F-DE8A-44C9-A68A-6CC743C0C534}"/>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поширення маршруту крок за кроком</a:t>
            </a:r>
          </a:p>
        </p:txBody>
      </p:sp>
      <p:sp>
        <p:nvSpPr>
          <p:cNvPr id="2" name="">
            <a:extLst xmlns:a="http://schemas.openxmlformats.org/drawingml/2006/main">
              <a:ext uri="{FF2B5EF4-FFF2-40B4-BE49-F238E27FC236}">
                <a16:creationId xmlns:a16="http://schemas.microsoft.com/office/drawing/2014/main" id="{8D708134-41F1-4D28-A705-511A2AE32EC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Синхронні раунди потрібні для пояснення. Реальний RIP обмінюється асинхронно.</a:t>
            </a:r>
          </a:p>
        </p:txBody>
      </p:sp>
      <p:graphicFrame>
        <p:nvGraphicFramePr>
          <p:cNvPr id="3" name="">
            <a:extLst xmlns:a="http://schemas.openxmlformats.org/drawingml/2006/main">
              <a:ext uri="{FF2B5EF4-FFF2-40B4-BE49-F238E27FC236}">
                <a16:creationId xmlns:a16="http://schemas.microsoft.com/office/drawing/2014/main" id="{2C84A8B7-D359-4A29-B5F4-54C061222697}"/>
              </a:ext>
            </a:extLst>
          </p:cNvPr>
          <p:cNvGraphicFramePr/>
          <p:nvPr/>
        </p:nvGraphicFramePr>
        <p:xfrm>
          <a:off xmlns:a="http://schemas.openxmlformats.org/drawingml/2006/main" x="685800" y="1714500"/>
          <a:ext xmlns:a="http://schemas.openxmlformats.org/drawingml/2006/main" cx="10820400" cy="3143250"/>
        </p:xfrm>
        <a:graphic xmlns:a="http://schemas.openxmlformats.org/drawingml/2006/main">
          <a:graphicData uri="http://schemas.openxmlformats.org/drawingml/2006/table">
            <a:tbl>
              <a:tblPr/>
              <a:tblGrid>
                <a:gridCol w="1905000"/>
                <a:gridCol w="2228850"/>
                <a:gridCol w="2228850"/>
                <a:gridCol w="2228850"/>
                <a:gridCol w="2228850"/>
              </a:tblGrid>
              <a:tr h="628650">
                <a:tc>
                  <a:txBody>
                    <a:bodyPr/>
                    <a:lstStyle/>
                    <a:p>
                      <a:r>
                        <a:rPr sz="2025" b="1">
                          <a:solidFill>
                            <a:srgbClr val="FFFFFF"/>
                          </a:solidFill>
                          <a:latin typeface="Arial"/>
                          <a:ea typeface="Arial"/>
                          <a:cs typeface="Arial"/>
                        </a:rPr>
                        <a:t>Раунд</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R1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R2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R3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R4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2025" b="0">
                          <a:solidFill>
                            <a:srgbClr val="193247"/>
                          </a:solidFill>
                          <a:latin typeface="Arial"/>
                          <a:ea typeface="Arial"/>
                          <a:cs typeface="Arial"/>
                        </a:rPr>
                        <a:t>0</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0649D2-9902-454A-800A-D6CDEEAAA88B}"/>
              </a:ext>
            </a:extLst>
          </p:cNvPr>
          <p:cNvSpPr>
            <a:spLocks xmlns:a="http://schemas.openxmlformats.org/drawingml/2006/main" noGrp="1"/>
          </p:cNvSpPr>
          <p:nvPr/>
        </p:nvSpPr>
        <p:spPr>
          <a:xfrm xmlns:a="http://schemas.openxmlformats.org/drawingml/2006/main">
            <a:off x="685800" y="5191125"/>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Раунд 1: R3 навчився від R4.</a:t>
            </a:r>
          </a:p>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Раунд 2: R2 навчився від R3. Раунд 3: R1 навчився від R2.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86</a:t>
            </a:r>
          </a:p>
        </p:txBody>
      </p:sp>
    </p:spTree>
    <p:extLst>
      <p:ext uri="{BB962C8B-B14F-4D97-AF65-F5344CB8AC3E}">
        <p14:creationId xmlns:p14="http://schemas.microsoft.com/office/powerpoint/2010/main" val="1151129769"/>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1DA786-F1E9-4077-A617-088EBA6091C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таблиця маршрутів після збіжності</a:t>
            </a:r>
          </a:p>
        </p:txBody>
      </p:sp>
      <p:sp>
        <p:nvSpPr>
          <p:cNvPr id="2" name="">
            <a:extLst xmlns:a="http://schemas.openxmlformats.org/drawingml/2006/main">
              <a:ext uri="{FF2B5EF4-FFF2-40B4-BE49-F238E27FC236}">
                <a16:creationId xmlns:a16="http://schemas.microsoft.com/office/drawing/2014/main" id="{4CAFD37B-685D-4646-8172-3695F3C50F65}"/>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пересилання пакета достатньо знати наступний вузол.</a:t>
            </a:r>
          </a:p>
        </p:txBody>
      </p:sp>
      <p:graphicFrame>
        <p:nvGraphicFramePr>
          <p:cNvPr id="3" name="">
            <a:extLst xmlns:a="http://schemas.openxmlformats.org/drawingml/2006/main">
              <a:ext uri="{FF2B5EF4-FFF2-40B4-BE49-F238E27FC236}">
                <a16:creationId xmlns:a16="http://schemas.microsoft.com/office/drawing/2014/main" id="{E0F03091-B4CC-4F52-BADC-ABFE6E593842}"/>
              </a:ext>
            </a:extLst>
          </p:cNvPr>
          <p:cNvGraphicFramePr/>
          <p:nvPr/>
        </p:nvGraphicFramePr>
        <p:xfrm>
          <a:off xmlns:a="http://schemas.openxmlformats.org/drawingml/2006/main" x="685800" y="1619250"/>
          <a:ext xmlns:a="http://schemas.openxmlformats.org/drawingml/2006/main" cx="10820400" cy="3333750"/>
        </p:xfrm>
        <a:graphic xmlns:a="http://schemas.openxmlformats.org/drawingml/2006/main">
          <a:graphicData uri="http://schemas.openxmlformats.org/drawingml/2006/table">
            <a:tbl>
              <a:tblPr/>
              <a:tblGrid>
                <a:gridCol w="2667000"/>
                <a:gridCol w="3333750"/>
                <a:gridCol w="1714500"/>
                <a:gridCol w="3105150"/>
              </a:tblGrid>
              <a:tr h="666750">
                <a:tc>
                  <a:txBody>
                    <a:bodyPr/>
                    <a:lstStyle/>
                    <a:p>
                      <a:r>
                        <a:rPr sz="2025" b="1">
                          <a:solidFill>
                            <a:srgbClr val="FFFFFF"/>
                          </a:solidFill>
                          <a:latin typeface="Arial"/>
                          <a:ea typeface="Arial"/>
                          <a:cs typeface="Arial"/>
                        </a:rPr>
                        <a:t>Маршрутизатор</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Мережа</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Метрика</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Наступний вузол</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66750">
                <a:tc>
                  <a:txBody>
                    <a:bodyPr/>
                    <a:lstStyle/>
                    <a:p>
                      <a:r>
                        <a:rPr sz="2025" b="0">
                          <a:solidFill>
                            <a:srgbClr val="193247"/>
                          </a:solidFill>
                          <a:latin typeface="Arial"/>
                          <a:ea typeface="Arial"/>
                          <a:cs typeface="Arial"/>
                        </a:rPr>
                        <a:t>R1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R2</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R2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R3</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R3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R4</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підключена напряму</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3A7CF09-612A-4BE1-9FBD-B1F05214D48D}"/>
              </a:ext>
            </a:extLst>
          </p:cNvPr>
          <p:cNvSpPr>
            <a:spLocks xmlns:a="http://schemas.openxmlformats.org/drawingml/2006/main" noGrp="1"/>
          </p:cNvSpPr>
          <p:nvPr/>
        </p:nvSpPr>
        <p:spPr>
          <a:xfrm xmlns:a="http://schemas.openxmlformats.org/drawingml/2006/main">
            <a:off x="685800" y="523875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Шлях пакета: R1 → R2 → R3 → R4 → N.</a:t>
            </a:r>
          </a:p>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Метрика до N враховує і останній перехід у підключену мережу.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87</a:t>
            </a:r>
          </a:p>
        </p:txBody>
      </p:sp>
    </p:spTree>
    <p:extLst>
      <p:ext uri="{BB962C8B-B14F-4D97-AF65-F5344CB8AC3E}">
        <p14:creationId xmlns:p14="http://schemas.microsoft.com/office/powerpoint/2010/main" val="16929823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6EA32A-CD5C-481C-8371-46B3F64031B2}"/>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Python: початковий стан навчальної моделі</a:t>
            </a:r>
          </a:p>
        </p:txBody>
      </p:sp>
      <p:sp>
        <p:nvSpPr>
          <p:cNvPr id="2" name="">
            <a:extLst xmlns:a="http://schemas.openxmlformats.org/drawingml/2006/main">
              <a:ext uri="{FF2B5EF4-FFF2-40B4-BE49-F238E27FC236}">
                <a16:creationId xmlns:a16="http://schemas.microsoft.com/office/drawing/2014/main" id="{21E43A9A-0DA3-4F3B-8190-D1F91438DC4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Код моделює поширення відстані до однієї мережі. RIP-пакети він не надсилає.</a:t>
            </a:r>
          </a:p>
        </p:txBody>
      </p:sp>
      <p:sp>
        <p:nvSpPr>
          <p:cNvPr id="3" name="">
            <a:extLst xmlns:a="http://schemas.openxmlformats.org/drawingml/2006/main">
              <a:ext uri="{FF2B5EF4-FFF2-40B4-BE49-F238E27FC236}">
                <a16:creationId xmlns:a16="http://schemas.microsoft.com/office/drawing/2014/main" id="{968D1B80-1DE4-4E49-B079-CF5C0E169EDA}"/>
              </a:ext>
            </a:extLst>
          </p:cNvPr>
          <p:cNvSpPr>
            <a:spLocks xmlns:a="http://schemas.openxmlformats.org/drawingml/2006/main" noGrp="1"/>
          </p:cNvSpPr>
          <p:nvPr/>
        </p:nvSpPr>
        <p:spPr>
          <a:xfrm xmlns:a="http://schemas.openxmlformats.org/drawingml/2006/main">
            <a:off x="838200" y="1762125"/>
            <a:ext cx="10477500" cy="2180844"/>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3247"/>
                </a:solidFill>
                <a:latin typeface="Courier New"/>
                <a:ea typeface="Courier New"/>
                <a:cs typeface="Courier New"/>
              </a:defRPr>
            </a:defPPr>
          </a:lstStyle>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INF = 16</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neighbors = [[1], [0, 2], [1, 3], [2]]</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d = [INF, INF, INF, 1]  # R4 оголошує N з метрикою 1</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history = [d.copy()]</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print("round  R1 R2 R3 R4")</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print(0, d)</a:t>
            </a:r>
          </a:p>
        </p:txBody>
      </p:sp>
      <p:sp>
        <p:nvSpPr>
          <p:cNvPr id="4" name="">
            <a:extLst xmlns:a="http://schemas.openxmlformats.org/drawingml/2006/main">
              <a:ext uri="{FF2B5EF4-FFF2-40B4-BE49-F238E27FC236}">
                <a16:creationId xmlns:a16="http://schemas.microsoft.com/office/drawing/2014/main" id="{83E0FEAB-9F3D-4B04-8BFB-C566B0A7C282}"/>
              </a:ext>
            </a:extLst>
          </p:cNvPr>
          <p:cNvSpPr>
            <a:spLocks xmlns:a="http://schemas.openxmlformats.org/drawingml/2006/main" noGrp="1"/>
          </p:cNvSpPr>
          <p:nvPr/>
        </p:nvSpPr>
        <p:spPr>
          <a:xfrm xmlns:a="http://schemas.openxmlformats.org/drawingml/2006/main">
            <a:off x="838200" y="4181094"/>
            <a:ext cx="10477500" cy="841248"/>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08B85"/>
                </a:solidFill>
                <a:latin typeface="Courier New"/>
                <a:ea typeface="Courier New"/>
                <a:cs typeface="Courier New"/>
              </a:defRPr>
            </a:defPPr>
          </a:lstStyle>
          <a:p xmlns:a="http://schemas.openxmlformats.org/drawingml/2006/main">
            <a:pPr>
              <a:defRPr sz="2100" b="1">
                <a:solidFill>
                  <a:srgbClr val="008B85"/>
                </a:solidFill>
                <a:latin typeface="Courier New"/>
                <a:ea typeface="Courier New"/>
                <a:cs typeface="Courier New"/>
              </a:defRPr>
            </a:pPr>
            <a:r>
              <a:rPr sz="2100" b="1">
                <a:solidFill>
                  <a:srgbClr val="008B85"/>
                </a:solidFill>
                <a:latin typeface="Courier New"/>
                <a:ea typeface="Courier New"/>
                <a:cs typeface="Courier New"/>
              </a:rPr>
              <a:t>round  R1 R2 R3 R4</a:t>
            </a:r>
          </a:p>
          <a:p xmlns:a="http://schemas.openxmlformats.org/drawingml/2006/main">
            <a:pPr>
              <a:defRPr sz="2100" b="1">
                <a:solidFill>
                  <a:srgbClr val="008B85"/>
                </a:solidFill>
                <a:latin typeface="Courier New"/>
                <a:ea typeface="Courier New"/>
                <a:cs typeface="Courier New"/>
              </a:defRPr>
            </a:pPr>
            <a:r>
              <a:rPr sz="2100" b="1">
                <a:solidFill>
                  <a:srgbClr val="008B85"/>
                </a:solidFill>
                <a:latin typeface="Courier New"/>
                <a:ea typeface="Courier New"/>
                <a:cs typeface="Courier New"/>
              </a:rPr>
              <a:t>0 [16, 16, 16, 1]</a:t>
            </a:r>
          </a:p>
        </p:txBody>
      </p:sp>
      <p:sp>
        <p:nvSpPr>
          <p:cNvPr id="5" name="">
            <a:extLst xmlns:a="http://schemas.openxmlformats.org/drawingml/2006/main">
              <a:ext uri="{FF2B5EF4-FFF2-40B4-BE49-F238E27FC236}">
                <a16:creationId xmlns:a16="http://schemas.microsoft.com/office/drawing/2014/main" id="{0B904363-860D-4BBD-B2FD-BB7DB95DC9B1}"/>
              </a:ext>
            </a:extLst>
          </p:cNvPr>
          <p:cNvSpPr>
            <a:spLocks xmlns:a="http://schemas.openxmlformats.org/drawingml/2006/main" noGrp="1"/>
          </p:cNvSpPr>
          <p:nvPr/>
        </p:nvSpPr>
        <p:spPr>
          <a:xfrm xmlns:a="http://schemas.openxmlformats.org/drawingml/2006/main">
            <a:off x="685800" y="523875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neighbors[0] = [1] означає: R1 має сусіда R2.</a:t>
            </a:r>
          </a:p>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Індекси Python 0…3 відповідають маршрутизаторам R1…R4.</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88</a:t>
            </a:r>
          </a:p>
        </p:txBody>
      </p:sp>
    </p:spTree>
    <p:extLst>
      <p:ext uri="{BB962C8B-B14F-4D97-AF65-F5344CB8AC3E}">
        <p14:creationId xmlns:p14="http://schemas.microsoft.com/office/powerpoint/2010/main" val="2040684722"/>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59EF17-1B4B-4C31-A61C-99511FD6A9A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Python: обмін оцінками та результат</a:t>
            </a:r>
          </a:p>
        </p:txBody>
      </p:sp>
      <p:sp>
        <p:nvSpPr>
          <p:cNvPr id="2" name="">
            <a:extLst xmlns:a="http://schemas.openxmlformats.org/drawingml/2006/main">
              <a:ext uri="{FF2B5EF4-FFF2-40B4-BE49-F238E27FC236}">
                <a16:creationId xmlns:a16="http://schemas.microsoft.com/office/drawing/2014/main" id="{1788C7AE-CBDF-4C8B-9944-9E2F275331AA}"/>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prev — знімок оголошень. Оновлення поточного раунду не читаємо в тому самому раунді.</a:t>
            </a:r>
          </a:p>
        </p:txBody>
      </p:sp>
      <p:sp>
        <p:nvSpPr>
          <p:cNvPr id="3" name="">
            <a:extLst xmlns:a="http://schemas.openxmlformats.org/drawingml/2006/main">
              <a:ext uri="{FF2B5EF4-FFF2-40B4-BE49-F238E27FC236}">
                <a16:creationId xmlns:a16="http://schemas.microsoft.com/office/drawing/2014/main" id="{4359D0FB-1DA5-47CF-9FA2-3B3DA67F42B4}"/>
              </a:ext>
            </a:extLst>
          </p:cNvPr>
          <p:cNvSpPr>
            <a:spLocks xmlns:a="http://schemas.openxmlformats.org/drawingml/2006/main" noGrp="1"/>
          </p:cNvSpPr>
          <p:nvPr/>
        </p:nvSpPr>
        <p:spPr>
          <a:xfrm xmlns:a="http://schemas.openxmlformats.org/drawingml/2006/main">
            <a:off x="838200" y="1476375"/>
            <a:ext cx="10477500" cy="2645664"/>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193247"/>
                </a:solidFill>
                <a:latin typeface="Courier New"/>
                <a:ea typeface="Courier New"/>
                <a:cs typeface="Courier New"/>
              </a:defRPr>
            </a:defPPr>
          </a:lstStyle>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k in range(1, 4):</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prev = d.copy()</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for r in range(3):  # R4 зберігає пряму мережу</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d[r] = min(INF, min(1 + prev[v]</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for v in neighbors[r]))</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history.append(d.copy())</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print(k, d)</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assert d == [4, 3, 2, 1]</a:t>
            </a:r>
          </a:p>
        </p:txBody>
      </p:sp>
      <p:sp>
        <p:nvSpPr>
          <p:cNvPr id="4" name="">
            <a:extLst xmlns:a="http://schemas.openxmlformats.org/drawingml/2006/main">
              <a:ext uri="{FF2B5EF4-FFF2-40B4-BE49-F238E27FC236}">
                <a16:creationId xmlns:a16="http://schemas.microsoft.com/office/drawing/2014/main" id="{F8E2BB0F-F5C2-44BF-BA9E-9507357B5580}"/>
              </a:ext>
            </a:extLst>
          </p:cNvPr>
          <p:cNvSpPr>
            <a:spLocks xmlns:a="http://schemas.openxmlformats.org/drawingml/2006/main" noGrp="1"/>
          </p:cNvSpPr>
          <p:nvPr/>
        </p:nvSpPr>
        <p:spPr>
          <a:xfrm xmlns:a="http://schemas.openxmlformats.org/drawingml/2006/main">
            <a:off x="838200" y="4360164"/>
            <a:ext cx="10477500" cy="1096899"/>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Courier New"/>
                <a:ea typeface="Courier New"/>
                <a:cs typeface="Courier New"/>
              </a:defRPr>
            </a:defPPr>
          </a:lstStyle>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1 [16, 16, 2, 1]</a:t>
            </a:r>
          </a:p>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2 [16, 3, 2, 1]</a:t>
            </a:r>
          </a:p>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3 [4, 3, 2,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89</a:t>
            </a:r>
          </a:p>
        </p:txBody>
      </p:sp>
    </p:spTree>
    <p:extLst>
      <p:ext uri="{BB962C8B-B14F-4D97-AF65-F5344CB8AC3E}">
        <p14:creationId xmlns:p14="http://schemas.microsoft.com/office/powerpoint/2010/main" val="1946470609"/>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4B91D2C-2C03-40A8-9195-55C8435C453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відмова каналу та петля</a:t>
            </a:r>
          </a:p>
        </p:txBody>
      </p:sp>
      <p:sp>
        <p:nvSpPr>
          <p:cNvPr id="2" name="">
            <a:extLst xmlns:a="http://schemas.openxmlformats.org/drawingml/2006/main">
              <a:ext uri="{FF2B5EF4-FFF2-40B4-BE49-F238E27FC236}">
                <a16:creationId xmlns:a16="http://schemas.microsoft.com/office/drawing/2014/main" id="{8EAFF008-6858-4E00-8C73-AFC1A4BABFC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Захист від петель у цьому контрприкладі вимкнений.</a:t>
            </a:r>
          </a:p>
        </p:txBody>
      </p:sp>
      <p:sp>
        <p:nvSpPr>
          <p:cNvPr id="3" name="">
            <a:extLst xmlns:a="http://schemas.openxmlformats.org/drawingml/2006/main">
              <a:ext uri="{FF2B5EF4-FFF2-40B4-BE49-F238E27FC236}">
                <a16:creationId xmlns:a16="http://schemas.microsoft.com/office/drawing/2014/main" id="{C54D7AF4-8AFA-4E75-AB18-9403EBAACAFF}"/>
              </a:ext>
            </a:extLst>
          </p:cNvPr>
          <p:cNvSpPr>
            <a:spLocks xmlns:a="http://schemas.openxmlformats.org/drawingml/2006/main" noGrp="1"/>
          </p:cNvSpPr>
          <p:nvPr/>
        </p:nvSpPr>
        <p:spPr>
          <a:xfrm xmlns:a="http://schemas.openxmlformats.org/drawingml/2006/main">
            <a:off x="952500" y="1905000"/>
            <a:ext cx="1714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F4381464-00BE-48F8-97B0-6FCC8B6FE29A}"/>
              </a:ext>
            </a:extLst>
          </p:cNvPr>
          <p:cNvSpPr>
            <a:spLocks xmlns:a="http://schemas.openxmlformats.org/drawingml/2006/main" noGrp="1"/>
          </p:cNvSpPr>
          <p:nvPr/>
        </p:nvSpPr>
        <p:spPr>
          <a:xfrm xmlns:a="http://schemas.openxmlformats.org/drawingml/2006/main">
            <a:off x="1085850" y="20193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R2</a:t>
            </a:r>
          </a:p>
        </p:txBody>
      </p:sp>
      <p:sp>
        <p:nvSpPr>
          <p:cNvPr id="5" name="">
            <a:extLst xmlns:a="http://schemas.openxmlformats.org/drawingml/2006/main">
              <a:ext uri="{FF2B5EF4-FFF2-40B4-BE49-F238E27FC236}">
                <a16:creationId xmlns:a16="http://schemas.microsoft.com/office/drawing/2014/main" id="{8AEBEBAA-AEBD-4796-8E6D-69811C2B814A}"/>
              </a:ext>
            </a:extLst>
          </p:cNvPr>
          <p:cNvSpPr>
            <a:spLocks xmlns:a="http://schemas.openxmlformats.org/drawingml/2006/main" noGrp="1"/>
          </p:cNvSpPr>
          <p:nvPr/>
        </p:nvSpPr>
        <p:spPr>
          <a:xfrm xmlns:a="http://schemas.openxmlformats.org/drawingml/2006/main">
            <a:off x="5429250" y="1905000"/>
            <a:ext cx="1714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5EED1907-C5FC-4DC9-A87F-644D6BA9041B}"/>
              </a:ext>
            </a:extLst>
          </p:cNvPr>
          <p:cNvSpPr>
            <a:spLocks xmlns:a="http://schemas.openxmlformats.org/drawingml/2006/main" noGrp="1"/>
          </p:cNvSpPr>
          <p:nvPr/>
        </p:nvSpPr>
        <p:spPr>
          <a:xfrm xmlns:a="http://schemas.openxmlformats.org/drawingml/2006/main">
            <a:off x="5562600" y="20193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R3</a:t>
            </a:r>
          </a:p>
        </p:txBody>
      </p:sp>
      <p:sp>
        <p:nvSpPr>
          <p:cNvPr id="7" name="">
            <a:extLst xmlns:a="http://schemas.openxmlformats.org/drawingml/2006/main">
              <a:ext uri="{FF2B5EF4-FFF2-40B4-BE49-F238E27FC236}">
                <a16:creationId xmlns:a16="http://schemas.microsoft.com/office/drawing/2014/main" id="{FE1F42C6-A50B-431A-A172-3F1188A7AC6D}"/>
              </a:ext>
            </a:extLst>
          </p:cNvPr>
          <p:cNvSpPr>
            <a:spLocks xmlns:a="http://schemas.openxmlformats.org/drawingml/2006/main" noGrp="1"/>
          </p:cNvSpPr>
          <p:nvPr/>
        </p:nvSpPr>
        <p:spPr>
          <a:xfrm xmlns:a="http://schemas.openxmlformats.org/drawingml/2006/main">
            <a:off x="9620250" y="1905000"/>
            <a:ext cx="1714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B185A27E-E6C6-40FE-AB9B-6085E36AA43C}"/>
              </a:ext>
            </a:extLst>
          </p:cNvPr>
          <p:cNvSpPr>
            <a:spLocks xmlns:a="http://schemas.openxmlformats.org/drawingml/2006/main" noGrp="1"/>
          </p:cNvSpPr>
          <p:nvPr/>
        </p:nvSpPr>
        <p:spPr>
          <a:xfrm xmlns:a="http://schemas.openxmlformats.org/drawingml/2006/main">
            <a:off x="9753600" y="20193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R4</a:t>
            </a:r>
          </a:p>
        </p:txBody>
      </p:sp>
      <p:sp>
        <p:nvSpPr>
          <p:cNvPr id="9" name="">
            <a:extLst xmlns:a="http://schemas.openxmlformats.org/drawingml/2006/main">
              <a:ext uri="{FF2B5EF4-FFF2-40B4-BE49-F238E27FC236}">
                <a16:creationId xmlns:a16="http://schemas.microsoft.com/office/drawing/2014/main" id="{68E02AA5-72AC-495D-9B26-1AC68753284C}"/>
              </a:ext>
            </a:extLst>
          </p:cNvPr>
          <p:cNvSpPr>
            <a:spLocks xmlns:a="http://schemas.openxmlformats.org/drawingml/2006/main" noGrp="1"/>
          </p:cNvSpPr>
          <p:nvPr/>
        </p:nvSpPr>
        <p:spPr>
          <a:xfrm xmlns:a="http://schemas.openxmlformats.org/drawingml/2006/main" rot="0">
            <a:off x="2714625" y="2047875"/>
            <a:ext cx="2619375" cy="9525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FD1CFEF-C604-4B04-9A06-DBBEEEA92FB1}"/>
              </a:ext>
            </a:extLst>
          </p:cNvPr>
          <p:cNvSpPr>
            <a:spLocks xmlns:a="http://schemas.openxmlformats.org/drawingml/2006/main" noGrp="1"/>
          </p:cNvSpPr>
          <p:nvPr/>
        </p:nvSpPr>
        <p:spPr>
          <a:xfrm xmlns:a="http://schemas.openxmlformats.org/drawingml/2006/main" rot="10800000">
            <a:off x="2714625" y="2381250"/>
            <a:ext cx="2619375" cy="9525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5F9D8EB-294B-42B9-8E4A-A7213B7DE6A5}"/>
              </a:ext>
            </a:extLst>
          </p:cNvPr>
          <p:cNvSpPr>
            <a:spLocks xmlns:a="http://schemas.openxmlformats.org/drawingml/2006/main" noGrp="1"/>
          </p:cNvSpPr>
          <p:nvPr/>
        </p:nvSpPr>
        <p:spPr>
          <a:xfrm xmlns:a="http://schemas.openxmlformats.org/drawingml/2006/main">
            <a:off x="3238500" y="15716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C64F45"/>
                </a:solidFill>
                <a:latin typeface="Arial"/>
                <a:ea typeface="Arial"/>
                <a:cs typeface="Arial"/>
              </a:defRPr>
            </a:defPPr>
          </a:lstStyle>
          <a:p xmlns:a="http://schemas.openxmlformats.org/drawingml/2006/main">
            <a:pPr>
              <a:defRPr sz="2100" b="1">
                <a:solidFill>
                  <a:srgbClr val="C64F45"/>
                </a:solidFill>
                <a:latin typeface="Arial"/>
                <a:ea typeface="Arial"/>
                <a:cs typeface="Arial"/>
              </a:defRPr>
            </a:pPr>
            <a:r>
              <a:rPr sz="2100" b="1">
                <a:solidFill>
                  <a:srgbClr val="C64F45"/>
                </a:solidFill>
                <a:latin typeface="Arial"/>
                <a:ea typeface="Arial"/>
                <a:cs typeface="Arial"/>
              </a:rPr>
              <a:t>петля пакетів</a:t>
            </a:r>
          </a:p>
        </p:txBody>
      </p:sp>
      <p:sp>
        <p:nvSpPr>
          <p:cNvPr id="12" name="">
            <a:extLst xmlns:a="http://schemas.openxmlformats.org/drawingml/2006/main">
              <a:ext uri="{FF2B5EF4-FFF2-40B4-BE49-F238E27FC236}">
                <a16:creationId xmlns:a16="http://schemas.microsoft.com/office/drawing/2014/main" id="{A64C7A66-6EB4-4121-BE67-58E71F1700CD}"/>
              </a:ext>
            </a:extLst>
          </p:cNvPr>
          <p:cNvSpPr>
            <a:spLocks xmlns:a="http://schemas.openxmlformats.org/drawingml/2006/main" noGrp="1"/>
          </p:cNvSpPr>
          <p:nvPr/>
        </p:nvSpPr>
        <p:spPr>
          <a:xfrm xmlns:a="http://schemas.openxmlformats.org/drawingml/2006/main">
            <a:off x="7524750" y="147637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C64F45"/>
                </a:solidFill>
                <a:latin typeface="Arial"/>
                <a:ea typeface="Arial"/>
                <a:cs typeface="Arial"/>
              </a:defRPr>
            </a:defPPr>
          </a:lstStyle>
          <a:p xmlns:a="http://schemas.openxmlformats.org/drawingml/2006/main">
            <a:pPr>
              <a:defRPr sz="2025" b="1">
                <a:solidFill>
                  <a:srgbClr val="C64F45"/>
                </a:solidFill>
                <a:latin typeface="Arial"/>
                <a:ea typeface="Arial"/>
                <a:cs typeface="Arial"/>
              </a:defRPr>
            </a:pPr>
            <a:r>
              <a:rPr sz="2025" b="1">
                <a:solidFill>
                  <a:srgbClr val="C64F45"/>
                </a:solidFill>
                <a:latin typeface="Arial"/>
                <a:ea typeface="Arial"/>
                <a:cs typeface="Arial"/>
              </a:rPr>
              <a:t>КАНАЛ ЗНИК</a:t>
            </a:r>
          </a:p>
        </p:txBody>
      </p:sp>
      <p:sp>
        <p:nvSpPr>
          <p:cNvPr id="13" name="">
            <a:extLst xmlns:a="http://schemas.openxmlformats.org/drawingml/2006/main">
              <a:ext uri="{FF2B5EF4-FFF2-40B4-BE49-F238E27FC236}">
                <a16:creationId xmlns:a16="http://schemas.microsoft.com/office/drawing/2014/main" id="{0AFFBC4F-2FE9-44A4-9838-4CA02BC3A0A8}"/>
              </a:ext>
            </a:extLst>
          </p:cNvPr>
          <p:cNvSpPr>
            <a:spLocks xmlns:a="http://schemas.openxmlformats.org/drawingml/2006/main" noGrp="1"/>
          </p:cNvSpPr>
          <p:nvPr/>
        </p:nvSpPr>
        <p:spPr>
          <a:xfrm xmlns:a="http://schemas.openxmlformats.org/drawingml/2006/main" rot="0">
            <a:off x="7239000" y="2247900"/>
            <a:ext cx="619125" cy="3810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83778F-3603-4D3B-B072-0B0D493BD3AC}"/>
              </a:ext>
            </a:extLst>
          </p:cNvPr>
          <p:cNvSpPr>
            <a:spLocks xmlns:a="http://schemas.openxmlformats.org/drawingml/2006/main" noGrp="1"/>
          </p:cNvSpPr>
          <p:nvPr/>
        </p:nvSpPr>
        <p:spPr>
          <a:xfrm xmlns:a="http://schemas.openxmlformats.org/drawingml/2006/main" rot="0">
            <a:off x="8858250" y="2247900"/>
            <a:ext cx="666750" cy="38100"/>
          </a:xfrm>
          <a:prstGeom xmlns:a="http://schemas.openxmlformats.org/drawingml/2006/main" prst="rightArrow">
            <a:avLst/>
          </a:prstGeom>
          <a:solidFill xmlns:a="http://schemas.openxmlformats.org/drawingml/2006/main">
            <a:srgbClr val="C64F4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A824D6-0F9A-4BFB-9239-E6DA16DACF39}"/>
              </a:ext>
            </a:extLst>
          </p:cNvPr>
          <p:cNvSpPr>
            <a:spLocks xmlns:a="http://schemas.openxmlformats.org/drawingml/2006/main" noGrp="1"/>
          </p:cNvSpPr>
          <p:nvPr/>
        </p:nvSpPr>
        <p:spPr>
          <a:xfrm xmlns:a="http://schemas.openxmlformats.org/drawingml/2006/main">
            <a:off x="8191500" y="20478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75" b="1">
                <a:solidFill>
                  <a:srgbClr val="C64F45"/>
                </a:solidFill>
                <a:latin typeface="Arial"/>
                <a:ea typeface="Arial"/>
                <a:cs typeface="Arial"/>
              </a:defRPr>
            </a:defPPr>
          </a:lstStyle>
          <a:p xmlns:a="http://schemas.openxmlformats.org/drawingml/2006/main">
            <a:pPr>
              <a:defRPr sz="3375" b="1">
                <a:solidFill>
                  <a:srgbClr val="C64F45"/>
                </a:solidFill>
                <a:latin typeface="Arial"/>
                <a:ea typeface="Arial"/>
                <a:cs typeface="Arial"/>
              </a:defRPr>
            </a:pPr>
            <a:r>
              <a:rPr sz="3375" b="1">
                <a:solidFill>
                  <a:srgbClr val="C64F45"/>
                </a:solidFill>
                <a:latin typeface="Arial"/>
                <a:ea typeface="Arial"/>
                <a:cs typeface="Arial"/>
              </a:rPr>
              <a:t>×</a:t>
            </a:r>
          </a:p>
        </p:txBody>
      </p:sp>
      <p:graphicFrame>
        <p:nvGraphicFramePr>
          <p:cNvPr id="16" name="">
            <a:extLst xmlns:a="http://schemas.openxmlformats.org/drawingml/2006/main">
              <a:ext uri="{FF2B5EF4-FFF2-40B4-BE49-F238E27FC236}">
                <a16:creationId xmlns:a16="http://schemas.microsoft.com/office/drawing/2014/main" id="{7714CB0B-B0ED-4F50-8EE4-16B6B57EBA5A}"/>
              </a:ext>
            </a:extLst>
          </p:cNvPr>
          <p:cNvGraphicFramePr/>
          <p:nvPr/>
        </p:nvGraphicFramePr>
        <p:xfrm>
          <a:off xmlns:a="http://schemas.openxmlformats.org/drawingml/2006/main" x="685800" y="3286125"/>
          <a:ext xmlns:a="http://schemas.openxmlformats.org/drawingml/2006/main" cx="10820400" cy="2333625"/>
        </p:xfrm>
        <a:graphic xmlns:a="http://schemas.openxmlformats.org/drawingml/2006/main">
          <a:graphicData uri="http://schemas.openxmlformats.org/drawingml/2006/table">
            <a:tbl>
              <a:tblPr/>
              <a:tblGrid>
                <a:gridCol w="5334000"/>
                <a:gridCol w="2743200"/>
                <a:gridCol w="2743200"/>
              </a:tblGrid>
              <a:tr h="466725">
                <a:tc>
                  <a:txBody>
                    <a:bodyPr/>
                    <a:lstStyle/>
                    <a:p>
                      <a:r>
                        <a:rPr sz="1875" b="1">
                          <a:solidFill>
                            <a:srgbClr val="FFFFFF"/>
                          </a:solidFill>
                          <a:latin typeface="Arial"/>
                          <a:ea typeface="Arial"/>
                          <a:cs typeface="Arial"/>
                        </a:rPr>
                        <a:t>Подія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R2: метрика / 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R3: метрика / 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66725">
                <a:tc>
                  <a:txBody>
                    <a:bodyPr/>
                    <a:lstStyle/>
                    <a:p>
                      <a:r>
                        <a:rPr sz="1875" b="0">
                          <a:solidFill>
                            <a:srgbClr val="193247"/>
                          </a:solidFill>
                          <a:latin typeface="Arial"/>
                          <a:ea typeface="Arial"/>
                          <a:cs typeface="Arial"/>
                        </a:rPr>
                        <a:t>R3 виявив відмову</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16 / 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r h="466725">
                <a:tc>
                  <a:txBody>
                    <a:bodyPr/>
                    <a:lstStyle/>
                    <a:p>
                      <a:r>
                        <a:rPr sz="1875" b="0">
                          <a:solidFill>
                            <a:srgbClr val="193247"/>
                          </a:solidFill>
                          <a:latin typeface="Arial"/>
                          <a:ea typeface="Arial"/>
                          <a:cs typeface="Arial"/>
                        </a:rPr>
                        <a:t>R3 прийняв старе оголошення R2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 / R2</a:t>
                      </a:r>
                    </a:p>
                  </a:txBody>
                  <a:tcPr marL="91440" marR="91440" marT="45720" marB="45720">
                    <a:lnR w="9525">
                      <a:solidFill>
                        <a:srgbClr val="A8B7C0"/>
                      </a:solidFill>
                      <a:prstDash val="solid"/>
                    </a:lnR>
                    <a:lnB w="9525">
                      <a:solidFill>
                        <a:srgbClr val="A8B7C0"/>
                      </a:solidFill>
                      <a:prstDash val="solid"/>
                    </a:lnB>
                    <a:solidFill>
                      <a:srgbClr val="FFFFFF"/>
                    </a:solidFill>
                  </a:tcPr>
                </a:tc>
              </a:tr>
              <a:tr h="466725">
                <a:tc>
                  <a:txBody>
                    <a:bodyPr/>
                    <a:lstStyle/>
                    <a:p>
                      <a:r>
                        <a:rPr sz="1875" b="0">
                          <a:solidFill>
                            <a:srgbClr val="193247"/>
                          </a:solidFill>
                          <a:latin typeface="Arial"/>
                          <a:ea typeface="Arial"/>
                          <a:cs typeface="Arial"/>
                        </a:rPr>
                        <a:t>R2 прийняв оголошення R3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 / R2</a:t>
                      </a:r>
                    </a:p>
                  </a:txBody>
                  <a:tcPr marL="91440" marR="91440" marT="45720" marB="45720">
                    <a:lnR w="9525">
                      <a:solidFill>
                        <a:srgbClr val="A8B7C0"/>
                      </a:solidFill>
                      <a:prstDash val="solid"/>
                    </a:lnR>
                    <a:lnB w="9525">
                      <a:solidFill>
                        <a:srgbClr val="A8B7C0"/>
                      </a:solidFill>
                      <a:prstDash val="solid"/>
                    </a:lnB>
                    <a:solidFill>
                      <a:srgbClr val="FFFFFF"/>
                    </a:solidFill>
                  </a:tcPr>
                </a:tc>
              </a:tr>
              <a:tr h="466725">
                <a:tc>
                  <a:txBody>
                    <a:bodyPr/>
                    <a:lstStyle/>
                    <a:p>
                      <a:r>
                        <a:rPr sz="1875" b="0">
                          <a:solidFill>
                            <a:srgbClr val="193247"/>
                          </a:solidFill>
                          <a:latin typeface="Arial"/>
                          <a:ea typeface="Arial"/>
                          <a:cs typeface="Arial"/>
                        </a:rPr>
                        <a:t>Наступний обмін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 /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 / R2</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90</a:t>
            </a:r>
          </a:p>
        </p:txBody>
      </p:sp>
    </p:spTree>
    <p:extLst>
      <p:ext uri="{BB962C8B-B14F-4D97-AF65-F5344CB8AC3E}">
        <p14:creationId xmlns:p14="http://schemas.microsoft.com/office/powerpoint/2010/main" val="20802936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3F1B70-A8AC-4A85-98AD-237C09333B2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захист від застарілих маршрутів</a:t>
            </a:r>
          </a:p>
        </p:txBody>
      </p:sp>
      <p:sp>
        <p:nvSpPr>
          <p:cNvPr id="2" name="">
            <a:extLst xmlns:a="http://schemas.openxmlformats.org/drawingml/2006/main">
              <a:ext uri="{FF2B5EF4-FFF2-40B4-BE49-F238E27FC236}">
                <a16:creationId xmlns:a16="http://schemas.microsoft.com/office/drawing/2014/main" id="{CE480989-3432-4594-8C72-A48A2851B411}"/>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Poisoned reverse розриває петлю з двох вузлів. Для довших петель цього може бути замало.</a:t>
            </a:r>
          </a:p>
        </p:txBody>
      </p:sp>
      <p:graphicFrame>
        <p:nvGraphicFramePr>
          <p:cNvPr id="3" name="">
            <a:extLst xmlns:a="http://schemas.openxmlformats.org/drawingml/2006/main">
              <a:ext uri="{FF2B5EF4-FFF2-40B4-BE49-F238E27FC236}">
                <a16:creationId xmlns:a16="http://schemas.microsoft.com/office/drawing/2014/main" id="{A26CE0DB-9FCC-4E3C-A238-80D33114215C}"/>
              </a:ext>
            </a:extLst>
          </p:cNvPr>
          <p:cNvGraphicFramePr/>
          <p:nvPr/>
        </p:nvGraphicFramePr>
        <p:xfrm>
          <a:off xmlns:a="http://schemas.openxmlformats.org/drawingml/2006/main" x="685800" y="1714500"/>
          <a:ext xmlns:a="http://schemas.openxmlformats.org/drawingml/2006/main" cx="10820400" cy="3286125"/>
        </p:xfrm>
        <a:graphic xmlns:a="http://schemas.openxmlformats.org/drawingml/2006/main">
          <a:graphicData uri="http://schemas.openxmlformats.org/drawingml/2006/table">
            <a:tbl>
              <a:tblPr/>
              <a:tblGrid>
                <a:gridCol w="3143250"/>
                <a:gridCol w="7677150"/>
              </a:tblGrid>
              <a:tr h="657225">
                <a:tc>
                  <a:txBody>
                    <a:bodyPr/>
                    <a:lstStyle/>
                    <a:p>
                      <a:r>
                        <a:rPr sz="2025" b="1">
                          <a:solidFill>
                            <a:srgbClr val="FFFFFF"/>
                          </a:solidFill>
                          <a:latin typeface="Arial"/>
                          <a:ea typeface="Arial"/>
                          <a:cs typeface="Arial"/>
                        </a:rPr>
                        <a:t>Механізм</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Сенс</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57225">
                <a:tc>
                  <a:txBody>
                    <a:bodyPr/>
                    <a:lstStyle/>
                    <a:p>
                      <a:r>
                        <a:rPr sz="2025" b="0">
                          <a:solidFill>
                            <a:srgbClr val="193247"/>
                          </a:solidFill>
                          <a:latin typeface="Arial"/>
                          <a:ea typeface="Arial"/>
                          <a:cs typeface="Arial"/>
                        </a:rPr>
                        <a:t>Split horizon</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Не повертати вивчений маршрут тому самому сусіду</a:t>
                      </a:r>
                    </a:p>
                  </a:txBody>
                  <a:tcPr marL="91440" marR="91440" marT="45720" marB="45720">
                    <a:lnR w="9525">
                      <a:solidFill>
                        <a:srgbClr val="A8B7C0"/>
                      </a:solidFill>
                      <a:prstDash val="solid"/>
                    </a:lnR>
                    <a:lnB w="9525">
                      <a:solidFill>
                        <a:srgbClr val="A8B7C0"/>
                      </a:solidFill>
                      <a:prstDash val="solid"/>
                    </a:lnB>
                    <a:solidFill>
                      <a:srgbClr val="FFFFFF"/>
                    </a:solidFill>
                  </a:tcPr>
                </a:tc>
              </a:tr>
              <a:tr h="657225">
                <a:tc>
                  <a:txBody>
                    <a:bodyPr/>
                    <a:lstStyle/>
                    <a:p>
                      <a:r>
                        <a:rPr sz="2025" b="0">
                          <a:solidFill>
                            <a:srgbClr val="193247"/>
                          </a:solidFill>
                          <a:latin typeface="Arial"/>
                          <a:ea typeface="Arial"/>
                          <a:cs typeface="Arial"/>
                        </a:rPr>
                        <a:t>Poisoned reverse</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При поверненні до цього сусіда оголосити метрику 16</a:t>
                      </a:r>
                    </a:p>
                  </a:txBody>
                  <a:tcPr marL="91440" marR="91440" marT="45720" marB="45720">
                    <a:lnR w="9525">
                      <a:solidFill>
                        <a:srgbClr val="A8B7C0"/>
                      </a:solidFill>
                      <a:prstDash val="solid"/>
                    </a:lnR>
                    <a:lnB w="9525">
                      <a:solidFill>
                        <a:srgbClr val="A8B7C0"/>
                      </a:solidFill>
                      <a:prstDash val="solid"/>
                    </a:lnB>
                    <a:solidFill>
                      <a:srgbClr val="FFFFFF"/>
                    </a:solidFill>
                  </a:tcPr>
                </a:tc>
              </a:tr>
              <a:tr h="657225">
                <a:tc>
                  <a:txBody>
                    <a:bodyPr/>
                    <a:lstStyle/>
                    <a:p>
                      <a:r>
                        <a:rPr sz="2025" b="0">
                          <a:solidFill>
                            <a:srgbClr val="193247"/>
                          </a:solidFill>
                          <a:latin typeface="Arial"/>
                          <a:ea typeface="Arial"/>
                          <a:cs typeface="Arial"/>
                        </a:rPr>
                        <a:t>Triggered update</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Повідомити про зміну без очікування звичайного оновлення</a:t>
                      </a:r>
                    </a:p>
                  </a:txBody>
                  <a:tcPr marL="91440" marR="91440" marT="45720" marB="45720">
                    <a:lnR w="9525">
                      <a:solidFill>
                        <a:srgbClr val="A8B7C0"/>
                      </a:solidFill>
                      <a:prstDash val="solid"/>
                    </a:lnR>
                    <a:lnB w="9525">
                      <a:solidFill>
                        <a:srgbClr val="A8B7C0"/>
                      </a:solidFill>
                      <a:prstDash val="solid"/>
                    </a:lnB>
                    <a:solidFill>
                      <a:srgbClr val="FFFFFF"/>
                    </a:solidFill>
                  </a:tcPr>
                </a:tc>
              </a:tr>
              <a:tr h="657225">
                <a:tc>
                  <a:txBody>
                    <a:bodyPr/>
                    <a:lstStyle/>
                    <a:p>
                      <a:r>
                        <a:rPr sz="2025" b="0">
                          <a:solidFill>
                            <a:srgbClr val="193247"/>
                          </a:solidFill>
                          <a:latin typeface="Arial"/>
                          <a:ea typeface="Arial"/>
                          <a:cs typeface="Arial"/>
                        </a:rPr>
                        <a:t>Таймери</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Періодичні оновлення ≈30 с, timeout маршруту 180 с</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4FFB0A-7E02-428F-B835-9EE258247570}"/>
              </a:ext>
            </a:extLst>
          </p:cNvPr>
          <p:cNvSpPr>
            <a:spLocks xmlns:a="http://schemas.openxmlformats.org/drawingml/2006/main" noGrp="1"/>
          </p:cNvSpPr>
          <p:nvPr/>
        </p:nvSpPr>
        <p:spPr>
          <a:xfrm xmlns:a="http://schemas.openxmlformats.org/drawingml/2006/main">
            <a:off x="685800" y="52387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R2 використовує R3. Тому до R3 він оголошує N з метрикою 16.</a:t>
            </a:r>
          </a:p>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R3 не прийме власний старий маршрут назад як «альтернативу».</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91</a:t>
            </a:r>
          </a:p>
        </p:txBody>
      </p:sp>
    </p:spTree>
    <p:extLst>
      <p:ext uri="{BB962C8B-B14F-4D97-AF65-F5344CB8AC3E}">
        <p14:creationId xmlns:p14="http://schemas.microsoft.com/office/powerpoint/2010/main" val="10831448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495748-56F0-4F7C-BB86-0EE5F8C1E0B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Інші протоколи: де є та сама основа</a:t>
            </a:r>
          </a:p>
        </p:txBody>
      </p:sp>
      <p:sp>
        <p:nvSpPr>
          <p:cNvPr id="2" name="">
            <a:extLst xmlns:a="http://schemas.openxmlformats.org/drawingml/2006/main">
              <a:ext uri="{FF2B5EF4-FFF2-40B4-BE49-F238E27FC236}">
                <a16:creationId xmlns:a16="http://schemas.microsoft.com/office/drawing/2014/main" id="{54CFB862-FBE0-4552-BE72-4EBA3ECF0B3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RIPng і Babel використовують distance-vector / Bellman–Ford із протокольними механізмами.</a:t>
            </a:r>
          </a:p>
        </p:txBody>
      </p:sp>
      <p:graphicFrame>
        <p:nvGraphicFramePr>
          <p:cNvPr id="3" name="">
            <a:extLst xmlns:a="http://schemas.openxmlformats.org/drawingml/2006/main">
              <a:ext uri="{FF2B5EF4-FFF2-40B4-BE49-F238E27FC236}">
                <a16:creationId xmlns:a16="http://schemas.microsoft.com/office/drawing/2014/main" id="{51F77F64-F158-4591-9EAF-60FA0CFCE4E7}"/>
              </a:ext>
            </a:extLst>
          </p:cNvPr>
          <p:cNvGraphicFramePr/>
          <p:nvPr/>
        </p:nvGraphicFramePr>
        <p:xfrm>
          <a:off xmlns:a="http://schemas.openxmlformats.org/drawingml/2006/main" x="685800" y="1666875"/>
          <a:ext xmlns:a="http://schemas.openxmlformats.org/drawingml/2006/main" cx="10820400" cy="3143250"/>
        </p:xfrm>
        <a:graphic xmlns:a="http://schemas.openxmlformats.org/drawingml/2006/main">
          <a:graphicData uri="http://schemas.openxmlformats.org/drawingml/2006/table">
            <a:tbl>
              <a:tblPr/>
              <a:tblGrid>
                <a:gridCol w="2952750"/>
                <a:gridCol w="7867650"/>
              </a:tblGrid>
              <a:tr h="628650">
                <a:tc>
                  <a:txBody>
                    <a:bodyPr/>
                    <a:lstStyle/>
                    <a:p>
                      <a:r>
                        <a:rPr sz="2025" b="1">
                          <a:solidFill>
                            <a:srgbClr val="FFFFFF"/>
                          </a:solidFill>
                          <a:latin typeface="Arial"/>
                          <a:ea typeface="Arial"/>
                          <a:cs typeface="Arial"/>
                        </a:rPr>
                        <a:t>Протокол</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Зв’язок із розглянутим методом</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2025" b="0">
                          <a:solidFill>
                            <a:srgbClr val="193247"/>
                          </a:solidFill>
                          <a:latin typeface="Arial"/>
                          <a:ea typeface="Arial"/>
                          <a:cs typeface="Arial"/>
                        </a:rPr>
                        <a:t>RIPng (IPv6)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Та сама distance-vector основа, інший формат і адресація</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Babel</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Bellman–Ford + умови допустимості для уникнення петель</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OSPF</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Link-state: карта області та алгоритм Дейкстри</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BGP</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Path-vector, AS_PATH і політики вибору маршрутів</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4ADF8B0-89E6-42CD-8D63-3BA2DE35ABA6}"/>
              </a:ext>
            </a:extLst>
          </p:cNvPr>
          <p:cNvSpPr>
            <a:spLocks xmlns:a="http://schemas.openxmlformats.org/drawingml/2006/main" noGrp="1"/>
          </p:cNvSpPr>
          <p:nvPr/>
        </p:nvSpPr>
        <p:spPr>
          <a:xfrm xmlns:a="http://schemas.openxmlformats.org/drawingml/2006/main">
            <a:off x="685800" y="514350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556B80"/>
                </a:solidFill>
                <a:latin typeface="Arial"/>
                <a:ea typeface="Arial"/>
                <a:cs typeface="Arial"/>
              </a:defRPr>
            </a:defPPr>
          </a:lstStyle>
          <a:p xmlns:a="http://schemas.openxmlformats.org/drawingml/2006/main">
            <a:pPr>
              <a:defRPr sz="2175" b="0">
                <a:solidFill>
                  <a:srgbClr val="556B80"/>
                </a:solidFill>
                <a:latin typeface="Arial"/>
                <a:ea typeface="Arial"/>
                <a:cs typeface="Arial"/>
              </a:defRPr>
            </a:pPr>
            <a:r>
              <a:rPr sz="2175" b="0">
                <a:solidFill>
                  <a:srgbClr val="556B80"/>
                </a:solidFill>
                <a:latin typeface="Arial"/>
                <a:ea typeface="Arial"/>
                <a:cs typeface="Arial"/>
              </a:rPr>
              <a:t>OSPF і BGP наведено для порівняння. Їхній розрахунок не слід ототожнювати з нашою таблицею RIP.</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92</a:t>
            </a:r>
          </a:p>
        </p:txBody>
      </p:sp>
    </p:spTree>
    <p:extLst>
      <p:ext uri="{BB962C8B-B14F-4D97-AF65-F5344CB8AC3E}">
        <p14:creationId xmlns:p14="http://schemas.microsoft.com/office/powerpoint/2010/main" val="62241147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529716-B3F3-4A8B-9D8A-1B0CB2903A2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Додаткові приклади ДП в ІТ</a:t>
            </a:r>
          </a:p>
        </p:txBody>
      </p:sp>
      <p:sp>
        <p:nvSpPr>
          <p:cNvPr id="2" name="">
            <a:extLst xmlns:a="http://schemas.openxmlformats.org/drawingml/2006/main">
              <a:ext uri="{FF2B5EF4-FFF2-40B4-BE49-F238E27FC236}">
                <a16:creationId xmlns:a16="http://schemas.microsoft.com/office/drawing/2014/main" id="{A19A0383-322F-43C0-A668-EEB4B7B13CB4}"/>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Матеріал для практикуму: стан, перехід і порядок обчислення в різних задачах.</a:t>
            </a:r>
          </a:p>
        </p:txBody>
      </p:sp>
      <p:graphicFrame>
        <p:nvGraphicFramePr>
          <p:cNvPr id="3" name="">
            <a:extLst xmlns:a="http://schemas.openxmlformats.org/drawingml/2006/main">
              <a:ext uri="{FF2B5EF4-FFF2-40B4-BE49-F238E27FC236}">
                <a16:creationId xmlns:a16="http://schemas.microsoft.com/office/drawing/2014/main" id="{FFF9C37F-6AF1-4630-80D0-DDDB13A23E4B}"/>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a:tblGrid>
                <a:gridCol w="6191250"/>
                <a:gridCol w="4629150"/>
              </a:tblGrid>
              <a:tr h="685800">
                <a:tc>
                  <a:txBody>
                    <a:bodyPr/>
                    <a:lstStyle/>
                    <a:p>
                      <a:r>
                        <a:rPr sz="2025" b="1">
                          <a:solidFill>
                            <a:srgbClr val="FFFFFF"/>
                          </a:solidFill>
                          <a:latin typeface="Arial"/>
                          <a:ea typeface="Arial"/>
                          <a:cs typeface="Arial"/>
                        </a:rPr>
                        <a:t>Задача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Що зберігаємо</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85800">
                <a:tc>
                  <a:txBody>
                    <a:bodyPr/>
                    <a:lstStyle/>
                    <a:p>
                      <a:r>
                        <a:rPr sz="2025" b="0">
                          <a:solidFill>
                            <a:srgbClr val="193247"/>
                          </a:solidFill>
                          <a:latin typeface="Arial"/>
                          <a:ea typeface="Arial"/>
                          <a:cs typeface="Arial"/>
                        </a:rPr>
                        <a:t>Порівняння рядків: Левенштейн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Вартість перетворення двох префіксів</a:t>
                      </a:r>
                    </a:p>
                  </a:txBody>
                  <a:tcPr marL="91440" marR="91440" marT="45720" marB="45720">
                    <a:lnR w="9525">
                      <a:solidFill>
                        <a:srgbClr val="A8B7C0"/>
                      </a:solidFill>
                      <a:prstDash val="solid"/>
                    </a:lnR>
                    <a:lnB w="9525">
                      <a:solidFill>
                        <a:srgbClr val="A8B7C0"/>
                      </a:solidFill>
                      <a:prstDash val="solid"/>
                    </a:lnB>
                    <a:solidFill>
                      <a:srgbClr val="FFFFFF"/>
                    </a:solidFill>
                  </a:tcPr>
                </a:tc>
              </a:tr>
              <a:tr h="685800">
                <a:tc>
                  <a:txBody>
                    <a:bodyPr/>
                    <a:lstStyle/>
                    <a:p>
                      <a:r>
                        <a:rPr sz="2025" b="0">
                          <a:solidFill>
                            <a:srgbClr val="193247"/>
                          </a:solidFill>
                          <a:latin typeface="Arial"/>
                          <a:ea typeface="Arial"/>
                          <a:cs typeface="Arial"/>
                        </a:rPr>
                        <a:t>Послідовність прихованих станів: Вітербі</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Найкращий шлях до стану на кроці t</a:t>
                      </a:r>
                    </a:p>
                  </a:txBody>
                  <a:tcPr marL="91440" marR="91440" marT="45720" marB="45720">
                    <a:lnR w="9525">
                      <a:solidFill>
                        <a:srgbClr val="A8B7C0"/>
                      </a:solidFill>
                      <a:prstDash val="solid"/>
                    </a:lnR>
                    <a:lnB w="9525">
                      <a:solidFill>
                        <a:srgbClr val="A8B7C0"/>
                      </a:solidFill>
                      <a:prstDash val="solid"/>
                    </a:lnB>
                    <a:solidFill>
                      <a:srgbClr val="FFFFFF"/>
                    </a:solidFill>
                  </a:tcPr>
                </a:tc>
              </a:tr>
              <a:tr h="685800">
                <a:tc>
                  <a:txBody>
                    <a:bodyPr/>
                    <a:lstStyle/>
                    <a:p>
                      <a:r>
                        <a:rPr sz="2025" b="0">
                          <a:solidFill>
                            <a:srgbClr val="193247"/>
                          </a:solidFill>
                          <a:latin typeface="Arial"/>
                          <a:ea typeface="Arial"/>
                          <a:cs typeface="Arial"/>
                        </a:rPr>
                        <a:t>Порядок множення матриць</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Найменшу вартість підланцюжка</a:t>
                      </a:r>
                    </a:p>
                  </a:txBody>
                  <a:tcPr marL="91440" marR="91440" marT="45720" marB="45720">
                    <a:lnR w="9525">
                      <a:solidFill>
                        <a:srgbClr val="A8B7C0"/>
                      </a:solidFill>
                      <a:prstDash val="solid"/>
                    </a:lnR>
                    <a:lnB w="9525">
                      <a:solidFill>
                        <a:srgbClr val="A8B7C0"/>
                      </a:solidFill>
                      <a:prstDash val="solid"/>
                    </a:lnB>
                    <a:solidFill>
                      <a:srgbClr val="FFFFFF"/>
                    </a:solidFill>
                  </a:tcPr>
                </a:tc>
              </a:tr>
              <a:tr h="685800">
                <a:tc>
                  <a:txBody>
                    <a:bodyPr/>
                    <a:lstStyle/>
                    <a:p>
                      <a:r>
                        <a:rPr sz="2025" b="0">
                          <a:solidFill>
                            <a:srgbClr val="193247"/>
                          </a:solidFill>
                          <a:latin typeface="Arial"/>
                          <a:ea typeface="Arial"/>
                          <a:cs typeface="Arial"/>
                        </a:rPr>
                        <a:t>Відстані всіх пар: Флойд–Воршелл</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Найкращий шлях із дозволеними проміжними вузлами</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93</a:t>
            </a:r>
          </a:p>
        </p:txBody>
      </p:sp>
    </p:spTree>
    <p:extLst>
      <p:ext uri="{BB962C8B-B14F-4D97-AF65-F5344CB8AC3E}">
        <p14:creationId xmlns:p14="http://schemas.microsoft.com/office/powerpoint/2010/main" val="1647320961"/>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BA28A3-C115-41C1-8E7D-5B590945F074}"/>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Відстань Левенштейна: порівняння рядків</a:t>
            </a:r>
          </a:p>
        </p:txBody>
      </p:sp>
      <p:sp>
        <p:nvSpPr>
          <p:cNvPr id="2" name="">
            <a:extLst xmlns:a="http://schemas.openxmlformats.org/drawingml/2006/main">
              <a:ext uri="{FF2B5EF4-FFF2-40B4-BE49-F238E27FC236}">
                <a16:creationId xmlns:a16="http://schemas.microsoft.com/office/drawing/2014/main" id="{DE87BFA7-DB42-47C3-B2D5-8D95DDE55EFA}"/>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Вартість вставлення, видалення або заміни символу = 1. Збіг символів = 0.</a:t>
            </a:r>
          </a:p>
        </p:txBody>
      </p:sp>
      <p:sp>
        <p:nvSpPr>
          <p:cNvPr id="3" name="">
            <a:extLst xmlns:a="http://schemas.openxmlformats.org/drawingml/2006/main">
              <a:ext uri="{FF2B5EF4-FFF2-40B4-BE49-F238E27FC236}">
                <a16:creationId xmlns:a16="http://schemas.microsoft.com/office/drawing/2014/main" id="{F1B0B169-900C-43B3-9380-E37A3123DBFB}"/>
              </a:ext>
            </a:extLst>
          </p:cNvPr>
          <p:cNvSpPr>
            <a:spLocks xmlns:a="http://schemas.openxmlformats.org/drawingml/2006/main" noGrp="1"/>
          </p:cNvSpPr>
          <p:nvPr/>
        </p:nvSpPr>
        <p:spPr>
          <a:xfrm xmlns:a="http://schemas.openxmlformats.org/drawingml/2006/main">
            <a:off x="685800" y="1666875"/>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Потрібно перетворити «cat» на «cut».</a:t>
            </a:r>
          </a:p>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Можна вставити, видалити або замінити один символ.</a:t>
            </a:r>
          </a:p>
        </p:txBody>
      </p:sp>
      <p:sp>
        <p:nvSpPr>
          <p:cNvPr id="4" name="">
            <a:extLst xmlns:a="http://schemas.openxmlformats.org/drawingml/2006/main">
              <a:ext uri="{FF2B5EF4-FFF2-40B4-BE49-F238E27FC236}">
                <a16:creationId xmlns:a16="http://schemas.microsoft.com/office/drawing/2014/main" id="{694B4C2E-DA77-4B81-AB4F-BBD61F998889}"/>
              </a:ext>
            </a:extLst>
          </p:cNvPr>
          <p:cNvSpPr>
            <a:spLocks xmlns:a="http://schemas.openxmlformats.org/drawingml/2006/main" noGrp="1"/>
          </p:cNvSpPr>
          <p:nvPr/>
        </p:nvSpPr>
        <p:spPr>
          <a:xfrm xmlns:a="http://schemas.openxmlformats.org/drawingml/2006/main">
            <a:off x="685800" y="3095625"/>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Стан (i, j): уже розглянуті i символів першого рядка</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та j символів другого.</a:t>
            </a:r>
          </a:p>
        </p:txBody>
      </p:sp>
      <p:sp>
        <p:nvSpPr>
          <p:cNvPr id="5" name="">
            <a:extLst xmlns:a="http://schemas.openxmlformats.org/drawingml/2006/main">
              <a:ext uri="{FF2B5EF4-FFF2-40B4-BE49-F238E27FC236}">
                <a16:creationId xmlns:a16="http://schemas.microsoft.com/office/drawing/2014/main" id="{05D97510-39DF-41C8-84AF-BA47DDC82D03}"/>
              </a:ext>
            </a:extLst>
          </p:cNvPr>
          <p:cNvSpPr>
            <a:spLocks xmlns:a="http://schemas.openxmlformats.org/drawingml/2006/main" noGrp="1"/>
          </p:cNvSpPr>
          <p:nvPr/>
        </p:nvSpPr>
        <p:spPr>
          <a:xfrm xmlns:a="http://schemas.openxmlformats.org/drawingml/2006/main">
            <a:off x="685800" y="43338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D(i,j) = min(видалення, вставлення, заміна / збіг)</a:t>
            </a:r>
          </a:p>
        </p:txBody>
      </p:sp>
      <p:sp>
        <p:nvSpPr>
          <p:cNvPr id="6" name="">
            <a:extLst xmlns:a="http://schemas.openxmlformats.org/drawingml/2006/main">
              <a:ext uri="{FF2B5EF4-FFF2-40B4-BE49-F238E27FC236}">
                <a16:creationId xmlns:a16="http://schemas.microsoft.com/office/drawing/2014/main" id="{023CB0CC-7D10-4AD4-9062-02005F77E640}"/>
              </a:ext>
            </a:extLst>
          </p:cNvPr>
          <p:cNvSpPr>
            <a:spLocks xmlns:a="http://schemas.openxmlformats.org/drawingml/2006/main" noGrp="1"/>
          </p:cNvSpPr>
          <p:nvPr/>
        </p:nvSpPr>
        <p:spPr>
          <a:xfrm xmlns:a="http://schemas.openxmlformats.org/drawingml/2006/main">
            <a:off x="685800" y="53340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Для cat → cut достатньо замінити a на u. Відстань =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94</a:t>
            </a:r>
          </a:p>
        </p:txBody>
      </p:sp>
    </p:spTree>
    <p:extLst>
      <p:ext uri="{BB962C8B-B14F-4D97-AF65-F5344CB8AC3E}">
        <p14:creationId xmlns:p14="http://schemas.microsoft.com/office/powerpoint/2010/main" val="40736684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5DB9FD-BFF8-40CF-8FBA-79C7EFB9798D}"/>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Левенштейн: клітинка з трьох попередників</a:t>
            </a:r>
          </a:p>
        </p:txBody>
      </p:sp>
      <p:sp>
        <p:nvSpPr>
          <p:cNvPr id="2" name="">
            <a:extLst xmlns:a="http://schemas.openxmlformats.org/drawingml/2006/main">
              <a:ext uri="{FF2B5EF4-FFF2-40B4-BE49-F238E27FC236}">
                <a16:creationId xmlns:a16="http://schemas.microsoft.com/office/drawing/2014/main" id="{B1FC48CC-0F27-4264-9D11-333DC7D4F8EB}"/>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клітинці D(2,2) порівнюємо «ca» і «cu».</a:t>
            </a:r>
          </a:p>
        </p:txBody>
      </p:sp>
      <p:graphicFrame>
        <p:nvGraphicFramePr>
          <p:cNvPr id="3" name="">
            <a:extLst xmlns:a="http://schemas.openxmlformats.org/drawingml/2006/main">
              <a:ext uri="{FF2B5EF4-FFF2-40B4-BE49-F238E27FC236}">
                <a16:creationId xmlns:a16="http://schemas.microsoft.com/office/drawing/2014/main" id="{45000F8E-8598-4123-8524-55D397288A81}"/>
              </a:ext>
            </a:extLst>
          </p:cNvPr>
          <p:cNvGraphicFramePr/>
          <p:nvPr/>
        </p:nvGraphicFramePr>
        <p:xfrm>
          <a:off xmlns:a="http://schemas.openxmlformats.org/drawingml/2006/main" x="685800" y="1619250"/>
          <a:ext xmlns:a="http://schemas.openxmlformats.org/drawingml/2006/main" cx="10820400" cy="3143250"/>
        </p:xfrm>
        <a:graphic xmlns:a="http://schemas.openxmlformats.org/drawingml/2006/main">
          <a:graphicData uri="http://schemas.openxmlformats.org/drawingml/2006/table">
            <a:tbl>
              <a:tblPr/>
              <a:tblGrid>
                <a:gridCol w="2095500"/>
                <a:gridCol w="2181225"/>
                <a:gridCol w="2181225"/>
                <a:gridCol w="2181225"/>
                <a:gridCol w="2181225"/>
              </a:tblGrid>
              <a:tr h="628650">
                <a:tc>
                  <a:txBody>
                    <a:bodyPr/>
                    <a:lstStyle/>
                    <a:p>
                      <a:r>
                        <a:rPr sz="2025" b="1">
                          <a:solidFill>
                            <a:srgbClr val="FFFFFF"/>
                          </a:solidFill>
                          <a:latin typeface="Arial"/>
                          <a:ea typeface="Arial"/>
                          <a:cs typeface="Arial"/>
                        </a:rPr>
                        <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c</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u</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t</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2025" b="0">
                          <a:solidFill>
                            <a:srgbClr val="193247"/>
                          </a:solidFill>
                          <a:latin typeface="Arial"/>
                          <a:ea typeface="Arial"/>
                          <a:cs typeface="Arial"/>
                        </a:rPr>
                        <a:t>∅</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EDF4F8"/>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EDF4F8"/>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a</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EDF4F8"/>
                    </a:solidFill>
                  </a:tcPr>
                </a:tc>
                <a:tc>
                  <a:txBody>
                    <a:bodyPr/>
                    <a:lstStyle/>
                    <a:p>
                      <a:r>
                        <a:rPr sz="2175" b="1">
                          <a:solidFill>
                            <a:srgbClr val="008B85"/>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DEF3EC"/>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t</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175" b="1">
                          <a:solidFill>
                            <a:srgbClr val="008B85"/>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4" name="">
            <a:extLst xmlns:a="http://schemas.openxmlformats.org/drawingml/2006/main">
              <a:ext uri="{FF2B5EF4-FFF2-40B4-BE49-F238E27FC236}">
                <a16:creationId xmlns:a16="http://schemas.microsoft.com/office/drawing/2014/main" id="{D8B81E23-E21B-41AE-A097-BF3AB8A18ED2}"/>
              </a:ext>
            </a:extLst>
          </p:cNvPr>
          <p:cNvSpPr>
            <a:spLocks xmlns:a="http://schemas.openxmlformats.org/drawingml/2006/main" noGrp="1"/>
          </p:cNvSpPr>
          <p:nvPr/>
        </p:nvSpPr>
        <p:spPr>
          <a:xfrm xmlns:a="http://schemas.openxmlformats.org/drawingml/2006/main">
            <a:off x="685800" y="514350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Видалення: 1+1=2. Вставлення: 1+1=2. Заміна: 0+1=1.</a:t>
            </a:r>
          </a:p>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Беремо 1 з діагонального попередника. Кінцева відповідь D(3,3)=1.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95</a:t>
            </a:r>
          </a:p>
        </p:txBody>
      </p:sp>
    </p:spTree>
    <p:extLst>
      <p:ext uri="{BB962C8B-B14F-4D97-AF65-F5344CB8AC3E}">
        <p14:creationId xmlns:p14="http://schemas.microsoft.com/office/powerpoint/2010/main" val="208285338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FA3A3A-5E2F-4E3A-B84D-FA5D8E516FD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Левенштейн: повний приклад Python</a:t>
            </a:r>
          </a:p>
        </p:txBody>
      </p:sp>
      <p:sp>
        <p:nvSpPr>
          <p:cNvPr id="2" name="">
            <a:extLst xmlns:a="http://schemas.openxmlformats.org/drawingml/2006/main">
              <a:ext uri="{FF2B5EF4-FFF2-40B4-BE49-F238E27FC236}">
                <a16:creationId xmlns:a16="http://schemas.microsoft.com/office/drawing/2014/main" id="{8E39989D-2034-43E6-9E2B-2FC705612B8E}"/>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Усі залежності ведуть у вже заповнені клітинки. Час O(mn), пам’ять цієї версії O(mn).</a:t>
            </a:r>
          </a:p>
        </p:txBody>
      </p:sp>
      <p:sp>
        <p:nvSpPr>
          <p:cNvPr id="3" name="">
            <a:extLst xmlns:a="http://schemas.openxmlformats.org/drawingml/2006/main">
              <a:ext uri="{FF2B5EF4-FFF2-40B4-BE49-F238E27FC236}">
                <a16:creationId xmlns:a16="http://schemas.microsoft.com/office/drawing/2014/main" id="{5ADD7134-4F3B-43A1-A8C4-437EBB7BA39C}"/>
              </a:ext>
            </a:extLst>
          </p:cNvPr>
          <p:cNvSpPr>
            <a:spLocks xmlns:a="http://schemas.openxmlformats.org/drawingml/2006/main" noGrp="1"/>
          </p:cNvSpPr>
          <p:nvPr/>
        </p:nvSpPr>
        <p:spPr>
          <a:xfrm xmlns:a="http://schemas.openxmlformats.org/drawingml/2006/main">
            <a:off x="838200" y="1619250"/>
            <a:ext cx="10477500" cy="2947797"/>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193247"/>
                </a:solidFill>
                <a:latin typeface="Courier New"/>
                <a:ea typeface="Courier New"/>
                <a:cs typeface="Courier New"/>
              </a:defRPr>
            </a:defPPr>
          </a:lstStyle>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a, b = "cat", "cut"</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D = [[0]*(len(b)+1) for _ in range(len(a)+1)]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i in range(len(a)+1): D[i][0] = i</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j in range(len(b)+1): D[0][j] = j</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i in range(1, len(a)+1):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for j in range(1, len(b)+1):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D[i][j] = min(D[i-1][j]+1, D[i][j-1]+1,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D[i-1][j-1]+(a[i-1] != b[j-1]))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print("distance =", D[-1][-1])</a:t>
            </a:r>
          </a:p>
        </p:txBody>
      </p:sp>
      <p:sp>
        <p:nvSpPr>
          <p:cNvPr id="4" name="">
            <a:extLst xmlns:a="http://schemas.openxmlformats.org/drawingml/2006/main">
              <a:ext uri="{FF2B5EF4-FFF2-40B4-BE49-F238E27FC236}">
                <a16:creationId xmlns:a16="http://schemas.microsoft.com/office/drawing/2014/main" id="{97AFAD48-9880-458B-ACA6-A993C30A3F0B}"/>
              </a:ext>
            </a:extLst>
          </p:cNvPr>
          <p:cNvSpPr>
            <a:spLocks xmlns:a="http://schemas.openxmlformats.org/drawingml/2006/main" noGrp="1"/>
          </p:cNvSpPr>
          <p:nvPr/>
        </p:nvSpPr>
        <p:spPr>
          <a:xfrm xmlns:a="http://schemas.openxmlformats.org/drawingml/2006/main">
            <a:off x="838200" y="4805172"/>
            <a:ext cx="10477500" cy="666750"/>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Courier New"/>
                <a:ea typeface="Courier New"/>
                <a:cs typeface="Courier New"/>
              </a:defRPr>
            </a:defPPr>
          </a:lstStyle>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distance =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97</a:t>
            </a:r>
          </a:p>
        </p:txBody>
      </p:sp>
    </p:spTree>
    <p:extLst>
      <p:ext uri="{BB962C8B-B14F-4D97-AF65-F5344CB8AC3E}">
        <p14:creationId xmlns:p14="http://schemas.microsoft.com/office/powerpoint/2010/main" val="36664847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C8D672-89FC-4BC2-A6CE-E4A0DD7D8F3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Вітербі: найімовірніша послідовність станів</a:t>
            </a:r>
          </a:p>
        </p:txBody>
      </p:sp>
      <p:sp>
        <p:nvSpPr>
          <p:cNvPr id="2" name="">
            <a:extLst xmlns:a="http://schemas.openxmlformats.org/drawingml/2006/main">
              <a:ext uri="{FF2B5EF4-FFF2-40B4-BE49-F238E27FC236}">
                <a16:creationId xmlns:a16="http://schemas.microsoft.com/office/drawing/2014/main" id="{DF88C5F6-76A0-4971-B415-3853607EF80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Дані умовні. Стан сервісу прихований, а спостереження доступні.</a:t>
            </a:r>
          </a:p>
        </p:txBody>
      </p:sp>
      <p:sp>
        <p:nvSpPr>
          <p:cNvPr id="3" name="">
            <a:extLst xmlns:a="http://schemas.openxmlformats.org/drawingml/2006/main">
              <a:ext uri="{FF2B5EF4-FFF2-40B4-BE49-F238E27FC236}">
                <a16:creationId xmlns:a16="http://schemas.microsoft.com/office/drawing/2014/main" id="{4EE48AA9-6179-46B2-A4EF-43A551A0C23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Стани: N — норма, F — збій. Спостереження: low, high, high.</a:t>
            </a:r>
          </a:p>
        </p:txBody>
      </p:sp>
      <p:graphicFrame>
        <p:nvGraphicFramePr>
          <p:cNvPr id="4" name="">
            <a:extLst xmlns:a="http://schemas.openxmlformats.org/drawingml/2006/main">
              <a:ext uri="{FF2B5EF4-FFF2-40B4-BE49-F238E27FC236}">
                <a16:creationId xmlns:a16="http://schemas.microsoft.com/office/drawing/2014/main" id="{C33A491E-3031-4D25-9F8D-1DCB69EC1D3F}"/>
              </a:ext>
            </a:extLst>
          </p:cNvPr>
          <p:cNvGraphicFramePr/>
          <p:nvPr/>
        </p:nvGraphicFramePr>
        <p:xfrm>
          <a:off xmlns:a="http://schemas.openxmlformats.org/drawingml/2006/main" x="685800" y="2476500"/>
          <a:ext xmlns:a="http://schemas.openxmlformats.org/drawingml/2006/main" cx="10820400" cy="2762250"/>
        </p:xfrm>
        <a:graphic xmlns:a="http://schemas.openxmlformats.org/drawingml/2006/main">
          <a:graphicData uri="http://schemas.openxmlformats.org/drawingml/2006/table">
            <a:tbl>
              <a:tblPr/>
              <a:tblGrid>
                <a:gridCol w="5905500"/>
                <a:gridCol w="2457450"/>
                <a:gridCol w="2457450"/>
              </a:tblGrid>
              <a:tr h="460375">
                <a:tc>
                  <a:txBody>
                    <a:bodyPr/>
                    <a:lstStyle/>
                    <a:p>
                      <a:r>
                        <a:rPr sz="2025" b="1">
                          <a:solidFill>
                            <a:srgbClr val="FFFFFF"/>
                          </a:solidFill>
                          <a:latin typeface="Arial"/>
                          <a:ea typeface="Arial"/>
                          <a:cs typeface="Arial"/>
                        </a:rPr>
                        <a:t>Параметр</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F</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60375">
                <a:tc>
                  <a:txBody>
                    <a:bodyPr/>
                    <a:lstStyle/>
                    <a:p>
                      <a:r>
                        <a:rPr sz="2025" b="0">
                          <a:solidFill>
                            <a:srgbClr val="193247"/>
                          </a:solidFill>
                          <a:latin typeface="Arial"/>
                          <a:ea typeface="Arial"/>
                          <a:cs typeface="Arial"/>
                        </a:rPr>
                        <a:t>Початкові ймовірності</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Перехід з N</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0.8</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0.2</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Перехід з F</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0.7</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P(low | стан)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0.2</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P(high | стан)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0.8</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970A4B6-DAFD-4786-8FFE-381F1D9D6DAB}"/>
              </a:ext>
            </a:extLst>
          </p:cNvPr>
          <p:cNvSpPr>
            <a:spLocks xmlns:a="http://schemas.openxmlformats.org/drawingml/2006/main" noGrp="1"/>
          </p:cNvSpPr>
          <p:nvPr/>
        </p:nvSpPr>
        <p:spPr>
          <a:xfrm xmlns:a="http://schemas.openxmlformats.org/drawingml/2006/main">
            <a:off x="685800" y="538162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Для кожного стану залишаємо найімовірніший шлях до нього. Потім відновлюємо послідовність за попередниками.</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98</a:t>
            </a:r>
          </a:p>
        </p:txBody>
      </p:sp>
    </p:spTree>
    <p:extLst>
      <p:ext uri="{BB962C8B-B14F-4D97-AF65-F5344CB8AC3E}">
        <p14:creationId xmlns:p14="http://schemas.microsoft.com/office/powerpoint/2010/main" val="13847561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3BA1AC-5F33-400C-BD51-62AE4BD95B42}"/>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Вітербі: три кроки та відновлення</a:t>
            </a:r>
          </a:p>
        </p:txBody>
      </p:sp>
      <p:sp>
        <p:nvSpPr>
          <p:cNvPr id="2" name="">
            <a:extLst xmlns:a="http://schemas.openxmlformats.org/drawingml/2006/main">
              <a:ext uri="{FF2B5EF4-FFF2-40B4-BE49-F238E27FC236}">
                <a16:creationId xmlns:a16="http://schemas.microsoft.com/office/drawing/2014/main" id="{83A53F51-F39C-49BE-8D32-2347AAB42A5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Це ймовірності найкращих спільних шляхів, а не нормовані ймовірності станів.</a:t>
            </a:r>
          </a:p>
        </p:txBody>
      </p:sp>
      <p:graphicFrame>
        <p:nvGraphicFramePr>
          <p:cNvPr id="3" name="">
            <a:extLst xmlns:a="http://schemas.openxmlformats.org/drawingml/2006/main">
              <a:ext uri="{FF2B5EF4-FFF2-40B4-BE49-F238E27FC236}">
                <a16:creationId xmlns:a16="http://schemas.microsoft.com/office/drawing/2014/main" id="{CC4C683D-9BC9-427D-B0F1-8CEA5B699DCE}"/>
              </a:ext>
            </a:extLst>
          </p:cNvPr>
          <p:cNvGraphicFramePr/>
          <p:nvPr/>
        </p:nvGraphicFramePr>
        <p:xfrm>
          <a:off xmlns:a="http://schemas.openxmlformats.org/drawingml/2006/main" x="685800" y="1714500"/>
          <a:ext xmlns:a="http://schemas.openxmlformats.org/drawingml/2006/main" cx="10820400" cy="2619375"/>
        </p:xfrm>
        <a:graphic xmlns:a="http://schemas.openxmlformats.org/drawingml/2006/main">
          <a:graphicData uri="http://schemas.openxmlformats.org/drawingml/2006/table">
            <a:tbl>
              <a:tblPr/>
              <a:tblGrid>
                <a:gridCol w="3238500"/>
                <a:gridCol w="3790950"/>
                <a:gridCol w="3790950"/>
              </a:tblGrid>
              <a:tr h="654844">
                <a:tc>
                  <a:txBody>
                    <a:bodyPr/>
                    <a:lstStyle/>
                    <a:p>
                      <a:r>
                        <a:rPr sz="2025" b="1">
                          <a:solidFill>
                            <a:srgbClr val="FFFFFF"/>
                          </a:solidFill>
                          <a:latin typeface="Arial"/>
                          <a:ea typeface="Arial"/>
                          <a:cs typeface="Arial"/>
                        </a:rPr>
                        <a:t>t / спостереження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Найкращий шлях до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Найкращий шлях до F</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54844">
                <a:tc>
                  <a:txBody>
                    <a:bodyPr/>
                    <a:lstStyle/>
                    <a:p>
                      <a:r>
                        <a:rPr sz="2025" b="0">
                          <a:solidFill>
                            <a:srgbClr val="193247"/>
                          </a:solidFill>
                          <a:latin typeface="Arial"/>
                          <a:ea typeface="Arial"/>
                          <a:cs typeface="Arial"/>
                        </a:rPr>
                        <a:t>1 / low</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0.9·0.9 = 0.81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0.1·0.2 = 0.02</a:t>
                      </a:r>
                    </a:p>
                  </a:txBody>
                  <a:tcPr marL="91440" marR="91440" marT="45720" marB="45720">
                    <a:lnR w="9525">
                      <a:solidFill>
                        <a:srgbClr val="A8B7C0"/>
                      </a:solidFill>
                      <a:prstDash val="solid"/>
                    </a:lnR>
                    <a:lnB w="9525">
                      <a:solidFill>
                        <a:srgbClr val="A8B7C0"/>
                      </a:solidFill>
                      <a:prstDash val="solid"/>
                    </a:lnB>
                    <a:solidFill>
                      <a:srgbClr val="FFFFFF"/>
                    </a:solidFill>
                  </a:tcPr>
                </a:tc>
              </a:tr>
              <a:tr h="654844">
                <a:tc>
                  <a:txBody>
                    <a:bodyPr/>
                    <a:lstStyle/>
                    <a:p>
                      <a:r>
                        <a:rPr sz="2025" b="0">
                          <a:solidFill>
                            <a:srgbClr val="193247"/>
                          </a:solidFill>
                          <a:latin typeface="Arial"/>
                          <a:ea typeface="Arial"/>
                          <a:cs typeface="Arial"/>
                        </a:rPr>
                        <a:t>2 / high</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0.0648</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0.1296</a:t>
                      </a:r>
                    </a:p>
                  </a:txBody>
                  <a:tcPr marL="91440" marR="91440" marT="45720" marB="45720">
                    <a:lnR w="9525">
                      <a:solidFill>
                        <a:srgbClr val="A8B7C0"/>
                      </a:solidFill>
                      <a:prstDash val="solid"/>
                    </a:lnR>
                    <a:lnB w="9525">
                      <a:solidFill>
                        <a:srgbClr val="A8B7C0"/>
                      </a:solidFill>
                      <a:prstDash val="solid"/>
                    </a:lnB>
                    <a:solidFill>
                      <a:srgbClr val="FFFFFF"/>
                    </a:solidFill>
                  </a:tcPr>
                </a:tc>
              </a:tr>
              <a:tr h="654844">
                <a:tc>
                  <a:txBody>
                    <a:bodyPr/>
                    <a:lstStyle/>
                    <a:p>
                      <a:r>
                        <a:rPr sz="2025" b="0">
                          <a:solidFill>
                            <a:srgbClr val="193247"/>
                          </a:solidFill>
                          <a:latin typeface="Arial"/>
                          <a:ea typeface="Arial"/>
                          <a:cs typeface="Arial"/>
                        </a:rPr>
                        <a:t>3 / high</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0.005184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0.072576</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42B58CD-D0D2-448A-AD20-528E39177DD2}"/>
              </a:ext>
            </a:extLst>
          </p:cNvPr>
          <p:cNvSpPr>
            <a:spLocks xmlns:a="http://schemas.openxmlformats.org/drawingml/2006/main" noGrp="1"/>
          </p:cNvSpPr>
          <p:nvPr/>
        </p:nvSpPr>
        <p:spPr>
          <a:xfrm xmlns:a="http://schemas.openxmlformats.org/drawingml/2006/main">
            <a:off x="685800" y="4619625"/>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Приклад для F на кроці 2:</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max(0.81·0.2, 0.02·0.7)·0.8 = 0.1296.</a:t>
            </a:r>
          </a:p>
        </p:txBody>
      </p:sp>
      <p:sp>
        <p:nvSpPr>
          <p:cNvPr id="5" name="">
            <a:extLst xmlns:a="http://schemas.openxmlformats.org/drawingml/2006/main">
              <a:ext uri="{FF2B5EF4-FFF2-40B4-BE49-F238E27FC236}">
                <a16:creationId xmlns:a16="http://schemas.microsoft.com/office/drawing/2014/main" id="{7E8D4D46-D705-49A5-B806-439DED433F71}"/>
              </a:ext>
            </a:extLst>
          </p:cNvPr>
          <p:cNvSpPr>
            <a:spLocks xmlns:a="http://schemas.openxmlformats.org/drawingml/2006/main" noGrp="1"/>
          </p:cNvSpPr>
          <p:nvPr/>
        </p:nvSpPr>
        <p:spPr>
          <a:xfrm xmlns:a="http://schemas.openxmlformats.org/drawingml/2006/main">
            <a:off x="685800" y="552450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Найкраща послідовність: N → F → F. Спільна ймовірність = 0.072576.</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99</a:t>
            </a:r>
          </a:p>
        </p:txBody>
      </p:sp>
    </p:spTree>
    <p:extLst>
      <p:ext uri="{BB962C8B-B14F-4D97-AF65-F5344CB8AC3E}">
        <p14:creationId xmlns:p14="http://schemas.microsoft.com/office/powerpoint/2010/main" val="31856952"/>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A3ED9D-D1ED-458D-B52E-8DE2A51BB79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Огляд: порядок множення матриць</a:t>
            </a:r>
          </a:p>
        </p:txBody>
      </p:sp>
      <p:sp>
        <p:nvSpPr>
          <p:cNvPr id="2" name="">
            <a:extLst xmlns:a="http://schemas.openxmlformats.org/drawingml/2006/main">
              <a:ext uri="{FF2B5EF4-FFF2-40B4-BE49-F238E27FC236}">
                <a16:creationId xmlns:a16="http://schemas.microsoft.com/office/drawing/2014/main" id="{CE5D71AE-9FCE-47A5-B3D7-812E80BB821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Результат добутку однаковий. Кількість арифметичних операцій залежить від дужок.</a:t>
            </a:r>
          </a:p>
        </p:txBody>
      </p:sp>
      <p:sp>
        <p:nvSpPr>
          <p:cNvPr id="3" name="">
            <a:extLst xmlns:a="http://schemas.openxmlformats.org/drawingml/2006/main">
              <a:ext uri="{FF2B5EF4-FFF2-40B4-BE49-F238E27FC236}">
                <a16:creationId xmlns:a16="http://schemas.microsoft.com/office/drawing/2014/main" id="{9FC2A828-5C57-4100-8B0B-CD0BDE08DE6F}"/>
              </a:ext>
            </a:extLst>
          </p:cNvPr>
          <p:cNvSpPr>
            <a:spLocks xmlns:a="http://schemas.openxmlformats.org/drawingml/2006/main" noGrp="1"/>
          </p:cNvSpPr>
          <p:nvPr/>
        </p:nvSpPr>
        <p:spPr>
          <a:xfrm xmlns:a="http://schemas.openxmlformats.org/drawingml/2006/main">
            <a:off x="685800" y="17145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0">
                <a:solidFill>
                  <a:srgbClr val="193247"/>
                </a:solidFill>
                <a:latin typeface="Arial"/>
                <a:ea typeface="Arial"/>
                <a:cs typeface="Arial"/>
              </a:defRPr>
            </a:defPPr>
          </a:lstStyle>
          <a:p xmlns:a="http://schemas.openxmlformats.org/drawingml/2006/main">
            <a:pPr>
              <a:defRPr sz="2850" b="0">
                <a:solidFill>
                  <a:srgbClr val="193247"/>
                </a:solidFill>
                <a:latin typeface="Arial"/>
                <a:ea typeface="Arial"/>
                <a:cs typeface="Arial"/>
              </a:defRPr>
            </a:pPr>
            <a:r>
              <a:rPr sz="2850" b="0">
                <a:solidFill>
                  <a:srgbClr val="193247"/>
                </a:solidFill>
                <a:latin typeface="Arial"/>
                <a:ea typeface="Arial"/>
                <a:cs typeface="Arial"/>
              </a:rPr>
              <a:t>A: 10×100, B: 100×5, C: 5×50</a:t>
            </a:r>
          </a:p>
        </p:txBody>
      </p:sp>
      <p:graphicFrame>
        <p:nvGraphicFramePr>
          <p:cNvPr id="4" name="">
            <a:extLst xmlns:a="http://schemas.openxmlformats.org/drawingml/2006/main">
              <a:ext uri="{FF2B5EF4-FFF2-40B4-BE49-F238E27FC236}">
                <a16:creationId xmlns:a16="http://schemas.microsoft.com/office/drawing/2014/main" id="{ABD39971-AB27-44FF-BD03-500162A96361}"/>
              </a:ext>
            </a:extLst>
          </p:cNvPr>
          <p:cNvGraphicFramePr/>
          <p:nvPr/>
        </p:nvGraphicFramePr>
        <p:xfrm>
          <a:off xmlns:a="http://schemas.openxmlformats.org/drawingml/2006/main" x="685800" y="2857500"/>
          <a:ext xmlns:a="http://schemas.openxmlformats.org/drawingml/2006/main" cx="10820400" cy="2000250"/>
        </p:xfrm>
        <a:graphic xmlns:a="http://schemas.openxmlformats.org/drawingml/2006/main">
          <a:graphicData uri="http://schemas.openxmlformats.org/drawingml/2006/table">
            <a:tbl>
              <a:tblPr/>
              <a:tblGrid>
                <a:gridCol w="3429000"/>
                <a:gridCol w="7391400"/>
              </a:tblGrid>
              <a:tr h="666750">
                <a:tc>
                  <a:txBody>
                    <a:bodyPr/>
                    <a:lstStyle/>
                    <a:p>
                      <a:r>
                        <a:rPr sz="2025" b="1">
                          <a:solidFill>
                            <a:srgbClr val="FFFFFF"/>
                          </a:solidFill>
                          <a:latin typeface="Arial"/>
                          <a:ea typeface="Arial"/>
                          <a:cs typeface="Arial"/>
                        </a:rPr>
                        <a:t>Порядок</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Кількість скалярних множень</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66750">
                <a:tc>
                  <a:txBody>
                    <a:bodyPr/>
                    <a:lstStyle/>
                    <a:p>
                      <a:r>
                        <a:rPr sz="2025" b="0">
                          <a:solidFill>
                            <a:srgbClr val="193247"/>
                          </a:solidFill>
                          <a:latin typeface="Arial"/>
                          <a:ea typeface="Arial"/>
                          <a:cs typeface="Arial"/>
                        </a:rPr>
                        <a:t>(AB)C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10·100·5 + 10·5·50 = 7 500</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A(BC)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100·5·50 + 10·100·50 = 75 000</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5CDB697-94C8-45AA-98F9-AADF9386C431}"/>
              </a:ext>
            </a:extLst>
          </p:cNvPr>
          <p:cNvSpPr>
            <a:spLocks xmlns:a="http://schemas.openxmlformats.org/drawingml/2006/main" noGrp="1"/>
          </p:cNvSpPr>
          <p:nvPr/>
        </p:nvSpPr>
        <p:spPr>
          <a:xfrm xmlns:a="http://schemas.openxmlformats.org/drawingml/2006/main">
            <a:off x="685800" y="523875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Стан (i,j): підланцюжок матриць. Дія: місце розбиття.</a:t>
            </a:r>
          </a:p>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ДП зберігає найменшу вартість і найкраще розбиття.</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101</a:t>
            </a:r>
          </a:p>
        </p:txBody>
      </p:sp>
    </p:spTree>
    <p:extLst>
      <p:ext uri="{BB962C8B-B14F-4D97-AF65-F5344CB8AC3E}">
        <p14:creationId xmlns:p14="http://schemas.microsoft.com/office/powerpoint/2010/main" val="108963137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E8B2B83-4FF1-4E4B-9AFD-E3214205850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Огляд: Флойд–Воршелл для всіх пар</a:t>
            </a:r>
          </a:p>
        </p:txBody>
      </p:sp>
      <p:sp>
        <p:nvSpPr>
          <p:cNvPr id="2" name="">
            <a:extLst xmlns:a="http://schemas.openxmlformats.org/drawingml/2006/main">
              <a:ext uri="{FF2B5EF4-FFF2-40B4-BE49-F238E27FC236}">
                <a16:creationId xmlns:a16="http://schemas.microsoft.com/office/drawing/2014/main" id="{98915BEC-A8C8-43B5-A40E-73F0D5AF9BF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Повний алгоритм по черзі дозволяє кожну вершину як проміжну.</a:t>
            </a:r>
          </a:p>
        </p:txBody>
      </p:sp>
      <p:sp>
        <p:nvSpPr>
          <p:cNvPr id="3" name="">
            <a:extLst xmlns:a="http://schemas.openxmlformats.org/drawingml/2006/main">
              <a:ext uri="{FF2B5EF4-FFF2-40B4-BE49-F238E27FC236}">
                <a16:creationId xmlns:a16="http://schemas.microsoft.com/office/drawing/2014/main" id="{79404F56-C566-4977-ABB6-132F73FA5BC7}"/>
              </a:ext>
            </a:extLst>
          </p:cNvPr>
          <p:cNvSpPr>
            <a:spLocks xmlns:a="http://schemas.openxmlformats.org/drawingml/2006/main" noGrp="1"/>
          </p:cNvSpPr>
          <p:nvPr/>
        </p:nvSpPr>
        <p:spPr>
          <a:xfrm xmlns:a="http://schemas.openxmlformats.org/drawingml/2006/main">
            <a:off x="857250" y="2762250"/>
            <a:ext cx="1333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7AD38586-C39E-455B-A812-357DF6D472D9}"/>
              </a:ext>
            </a:extLst>
          </p:cNvPr>
          <p:cNvSpPr>
            <a:spLocks xmlns:a="http://schemas.openxmlformats.org/drawingml/2006/main" noGrp="1"/>
          </p:cNvSpPr>
          <p:nvPr/>
        </p:nvSpPr>
        <p:spPr>
          <a:xfrm xmlns:a="http://schemas.openxmlformats.org/drawingml/2006/main">
            <a:off x="990600" y="2876550"/>
            <a:ext cx="1066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A</a:t>
            </a:r>
          </a:p>
        </p:txBody>
      </p:sp>
      <p:sp>
        <p:nvSpPr>
          <p:cNvPr id="5" name="">
            <a:extLst xmlns:a="http://schemas.openxmlformats.org/drawingml/2006/main">
              <a:ext uri="{FF2B5EF4-FFF2-40B4-BE49-F238E27FC236}">
                <a16:creationId xmlns:a16="http://schemas.microsoft.com/office/drawing/2014/main" id="{E5136EF4-6522-47D8-AA07-A259331367B6}"/>
              </a:ext>
            </a:extLst>
          </p:cNvPr>
          <p:cNvSpPr>
            <a:spLocks xmlns:a="http://schemas.openxmlformats.org/drawingml/2006/main" noGrp="1"/>
          </p:cNvSpPr>
          <p:nvPr/>
        </p:nvSpPr>
        <p:spPr>
          <a:xfrm xmlns:a="http://schemas.openxmlformats.org/drawingml/2006/main">
            <a:off x="5381625" y="2762250"/>
            <a:ext cx="1333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91944D79-7215-4733-8587-352914EA7385}"/>
              </a:ext>
            </a:extLst>
          </p:cNvPr>
          <p:cNvSpPr>
            <a:spLocks xmlns:a="http://schemas.openxmlformats.org/drawingml/2006/main" noGrp="1"/>
          </p:cNvSpPr>
          <p:nvPr/>
        </p:nvSpPr>
        <p:spPr>
          <a:xfrm xmlns:a="http://schemas.openxmlformats.org/drawingml/2006/main">
            <a:off x="5514975" y="2876550"/>
            <a:ext cx="1066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B</a:t>
            </a:r>
          </a:p>
        </p:txBody>
      </p:sp>
      <p:sp>
        <p:nvSpPr>
          <p:cNvPr id="7" name="">
            <a:extLst xmlns:a="http://schemas.openxmlformats.org/drawingml/2006/main">
              <a:ext uri="{FF2B5EF4-FFF2-40B4-BE49-F238E27FC236}">
                <a16:creationId xmlns:a16="http://schemas.microsoft.com/office/drawing/2014/main" id="{8212DCB0-A1C9-4C73-8D2E-FC2B8BAB653E}"/>
              </a:ext>
            </a:extLst>
          </p:cNvPr>
          <p:cNvSpPr>
            <a:spLocks xmlns:a="http://schemas.openxmlformats.org/drawingml/2006/main" noGrp="1"/>
          </p:cNvSpPr>
          <p:nvPr/>
        </p:nvSpPr>
        <p:spPr>
          <a:xfrm xmlns:a="http://schemas.openxmlformats.org/drawingml/2006/main">
            <a:off x="9906000" y="2762250"/>
            <a:ext cx="1333500" cy="714375"/>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BA860F1C-9C83-4178-B3BE-FE9F5B488320}"/>
              </a:ext>
            </a:extLst>
          </p:cNvPr>
          <p:cNvSpPr>
            <a:spLocks xmlns:a="http://schemas.openxmlformats.org/drawingml/2006/main" noGrp="1"/>
          </p:cNvSpPr>
          <p:nvPr/>
        </p:nvSpPr>
        <p:spPr>
          <a:xfrm xmlns:a="http://schemas.openxmlformats.org/drawingml/2006/main">
            <a:off x="10039350" y="2876550"/>
            <a:ext cx="1066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t>
            </a:r>
          </a:p>
        </p:txBody>
      </p:sp>
      <p:sp>
        <p:nvSpPr>
          <p:cNvPr id="9" name="">
            <a:extLst xmlns:a="http://schemas.openxmlformats.org/drawingml/2006/main">
              <a:ext uri="{FF2B5EF4-FFF2-40B4-BE49-F238E27FC236}">
                <a16:creationId xmlns:a16="http://schemas.microsoft.com/office/drawing/2014/main" id="{2A7AA450-0A6A-43AF-8EC3-40E7B86A7891}"/>
              </a:ext>
            </a:extLst>
          </p:cNvPr>
          <p:cNvSpPr>
            <a:spLocks xmlns:a="http://schemas.openxmlformats.org/drawingml/2006/main" noGrp="1"/>
          </p:cNvSpPr>
          <p:nvPr/>
        </p:nvSpPr>
        <p:spPr>
          <a:xfrm xmlns:a="http://schemas.openxmlformats.org/drawingml/2006/main" rot="0">
            <a:off x="2286000" y="3067050"/>
            <a:ext cx="3000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CCFCB3-D9D4-4942-96D1-382205559834}"/>
              </a:ext>
            </a:extLst>
          </p:cNvPr>
          <p:cNvSpPr>
            <a:spLocks xmlns:a="http://schemas.openxmlformats.org/drawingml/2006/main" noGrp="1"/>
          </p:cNvSpPr>
          <p:nvPr/>
        </p:nvSpPr>
        <p:spPr>
          <a:xfrm xmlns:a="http://schemas.openxmlformats.org/drawingml/2006/main" rot="0">
            <a:off x="6810375" y="3067050"/>
            <a:ext cx="3000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48CF97-59AC-4580-8E34-19F52943218D}"/>
              </a:ext>
            </a:extLst>
          </p:cNvPr>
          <p:cNvSpPr>
            <a:spLocks xmlns:a="http://schemas.openxmlformats.org/drawingml/2006/main" noGrp="1"/>
          </p:cNvSpPr>
          <p:nvPr/>
        </p:nvSpPr>
        <p:spPr>
          <a:xfrm xmlns:a="http://schemas.openxmlformats.org/drawingml/2006/main">
            <a:off x="3619500" y="25717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17C62AE6-B85A-4DCA-9049-2B053B9B0A2D}"/>
              </a:ext>
            </a:extLst>
          </p:cNvPr>
          <p:cNvSpPr>
            <a:spLocks xmlns:a="http://schemas.openxmlformats.org/drawingml/2006/main" noGrp="1"/>
          </p:cNvSpPr>
          <p:nvPr/>
        </p:nvSpPr>
        <p:spPr>
          <a:xfrm xmlns:a="http://schemas.openxmlformats.org/drawingml/2006/main">
            <a:off x="8143875" y="25717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8E9C8A1F-AF8E-406A-BBDB-B53019B2AFCC}"/>
              </a:ext>
            </a:extLst>
          </p:cNvPr>
          <p:cNvSpPr>
            <a:spLocks xmlns:a="http://schemas.openxmlformats.org/drawingml/2006/main" noGrp="1"/>
          </p:cNvSpPr>
          <p:nvPr/>
        </p:nvSpPr>
        <p:spPr>
          <a:xfrm xmlns:a="http://schemas.openxmlformats.org/drawingml/2006/main">
            <a:off x="1504950" y="2000250"/>
            <a:ext cx="38100" cy="762000"/>
          </a:xfrm>
          <a:prstGeom xmlns:a="http://schemas.openxmlformats.org/drawingml/2006/main" prst="rect">
            <a:avLst/>
          </a:prstGeom>
          <a:solidFill xmlns:a="http://schemas.openxmlformats.org/drawingml/2006/main">
            <a:srgbClr val="556B8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7834B7-B065-42BD-A4DB-6AD23FDA96B3}"/>
              </a:ext>
            </a:extLst>
          </p:cNvPr>
          <p:cNvSpPr>
            <a:spLocks xmlns:a="http://schemas.openxmlformats.org/drawingml/2006/main" noGrp="1"/>
          </p:cNvSpPr>
          <p:nvPr/>
        </p:nvSpPr>
        <p:spPr>
          <a:xfrm xmlns:a="http://schemas.openxmlformats.org/drawingml/2006/main">
            <a:off x="1524000" y="1981200"/>
            <a:ext cx="9048750" cy="38100"/>
          </a:xfrm>
          <a:prstGeom xmlns:a="http://schemas.openxmlformats.org/drawingml/2006/main" prst="rect">
            <a:avLst/>
          </a:prstGeom>
          <a:solidFill xmlns:a="http://schemas.openxmlformats.org/drawingml/2006/main">
            <a:srgbClr val="556B8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0CACAA-0FB1-466D-99FC-14E4434E01C3}"/>
              </a:ext>
            </a:extLst>
          </p:cNvPr>
          <p:cNvSpPr>
            <a:spLocks xmlns:a="http://schemas.openxmlformats.org/drawingml/2006/main" noGrp="1"/>
          </p:cNvSpPr>
          <p:nvPr/>
        </p:nvSpPr>
        <p:spPr>
          <a:xfrm xmlns:a="http://schemas.openxmlformats.org/drawingml/2006/main" rot="5400000">
            <a:off x="10239375" y="2286000"/>
            <a:ext cx="666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4448802-5316-4123-9708-667E8E412BF8}"/>
              </a:ext>
            </a:extLst>
          </p:cNvPr>
          <p:cNvSpPr>
            <a:spLocks xmlns:a="http://schemas.openxmlformats.org/drawingml/2006/main" noGrp="1"/>
          </p:cNvSpPr>
          <p:nvPr/>
        </p:nvSpPr>
        <p:spPr>
          <a:xfrm xmlns:a="http://schemas.openxmlformats.org/drawingml/2006/main">
            <a:off x="4000500" y="14763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556B80"/>
                </a:solidFill>
                <a:latin typeface="Arial"/>
                <a:ea typeface="Arial"/>
                <a:cs typeface="Arial"/>
              </a:defRPr>
            </a:defPPr>
          </a:lstStyle>
          <a:p xmlns:a="http://schemas.openxmlformats.org/drawingml/2006/main">
            <a:pPr>
              <a:defRPr sz="2325" b="0">
                <a:solidFill>
                  <a:srgbClr val="556B80"/>
                </a:solidFill>
                <a:latin typeface="Arial"/>
                <a:ea typeface="Arial"/>
                <a:cs typeface="Arial"/>
              </a:defRPr>
            </a:pPr>
            <a:r>
              <a:rPr sz="2325" b="0">
                <a:solidFill>
                  <a:srgbClr val="556B80"/>
                </a:solidFill>
                <a:latin typeface="Arial"/>
                <a:ea typeface="Arial"/>
                <a:cs typeface="Arial"/>
              </a:rPr>
              <a:t>пряме ребро A–C: 10</a:t>
            </a:r>
          </a:p>
        </p:txBody>
      </p:sp>
      <p:sp>
        <p:nvSpPr>
          <p:cNvPr id="17" name="">
            <a:extLst xmlns:a="http://schemas.openxmlformats.org/drawingml/2006/main">
              <a:ext uri="{FF2B5EF4-FFF2-40B4-BE49-F238E27FC236}">
                <a16:creationId xmlns:a16="http://schemas.microsoft.com/office/drawing/2014/main" id="{D5BC0D9C-6522-4199-897E-61C68BF25282}"/>
              </a:ext>
            </a:extLst>
          </p:cNvPr>
          <p:cNvSpPr>
            <a:spLocks xmlns:a="http://schemas.openxmlformats.org/drawingml/2006/main" noGrp="1"/>
          </p:cNvSpPr>
          <p:nvPr/>
        </p:nvSpPr>
        <p:spPr>
          <a:xfrm xmlns:a="http://schemas.openxmlformats.org/drawingml/2006/main">
            <a:off x="685800" y="419100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Дозволяємо B як проміжну вершину:</a:t>
            </a:r>
          </a:p>
        </p:txBody>
      </p:sp>
      <p:sp>
        <p:nvSpPr>
          <p:cNvPr id="18" name="">
            <a:extLst xmlns:a="http://schemas.openxmlformats.org/drawingml/2006/main">
              <a:ext uri="{FF2B5EF4-FFF2-40B4-BE49-F238E27FC236}">
                <a16:creationId xmlns:a16="http://schemas.microsoft.com/office/drawing/2014/main" id="{428368C7-EBB6-4F16-9AE2-B4E7DEEE2D4A}"/>
              </a:ext>
            </a:extLst>
          </p:cNvPr>
          <p:cNvSpPr>
            <a:spLocks xmlns:a="http://schemas.openxmlformats.org/drawingml/2006/main" noGrp="1"/>
          </p:cNvSpPr>
          <p:nvPr/>
        </p:nvSpPr>
        <p:spPr>
          <a:xfrm xmlns:a="http://schemas.openxmlformats.org/drawingml/2006/main">
            <a:off x="685800" y="49530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D(A,C) = min(10, 4 + 3) = 7</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102</a:t>
            </a:r>
          </a:p>
        </p:txBody>
      </p:sp>
    </p:spTree>
    <p:extLst>
      <p:ext uri="{BB962C8B-B14F-4D97-AF65-F5344CB8AC3E}">
        <p14:creationId xmlns:p14="http://schemas.microsoft.com/office/powerpoint/2010/main" val="1602120350"/>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46EAEE-2B0B-4D92-A24C-6A84D66B616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Навіщо розглядати різні залишки ресурсу?</a:t>
            </a:r>
          </a:p>
        </p:txBody>
      </p:sp>
      <p:sp>
        <p:nvSpPr>
          <p:cNvPr id="2" name="">
            <a:extLst xmlns:a="http://schemas.openxmlformats.org/drawingml/2006/main">
              <a:ext uri="{FF2B5EF4-FFF2-40B4-BE49-F238E27FC236}">
                <a16:creationId xmlns:a16="http://schemas.microsoft.com/office/drawing/2014/main" id="{E3B5C0A5-9B91-4946-B550-AC64D2A9870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Умовна рекомендація відповідає на запитання: що робити, якщо ми опинимося в цьому стані?</a:t>
            </a:r>
          </a:p>
        </p:txBody>
      </p:sp>
      <p:sp>
        <p:nvSpPr>
          <p:cNvPr id="3" name="">
            <a:extLst xmlns:a="http://schemas.openxmlformats.org/drawingml/2006/main">
              <a:ext uri="{FF2B5EF4-FFF2-40B4-BE49-F238E27FC236}">
                <a16:creationId xmlns:a16="http://schemas.microsoft.com/office/drawing/2014/main" id="{FA3E9FED-3E30-4050-B148-D6E286E530A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Перед вибором A ще невідомо, скільки GPU залишиться для B і C.</a:t>
            </a:r>
          </a:p>
        </p:txBody>
      </p:sp>
      <p:graphicFrame>
        <p:nvGraphicFramePr>
          <p:cNvPr id="4" name="">
            <a:extLst xmlns:a="http://schemas.openxmlformats.org/drawingml/2006/main">
              <a:ext uri="{FF2B5EF4-FFF2-40B4-BE49-F238E27FC236}">
                <a16:creationId xmlns:a16="http://schemas.microsoft.com/office/drawing/2014/main" id="{C381DC76-2D4B-447C-B740-1A25ED49DB35}"/>
              </a:ext>
            </a:extLst>
          </p:cNvPr>
          <p:cNvGraphicFramePr/>
          <p:nvPr/>
        </p:nvGraphicFramePr>
        <p:xfrm>
          <a:off xmlns:a="http://schemas.openxmlformats.org/drawingml/2006/main" x="685800" y="2667000"/>
          <a:ext xmlns:a="http://schemas.openxmlformats.org/drawingml/2006/main" cx="10820400" cy="2571750"/>
        </p:xfrm>
        <a:graphic xmlns:a="http://schemas.openxmlformats.org/drawingml/2006/main">
          <a:graphicData uri="http://schemas.openxmlformats.org/drawingml/2006/table">
            <a:tbl>
              <a:tblPr/>
              <a:tblGrid>
                <a:gridCol w="2857500"/>
                <a:gridCol w="3143250"/>
                <a:gridCol w="4819650"/>
              </a:tblGrid>
              <a:tr h="642938">
                <a:tc>
                  <a:txBody>
                    <a:bodyPr/>
                    <a:lstStyle/>
                    <a:p>
                      <a:r>
                        <a:rPr sz="1875" b="1">
                          <a:solidFill>
                            <a:srgbClr val="FFFFFF"/>
                          </a:solidFill>
                          <a:latin typeface="Arial"/>
                          <a:ea typeface="Arial"/>
                          <a:cs typeface="Arial"/>
                        </a:rPr>
                        <a:t>Якщо A отримає</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Для B і C залишиться</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Що треба підготувати</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42938">
                <a:tc>
                  <a:txBody>
                    <a:bodyPr/>
                    <a:lstStyle/>
                    <a:p>
                      <a:r>
                        <a:rPr sz="1875" b="0">
                          <a:solidFill>
                            <a:srgbClr val="193247"/>
                          </a:solidFill>
                          <a:latin typeface="Arial"/>
                          <a:ea typeface="Arial"/>
                          <a:cs typeface="Arial"/>
                        </a:rPr>
                        <a:t>0 GPU</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 GPU</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за 6 GPU</a:t>
                      </a:r>
                    </a:p>
                  </a:txBody>
                  <a:tcPr marL="91440" marR="91440" marT="45720" marB="45720">
                    <a:lnR w="9525">
                      <a:solidFill>
                        <a:srgbClr val="A8B7C0"/>
                      </a:solidFill>
                      <a:prstDash val="solid"/>
                    </a:lnR>
                    <a:lnB w="9525">
                      <a:solidFill>
                        <a:srgbClr val="A8B7C0"/>
                      </a:solidFill>
                      <a:prstDash val="solid"/>
                    </a:lnB>
                    <a:solidFill>
                      <a:srgbClr val="FFFFFF"/>
                    </a:solidFill>
                  </a:tcPr>
                </a:tc>
              </a:tr>
              <a:tr h="642938">
                <a:tc>
                  <a:txBody>
                    <a:bodyPr/>
                    <a:lstStyle/>
                    <a:p>
                      <a:r>
                        <a:rPr sz="1875" b="0">
                          <a:solidFill>
                            <a:srgbClr val="193247"/>
                          </a:solidFill>
                          <a:latin typeface="Arial"/>
                          <a:ea typeface="Arial"/>
                          <a:cs typeface="Arial"/>
                        </a:rPr>
                        <a:t>2 GPU</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 GPU</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за 4 GPU</a:t>
                      </a:r>
                    </a:p>
                  </a:txBody>
                  <a:tcPr marL="91440" marR="91440" marT="45720" marB="45720">
                    <a:lnR w="9525">
                      <a:solidFill>
                        <a:srgbClr val="A8B7C0"/>
                      </a:solidFill>
                      <a:prstDash val="solid"/>
                    </a:lnR>
                    <a:lnB w="9525">
                      <a:solidFill>
                        <a:srgbClr val="A8B7C0"/>
                      </a:solidFill>
                      <a:prstDash val="solid"/>
                    </a:lnB>
                    <a:solidFill>
                      <a:srgbClr val="FFFFFF"/>
                    </a:solidFill>
                  </a:tcPr>
                </a:tc>
              </a:tr>
              <a:tr h="642938">
                <a:tc>
                  <a:txBody>
                    <a:bodyPr/>
                    <a:lstStyle/>
                    <a:p>
                      <a:r>
                        <a:rPr sz="1875" b="0">
                          <a:solidFill>
                            <a:srgbClr val="193247"/>
                          </a:solidFill>
                          <a:latin typeface="Arial"/>
                          <a:ea typeface="Arial"/>
                          <a:cs typeface="Arial"/>
                        </a:rPr>
                        <a:t>5 GPU</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 GPU</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за 1 GPU</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76F0B82-090E-4EB8-A71B-D18AD73D1F48}"/>
              </a:ext>
            </a:extLst>
          </p:cNvPr>
          <p:cNvSpPr>
            <a:spLocks xmlns:a="http://schemas.openxmlformats.org/drawingml/2006/main" noGrp="1"/>
          </p:cNvSpPr>
          <p:nvPr/>
        </p:nvSpPr>
        <p:spPr>
          <a:xfrm xmlns:a="http://schemas.openxmlformats.org/drawingml/2006/main">
            <a:off x="685800" y="53340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3247"/>
                </a:solidFill>
                <a:latin typeface="Arial"/>
                <a:ea typeface="Arial"/>
                <a:cs typeface="Arial"/>
              </a:defRPr>
            </a:defPPr>
          </a:lstStyle>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Спочатку готуємо рекомендації для можливих станів. Потім обираємо початкову дію та використовуємо потрібні рекомендації.</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14</a:t>
            </a:r>
          </a:p>
        </p:txBody>
      </p:sp>
    </p:spTree>
    <p:extLst>
      <p:ext uri="{BB962C8B-B14F-4D97-AF65-F5344CB8AC3E}">
        <p14:creationId xmlns:p14="http://schemas.microsoft.com/office/powerpoint/2010/main" val="1932565659"/>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4D755A-919C-48ED-B7A9-88C6DCD0B1C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Два проходи розв’язання задачі</a:t>
            </a:r>
          </a:p>
        </p:txBody>
      </p:sp>
      <p:sp>
        <p:nvSpPr>
          <p:cNvPr id="2" name="">
            <a:extLst xmlns:a="http://schemas.openxmlformats.org/drawingml/2006/main">
              <a:ext uri="{FF2B5EF4-FFF2-40B4-BE49-F238E27FC236}">
                <a16:creationId xmlns:a16="http://schemas.microsoft.com/office/drawing/2014/main" id="{8204F21D-FBAA-49E1-9DE6-6C760E9EFEF1}"/>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Назва «умовна» означає залежність рішення від стану перед поточним кроком.</a:t>
            </a:r>
          </a:p>
        </p:txBody>
      </p:sp>
      <p:sp>
        <p:nvSpPr>
          <p:cNvPr id="3" name="">
            <a:extLst xmlns:a="http://schemas.openxmlformats.org/drawingml/2006/main">
              <a:ext uri="{FF2B5EF4-FFF2-40B4-BE49-F238E27FC236}">
                <a16:creationId xmlns:a16="http://schemas.microsoft.com/office/drawing/2014/main" id="{E33525D9-9967-49C6-83B6-01C492B93C46}"/>
              </a:ext>
            </a:extLst>
          </p:cNvPr>
          <p:cNvSpPr>
            <a:spLocks xmlns:a="http://schemas.openxmlformats.org/drawingml/2006/main" noGrp="1"/>
          </p:cNvSpPr>
          <p:nvPr/>
        </p:nvSpPr>
        <p:spPr>
          <a:xfrm xmlns:a="http://schemas.openxmlformats.org/drawingml/2006/main">
            <a:off x="685800" y="157162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1. Умовна оптимізація</a:t>
            </a:r>
          </a:p>
        </p:txBody>
      </p:sp>
      <p:sp>
        <p:nvSpPr>
          <p:cNvPr id="4" name="">
            <a:extLst xmlns:a="http://schemas.openxmlformats.org/drawingml/2006/main">
              <a:ext uri="{FF2B5EF4-FFF2-40B4-BE49-F238E27FC236}">
                <a16:creationId xmlns:a16="http://schemas.microsoft.com/office/drawing/2014/main" id="{65B885C1-AB04-483F-93ED-8136B36BB2FF}"/>
              </a:ext>
            </a:extLst>
          </p:cNvPr>
          <p:cNvSpPr>
            <a:spLocks xmlns:a="http://schemas.openxmlformats.org/drawingml/2006/main" noGrp="1"/>
          </p:cNvSpPr>
          <p:nvPr/>
        </p:nvSpPr>
        <p:spPr>
          <a:xfrm xmlns:a="http://schemas.openxmlformats.org/drawingml/2006/main">
            <a:off x="685800" y="2333625"/>
            <a:ext cx="108204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Рухаємося від C до A. Для кожного залишку b зберігаємо:</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Vₖ(b) — найкращу користь до завершення;</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Pₖ(b) — дію, що дає цю користь.</a:t>
            </a:r>
          </a:p>
        </p:txBody>
      </p:sp>
      <p:sp>
        <p:nvSpPr>
          <p:cNvPr id="5" name="">
            <a:extLst xmlns:a="http://schemas.openxmlformats.org/drawingml/2006/main">
              <a:ext uri="{FF2B5EF4-FFF2-40B4-BE49-F238E27FC236}">
                <a16:creationId xmlns:a16="http://schemas.microsoft.com/office/drawing/2014/main" id="{DDBCF469-683F-41F9-B623-467F6FB8062E}"/>
              </a:ext>
            </a:extLst>
          </p:cNvPr>
          <p:cNvSpPr>
            <a:spLocks xmlns:a="http://schemas.openxmlformats.org/drawingml/2006/main" noGrp="1"/>
          </p:cNvSpPr>
          <p:nvPr/>
        </p:nvSpPr>
        <p:spPr>
          <a:xfrm xmlns:a="http://schemas.openxmlformats.org/drawingml/2006/main">
            <a:off x="685800" y="404812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B86B19"/>
                </a:solidFill>
                <a:latin typeface="Arial"/>
                <a:ea typeface="Arial"/>
                <a:cs typeface="Arial"/>
              </a:defRPr>
            </a:defPPr>
          </a:lstStyle>
          <a:p xmlns:a="http://schemas.openxmlformats.org/drawingml/2006/main">
            <a:pPr>
              <a:defRPr sz="2700" b="1">
                <a:solidFill>
                  <a:srgbClr val="B86B19"/>
                </a:solidFill>
                <a:latin typeface="Arial"/>
                <a:ea typeface="Arial"/>
                <a:cs typeface="Arial"/>
              </a:defRPr>
            </a:pPr>
            <a:r>
              <a:rPr sz="2700" b="1">
                <a:solidFill>
                  <a:srgbClr val="B86B19"/>
                </a:solidFill>
                <a:latin typeface="Arial"/>
                <a:ea typeface="Arial"/>
                <a:cs typeface="Arial"/>
              </a:rPr>
              <a:t>2. Безумовна оптимізація: відновлення плану</a:t>
            </a:r>
          </a:p>
        </p:txBody>
      </p:sp>
      <p:sp>
        <p:nvSpPr>
          <p:cNvPr id="6" name="">
            <a:extLst xmlns:a="http://schemas.openxmlformats.org/drawingml/2006/main">
              <a:ext uri="{FF2B5EF4-FFF2-40B4-BE49-F238E27FC236}">
                <a16:creationId xmlns:a16="http://schemas.microsoft.com/office/drawing/2014/main" id="{67C21EDA-5A2D-431C-9C7D-DADE891B4A7C}"/>
              </a:ext>
            </a:extLst>
          </p:cNvPr>
          <p:cNvSpPr>
            <a:spLocks xmlns:a="http://schemas.openxmlformats.org/drawingml/2006/main" noGrp="1"/>
          </p:cNvSpPr>
          <p:nvPr/>
        </p:nvSpPr>
        <p:spPr>
          <a:xfrm xmlns:a="http://schemas.openxmlformats.org/drawingml/2006/main">
            <a:off x="685800" y="4905375"/>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Починаємо з відомих 6 GPU. Йдемо від A до C,</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читаємо P та після кожного рішення зменшуємо залишок.</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17</a:t>
            </a:r>
          </a:p>
        </p:txBody>
      </p:sp>
    </p:spTree>
    <p:extLst>
      <p:ext uri="{BB962C8B-B14F-4D97-AF65-F5344CB8AC3E}">
        <p14:creationId xmlns:p14="http://schemas.microsoft.com/office/powerpoint/2010/main" val="103944120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5BFF77C-11AD-440D-ACBA-66983C33ACB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Приклад на графі: рекомендація для кожного вузла</a:t>
            </a:r>
          </a:p>
        </p:txBody>
      </p:sp>
      <p:sp>
        <p:nvSpPr>
          <p:cNvPr id="2" name="">
            <a:extLst xmlns:a="http://schemas.openxmlformats.org/drawingml/2006/main">
              <a:ext uri="{FF2B5EF4-FFF2-40B4-BE49-F238E27FC236}">
                <a16:creationId xmlns:a16="http://schemas.microsoft.com/office/drawing/2014/main" id="{07561BAD-2E13-44E4-8310-E262FCC22940}"/>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Число V у вузлі означає найменшу затримку решти шляху до T.</a:t>
            </a:r>
          </a:p>
        </p:txBody>
      </p:sp>
      <p:sp>
        <p:nvSpPr>
          <p:cNvPr id="3" name="">
            <a:extLst xmlns:a="http://schemas.openxmlformats.org/drawingml/2006/main">
              <a:ext uri="{FF2B5EF4-FFF2-40B4-BE49-F238E27FC236}">
                <a16:creationId xmlns:a16="http://schemas.microsoft.com/office/drawing/2014/main" id="{1D560CD6-C5EC-431B-B23E-62BC906E0AC5}"/>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Пакет іде від S до T. На ребрах задано затримки. У кінцевій точці V(T)=0.</a:t>
            </a:r>
          </a:p>
        </p:txBody>
      </p:sp>
      <p:sp>
        <p:nvSpPr>
          <p:cNvPr id="4" name="">
            <a:extLst xmlns:a="http://schemas.openxmlformats.org/drawingml/2006/main">
              <a:ext uri="{FF2B5EF4-FFF2-40B4-BE49-F238E27FC236}">
                <a16:creationId xmlns:a16="http://schemas.microsoft.com/office/drawing/2014/main" id="{BC70E413-7CFC-4F43-8B0D-78CDD2B4DB2E}"/>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9D18CDDC-941A-41D1-BC4A-19C672550BF5}"/>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9A18E4A-4B2D-44AA-AD81-06DEE65BF338}"/>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7" name="">
            <a:extLst xmlns:a="http://schemas.openxmlformats.org/drawingml/2006/main">
              <a:ext uri="{FF2B5EF4-FFF2-40B4-BE49-F238E27FC236}">
                <a16:creationId xmlns:a16="http://schemas.microsoft.com/office/drawing/2014/main" id="{A51EC455-702F-4CAD-AB8C-B7BFDA1B5419}"/>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F83C183E-4769-4F5D-A896-C6FD593CCF9A}"/>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9" name="">
            <a:extLst xmlns:a="http://schemas.openxmlformats.org/drawingml/2006/main">
              <a:ext uri="{FF2B5EF4-FFF2-40B4-BE49-F238E27FC236}">
                <a16:creationId xmlns:a16="http://schemas.microsoft.com/office/drawing/2014/main" id="{0B815724-23F7-4837-A2DB-815BBD5D5403}"/>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170D34C4-BCD8-4759-B3D9-149279AA4675}"/>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42571E12-4FAF-42A8-B3EE-D71EF5004732}"/>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FA93CC73-21E2-4089-9652-4EB5CDAD709A}"/>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3" name="">
            <a:extLst xmlns:a="http://schemas.openxmlformats.org/drawingml/2006/main">
              <a:ext uri="{FF2B5EF4-FFF2-40B4-BE49-F238E27FC236}">
                <a16:creationId xmlns:a16="http://schemas.microsoft.com/office/drawing/2014/main" id="{298A226C-CC6C-41F9-A54A-AB20C7544CE2}"/>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E2F8D66D-532F-413F-B079-A9B4ACACD786}"/>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23AE13D9-B204-4528-B79A-C2C71966A3CE}"/>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A017BD73-9653-435F-AC51-E045C097553A}"/>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7" name="">
            <a:extLst xmlns:a="http://schemas.openxmlformats.org/drawingml/2006/main">
              <a:ext uri="{FF2B5EF4-FFF2-40B4-BE49-F238E27FC236}">
                <a16:creationId xmlns:a16="http://schemas.microsoft.com/office/drawing/2014/main" id="{0C31EC38-4E34-46D3-A806-954DE375A728}"/>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023A6C76-F906-4F7C-8189-CFD874084D23}"/>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9" name="">
            <a:extLst xmlns:a="http://schemas.openxmlformats.org/drawingml/2006/main">
              <a:ext uri="{FF2B5EF4-FFF2-40B4-BE49-F238E27FC236}">
                <a16:creationId xmlns:a16="http://schemas.microsoft.com/office/drawing/2014/main" id="{D751981C-B83E-4447-A8DA-6F7AF7F3B48A}"/>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9C953698-04E7-4892-B2AB-9246DA809FC5}"/>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9A009DE0-EB68-4631-871C-EDBC843CD654}"/>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EF5A01F2-CAE2-405B-B6B7-0A64BE8F06D7}"/>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3" name="">
            <a:extLst xmlns:a="http://schemas.openxmlformats.org/drawingml/2006/main">
              <a:ext uri="{FF2B5EF4-FFF2-40B4-BE49-F238E27FC236}">
                <a16:creationId xmlns:a16="http://schemas.microsoft.com/office/drawing/2014/main" id="{12A76262-8813-4C4E-BAA0-71D6ECDD6A7B}"/>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2D28A473-93A6-48F0-ABDF-A9A543A27394}"/>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5" name="">
            <a:extLst xmlns:a="http://schemas.openxmlformats.org/drawingml/2006/main">
              <a:ext uri="{FF2B5EF4-FFF2-40B4-BE49-F238E27FC236}">
                <a16:creationId xmlns:a16="http://schemas.microsoft.com/office/drawing/2014/main" id="{9529F6A4-AFAF-444A-AD31-1D04EBC32127}"/>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83C7D2B3-8131-4041-B88F-45E0D2840378}"/>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7" name="">
            <a:extLst xmlns:a="http://schemas.openxmlformats.org/drawingml/2006/main">
              <a:ext uri="{FF2B5EF4-FFF2-40B4-BE49-F238E27FC236}">
                <a16:creationId xmlns:a16="http://schemas.microsoft.com/office/drawing/2014/main" id="{BEA294D3-38F7-458A-9D9E-AE8F2F177D79}"/>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28" name="">
            <a:extLst xmlns:a="http://schemas.openxmlformats.org/drawingml/2006/main">
              <a:ext uri="{FF2B5EF4-FFF2-40B4-BE49-F238E27FC236}">
                <a16:creationId xmlns:a16="http://schemas.microsoft.com/office/drawing/2014/main" id="{AFC0FE9A-2FFD-445C-BEAB-DD9F4B45EEFD}"/>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9" name="">
            <a:extLst xmlns:a="http://schemas.openxmlformats.org/drawingml/2006/main">
              <a:ext uri="{FF2B5EF4-FFF2-40B4-BE49-F238E27FC236}">
                <a16:creationId xmlns:a16="http://schemas.microsoft.com/office/drawing/2014/main" id="{E7ED35C8-62E7-4D0E-8839-FAE6EE57B476}"/>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0" name="">
            <a:extLst xmlns:a="http://schemas.openxmlformats.org/drawingml/2006/main">
              <a:ext uri="{FF2B5EF4-FFF2-40B4-BE49-F238E27FC236}">
                <a16:creationId xmlns:a16="http://schemas.microsoft.com/office/drawing/2014/main" id="{94A72228-8E3A-4C6A-9FF6-0AEA27B362CB}"/>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1" name="">
            <a:extLst xmlns:a="http://schemas.openxmlformats.org/drawingml/2006/main">
              <a:ext uri="{FF2B5EF4-FFF2-40B4-BE49-F238E27FC236}">
                <a16:creationId xmlns:a16="http://schemas.microsoft.com/office/drawing/2014/main" id="{270D65F3-84FE-4808-8FEC-8BEA4B00353C}"/>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2" name="">
            <a:extLst xmlns:a="http://schemas.openxmlformats.org/drawingml/2006/main">
              <a:ext uri="{FF2B5EF4-FFF2-40B4-BE49-F238E27FC236}">
                <a16:creationId xmlns:a16="http://schemas.microsoft.com/office/drawing/2014/main" id="{B7C21504-74E3-48CE-A84F-48E0DE273DF4}"/>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57</a:t>
            </a:r>
          </a:p>
        </p:txBody>
      </p:sp>
    </p:spTree>
    <p:extLst>
      <p:ext uri="{BB962C8B-B14F-4D97-AF65-F5344CB8AC3E}">
        <p14:creationId xmlns:p14="http://schemas.microsoft.com/office/powerpoint/2010/main" val="210303774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BF98664-B168-491C-ABCE-0427C86C1A1E}"/>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Крок 1: останні переходи до T</a:t>
            </a:r>
          </a:p>
        </p:txBody>
      </p:sp>
      <p:sp>
        <p:nvSpPr>
          <p:cNvPr id="2" name="">
            <a:extLst xmlns:a="http://schemas.openxmlformats.org/drawingml/2006/main">
              <a:ext uri="{FF2B5EF4-FFF2-40B4-BE49-F238E27FC236}">
                <a16:creationId xmlns:a16="http://schemas.microsoft.com/office/drawing/2014/main" id="{3AFD937F-3A7C-4F9B-A79B-1308B68D7855}"/>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 останніх вузлів вибір вимушений: V(C)=1, V(D)=2.</a:t>
            </a:r>
          </a:p>
        </p:txBody>
      </p:sp>
      <p:sp>
        <p:nvSpPr>
          <p:cNvPr id="3" name="">
            <a:extLst xmlns:a="http://schemas.openxmlformats.org/drawingml/2006/main">
              <a:ext uri="{FF2B5EF4-FFF2-40B4-BE49-F238E27FC236}">
                <a16:creationId xmlns:a16="http://schemas.microsoft.com/office/drawing/2014/main" id="{764BE88E-5626-48AF-B102-F9302181D915}"/>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Починаємо з кінця: від C до T потрібно 1 мс, від D до T потрібно 2 мс.</a:t>
            </a:r>
          </a:p>
        </p:txBody>
      </p:sp>
      <p:sp>
        <p:nvSpPr>
          <p:cNvPr id="4" name="">
            <a:extLst xmlns:a="http://schemas.openxmlformats.org/drawingml/2006/main">
              <a:ext uri="{FF2B5EF4-FFF2-40B4-BE49-F238E27FC236}">
                <a16:creationId xmlns:a16="http://schemas.microsoft.com/office/drawing/2014/main" id="{639D1ADE-85E9-460E-8061-78AB161AEC55}"/>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D07F9FF6-93BF-4D11-B005-2B6D4897BD2F}"/>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80ABC8A-56A9-4615-B63A-D048733EE24E}"/>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7" name="">
            <a:extLst xmlns:a="http://schemas.openxmlformats.org/drawingml/2006/main">
              <a:ext uri="{FF2B5EF4-FFF2-40B4-BE49-F238E27FC236}">
                <a16:creationId xmlns:a16="http://schemas.microsoft.com/office/drawing/2014/main" id="{2193C5C9-D89A-4BAD-8361-803E98E1E290}"/>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A1790163-C931-4F8F-A418-3C10565D89BF}"/>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9" name="">
            <a:extLst xmlns:a="http://schemas.openxmlformats.org/drawingml/2006/main">
              <a:ext uri="{FF2B5EF4-FFF2-40B4-BE49-F238E27FC236}">
                <a16:creationId xmlns:a16="http://schemas.microsoft.com/office/drawing/2014/main" id="{29CE452C-2DEE-4F56-AF61-21B4A8AE610D}"/>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2906C236-45C6-4794-98A4-EB479CB90655}"/>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59601DC1-B59C-491C-82C7-5D4231AAD222}"/>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E4E25813-84A8-4C05-9AE6-8C1CADCCA2AF}"/>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3" name="">
            <a:extLst xmlns:a="http://schemas.openxmlformats.org/drawingml/2006/main">
              <a:ext uri="{FF2B5EF4-FFF2-40B4-BE49-F238E27FC236}">
                <a16:creationId xmlns:a16="http://schemas.microsoft.com/office/drawing/2014/main" id="{5FA205D9-8E67-4F71-A2E7-6C35C2B13EB8}"/>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F54B3109-3F18-4131-BD3F-96808011FDB7}"/>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1E7FE4B1-7666-4AB5-9FCB-F77017F173A5}"/>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496BE189-EF06-4385-B703-4A62B6774D61}"/>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7" name="">
            <a:extLst xmlns:a="http://schemas.openxmlformats.org/drawingml/2006/main">
              <a:ext uri="{FF2B5EF4-FFF2-40B4-BE49-F238E27FC236}">
                <a16:creationId xmlns:a16="http://schemas.microsoft.com/office/drawing/2014/main" id="{4C7C2741-9C36-4754-91E4-87C9D43BD9D6}"/>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620DA696-CAFC-40A1-B684-DB7E24A28956}"/>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9" name="">
            <a:extLst xmlns:a="http://schemas.openxmlformats.org/drawingml/2006/main">
              <a:ext uri="{FF2B5EF4-FFF2-40B4-BE49-F238E27FC236}">
                <a16:creationId xmlns:a16="http://schemas.microsoft.com/office/drawing/2014/main" id="{BDF5CD15-BFD6-416C-B775-EDD4F0A82452}"/>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BA240F14-EFEB-4C92-BAE9-BCCB89C554B8}"/>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D7CA4C78-E658-49C9-BCF8-ECB8C29CA056}"/>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CBD88650-0C3D-4E2E-8B6E-0D30DEBC5D59}"/>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3" name="">
            <a:extLst xmlns:a="http://schemas.openxmlformats.org/drawingml/2006/main">
              <a:ext uri="{FF2B5EF4-FFF2-40B4-BE49-F238E27FC236}">
                <a16:creationId xmlns:a16="http://schemas.microsoft.com/office/drawing/2014/main" id="{005A4BB3-F6A2-42EA-8DB1-19A41827A362}"/>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59C9C926-33B5-40D3-AA8E-8861D579CAFC}"/>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5" name="">
            <a:extLst xmlns:a="http://schemas.openxmlformats.org/drawingml/2006/main">
              <a:ext uri="{FF2B5EF4-FFF2-40B4-BE49-F238E27FC236}">
                <a16:creationId xmlns:a16="http://schemas.microsoft.com/office/drawing/2014/main" id="{B926F1A6-5613-4671-AD2D-BFFB71220005}"/>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428DAE37-B8BD-4C91-B304-4888B8350204}"/>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7" name="">
            <a:extLst xmlns:a="http://schemas.openxmlformats.org/drawingml/2006/main">
              <a:ext uri="{FF2B5EF4-FFF2-40B4-BE49-F238E27FC236}">
                <a16:creationId xmlns:a16="http://schemas.microsoft.com/office/drawing/2014/main" id="{B1C708E6-3597-4129-A346-9EA48C079C01}"/>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28" name="">
            <a:extLst xmlns:a="http://schemas.openxmlformats.org/drawingml/2006/main">
              <a:ext uri="{FF2B5EF4-FFF2-40B4-BE49-F238E27FC236}">
                <a16:creationId xmlns:a16="http://schemas.microsoft.com/office/drawing/2014/main" id="{05E01FE1-ED35-4126-A1B1-7328290DEAF6}"/>
              </a:ext>
            </a:extLst>
          </p:cNvPr>
          <p:cNvSpPr>
            <a:spLocks xmlns:a="http://schemas.openxmlformats.org/drawingml/2006/main" noGrp="1"/>
          </p:cNvSpPr>
          <p:nvPr/>
        </p:nvSpPr>
        <p:spPr>
          <a:xfrm xmlns:a="http://schemas.openxmlformats.org/drawingml/2006/main">
            <a:off x="6715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a:t>
            </a:r>
          </a:p>
        </p:txBody>
      </p:sp>
      <p:sp>
        <p:nvSpPr>
          <p:cNvPr id="29" name="">
            <a:extLst xmlns:a="http://schemas.openxmlformats.org/drawingml/2006/main">
              <a:ext uri="{FF2B5EF4-FFF2-40B4-BE49-F238E27FC236}">
                <a16:creationId xmlns:a16="http://schemas.microsoft.com/office/drawing/2014/main" id="{97251811-9A7D-4B96-87CC-E64F8B3EB4A1}"/>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0" name="">
            <a:extLst xmlns:a="http://schemas.openxmlformats.org/drawingml/2006/main">
              <a:ext uri="{FF2B5EF4-FFF2-40B4-BE49-F238E27FC236}">
                <a16:creationId xmlns:a16="http://schemas.microsoft.com/office/drawing/2014/main" id="{C000A4CA-378E-4236-8249-4C6C154E0757}"/>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1" name="">
            <a:extLst xmlns:a="http://schemas.openxmlformats.org/drawingml/2006/main">
              <a:ext uri="{FF2B5EF4-FFF2-40B4-BE49-F238E27FC236}">
                <a16:creationId xmlns:a16="http://schemas.microsoft.com/office/drawing/2014/main" id="{874F0FC3-C8FF-48FE-AB85-0D3DD16E505A}"/>
              </a:ext>
            </a:extLst>
          </p:cNvPr>
          <p:cNvSpPr>
            <a:spLocks xmlns:a="http://schemas.openxmlformats.org/drawingml/2006/main" noGrp="1"/>
          </p:cNvSpPr>
          <p:nvPr/>
        </p:nvSpPr>
        <p:spPr>
          <a:xfrm xmlns:a="http://schemas.openxmlformats.org/drawingml/2006/main">
            <a:off x="6715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32" name="">
            <a:extLst xmlns:a="http://schemas.openxmlformats.org/drawingml/2006/main">
              <a:ext uri="{FF2B5EF4-FFF2-40B4-BE49-F238E27FC236}">
                <a16:creationId xmlns:a16="http://schemas.microsoft.com/office/drawing/2014/main" id="{D71101A2-6BD6-41AA-AB26-ADF923A3B524}"/>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3" name="">
            <a:extLst xmlns:a="http://schemas.openxmlformats.org/drawingml/2006/main">
              <a:ext uri="{FF2B5EF4-FFF2-40B4-BE49-F238E27FC236}">
                <a16:creationId xmlns:a16="http://schemas.microsoft.com/office/drawing/2014/main" id="{7C1402D6-782E-49DD-9CCC-585FDC2407F6}"/>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4" name="">
            <a:extLst xmlns:a="http://schemas.openxmlformats.org/drawingml/2006/main">
              <a:ext uri="{FF2B5EF4-FFF2-40B4-BE49-F238E27FC236}">
                <a16:creationId xmlns:a16="http://schemas.microsoft.com/office/drawing/2014/main" id="{D3A52289-B440-4C3F-81B0-8484E8329402}"/>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58</a:t>
            </a:r>
          </a:p>
        </p:txBody>
      </p:sp>
    </p:spTree>
    <p:extLst>
      <p:ext uri="{BB962C8B-B14F-4D97-AF65-F5344CB8AC3E}">
        <p14:creationId xmlns:p14="http://schemas.microsoft.com/office/powerpoint/2010/main" val="512458545"/>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105B018-2456-4CE4-BA3E-5CB19F09143D}"/>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Крок 2: поточне ребро та готове продовження</a:t>
            </a:r>
          </a:p>
        </p:txBody>
      </p:sp>
      <p:sp>
        <p:nvSpPr>
          <p:cNvPr id="2" name="">
            <a:extLst xmlns:a="http://schemas.openxmlformats.org/drawingml/2006/main">
              <a:ext uri="{FF2B5EF4-FFF2-40B4-BE49-F238E27FC236}">
                <a16:creationId xmlns:a16="http://schemas.microsoft.com/office/drawing/2014/main" id="{69EF19F0-8DCC-4AB3-95D0-19FE766976A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 A обидва варіанти дають 10. З B краще йти до C.</a:t>
            </a:r>
          </a:p>
        </p:txBody>
      </p:sp>
      <p:sp>
        <p:nvSpPr>
          <p:cNvPr id="3" name="">
            <a:extLst xmlns:a="http://schemas.openxmlformats.org/drawingml/2006/main">
              <a:ext uri="{FF2B5EF4-FFF2-40B4-BE49-F238E27FC236}">
                <a16:creationId xmlns:a16="http://schemas.microsoft.com/office/drawing/2014/main" id="{E10F30CB-33EB-4364-9C9E-717E482C0AA9}"/>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V(A)=min(9+1, 8+2)=10.  V(B)=min(1+1, 5+2)=2.</a:t>
            </a:r>
          </a:p>
        </p:txBody>
      </p:sp>
      <p:sp>
        <p:nvSpPr>
          <p:cNvPr id="4" name="">
            <a:extLst xmlns:a="http://schemas.openxmlformats.org/drawingml/2006/main">
              <a:ext uri="{FF2B5EF4-FFF2-40B4-BE49-F238E27FC236}">
                <a16:creationId xmlns:a16="http://schemas.microsoft.com/office/drawing/2014/main" id="{4D9B5243-AF60-44F7-AA38-750113155688}"/>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C9937C87-9A2B-4CE3-804F-82671C5E4941}"/>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070FC89-4FB8-41C4-911D-CFC930CD37C5}"/>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7" name="">
            <a:extLst xmlns:a="http://schemas.openxmlformats.org/drawingml/2006/main">
              <a:ext uri="{FF2B5EF4-FFF2-40B4-BE49-F238E27FC236}">
                <a16:creationId xmlns:a16="http://schemas.microsoft.com/office/drawing/2014/main" id="{3AC1E95E-8C4B-4507-A4D5-1EC019E1DD84}"/>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79C1CA77-EAD2-41B7-A359-ADAB77634229}"/>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9" name="">
            <a:extLst xmlns:a="http://schemas.openxmlformats.org/drawingml/2006/main">
              <a:ext uri="{FF2B5EF4-FFF2-40B4-BE49-F238E27FC236}">
                <a16:creationId xmlns:a16="http://schemas.microsoft.com/office/drawing/2014/main" id="{13962D79-4D8E-4673-A4AA-0D040950726C}"/>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C6578B92-AFC4-4F8C-8252-0E6C29738D2C}"/>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DF2319FB-E76E-4D6A-AE4D-5D2C4D2705F9}"/>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EFCD3BF0-F06A-4B0E-AC01-995B3B28A582}"/>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3" name="">
            <a:extLst xmlns:a="http://schemas.openxmlformats.org/drawingml/2006/main">
              <a:ext uri="{FF2B5EF4-FFF2-40B4-BE49-F238E27FC236}">
                <a16:creationId xmlns:a16="http://schemas.microsoft.com/office/drawing/2014/main" id="{24C0D7FC-94DC-4871-AD61-D8E8A7270867}"/>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8E63F198-79E2-4493-B51D-393A73498917}"/>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DC4633B9-DE3A-49B6-8C0F-B9DFD436740F}"/>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B9A4D1EC-E4DE-4786-BDD4-984CCC54F870}"/>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7" name="">
            <a:extLst xmlns:a="http://schemas.openxmlformats.org/drawingml/2006/main">
              <a:ext uri="{FF2B5EF4-FFF2-40B4-BE49-F238E27FC236}">
                <a16:creationId xmlns:a16="http://schemas.microsoft.com/office/drawing/2014/main" id="{C9A7BD3B-9DE5-4F54-B5A1-0E5FA3780FB1}"/>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BC9ED42A-F4CA-4604-91D2-E130C6E569C7}"/>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9" name="">
            <a:extLst xmlns:a="http://schemas.openxmlformats.org/drawingml/2006/main">
              <a:ext uri="{FF2B5EF4-FFF2-40B4-BE49-F238E27FC236}">
                <a16:creationId xmlns:a16="http://schemas.microsoft.com/office/drawing/2014/main" id="{DB9BC30B-E32C-45CC-8C7B-12B6D9BF0368}"/>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6015DFE8-5C21-4994-B699-773D08B0DB0C}"/>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F1BF2A9B-72D1-4CD1-A5C8-3E7FF85603A0}"/>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7A2D68EA-A1D6-40D3-9728-40B783668395}"/>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3" name="">
            <a:extLst xmlns:a="http://schemas.openxmlformats.org/drawingml/2006/main">
              <a:ext uri="{FF2B5EF4-FFF2-40B4-BE49-F238E27FC236}">
                <a16:creationId xmlns:a16="http://schemas.microsoft.com/office/drawing/2014/main" id="{8AE46FE0-A140-435E-AA7A-BBB8CFB34F8A}"/>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54007DE1-628A-45FD-A443-68CB502E3FCC}"/>
              </a:ext>
            </a:extLst>
          </p:cNvPr>
          <p:cNvSpPr>
            <a:spLocks xmlns:a="http://schemas.openxmlformats.org/drawingml/2006/main" noGrp="1"/>
          </p:cNvSpPr>
          <p:nvPr/>
        </p:nvSpPr>
        <p:spPr>
          <a:xfrm xmlns:a="http://schemas.openxmlformats.org/drawingml/2006/main">
            <a:off x="3667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V=10</a:t>
            </a:r>
          </a:p>
        </p:txBody>
      </p:sp>
      <p:sp>
        <p:nvSpPr>
          <p:cNvPr id="25" name="">
            <a:extLst xmlns:a="http://schemas.openxmlformats.org/drawingml/2006/main">
              <a:ext uri="{FF2B5EF4-FFF2-40B4-BE49-F238E27FC236}">
                <a16:creationId xmlns:a16="http://schemas.microsoft.com/office/drawing/2014/main" id="{6D06331B-8B89-40F9-9C21-FD1760781C1B}"/>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6" name="">
            <a:extLst xmlns:a="http://schemas.openxmlformats.org/drawingml/2006/main">
              <a:ext uri="{FF2B5EF4-FFF2-40B4-BE49-F238E27FC236}">
                <a16:creationId xmlns:a16="http://schemas.microsoft.com/office/drawing/2014/main" id="{0283DC9B-3276-4C5B-B97E-7631ED679017}"/>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7" name="">
            <a:extLst xmlns:a="http://schemas.openxmlformats.org/drawingml/2006/main">
              <a:ext uri="{FF2B5EF4-FFF2-40B4-BE49-F238E27FC236}">
                <a16:creationId xmlns:a16="http://schemas.microsoft.com/office/drawing/2014/main" id="{849BE1B5-5DAC-48B0-A690-04104E260014}"/>
              </a:ext>
            </a:extLst>
          </p:cNvPr>
          <p:cNvSpPr>
            <a:spLocks xmlns:a="http://schemas.openxmlformats.org/drawingml/2006/main" noGrp="1"/>
          </p:cNvSpPr>
          <p:nvPr/>
        </p:nvSpPr>
        <p:spPr>
          <a:xfrm xmlns:a="http://schemas.openxmlformats.org/drawingml/2006/main">
            <a:off x="3667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28" name="">
            <a:extLst xmlns:a="http://schemas.openxmlformats.org/drawingml/2006/main">
              <a:ext uri="{FF2B5EF4-FFF2-40B4-BE49-F238E27FC236}">
                <a16:creationId xmlns:a16="http://schemas.microsoft.com/office/drawing/2014/main" id="{9E1A4774-A8DE-4171-B7D7-9ED74DA595EC}"/>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9" name="">
            <a:extLst xmlns:a="http://schemas.openxmlformats.org/drawingml/2006/main">
              <a:ext uri="{FF2B5EF4-FFF2-40B4-BE49-F238E27FC236}">
                <a16:creationId xmlns:a16="http://schemas.microsoft.com/office/drawing/2014/main" id="{A2262329-5209-4703-82B6-5125C51D6851}"/>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30" name="">
            <a:extLst xmlns:a="http://schemas.openxmlformats.org/drawingml/2006/main">
              <a:ext uri="{FF2B5EF4-FFF2-40B4-BE49-F238E27FC236}">
                <a16:creationId xmlns:a16="http://schemas.microsoft.com/office/drawing/2014/main" id="{A18BB12B-7F7D-48E2-9F4E-6440B9B4A89B}"/>
              </a:ext>
            </a:extLst>
          </p:cNvPr>
          <p:cNvSpPr>
            <a:spLocks xmlns:a="http://schemas.openxmlformats.org/drawingml/2006/main" noGrp="1"/>
          </p:cNvSpPr>
          <p:nvPr/>
        </p:nvSpPr>
        <p:spPr>
          <a:xfrm xmlns:a="http://schemas.openxmlformats.org/drawingml/2006/main">
            <a:off x="6715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a:t>
            </a:r>
          </a:p>
        </p:txBody>
      </p:sp>
      <p:sp>
        <p:nvSpPr>
          <p:cNvPr id="31" name="">
            <a:extLst xmlns:a="http://schemas.openxmlformats.org/drawingml/2006/main">
              <a:ext uri="{FF2B5EF4-FFF2-40B4-BE49-F238E27FC236}">
                <a16:creationId xmlns:a16="http://schemas.microsoft.com/office/drawing/2014/main" id="{DDEE889F-869E-42F2-B037-6D37214FE4AC}"/>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2" name="">
            <a:extLst xmlns:a="http://schemas.openxmlformats.org/drawingml/2006/main">
              <a:ext uri="{FF2B5EF4-FFF2-40B4-BE49-F238E27FC236}">
                <a16:creationId xmlns:a16="http://schemas.microsoft.com/office/drawing/2014/main" id="{CB3F2C78-A3A0-4B58-B45F-99289EA63187}"/>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3" name="">
            <a:extLst xmlns:a="http://schemas.openxmlformats.org/drawingml/2006/main">
              <a:ext uri="{FF2B5EF4-FFF2-40B4-BE49-F238E27FC236}">
                <a16:creationId xmlns:a16="http://schemas.microsoft.com/office/drawing/2014/main" id="{B4F773A7-FE76-4209-8DEF-2FCD2BC86152}"/>
              </a:ext>
            </a:extLst>
          </p:cNvPr>
          <p:cNvSpPr>
            <a:spLocks xmlns:a="http://schemas.openxmlformats.org/drawingml/2006/main" noGrp="1"/>
          </p:cNvSpPr>
          <p:nvPr/>
        </p:nvSpPr>
        <p:spPr>
          <a:xfrm xmlns:a="http://schemas.openxmlformats.org/drawingml/2006/main">
            <a:off x="6715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34" name="">
            <a:extLst xmlns:a="http://schemas.openxmlformats.org/drawingml/2006/main">
              <a:ext uri="{FF2B5EF4-FFF2-40B4-BE49-F238E27FC236}">
                <a16:creationId xmlns:a16="http://schemas.microsoft.com/office/drawing/2014/main" id="{C08958B2-C73A-402E-B98F-13E9969B207F}"/>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5" name="">
            <a:extLst xmlns:a="http://schemas.openxmlformats.org/drawingml/2006/main">
              <a:ext uri="{FF2B5EF4-FFF2-40B4-BE49-F238E27FC236}">
                <a16:creationId xmlns:a16="http://schemas.microsoft.com/office/drawing/2014/main" id="{9AE8D87D-12C1-49DE-AF5A-06FC40DF8EE4}"/>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6" name="">
            <a:extLst xmlns:a="http://schemas.openxmlformats.org/drawingml/2006/main">
              <a:ext uri="{FF2B5EF4-FFF2-40B4-BE49-F238E27FC236}">
                <a16:creationId xmlns:a16="http://schemas.microsoft.com/office/drawing/2014/main" id="{F63BE2E5-6810-4255-88C6-ECBB6CCAE36D}"/>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59</a:t>
            </a:r>
          </a:p>
        </p:txBody>
      </p:sp>
    </p:spTree>
    <p:extLst>
      <p:ext uri="{BB962C8B-B14F-4D97-AF65-F5344CB8AC3E}">
        <p14:creationId xmlns:p14="http://schemas.microsoft.com/office/powerpoint/2010/main" val="115063754"/>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459ED45-14BB-46F6-8094-4796D7C5D31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Крок 3: від початкового стану до готового маршруту</a:t>
            </a:r>
          </a:p>
        </p:txBody>
      </p:sp>
      <p:sp>
        <p:nvSpPr>
          <p:cNvPr id="2" name="">
            <a:extLst xmlns:a="http://schemas.openxmlformats.org/drawingml/2006/main">
              <a:ext uri="{FF2B5EF4-FFF2-40B4-BE49-F238E27FC236}">
                <a16:creationId xmlns:a16="http://schemas.microsoft.com/office/drawing/2014/main" id="{D9786C53-3D12-4562-A8D2-78BE7B26BAF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Відновлення: S, B, C, T. Затримка 3+1+1=5 мс.</a:t>
            </a:r>
          </a:p>
        </p:txBody>
      </p:sp>
      <p:sp>
        <p:nvSpPr>
          <p:cNvPr id="3" name="">
            <a:extLst xmlns:a="http://schemas.openxmlformats.org/drawingml/2006/main">
              <a:ext uri="{FF2B5EF4-FFF2-40B4-BE49-F238E27FC236}">
                <a16:creationId xmlns:a16="http://schemas.microsoft.com/office/drawing/2014/main" id="{AB673726-A1A2-4FFC-A454-D68667C201D6}"/>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V(S)=min(1+10, 3+2)=5. Тепер з S послідовно читаємо збережені стрілки.</a:t>
            </a:r>
          </a:p>
        </p:txBody>
      </p:sp>
      <p:sp>
        <p:nvSpPr>
          <p:cNvPr id="4" name="">
            <a:extLst xmlns:a="http://schemas.openxmlformats.org/drawingml/2006/main">
              <a:ext uri="{FF2B5EF4-FFF2-40B4-BE49-F238E27FC236}">
                <a16:creationId xmlns:a16="http://schemas.microsoft.com/office/drawing/2014/main" id="{5CA50CAC-04D5-435D-8E2C-C764F1F89379}"/>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7929D8D2-1B9C-4F5C-B78F-0DAE97628D22}"/>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33E9612-38B8-4DBC-8ABD-E7AD51BB5BC6}"/>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7" name="">
            <a:extLst xmlns:a="http://schemas.openxmlformats.org/drawingml/2006/main">
              <a:ext uri="{FF2B5EF4-FFF2-40B4-BE49-F238E27FC236}">
                <a16:creationId xmlns:a16="http://schemas.microsoft.com/office/drawing/2014/main" id="{5D1580D3-9AF2-4217-ADE3-FECAA77CD49B}"/>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A0077390-9630-4C86-8E16-40374E9DB635}"/>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9" name="">
            <a:extLst xmlns:a="http://schemas.openxmlformats.org/drawingml/2006/main">
              <a:ext uri="{FF2B5EF4-FFF2-40B4-BE49-F238E27FC236}">
                <a16:creationId xmlns:a16="http://schemas.microsoft.com/office/drawing/2014/main" id="{F30D81C6-DB1F-4F8D-9E29-C4FC575BCFCD}"/>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58DB84D2-A469-4314-9F26-86754EE4CD32}"/>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417047DE-7274-4FE3-B307-CB2E939744C9}"/>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757ACA14-BE75-4B29-9394-9700FEEE75C0}"/>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3" name="">
            <a:extLst xmlns:a="http://schemas.openxmlformats.org/drawingml/2006/main">
              <a:ext uri="{FF2B5EF4-FFF2-40B4-BE49-F238E27FC236}">
                <a16:creationId xmlns:a16="http://schemas.microsoft.com/office/drawing/2014/main" id="{B7C64303-E038-4774-A342-44856D0E6B3F}"/>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6E7F9E35-0F89-4555-B5AF-FD06F35EE154}"/>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0B2C68F5-74C3-4006-85C5-0CB7AF933E1D}"/>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F70B6518-431B-4203-A914-0F9D975BB89B}"/>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7" name="">
            <a:extLst xmlns:a="http://schemas.openxmlformats.org/drawingml/2006/main">
              <a:ext uri="{FF2B5EF4-FFF2-40B4-BE49-F238E27FC236}">
                <a16:creationId xmlns:a16="http://schemas.microsoft.com/office/drawing/2014/main" id="{4ECF9A93-A217-4ED7-811B-9A5D003FD3B6}"/>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C502A672-E25A-4846-97D1-F38F89AFB148}"/>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9" name="">
            <a:extLst xmlns:a="http://schemas.openxmlformats.org/drawingml/2006/main">
              <a:ext uri="{FF2B5EF4-FFF2-40B4-BE49-F238E27FC236}">
                <a16:creationId xmlns:a16="http://schemas.microsoft.com/office/drawing/2014/main" id="{1DCEDB90-8912-4A64-A2A5-9B539DE4DE08}"/>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2265DCA2-CA39-493E-8BAF-B099176C5B69}"/>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FD54F473-80B5-4496-8000-36FF55211EF7}"/>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9BCE3402-EEE8-49A5-BABF-747CBD9A133F}"/>
              </a:ext>
            </a:extLst>
          </p:cNvPr>
          <p:cNvSpPr>
            <a:spLocks xmlns:a="http://schemas.openxmlformats.org/drawingml/2006/main" noGrp="1"/>
          </p:cNvSpPr>
          <p:nvPr/>
        </p:nvSpPr>
        <p:spPr>
          <a:xfrm xmlns:a="http://schemas.openxmlformats.org/drawingml/2006/main">
            <a:off x="71437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V=5</a:t>
            </a:r>
          </a:p>
        </p:txBody>
      </p:sp>
      <p:sp>
        <p:nvSpPr>
          <p:cNvPr id="23" name="">
            <a:extLst xmlns:a="http://schemas.openxmlformats.org/drawingml/2006/main">
              <a:ext uri="{FF2B5EF4-FFF2-40B4-BE49-F238E27FC236}">
                <a16:creationId xmlns:a16="http://schemas.microsoft.com/office/drawing/2014/main" id="{867602C3-4C3A-4D85-AF61-93BC4524ADB7}"/>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4" name="">
            <a:extLst xmlns:a="http://schemas.openxmlformats.org/drawingml/2006/main">
              <a:ext uri="{FF2B5EF4-FFF2-40B4-BE49-F238E27FC236}">
                <a16:creationId xmlns:a16="http://schemas.microsoft.com/office/drawing/2014/main" id="{5A4D8406-EF41-4FCC-9D27-72D91F9CA9A1}"/>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5" name="">
            <a:extLst xmlns:a="http://schemas.openxmlformats.org/drawingml/2006/main">
              <a:ext uri="{FF2B5EF4-FFF2-40B4-BE49-F238E27FC236}">
                <a16:creationId xmlns:a16="http://schemas.microsoft.com/office/drawing/2014/main" id="{02B91DAC-1897-40C7-BAF4-373486CD55EE}"/>
              </a:ext>
            </a:extLst>
          </p:cNvPr>
          <p:cNvSpPr>
            <a:spLocks xmlns:a="http://schemas.openxmlformats.org/drawingml/2006/main" noGrp="1"/>
          </p:cNvSpPr>
          <p:nvPr/>
        </p:nvSpPr>
        <p:spPr>
          <a:xfrm xmlns:a="http://schemas.openxmlformats.org/drawingml/2006/main">
            <a:off x="3667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V=10</a:t>
            </a:r>
          </a:p>
        </p:txBody>
      </p:sp>
      <p:sp>
        <p:nvSpPr>
          <p:cNvPr id="26" name="">
            <a:extLst xmlns:a="http://schemas.openxmlformats.org/drawingml/2006/main">
              <a:ext uri="{FF2B5EF4-FFF2-40B4-BE49-F238E27FC236}">
                <a16:creationId xmlns:a16="http://schemas.microsoft.com/office/drawing/2014/main" id="{DFE3CE7D-17FD-4218-8646-AB67C192F905}"/>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7" name="">
            <a:extLst xmlns:a="http://schemas.openxmlformats.org/drawingml/2006/main">
              <a:ext uri="{FF2B5EF4-FFF2-40B4-BE49-F238E27FC236}">
                <a16:creationId xmlns:a16="http://schemas.microsoft.com/office/drawing/2014/main" id="{0A83535D-D6D5-4666-B483-78A2D59A1CD8}"/>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8" name="">
            <a:extLst xmlns:a="http://schemas.openxmlformats.org/drawingml/2006/main">
              <a:ext uri="{FF2B5EF4-FFF2-40B4-BE49-F238E27FC236}">
                <a16:creationId xmlns:a16="http://schemas.microsoft.com/office/drawing/2014/main" id="{55BFC9C2-1A24-4714-98EE-376C3B63AD5F}"/>
              </a:ext>
            </a:extLst>
          </p:cNvPr>
          <p:cNvSpPr>
            <a:spLocks xmlns:a="http://schemas.openxmlformats.org/drawingml/2006/main" noGrp="1"/>
          </p:cNvSpPr>
          <p:nvPr/>
        </p:nvSpPr>
        <p:spPr>
          <a:xfrm xmlns:a="http://schemas.openxmlformats.org/drawingml/2006/main">
            <a:off x="3667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29" name="">
            <a:extLst xmlns:a="http://schemas.openxmlformats.org/drawingml/2006/main">
              <a:ext uri="{FF2B5EF4-FFF2-40B4-BE49-F238E27FC236}">
                <a16:creationId xmlns:a16="http://schemas.microsoft.com/office/drawing/2014/main" id="{5A618194-EA87-4373-B395-15CA8780FD24}"/>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0" name="">
            <a:extLst xmlns:a="http://schemas.openxmlformats.org/drawingml/2006/main">
              <a:ext uri="{FF2B5EF4-FFF2-40B4-BE49-F238E27FC236}">
                <a16:creationId xmlns:a16="http://schemas.microsoft.com/office/drawing/2014/main" id="{41CD2150-3C8C-4BD0-AE95-64C0D1EB6787}"/>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31" name="">
            <a:extLst xmlns:a="http://schemas.openxmlformats.org/drawingml/2006/main">
              <a:ext uri="{FF2B5EF4-FFF2-40B4-BE49-F238E27FC236}">
                <a16:creationId xmlns:a16="http://schemas.microsoft.com/office/drawing/2014/main" id="{5D7ECC5F-216C-48DF-B566-EDE310911606}"/>
              </a:ext>
            </a:extLst>
          </p:cNvPr>
          <p:cNvSpPr>
            <a:spLocks xmlns:a="http://schemas.openxmlformats.org/drawingml/2006/main" noGrp="1"/>
          </p:cNvSpPr>
          <p:nvPr/>
        </p:nvSpPr>
        <p:spPr>
          <a:xfrm xmlns:a="http://schemas.openxmlformats.org/drawingml/2006/main">
            <a:off x="6715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a:t>
            </a:r>
          </a:p>
        </p:txBody>
      </p:sp>
      <p:sp>
        <p:nvSpPr>
          <p:cNvPr id="32" name="">
            <a:extLst xmlns:a="http://schemas.openxmlformats.org/drawingml/2006/main">
              <a:ext uri="{FF2B5EF4-FFF2-40B4-BE49-F238E27FC236}">
                <a16:creationId xmlns:a16="http://schemas.microsoft.com/office/drawing/2014/main" id="{967B3AC0-7175-4F74-ADED-8025691B89B3}"/>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3" name="">
            <a:extLst xmlns:a="http://schemas.openxmlformats.org/drawingml/2006/main">
              <a:ext uri="{FF2B5EF4-FFF2-40B4-BE49-F238E27FC236}">
                <a16:creationId xmlns:a16="http://schemas.microsoft.com/office/drawing/2014/main" id="{5CA5C916-70B6-45C3-A4FA-FE9F8B964711}"/>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4" name="">
            <a:extLst xmlns:a="http://schemas.openxmlformats.org/drawingml/2006/main">
              <a:ext uri="{FF2B5EF4-FFF2-40B4-BE49-F238E27FC236}">
                <a16:creationId xmlns:a16="http://schemas.microsoft.com/office/drawing/2014/main" id="{F7DCE6B8-3A46-4490-A5D1-4514B4B6748A}"/>
              </a:ext>
            </a:extLst>
          </p:cNvPr>
          <p:cNvSpPr>
            <a:spLocks xmlns:a="http://schemas.openxmlformats.org/drawingml/2006/main" noGrp="1"/>
          </p:cNvSpPr>
          <p:nvPr/>
        </p:nvSpPr>
        <p:spPr>
          <a:xfrm xmlns:a="http://schemas.openxmlformats.org/drawingml/2006/main">
            <a:off x="6715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35" name="">
            <a:extLst xmlns:a="http://schemas.openxmlformats.org/drawingml/2006/main">
              <a:ext uri="{FF2B5EF4-FFF2-40B4-BE49-F238E27FC236}">
                <a16:creationId xmlns:a16="http://schemas.microsoft.com/office/drawing/2014/main" id="{13B14028-187E-4D56-AF31-4263ADA22B05}"/>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6" name="">
            <a:extLst xmlns:a="http://schemas.openxmlformats.org/drawingml/2006/main">
              <a:ext uri="{FF2B5EF4-FFF2-40B4-BE49-F238E27FC236}">
                <a16:creationId xmlns:a16="http://schemas.microsoft.com/office/drawing/2014/main" id="{96FA12CC-F914-4153-8542-60DD92C781D9}"/>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7" name="">
            <a:extLst xmlns:a="http://schemas.openxmlformats.org/drawingml/2006/main">
              <a:ext uri="{FF2B5EF4-FFF2-40B4-BE49-F238E27FC236}">
                <a16:creationId xmlns:a16="http://schemas.microsoft.com/office/drawing/2014/main" id="{3AFB1C3E-9C28-44DF-97AE-1EFD1A777C95}"/>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60</a:t>
            </a:r>
          </a:p>
        </p:txBody>
      </p:sp>
    </p:spTree>
    <p:extLst>
      <p:ext uri="{BB962C8B-B14F-4D97-AF65-F5344CB8AC3E}">
        <p14:creationId xmlns:p14="http://schemas.microsoft.com/office/powerpoint/2010/main" val="1408347798"/>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ADCFFF-F727-4FCA-BD09-BFB7ABFD29C5}"/>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маршрут по прямокутній сітці</a:t>
            </a:r>
          </a:p>
        </p:txBody>
      </p:sp>
      <p:sp>
        <p:nvSpPr>
          <p:cNvPr id="2" name="">
            <a:extLst xmlns:a="http://schemas.openxmlformats.org/drawingml/2006/main">
              <a:ext uri="{FF2B5EF4-FFF2-40B4-BE49-F238E27FC236}">
                <a16:creationId xmlns:a16="http://schemas.microsoft.com/office/drawing/2014/main" id="{F6990386-E827-4275-8FA4-E8A67B48E390}"/>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Обчислення починаються з останнього переходу.</a:t>
            </a:r>
          </a:p>
        </p:txBody>
      </p:sp>
      <p:pic>
        <p:nvPicPr>
          <p:cNvPr id="3" name="">
            <a:extLst xmlns:a="http://schemas.openxmlformats.org/drawingml/2006/main">
              <a:ext uri="{FF2B5EF4-FFF2-40B4-BE49-F238E27FC236}">
                <a16:creationId xmlns:a16="http://schemas.microsoft.com/office/drawing/2014/main" id="{34575268-2275-4351-A100-758D0D161BBC}"/>
              </a:ext>
            </a:extLst>
          </p:cNvPr>
          <p:cNvPicPr>
            <a:picLocks xmlns:a="http://schemas.openxmlformats.org/drawingml/2006/main" noChangeAspect="1"/>
          </p:cNvPicPr>
          <p:nvPr/>
        </p:nvPicPr>
        <p:blipFill>
          <a:blip xmlns:r="http://schemas.openxmlformats.org/officeDocument/2006/relationships" xmlns:a="http://schemas.openxmlformats.org/drawingml/2006/main" r:embed="rIdV71"/>
          <a:stretch xmlns:a="http://schemas.openxmlformats.org/drawingml/2006/main"/>
        </p:blipFill>
        <p:spPr>
          <a:xfrm xmlns:a="http://schemas.openxmlformats.org/drawingml/2006/main">
            <a:off x="1012496" y="2238375"/>
            <a:ext cx="2680358" cy="3095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944CA3E-F9B6-431B-A662-1515880B052C}"/>
              </a:ext>
            </a:extLst>
          </p:cNvPr>
          <p:cNvSpPr>
            <a:spLocks xmlns:a="http://schemas.openxmlformats.org/drawingml/2006/main" noGrp="1"/>
          </p:cNvSpPr>
          <p:nvPr/>
        </p:nvSpPr>
        <p:spPr>
          <a:xfrm xmlns:a="http://schemas.openxmlformats.org/drawingml/2006/main">
            <a:off x="4476750" y="1571625"/>
            <a:ext cx="695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Потрібно дістатися з A до B:</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7 кроків на схід і 5 на північ.</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Мета: найменша сума вартостей.</a:t>
            </a:r>
          </a:p>
        </p:txBody>
      </p:sp>
      <p:sp>
        <p:nvSpPr>
          <p:cNvPr id="5" name="">
            <a:extLst xmlns:a="http://schemas.openxmlformats.org/drawingml/2006/main">
              <a:ext uri="{FF2B5EF4-FFF2-40B4-BE49-F238E27FC236}">
                <a16:creationId xmlns:a16="http://schemas.microsoft.com/office/drawing/2014/main" id="{1CB521CE-622A-4B2C-B9DE-9A1D7A15AE2C}"/>
              </a:ext>
            </a:extLst>
          </p:cNvPr>
          <p:cNvSpPr>
            <a:spLocks xmlns:a="http://schemas.openxmlformats.org/drawingml/2006/main" noGrp="1"/>
          </p:cNvSpPr>
          <p:nvPr/>
        </p:nvSpPr>
        <p:spPr>
          <a:xfrm xmlns:a="http://schemas.openxmlformats.org/drawingml/2006/main">
            <a:off x="4476750" y="3143250"/>
            <a:ext cx="695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У точці B залишилося витратити 0.</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 B₁ є один перехід: 10 + 0 = 10.</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 B₂ є один перехід: 14 + 0 = 14.</a:t>
            </a:r>
          </a:p>
        </p:txBody>
      </p:sp>
      <p:sp>
        <p:nvSpPr>
          <p:cNvPr id="6" name="">
            <a:extLst xmlns:a="http://schemas.openxmlformats.org/drawingml/2006/main">
              <a:ext uri="{FF2B5EF4-FFF2-40B4-BE49-F238E27FC236}">
                <a16:creationId xmlns:a16="http://schemas.microsoft.com/office/drawing/2014/main" id="{CF19C817-1E75-4558-8A3A-78558FB20228}"/>
              </a:ext>
            </a:extLst>
          </p:cNvPr>
          <p:cNvSpPr>
            <a:spLocks xmlns:a="http://schemas.openxmlformats.org/drawingml/2006/main" noGrp="1"/>
          </p:cNvSpPr>
          <p:nvPr/>
        </p:nvSpPr>
        <p:spPr>
          <a:xfrm xmlns:a="http://schemas.openxmlformats.org/drawingml/2006/main">
            <a:off x="4476750" y="4857750"/>
            <a:ext cx="695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Число в кружку: вартість усього</a:t>
            </a:r>
          </a:p>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найкращого продовження.</a:t>
            </a:r>
          </a:p>
        </p:txBody>
      </p:sp>
      <p:sp>
        <p:nvSpPr>
          <p:cNvPr id="7" name="">
            <a:extLst xmlns:a="http://schemas.openxmlformats.org/drawingml/2006/main">
              <a:ext uri="{FF2B5EF4-FFF2-40B4-BE49-F238E27FC236}">
                <a16:creationId xmlns:a16="http://schemas.microsoft.com/office/drawing/2014/main" id="{95AEFD40-06D3-45AA-AE73-5EFB3C0F4436}"/>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Вентцель, §13, рис. 13.3, с. 95. Оригінальна ілюстрація</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30</a:t>
            </a:r>
          </a:p>
        </p:txBody>
      </p:sp>
    </p:spTree>
    <p:extLst>
      <p:ext uri="{BB962C8B-B14F-4D97-AF65-F5344CB8AC3E}">
        <p14:creationId xmlns:p14="http://schemas.microsoft.com/office/powerpoint/2010/main" val="1387447951"/>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25B688-35BA-42C5-865C-07495FFE93A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вибір у точці C₂</a:t>
            </a:r>
          </a:p>
        </p:txBody>
      </p:sp>
      <p:sp>
        <p:nvSpPr>
          <p:cNvPr id="2" name="">
            <a:extLst xmlns:a="http://schemas.openxmlformats.org/drawingml/2006/main">
              <a:ext uri="{FF2B5EF4-FFF2-40B4-BE49-F238E27FC236}">
                <a16:creationId xmlns:a16="http://schemas.microsoft.com/office/drawing/2014/main" id="{19CED61E-E26D-4A4C-BD14-C20AD36A9C9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Вибір враховує поточну вартість і вже обчислену решту шляху.</a:t>
            </a:r>
          </a:p>
        </p:txBody>
      </p:sp>
      <p:pic>
        <p:nvPicPr>
          <p:cNvPr id="3" name="">
            <a:extLst xmlns:a="http://schemas.openxmlformats.org/drawingml/2006/main">
              <a:ext uri="{FF2B5EF4-FFF2-40B4-BE49-F238E27FC236}">
                <a16:creationId xmlns:a16="http://schemas.microsoft.com/office/drawing/2014/main" id="{B31CA2AB-E358-46F5-B9F1-8D16CE86ABE4}"/>
              </a:ext>
            </a:extLst>
          </p:cNvPr>
          <p:cNvPicPr>
            <a:picLocks xmlns:a="http://schemas.openxmlformats.org/drawingml/2006/main" noChangeAspect="1"/>
          </p:cNvPicPr>
          <p:nvPr/>
        </p:nvPicPr>
        <p:blipFill>
          <a:blip xmlns:r="http://schemas.openxmlformats.org/officeDocument/2006/relationships" xmlns:a="http://schemas.openxmlformats.org/drawingml/2006/main" r:embed="rIdV71"/>
          <a:stretch xmlns:a="http://schemas.openxmlformats.org/drawingml/2006/main"/>
        </p:blipFill>
        <p:spPr>
          <a:xfrm xmlns:a="http://schemas.openxmlformats.org/drawingml/2006/main">
            <a:off x="884905" y="1619250"/>
            <a:ext cx="3792791"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FFEFD07-4E16-4F03-953D-CBD304995FF9}"/>
              </a:ext>
            </a:extLst>
          </p:cNvPr>
          <p:cNvSpPr>
            <a:spLocks xmlns:a="http://schemas.openxmlformats.org/drawingml/2006/main" noGrp="1"/>
          </p:cNvSpPr>
          <p:nvPr/>
        </p:nvSpPr>
        <p:spPr>
          <a:xfrm xmlns:a="http://schemas.openxmlformats.org/drawingml/2006/main">
            <a:off x="5429250" y="1809750"/>
            <a:ext cx="6000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3247"/>
                </a:solidFill>
                <a:latin typeface="Arial"/>
                <a:ea typeface="Arial"/>
                <a:cs typeface="Arial"/>
              </a:defRPr>
            </a:defPPr>
          </a:lstStyle>
          <a:p xmlns:a="http://schemas.openxmlformats.org/drawingml/2006/main">
            <a:pPr>
              <a:defRPr sz="2700" b="0">
                <a:solidFill>
                  <a:srgbClr val="193247"/>
                </a:solidFill>
                <a:latin typeface="Arial"/>
                <a:ea typeface="Arial"/>
                <a:cs typeface="Arial"/>
              </a:defRPr>
            </a:pPr>
            <a:r>
              <a:rPr sz="2700" b="0">
                <a:solidFill>
                  <a:srgbClr val="193247"/>
                </a:solidFill>
                <a:latin typeface="Arial"/>
                <a:ea typeface="Arial"/>
                <a:cs typeface="Arial"/>
              </a:rPr>
              <a:t>На схід: 14 + 14 = 28</a:t>
            </a:r>
          </a:p>
          <a:p xmlns:a="http://schemas.openxmlformats.org/drawingml/2006/main">
            <a:pPr>
              <a:defRPr sz="2700" b="0">
                <a:solidFill>
                  <a:srgbClr val="193247"/>
                </a:solidFill>
                <a:latin typeface="Arial"/>
                <a:ea typeface="Arial"/>
                <a:cs typeface="Arial"/>
              </a:defRPr>
            </a:pPr>
            <a:r>
              <a:rPr sz="2700" b="0">
                <a:solidFill>
                  <a:srgbClr val="193247"/>
                </a:solidFill>
                <a:latin typeface="Arial"/>
                <a:ea typeface="Arial"/>
                <a:cs typeface="Arial"/>
              </a:rPr>
              <a:t>На північ: 13 + 10 = 23</a:t>
            </a:r>
          </a:p>
        </p:txBody>
      </p:sp>
      <p:sp>
        <p:nvSpPr>
          <p:cNvPr id="5" name="">
            <a:extLst xmlns:a="http://schemas.openxmlformats.org/drawingml/2006/main">
              <a:ext uri="{FF2B5EF4-FFF2-40B4-BE49-F238E27FC236}">
                <a16:creationId xmlns:a16="http://schemas.microsoft.com/office/drawing/2014/main" id="{8E9ADCEC-20D9-4CE3-8440-8310B186CE77}"/>
              </a:ext>
            </a:extLst>
          </p:cNvPr>
          <p:cNvSpPr>
            <a:spLocks xmlns:a="http://schemas.openxmlformats.org/drawingml/2006/main" noGrp="1"/>
          </p:cNvSpPr>
          <p:nvPr/>
        </p:nvSpPr>
        <p:spPr>
          <a:xfrm xmlns:a="http://schemas.openxmlformats.org/drawingml/2006/main">
            <a:off x="5429250" y="3333750"/>
            <a:ext cx="600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V(C₂) = min(28, 23) = 23</a:t>
            </a:r>
          </a:p>
        </p:txBody>
      </p:sp>
      <p:sp>
        <p:nvSpPr>
          <p:cNvPr id="6" name="">
            <a:extLst xmlns:a="http://schemas.openxmlformats.org/drawingml/2006/main">
              <a:ext uri="{FF2B5EF4-FFF2-40B4-BE49-F238E27FC236}">
                <a16:creationId xmlns:a16="http://schemas.microsoft.com/office/drawing/2014/main" id="{F1EDE976-A1B5-4F76-86EE-840C4391146D}"/>
              </a:ext>
            </a:extLst>
          </p:cNvPr>
          <p:cNvSpPr>
            <a:spLocks xmlns:a="http://schemas.openxmlformats.org/drawingml/2006/main" noGrp="1"/>
          </p:cNvSpPr>
          <p:nvPr/>
        </p:nvSpPr>
        <p:spPr>
          <a:xfrm xmlns:a="http://schemas.openxmlformats.org/drawingml/2006/main">
            <a:off x="5429250" y="4333875"/>
            <a:ext cx="6000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Записуємо 23 у кружок.</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Зберігаємо дію: на північ.</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Далі так само рухаємося до A.</a:t>
            </a:r>
          </a:p>
        </p:txBody>
      </p:sp>
      <p:sp>
        <p:nvSpPr>
          <p:cNvPr id="7" name="">
            <a:extLst xmlns:a="http://schemas.openxmlformats.org/drawingml/2006/main">
              <a:ext uri="{FF2B5EF4-FFF2-40B4-BE49-F238E27FC236}">
                <a16:creationId xmlns:a16="http://schemas.microsoft.com/office/drawing/2014/main" id="{5BBE448A-FB26-4F33-85E8-EBC41A05BFD5}"/>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Вентцель, §13, рис. 13.4, с. 95–96. Оригінальна ілюстрація</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31</a:t>
            </a:r>
          </a:p>
        </p:txBody>
      </p:sp>
    </p:spTree>
    <p:extLst>
      <p:ext uri="{BB962C8B-B14F-4D97-AF65-F5344CB8AC3E}">
        <p14:creationId xmlns:p14="http://schemas.microsoft.com/office/powerpoint/2010/main" val="1672196889"/>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E17726-CD96-4601-B469-F6256CF0CB98}"/>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готові значення та оптимальний шлях</a:t>
            </a:r>
          </a:p>
        </p:txBody>
      </p:sp>
      <p:sp>
        <p:nvSpPr>
          <p:cNvPr id="2" name="">
            <a:extLst xmlns:a="http://schemas.openxmlformats.org/drawingml/2006/main">
              <a:ext uri="{FF2B5EF4-FFF2-40B4-BE49-F238E27FC236}">
                <a16:creationId xmlns:a16="http://schemas.microsoft.com/office/drawing/2014/main" id="{B28BB9EC-94D3-4F2B-B813-75D77C577E6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нашій GPU-задачі роль кружків виконує V, а роль стрілок виконує P.</a:t>
            </a:r>
          </a:p>
        </p:txBody>
      </p:sp>
      <p:pic>
        <p:nvPicPr>
          <p:cNvPr id="3" name="">
            <a:extLst xmlns:a="http://schemas.openxmlformats.org/drawingml/2006/main">
              <a:ext uri="{FF2B5EF4-FFF2-40B4-BE49-F238E27FC236}">
                <a16:creationId xmlns:a16="http://schemas.microsoft.com/office/drawing/2014/main" id="{A922B345-88BC-41E3-B180-B5C9F3BF408D}"/>
              </a:ext>
            </a:extLst>
          </p:cNvPr>
          <p:cNvPicPr>
            <a:picLocks xmlns:a="http://schemas.openxmlformats.org/drawingml/2006/main" noChangeAspect="1"/>
          </p:cNvPicPr>
          <p:nvPr/>
        </p:nvPicPr>
        <p:blipFill>
          <a:blip xmlns:r="http://schemas.openxmlformats.org/officeDocument/2006/relationships" xmlns:a="http://schemas.openxmlformats.org/drawingml/2006/main" r:embed="rIdV71"/>
          <a:stretch xmlns:a="http://schemas.openxmlformats.org/drawingml/2006/main"/>
        </p:blipFill>
        <p:spPr>
          <a:xfrm xmlns:a="http://schemas.openxmlformats.org/drawingml/2006/main">
            <a:off x="978877" y="1428750"/>
            <a:ext cx="5319346"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9BA5CF-786A-466F-9E1B-13351E171D6B}"/>
              </a:ext>
            </a:extLst>
          </p:cNvPr>
          <p:cNvSpPr>
            <a:spLocks xmlns:a="http://schemas.openxmlformats.org/drawingml/2006/main" noGrp="1"/>
          </p:cNvSpPr>
          <p:nvPr/>
        </p:nvSpPr>
        <p:spPr>
          <a:xfrm xmlns:a="http://schemas.openxmlformats.org/drawingml/2006/main">
            <a:off x="7000875" y="157162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Кружки: мінімальні витрати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від кожної точки до B.</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Стрілки: найкраща дія.</a:t>
            </a:r>
          </a:p>
        </p:txBody>
      </p:sp>
      <p:sp>
        <p:nvSpPr>
          <p:cNvPr id="5" name="">
            <a:extLst xmlns:a="http://schemas.openxmlformats.org/drawingml/2006/main">
              <a:ext uri="{FF2B5EF4-FFF2-40B4-BE49-F238E27FC236}">
                <a16:creationId xmlns:a16="http://schemas.microsoft.com/office/drawing/2014/main" id="{F946D8D5-3156-4AA7-B011-0EE0F84D6516}"/>
              </a:ext>
            </a:extLst>
          </p:cNvPr>
          <p:cNvSpPr>
            <a:spLocks xmlns:a="http://schemas.openxmlformats.org/drawingml/2006/main" noGrp="1"/>
          </p:cNvSpPr>
          <p:nvPr/>
        </p:nvSpPr>
        <p:spPr>
          <a:xfrm xmlns:a="http://schemas.openxmlformats.org/drawingml/2006/main">
            <a:off x="7000875" y="3143250"/>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Початок A: 118</a:t>
            </a:r>
          </a:p>
        </p:txBody>
      </p:sp>
      <p:sp>
        <p:nvSpPr>
          <p:cNvPr id="6" name="">
            <a:extLst xmlns:a="http://schemas.openxmlformats.org/drawingml/2006/main">
              <a:ext uri="{FF2B5EF4-FFF2-40B4-BE49-F238E27FC236}">
                <a16:creationId xmlns:a16="http://schemas.microsoft.com/office/drawing/2014/main" id="{EC7ED9BE-2130-48B8-B9CC-5686EA8FEE72}"/>
              </a:ext>
            </a:extLst>
          </p:cNvPr>
          <p:cNvSpPr>
            <a:spLocks xmlns:a="http://schemas.openxmlformats.org/drawingml/2006/main" noGrp="1"/>
          </p:cNvSpPr>
          <p:nvPr/>
        </p:nvSpPr>
        <p:spPr>
          <a:xfrm xmlns:a="http://schemas.openxmlformats.org/drawingml/2006/main">
            <a:off x="7000875" y="4000500"/>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Ідемо з A за стрілками.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Подвійні кружки позначають</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один оптимальний маршрут.</a:t>
            </a:r>
          </a:p>
        </p:txBody>
      </p:sp>
      <p:sp>
        <p:nvSpPr>
          <p:cNvPr id="7" name="">
            <a:extLst xmlns:a="http://schemas.openxmlformats.org/drawingml/2006/main">
              <a:ext uri="{FF2B5EF4-FFF2-40B4-BE49-F238E27FC236}">
                <a16:creationId xmlns:a16="http://schemas.microsoft.com/office/drawing/2014/main" id="{4CABFB8B-244D-4549-81DB-42755DD834BF}"/>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Вентцель, §13, рис. 13.5, с. 96–97. Оригінальна ілюстрація</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32</a:t>
            </a:r>
          </a:p>
        </p:txBody>
      </p:sp>
    </p:spTree>
    <p:extLst>
      <p:ext uri="{BB962C8B-B14F-4D97-AF65-F5344CB8AC3E}">
        <p14:creationId xmlns:p14="http://schemas.microsoft.com/office/powerpoint/2010/main" val="1052465182"/>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8FBAAF-32A7-4B6E-91BD-B144A9D87225}"/>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Ериксон: повторні підзадачі в дереві рекурсії</a:t>
            </a:r>
          </a:p>
        </p:txBody>
      </p:sp>
      <p:sp>
        <p:nvSpPr>
          <p:cNvPr id="2" name="">
            <a:extLst xmlns:a="http://schemas.openxmlformats.org/drawingml/2006/main">
              <a:ext uri="{FF2B5EF4-FFF2-40B4-BE49-F238E27FC236}">
                <a16:creationId xmlns:a16="http://schemas.microsoft.com/office/drawing/2014/main" id="{0D8AACF5-4688-4E19-BB11-289F412A162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Сірі гілки показують обчислення, яких мемоізація дозволяє уникнути.</a:t>
            </a:r>
          </a:p>
        </p:txBody>
      </p:sp>
      <p:pic>
        <p:nvPicPr>
          <p:cNvPr id="3" name="">
            <a:extLst xmlns:a="http://schemas.openxmlformats.org/drawingml/2006/main">
              <a:ext uri="{FF2B5EF4-FFF2-40B4-BE49-F238E27FC236}">
                <a16:creationId xmlns:a16="http://schemas.microsoft.com/office/drawing/2014/main" id="{5EFE28F5-BDA8-4795-BE0F-23202F1C7F26}"/>
              </a:ext>
            </a:extLst>
          </p:cNvPr>
          <p:cNvPicPr>
            <a:picLocks xmlns:a="http://schemas.openxmlformats.org/drawingml/2006/main" noChangeAspect="1"/>
          </p:cNvPicPr>
          <p:nvPr/>
        </p:nvPicPr>
        <p:blipFill>
          <a:blip xmlns:r="http://schemas.openxmlformats.org/officeDocument/2006/relationships" xmlns:a="http://schemas.openxmlformats.org/drawingml/2006/main" r:embed="rIdV71"/>
          <a:stretch xmlns:a="http://schemas.openxmlformats.org/drawingml/2006/main"/>
        </p:blipFill>
        <p:spPr>
          <a:xfrm xmlns:a="http://schemas.openxmlformats.org/drawingml/2006/main">
            <a:off x="956886" y="1524000"/>
            <a:ext cx="6839703"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0FA61D-ECBA-4B41-8880-B87DF6028E15}"/>
              </a:ext>
            </a:extLst>
          </p:cNvPr>
          <p:cNvSpPr>
            <a:spLocks xmlns:a="http://schemas.openxmlformats.org/drawingml/2006/main" noGrp="1"/>
          </p:cNvSpPr>
          <p:nvPr/>
        </p:nvSpPr>
        <p:spPr>
          <a:xfrm xmlns:a="http://schemas.openxmlformats.org/drawingml/2006/main">
            <a:off x="8524875" y="16192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F₇ = F₆ + F₅</a:t>
            </a:r>
          </a:p>
        </p:txBody>
      </p:sp>
      <p:sp>
        <p:nvSpPr>
          <p:cNvPr id="5" name="">
            <a:extLst xmlns:a="http://schemas.openxmlformats.org/drawingml/2006/main">
              <a:ext uri="{FF2B5EF4-FFF2-40B4-BE49-F238E27FC236}">
                <a16:creationId xmlns:a16="http://schemas.microsoft.com/office/drawing/2014/main" id="{B33034D6-5B6E-430C-8C2E-F5D34D91A3A6}"/>
              </a:ext>
            </a:extLst>
          </p:cNvPr>
          <p:cNvSpPr>
            <a:spLocks xmlns:a="http://schemas.openxmlformats.org/drawingml/2006/main" noGrp="1"/>
          </p:cNvSpPr>
          <p:nvPr/>
        </p:nvSpPr>
        <p:spPr>
          <a:xfrm xmlns:a="http://schemas.openxmlformats.org/drawingml/2006/main">
            <a:off x="8524875" y="2524125"/>
            <a:ext cx="2952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3247"/>
                </a:solidFill>
                <a:latin typeface="Arial"/>
                <a:ea typeface="Arial"/>
                <a:cs typeface="Arial"/>
              </a:defRPr>
            </a:defPPr>
          </a:lstStyle>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Зелений:</a:t>
            </a:r>
          </a:p>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запис у кеш.</a:t>
            </a:r>
          </a:p>
          <a:p xmlns:a="http://schemas.openxmlformats.org/drawingml/2006/main">
            <a:r>
              <a:t/>
            </a:r>
          </a:p>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Червоний:</a:t>
            </a:r>
          </a:p>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читання з кешу.</a:t>
            </a:r>
          </a:p>
        </p:txBody>
      </p:sp>
      <p:sp>
        <p:nvSpPr>
          <p:cNvPr id="6" name="">
            <a:extLst xmlns:a="http://schemas.openxmlformats.org/drawingml/2006/main">
              <a:ext uri="{FF2B5EF4-FFF2-40B4-BE49-F238E27FC236}">
                <a16:creationId xmlns:a16="http://schemas.microsoft.com/office/drawing/2014/main" id="{E3CE55D2-540D-4B47-BCF5-4CD8A953504B}"/>
              </a:ext>
            </a:extLst>
          </p:cNvPr>
          <p:cNvSpPr>
            <a:spLocks xmlns:a="http://schemas.openxmlformats.org/drawingml/2006/main" noGrp="1"/>
          </p:cNvSpPr>
          <p:nvPr/>
        </p:nvSpPr>
        <p:spPr>
          <a:xfrm xmlns:a="http://schemas.openxmlformats.org/drawingml/2006/main">
            <a:off x="8524875" y="490537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F₇ = 13</a:t>
            </a:r>
          </a:p>
        </p:txBody>
      </p:sp>
      <p:sp>
        <p:nvSpPr>
          <p:cNvPr id="7" name="">
            <a:extLst xmlns:a="http://schemas.openxmlformats.org/drawingml/2006/main">
              <a:ext uri="{FF2B5EF4-FFF2-40B4-BE49-F238E27FC236}">
                <a16:creationId xmlns:a16="http://schemas.microsoft.com/office/drawing/2014/main" id="{F9F19C78-A55B-46F1-96F4-4CE1AC8C7551}"/>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Erickson, Algorithms, рис. 3.2, с. 101. CC BY 4.0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41</a:t>
            </a:r>
          </a:p>
        </p:txBody>
      </p:sp>
    </p:spTree>
    <p:extLst>
      <p:ext uri="{BB962C8B-B14F-4D97-AF65-F5344CB8AC3E}">
        <p14:creationId xmlns:p14="http://schemas.microsoft.com/office/powerpoint/2010/main" val="555913464"/>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E25A1B-838D-4EC6-B4F6-F25F7DA2ED7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Мемоізація: той самий приклад у Python</a:t>
            </a:r>
          </a:p>
        </p:txBody>
      </p:sp>
      <p:sp>
        <p:nvSpPr>
          <p:cNvPr id="2" name="">
            <a:extLst xmlns:a="http://schemas.openxmlformats.org/drawingml/2006/main">
              <a:ext uri="{FF2B5EF4-FFF2-40B4-BE49-F238E27FC236}">
                <a16:creationId xmlns:a16="http://schemas.microsoft.com/office/drawing/2014/main" id="{E6D81C1E-C45D-45D2-910F-21E795B10B9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GPU-задачі ключ кешу має два компоненти: номер етапу k і залишок b.</a:t>
            </a:r>
          </a:p>
        </p:txBody>
      </p:sp>
      <p:sp>
        <p:nvSpPr>
          <p:cNvPr id="3" name="">
            <a:extLst xmlns:a="http://schemas.openxmlformats.org/drawingml/2006/main">
              <a:ext uri="{FF2B5EF4-FFF2-40B4-BE49-F238E27FC236}">
                <a16:creationId xmlns:a16="http://schemas.microsoft.com/office/drawing/2014/main" id="{68CACBF1-DBEC-4044-B1D2-3FA05BBED558}"/>
              </a:ext>
            </a:extLst>
          </p:cNvPr>
          <p:cNvSpPr>
            <a:spLocks xmlns:a="http://schemas.openxmlformats.org/drawingml/2006/main" noGrp="1"/>
          </p:cNvSpPr>
          <p:nvPr/>
        </p:nvSpPr>
        <p:spPr>
          <a:xfrm xmlns:a="http://schemas.openxmlformats.org/drawingml/2006/main">
            <a:off x="838200" y="1428750"/>
            <a:ext cx="10477500" cy="3133725"/>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93247"/>
                </a:solidFill>
                <a:latin typeface="Courier New"/>
                <a:ea typeface="Courier New"/>
                <a:cs typeface="Courier New"/>
              </a:defRPr>
            </a:defPPr>
          </a:lstStyle>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from functools import cache</a:t>
            </a:r>
          </a:p>
          <a:p xmlns:a="http://schemas.openxmlformats.org/drawingml/2006/main">
            <a:r>
              <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@cache                       # зберігає відповідь для n</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def fib(n):</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    if n &lt; 2:</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        return n</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    return fib(n - 1) + fib(n - 2)</a:t>
            </a:r>
          </a:p>
          <a:p xmlns:a="http://schemas.openxmlformats.org/drawingml/2006/main">
            <a:r>
              <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print(fib(7))</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print(fib.cache_info())</a:t>
            </a:r>
          </a:p>
        </p:txBody>
      </p:sp>
      <p:sp>
        <p:nvSpPr>
          <p:cNvPr id="4" name="">
            <a:extLst xmlns:a="http://schemas.openxmlformats.org/drawingml/2006/main">
              <a:ext uri="{FF2B5EF4-FFF2-40B4-BE49-F238E27FC236}">
                <a16:creationId xmlns:a16="http://schemas.microsoft.com/office/drawing/2014/main" id="{F3916161-22C6-4CC5-A1EC-A0B555342820}"/>
              </a:ext>
            </a:extLst>
          </p:cNvPr>
          <p:cNvSpPr>
            <a:spLocks xmlns:a="http://schemas.openxmlformats.org/drawingml/2006/main" noGrp="1"/>
          </p:cNvSpPr>
          <p:nvPr/>
        </p:nvSpPr>
        <p:spPr>
          <a:xfrm xmlns:a="http://schemas.openxmlformats.org/drawingml/2006/main">
            <a:off x="838200" y="4800600"/>
            <a:ext cx="10477500" cy="771525"/>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08B85"/>
                </a:solidFill>
                <a:latin typeface="Courier New"/>
                <a:ea typeface="Courier New"/>
                <a:cs typeface="Courier New"/>
              </a:defRPr>
            </a:defPPr>
          </a:lstStyle>
          <a:p xmlns:a="http://schemas.openxmlformats.org/drawingml/2006/main">
            <a:pPr>
              <a:defRPr sz="1875" b="1">
                <a:solidFill>
                  <a:srgbClr val="008B85"/>
                </a:solidFill>
                <a:latin typeface="Courier New"/>
                <a:ea typeface="Courier New"/>
                <a:cs typeface="Courier New"/>
              </a:defRPr>
            </a:pPr>
            <a:r>
              <a:rPr sz="1875" b="1">
                <a:solidFill>
                  <a:srgbClr val="008B85"/>
                </a:solidFill>
                <a:latin typeface="Courier New"/>
                <a:ea typeface="Courier New"/>
                <a:cs typeface="Courier New"/>
              </a:rPr>
              <a:t>13</a:t>
            </a:r>
          </a:p>
          <a:p xmlns:a="http://schemas.openxmlformats.org/drawingml/2006/main">
            <a:pPr>
              <a:defRPr sz="1875" b="1">
                <a:solidFill>
                  <a:srgbClr val="008B85"/>
                </a:solidFill>
                <a:latin typeface="Courier New"/>
                <a:ea typeface="Courier New"/>
                <a:cs typeface="Courier New"/>
              </a:defRPr>
            </a:pPr>
            <a:r>
              <a:rPr sz="1875" b="1">
                <a:solidFill>
                  <a:srgbClr val="008B85"/>
                </a:solidFill>
                <a:latin typeface="Courier New"/>
                <a:ea typeface="Courier New"/>
                <a:cs typeface="Courier New"/>
              </a:rPr>
              <a:t>CacheInfo(hits=5, misses=8, maxsize=None, currsize=8)</a:t>
            </a:r>
          </a:p>
        </p:txBody>
      </p:sp>
      <p:sp>
        <p:nvSpPr>
          <p:cNvPr id="5" name="">
            <a:extLst xmlns:a="http://schemas.openxmlformats.org/drawingml/2006/main">
              <a:ext uri="{FF2B5EF4-FFF2-40B4-BE49-F238E27FC236}">
                <a16:creationId xmlns:a16="http://schemas.microsoft.com/office/drawing/2014/main" id="{015D5252-75B9-4B93-9E52-08BE3EEA384E}"/>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Приклад Erickson, §3.1. Код і пояснення адаптовано для Python</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42</a:t>
            </a:r>
          </a:p>
        </p:txBody>
      </p:sp>
    </p:spTree>
    <p:extLst>
      <p:ext uri="{BB962C8B-B14F-4D97-AF65-F5344CB8AC3E}">
        <p14:creationId xmlns:p14="http://schemas.microsoft.com/office/powerpoint/2010/main" val="111782239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27107D-3DBE-4512-A6CB-EFFCEF357A1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Дасгупта та співавтори: порядок підзадач</a:t>
            </a:r>
          </a:p>
        </p:txBody>
      </p:sp>
      <p:sp>
        <p:nvSpPr>
          <p:cNvPr id="2" name="">
            <a:extLst xmlns:a="http://schemas.openxmlformats.org/drawingml/2006/main">
              <a:ext uri="{FF2B5EF4-FFF2-40B4-BE49-F238E27FC236}">
                <a16:creationId xmlns:a16="http://schemas.microsoft.com/office/drawing/2014/main" id="{11C225B9-31BE-44E8-9661-407280696BC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Кожну вершину обчислюємо після всіх вершин, від яких залежить її відповідь.</a:t>
            </a:r>
          </a:p>
        </p:txBody>
      </p:sp>
      <p:pic>
        <p:nvPicPr>
          <p:cNvPr id="3" name="">
            <a:extLst xmlns:a="http://schemas.openxmlformats.org/drawingml/2006/main">
              <a:ext uri="{FF2B5EF4-FFF2-40B4-BE49-F238E27FC236}">
                <a16:creationId xmlns:a16="http://schemas.microsoft.com/office/drawing/2014/main" id="{A9A1C6CB-B669-41ED-AEA8-2FFAA7D557EE}"/>
              </a:ext>
            </a:extLst>
          </p:cNvPr>
          <p:cNvPicPr>
            <a:picLocks xmlns:a="http://schemas.openxmlformats.org/drawingml/2006/main" noChangeAspect="1"/>
          </p:cNvPicPr>
          <p:nvPr/>
        </p:nvPicPr>
        <p:blipFill>
          <a:blip xmlns:r="http://schemas.openxmlformats.org/officeDocument/2006/relationships" xmlns:a="http://schemas.openxmlformats.org/drawingml/2006/main" r:embed="rIdV71"/>
          <a:stretch xmlns:a="http://schemas.openxmlformats.org/drawingml/2006/main"/>
        </p:blipFill>
        <p:spPr>
          <a:xfrm xmlns:a="http://schemas.openxmlformats.org/drawingml/2006/main">
            <a:off x="685800" y="1802188"/>
            <a:ext cx="10820400" cy="253924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30B744-D63C-474D-B5C1-4FDC61041D71}"/>
              </a:ext>
            </a:extLst>
          </p:cNvPr>
          <p:cNvSpPr>
            <a:spLocks xmlns:a="http://schemas.openxmlformats.org/drawingml/2006/main" noGrp="1"/>
          </p:cNvSpPr>
          <p:nvPr/>
        </p:nvSpPr>
        <p:spPr>
          <a:xfrm xmlns:a="http://schemas.openxmlformats.org/drawingml/2006/main">
            <a:off x="685800" y="46672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008B85"/>
                </a:solidFill>
                <a:latin typeface="Arial"/>
                <a:ea typeface="Arial"/>
                <a:cs typeface="Arial"/>
              </a:defRPr>
            </a:defPPr>
          </a:lstStyle>
          <a:p xmlns:a="http://schemas.openxmlformats.org/drawingml/2006/main">
            <a:pPr>
              <a:defRPr sz="2625" b="1">
                <a:solidFill>
                  <a:srgbClr val="008B85"/>
                </a:solidFill>
                <a:latin typeface="Arial"/>
                <a:ea typeface="Arial"/>
                <a:cs typeface="Arial"/>
              </a:defRPr>
            </a:pPr>
            <a:r>
              <a:rPr sz="2625" b="1">
                <a:solidFill>
                  <a:srgbClr val="008B85"/>
                </a:solidFill>
                <a:latin typeface="Arial"/>
                <a:ea typeface="Arial"/>
                <a:cs typeface="Arial"/>
              </a:rPr>
              <a:t>Топологічний порядок: S, C, A, B, D, E</a:t>
            </a:r>
          </a:p>
        </p:txBody>
      </p:sp>
      <p:sp>
        <p:nvSpPr>
          <p:cNvPr id="5" name="">
            <a:extLst xmlns:a="http://schemas.openxmlformats.org/drawingml/2006/main">
              <a:ext uri="{FF2B5EF4-FFF2-40B4-BE49-F238E27FC236}">
                <a16:creationId xmlns:a16="http://schemas.microsoft.com/office/drawing/2014/main" id="{3B11109D-67FA-4721-845C-57D37B7D9A0E}"/>
              </a:ext>
            </a:extLst>
          </p:cNvPr>
          <p:cNvSpPr>
            <a:spLocks xmlns:a="http://schemas.openxmlformats.org/drawingml/2006/main" noGrp="1"/>
          </p:cNvSpPr>
          <p:nvPr/>
        </p:nvSpPr>
        <p:spPr>
          <a:xfrm xmlns:a="http://schemas.openxmlformats.org/drawingml/2006/main">
            <a:off x="685800" y="5286375"/>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Усі ребра правої схеми спрямовані зліва направо.</a:t>
            </a:r>
          </a:p>
        </p:txBody>
      </p:sp>
      <p:sp>
        <p:nvSpPr>
          <p:cNvPr id="6" name="">
            <a:extLst xmlns:a="http://schemas.openxmlformats.org/drawingml/2006/main">
              <a:ext uri="{FF2B5EF4-FFF2-40B4-BE49-F238E27FC236}">
                <a16:creationId xmlns:a16="http://schemas.microsoft.com/office/drawing/2014/main" id="{5CE3C935-3AEF-42B9-A3D2-B6709D17B37B}"/>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Dasgupta, Papadimitriou, Vazirani, Algorithms, рис. 6.1, с. 169</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61</a:t>
            </a:r>
          </a:p>
        </p:txBody>
      </p:sp>
    </p:spTree>
    <p:extLst>
      <p:ext uri="{BB962C8B-B14F-4D97-AF65-F5344CB8AC3E}">
        <p14:creationId xmlns:p14="http://schemas.microsoft.com/office/powerpoint/2010/main" val="1972274219"/>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EF92E-7FFA-48CC-9AEF-9137259D97D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Найкоротший шлях: один прохід по графу</a:t>
            </a:r>
          </a:p>
        </p:txBody>
      </p:sp>
      <p:sp>
        <p:nvSpPr>
          <p:cNvPr id="2" name="">
            <a:extLst xmlns:a="http://schemas.openxmlformats.org/drawingml/2006/main">
              <a:ext uri="{FF2B5EF4-FFF2-40B4-BE49-F238E27FC236}">
                <a16:creationId xmlns:a16="http://schemas.microsoft.com/office/drawing/2014/main" id="{E982ADB1-3497-4842-BD69-68D781593B6B}"/>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dist(v) означає відстань від S до v. Для D обираємо продовження через C.</a:t>
            </a:r>
          </a:p>
        </p:txBody>
      </p:sp>
      <p:graphicFrame>
        <p:nvGraphicFramePr>
          <p:cNvPr id="3" name="">
            <a:extLst xmlns:a="http://schemas.openxmlformats.org/drawingml/2006/main">
              <a:ext uri="{FF2B5EF4-FFF2-40B4-BE49-F238E27FC236}">
                <a16:creationId xmlns:a16="http://schemas.microsoft.com/office/drawing/2014/main" id="{4CADDE4D-9DAD-4A7E-9967-64D972FFEE50}"/>
              </a:ext>
            </a:extLst>
          </p:cNvPr>
          <p:cNvGraphicFramePr/>
          <p:nvPr/>
        </p:nvGraphicFramePr>
        <p:xfrm>
          <a:off xmlns:a="http://schemas.openxmlformats.org/drawingml/2006/main" x="685800" y="1571625"/>
          <a:ext xmlns:a="http://schemas.openxmlformats.org/drawingml/2006/main" cx="10820400" cy="3476625"/>
        </p:xfrm>
        <a:graphic xmlns:a="http://schemas.openxmlformats.org/drawingml/2006/main">
          <a:graphicData uri="http://schemas.openxmlformats.org/drawingml/2006/table">
            <a:tbl>
              <a:tblPr/>
              <a:tblGrid>
                <a:gridCol w="1809750"/>
                <a:gridCol w="6953250"/>
                <a:gridCol w="2057400"/>
              </a:tblGrid>
              <a:tr h="496661">
                <a:tc>
                  <a:txBody>
                    <a:bodyPr/>
                    <a:lstStyle/>
                    <a:p>
                      <a:r>
                        <a:rPr sz="1875" b="1">
                          <a:solidFill>
                            <a:srgbClr val="FFFFFF"/>
                          </a:solidFill>
                          <a:latin typeface="Arial"/>
                          <a:ea typeface="Arial"/>
                          <a:cs typeface="Arial"/>
                        </a:rPr>
                        <a:t>Вершина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Розрахунок відстані від S</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dist</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96661">
                <a:tc>
                  <a:txBody>
                    <a:bodyPr/>
                    <a:lstStyle/>
                    <a:p>
                      <a:r>
                        <a:rPr sz="1875" b="0">
                          <a:solidFill>
                            <a:srgbClr val="193247"/>
                          </a:solidFill>
                          <a:latin typeface="Arial"/>
                          <a:ea typeface="Arial"/>
                          <a:cs typeface="Arial"/>
                        </a:rPr>
                        <a:t>S</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Початковий стан</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 + 2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A</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min(0 + 1, 2 + 4)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 + 6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7</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D</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min(7 + 1, 2 + 3)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E</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min(7 + 2, 5 + 1)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ED8576-4BD1-465B-B897-1E68709C272C}"/>
              </a:ext>
            </a:extLst>
          </p:cNvPr>
          <p:cNvSpPr>
            <a:spLocks xmlns:a="http://schemas.openxmlformats.org/drawingml/2006/main" noGrp="1"/>
          </p:cNvSpPr>
          <p:nvPr/>
        </p:nvSpPr>
        <p:spPr>
          <a:xfrm xmlns:a="http://schemas.openxmlformats.org/drawingml/2006/main">
            <a:off x="685800" y="52863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До E найкраще: S, C, D, E. Сума 2 + 3 + 1 = 6.</a:t>
            </a:r>
          </a:p>
        </p:txBody>
      </p:sp>
      <p:sp>
        <p:nvSpPr>
          <p:cNvPr id="5" name="">
            <a:extLst xmlns:a="http://schemas.openxmlformats.org/drawingml/2006/main">
              <a:ext uri="{FF2B5EF4-FFF2-40B4-BE49-F238E27FC236}">
                <a16:creationId xmlns:a16="http://schemas.microsoft.com/office/drawing/2014/main" id="{7472E42B-5E6A-4CF8-855F-21887E898175}"/>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Розрахунок за оригінальним прикладом Algorithms, §6.1, с. 169–170</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62</a:t>
            </a:r>
          </a:p>
        </p:txBody>
      </p:sp>
    </p:spTree>
    <p:extLst>
      <p:ext uri="{BB962C8B-B14F-4D97-AF65-F5344CB8AC3E}">
        <p14:creationId xmlns:p14="http://schemas.microsoft.com/office/powerpoint/2010/main" val="1776711612"/>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6CE12C6-298E-4B60-8D94-170A9164E71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0, початкові таблиці</a:t>
            </a:r>
          </a:p>
        </p:txBody>
      </p:sp>
      <p:sp>
        <p:nvSpPr>
          <p:cNvPr id="2" name="">
            <a:extLst xmlns:a="http://schemas.openxmlformats.org/drawingml/2006/main">
              <a:ext uri="{FF2B5EF4-FFF2-40B4-BE49-F238E27FC236}">
                <a16:creationId xmlns:a16="http://schemas.microsoft.com/office/drawing/2014/main" id="{58AB462D-7CF7-45B1-9AFA-ECBB37BB0DC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R1, R2 та R3: метрика 16 означає, що маршруту до N ще немає.</a:t>
            </a:r>
          </a:p>
        </p:txBody>
      </p:sp>
      <p:sp>
        <p:nvSpPr>
          <p:cNvPr id="3" name="">
            <a:extLst xmlns:a="http://schemas.openxmlformats.org/drawingml/2006/main">
              <a:ext uri="{FF2B5EF4-FFF2-40B4-BE49-F238E27FC236}">
                <a16:creationId xmlns:a16="http://schemas.microsoft.com/office/drawing/2014/main" id="{7D955B00-D02A-42E7-B23F-AD4B06A65847}"/>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55DBA199-75F8-44F7-A184-1E26BDE27A48}"/>
              </a:ext>
            </a:extLst>
          </p:cNvPr>
          <p:cNvSpPr>
            <a:spLocks xmlns:a="http://schemas.openxmlformats.org/drawingml/2006/main" noGrp="1"/>
          </p:cNvSpPr>
          <p:nvPr/>
        </p:nvSpPr>
        <p:spPr>
          <a:xfrm xmlns:a="http://schemas.openxmlformats.org/drawingml/2006/main">
            <a:off x="2143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BE5FAA-39BD-4AD5-AB5E-FF735D3BEBF7}"/>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B79D38C-5092-4AF2-980C-1B736F786257}"/>
              </a:ext>
            </a:extLst>
          </p:cNvPr>
          <p:cNvSpPr>
            <a:spLocks xmlns:a="http://schemas.openxmlformats.org/drawingml/2006/main" noGrp="1"/>
          </p:cNvSpPr>
          <p:nvPr/>
        </p:nvSpPr>
        <p:spPr>
          <a:xfrm xmlns:a="http://schemas.openxmlformats.org/drawingml/2006/main">
            <a:off x="46196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5070A9-1EB9-4CEA-AD51-BBCEBE0A25F6}"/>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15D2D630-5D77-43A9-ABAC-4B4B4F4D93FE}"/>
              </a:ext>
            </a:extLst>
          </p:cNvPr>
          <p:cNvSpPr>
            <a:spLocks xmlns:a="http://schemas.openxmlformats.org/drawingml/2006/main" noGrp="1"/>
          </p:cNvSpPr>
          <p:nvPr/>
        </p:nvSpPr>
        <p:spPr>
          <a:xfrm xmlns:a="http://schemas.openxmlformats.org/drawingml/2006/main">
            <a:off x="7096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056EB8-44E6-4495-9CCF-4BCC80929864}"/>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DFBA9D0-3BDB-45A5-BCEB-9146FA219E0A}"/>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1" name="">
            <a:extLst xmlns:a="http://schemas.openxmlformats.org/drawingml/2006/main">
              <a:ext uri="{FF2B5EF4-FFF2-40B4-BE49-F238E27FC236}">
                <a16:creationId xmlns:a16="http://schemas.microsoft.com/office/drawing/2014/main" id="{52FC236C-79EE-473C-9B54-D9C6B81FF5EE}"/>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AD6EE342-D540-4AA5-9BD7-49757AD88FD8}"/>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4EF5107B-CDEB-4AB6-8B01-52376728EEB2}"/>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062B7546-7C8F-4B9D-AEBD-20370DDB6D62}"/>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5" name="">
            <a:extLst xmlns:a="http://schemas.openxmlformats.org/drawingml/2006/main">
              <a:ext uri="{FF2B5EF4-FFF2-40B4-BE49-F238E27FC236}">
                <a16:creationId xmlns:a16="http://schemas.microsoft.com/office/drawing/2014/main" id="{6C6C3ACA-7778-40B2-AC63-F7443D829132}"/>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6" name="">
            <a:extLst xmlns:a="http://schemas.openxmlformats.org/drawingml/2006/main">
              <a:ext uri="{FF2B5EF4-FFF2-40B4-BE49-F238E27FC236}">
                <a16:creationId xmlns:a16="http://schemas.microsoft.com/office/drawing/2014/main" id="{B6B0DE1B-F42C-4825-9679-DB9D53036592}"/>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7" name="">
            <a:extLst xmlns:a="http://schemas.openxmlformats.org/drawingml/2006/main">
              <a:ext uri="{FF2B5EF4-FFF2-40B4-BE49-F238E27FC236}">
                <a16:creationId xmlns:a16="http://schemas.microsoft.com/office/drawing/2014/main" id="{D75D0232-8F7D-4530-ABE4-05FE16EFBC82}"/>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C3995189-50B9-4669-9308-B91AD134CBF0}"/>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9" name="">
            <a:extLst xmlns:a="http://schemas.openxmlformats.org/drawingml/2006/main">
              <a:ext uri="{FF2B5EF4-FFF2-40B4-BE49-F238E27FC236}">
                <a16:creationId xmlns:a16="http://schemas.microsoft.com/office/drawing/2014/main" id="{6DB36D52-DE2B-4F9C-9860-34BD7DF7BEAA}"/>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0" name="">
            <a:extLst xmlns:a="http://schemas.openxmlformats.org/drawingml/2006/main">
              <a:ext uri="{FF2B5EF4-FFF2-40B4-BE49-F238E27FC236}">
                <a16:creationId xmlns:a16="http://schemas.microsoft.com/office/drawing/2014/main" id="{30833CB0-C936-4981-8B4B-AF2A3D082E8C}"/>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1" name="">
            <a:extLst xmlns:a="http://schemas.openxmlformats.org/drawingml/2006/main">
              <a:ext uri="{FF2B5EF4-FFF2-40B4-BE49-F238E27FC236}">
                <a16:creationId xmlns:a16="http://schemas.microsoft.com/office/drawing/2014/main" id="{2B934693-B772-4C07-B985-72AC80A03969}"/>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9CAAB259-A0F4-40AE-9966-0BA19A72D39F}"/>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23" name="">
            <a:extLst xmlns:a="http://schemas.openxmlformats.org/drawingml/2006/main">
              <a:ext uri="{FF2B5EF4-FFF2-40B4-BE49-F238E27FC236}">
                <a16:creationId xmlns:a16="http://schemas.microsoft.com/office/drawing/2014/main" id="{C9949825-220F-40AE-8E32-3C89937E3623}"/>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4" name="">
            <a:extLst xmlns:a="http://schemas.openxmlformats.org/drawingml/2006/main">
              <a:ext uri="{FF2B5EF4-FFF2-40B4-BE49-F238E27FC236}">
                <a16:creationId xmlns:a16="http://schemas.microsoft.com/office/drawing/2014/main" id="{2C8B3C44-0009-41A8-A16E-59ED498570BB}"/>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5" name="">
            <a:extLst xmlns:a="http://schemas.openxmlformats.org/drawingml/2006/main">
              <a:ext uri="{FF2B5EF4-FFF2-40B4-BE49-F238E27FC236}">
                <a16:creationId xmlns:a16="http://schemas.microsoft.com/office/drawing/2014/main" id="{E5BF8A2B-2C30-4C44-AC87-2DF90855E1D8}"/>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26" name="">
            <a:extLst xmlns:a="http://schemas.openxmlformats.org/drawingml/2006/main">
              <a:ext uri="{FF2B5EF4-FFF2-40B4-BE49-F238E27FC236}">
                <a16:creationId xmlns:a16="http://schemas.microsoft.com/office/drawing/2014/main" id="{F7058254-52F9-4A43-8E28-A1954835B33D}"/>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7" name="">
            <a:extLst xmlns:a="http://schemas.openxmlformats.org/drawingml/2006/main">
              <a:ext uri="{FF2B5EF4-FFF2-40B4-BE49-F238E27FC236}">
                <a16:creationId xmlns:a16="http://schemas.microsoft.com/office/drawing/2014/main" id="{4610827F-A212-4F31-AD67-B5C4E57457FD}"/>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5356E6-D47A-482B-9F3E-391717CB06E1}"/>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Лише R4 має безпосереднє підключення до мережі N.</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82</a:t>
            </a:r>
          </a:p>
        </p:txBody>
      </p:sp>
    </p:spTree>
    <p:extLst>
      <p:ext uri="{BB962C8B-B14F-4D97-AF65-F5344CB8AC3E}">
        <p14:creationId xmlns:p14="http://schemas.microsoft.com/office/powerpoint/2010/main" val="526954906"/>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6E0DE6-66AB-4EDC-B2A4-39658C8A7E6C}"/>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1, маршрут з’являється в R3</a:t>
            </a:r>
          </a:p>
        </p:txBody>
      </p:sp>
      <p:sp>
        <p:nvSpPr>
          <p:cNvPr id="2" name="">
            <a:extLst xmlns:a="http://schemas.openxmlformats.org/drawingml/2006/main">
              <a:ext uri="{FF2B5EF4-FFF2-40B4-BE49-F238E27FC236}">
                <a16:creationId xmlns:a16="http://schemas.microsoft.com/office/drawing/2014/main" id="{7953514B-60A9-4A79-A8AB-22F78981DA7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R3: min(16, 1 + 1) = 2. Наступний вузол для пакета: R4.</a:t>
            </a:r>
          </a:p>
        </p:txBody>
      </p:sp>
      <p:sp>
        <p:nvSpPr>
          <p:cNvPr id="3" name="">
            <a:extLst xmlns:a="http://schemas.openxmlformats.org/drawingml/2006/main">
              <a:ext uri="{FF2B5EF4-FFF2-40B4-BE49-F238E27FC236}">
                <a16:creationId xmlns:a16="http://schemas.microsoft.com/office/drawing/2014/main" id="{BF642824-E071-4BED-9FE0-9DE73A465814}"/>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A20A590A-6897-42E2-B81F-4C8FC3D3CFAC}"/>
              </a:ext>
            </a:extLst>
          </p:cNvPr>
          <p:cNvSpPr>
            <a:spLocks xmlns:a="http://schemas.openxmlformats.org/drawingml/2006/main" noGrp="1"/>
          </p:cNvSpPr>
          <p:nvPr/>
        </p:nvSpPr>
        <p:spPr>
          <a:xfrm xmlns:a="http://schemas.openxmlformats.org/drawingml/2006/main">
            <a:off x="2143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614762-B475-4E10-BD79-267ED3A79217}"/>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DD4C5AC2-9159-4FB0-BAE0-09EFFD00DAC2}"/>
              </a:ext>
            </a:extLst>
          </p:cNvPr>
          <p:cNvSpPr>
            <a:spLocks xmlns:a="http://schemas.openxmlformats.org/drawingml/2006/main" noGrp="1"/>
          </p:cNvSpPr>
          <p:nvPr/>
        </p:nvSpPr>
        <p:spPr>
          <a:xfrm xmlns:a="http://schemas.openxmlformats.org/drawingml/2006/main">
            <a:off x="46196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132E7DD-2271-4108-AA9A-CCFF69B6EB95}"/>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F91186F6-8A4E-468A-87CB-16D8C20EE36D}"/>
              </a:ext>
            </a:extLst>
          </p:cNvPr>
          <p:cNvSpPr>
            <a:spLocks xmlns:a="http://schemas.openxmlformats.org/drawingml/2006/main" noGrp="1"/>
          </p:cNvSpPr>
          <p:nvPr/>
        </p:nvSpPr>
        <p:spPr>
          <a:xfrm xmlns:a="http://schemas.openxmlformats.org/drawingml/2006/main">
            <a:off x="7096125" y="2352675"/>
            <a:ext cx="1428750" cy="238125"/>
          </a:xfrm>
          <a:prstGeom xmlns:a="http://schemas.openxmlformats.org/drawingml/2006/main" prst="leftArrow">
            <a:avLst/>
          </a:prstGeom>
          <a:solidFill xmlns:a="http://schemas.openxmlformats.org/drawingml/2006/main">
            <a:srgbClr val="008B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23FC87-817C-4CC9-AE15-C94EF9D31666}"/>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Оголошує 1</a:t>
            </a:r>
          </a:p>
        </p:txBody>
      </p:sp>
      <p:sp>
        <p:nvSpPr>
          <p:cNvPr id="10" name="">
            <a:extLst xmlns:a="http://schemas.openxmlformats.org/drawingml/2006/main">
              <a:ext uri="{FF2B5EF4-FFF2-40B4-BE49-F238E27FC236}">
                <a16:creationId xmlns:a16="http://schemas.microsoft.com/office/drawing/2014/main" id="{0803B3F8-1C64-4D65-94D8-0DEB29552A55}"/>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1" name="">
            <a:extLst xmlns:a="http://schemas.openxmlformats.org/drawingml/2006/main">
              <a:ext uri="{FF2B5EF4-FFF2-40B4-BE49-F238E27FC236}">
                <a16:creationId xmlns:a16="http://schemas.microsoft.com/office/drawing/2014/main" id="{13F5BD28-DD5C-4FBC-8996-38681C0EA7E6}"/>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430B4E9F-44F7-4340-BE37-FB0D66D3840D}"/>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AE25A7EA-8C51-413F-B146-A43FEDC68A88}"/>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3FCAF9DE-A80F-4080-B475-6CD65BA2E19B}"/>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5" name="">
            <a:extLst xmlns:a="http://schemas.openxmlformats.org/drawingml/2006/main">
              <a:ext uri="{FF2B5EF4-FFF2-40B4-BE49-F238E27FC236}">
                <a16:creationId xmlns:a16="http://schemas.microsoft.com/office/drawing/2014/main" id="{84087083-7D74-4C29-A69F-B06983FFFB47}"/>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6" name="">
            <a:extLst xmlns:a="http://schemas.openxmlformats.org/drawingml/2006/main">
              <a:ext uri="{FF2B5EF4-FFF2-40B4-BE49-F238E27FC236}">
                <a16:creationId xmlns:a16="http://schemas.microsoft.com/office/drawing/2014/main" id="{BA474FA9-2565-4E1A-B35F-F5AA8D04BBB9}"/>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7" name="">
            <a:extLst xmlns:a="http://schemas.openxmlformats.org/drawingml/2006/main">
              <a:ext uri="{FF2B5EF4-FFF2-40B4-BE49-F238E27FC236}">
                <a16:creationId xmlns:a16="http://schemas.microsoft.com/office/drawing/2014/main" id="{FD53AF20-5DDE-45DF-AB70-BF90314AEFD5}"/>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E82FE2A3-54B5-43E8-932E-B3285E6EF878}"/>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19" name="">
            <a:extLst xmlns:a="http://schemas.openxmlformats.org/drawingml/2006/main">
              <a:ext uri="{FF2B5EF4-FFF2-40B4-BE49-F238E27FC236}">
                <a16:creationId xmlns:a16="http://schemas.microsoft.com/office/drawing/2014/main" id="{C49045F6-C7E3-4C5C-B59B-6EDA3A344923}"/>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0" name="">
            <a:extLst xmlns:a="http://schemas.openxmlformats.org/drawingml/2006/main">
              <a:ext uri="{FF2B5EF4-FFF2-40B4-BE49-F238E27FC236}">
                <a16:creationId xmlns:a16="http://schemas.microsoft.com/office/drawing/2014/main" id="{31AE59F6-2BED-4FDE-B5DC-C99187FADBA7}"/>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1" name="">
            <a:extLst xmlns:a="http://schemas.openxmlformats.org/drawingml/2006/main">
              <a:ext uri="{FF2B5EF4-FFF2-40B4-BE49-F238E27FC236}">
                <a16:creationId xmlns:a16="http://schemas.microsoft.com/office/drawing/2014/main" id="{9CBA443A-FB3B-4550-B23B-970DC69A7600}"/>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22" name="">
            <a:extLst xmlns:a="http://schemas.openxmlformats.org/drawingml/2006/main">
              <a:ext uri="{FF2B5EF4-FFF2-40B4-BE49-F238E27FC236}">
                <a16:creationId xmlns:a16="http://schemas.microsoft.com/office/drawing/2014/main" id="{9BDFA826-777B-4D35-AE84-8F112A5CC231}"/>
              </a:ext>
            </a:extLst>
          </p:cNvPr>
          <p:cNvSpPr>
            <a:spLocks xmlns:a="http://schemas.openxmlformats.org/drawingml/2006/main" noGrp="1"/>
          </p:cNvSpPr>
          <p:nvPr/>
        </p:nvSpPr>
        <p:spPr>
          <a:xfrm xmlns:a="http://schemas.openxmlformats.org/drawingml/2006/main">
            <a:off x="5619750" y="5048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16 → 2</a:t>
            </a:r>
          </a:p>
        </p:txBody>
      </p:sp>
      <p:sp>
        <p:nvSpPr>
          <p:cNvPr id="23" name="">
            <a:extLst xmlns:a="http://schemas.openxmlformats.org/drawingml/2006/main">
              <a:ext uri="{FF2B5EF4-FFF2-40B4-BE49-F238E27FC236}">
                <a16:creationId xmlns:a16="http://schemas.microsoft.com/office/drawing/2014/main" id="{91206515-D9D8-4641-BB41-B74BF855AE5B}"/>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4" name="">
            <a:extLst xmlns:a="http://schemas.openxmlformats.org/drawingml/2006/main">
              <a:ext uri="{FF2B5EF4-FFF2-40B4-BE49-F238E27FC236}">
                <a16:creationId xmlns:a16="http://schemas.microsoft.com/office/drawing/2014/main" id="{3998383E-29A9-4B8C-91FE-4E2DBD51A1DC}"/>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5" name="">
            <a:extLst xmlns:a="http://schemas.openxmlformats.org/drawingml/2006/main">
              <a:ext uri="{FF2B5EF4-FFF2-40B4-BE49-F238E27FC236}">
                <a16:creationId xmlns:a16="http://schemas.microsoft.com/office/drawing/2014/main" id="{2E423AE9-C13F-4F77-84BB-9BAE48D53AFA}"/>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6" name="">
            <a:extLst xmlns:a="http://schemas.openxmlformats.org/drawingml/2006/main">
              <a:ext uri="{FF2B5EF4-FFF2-40B4-BE49-F238E27FC236}">
                <a16:creationId xmlns:a16="http://schemas.microsoft.com/office/drawing/2014/main" id="{D96A7927-E201-414F-BDC1-A0A011921558}"/>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DAA5F442-0D81-4244-A177-BA56662D2A1A}"/>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8" name="">
            <a:extLst xmlns:a="http://schemas.openxmlformats.org/drawingml/2006/main">
              <a:ext uri="{FF2B5EF4-FFF2-40B4-BE49-F238E27FC236}">
                <a16:creationId xmlns:a16="http://schemas.microsoft.com/office/drawing/2014/main" id="{701D46B6-08CC-411E-BC38-D6C7FC2EDBA8}"/>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6F2C4CB-4DD2-43EF-B746-01A5368B3478}"/>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R4 оголошує: «До N моя метрика 1». R3 додає вартість переходу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83</a:t>
            </a:r>
          </a:p>
        </p:txBody>
      </p:sp>
    </p:spTree>
    <p:extLst>
      <p:ext uri="{BB962C8B-B14F-4D97-AF65-F5344CB8AC3E}">
        <p14:creationId xmlns:p14="http://schemas.microsoft.com/office/powerpoint/2010/main" val="1714165999"/>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D616890-7693-4569-9DE4-16D2A0248CB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2, маршрут з’являється в R2</a:t>
            </a:r>
          </a:p>
        </p:txBody>
      </p:sp>
      <p:sp>
        <p:nvSpPr>
          <p:cNvPr id="2" name="">
            <a:extLst xmlns:a="http://schemas.openxmlformats.org/drawingml/2006/main">
              <a:ext uri="{FF2B5EF4-FFF2-40B4-BE49-F238E27FC236}">
                <a16:creationId xmlns:a16="http://schemas.microsoft.com/office/drawing/2014/main" id="{19B44ABF-F7AD-4D9C-BFF4-9628CCE6707C}"/>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R2: min(16, 1 + 2) = 3. Наступний вузол для пакета: R3.</a:t>
            </a:r>
          </a:p>
        </p:txBody>
      </p:sp>
      <p:sp>
        <p:nvSpPr>
          <p:cNvPr id="3" name="">
            <a:extLst xmlns:a="http://schemas.openxmlformats.org/drawingml/2006/main">
              <a:ext uri="{FF2B5EF4-FFF2-40B4-BE49-F238E27FC236}">
                <a16:creationId xmlns:a16="http://schemas.microsoft.com/office/drawing/2014/main" id="{6BDF32E5-3731-4727-92C0-E2A779EDD555}"/>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3CAC8883-A82A-4017-BCC0-A99AFF8EB4AD}"/>
              </a:ext>
            </a:extLst>
          </p:cNvPr>
          <p:cNvSpPr>
            <a:spLocks xmlns:a="http://schemas.openxmlformats.org/drawingml/2006/main" noGrp="1"/>
          </p:cNvSpPr>
          <p:nvPr/>
        </p:nvSpPr>
        <p:spPr>
          <a:xfrm xmlns:a="http://schemas.openxmlformats.org/drawingml/2006/main">
            <a:off x="2143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C34296-E161-4DF4-AD94-3E059A883016}"/>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769C548-54D0-4736-B203-49CAFFC45351}"/>
              </a:ext>
            </a:extLst>
          </p:cNvPr>
          <p:cNvSpPr>
            <a:spLocks xmlns:a="http://schemas.openxmlformats.org/drawingml/2006/main" noGrp="1"/>
          </p:cNvSpPr>
          <p:nvPr/>
        </p:nvSpPr>
        <p:spPr>
          <a:xfrm xmlns:a="http://schemas.openxmlformats.org/drawingml/2006/main">
            <a:off x="4619625" y="2352675"/>
            <a:ext cx="1428750" cy="238125"/>
          </a:xfrm>
          <a:prstGeom xmlns:a="http://schemas.openxmlformats.org/drawingml/2006/main" prst="leftArrow">
            <a:avLst/>
          </a:prstGeom>
          <a:solidFill xmlns:a="http://schemas.openxmlformats.org/drawingml/2006/main">
            <a:srgbClr val="008B8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8BB1F56-D811-40AB-B7EC-432084AC8FB7}"/>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Оголошує 2</a:t>
            </a:r>
          </a:p>
        </p:txBody>
      </p:sp>
      <p:sp>
        <p:nvSpPr>
          <p:cNvPr id="8" name="">
            <a:extLst xmlns:a="http://schemas.openxmlformats.org/drawingml/2006/main">
              <a:ext uri="{FF2B5EF4-FFF2-40B4-BE49-F238E27FC236}">
                <a16:creationId xmlns:a16="http://schemas.microsoft.com/office/drawing/2014/main" id="{4722E4A4-9BA9-42B6-BBB7-DC7221B9EFA1}"/>
              </a:ext>
            </a:extLst>
          </p:cNvPr>
          <p:cNvSpPr>
            <a:spLocks xmlns:a="http://schemas.openxmlformats.org/drawingml/2006/main" noGrp="1"/>
          </p:cNvSpPr>
          <p:nvPr/>
        </p:nvSpPr>
        <p:spPr>
          <a:xfrm xmlns:a="http://schemas.openxmlformats.org/drawingml/2006/main">
            <a:off x="7096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EB2655-B2B9-40C6-B58B-A3E0AB35F387}"/>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93D70608-45E8-40B8-A477-9639CEDEFBC9}"/>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1" name="">
            <a:extLst xmlns:a="http://schemas.openxmlformats.org/drawingml/2006/main">
              <a:ext uri="{FF2B5EF4-FFF2-40B4-BE49-F238E27FC236}">
                <a16:creationId xmlns:a16="http://schemas.microsoft.com/office/drawing/2014/main" id="{FCF74441-9797-4384-A521-38D5AB9E3D7B}"/>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2D928F40-B2A9-47CA-B7A1-1075588DC3CE}"/>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B1B0DE2E-99B3-40A7-B89F-7A63C8CA2BAC}"/>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немає</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72D879BE-D643-4B51-8BE8-EF057158E065}"/>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15" name="">
            <a:extLst xmlns:a="http://schemas.openxmlformats.org/drawingml/2006/main">
              <a:ext uri="{FF2B5EF4-FFF2-40B4-BE49-F238E27FC236}">
                <a16:creationId xmlns:a16="http://schemas.microsoft.com/office/drawing/2014/main" id="{80E4CC8C-A20E-4B25-978E-86BE25D13B75}"/>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6" name="">
            <a:extLst xmlns:a="http://schemas.openxmlformats.org/drawingml/2006/main">
              <a:ext uri="{FF2B5EF4-FFF2-40B4-BE49-F238E27FC236}">
                <a16:creationId xmlns:a16="http://schemas.microsoft.com/office/drawing/2014/main" id="{71079077-CA97-4918-B8FA-21DBADFC9625}"/>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7" name="">
            <a:extLst xmlns:a="http://schemas.openxmlformats.org/drawingml/2006/main">
              <a:ext uri="{FF2B5EF4-FFF2-40B4-BE49-F238E27FC236}">
                <a16:creationId xmlns:a16="http://schemas.microsoft.com/office/drawing/2014/main" id="{35EBBA25-8E5A-4154-8A8E-E4A80D613923}"/>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R3</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18" name="">
            <a:extLst xmlns:a="http://schemas.openxmlformats.org/drawingml/2006/main">
              <a:ext uri="{FF2B5EF4-FFF2-40B4-BE49-F238E27FC236}">
                <a16:creationId xmlns:a16="http://schemas.microsoft.com/office/drawing/2014/main" id="{191C1095-2AA9-4339-B768-227F90F6B311}"/>
              </a:ext>
            </a:extLst>
          </p:cNvPr>
          <p:cNvSpPr>
            <a:spLocks xmlns:a="http://schemas.openxmlformats.org/drawingml/2006/main" noGrp="1"/>
          </p:cNvSpPr>
          <p:nvPr/>
        </p:nvSpPr>
        <p:spPr>
          <a:xfrm xmlns:a="http://schemas.openxmlformats.org/drawingml/2006/main">
            <a:off x="3143250" y="5048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16 → 3</a:t>
            </a:r>
          </a:p>
        </p:txBody>
      </p:sp>
      <p:sp>
        <p:nvSpPr>
          <p:cNvPr id="19" name="">
            <a:extLst xmlns:a="http://schemas.openxmlformats.org/drawingml/2006/main">
              <a:ext uri="{FF2B5EF4-FFF2-40B4-BE49-F238E27FC236}">
                <a16:creationId xmlns:a16="http://schemas.microsoft.com/office/drawing/2014/main" id="{188D9E25-9D72-4379-98B9-8C421DFF7335}"/>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0" name="">
            <a:extLst xmlns:a="http://schemas.openxmlformats.org/drawingml/2006/main">
              <a:ext uri="{FF2B5EF4-FFF2-40B4-BE49-F238E27FC236}">
                <a16:creationId xmlns:a16="http://schemas.microsoft.com/office/drawing/2014/main" id="{6794A3D2-6E57-4C2B-9CCC-7A17ADA3306A}"/>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1" name="">
            <a:extLst xmlns:a="http://schemas.openxmlformats.org/drawingml/2006/main">
              <a:ext uri="{FF2B5EF4-FFF2-40B4-BE49-F238E27FC236}">
                <a16:creationId xmlns:a16="http://schemas.microsoft.com/office/drawing/2014/main" id="{A423BFBD-C582-47B1-9663-3486F1825395}"/>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2" name="">
            <a:extLst xmlns:a="http://schemas.openxmlformats.org/drawingml/2006/main">
              <a:ext uri="{FF2B5EF4-FFF2-40B4-BE49-F238E27FC236}">
                <a16:creationId xmlns:a16="http://schemas.microsoft.com/office/drawing/2014/main" id="{C7CFD64A-A5ED-45A1-B41F-2ACA11CD7DE5}"/>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3" name="">
            <a:extLst xmlns:a="http://schemas.openxmlformats.org/drawingml/2006/main">
              <a:ext uri="{FF2B5EF4-FFF2-40B4-BE49-F238E27FC236}">
                <a16:creationId xmlns:a16="http://schemas.microsoft.com/office/drawing/2014/main" id="{B21E45D3-87C5-4E43-9486-BB3B6E04BA33}"/>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4" name="">
            <a:extLst xmlns:a="http://schemas.openxmlformats.org/drawingml/2006/main">
              <a:ext uri="{FF2B5EF4-FFF2-40B4-BE49-F238E27FC236}">
                <a16:creationId xmlns:a16="http://schemas.microsoft.com/office/drawing/2014/main" id="{C12E7A58-6B10-416E-A709-FFE3CE87DB71}"/>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5" name="">
            <a:extLst xmlns:a="http://schemas.openxmlformats.org/drawingml/2006/main">
              <a:ext uri="{FF2B5EF4-FFF2-40B4-BE49-F238E27FC236}">
                <a16:creationId xmlns:a16="http://schemas.microsoft.com/office/drawing/2014/main" id="{DC20582D-0ECC-40CF-B210-C33FD7AE3908}"/>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6" name="">
            <a:extLst xmlns:a="http://schemas.openxmlformats.org/drawingml/2006/main">
              <a:ext uri="{FF2B5EF4-FFF2-40B4-BE49-F238E27FC236}">
                <a16:creationId xmlns:a16="http://schemas.microsoft.com/office/drawing/2014/main" id="{7DF192BF-8955-4287-A03B-B3BD1374A1BF}"/>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90621CC4-DF48-4EF5-852F-684B83A79E86}"/>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8" name="">
            <a:extLst xmlns:a="http://schemas.openxmlformats.org/drawingml/2006/main">
              <a:ext uri="{FF2B5EF4-FFF2-40B4-BE49-F238E27FC236}">
                <a16:creationId xmlns:a16="http://schemas.microsoft.com/office/drawing/2014/main" id="{868998DF-68D4-487F-B843-7E2CDBD6B541}"/>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1C8F47D-FB9A-4077-A6D8-253D41B986A6}"/>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R3 оголошує метрику 2 з попереднього раунду. R2 додає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84</a:t>
            </a:r>
          </a:p>
        </p:txBody>
      </p:sp>
    </p:spTree>
    <p:extLst>
      <p:ext uri="{BB962C8B-B14F-4D97-AF65-F5344CB8AC3E}">
        <p14:creationId xmlns:p14="http://schemas.microsoft.com/office/powerpoint/2010/main" val="161642808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7FF8356-9610-4207-8780-D32CED2C4F4E}"/>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крок 3, маршрут з’являється в R1</a:t>
            </a:r>
          </a:p>
        </p:txBody>
      </p:sp>
      <p:sp>
        <p:nvSpPr>
          <p:cNvPr id="2" name="">
            <a:extLst xmlns:a="http://schemas.openxmlformats.org/drawingml/2006/main">
              <a:ext uri="{FF2B5EF4-FFF2-40B4-BE49-F238E27FC236}">
                <a16:creationId xmlns:a16="http://schemas.microsoft.com/office/drawing/2014/main" id="{F7E4053C-52AA-4E06-97B2-64B5B68F827E}"/>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R1: min(16, 1 + 3) = 4. Наступний вузол для пакета: R2.</a:t>
            </a:r>
          </a:p>
        </p:txBody>
      </p:sp>
      <p:sp>
        <p:nvSpPr>
          <p:cNvPr id="3" name="">
            <a:extLst xmlns:a="http://schemas.openxmlformats.org/drawingml/2006/main">
              <a:ext uri="{FF2B5EF4-FFF2-40B4-BE49-F238E27FC236}">
                <a16:creationId xmlns:a16="http://schemas.microsoft.com/office/drawing/2014/main" id="{B9005A0E-2387-470F-A8FD-017B3F27280E}"/>
              </a:ext>
            </a:extLst>
          </p:cNvPr>
          <p:cNvSpPr>
            <a:spLocks xmlns:a="http://schemas.openxmlformats.org/drawingml/2006/main" noGrp="1"/>
          </p:cNvSpPr>
          <p:nvPr/>
        </p:nvSpPr>
        <p:spPr>
          <a:xfrm xmlns:a="http://schemas.openxmlformats.org/drawingml/2006/main">
            <a:off x="685800" y="1381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Мережа N: 10.10.40.0/24. Вартість кожного переходу: 1.</a:t>
            </a:r>
          </a:p>
        </p:txBody>
      </p:sp>
      <p:sp>
        <p:nvSpPr>
          <p:cNvPr id="4" name="">
            <a:extLst xmlns:a="http://schemas.openxmlformats.org/drawingml/2006/main">
              <a:ext uri="{FF2B5EF4-FFF2-40B4-BE49-F238E27FC236}">
                <a16:creationId xmlns:a16="http://schemas.microsoft.com/office/drawing/2014/main" id="{D7E3B243-A8F4-48C6-BDE1-225F8264F551}"/>
              </a:ext>
            </a:extLst>
          </p:cNvPr>
          <p:cNvSpPr>
            <a:spLocks xmlns:a="http://schemas.openxmlformats.org/drawingml/2006/main" noGrp="1"/>
          </p:cNvSpPr>
          <p:nvPr/>
        </p:nvSpPr>
        <p:spPr>
          <a:xfrm xmlns:a="http://schemas.openxmlformats.org/drawingml/2006/main">
            <a:off x="2143125" y="2352675"/>
            <a:ext cx="1428750" cy="238125"/>
          </a:xfrm>
          <a:prstGeom xmlns:a="http://schemas.openxmlformats.org/drawingml/2006/main" prst="leftArrow">
            <a:avLst/>
          </a:prstGeom>
          <a:solidFill xmlns:a="http://schemas.openxmlformats.org/drawingml/2006/main">
            <a:srgbClr val="008B8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0E146-E566-4319-A4AE-3A0BC44ECAC3}"/>
              </a:ext>
            </a:extLst>
          </p:cNvPr>
          <p:cNvSpPr>
            <a:spLocks xmlns:a="http://schemas.openxmlformats.org/drawingml/2006/main" noGrp="1"/>
          </p:cNvSpPr>
          <p:nvPr/>
        </p:nvSpPr>
        <p:spPr>
          <a:xfrm xmlns:a="http://schemas.openxmlformats.org/drawingml/2006/main">
            <a:off x="2238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Оголошує 3</a:t>
            </a:r>
          </a:p>
        </p:txBody>
      </p:sp>
      <p:sp>
        <p:nvSpPr>
          <p:cNvPr id="6" name="">
            <a:extLst xmlns:a="http://schemas.openxmlformats.org/drawingml/2006/main">
              <a:ext uri="{FF2B5EF4-FFF2-40B4-BE49-F238E27FC236}">
                <a16:creationId xmlns:a16="http://schemas.microsoft.com/office/drawing/2014/main" id="{6D0DDCE9-6791-4632-A5BD-98F6B706310B}"/>
              </a:ext>
            </a:extLst>
          </p:cNvPr>
          <p:cNvSpPr>
            <a:spLocks xmlns:a="http://schemas.openxmlformats.org/drawingml/2006/main" noGrp="1"/>
          </p:cNvSpPr>
          <p:nvPr/>
        </p:nvSpPr>
        <p:spPr>
          <a:xfrm xmlns:a="http://schemas.openxmlformats.org/drawingml/2006/main">
            <a:off x="46196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2272CF-2724-4859-96A7-F29D8F6AC7F7}"/>
              </a:ext>
            </a:extLst>
          </p:cNvPr>
          <p:cNvSpPr>
            <a:spLocks xmlns:a="http://schemas.openxmlformats.org/drawingml/2006/main" noGrp="1"/>
          </p:cNvSpPr>
          <p:nvPr/>
        </p:nvSpPr>
        <p:spPr>
          <a:xfrm xmlns:a="http://schemas.openxmlformats.org/drawingml/2006/main">
            <a:off x="47148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73EA2167-8516-4876-A618-DC83B3982877}"/>
              </a:ext>
            </a:extLst>
          </p:cNvPr>
          <p:cNvSpPr>
            <a:spLocks xmlns:a="http://schemas.openxmlformats.org/drawingml/2006/main" noGrp="1"/>
          </p:cNvSpPr>
          <p:nvPr/>
        </p:nvSpPr>
        <p:spPr>
          <a:xfrm xmlns:a="http://schemas.openxmlformats.org/drawingml/2006/main">
            <a:off x="7096125" y="2476500"/>
            <a:ext cx="1428750" cy="28575"/>
          </a:xfrm>
          <a:prstGeom xmlns:a="http://schemas.openxmlformats.org/drawingml/2006/main" prst="rect">
            <a:avLst/>
          </a:prstGeom>
          <a:solidFill xmlns:a="http://schemas.openxmlformats.org/drawingml/2006/main">
            <a:srgbClr val="B7C5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BC9F71-51CB-4F0B-8267-DF00CBCDEF7E}"/>
              </a:ext>
            </a:extLst>
          </p:cNvPr>
          <p:cNvSpPr>
            <a:spLocks xmlns:a="http://schemas.openxmlformats.org/drawingml/2006/main" noGrp="1"/>
          </p:cNvSpPr>
          <p:nvPr/>
        </p:nvSpPr>
        <p:spPr>
          <a:xfrm xmlns:a="http://schemas.openxmlformats.org/drawingml/2006/main">
            <a:off x="7191375" y="199072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F96EE57-A716-4992-A825-FFDF27F814B3}"/>
              </a:ext>
            </a:extLst>
          </p:cNvPr>
          <p:cNvSpPr>
            <a:spLocks xmlns:a="http://schemas.openxmlformats.org/drawingml/2006/main" noGrp="1"/>
          </p:cNvSpPr>
          <p:nvPr/>
        </p:nvSpPr>
        <p:spPr>
          <a:xfrm xmlns:a="http://schemas.openxmlformats.org/drawingml/2006/main">
            <a:off x="1143000" y="2095500"/>
            <a:ext cx="952500" cy="762000"/>
          </a:xfrm>
          <a:prstGeom xmlns:a="http://schemas.openxmlformats.org/drawingml/2006/main" prst="ellipse">
            <a:avLst/>
          </a:prstGeom>
          <a:solidFill xmlns:a="http://schemas.openxmlformats.org/drawingml/2006/main">
            <a:srgbClr val="DEF3EC"/>
          </a:solidFill>
          <a:ln xmlns:a="http://schemas.openxmlformats.org/drawingml/2006/main" w="19050">
            <a:solidFill>
              <a:srgbClr val="008B85"/>
            </a:solidFill>
          </a:ln>
        </p:spPr>
      </p:sp>
      <p:sp>
        <p:nvSpPr>
          <p:cNvPr id="11" name="">
            <a:extLst xmlns:a="http://schemas.openxmlformats.org/drawingml/2006/main">
              <a:ext uri="{FF2B5EF4-FFF2-40B4-BE49-F238E27FC236}">
                <a16:creationId xmlns:a16="http://schemas.microsoft.com/office/drawing/2014/main" id="{35955ABC-997A-4B21-82D6-CDF01EDE192E}"/>
              </a:ext>
            </a:extLst>
          </p:cNvPr>
          <p:cNvSpPr>
            <a:spLocks xmlns:a="http://schemas.openxmlformats.org/drawingml/2006/main" noGrp="1"/>
          </p:cNvSpPr>
          <p:nvPr/>
        </p:nvSpPr>
        <p:spPr>
          <a:xfrm xmlns:a="http://schemas.openxmlformats.org/drawingml/2006/main">
            <a:off x="1323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R1</a:t>
            </a:r>
          </a:p>
        </p:txBody>
      </p:sp>
      <p:sp>
        <p:nvSpPr>
          <p:cNvPr id="12" name="">
            <a:extLst xmlns:a="http://schemas.openxmlformats.org/drawingml/2006/main">
              <a:ext uri="{FF2B5EF4-FFF2-40B4-BE49-F238E27FC236}">
                <a16:creationId xmlns:a16="http://schemas.microsoft.com/office/drawing/2014/main" id="{B02F5F8B-9F0A-4A67-BF9B-090077DE07F8}"/>
              </a:ext>
            </a:extLst>
          </p:cNvPr>
          <p:cNvSpPr>
            <a:spLocks xmlns:a="http://schemas.openxmlformats.org/drawingml/2006/main" noGrp="1"/>
          </p:cNvSpPr>
          <p:nvPr/>
        </p:nvSpPr>
        <p:spPr>
          <a:xfrm xmlns:a="http://schemas.openxmlformats.org/drawingml/2006/main">
            <a:off x="523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R1</a:t>
            </a:r>
          </a:p>
        </p:txBody>
      </p:sp>
      <p:graphicFrame>
        <p:nvGraphicFramePr>
          <p:cNvPr id="13" name="">
            <a:extLst xmlns:a="http://schemas.openxmlformats.org/drawingml/2006/main">
              <a:ext uri="{FF2B5EF4-FFF2-40B4-BE49-F238E27FC236}">
                <a16:creationId xmlns:a16="http://schemas.microsoft.com/office/drawing/2014/main" id="{DC789E41-391B-4EB8-B5FC-2AF65744A15C}"/>
              </a:ext>
            </a:extLst>
          </p:cNvPr>
          <p:cNvGraphicFramePr/>
          <p:nvPr/>
        </p:nvGraphicFramePr>
        <p:xfrm>
          <a:off xmlns:a="http://schemas.openxmlformats.org/drawingml/2006/main" x="419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1">
                          <a:solidFill>
                            <a:srgbClr val="193247"/>
                          </a:solidFill>
                          <a:latin typeface="Arial"/>
                          <a:ea typeface="Arial"/>
                          <a:cs typeface="Arial"/>
                        </a:rPr>
                        <a:t>4</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DEF3EC"/>
                    </a:solidFill>
                  </a:tcPr>
                </a:tc>
                <a:tc>
                  <a:txBody>
                    <a:bodyPr/>
                    <a:lstStyle/>
                    <a:p>
                      <a:r>
                        <a:rPr sz="1875" b="1">
                          <a:solidFill>
                            <a:srgbClr val="193247"/>
                          </a:solidFill>
                          <a:latin typeface="Arial"/>
                          <a:ea typeface="Arial"/>
                          <a:cs typeface="Arial"/>
                        </a:rPr>
                        <a:t>R2</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14" name="">
            <a:extLst xmlns:a="http://schemas.openxmlformats.org/drawingml/2006/main">
              <a:ext uri="{FF2B5EF4-FFF2-40B4-BE49-F238E27FC236}">
                <a16:creationId xmlns:a16="http://schemas.microsoft.com/office/drawing/2014/main" id="{C310E0DE-526D-4C87-B891-D8D9C7322CDE}"/>
              </a:ext>
            </a:extLst>
          </p:cNvPr>
          <p:cNvSpPr>
            <a:spLocks xmlns:a="http://schemas.openxmlformats.org/drawingml/2006/main" noGrp="1"/>
          </p:cNvSpPr>
          <p:nvPr/>
        </p:nvSpPr>
        <p:spPr>
          <a:xfrm xmlns:a="http://schemas.openxmlformats.org/drawingml/2006/main">
            <a:off x="666750" y="5048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16 → 4</a:t>
            </a:r>
          </a:p>
        </p:txBody>
      </p:sp>
      <p:sp>
        <p:nvSpPr>
          <p:cNvPr id="15" name="">
            <a:extLst xmlns:a="http://schemas.openxmlformats.org/drawingml/2006/main">
              <a:ext uri="{FF2B5EF4-FFF2-40B4-BE49-F238E27FC236}">
                <a16:creationId xmlns:a16="http://schemas.microsoft.com/office/drawing/2014/main" id="{C7301EAE-DC28-47A1-8CF3-F8FC27BDFCA5}"/>
              </a:ext>
            </a:extLst>
          </p:cNvPr>
          <p:cNvSpPr>
            <a:spLocks xmlns:a="http://schemas.openxmlformats.org/drawingml/2006/main" noGrp="1"/>
          </p:cNvSpPr>
          <p:nvPr/>
        </p:nvSpPr>
        <p:spPr>
          <a:xfrm xmlns:a="http://schemas.openxmlformats.org/drawingml/2006/main">
            <a:off x="3619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16" name="">
            <a:extLst xmlns:a="http://schemas.openxmlformats.org/drawingml/2006/main">
              <a:ext uri="{FF2B5EF4-FFF2-40B4-BE49-F238E27FC236}">
                <a16:creationId xmlns:a16="http://schemas.microsoft.com/office/drawing/2014/main" id="{19427E3D-9F09-487C-8196-3AA369CE42C2}"/>
              </a:ext>
            </a:extLst>
          </p:cNvPr>
          <p:cNvSpPr>
            <a:spLocks xmlns:a="http://schemas.openxmlformats.org/drawingml/2006/main" noGrp="1"/>
          </p:cNvSpPr>
          <p:nvPr/>
        </p:nvSpPr>
        <p:spPr>
          <a:xfrm xmlns:a="http://schemas.openxmlformats.org/drawingml/2006/main">
            <a:off x="3800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R2</a:t>
            </a:r>
          </a:p>
        </p:txBody>
      </p:sp>
      <p:sp>
        <p:nvSpPr>
          <p:cNvPr id="17" name="">
            <a:extLst xmlns:a="http://schemas.openxmlformats.org/drawingml/2006/main">
              <a:ext uri="{FF2B5EF4-FFF2-40B4-BE49-F238E27FC236}">
                <a16:creationId xmlns:a16="http://schemas.microsoft.com/office/drawing/2014/main" id="{95CF02D5-CBE0-4481-80A0-2B202A7FC907}"/>
              </a:ext>
            </a:extLst>
          </p:cNvPr>
          <p:cNvSpPr>
            <a:spLocks xmlns:a="http://schemas.openxmlformats.org/drawingml/2006/main" noGrp="1"/>
          </p:cNvSpPr>
          <p:nvPr/>
        </p:nvSpPr>
        <p:spPr>
          <a:xfrm xmlns:a="http://schemas.openxmlformats.org/drawingml/2006/main">
            <a:off x="3000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R2</a:t>
            </a:r>
          </a:p>
        </p:txBody>
      </p:sp>
      <p:graphicFrame>
        <p:nvGraphicFramePr>
          <p:cNvPr id="18" name="">
            <a:extLst xmlns:a="http://schemas.openxmlformats.org/drawingml/2006/main">
              <a:ext uri="{FF2B5EF4-FFF2-40B4-BE49-F238E27FC236}">
                <a16:creationId xmlns:a16="http://schemas.microsoft.com/office/drawing/2014/main" id="{ACE96C8F-CB05-4480-B4F6-04274C6F4696}"/>
              </a:ext>
            </a:extLst>
          </p:cNvPr>
          <p:cNvGraphicFramePr/>
          <p:nvPr/>
        </p:nvGraphicFramePr>
        <p:xfrm>
          <a:off xmlns:a="http://schemas.openxmlformats.org/drawingml/2006/main" x="2895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R3</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C46668A6-E6E8-43C7-B56A-0EEB084CD147}"/>
              </a:ext>
            </a:extLst>
          </p:cNvPr>
          <p:cNvSpPr>
            <a:spLocks xmlns:a="http://schemas.openxmlformats.org/drawingml/2006/main" noGrp="1"/>
          </p:cNvSpPr>
          <p:nvPr/>
        </p:nvSpPr>
        <p:spPr>
          <a:xfrm xmlns:a="http://schemas.openxmlformats.org/drawingml/2006/main">
            <a:off x="60960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0" name="">
            <a:extLst xmlns:a="http://schemas.openxmlformats.org/drawingml/2006/main">
              <a:ext uri="{FF2B5EF4-FFF2-40B4-BE49-F238E27FC236}">
                <a16:creationId xmlns:a16="http://schemas.microsoft.com/office/drawing/2014/main" id="{607BA41C-6AF7-4B3E-805E-DCF318728B74}"/>
              </a:ext>
            </a:extLst>
          </p:cNvPr>
          <p:cNvSpPr>
            <a:spLocks xmlns:a="http://schemas.openxmlformats.org/drawingml/2006/main" noGrp="1"/>
          </p:cNvSpPr>
          <p:nvPr/>
        </p:nvSpPr>
        <p:spPr>
          <a:xfrm xmlns:a="http://schemas.openxmlformats.org/drawingml/2006/main">
            <a:off x="62769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R3</a:t>
            </a:r>
          </a:p>
        </p:txBody>
      </p:sp>
      <p:sp>
        <p:nvSpPr>
          <p:cNvPr id="21" name="">
            <a:extLst xmlns:a="http://schemas.openxmlformats.org/drawingml/2006/main">
              <a:ext uri="{FF2B5EF4-FFF2-40B4-BE49-F238E27FC236}">
                <a16:creationId xmlns:a16="http://schemas.microsoft.com/office/drawing/2014/main" id="{E91EA7E7-570D-460A-87CC-955623AD31E4}"/>
              </a:ext>
            </a:extLst>
          </p:cNvPr>
          <p:cNvSpPr>
            <a:spLocks xmlns:a="http://schemas.openxmlformats.org/drawingml/2006/main" noGrp="1"/>
          </p:cNvSpPr>
          <p:nvPr/>
        </p:nvSpPr>
        <p:spPr>
          <a:xfrm xmlns:a="http://schemas.openxmlformats.org/drawingml/2006/main">
            <a:off x="54768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R3</a:t>
            </a:r>
          </a:p>
        </p:txBody>
      </p:sp>
      <p:graphicFrame>
        <p:nvGraphicFramePr>
          <p:cNvPr id="22" name="">
            <a:extLst xmlns:a="http://schemas.openxmlformats.org/drawingml/2006/main">
              <a:ext uri="{FF2B5EF4-FFF2-40B4-BE49-F238E27FC236}">
                <a16:creationId xmlns:a16="http://schemas.microsoft.com/office/drawing/2014/main" id="{A42BBB41-2CCD-4C18-8526-9FBAACC52E7A}"/>
              </a:ext>
            </a:extLst>
          </p:cNvPr>
          <p:cNvGraphicFramePr/>
          <p:nvPr/>
        </p:nvGraphicFramePr>
        <p:xfrm>
          <a:off xmlns:a="http://schemas.openxmlformats.org/drawingml/2006/main" x="53721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3" name="">
            <a:extLst xmlns:a="http://schemas.openxmlformats.org/drawingml/2006/main">
              <a:ext uri="{FF2B5EF4-FFF2-40B4-BE49-F238E27FC236}">
                <a16:creationId xmlns:a16="http://schemas.microsoft.com/office/drawing/2014/main" id="{8B7D4807-3493-4E85-A872-AF9B8058DE48}"/>
              </a:ext>
            </a:extLst>
          </p:cNvPr>
          <p:cNvSpPr>
            <a:spLocks xmlns:a="http://schemas.openxmlformats.org/drawingml/2006/main" noGrp="1"/>
          </p:cNvSpPr>
          <p:nvPr/>
        </p:nvSpPr>
        <p:spPr>
          <a:xfrm xmlns:a="http://schemas.openxmlformats.org/drawingml/2006/main">
            <a:off x="8572500" y="2095500"/>
            <a:ext cx="952500" cy="762000"/>
          </a:xfrm>
          <a:prstGeom xmlns:a="http://schemas.openxmlformats.org/drawingml/2006/main" prst="ellipse">
            <a:avLst/>
          </a:prstGeom>
          <a:solidFill xmlns:a="http://schemas.openxmlformats.org/drawingml/2006/main">
            <a:srgbClr val="EDF4F8"/>
          </a:solidFill>
          <a:ln xmlns:a="http://schemas.openxmlformats.org/drawingml/2006/main" w="19050">
            <a:solidFill>
              <a:srgbClr val="A8B7C0"/>
            </a:solidFill>
          </a:ln>
        </p:spPr>
      </p:sp>
      <p:sp>
        <p:nvSpPr>
          <p:cNvPr id="24" name="">
            <a:extLst xmlns:a="http://schemas.openxmlformats.org/drawingml/2006/main">
              <a:ext uri="{FF2B5EF4-FFF2-40B4-BE49-F238E27FC236}">
                <a16:creationId xmlns:a16="http://schemas.microsoft.com/office/drawing/2014/main" id="{BA405EBE-114A-4EE5-98B2-430B2F45F749}"/>
              </a:ext>
            </a:extLst>
          </p:cNvPr>
          <p:cNvSpPr>
            <a:spLocks xmlns:a="http://schemas.openxmlformats.org/drawingml/2006/main" noGrp="1"/>
          </p:cNvSpPr>
          <p:nvPr/>
        </p:nvSpPr>
        <p:spPr>
          <a:xfrm xmlns:a="http://schemas.openxmlformats.org/drawingml/2006/main">
            <a:off x="8753475" y="22764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93247"/>
                </a:solidFill>
                <a:latin typeface="Arial"/>
                <a:ea typeface="Arial"/>
                <a:cs typeface="Arial"/>
              </a:defRPr>
            </a:defPPr>
          </a:lstStyle>
          <a:p xmlns:a="http://schemas.openxmlformats.org/drawingml/2006/main">
            <a:pPr>
              <a:defRPr sz="2550" b="1">
                <a:solidFill>
                  <a:srgbClr val="193247"/>
                </a:solidFill>
                <a:latin typeface="Arial"/>
                <a:ea typeface="Arial"/>
                <a:cs typeface="Arial"/>
              </a:defRPr>
            </a:pPr>
            <a:r>
              <a:rPr sz="2550" b="1">
                <a:solidFill>
                  <a:srgbClr val="193247"/>
                </a:solidFill>
                <a:latin typeface="Arial"/>
                <a:ea typeface="Arial"/>
                <a:cs typeface="Arial"/>
              </a:rPr>
              <a:t>R4</a:t>
            </a:r>
          </a:p>
        </p:txBody>
      </p:sp>
      <p:sp>
        <p:nvSpPr>
          <p:cNvPr id="25" name="">
            <a:extLst xmlns:a="http://schemas.openxmlformats.org/drawingml/2006/main">
              <a:ext uri="{FF2B5EF4-FFF2-40B4-BE49-F238E27FC236}">
                <a16:creationId xmlns:a16="http://schemas.microsoft.com/office/drawing/2014/main" id="{77E55A32-80CF-4FBE-9835-411090B89AD7}"/>
              </a:ext>
            </a:extLst>
          </p:cNvPr>
          <p:cNvSpPr>
            <a:spLocks xmlns:a="http://schemas.openxmlformats.org/drawingml/2006/main" noGrp="1"/>
          </p:cNvSpPr>
          <p:nvPr/>
        </p:nvSpPr>
        <p:spPr>
          <a:xfrm xmlns:a="http://schemas.openxmlformats.org/drawingml/2006/main">
            <a:off x="7953375" y="32861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93247"/>
                </a:solidFill>
                <a:latin typeface="Arial"/>
                <a:ea typeface="Arial"/>
                <a:cs typeface="Arial"/>
              </a:defRPr>
            </a:defPPr>
          </a:lstStyle>
          <a:p xmlns:a="http://schemas.openxmlformats.org/drawingml/2006/main">
            <a:pPr>
              <a:defRPr sz="2100" b="1">
                <a:solidFill>
                  <a:srgbClr val="193247"/>
                </a:solidFill>
                <a:latin typeface="Arial"/>
                <a:ea typeface="Arial"/>
                <a:cs typeface="Arial"/>
              </a:defRPr>
            </a:pPr>
            <a:r>
              <a:rPr sz="2100" b="1">
                <a:solidFill>
                  <a:srgbClr val="193247"/>
                </a:solidFill>
                <a:latin typeface="Arial"/>
                <a:ea typeface="Arial"/>
                <a:cs typeface="Arial"/>
              </a:rPr>
              <a:t>Таблиця R4</a:t>
            </a:r>
          </a:p>
        </p:txBody>
      </p:sp>
      <p:graphicFrame>
        <p:nvGraphicFramePr>
          <p:cNvPr id="26" name="">
            <a:extLst xmlns:a="http://schemas.openxmlformats.org/drawingml/2006/main">
              <a:ext uri="{FF2B5EF4-FFF2-40B4-BE49-F238E27FC236}">
                <a16:creationId xmlns:a16="http://schemas.microsoft.com/office/drawing/2014/main" id="{4C02A312-DA75-45CD-A8D5-1B3458F97EC2}"/>
              </a:ext>
            </a:extLst>
          </p:cNvPr>
          <p:cNvGraphicFramePr/>
          <p:nvPr/>
        </p:nvGraphicFramePr>
        <p:xfrm>
          <a:off xmlns:a="http://schemas.openxmlformats.org/drawingml/2006/main" x="7848600" y="3762375"/>
          <a:ext xmlns:a="http://schemas.openxmlformats.org/drawingml/2006/main" cx="2400300" cy="1066800"/>
        </p:xfrm>
        <a:graphic xmlns:a="http://schemas.openxmlformats.org/drawingml/2006/main">
          <a:graphicData uri="http://schemas.openxmlformats.org/drawingml/2006/table">
            <a:tbl>
              <a:tblPr/>
              <a:tblGrid>
                <a:gridCol w="1200150"/>
                <a:gridCol w="1200150"/>
              </a:tblGrid>
              <a:tr h="533400">
                <a:tc>
                  <a:txBody>
                    <a:bodyPr/>
                    <a:lstStyle/>
                    <a:p>
                      <a:r>
                        <a:rPr sz="1575" b="1">
                          <a:solidFill>
                            <a:srgbClr val="FFFFFF"/>
                          </a:solidFill>
                          <a:latin typeface="Arial"/>
                          <a:ea typeface="Arial"/>
                          <a:cs typeface="Arial"/>
                        </a:rPr>
                        <a:t>Метрика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575" b="1">
                          <a:solidFill>
                            <a:srgbClr val="FFFFFF"/>
                          </a:solidFill>
                          <a:latin typeface="Arial"/>
                          <a:ea typeface="Arial"/>
                          <a:cs typeface="Arial"/>
                        </a:rPr>
                        <a:t>Через</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пряма</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2E06E0B0-39D8-4902-88AF-842566986497}"/>
              </a:ext>
            </a:extLst>
          </p:cNvPr>
          <p:cNvSpPr>
            <a:spLocks xmlns:a="http://schemas.openxmlformats.org/drawingml/2006/main" noGrp="1"/>
          </p:cNvSpPr>
          <p:nvPr/>
        </p:nvSpPr>
        <p:spPr>
          <a:xfrm xmlns:a="http://schemas.openxmlformats.org/drawingml/2006/main">
            <a:off x="10191750" y="2209800"/>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08B85"/>
                </a:solidFill>
                <a:latin typeface="Arial"/>
                <a:ea typeface="Arial"/>
                <a:cs typeface="Arial"/>
              </a:defRPr>
            </a:defPPr>
          </a:lstStyle>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Мережа N</a:t>
            </a:r>
          </a:p>
          <a:p xmlns:a="http://schemas.openxmlformats.org/drawingml/2006/main">
            <a:pPr>
              <a:defRPr sz="1725" b="1">
                <a:solidFill>
                  <a:srgbClr val="008B85"/>
                </a:solidFill>
                <a:latin typeface="Arial"/>
                <a:ea typeface="Arial"/>
                <a:cs typeface="Arial"/>
              </a:defRPr>
            </a:pPr>
            <a:r>
              <a:rPr sz="1725" b="1">
                <a:solidFill>
                  <a:srgbClr val="008B85"/>
                </a:solidFill>
                <a:latin typeface="Arial"/>
                <a:ea typeface="Arial"/>
                <a:cs typeface="Arial"/>
              </a:rPr>
              <a:t>10.10.40.0/24</a:t>
            </a:r>
          </a:p>
        </p:txBody>
      </p:sp>
      <p:sp>
        <p:nvSpPr>
          <p:cNvPr id="28" name="">
            <a:extLst xmlns:a="http://schemas.openxmlformats.org/drawingml/2006/main">
              <a:ext uri="{FF2B5EF4-FFF2-40B4-BE49-F238E27FC236}">
                <a16:creationId xmlns:a16="http://schemas.microsoft.com/office/drawing/2014/main" id="{F7A0768F-1D10-482C-87E6-DD7B36F758C7}"/>
              </a:ext>
            </a:extLst>
          </p:cNvPr>
          <p:cNvSpPr>
            <a:spLocks xmlns:a="http://schemas.openxmlformats.org/drawingml/2006/main" noGrp="1"/>
          </p:cNvSpPr>
          <p:nvPr/>
        </p:nvSpPr>
        <p:spPr>
          <a:xfrm xmlns:a="http://schemas.openxmlformats.org/drawingml/2006/main">
            <a:off x="9572625" y="2400300"/>
            <a:ext cx="523875" cy="161925"/>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F040B84-6A02-4960-93C4-72EE29FF03A8}"/>
              </a:ext>
            </a:extLst>
          </p:cNvPr>
          <p:cNvSpPr>
            <a:spLocks xmlns:a="http://schemas.openxmlformats.org/drawingml/2006/main" noGrp="1"/>
          </p:cNvSpPr>
          <p:nvPr/>
        </p:nvSpPr>
        <p:spPr>
          <a:xfrm xmlns:a="http://schemas.openxmlformats.org/drawingml/2006/main">
            <a:off x="685800" y="55245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3247"/>
                </a:solidFill>
                <a:latin typeface="Arial"/>
                <a:ea typeface="Arial"/>
                <a:cs typeface="Arial"/>
              </a:defRPr>
            </a:defPPr>
          </a:lstStyle>
          <a:p xmlns:a="http://schemas.openxmlformats.org/drawingml/2006/main">
            <a:pPr>
              <a:defRPr sz="2025" b="0">
                <a:solidFill>
                  <a:srgbClr val="193247"/>
                </a:solidFill>
                <a:latin typeface="Arial"/>
                <a:ea typeface="Arial"/>
                <a:cs typeface="Arial"/>
              </a:defRPr>
            </a:pPr>
            <a:r>
              <a:rPr sz="2025" b="0">
                <a:solidFill>
                  <a:srgbClr val="193247"/>
                </a:solidFill>
                <a:latin typeface="Arial"/>
                <a:ea typeface="Arial"/>
                <a:cs typeface="Arial"/>
              </a:rPr>
              <a:t>R2 оголошує метрику 3 з попереднього раунду. R1 додає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85</a:t>
            </a:r>
          </a:p>
        </p:txBody>
      </p:sp>
    </p:spTree>
    <p:extLst>
      <p:ext uri="{BB962C8B-B14F-4D97-AF65-F5344CB8AC3E}">
        <p14:creationId xmlns:p14="http://schemas.microsoft.com/office/powerpoint/2010/main" val="526918449"/>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AFF3A4-317C-44AF-9646-972731D9653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Як побудувати динамічне програмування</a:t>
            </a:r>
          </a:p>
        </p:txBody>
      </p:sp>
      <p:sp>
        <p:nvSpPr>
          <p:cNvPr id="2" name="">
            <a:extLst xmlns:a="http://schemas.openxmlformats.org/drawingml/2006/main">
              <a:ext uri="{FF2B5EF4-FFF2-40B4-BE49-F238E27FC236}">
                <a16:creationId xmlns:a16="http://schemas.microsoft.com/office/drawing/2014/main" id="{B4D33E71-43B8-4066-87A2-77956593910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Спочатку визначаємо зміст підзадачі. Потім записуємо формулу й код.</a:t>
            </a:r>
          </a:p>
        </p:txBody>
      </p:sp>
      <p:graphicFrame>
        <p:nvGraphicFramePr>
          <p:cNvPr id="3" name="">
            <a:extLst xmlns:a="http://schemas.openxmlformats.org/drawingml/2006/main">
              <a:ext uri="{FF2B5EF4-FFF2-40B4-BE49-F238E27FC236}">
                <a16:creationId xmlns:a16="http://schemas.microsoft.com/office/drawing/2014/main" id="{FC68CAE9-43E1-482E-B50D-94408DF73EF7}"/>
              </a:ext>
            </a:extLst>
          </p:cNvPr>
          <p:cNvGraphicFramePr/>
          <p:nvPr/>
        </p:nvGraphicFramePr>
        <p:xfrm>
          <a:off xmlns:a="http://schemas.openxmlformats.org/drawingml/2006/main" x="685800" y="1524000"/>
          <a:ext xmlns:a="http://schemas.openxmlformats.org/drawingml/2006/main" cx="10820400" cy="4095750"/>
        </p:xfrm>
        <a:graphic xmlns:a="http://schemas.openxmlformats.org/drawingml/2006/main">
          <a:graphicData uri="http://schemas.openxmlformats.org/drawingml/2006/table">
            <a:tbl>
              <a:tblPr/>
              <a:tblGrid>
                <a:gridCol w="3143250"/>
                <a:gridCol w="7677150"/>
              </a:tblGrid>
              <a:tr h="585107">
                <a:tc>
                  <a:txBody>
                    <a:bodyPr/>
                    <a:lstStyle/>
                    <a:p>
                      <a:r>
                        <a:rPr sz="1875" b="1">
                          <a:solidFill>
                            <a:srgbClr val="FFFFFF"/>
                          </a:solidFill>
                          <a:latin typeface="Arial"/>
                          <a:ea typeface="Arial"/>
                          <a:cs typeface="Arial"/>
                        </a:rPr>
                        <a:t>Крок</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Запитання до задачі</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85107">
                <a:tc>
                  <a:txBody>
                    <a:bodyPr/>
                    <a:lstStyle/>
                    <a:p>
                      <a:r>
                        <a:rPr sz="1875" b="0">
                          <a:solidFill>
                            <a:srgbClr val="193247"/>
                          </a:solidFill>
                          <a:latin typeface="Arial"/>
                          <a:ea typeface="Arial"/>
                          <a:cs typeface="Arial"/>
                        </a:rPr>
                        <a:t>1. Підзадача і стан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Яку відповідь зберігає одна клітинка?</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2. Дії та перехід</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Що можна обрати і яка підзадача залишиться?</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3. База</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Які відповіді вже відомі без обчислень?</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4. Рекурентність</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 порівняти допустимі продовження?</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5. Порядок</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Які клітинки мають бути готові раніше?</a:t>
                      </a:r>
                    </a:p>
                  </a:txBody>
                  <a:tcPr marL="91440" marR="91440" marT="45720" marB="45720">
                    <a:lnR w="9525">
                      <a:solidFill>
                        <a:srgbClr val="A8B7C0"/>
                      </a:solidFill>
                      <a:prstDash val="solid"/>
                    </a:lnR>
                    <a:lnB w="9525">
                      <a:solidFill>
                        <a:srgbClr val="A8B7C0"/>
                      </a:solidFill>
                      <a:prstDash val="solid"/>
                    </a:lnB>
                    <a:solidFill>
                      <a:srgbClr val="FFFFFF"/>
                    </a:solidFill>
                  </a:tcPr>
                </a:tc>
              </a:tr>
              <a:tr h="585107">
                <a:tc>
                  <a:txBody>
                    <a:bodyPr/>
                    <a:lstStyle/>
                    <a:p>
                      <a:r>
                        <a:rPr sz="1875" b="0">
                          <a:solidFill>
                            <a:srgbClr val="193247"/>
                          </a:solidFill>
                          <a:latin typeface="Arial"/>
                          <a:ea typeface="Arial"/>
                          <a:cs typeface="Arial"/>
                        </a:rPr>
                        <a:t>6. План і перевірка</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Як відновити дії та перевірити обмеження?</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a:t>
            </a:r>
          </a:p>
        </p:txBody>
      </p:sp>
    </p:spTree>
    <p:extLst>
      <p:ext uri="{BB962C8B-B14F-4D97-AF65-F5344CB8AC3E}">
        <p14:creationId xmlns:p14="http://schemas.microsoft.com/office/powerpoint/2010/main" val="129454574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85CE4E-0586-49E0-9C3A-ED2D28E4947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Напрям розрахунку та спосіб реалізації</a:t>
            </a:r>
          </a:p>
        </p:txBody>
      </p:sp>
      <p:sp>
        <p:nvSpPr>
          <p:cNvPr id="2" name="">
            <a:extLst xmlns:a="http://schemas.openxmlformats.org/drawingml/2006/main">
              <a:ext uri="{FF2B5EF4-FFF2-40B4-BE49-F238E27FC236}">
                <a16:creationId xmlns:a16="http://schemas.microsoft.com/office/drawing/2014/main" id="{5B6D95A0-F5BA-4EF6-8E0D-8921B690E41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Порядок визначають залежності. Мемоізація і таблиця реалізують ту саму рекурентність.</a:t>
            </a:r>
          </a:p>
        </p:txBody>
      </p:sp>
      <p:graphicFrame>
        <p:nvGraphicFramePr>
          <p:cNvPr id="3" name="">
            <a:extLst xmlns:a="http://schemas.openxmlformats.org/drawingml/2006/main">
              <a:ext uri="{FF2B5EF4-FFF2-40B4-BE49-F238E27FC236}">
                <a16:creationId xmlns:a16="http://schemas.microsoft.com/office/drawing/2014/main" id="{0C50FA86-7184-444B-B92F-B76AF33C8617}"/>
              </a:ext>
            </a:extLst>
          </p:cNvPr>
          <p:cNvGraphicFramePr/>
          <p:nvPr/>
        </p:nvGraphicFramePr>
        <p:xfrm>
          <a:off xmlns:a="http://schemas.openxmlformats.org/drawingml/2006/main" x="685800" y="1714500"/>
          <a:ext xmlns:a="http://schemas.openxmlformats.org/drawingml/2006/main" cx="10820400" cy="3143250"/>
        </p:xfrm>
        <a:graphic xmlns:a="http://schemas.openxmlformats.org/drawingml/2006/main">
          <a:graphicData uri="http://schemas.openxmlformats.org/drawingml/2006/table">
            <a:tbl>
              <a:tblPr/>
              <a:tblGrid>
                <a:gridCol w="4191000"/>
                <a:gridCol w="6629400"/>
              </a:tblGrid>
              <a:tr h="628650">
                <a:tc>
                  <a:txBody>
                    <a:bodyPr/>
                    <a:lstStyle/>
                    <a:p>
                      <a:r>
                        <a:rPr sz="1875" b="1">
                          <a:solidFill>
                            <a:srgbClr val="FFFFFF"/>
                          </a:solidFill>
                          <a:latin typeface="Arial"/>
                          <a:ea typeface="Arial"/>
                          <a:cs typeface="Arial"/>
                        </a:rPr>
                        <a:t>Питання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Варіанти</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1875" b="0">
                          <a:solidFill>
                            <a:srgbClr val="193247"/>
                          </a:solidFill>
                          <a:latin typeface="Arial"/>
                          <a:ea typeface="Arial"/>
                          <a:cs typeface="Arial"/>
                        </a:rPr>
                        <a:t>У якому напрямі рахувати?</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завершення або від початкових підзадач</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1875" b="0">
                          <a:solidFill>
                            <a:srgbClr val="193247"/>
                          </a:solidFill>
                          <a:latin typeface="Arial"/>
                          <a:ea typeface="Arial"/>
                          <a:cs typeface="Arial"/>
                        </a:rPr>
                        <a:t>Коли обчислювати підзадачу?</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При зверненні: рекурсія з мемоізацією</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1875" b="0">
                          <a:solidFill>
                            <a:srgbClr val="193247"/>
                          </a:solidFill>
                          <a:latin typeface="Arial"/>
                          <a:ea typeface="Arial"/>
                          <a:cs typeface="Arial"/>
                        </a:rPr>
                        <a:t>Як заповнювати таблицю?</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За наперед визначеним порядком залежностей</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1875" b="0">
                          <a:solidFill>
                            <a:srgbClr val="193247"/>
                          </a:solidFill>
                          <a:latin typeface="Arial"/>
                          <a:ea typeface="Arial"/>
                          <a:cs typeface="Arial"/>
                        </a:rPr>
                        <a:t>Як отримати конкретний план?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Пройти за збереженими діями або попередниками</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8B6169-CB48-4564-B5A5-C2F8C54DFC3E}"/>
              </a:ext>
            </a:extLst>
          </p:cNvPr>
          <p:cNvSpPr>
            <a:spLocks xmlns:a="http://schemas.openxmlformats.org/drawingml/2006/main" noGrp="1"/>
          </p:cNvSpPr>
          <p:nvPr/>
        </p:nvSpPr>
        <p:spPr>
          <a:xfrm xmlns:a="http://schemas.openxmlformats.org/drawingml/2006/main">
            <a:off x="685800" y="52863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08B85"/>
                </a:solidFill>
                <a:latin typeface="Arial"/>
                <a:ea typeface="Arial"/>
                <a:cs typeface="Arial"/>
              </a:defRPr>
            </a:defPPr>
          </a:lstStyle>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Обчислення значення та відновлення дій можуть іти в різних напрямках.</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18</a:t>
            </a:r>
          </a:p>
        </p:txBody>
      </p:sp>
    </p:spTree>
    <p:extLst>
      <p:ext uri="{BB962C8B-B14F-4D97-AF65-F5344CB8AC3E}">
        <p14:creationId xmlns:p14="http://schemas.microsoft.com/office/powerpoint/2010/main" val="669768104"/>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C1A946-9790-435C-ADF6-55F579930DA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Спробуйте обчислити одну клітинку</a:t>
            </a:r>
          </a:p>
        </p:txBody>
      </p:sp>
      <p:sp>
        <p:nvSpPr>
          <p:cNvPr id="2" name="">
            <a:extLst xmlns:a="http://schemas.openxmlformats.org/drawingml/2006/main">
              <a:ext uri="{FF2B5EF4-FFF2-40B4-BE49-F238E27FC236}">
                <a16:creationId xmlns:a16="http://schemas.microsoft.com/office/drawing/2014/main" id="{A71CAF6B-1555-4916-B76D-0A9393DF18FC}"/>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Порівняйте всі варіанти. На наступному слайді перевіримо відповідь.</a:t>
            </a:r>
          </a:p>
        </p:txBody>
      </p:sp>
      <p:sp>
        <p:nvSpPr>
          <p:cNvPr id="3" name="">
            <a:extLst xmlns:a="http://schemas.openxmlformats.org/drawingml/2006/main">
              <a:ext uri="{FF2B5EF4-FFF2-40B4-BE49-F238E27FC236}">
                <a16:creationId xmlns:a16="http://schemas.microsoft.com/office/drawing/2014/main" id="{F77898CF-FE1C-4019-A533-5C2E0A0D0443}"/>
              </a:ext>
            </a:extLst>
          </p:cNvPr>
          <p:cNvSpPr>
            <a:spLocks xmlns:a="http://schemas.openxmlformats.org/drawingml/2006/main" noGrp="1"/>
          </p:cNvSpPr>
          <p:nvPr/>
        </p:nvSpPr>
        <p:spPr>
          <a:xfrm xmlns:a="http://schemas.openxmlformats.org/drawingml/2006/main">
            <a:off x="685800" y="16192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008B85"/>
                </a:solidFill>
                <a:latin typeface="Arial"/>
                <a:ea typeface="Arial"/>
                <a:cs typeface="Arial"/>
              </a:defRPr>
            </a:defPPr>
          </a:lstStyle>
          <a:p xmlns:a="http://schemas.openxmlformats.org/drawingml/2006/main">
            <a:pPr>
              <a:defRPr sz="2775" b="1">
                <a:solidFill>
                  <a:srgbClr val="008B85"/>
                </a:solidFill>
                <a:latin typeface="Arial"/>
                <a:ea typeface="Arial"/>
                <a:cs typeface="Arial"/>
              </a:defRPr>
            </a:pPr>
            <a:r>
              <a:rPr sz="2775" b="1">
                <a:solidFill>
                  <a:srgbClr val="008B85"/>
                </a:solidFill>
                <a:latin typeface="Arial"/>
                <a:ea typeface="Arial"/>
                <a:cs typeface="Arial"/>
              </a:rPr>
              <a:t>Є 4 GPU для B і C. Скільки віддати B?</a:t>
            </a:r>
          </a:p>
        </p:txBody>
      </p:sp>
      <p:graphicFrame>
        <p:nvGraphicFramePr>
          <p:cNvPr id="4" name="">
            <a:extLst xmlns:a="http://schemas.openxmlformats.org/drawingml/2006/main">
              <a:ext uri="{FF2B5EF4-FFF2-40B4-BE49-F238E27FC236}">
                <a16:creationId xmlns:a16="http://schemas.microsoft.com/office/drawing/2014/main" id="{46BBB55F-74FD-42B2-83B9-152D67FBA999}"/>
              </a:ext>
            </a:extLst>
          </p:cNvPr>
          <p:cNvGraphicFramePr/>
          <p:nvPr/>
        </p:nvGraphicFramePr>
        <p:xfrm>
          <a:off xmlns:a="http://schemas.openxmlformats.org/drawingml/2006/main" x="685800" y="2619375"/>
          <a:ext xmlns:a="http://schemas.openxmlformats.org/drawingml/2006/main" cx="10820400" cy="2667000"/>
        </p:xfrm>
        <a:graphic xmlns:a="http://schemas.openxmlformats.org/drawingml/2006/main">
          <a:graphicData uri="http://schemas.openxmlformats.org/drawingml/2006/table">
            <a:tbl>
              <a:tblPr/>
              <a:tblGrid>
                <a:gridCol w="3143250"/>
                <a:gridCol w="1533525"/>
                <a:gridCol w="1533525"/>
                <a:gridCol w="1533525"/>
                <a:gridCol w="1533525"/>
                <a:gridCol w="1543050"/>
              </a:tblGrid>
              <a:tr h="533400">
                <a:tc>
                  <a:txBody>
                    <a:bodyPr/>
                    <a:lstStyle/>
                    <a:p>
                      <a:r>
                        <a:rPr sz="1875" b="1">
                          <a:solidFill>
                            <a:srgbClr val="FFFFFF"/>
                          </a:solidFill>
                          <a:latin typeface="Arial"/>
                          <a:ea typeface="Arial"/>
                          <a:cs typeface="Arial"/>
                        </a:rPr>
                        <a:t>u для B</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0</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1</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2</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3</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4</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33400">
                <a:tc>
                  <a:txBody>
                    <a:bodyPr/>
                    <a:lstStyle/>
                    <a:p>
                      <a:r>
                        <a:rPr sz="1875" b="0">
                          <a:solidFill>
                            <a:srgbClr val="193247"/>
                          </a:solidFill>
                          <a:latin typeface="Arial"/>
                          <a:ea typeface="Arial"/>
                          <a:cs typeface="Arial"/>
                        </a:rPr>
                        <a:t>Користь 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17</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18</a:t>
                      </a:r>
                    </a:p>
                  </a:txBody>
                  <a:tcPr marL="91440" marR="91440" marT="45720" marB="45720">
                    <a:lnR w="9525">
                      <a:solidFill>
                        <a:srgbClr val="A8B7C0"/>
                      </a:solidFill>
                      <a:prstDash val="solid"/>
                    </a:lnR>
                    <a:lnB w="9525">
                      <a:solidFill>
                        <a:srgbClr val="A8B7C0"/>
                      </a:solidFill>
                      <a:prstDash val="solid"/>
                    </a:lnB>
                    <a:solidFill>
                      <a:srgbClr val="FFFFFF"/>
                    </a:solidFill>
                  </a:tcPr>
                </a:tc>
              </a:tr>
              <a:tr h="533400">
                <a:tc>
                  <a:txBody>
                    <a:bodyPr/>
                    <a:lstStyle/>
                    <a:p>
                      <a:r>
                        <a:rPr sz="1875" b="0">
                          <a:solidFill>
                            <a:srgbClr val="193247"/>
                          </a:solidFill>
                          <a:latin typeface="Arial"/>
                          <a:ea typeface="Arial"/>
                          <a:cs typeface="Arial"/>
                        </a:rPr>
                        <a:t>Залишиться 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533400">
                <a:tc>
                  <a:txBody>
                    <a:bodyPr/>
                    <a:lstStyle/>
                    <a:p>
                      <a:r>
                        <a:rPr sz="1875" b="0">
                          <a:solidFill>
                            <a:srgbClr val="193247"/>
                          </a:solidFill>
                          <a:latin typeface="Arial"/>
                          <a:ea typeface="Arial"/>
                          <a:cs typeface="Arial"/>
                        </a:rPr>
                        <a:t>Користь 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533400">
                <a:tc>
                  <a:txBody>
                    <a:bodyPr/>
                    <a:lstStyle/>
                    <a:p>
                      <a:r>
                        <a:rPr sz="1875" b="0">
                          <a:solidFill>
                            <a:srgbClr val="193247"/>
                          </a:solidFill>
                          <a:latin typeface="Arial"/>
                          <a:ea typeface="Arial"/>
                          <a:cs typeface="Arial"/>
                        </a:rPr>
                        <a:t>Сума</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21</a:t>
            </a:r>
          </a:p>
        </p:txBody>
      </p:sp>
    </p:spTree>
    <p:extLst>
      <p:ext uri="{BB962C8B-B14F-4D97-AF65-F5344CB8AC3E}">
        <p14:creationId xmlns:p14="http://schemas.microsoft.com/office/powerpoint/2010/main" val="2099493422"/>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DAC490-AF72-4F4B-88BB-496D84ED6B8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Від значення оптимуму до плану</a:t>
            </a:r>
          </a:p>
        </p:txBody>
      </p:sp>
      <p:sp>
        <p:nvSpPr>
          <p:cNvPr id="2" name="">
            <a:extLst xmlns:a="http://schemas.openxmlformats.org/drawingml/2006/main">
              <a:ext uri="{FF2B5EF4-FFF2-40B4-BE49-F238E27FC236}">
                <a16:creationId xmlns:a16="http://schemas.microsoft.com/office/drawing/2014/main" id="{FD772BD8-8345-491E-BD39-994D31F2A68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Після кожного рішення змінюється бюджет, за яким читаємо наступну клітинку.</a:t>
            </a:r>
          </a:p>
        </p:txBody>
      </p:sp>
      <p:sp>
        <p:nvSpPr>
          <p:cNvPr id="3" name="">
            <a:extLst xmlns:a="http://schemas.openxmlformats.org/drawingml/2006/main">
              <a:ext uri="{FF2B5EF4-FFF2-40B4-BE49-F238E27FC236}">
                <a16:creationId xmlns:a16="http://schemas.microsoft.com/office/drawing/2014/main" id="{B35B59A0-AC6E-4BE3-917A-7F207D7F1204}"/>
              </a:ext>
            </a:extLst>
          </p:cNvPr>
          <p:cNvSpPr>
            <a:spLocks xmlns:a="http://schemas.openxmlformats.org/drawingml/2006/main" noGrp="1"/>
          </p:cNvSpPr>
          <p:nvPr/>
        </p:nvSpPr>
        <p:spPr>
          <a:xfrm xmlns:a="http://schemas.openxmlformats.org/drawingml/2006/main">
            <a:off x="685800" y="2000250"/>
            <a:ext cx="3048000" cy="128587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84870A75-8673-4FA4-9C0C-76C8F63BAA79}"/>
              </a:ext>
            </a:extLst>
          </p:cNvPr>
          <p:cNvSpPr>
            <a:spLocks xmlns:a="http://schemas.openxmlformats.org/drawingml/2006/main" noGrp="1"/>
          </p:cNvSpPr>
          <p:nvPr/>
        </p:nvSpPr>
        <p:spPr>
          <a:xfrm xmlns:a="http://schemas.openxmlformats.org/drawingml/2006/main">
            <a:off x="819150" y="2114550"/>
            <a:ext cx="2781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93247"/>
                </a:solidFill>
                <a:latin typeface="Arial"/>
                <a:ea typeface="Arial"/>
                <a:cs typeface="Arial"/>
              </a:defRPr>
            </a:defPPr>
          </a:lstStyle>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① P₁(6) = 2</a:t>
            </a:r>
          </a:p>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A отримує 2</a:t>
            </a:r>
          </a:p>
        </p:txBody>
      </p:sp>
      <p:sp>
        <p:nvSpPr>
          <p:cNvPr id="5" name="">
            <a:extLst xmlns:a="http://schemas.openxmlformats.org/drawingml/2006/main">
              <a:ext uri="{FF2B5EF4-FFF2-40B4-BE49-F238E27FC236}">
                <a16:creationId xmlns:a16="http://schemas.microsoft.com/office/drawing/2014/main" id="{4451751B-B6CA-4E3D-9338-4A815899BFFD}"/>
              </a:ext>
            </a:extLst>
          </p:cNvPr>
          <p:cNvSpPr>
            <a:spLocks xmlns:a="http://schemas.openxmlformats.org/drawingml/2006/main" noGrp="1"/>
          </p:cNvSpPr>
          <p:nvPr/>
        </p:nvSpPr>
        <p:spPr>
          <a:xfrm xmlns:a="http://schemas.openxmlformats.org/drawingml/2006/main">
            <a:off x="4572000" y="2000250"/>
            <a:ext cx="3048000" cy="128587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D75CF436-1755-419E-8FAD-18CE5208ABAF}"/>
              </a:ext>
            </a:extLst>
          </p:cNvPr>
          <p:cNvSpPr>
            <a:spLocks xmlns:a="http://schemas.openxmlformats.org/drawingml/2006/main" noGrp="1"/>
          </p:cNvSpPr>
          <p:nvPr/>
        </p:nvSpPr>
        <p:spPr>
          <a:xfrm xmlns:a="http://schemas.openxmlformats.org/drawingml/2006/main">
            <a:off x="4705350" y="2114550"/>
            <a:ext cx="2781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93247"/>
                </a:solidFill>
                <a:latin typeface="Arial"/>
                <a:ea typeface="Arial"/>
                <a:cs typeface="Arial"/>
              </a:defRPr>
            </a:defPPr>
          </a:lstStyle>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② P₂(4) = 3</a:t>
            </a:r>
          </a:p>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B отримує 3</a:t>
            </a:r>
          </a:p>
        </p:txBody>
      </p:sp>
      <p:sp>
        <p:nvSpPr>
          <p:cNvPr id="7" name="">
            <a:extLst xmlns:a="http://schemas.openxmlformats.org/drawingml/2006/main">
              <a:ext uri="{FF2B5EF4-FFF2-40B4-BE49-F238E27FC236}">
                <a16:creationId xmlns:a16="http://schemas.microsoft.com/office/drawing/2014/main" id="{9CF3211B-F8D3-4B69-80B7-D5E05922A823}"/>
              </a:ext>
            </a:extLst>
          </p:cNvPr>
          <p:cNvSpPr>
            <a:spLocks xmlns:a="http://schemas.openxmlformats.org/drawingml/2006/main" noGrp="1"/>
          </p:cNvSpPr>
          <p:nvPr/>
        </p:nvSpPr>
        <p:spPr>
          <a:xfrm xmlns:a="http://schemas.openxmlformats.org/drawingml/2006/main">
            <a:off x="8458200" y="2000250"/>
            <a:ext cx="3048000" cy="1285875"/>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1C6ECAC3-F24A-4F3A-8D4E-9E9A6ABFA322}"/>
              </a:ext>
            </a:extLst>
          </p:cNvPr>
          <p:cNvSpPr>
            <a:spLocks xmlns:a="http://schemas.openxmlformats.org/drawingml/2006/main" noGrp="1"/>
          </p:cNvSpPr>
          <p:nvPr/>
        </p:nvSpPr>
        <p:spPr>
          <a:xfrm xmlns:a="http://schemas.openxmlformats.org/drawingml/2006/main">
            <a:off x="8591550" y="2114550"/>
            <a:ext cx="2781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93247"/>
                </a:solidFill>
                <a:latin typeface="Arial"/>
                <a:ea typeface="Arial"/>
                <a:cs typeface="Arial"/>
              </a:defRPr>
            </a:defPPr>
          </a:lstStyle>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③ P₃(1) = 1</a:t>
            </a:r>
          </a:p>
          <a:p xmlns:a="http://schemas.openxmlformats.org/drawingml/2006/main">
            <a:pPr>
              <a:defRPr sz="2400" b="1">
                <a:solidFill>
                  <a:srgbClr val="193247"/>
                </a:solidFill>
                <a:latin typeface="Arial"/>
                <a:ea typeface="Arial"/>
                <a:cs typeface="Arial"/>
              </a:defRPr>
            </a:pPr>
            <a:r>
              <a:rPr sz="2400" b="1">
                <a:solidFill>
                  <a:srgbClr val="193247"/>
                </a:solidFill>
                <a:latin typeface="Arial"/>
                <a:ea typeface="Arial"/>
                <a:cs typeface="Arial"/>
              </a:rPr>
              <a:t>C отримує 1</a:t>
            </a:r>
          </a:p>
        </p:txBody>
      </p:sp>
      <p:sp>
        <p:nvSpPr>
          <p:cNvPr id="9" name="">
            <a:extLst xmlns:a="http://schemas.openxmlformats.org/drawingml/2006/main">
              <a:ext uri="{FF2B5EF4-FFF2-40B4-BE49-F238E27FC236}">
                <a16:creationId xmlns:a16="http://schemas.microsoft.com/office/drawing/2014/main" id="{9B7A591C-DAFC-4CD3-84EA-BABA05CDF0A2}"/>
              </a:ext>
            </a:extLst>
          </p:cNvPr>
          <p:cNvSpPr>
            <a:spLocks xmlns:a="http://schemas.openxmlformats.org/drawingml/2006/main" noGrp="1"/>
          </p:cNvSpPr>
          <p:nvPr/>
        </p:nvSpPr>
        <p:spPr>
          <a:xfrm xmlns:a="http://schemas.openxmlformats.org/drawingml/2006/main" rot="0">
            <a:off x="3762375" y="2571750"/>
            <a:ext cx="7620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04C0417-D438-4E36-8CE9-64394077CBF2}"/>
              </a:ext>
            </a:extLst>
          </p:cNvPr>
          <p:cNvSpPr>
            <a:spLocks xmlns:a="http://schemas.openxmlformats.org/drawingml/2006/main" noGrp="1"/>
          </p:cNvSpPr>
          <p:nvPr/>
        </p:nvSpPr>
        <p:spPr>
          <a:xfrm xmlns:a="http://schemas.openxmlformats.org/drawingml/2006/main" rot="0">
            <a:off x="7648575" y="2571750"/>
            <a:ext cx="7620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650107-8365-4F7F-A68F-F53CBE0CF1D7}"/>
              </a:ext>
            </a:extLst>
          </p:cNvPr>
          <p:cNvSpPr>
            <a:spLocks xmlns:a="http://schemas.openxmlformats.org/drawingml/2006/main" noGrp="1"/>
          </p:cNvSpPr>
          <p:nvPr/>
        </p:nvSpPr>
        <p:spPr>
          <a:xfrm xmlns:a="http://schemas.openxmlformats.org/drawingml/2006/main">
            <a:off x="1143000" y="37147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6 − 2 = 4</a:t>
            </a:r>
          </a:p>
        </p:txBody>
      </p:sp>
      <p:sp>
        <p:nvSpPr>
          <p:cNvPr id="12" name="">
            <a:extLst xmlns:a="http://schemas.openxmlformats.org/drawingml/2006/main">
              <a:ext uri="{FF2B5EF4-FFF2-40B4-BE49-F238E27FC236}">
                <a16:creationId xmlns:a16="http://schemas.microsoft.com/office/drawing/2014/main" id="{4DB3A2AD-3CF8-4D59-9933-86BDA1F8FF37}"/>
              </a:ext>
            </a:extLst>
          </p:cNvPr>
          <p:cNvSpPr>
            <a:spLocks xmlns:a="http://schemas.openxmlformats.org/drawingml/2006/main" noGrp="1"/>
          </p:cNvSpPr>
          <p:nvPr/>
        </p:nvSpPr>
        <p:spPr>
          <a:xfrm xmlns:a="http://schemas.openxmlformats.org/drawingml/2006/main">
            <a:off x="5048250" y="37147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4 − 3 = 1</a:t>
            </a:r>
          </a:p>
        </p:txBody>
      </p:sp>
      <p:sp>
        <p:nvSpPr>
          <p:cNvPr id="13" name="">
            <a:extLst xmlns:a="http://schemas.openxmlformats.org/drawingml/2006/main">
              <a:ext uri="{FF2B5EF4-FFF2-40B4-BE49-F238E27FC236}">
                <a16:creationId xmlns:a16="http://schemas.microsoft.com/office/drawing/2014/main" id="{1B3BB294-8E07-498B-AC9D-86C6FB66EF1B}"/>
              </a:ext>
            </a:extLst>
          </p:cNvPr>
          <p:cNvSpPr>
            <a:spLocks xmlns:a="http://schemas.openxmlformats.org/drawingml/2006/main" noGrp="1"/>
          </p:cNvSpPr>
          <p:nvPr/>
        </p:nvSpPr>
        <p:spPr>
          <a:xfrm xmlns:a="http://schemas.openxmlformats.org/drawingml/2006/main">
            <a:off x="8763000" y="37147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1 − 1 = 0</a:t>
            </a:r>
          </a:p>
        </p:txBody>
      </p:sp>
      <p:sp>
        <p:nvSpPr>
          <p:cNvPr id="14" name="">
            <a:extLst xmlns:a="http://schemas.openxmlformats.org/drawingml/2006/main">
              <a:ext uri="{FF2B5EF4-FFF2-40B4-BE49-F238E27FC236}">
                <a16:creationId xmlns:a16="http://schemas.microsoft.com/office/drawing/2014/main" id="{B688A5DA-B11B-455A-99FC-B11506776F85}"/>
              </a:ext>
            </a:extLst>
          </p:cNvPr>
          <p:cNvSpPr>
            <a:spLocks xmlns:a="http://schemas.openxmlformats.org/drawingml/2006/main" noGrp="1"/>
          </p:cNvSpPr>
          <p:nvPr/>
        </p:nvSpPr>
        <p:spPr>
          <a:xfrm xmlns:a="http://schemas.openxmlformats.org/drawingml/2006/main">
            <a:off x="685800" y="49530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008B85"/>
                </a:solidFill>
                <a:latin typeface="Arial"/>
                <a:ea typeface="Arial"/>
                <a:cs typeface="Arial"/>
              </a:defRPr>
            </a:defPPr>
          </a:lstStyle>
          <a:p xmlns:a="http://schemas.openxmlformats.org/drawingml/2006/main">
            <a:pPr>
              <a:defRPr sz="2700" b="1">
                <a:solidFill>
                  <a:srgbClr val="008B85"/>
                </a:solidFill>
                <a:latin typeface="Arial"/>
                <a:ea typeface="Arial"/>
                <a:cs typeface="Arial"/>
              </a:defRPr>
            </a:pPr>
            <a:r>
              <a:rPr sz="2700" b="1">
                <a:solidFill>
                  <a:srgbClr val="008B85"/>
                </a:solidFill>
                <a:latin typeface="Arial"/>
                <a:ea typeface="Arial"/>
                <a:cs typeface="Arial"/>
              </a:rPr>
              <a:t>План x = (2, 3, 1). Користь: 11 + 17 + 5 = 33.</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26</a:t>
            </a:r>
          </a:p>
        </p:txBody>
      </p:sp>
    </p:spTree>
    <p:extLst>
      <p:ext uri="{BB962C8B-B14F-4D97-AF65-F5344CB8AC3E}">
        <p14:creationId xmlns:p14="http://schemas.microsoft.com/office/powerpoint/2010/main" val="18975171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713C4B-5036-4F02-A394-946A51462F72}"/>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збільшений фрагмент біля старту</a:t>
            </a:r>
          </a:p>
        </p:txBody>
      </p:sp>
      <p:sp>
        <p:nvSpPr>
          <p:cNvPr id="2" name="">
            <a:extLst xmlns:a="http://schemas.openxmlformats.org/drawingml/2006/main">
              <a:ext uri="{FF2B5EF4-FFF2-40B4-BE49-F238E27FC236}">
                <a16:creationId xmlns:a16="http://schemas.microsoft.com/office/drawing/2014/main" id="{DC36C81C-A55B-46E3-AE5E-109B6E5C2BD3}"/>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Число 118 враховує весь залишок шляху, а не тільки перше ребро.</a:t>
            </a:r>
          </a:p>
        </p:txBody>
      </p:sp>
      <p:pic>
        <p:nvPicPr>
          <p:cNvPr id="3" name="">
            <a:extLst xmlns:a="http://schemas.openxmlformats.org/drawingml/2006/main">
              <a:ext uri="{FF2B5EF4-FFF2-40B4-BE49-F238E27FC236}">
                <a16:creationId xmlns:a16="http://schemas.microsoft.com/office/drawing/2014/main" id="{570DAFCE-7CE1-4A29-B59C-8C72F2BC3258}"/>
              </a:ext>
            </a:extLst>
          </p:cNvPr>
          <p:cNvPicPr>
            <a:picLocks xmlns:a="http://schemas.openxmlformats.org/drawingml/2006/main" noChangeAspect="1"/>
          </p:cNvPicPr>
          <p:nvPr/>
        </p:nvPicPr>
        <p:blipFill>
          <a:blip xmlns:r="http://schemas.openxmlformats.org/officeDocument/2006/relationships" xmlns:a="http://schemas.openxmlformats.org/drawingml/2006/main" r:embed="rIdV71"/>
          <a:stretch xmlns:a="http://schemas.openxmlformats.org/drawingml/2006/main"/>
        </p:blipFill>
        <p:spPr>
          <a:xfrm xmlns:a="http://schemas.openxmlformats.org/drawingml/2006/main">
            <a:off x="685800" y="1784577"/>
            <a:ext cx="5524500" cy="366984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EE9B52-C063-4282-8805-1D9E1672F897}"/>
              </a:ext>
            </a:extLst>
          </p:cNvPr>
          <p:cNvSpPr>
            <a:spLocks xmlns:a="http://schemas.openxmlformats.org/drawingml/2006/main" noGrp="1"/>
          </p:cNvSpPr>
          <p:nvPr/>
        </p:nvSpPr>
        <p:spPr>
          <a:xfrm xmlns:a="http://schemas.openxmlformats.org/drawingml/2006/main">
            <a:off x="6667500" y="1905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У точці A порівнюємо:</a:t>
            </a:r>
          </a:p>
          <a:p xmlns:a="http://schemas.openxmlformats.org/drawingml/2006/main">
            <a:r>
              <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Північ: 10 + 108 = 118</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Схід: 14 + 115 = 129</a:t>
            </a:r>
          </a:p>
        </p:txBody>
      </p:sp>
      <p:sp>
        <p:nvSpPr>
          <p:cNvPr id="5" name="">
            <a:extLst xmlns:a="http://schemas.openxmlformats.org/drawingml/2006/main">
              <a:ext uri="{FF2B5EF4-FFF2-40B4-BE49-F238E27FC236}">
                <a16:creationId xmlns:a16="http://schemas.microsoft.com/office/drawing/2014/main" id="{0E4852B5-CCEF-4DF0-A81E-CD4EE8FC11A0}"/>
              </a:ext>
            </a:extLst>
          </p:cNvPr>
          <p:cNvSpPr>
            <a:spLocks xmlns:a="http://schemas.openxmlformats.org/drawingml/2006/main" noGrp="1"/>
          </p:cNvSpPr>
          <p:nvPr/>
        </p:nvSpPr>
        <p:spPr>
          <a:xfrm xmlns:a="http://schemas.openxmlformats.org/drawingml/2006/main">
            <a:off x="6667500" y="4524375"/>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08B85"/>
                </a:solidFill>
                <a:latin typeface="Arial"/>
                <a:ea typeface="Arial"/>
                <a:cs typeface="Arial"/>
              </a:defRPr>
            </a:defPPr>
          </a:lstStyle>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Обираємо північ.</a:t>
            </a:r>
          </a:p>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Далі читаємо стрілку</a:t>
            </a:r>
          </a:p>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в наступному вузлі.</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33</a:t>
            </a:r>
          </a:p>
        </p:txBody>
      </p:sp>
    </p:spTree>
    <p:extLst>
      <p:ext uri="{BB962C8B-B14F-4D97-AF65-F5344CB8AC3E}">
        <p14:creationId xmlns:p14="http://schemas.microsoft.com/office/powerpoint/2010/main" val="113349642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E98E46-4A96-4F44-9EBF-FB7A725407D8}"/>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Мемоізація: що відбувається при повторі?</a:t>
            </a:r>
          </a:p>
        </p:txBody>
      </p:sp>
      <p:sp>
        <p:nvSpPr>
          <p:cNvPr id="2" name="">
            <a:extLst xmlns:a="http://schemas.openxmlformats.org/drawingml/2006/main">
              <a:ext uri="{FF2B5EF4-FFF2-40B4-BE49-F238E27FC236}">
                <a16:creationId xmlns:a16="http://schemas.microsoft.com/office/drawing/2014/main" id="{B77747F6-D6EA-4F0F-9C72-A57FB673D1DF}"/>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Кеш зберігає відповідь підзадачі для однакового стану.</a:t>
            </a:r>
          </a:p>
        </p:txBody>
      </p:sp>
      <p:sp>
        <p:nvSpPr>
          <p:cNvPr id="3" name="">
            <a:extLst xmlns:a="http://schemas.openxmlformats.org/drawingml/2006/main">
              <a:ext uri="{FF2B5EF4-FFF2-40B4-BE49-F238E27FC236}">
                <a16:creationId xmlns:a16="http://schemas.microsoft.com/office/drawing/2014/main" id="{0355D580-25B3-4F8E-ACE2-EA34938E4C6B}"/>
              </a:ext>
            </a:extLst>
          </p:cNvPr>
          <p:cNvSpPr>
            <a:spLocks xmlns:a="http://schemas.openxmlformats.org/drawingml/2006/main" noGrp="1"/>
          </p:cNvSpPr>
          <p:nvPr/>
        </p:nvSpPr>
        <p:spPr>
          <a:xfrm xmlns:a="http://schemas.openxmlformats.org/drawingml/2006/main">
            <a:off x="685800" y="1714500"/>
            <a:ext cx="4667250" cy="666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D1C212BA-BE31-444F-809B-6B579124D4C3}"/>
              </a:ext>
            </a:extLst>
          </p:cNvPr>
          <p:cNvSpPr>
            <a:spLocks xmlns:a="http://schemas.openxmlformats.org/drawingml/2006/main" noGrp="1"/>
          </p:cNvSpPr>
          <p:nvPr/>
        </p:nvSpPr>
        <p:spPr>
          <a:xfrm xmlns:a="http://schemas.openxmlformats.org/drawingml/2006/main">
            <a:off x="819150" y="1828800"/>
            <a:ext cx="4400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Перший виклик fib(5)</a:t>
            </a:r>
          </a:p>
        </p:txBody>
      </p:sp>
      <p:sp>
        <p:nvSpPr>
          <p:cNvPr id="5" name="">
            <a:extLst xmlns:a="http://schemas.openxmlformats.org/drawingml/2006/main">
              <a:ext uri="{FF2B5EF4-FFF2-40B4-BE49-F238E27FC236}">
                <a16:creationId xmlns:a16="http://schemas.microsoft.com/office/drawing/2014/main" id="{73F0B56B-C029-4136-AC73-2237AC823591}"/>
              </a:ext>
            </a:extLst>
          </p:cNvPr>
          <p:cNvSpPr>
            <a:spLocks xmlns:a="http://schemas.openxmlformats.org/drawingml/2006/main" noGrp="1"/>
          </p:cNvSpPr>
          <p:nvPr/>
        </p:nvSpPr>
        <p:spPr>
          <a:xfrm xmlns:a="http://schemas.openxmlformats.org/drawingml/2006/main">
            <a:off x="685800" y="3238500"/>
            <a:ext cx="46672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EF91A241-E510-421A-B7D1-37B915EE4241}"/>
              </a:ext>
            </a:extLst>
          </p:cNvPr>
          <p:cNvSpPr>
            <a:spLocks xmlns:a="http://schemas.openxmlformats.org/drawingml/2006/main" noGrp="1"/>
          </p:cNvSpPr>
          <p:nvPr/>
        </p:nvSpPr>
        <p:spPr>
          <a:xfrm xmlns:a="http://schemas.openxmlformats.org/drawingml/2006/main">
            <a:off x="819150" y="3352800"/>
            <a:ext cx="4400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Обчислити й зберегти</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cache[5] = 5</a:t>
            </a:r>
          </a:p>
        </p:txBody>
      </p:sp>
      <p:sp>
        <p:nvSpPr>
          <p:cNvPr id="7" name="">
            <a:extLst xmlns:a="http://schemas.openxmlformats.org/drawingml/2006/main">
              <a:ext uri="{FF2B5EF4-FFF2-40B4-BE49-F238E27FC236}">
                <a16:creationId xmlns:a16="http://schemas.microsoft.com/office/drawing/2014/main" id="{BA99C8FE-DC34-4F66-AC56-94C6E40ECD1E}"/>
              </a:ext>
            </a:extLst>
          </p:cNvPr>
          <p:cNvSpPr>
            <a:spLocks xmlns:a="http://schemas.openxmlformats.org/drawingml/2006/main" noGrp="1"/>
          </p:cNvSpPr>
          <p:nvPr/>
        </p:nvSpPr>
        <p:spPr>
          <a:xfrm xmlns:a="http://schemas.openxmlformats.org/drawingml/2006/main" rot="5400000">
            <a:off x="2662238" y="2738438"/>
            <a:ext cx="714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0C3C54-6565-4F53-A6D7-2CB6B8A93388}"/>
              </a:ext>
            </a:extLst>
          </p:cNvPr>
          <p:cNvSpPr>
            <a:spLocks xmlns:a="http://schemas.openxmlformats.org/drawingml/2006/main" noGrp="1"/>
          </p:cNvSpPr>
          <p:nvPr/>
        </p:nvSpPr>
        <p:spPr>
          <a:xfrm xmlns:a="http://schemas.openxmlformats.org/drawingml/2006/main">
            <a:off x="6477000" y="1714500"/>
            <a:ext cx="5000625" cy="666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9" name="">
            <a:extLst xmlns:a="http://schemas.openxmlformats.org/drawingml/2006/main">
              <a:ext uri="{FF2B5EF4-FFF2-40B4-BE49-F238E27FC236}">
                <a16:creationId xmlns:a16="http://schemas.microsoft.com/office/drawing/2014/main" id="{9FC46CEE-319F-4165-B540-6AFD40865859}"/>
              </a:ext>
            </a:extLst>
          </p:cNvPr>
          <p:cNvSpPr>
            <a:spLocks xmlns:a="http://schemas.openxmlformats.org/drawingml/2006/main" noGrp="1"/>
          </p:cNvSpPr>
          <p:nvPr/>
        </p:nvSpPr>
        <p:spPr>
          <a:xfrm xmlns:a="http://schemas.openxmlformats.org/drawingml/2006/main">
            <a:off x="6610350" y="1828800"/>
            <a:ext cx="47339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Повторний виклик fib(5)</a:t>
            </a:r>
          </a:p>
        </p:txBody>
      </p:sp>
      <p:sp>
        <p:nvSpPr>
          <p:cNvPr id="10" name="">
            <a:extLst xmlns:a="http://schemas.openxmlformats.org/drawingml/2006/main">
              <a:ext uri="{FF2B5EF4-FFF2-40B4-BE49-F238E27FC236}">
                <a16:creationId xmlns:a16="http://schemas.microsoft.com/office/drawing/2014/main" id="{25D4A730-6C70-4768-BED6-6998EB521E33}"/>
              </a:ext>
            </a:extLst>
          </p:cNvPr>
          <p:cNvSpPr>
            <a:spLocks xmlns:a="http://schemas.openxmlformats.org/drawingml/2006/main" noGrp="1"/>
          </p:cNvSpPr>
          <p:nvPr/>
        </p:nvSpPr>
        <p:spPr>
          <a:xfrm xmlns:a="http://schemas.openxmlformats.org/drawingml/2006/main">
            <a:off x="6477000" y="3238500"/>
            <a:ext cx="5000625"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1" name="">
            <a:extLst xmlns:a="http://schemas.openxmlformats.org/drawingml/2006/main">
              <a:ext uri="{FF2B5EF4-FFF2-40B4-BE49-F238E27FC236}">
                <a16:creationId xmlns:a16="http://schemas.microsoft.com/office/drawing/2014/main" id="{6550C18D-54DD-4822-B4CC-2F83E886372F}"/>
              </a:ext>
            </a:extLst>
          </p:cNvPr>
          <p:cNvSpPr>
            <a:spLocks xmlns:a="http://schemas.openxmlformats.org/drawingml/2006/main" noGrp="1"/>
          </p:cNvSpPr>
          <p:nvPr/>
        </p:nvSpPr>
        <p:spPr>
          <a:xfrm xmlns:a="http://schemas.openxmlformats.org/drawingml/2006/main">
            <a:off x="6610350" y="3352800"/>
            <a:ext cx="47339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Прочитати cache[5]</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Повернути 5</a:t>
            </a:r>
          </a:p>
        </p:txBody>
      </p:sp>
      <p:sp>
        <p:nvSpPr>
          <p:cNvPr id="12" name="">
            <a:extLst xmlns:a="http://schemas.openxmlformats.org/drawingml/2006/main">
              <a:ext uri="{FF2B5EF4-FFF2-40B4-BE49-F238E27FC236}">
                <a16:creationId xmlns:a16="http://schemas.microsoft.com/office/drawing/2014/main" id="{CB806DB8-B3C7-41CA-BAAE-085A83B098F1}"/>
              </a:ext>
            </a:extLst>
          </p:cNvPr>
          <p:cNvSpPr>
            <a:spLocks xmlns:a="http://schemas.openxmlformats.org/drawingml/2006/main" noGrp="1"/>
          </p:cNvSpPr>
          <p:nvPr/>
        </p:nvSpPr>
        <p:spPr>
          <a:xfrm xmlns:a="http://schemas.openxmlformats.org/drawingml/2006/main" rot="5400000">
            <a:off x="8615363" y="2738438"/>
            <a:ext cx="71437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75B18E-7272-4170-A4BB-98E7AB7F3F90}"/>
              </a:ext>
            </a:extLst>
          </p:cNvPr>
          <p:cNvSpPr>
            <a:spLocks xmlns:a="http://schemas.openxmlformats.org/drawingml/2006/main" noGrp="1"/>
          </p:cNvSpPr>
          <p:nvPr/>
        </p:nvSpPr>
        <p:spPr>
          <a:xfrm xmlns:a="http://schemas.openxmlformats.org/drawingml/2006/main">
            <a:off x="6477000" y="4810125"/>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Нові рекурсивні виклики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для цієї підзадачі не потрібні.</a:t>
            </a:r>
          </a:p>
        </p:txBody>
      </p:sp>
      <p:sp>
        <p:nvSpPr>
          <p:cNvPr id="14" name="">
            <a:extLst xmlns:a="http://schemas.openxmlformats.org/drawingml/2006/main">
              <a:ext uri="{FF2B5EF4-FFF2-40B4-BE49-F238E27FC236}">
                <a16:creationId xmlns:a16="http://schemas.microsoft.com/office/drawing/2014/main" id="{C00A614F-8379-4B89-8C18-3A3093B6CDF3}"/>
              </a:ext>
            </a:extLst>
          </p:cNvPr>
          <p:cNvSpPr>
            <a:spLocks xmlns:a="http://schemas.openxmlformats.org/drawingml/2006/main" noGrp="1"/>
          </p:cNvSpPr>
          <p:nvPr/>
        </p:nvSpPr>
        <p:spPr>
          <a:xfrm xmlns:a="http://schemas.openxmlformats.org/drawingml/2006/main">
            <a:off x="685800" y="495300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Для GPU ключ: (k, b).</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40</a:t>
            </a:r>
          </a:p>
        </p:txBody>
      </p:sp>
    </p:spTree>
    <p:extLst>
      <p:ext uri="{BB962C8B-B14F-4D97-AF65-F5344CB8AC3E}">
        <p14:creationId xmlns:p14="http://schemas.microsoft.com/office/powerpoint/2010/main" val="1504156962"/>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CD2C33-E65A-498F-B2A4-F8B22B5ECA0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Порівняння напрямів обчислення</a:t>
            </a:r>
          </a:p>
        </p:txBody>
      </p:sp>
      <p:sp>
        <p:nvSpPr>
          <p:cNvPr id="2" name="">
            <a:extLst xmlns:a="http://schemas.openxmlformats.org/drawingml/2006/main">
              <a:ext uri="{FF2B5EF4-FFF2-40B4-BE49-F238E27FC236}">
                <a16:creationId xmlns:a16="http://schemas.microsoft.com/office/drawing/2014/main" id="{16CAB172-C13C-4B00-B31F-46A5BC49CB6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будь-якого напряму потрібні вже готові відповіді підзадач.</a:t>
            </a:r>
          </a:p>
        </p:txBody>
      </p:sp>
      <p:graphicFrame>
        <p:nvGraphicFramePr>
          <p:cNvPr id="3" name="">
            <a:extLst xmlns:a="http://schemas.openxmlformats.org/drawingml/2006/main">
              <a:ext uri="{FF2B5EF4-FFF2-40B4-BE49-F238E27FC236}">
                <a16:creationId xmlns:a16="http://schemas.microsoft.com/office/drawing/2014/main" id="{FA006C83-F6BC-4CB1-8E6B-F26FE8BD8472}"/>
              </a:ext>
            </a:extLst>
          </p:cNvPr>
          <p:cNvGraphicFramePr/>
          <p:nvPr/>
        </p:nvGraphicFramePr>
        <p:xfrm>
          <a:off xmlns:a="http://schemas.openxmlformats.org/drawingml/2006/main" x="685800" y="1809750"/>
          <a:ext xmlns:a="http://schemas.openxmlformats.org/drawingml/2006/main" cx="10820400" cy="3143250"/>
        </p:xfrm>
        <a:graphic xmlns:a="http://schemas.openxmlformats.org/drawingml/2006/main">
          <a:graphicData uri="http://schemas.openxmlformats.org/drawingml/2006/table">
            <a:tbl>
              <a:tblPr/>
              <a:tblGrid>
                <a:gridCol w="2857500"/>
                <a:gridCol w="4953000"/>
                <a:gridCol w="3009900"/>
              </a:tblGrid>
              <a:tr h="785813">
                <a:tc>
                  <a:txBody>
                    <a:bodyPr/>
                    <a:lstStyle/>
                    <a:p>
                      <a:r>
                        <a:rPr sz="1875" b="1">
                          <a:solidFill>
                            <a:srgbClr val="FFFFFF"/>
                          </a:solidFill>
                          <a:latin typeface="Arial"/>
                          <a:ea typeface="Arial"/>
                          <a:cs typeface="Arial"/>
                        </a:rPr>
                        <a:t>Приклад</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Що означає клітинка</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Порядок</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785813">
                <a:tc>
                  <a:txBody>
                    <a:bodyPr/>
                    <a:lstStyle/>
                    <a:p>
                      <a:r>
                        <a:rPr sz="1875" b="0">
                          <a:solidFill>
                            <a:srgbClr val="193247"/>
                          </a:solidFill>
                          <a:latin typeface="Arial"/>
                          <a:ea typeface="Arial"/>
                          <a:cs typeface="Arial"/>
                        </a:rPr>
                        <a:t>GPU: Vₖ(b)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Найкраща користь сервісів k…n</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останнього сервісу</a:t>
                      </a:r>
                    </a:p>
                  </a:txBody>
                  <a:tcPr marL="91440" marR="91440" marT="45720" marB="45720">
                    <a:lnR w="9525">
                      <a:solidFill>
                        <a:srgbClr val="A8B7C0"/>
                      </a:solidFill>
                      <a:prstDash val="solid"/>
                    </a:lnR>
                    <a:lnB w="9525">
                      <a:solidFill>
                        <a:srgbClr val="A8B7C0"/>
                      </a:solidFill>
                      <a:prstDash val="solid"/>
                    </a:lnB>
                    <a:solidFill>
                      <a:srgbClr val="FFFFFF"/>
                    </a:solidFill>
                  </a:tcPr>
                </a:tc>
              </a:tr>
              <a:tr h="785813">
                <a:tc>
                  <a:txBody>
                    <a:bodyPr/>
                    <a:lstStyle/>
                    <a:p>
                      <a:r>
                        <a:rPr sz="1875" b="0">
                          <a:solidFill>
                            <a:srgbClr val="193247"/>
                          </a:solidFill>
                          <a:latin typeface="Arial"/>
                          <a:ea typeface="Arial"/>
                          <a:cs typeface="Arial"/>
                        </a:rPr>
                        <a:t>Рюкзак: Dᵢ(b)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Найкраща користь перших i завдань</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перших завдань</a:t>
                      </a:r>
                    </a:p>
                  </a:txBody>
                  <a:tcPr marL="91440" marR="91440" marT="45720" marB="45720">
                    <a:lnR w="9525">
                      <a:solidFill>
                        <a:srgbClr val="A8B7C0"/>
                      </a:solidFill>
                      <a:prstDash val="solid"/>
                    </a:lnR>
                    <a:lnB w="9525">
                      <a:solidFill>
                        <a:srgbClr val="A8B7C0"/>
                      </a:solidFill>
                      <a:prstDash val="solid"/>
                    </a:lnB>
                    <a:solidFill>
                      <a:srgbClr val="FFFFFF"/>
                    </a:solidFill>
                  </a:tcPr>
                </a:tc>
              </a:tr>
              <a:tr h="785813">
                <a:tc>
                  <a:txBody>
                    <a:bodyPr/>
                    <a:lstStyle/>
                    <a:p>
                      <a:r>
                        <a:rPr sz="1875" b="0">
                          <a:solidFill>
                            <a:srgbClr val="193247"/>
                          </a:solidFill>
                          <a:latin typeface="Arial"/>
                          <a:ea typeface="Arial"/>
                          <a:cs typeface="Arial"/>
                        </a:rPr>
                        <a:t>Беллман–Форд: dₖ(v)</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Найкращий шлях із ≤ k ребрами</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 шару k−1 до k</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CC3A0C-C628-4778-8FD8-FF0BCEE58C3A}"/>
              </a:ext>
            </a:extLst>
          </p:cNvPr>
          <p:cNvSpPr>
            <a:spLocks xmlns:a="http://schemas.openxmlformats.org/drawingml/2006/main" noGrp="1"/>
          </p:cNvSpPr>
          <p:nvPr/>
        </p:nvSpPr>
        <p:spPr>
          <a:xfrm xmlns:a="http://schemas.openxmlformats.org/drawingml/2006/main">
            <a:off x="685800" y="528637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08B85"/>
                </a:solidFill>
                <a:latin typeface="Arial"/>
                <a:ea typeface="Arial"/>
                <a:cs typeface="Arial"/>
              </a:defRPr>
            </a:defPPr>
          </a:lstStyle>
          <a:p xmlns:a="http://schemas.openxmlformats.org/drawingml/2006/main">
            <a:pPr>
              <a:defRPr sz="2325" b="1">
                <a:solidFill>
                  <a:srgbClr val="008B85"/>
                </a:solidFill>
                <a:latin typeface="Arial"/>
                <a:ea typeface="Arial"/>
                <a:cs typeface="Arial"/>
              </a:defRPr>
            </a:pPr>
            <a:r>
              <a:rPr sz="2325" b="1">
                <a:solidFill>
                  <a:srgbClr val="008B85"/>
                </a:solidFill>
                <a:latin typeface="Arial"/>
                <a:ea typeface="Arial"/>
                <a:cs typeface="Arial"/>
              </a:rPr>
              <a:t>Слово «динамічне» не вимагає фізичного часу в задачі.</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46</a:t>
            </a:r>
          </a:p>
        </p:txBody>
      </p:sp>
    </p:spTree>
    <p:extLst>
      <p:ext uri="{BB962C8B-B14F-4D97-AF65-F5344CB8AC3E}">
        <p14:creationId xmlns:p14="http://schemas.microsoft.com/office/powerpoint/2010/main" val="546374005"/>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0B667C-6D82-45A9-8461-80F87A09AC9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Рюкзак: відновлення вибраних завдань</a:t>
            </a:r>
          </a:p>
        </p:txBody>
      </p:sp>
      <p:sp>
        <p:nvSpPr>
          <p:cNvPr id="2" name="">
            <a:extLst xmlns:a="http://schemas.openxmlformats.org/drawingml/2006/main">
              <a:ext uri="{FF2B5EF4-FFF2-40B4-BE49-F238E27FC236}">
                <a16:creationId xmlns:a16="http://schemas.microsoft.com/office/drawing/2014/main" id="{F4D3708D-D70A-4013-B491-3FA9CF85232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Порівнюємо значення з попереднім рядком і змінюємо бюджет лише коли беремо завдання.</a:t>
            </a:r>
          </a:p>
        </p:txBody>
      </p:sp>
      <p:sp>
        <p:nvSpPr>
          <p:cNvPr id="3" name="">
            <a:extLst xmlns:a="http://schemas.openxmlformats.org/drawingml/2006/main">
              <a:ext uri="{FF2B5EF4-FFF2-40B4-BE49-F238E27FC236}">
                <a16:creationId xmlns:a16="http://schemas.microsoft.com/office/drawing/2014/main" id="{9A25F521-0C62-4FA8-BDE7-8320E73EC5AF}"/>
              </a:ext>
            </a:extLst>
          </p:cNvPr>
          <p:cNvSpPr>
            <a:spLocks xmlns:a="http://schemas.openxmlformats.org/drawingml/2006/main" noGrp="1"/>
          </p:cNvSpPr>
          <p:nvPr/>
        </p:nvSpPr>
        <p:spPr>
          <a:xfrm xmlns:a="http://schemas.openxmlformats.org/drawingml/2006/main">
            <a:off x="685800" y="1714500"/>
            <a:ext cx="4572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626AA1CB-FE91-418E-965C-7C2117094594}"/>
              </a:ext>
            </a:extLst>
          </p:cNvPr>
          <p:cNvSpPr>
            <a:spLocks xmlns:a="http://schemas.openxmlformats.org/drawingml/2006/main" noGrp="1"/>
          </p:cNvSpPr>
          <p:nvPr/>
        </p:nvSpPr>
        <p:spPr>
          <a:xfrm xmlns:a="http://schemas.openxmlformats.org/drawingml/2006/main">
            <a:off x="819150" y="1828800"/>
            <a:ext cx="4305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D₄(7)=22</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J4 пропускаємо</a:t>
            </a:r>
          </a:p>
        </p:txBody>
      </p:sp>
      <p:sp>
        <p:nvSpPr>
          <p:cNvPr id="5" name="">
            <a:extLst xmlns:a="http://schemas.openxmlformats.org/drawingml/2006/main">
              <a:ext uri="{FF2B5EF4-FFF2-40B4-BE49-F238E27FC236}">
                <a16:creationId xmlns:a16="http://schemas.microsoft.com/office/drawing/2014/main" id="{1BCE649B-C076-4C1D-90CD-1C394CB099CF}"/>
              </a:ext>
            </a:extLst>
          </p:cNvPr>
          <p:cNvSpPr>
            <a:spLocks xmlns:a="http://schemas.openxmlformats.org/drawingml/2006/main" noGrp="1"/>
          </p:cNvSpPr>
          <p:nvPr/>
        </p:nvSpPr>
        <p:spPr>
          <a:xfrm xmlns:a="http://schemas.openxmlformats.org/drawingml/2006/main">
            <a:off x="685800" y="3810000"/>
            <a:ext cx="457200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B4F64815-DA1A-4807-9852-3B13C3890B85}"/>
              </a:ext>
            </a:extLst>
          </p:cNvPr>
          <p:cNvSpPr>
            <a:spLocks xmlns:a="http://schemas.openxmlformats.org/drawingml/2006/main" noGrp="1"/>
          </p:cNvSpPr>
          <p:nvPr/>
        </p:nvSpPr>
        <p:spPr>
          <a:xfrm xmlns:a="http://schemas.openxmlformats.org/drawingml/2006/main">
            <a:off x="819150" y="3924300"/>
            <a:ext cx="4305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D₃(7)=22</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J3 беремо, 7−4=3</a:t>
            </a:r>
          </a:p>
        </p:txBody>
      </p:sp>
      <p:sp>
        <p:nvSpPr>
          <p:cNvPr id="7" name="">
            <a:extLst xmlns:a="http://schemas.openxmlformats.org/drawingml/2006/main">
              <a:ext uri="{FF2B5EF4-FFF2-40B4-BE49-F238E27FC236}">
                <a16:creationId xmlns:a16="http://schemas.microsoft.com/office/drawing/2014/main" id="{43CF7823-5AEB-473E-A63E-806A0ED24FAB}"/>
              </a:ext>
            </a:extLst>
          </p:cNvPr>
          <p:cNvSpPr>
            <a:spLocks xmlns:a="http://schemas.openxmlformats.org/drawingml/2006/main" noGrp="1"/>
          </p:cNvSpPr>
          <p:nvPr/>
        </p:nvSpPr>
        <p:spPr>
          <a:xfrm xmlns:a="http://schemas.openxmlformats.org/drawingml/2006/main" rot="5400000">
            <a:off x="2471738" y="3167063"/>
            <a:ext cx="10001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5CD6EC-0F6D-4692-A63D-5F1E944F58E9}"/>
              </a:ext>
            </a:extLst>
          </p:cNvPr>
          <p:cNvSpPr>
            <a:spLocks xmlns:a="http://schemas.openxmlformats.org/drawingml/2006/main" noGrp="1"/>
          </p:cNvSpPr>
          <p:nvPr/>
        </p:nvSpPr>
        <p:spPr>
          <a:xfrm xmlns:a="http://schemas.openxmlformats.org/drawingml/2006/main">
            <a:off x="6858000" y="3810000"/>
            <a:ext cx="457200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9" name="">
            <a:extLst xmlns:a="http://schemas.openxmlformats.org/drawingml/2006/main">
              <a:ext uri="{FF2B5EF4-FFF2-40B4-BE49-F238E27FC236}">
                <a16:creationId xmlns:a16="http://schemas.microsoft.com/office/drawing/2014/main" id="{2C82B643-DD1F-4EEA-8200-FFC4CC4E8A64}"/>
              </a:ext>
            </a:extLst>
          </p:cNvPr>
          <p:cNvSpPr>
            <a:spLocks xmlns:a="http://schemas.openxmlformats.org/drawingml/2006/main" noGrp="1"/>
          </p:cNvSpPr>
          <p:nvPr/>
        </p:nvSpPr>
        <p:spPr>
          <a:xfrm xmlns:a="http://schemas.openxmlformats.org/drawingml/2006/main">
            <a:off x="6991350" y="3924300"/>
            <a:ext cx="4305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D₂(3)=10</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J2 беремо, 3−3=0</a:t>
            </a:r>
          </a:p>
        </p:txBody>
      </p:sp>
      <p:sp>
        <p:nvSpPr>
          <p:cNvPr id="10" name="">
            <a:extLst xmlns:a="http://schemas.openxmlformats.org/drawingml/2006/main">
              <a:ext uri="{FF2B5EF4-FFF2-40B4-BE49-F238E27FC236}">
                <a16:creationId xmlns:a16="http://schemas.microsoft.com/office/drawing/2014/main" id="{9D606EA1-3F72-4567-AE53-85AF48159839}"/>
              </a:ext>
            </a:extLst>
          </p:cNvPr>
          <p:cNvSpPr>
            <a:spLocks xmlns:a="http://schemas.openxmlformats.org/drawingml/2006/main" noGrp="1"/>
          </p:cNvSpPr>
          <p:nvPr/>
        </p:nvSpPr>
        <p:spPr>
          <a:xfrm xmlns:a="http://schemas.openxmlformats.org/drawingml/2006/main" rot="0">
            <a:off x="5334000" y="4286250"/>
            <a:ext cx="14287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F6542D-51A6-431A-833C-5BA749E0DD2D}"/>
              </a:ext>
            </a:extLst>
          </p:cNvPr>
          <p:cNvSpPr>
            <a:spLocks xmlns:a="http://schemas.openxmlformats.org/drawingml/2006/main" noGrp="1"/>
          </p:cNvSpPr>
          <p:nvPr/>
        </p:nvSpPr>
        <p:spPr>
          <a:xfrm xmlns:a="http://schemas.openxmlformats.org/drawingml/2006/main">
            <a:off x="6858000" y="1714500"/>
            <a:ext cx="4572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2" name="">
            <a:extLst xmlns:a="http://schemas.openxmlformats.org/drawingml/2006/main">
              <a:ext uri="{FF2B5EF4-FFF2-40B4-BE49-F238E27FC236}">
                <a16:creationId xmlns:a16="http://schemas.microsoft.com/office/drawing/2014/main" id="{8F698195-E3DB-4342-A5B6-0852E66014D0}"/>
              </a:ext>
            </a:extLst>
          </p:cNvPr>
          <p:cNvSpPr>
            <a:spLocks xmlns:a="http://schemas.openxmlformats.org/drawingml/2006/main" noGrp="1"/>
          </p:cNvSpPr>
          <p:nvPr/>
        </p:nvSpPr>
        <p:spPr>
          <a:xfrm xmlns:a="http://schemas.openxmlformats.org/drawingml/2006/main">
            <a:off x="6991350" y="1828800"/>
            <a:ext cx="4305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D₁(0)=0</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J1 пропускаємо</a:t>
            </a:r>
          </a:p>
        </p:txBody>
      </p:sp>
      <p:sp>
        <p:nvSpPr>
          <p:cNvPr id="13" name="">
            <a:extLst xmlns:a="http://schemas.openxmlformats.org/drawingml/2006/main">
              <a:ext uri="{FF2B5EF4-FFF2-40B4-BE49-F238E27FC236}">
                <a16:creationId xmlns:a16="http://schemas.microsoft.com/office/drawing/2014/main" id="{FD02E001-C1EE-4965-96F8-A164689207E5}"/>
              </a:ext>
            </a:extLst>
          </p:cNvPr>
          <p:cNvSpPr>
            <a:spLocks xmlns:a="http://schemas.openxmlformats.org/drawingml/2006/main" noGrp="1"/>
          </p:cNvSpPr>
          <p:nvPr/>
        </p:nvSpPr>
        <p:spPr>
          <a:xfrm xmlns:a="http://schemas.openxmlformats.org/drawingml/2006/main" rot="-5400000">
            <a:off x="8667750" y="3190875"/>
            <a:ext cx="95250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94DE94-C9AC-4957-9200-8FB7EE8A9885}"/>
              </a:ext>
            </a:extLst>
          </p:cNvPr>
          <p:cNvSpPr>
            <a:spLocks xmlns:a="http://schemas.openxmlformats.org/drawingml/2006/main" noGrp="1"/>
          </p:cNvSpPr>
          <p:nvPr/>
        </p:nvSpPr>
        <p:spPr>
          <a:xfrm xmlns:a="http://schemas.openxmlformats.org/drawingml/2006/main">
            <a:off x="685800" y="528637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План: J2 і J3. Ресурс 7, користь 22.</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52</a:t>
            </a:r>
          </a:p>
        </p:txBody>
      </p:sp>
    </p:spTree>
    <p:extLst>
      <p:ext uri="{BB962C8B-B14F-4D97-AF65-F5344CB8AC3E}">
        <p14:creationId xmlns:p14="http://schemas.microsoft.com/office/powerpoint/2010/main" val="2104955252"/>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EA4F1CA-CA9E-4BA0-AD0B-0639F5543FA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Левенштейн: звідки береться D(2,2)?</a:t>
            </a:r>
          </a:p>
        </p:txBody>
      </p:sp>
      <p:sp>
        <p:nvSpPr>
          <p:cNvPr id="2" name="">
            <a:extLst xmlns:a="http://schemas.openxmlformats.org/drawingml/2006/main">
              <a:ext uri="{FF2B5EF4-FFF2-40B4-BE49-F238E27FC236}">
                <a16:creationId xmlns:a16="http://schemas.microsoft.com/office/drawing/2014/main" id="{73F1574D-2D19-43D3-BA36-1C9723991AC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«ca» і «cu» обираємо заміну a на u. Кінцева відстань cat–cut дорівнює 1.</a:t>
            </a:r>
          </a:p>
        </p:txBody>
      </p:sp>
      <p:sp>
        <p:nvSpPr>
          <p:cNvPr id="3" name="">
            <a:extLst xmlns:a="http://schemas.openxmlformats.org/drawingml/2006/main">
              <a:ext uri="{FF2B5EF4-FFF2-40B4-BE49-F238E27FC236}">
                <a16:creationId xmlns:a16="http://schemas.microsoft.com/office/drawing/2014/main" id="{21D1639A-AA82-41F0-95BE-25574019A9B2}"/>
              </a:ext>
            </a:extLst>
          </p:cNvPr>
          <p:cNvSpPr>
            <a:spLocks xmlns:a="http://schemas.openxmlformats.org/drawingml/2006/main" noGrp="1"/>
          </p:cNvSpPr>
          <p:nvPr/>
        </p:nvSpPr>
        <p:spPr>
          <a:xfrm xmlns:a="http://schemas.openxmlformats.org/drawingml/2006/main">
            <a:off x="685800" y="1619250"/>
            <a:ext cx="3429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4" name="">
            <a:extLst xmlns:a="http://schemas.openxmlformats.org/drawingml/2006/main">
              <a:ext uri="{FF2B5EF4-FFF2-40B4-BE49-F238E27FC236}">
                <a16:creationId xmlns:a16="http://schemas.microsoft.com/office/drawing/2014/main" id="{3FEE1481-1BBC-431C-BFFC-287053AEE5FA}"/>
              </a:ext>
            </a:extLst>
          </p:cNvPr>
          <p:cNvSpPr>
            <a:spLocks xmlns:a="http://schemas.openxmlformats.org/drawingml/2006/main" noGrp="1"/>
          </p:cNvSpPr>
          <p:nvPr/>
        </p:nvSpPr>
        <p:spPr>
          <a:xfrm xmlns:a="http://schemas.openxmlformats.org/drawingml/2006/main">
            <a:off x="819150" y="1733550"/>
            <a:ext cx="3162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D(1,1)=0</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 і «c»</a:t>
            </a:r>
          </a:p>
        </p:txBody>
      </p:sp>
      <p:sp>
        <p:nvSpPr>
          <p:cNvPr id="5" name="">
            <a:extLst xmlns:a="http://schemas.openxmlformats.org/drawingml/2006/main">
              <a:ext uri="{FF2B5EF4-FFF2-40B4-BE49-F238E27FC236}">
                <a16:creationId xmlns:a16="http://schemas.microsoft.com/office/drawing/2014/main" id="{244A1CA5-865F-4294-9012-2040731286DA}"/>
              </a:ext>
            </a:extLst>
          </p:cNvPr>
          <p:cNvSpPr>
            <a:spLocks xmlns:a="http://schemas.openxmlformats.org/drawingml/2006/main" noGrp="1"/>
          </p:cNvSpPr>
          <p:nvPr/>
        </p:nvSpPr>
        <p:spPr>
          <a:xfrm xmlns:a="http://schemas.openxmlformats.org/drawingml/2006/main">
            <a:off x="7239000" y="1619250"/>
            <a:ext cx="3810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6" name="">
            <a:extLst xmlns:a="http://schemas.openxmlformats.org/drawingml/2006/main">
              <a:ext uri="{FF2B5EF4-FFF2-40B4-BE49-F238E27FC236}">
                <a16:creationId xmlns:a16="http://schemas.microsoft.com/office/drawing/2014/main" id="{961A604F-7DF5-4A82-93F9-36ACEA219427}"/>
              </a:ext>
            </a:extLst>
          </p:cNvPr>
          <p:cNvSpPr>
            <a:spLocks xmlns:a="http://schemas.openxmlformats.org/drawingml/2006/main" noGrp="1"/>
          </p:cNvSpPr>
          <p:nvPr/>
        </p:nvSpPr>
        <p:spPr>
          <a:xfrm xmlns:a="http://schemas.openxmlformats.org/drawingml/2006/main">
            <a:off x="7372350" y="1733550"/>
            <a:ext cx="3543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D(1,2)=1</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 і «cu»</a:t>
            </a:r>
          </a:p>
        </p:txBody>
      </p:sp>
      <p:sp>
        <p:nvSpPr>
          <p:cNvPr id="7" name="">
            <a:extLst xmlns:a="http://schemas.openxmlformats.org/drawingml/2006/main">
              <a:ext uri="{FF2B5EF4-FFF2-40B4-BE49-F238E27FC236}">
                <a16:creationId xmlns:a16="http://schemas.microsoft.com/office/drawing/2014/main" id="{6B701C06-2E68-43F6-B1F3-0A644EA0804A}"/>
              </a:ext>
            </a:extLst>
          </p:cNvPr>
          <p:cNvSpPr>
            <a:spLocks xmlns:a="http://schemas.openxmlformats.org/drawingml/2006/main" noGrp="1"/>
          </p:cNvSpPr>
          <p:nvPr/>
        </p:nvSpPr>
        <p:spPr>
          <a:xfrm xmlns:a="http://schemas.openxmlformats.org/drawingml/2006/main">
            <a:off x="685800" y="4000500"/>
            <a:ext cx="3429000" cy="95250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8" name="">
            <a:extLst xmlns:a="http://schemas.openxmlformats.org/drawingml/2006/main">
              <a:ext uri="{FF2B5EF4-FFF2-40B4-BE49-F238E27FC236}">
                <a16:creationId xmlns:a16="http://schemas.microsoft.com/office/drawing/2014/main" id="{9F53FC36-411D-4138-A647-0133137CB557}"/>
              </a:ext>
            </a:extLst>
          </p:cNvPr>
          <p:cNvSpPr>
            <a:spLocks xmlns:a="http://schemas.openxmlformats.org/drawingml/2006/main" noGrp="1"/>
          </p:cNvSpPr>
          <p:nvPr/>
        </p:nvSpPr>
        <p:spPr>
          <a:xfrm xmlns:a="http://schemas.openxmlformats.org/drawingml/2006/main">
            <a:off x="819150" y="4114800"/>
            <a:ext cx="3162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D(2,1)=1</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 і «c»</a:t>
            </a:r>
          </a:p>
        </p:txBody>
      </p:sp>
      <p:sp>
        <p:nvSpPr>
          <p:cNvPr id="9" name="">
            <a:extLst xmlns:a="http://schemas.openxmlformats.org/drawingml/2006/main">
              <a:ext uri="{FF2B5EF4-FFF2-40B4-BE49-F238E27FC236}">
                <a16:creationId xmlns:a16="http://schemas.microsoft.com/office/drawing/2014/main" id="{C074C64A-3E24-4742-B7A6-052171D1FFB1}"/>
              </a:ext>
            </a:extLst>
          </p:cNvPr>
          <p:cNvSpPr>
            <a:spLocks xmlns:a="http://schemas.openxmlformats.org/drawingml/2006/main" noGrp="1"/>
          </p:cNvSpPr>
          <p:nvPr/>
        </p:nvSpPr>
        <p:spPr>
          <a:xfrm xmlns:a="http://schemas.openxmlformats.org/drawingml/2006/main">
            <a:off x="7239000" y="4000500"/>
            <a:ext cx="3810000" cy="95250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0" name="">
            <a:extLst xmlns:a="http://schemas.openxmlformats.org/drawingml/2006/main">
              <a:ext uri="{FF2B5EF4-FFF2-40B4-BE49-F238E27FC236}">
                <a16:creationId xmlns:a16="http://schemas.microsoft.com/office/drawing/2014/main" id="{23B63501-7F44-4AFB-A6A1-48055E5A619A}"/>
              </a:ext>
            </a:extLst>
          </p:cNvPr>
          <p:cNvSpPr>
            <a:spLocks xmlns:a="http://schemas.openxmlformats.org/drawingml/2006/main" noGrp="1"/>
          </p:cNvSpPr>
          <p:nvPr/>
        </p:nvSpPr>
        <p:spPr>
          <a:xfrm xmlns:a="http://schemas.openxmlformats.org/drawingml/2006/main">
            <a:off x="7372350" y="4114800"/>
            <a:ext cx="3543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D(2,2)=1</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«ca» і «cu»</a:t>
            </a:r>
          </a:p>
        </p:txBody>
      </p:sp>
      <p:sp>
        <p:nvSpPr>
          <p:cNvPr id="11" name="">
            <a:extLst xmlns:a="http://schemas.openxmlformats.org/drawingml/2006/main">
              <a:ext uri="{FF2B5EF4-FFF2-40B4-BE49-F238E27FC236}">
                <a16:creationId xmlns:a16="http://schemas.microsoft.com/office/drawing/2014/main" id="{535C6B8B-BCA4-4DBA-B0E6-02CFBE025B0B}"/>
              </a:ext>
            </a:extLst>
          </p:cNvPr>
          <p:cNvSpPr>
            <a:spLocks xmlns:a="http://schemas.openxmlformats.org/drawingml/2006/main" noGrp="1"/>
          </p:cNvSpPr>
          <p:nvPr/>
        </p:nvSpPr>
        <p:spPr>
          <a:xfrm xmlns:a="http://schemas.openxmlformats.org/drawingml/2006/main" rot="1890256">
            <a:off x="3935762" y="3143250"/>
            <a:ext cx="3463225"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FA51D2-2DBA-4D29-9023-876EB8C66068}"/>
              </a:ext>
            </a:extLst>
          </p:cNvPr>
          <p:cNvSpPr>
            <a:spLocks xmlns:a="http://schemas.openxmlformats.org/drawingml/2006/main" noGrp="1"/>
          </p:cNvSpPr>
          <p:nvPr/>
        </p:nvSpPr>
        <p:spPr>
          <a:xfrm xmlns:a="http://schemas.openxmlformats.org/drawingml/2006/main">
            <a:off x="4286250" y="176212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заміна: +1</a:t>
            </a:r>
          </a:p>
        </p:txBody>
      </p:sp>
      <p:sp>
        <p:nvSpPr>
          <p:cNvPr id="13" name="">
            <a:extLst xmlns:a="http://schemas.openxmlformats.org/drawingml/2006/main">
              <a:ext uri="{FF2B5EF4-FFF2-40B4-BE49-F238E27FC236}">
                <a16:creationId xmlns:a16="http://schemas.microsoft.com/office/drawing/2014/main" id="{2A3469AA-89E0-4593-BF37-98365570A886}"/>
              </a:ext>
            </a:extLst>
          </p:cNvPr>
          <p:cNvSpPr>
            <a:spLocks xmlns:a="http://schemas.openxmlformats.org/drawingml/2006/main" noGrp="1"/>
          </p:cNvSpPr>
          <p:nvPr/>
        </p:nvSpPr>
        <p:spPr>
          <a:xfrm xmlns:a="http://schemas.openxmlformats.org/drawingml/2006/main" rot="5400000">
            <a:off x="8524875" y="3238500"/>
            <a:ext cx="12382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348A397-32B3-4726-AEC6-066BB1278A27}"/>
              </a:ext>
            </a:extLst>
          </p:cNvPr>
          <p:cNvSpPr>
            <a:spLocks xmlns:a="http://schemas.openxmlformats.org/drawingml/2006/main" noGrp="1"/>
          </p:cNvSpPr>
          <p:nvPr/>
        </p:nvSpPr>
        <p:spPr>
          <a:xfrm xmlns:a="http://schemas.openxmlformats.org/drawingml/2006/main">
            <a:off x="9429750" y="3048000"/>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56B80"/>
                </a:solidFill>
                <a:latin typeface="Arial"/>
                <a:ea typeface="Arial"/>
                <a:cs typeface="Arial"/>
              </a:defRPr>
            </a:defPPr>
          </a:lstStyle>
          <a:p xmlns:a="http://schemas.openxmlformats.org/drawingml/2006/main">
            <a:pPr>
              <a:defRPr sz="1950" b="0">
                <a:solidFill>
                  <a:srgbClr val="556B80"/>
                </a:solidFill>
                <a:latin typeface="Arial"/>
                <a:ea typeface="Arial"/>
                <a:cs typeface="Arial"/>
              </a:defRPr>
            </a:pPr>
            <a:r>
              <a:rPr sz="1950" b="0">
                <a:solidFill>
                  <a:srgbClr val="556B80"/>
                </a:solidFill>
                <a:latin typeface="Arial"/>
                <a:ea typeface="Arial"/>
                <a:cs typeface="Arial"/>
              </a:rPr>
              <a:t>видалення: +1</a:t>
            </a:r>
          </a:p>
        </p:txBody>
      </p:sp>
      <p:sp>
        <p:nvSpPr>
          <p:cNvPr id="15" name="">
            <a:extLst xmlns:a="http://schemas.openxmlformats.org/drawingml/2006/main">
              <a:ext uri="{FF2B5EF4-FFF2-40B4-BE49-F238E27FC236}">
                <a16:creationId xmlns:a16="http://schemas.microsoft.com/office/drawing/2014/main" id="{075212F2-A8C7-4B75-AAAE-CB025ED4DB26}"/>
              </a:ext>
            </a:extLst>
          </p:cNvPr>
          <p:cNvSpPr>
            <a:spLocks xmlns:a="http://schemas.openxmlformats.org/drawingml/2006/main" noGrp="1"/>
          </p:cNvSpPr>
          <p:nvPr/>
        </p:nvSpPr>
        <p:spPr>
          <a:xfrm xmlns:a="http://schemas.openxmlformats.org/drawingml/2006/main" rot="0">
            <a:off x="4191000" y="4429125"/>
            <a:ext cx="2952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48600ED-50E0-4025-9E5A-392D5B15C759}"/>
              </a:ext>
            </a:extLst>
          </p:cNvPr>
          <p:cNvSpPr>
            <a:spLocks xmlns:a="http://schemas.openxmlformats.org/drawingml/2006/main" noGrp="1"/>
          </p:cNvSpPr>
          <p:nvPr/>
        </p:nvSpPr>
        <p:spPr>
          <a:xfrm xmlns:a="http://schemas.openxmlformats.org/drawingml/2006/main">
            <a:off x="4429125" y="485775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56B80"/>
                </a:solidFill>
                <a:latin typeface="Arial"/>
                <a:ea typeface="Arial"/>
                <a:cs typeface="Arial"/>
              </a:defRPr>
            </a:defPPr>
          </a:lstStyle>
          <a:p xmlns:a="http://schemas.openxmlformats.org/drawingml/2006/main">
            <a:pPr>
              <a:defRPr sz="2025" b="0">
                <a:solidFill>
                  <a:srgbClr val="556B80"/>
                </a:solidFill>
                <a:latin typeface="Arial"/>
                <a:ea typeface="Arial"/>
                <a:cs typeface="Arial"/>
              </a:defRPr>
            </a:pPr>
            <a:r>
              <a:rPr sz="2025" b="0">
                <a:solidFill>
                  <a:srgbClr val="556B80"/>
                </a:solidFill>
                <a:latin typeface="Arial"/>
                <a:ea typeface="Arial"/>
                <a:cs typeface="Arial"/>
              </a:rPr>
              <a:t>вставлення: +1</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96</a:t>
            </a:r>
          </a:p>
        </p:txBody>
      </p:sp>
    </p:spTree>
    <p:extLst>
      <p:ext uri="{BB962C8B-B14F-4D97-AF65-F5344CB8AC3E}">
        <p14:creationId xmlns:p14="http://schemas.microsoft.com/office/powerpoint/2010/main" val="1012877978"/>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5568511-4728-4724-85A5-442B9C6A1F8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Вітербі: значення та відновлення шляху</a:t>
            </a:r>
          </a:p>
        </p:txBody>
      </p:sp>
      <p:sp>
        <p:nvSpPr>
          <p:cNvPr id="2" name="">
            <a:extLst xmlns:a="http://schemas.openxmlformats.org/drawingml/2006/main">
              <a:ext uri="{FF2B5EF4-FFF2-40B4-BE49-F238E27FC236}">
                <a16:creationId xmlns:a16="http://schemas.microsoft.com/office/drawing/2014/main" id="{D1187610-ADD1-41E0-9D5D-13B16B80C0C4}"/>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Зберігаємо попередника для кожного стану. Найкращий кінцевий стан: F.</a:t>
            </a:r>
          </a:p>
        </p:txBody>
      </p:sp>
      <p:sp>
        <p:nvSpPr>
          <p:cNvPr id="3" name="">
            <a:extLst xmlns:a="http://schemas.openxmlformats.org/drawingml/2006/main">
              <a:ext uri="{FF2B5EF4-FFF2-40B4-BE49-F238E27FC236}">
                <a16:creationId xmlns:a16="http://schemas.microsoft.com/office/drawing/2014/main" id="{CAB68FDF-6D43-40CC-AAB6-31C1ACD17AC0}"/>
              </a:ext>
            </a:extLst>
          </p:cNvPr>
          <p:cNvSpPr>
            <a:spLocks xmlns:a="http://schemas.openxmlformats.org/drawingml/2006/main" noGrp="1"/>
          </p:cNvSpPr>
          <p:nvPr/>
        </p:nvSpPr>
        <p:spPr>
          <a:xfrm xmlns:a="http://schemas.openxmlformats.org/drawingml/2006/main">
            <a:off x="809625" y="1524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t=1: low</a:t>
            </a:r>
          </a:p>
        </p:txBody>
      </p:sp>
      <p:sp>
        <p:nvSpPr>
          <p:cNvPr id="4" name="">
            <a:extLst xmlns:a="http://schemas.openxmlformats.org/drawingml/2006/main">
              <a:ext uri="{FF2B5EF4-FFF2-40B4-BE49-F238E27FC236}">
                <a16:creationId xmlns:a16="http://schemas.microsoft.com/office/drawing/2014/main" id="{B39FA72A-7142-4185-A1B5-2DDF61353A50}"/>
              </a:ext>
            </a:extLst>
          </p:cNvPr>
          <p:cNvSpPr>
            <a:spLocks xmlns:a="http://schemas.openxmlformats.org/drawingml/2006/main" noGrp="1"/>
          </p:cNvSpPr>
          <p:nvPr/>
        </p:nvSpPr>
        <p:spPr>
          <a:xfrm xmlns:a="http://schemas.openxmlformats.org/drawingml/2006/main">
            <a:off x="809625" y="2333625"/>
            <a:ext cx="21907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5" name="">
            <a:extLst xmlns:a="http://schemas.openxmlformats.org/drawingml/2006/main">
              <a:ext uri="{FF2B5EF4-FFF2-40B4-BE49-F238E27FC236}">
                <a16:creationId xmlns:a16="http://schemas.microsoft.com/office/drawing/2014/main" id="{B9DC45DE-8ACE-42AB-832E-6CF8D32F5E46}"/>
              </a:ext>
            </a:extLst>
          </p:cNvPr>
          <p:cNvSpPr>
            <a:spLocks xmlns:a="http://schemas.openxmlformats.org/drawingml/2006/main" noGrp="1"/>
          </p:cNvSpPr>
          <p:nvPr/>
        </p:nvSpPr>
        <p:spPr>
          <a:xfrm xmlns:a="http://schemas.openxmlformats.org/drawingml/2006/main">
            <a:off x="942975" y="244792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N</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0.81</a:t>
            </a:r>
          </a:p>
        </p:txBody>
      </p:sp>
      <p:sp>
        <p:nvSpPr>
          <p:cNvPr id="6" name="">
            <a:extLst xmlns:a="http://schemas.openxmlformats.org/drawingml/2006/main">
              <a:ext uri="{FF2B5EF4-FFF2-40B4-BE49-F238E27FC236}">
                <a16:creationId xmlns:a16="http://schemas.microsoft.com/office/drawing/2014/main" id="{911B5B02-0D22-479B-B89E-CED6E7BA613D}"/>
              </a:ext>
            </a:extLst>
          </p:cNvPr>
          <p:cNvSpPr>
            <a:spLocks xmlns:a="http://schemas.openxmlformats.org/drawingml/2006/main" noGrp="1"/>
          </p:cNvSpPr>
          <p:nvPr/>
        </p:nvSpPr>
        <p:spPr>
          <a:xfrm xmlns:a="http://schemas.openxmlformats.org/drawingml/2006/main">
            <a:off x="809625" y="4333875"/>
            <a:ext cx="2190750" cy="1047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7" name="">
            <a:extLst xmlns:a="http://schemas.openxmlformats.org/drawingml/2006/main">
              <a:ext uri="{FF2B5EF4-FFF2-40B4-BE49-F238E27FC236}">
                <a16:creationId xmlns:a16="http://schemas.microsoft.com/office/drawing/2014/main" id="{4060B31B-37E7-41BC-B971-1CCD38C93B31}"/>
              </a:ext>
            </a:extLst>
          </p:cNvPr>
          <p:cNvSpPr>
            <a:spLocks xmlns:a="http://schemas.openxmlformats.org/drawingml/2006/main" noGrp="1"/>
          </p:cNvSpPr>
          <p:nvPr/>
        </p:nvSpPr>
        <p:spPr>
          <a:xfrm xmlns:a="http://schemas.openxmlformats.org/drawingml/2006/main">
            <a:off x="942975" y="444817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F</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0.02</a:t>
            </a:r>
          </a:p>
        </p:txBody>
      </p:sp>
      <p:sp>
        <p:nvSpPr>
          <p:cNvPr id="8" name="">
            <a:extLst xmlns:a="http://schemas.openxmlformats.org/drawingml/2006/main">
              <a:ext uri="{FF2B5EF4-FFF2-40B4-BE49-F238E27FC236}">
                <a16:creationId xmlns:a16="http://schemas.microsoft.com/office/drawing/2014/main" id="{5F742052-A86F-4436-A0A7-878321A197B7}"/>
              </a:ext>
            </a:extLst>
          </p:cNvPr>
          <p:cNvSpPr>
            <a:spLocks xmlns:a="http://schemas.openxmlformats.org/drawingml/2006/main" noGrp="1"/>
          </p:cNvSpPr>
          <p:nvPr/>
        </p:nvSpPr>
        <p:spPr>
          <a:xfrm xmlns:a="http://schemas.openxmlformats.org/drawingml/2006/main">
            <a:off x="5000625" y="1524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t=2: high</a:t>
            </a:r>
          </a:p>
        </p:txBody>
      </p:sp>
      <p:sp>
        <p:nvSpPr>
          <p:cNvPr id="9" name="">
            <a:extLst xmlns:a="http://schemas.openxmlformats.org/drawingml/2006/main">
              <a:ext uri="{FF2B5EF4-FFF2-40B4-BE49-F238E27FC236}">
                <a16:creationId xmlns:a16="http://schemas.microsoft.com/office/drawing/2014/main" id="{3D0E9A52-34BE-4B31-BF04-78F3D3FC8318}"/>
              </a:ext>
            </a:extLst>
          </p:cNvPr>
          <p:cNvSpPr>
            <a:spLocks xmlns:a="http://schemas.openxmlformats.org/drawingml/2006/main" noGrp="1"/>
          </p:cNvSpPr>
          <p:nvPr/>
        </p:nvSpPr>
        <p:spPr>
          <a:xfrm xmlns:a="http://schemas.openxmlformats.org/drawingml/2006/main">
            <a:off x="5000625" y="2333625"/>
            <a:ext cx="2190750" cy="1047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0" name="">
            <a:extLst xmlns:a="http://schemas.openxmlformats.org/drawingml/2006/main">
              <a:ext uri="{FF2B5EF4-FFF2-40B4-BE49-F238E27FC236}">
                <a16:creationId xmlns:a16="http://schemas.microsoft.com/office/drawing/2014/main" id="{BEF0878F-DB84-43F1-B50A-4F173B914CDC}"/>
              </a:ext>
            </a:extLst>
          </p:cNvPr>
          <p:cNvSpPr>
            <a:spLocks xmlns:a="http://schemas.openxmlformats.org/drawingml/2006/main" noGrp="1"/>
          </p:cNvSpPr>
          <p:nvPr/>
        </p:nvSpPr>
        <p:spPr>
          <a:xfrm xmlns:a="http://schemas.openxmlformats.org/drawingml/2006/main">
            <a:off x="5133975" y="244792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N</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0.0648</a:t>
            </a:r>
          </a:p>
        </p:txBody>
      </p:sp>
      <p:sp>
        <p:nvSpPr>
          <p:cNvPr id="11" name="">
            <a:extLst xmlns:a="http://schemas.openxmlformats.org/drawingml/2006/main">
              <a:ext uri="{FF2B5EF4-FFF2-40B4-BE49-F238E27FC236}">
                <a16:creationId xmlns:a16="http://schemas.microsoft.com/office/drawing/2014/main" id="{B991952B-9D62-4389-835F-C5DF60EC3E98}"/>
              </a:ext>
            </a:extLst>
          </p:cNvPr>
          <p:cNvSpPr>
            <a:spLocks xmlns:a="http://schemas.openxmlformats.org/drawingml/2006/main" noGrp="1"/>
          </p:cNvSpPr>
          <p:nvPr/>
        </p:nvSpPr>
        <p:spPr>
          <a:xfrm xmlns:a="http://schemas.openxmlformats.org/drawingml/2006/main">
            <a:off x="5000625" y="4333875"/>
            <a:ext cx="21907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2" name="">
            <a:extLst xmlns:a="http://schemas.openxmlformats.org/drawingml/2006/main">
              <a:ext uri="{FF2B5EF4-FFF2-40B4-BE49-F238E27FC236}">
                <a16:creationId xmlns:a16="http://schemas.microsoft.com/office/drawing/2014/main" id="{5B301616-3D76-4F6A-A8CD-F72F66AFDDDC}"/>
              </a:ext>
            </a:extLst>
          </p:cNvPr>
          <p:cNvSpPr>
            <a:spLocks xmlns:a="http://schemas.openxmlformats.org/drawingml/2006/main" noGrp="1"/>
          </p:cNvSpPr>
          <p:nvPr/>
        </p:nvSpPr>
        <p:spPr>
          <a:xfrm xmlns:a="http://schemas.openxmlformats.org/drawingml/2006/main">
            <a:off x="5133975" y="444817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F</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0.1296</a:t>
            </a:r>
          </a:p>
        </p:txBody>
      </p:sp>
      <p:sp>
        <p:nvSpPr>
          <p:cNvPr id="13" name="">
            <a:extLst xmlns:a="http://schemas.openxmlformats.org/drawingml/2006/main">
              <a:ext uri="{FF2B5EF4-FFF2-40B4-BE49-F238E27FC236}">
                <a16:creationId xmlns:a16="http://schemas.microsoft.com/office/drawing/2014/main" id="{3AA79130-7DA9-4EEB-AFB5-E25E6C5F1C97}"/>
              </a:ext>
            </a:extLst>
          </p:cNvPr>
          <p:cNvSpPr>
            <a:spLocks xmlns:a="http://schemas.openxmlformats.org/drawingml/2006/main" noGrp="1"/>
          </p:cNvSpPr>
          <p:nvPr/>
        </p:nvSpPr>
        <p:spPr>
          <a:xfrm xmlns:a="http://schemas.openxmlformats.org/drawingml/2006/main">
            <a:off x="9191625" y="1524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t=3: high</a:t>
            </a:r>
          </a:p>
        </p:txBody>
      </p:sp>
      <p:sp>
        <p:nvSpPr>
          <p:cNvPr id="14" name="">
            <a:extLst xmlns:a="http://schemas.openxmlformats.org/drawingml/2006/main">
              <a:ext uri="{FF2B5EF4-FFF2-40B4-BE49-F238E27FC236}">
                <a16:creationId xmlns:a16="http://schemas.microsoft.com/office/drawing/2014/main" id="{6BE1D6DE-85CA-47D3-9404-5AF2BA2746F8}"/>
              </a:ext>
            </a:extLst>
          </p:cNvPr>
          <p:cNvSpPr>
            <a:spLocks xmlns:a="http://schemas.openxmlformats.org/drawingml/2006/main" noGrp="1"/>
          </p:cNvSpPr>
          <p:nvPr/>
        </p:nvSpPr>
        <p:spPr>
          <a:xfrm xmlns:a="http://schemas.openxmlformats.org/drawingml/2006/main">
            <a:off x="9191625" y="2333625"/>
            <a:ext cx="2190750" cy="1047750"/>
          </a:xfrm>
          <a:prstGeom xmlns:a="http://schemas.openxmlformats.org/drawingml/2006/main" prst="rect">
            <a:avLst/>
          </a:prstGeom>
          <a:solidFill xmlns:a="http://schemas.openxmlformats.org/drawingml/2006/main">
            <a:srgbClr val="EDF4F8"/>
          </a:solidFill>
          <a:ln xmlns:a="http://schemas.openxmlformats.org/drawingml/2006/main" w="9525">
            <a:solidFill>
              <a:srgbClr val="A8B7C0"/>
            </a:solidFill>
          </a:ln>
        </p:spPr>
      </p:sp>
      <p:sp>
        <p:nvSpPr>
          <p:cNvPr id="15" name="">
            <a:extLst xmlns:a="http://schemas.openxmlformats.org/drawingml/2006/main">
              <a:ext uri="{FF2B5EF4-FFF2-40B4-BE49-F238E27FC236}">
                <a16:creationId xmlns:a16="http://schemas.microsoft.com/office/drawing/2014/main" id="{75D3D49D-C13A-4CB6-AC53-EFC88ABAE299}"/>
              </a:ext>
            </a:extLst>
          </p:cNvPr>
          <p:cNvSpPr>
            <a:spLocks xmlns:a="http://schemas.openxmlformats.org/drawingml/2006/main" noGrp="1"/>
          </p:cNvSpPr>
          <p:nvPr/>
        </p:nvSpPr>
        <p:spPr>
          <a:xfrm xmlns:a="http://schemas.openxmlformats.org/drawingml/2006/main">
            <a:off x="9324975" y="244792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N</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0.005184</a:t>
            </a:r>
          </a:p>
        </p:txBody>
      </p:sp>
      <p:sp>
        <p:nvSpPr>
          <p:cNvPr id="16" name="">
            <a:extLst xmlns:a="http://schemas.openxmlformats.org/drawingml/2006/main">
              <a:ext uri="{FF2B5EF4-FFF2-40B4-BE49-F238E27FC236}">
                <a16:creationId xmlns:a16="http://schemas.microsoft.com/office/drawing/2014/main" id="{77BF1EE3-6F91-46BE-9532-E728F867C418}"/>
              </a:ext>
            </a:extLst>
          </p:cNvPr>
          <p:cNvSpPr>
            <a:spLocks xmlns:a="http://schemas.openxmlformats.org/drawingml/2006/main" noGrp="1"/>
          </p:cNvSpPr>
          <p:nvPr/>
        </p:nvSpPr>
        <p:spPr>
          <a:xfrm xmlns:a="http://schemas.openxmlformats.org/drawingml/2006/main">
            <a:off x="9191625" y="4333875"/>
            <a:ext cx="2190750" cy="1047750"/>
          </a:xfrm>
          <a:prstGeom xmlns:a="http://schemas.openxmlformats.org/drawingml/2006/main" prst="rect">
            <a:avLst/>
          </a:prstGeom>
          <a:solidFill xmlns:a="http://schemas.openxmlformats.org/drawingml/2006/main">
            <a:srgbClr val="DEF3EC"/>
          </a:solidFill>
          <a:ln xmlns:a="http://schemas.openxmlformats.org/drawingml/2006/main" w="9525">
            <a:solidFill>
              <a:srgbClr val="A8B7C0"/>
            </a:solidFill>
          </a:ln>
        </p:spPr>
      </p:sp>
      <p:sp>
        <p:nvSpPr>
          <p:cNvPr id="17" name="">
            <a:extLst xmlns:a="http://schemas.openxmlformats.org/drawingml/2006/main">
              <a:ext uri="{FF2B5EF4-FFF2-40B4-BE49-F238E27FC236}">
                <a16:creationId xmlns:a16="http://schemas.microsoft.com/office/drawing/2014/main" id="{219A5CF1-0B01-41BD-ADDF-5E4F88B85970}"/>
              </a:ext>
            </a:extLst>
          </p:cNvPr>
          <p:cNvSpPr>
            <a:spLocks xmlns:a="http://schemas.openxmlformats.org/drawingml/2006/main" noGrp="1"/>
          </p:cNvSpPr>
          <p:nvPr/>
        </p:nvSpPr>
        <p:spPr>
          <a:xfrm xmlns:a="http://schemas.openxmlformats.org/drawingml/2006/main">
            <a:off x="9324975" y="4448175"/>
            <a:ext cx="1924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93247"/>
                </a:solidFill>
                <a:latin typeface="Arial"/>
                <a:ea typeface="Arial"/>
                <a:cs typeface="Arial"/>
              </a:defRPr>
            </a:defPPr>
          </a:lstStyle>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F</a:t>
            </a:r>
          </a:p>
          <a:p xmlns:a="http://schemas.openxmlformats.org/drawingml/2006/main">
            <a:pPr>
              <a:defRPr sz="2175" b="1">
                <a:solidFill>
                  <a:srgbClr val="193247"/>
                </a:solidFill>
                <a:latin typeface="Arial"/>
                <a:ea typeface="Arial"/>
                <a:cs typeface="Arial"/>
              </a:defRPr>
            </a:pPr>
            <a:r>
              <a:rPr sz="2175" b="1">
                <a:solidFill>
                  <a:srgbClr val="193247"/>
                </a:solidFill>
                <a:latin typeface="Arial"/>
                <a:ea typeface="Arial"/>
                <a:cs typeface="Arial"/>
              </a:rPr>
              <a:t>0.072576</a:t>
            </a:r>
          </a:p>
        </p:txBody>
      </p:sp>
      <p:sp>
        <p:nvSpPr>
          <p:cNvPr id="18" name="">
            <a:extLst xmlns:a="http://schemas.openxmlformats.org/drawingml/2006/main">
              <a:ext uri="{FF2B5EF4-FFF2-40B4-BE49-F238E27FC236}">
                <a16:creationId xmlns:a16="http://schemas.microsoft.com/office/drawing/2014/main" id="{DD274DBD-0A97-40BF-BEF5-0AE7A4AFD7A7}"/>
              </a:ext>
            </a:extLst>
          </p:cNvPr>
          <p:cNvSpPr>
            <a:spLocks xmlns:a="http://schemas.openxmlformats.org/drawingml/2006/main" noGrp="1"/>
          </p:cNvSpPr>
          <p:nvPr/>
        </p:nvSpPr>
        <p:spPr>
          <a:xfrm xmlns:a="http://schemas.openxmlformats.org/drawingml/2006/main" rot="0">
            <a:off x="3095625" y="2809875"/>
            <a:ext cx="1809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13B1ED4-38F7-46A7-845A-12247344303F}"/>
              </a:ext>
            </a:extLst>
          </p:cNvPr>
          <p:cNvSpPr>
            <a:spLocks xmlns:a="http://schemas.openxmlformats.org/drawingml/2006/main" noGrp="1"/>
          </p:cNvSpPr>
          <p:nvPr/>
        </p:nvSpPr>
        <p:spPr>
          <a:xfrm xmlns:a="http://schemas.openxmlformats.org/drawingml/2006/main" rot="2871744">
            <a:off x="2651779" y="3810000"/>
            <a:ext cx="2697442"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AE8BD5-756F-4235-82DD-53D1BBD339EC}"/>
              </a:ext>
            </a:extLst>
          </p:cNvPr>
          <p:cNvSpPr>
            <a:spLocks xmlns:a="http://schemas.openxmlformats.org/drawingml/2006/main" noGrp="1"/>
          </p:cNvSpPr>
          <p:nvPr/>
        </p:nvSpPr>
        <p:spPr>
          <a:xfrm xmlns:a="http://schemas.openxmlformats.org/drawingml/2006/main" rot="0">
            <a:off x="7286625" y="2809875"/>
            <a:ext cx="1809750" cy="95250"/>
          </a:xfrm>
          <a:prstGeom xmlns:a="http://schemas.openxmlformats.org/drawingml/2006/main" prst="rightArrow">
            <a:avLst/>
          </a:prstGeom>
          <a:solidFill xmlns:a="http://schemas.openxmlformats.org/drawingml/2006/main">
            <a:srgbClr val="556B8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A3B306A-6138-446B-AFC2-3B548F0016F8}"/>
              </a:ext>
            </a:extLst>
          </p:cNvPr>
          <p:cNvSpPr>
            <a:spLocks xmlns:a="http://schemas.openxmlformats.org/drawingml/2006/main" noGrp="1"/>
          </p:cNvSpPr>
          <p:nvPr/>
        </p:nvSpPr>
        <p:spPr>
          <a:xfrm xmlns:a="http://schemas.openxmlformats.org/drawingml/2006/main" rot="0">
            <a:off x="7286625" y="4810125"/>
            <a:ext cx="1809750" cy="95250"/>
          </a:xfrm>
          <a:prstGeom xmlns:a="http://schemas.openxmlformats.org/drawingml/2006/main" prst="rightArrow">
            <a:avLst/>
          </a:prstGeom>
          <a:solidFill xmlns:a="http://schemas.openxmlformats.org/drawingml/2006/main">
            <a:srgbClr val="008B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A19D7A9-D9DE-4C36-87DB-7A1E26CF00EA}"/>
              </a:ext>
            </a:extLst>
          </p:cNvPr>
          <p:cNvSpPr>
            <a:spLocks xmlns:a="http://schemas.openxmlformats.org/drawingml/2006/main" noGrp="1"/>
          </p:cNvSpPr>
          <p:nvPr/>
        </p:nvSpPr>
        <p:spPr>
          <a:xfrm xmlns:a="http://schemas.openxmlformats.org/drawingml/2006/main">
            <a:off x="685800" y="55721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Обраний шлях: N, F, F. Спільна ймовірність: 0.072576.</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100</a:t>
            </a:r>
          </a:p>
        </p:txBody>
      </p:sp>
    </p:spTree>
    <p:extLst>
      <p:ext uri="{BB962C8B-B14F-4D97-AF65-F5344CB8AC3E}">
        <p14:creationId xmlns:p14="http://schemas.microsoft.com/office/powerpoint/2010/main" val="754681819"/>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01F124-D412-4F32-98A0-D0926D041325}"/>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Маршрутні приклади: різні запитання</a:t>
            </a:r>
          </a:p>
        </p:txBody>
      </p:sp>
      <p:sp>
        <p:nvSpPr>
          <p:cNvPr id="2" name="">
            <a:extLst xmlns:a="http://schemas.openxmlformats.org/drawingml/2006/main">
              <a:ext uri="{FF2B5EF4-FFF2-40B4-BE49-F238E27FC236}">
                <a16:creationId xmlns:a16="http://schemas.microsoft.com/office/drawing/2014/main" id="{88D4C9FF-4109-49F8-B0C2-598697B8383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Різні означення стану ведуть до різних порядків розрахунку.</a:t>
            </a:r>
          </a:p>
        </p:txBody>
      </p:sp>
      <p:graphicFrame>
        <p:nvGraphicFramePr>
          <p:cNvPr id="3" name="">
            <a:extLst xmlns:a="http://schemas.openxmlformats.org/drawingml/2006/main">
              <a:ext uri="{FF2B5EF4-FFF2-40B4-BE49-F238E27FC236}">
                <a16:creationId xmlns:a16="http://schemas.microsoft.com/office/drawing/2014/main" id="{0D5ED9D3-0C8D-4CA6-A850-77A5141C08F2}"/>
              </a:ext>
            </a:extLst>
          </p:cNvPr>
          <p:cNvGraphicFramePr/>
          <p:nvPr/>
        </p:nvGraphicFramePr>
        <p:xfrm>
          <a:off xmlns:a="http://schemas.openxmlformats.org/drawingml/2006/main" x="685800" y="1762125"/>
          <a:ext xmlns:a="http://schemas.openxmlformats.org/drawingml/2006/main" cx="10820400" cy="3333750"/>
        </p:xfrm>
        <a:graphic xmlns:a="http://schemas.openxmlformats.org/drawingml/2006/main">
          <a:graphicData uri="http://schemas.openxmlformats.org/drawingml/2006/table">
            <a:tbl>
              <a:tblPr/>
              <a:tblGrid>
                <a:gridCol w="2857500"/>
                <a:gridCol w="4762500"/>
                <a:gridCol w="3200400"/>
              </a:tblGrid>
              <a:tr h="666750">
                <a:tc>
                  <a:txBody>
                    <a:bodyPr/>
                    <a:lstStyle/>
                    <a:p>
                      <a:r>
                        <a:rPr sz="1875" b="1">
                          <a:solidFill>
                            <a:srgbClr val="FFFFFF"/>
                          </a:solidFill>
                          <a:latin typeface="Arial"/>
                          <a:ea typeface="Arial"/>
                          <a:cs typeface="Arial"/>
                        </a:rPr>
                        <a:t>Приклад</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Яку відповідь шукаємо</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Особливість</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66750">
                <a:tc>
                  <a:txBody>
                    <a:bodyPr/>
                    <a:lstStyle/>
                    <a:p>
                      <a:r>
                        <a:rPr sz="1875" b="0">
                          <a:solidFill>
                            <a:srgbClr val="193247"/>
                          </a:solidFill>
                          <a:latin typeface="Arial"/>
                          <a:ea typeface="Arial"/>
                          <a:cs typeface="Arial"/>
                        </a:rPr>
                        <a:t>Маршрут до T</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 вузла</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Розрахунок від T</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1875" b="0">
                          <a:solidFill>
                            <a:srgbClr val="193247"/>
                          </a:solidFill>
                          <a:latin typeface="Arial"/>
                          <a:ea typeface="Arial"/>
                          <a:cs typeface="Arial"/>
                        </a:rPr>
                        <a:t>Граф Dasgupta</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Відстань від S до кожного вузла</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Топологічний порядок</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1875" b="0">
                          <a:solidFill>
                            <a:srgbClr val="193247"/>
                          </a:solidFill>
                          <a:latin typeface="Arial"/>
                          <a:ea typeface="Arial"/>
                          <a:cs typeface="Arial"/>
                        </a:rPr>
                        <a:t>Беллман–Форд</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Шлях із не більше ніж k ребрами</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Шари працюють і для циклів</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1875" b="0">
                          <a:solidFill>
                            <a:srgbClr val="193247"/>
                          </a:solidFill>
                          <a:latin typeface="Arial"/>
                          <a:ea typeface="Arial"/>
                          <a:cs typeface="Arial"/>
                        </a:rPr>
                        <a:t>RIP</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Метрика та next hop до мережі N</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Сусіди обмінюються оцінками</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137A318-54E5-406A-AA5A-100C4F289F71}"/>
              </a:ext>
            </a:extLst>
          </p:cNvPr>
          <p:cNvSpPr>
            <a:spLocks xmlns:a="http://schemas.openxmlformats.org/drawingml/2006/main" noGrp="1"/>
          </p:cNvSpPr>
          <p:nvPr/>
        </p:nvSpPr>
        <p:spPr>
          <a:xfrm xmlns:a="http://schemas.openxmlformats.org/drawingml/2006/main">
            <a:off x="685800" y="53816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Це різні графи й постановки. Однаковим залишається використання готових підзадач.</a:t>
            </a:r>
          </a:p>
        </p:txBody>
      </p:sp>
      <p:sp xmlns:a="http://schemas.openxmlformats.org/drawingml/2006/main">
        <p:nvSpPr>
          <p:cNvPr id="99001" name="Номер слайда"/>
          <p:cNvSpPr/>
          <p:nvPr/>
        </p:nvSpPr>
        <p:spPr>
          <a:xfrm>
            <a:off x="11200000" y="6320000"/>
            <a:ext cx="800000" cy="330000"/>
          </a:xfrm>
          <a:prstGeom prst="rect">
            <a:avLst/>
          </a:prstGeom>
          <a:noFill/>
          <a:ln>
            <a:noFill/>
          </a:ln>
        </p:spPr>
        <p:txBody>
          <a:bodyPr/>
          <a:lstStyle/>
          <a:p>
            <a:r>
              <a:rPr lang="uk-UA" sz="1500">
                <a:solidFill>
                  <a:srgbClr val="556B80"/>
                </a:solidFill>
                <a:latin typeface="Arial"/>
              </a:rPr>
              <a:t>56</a:t>
            </a:r>
          </a:p>
        </p:txBody>
      </p:sp>
    </p:spTree>
    <p:extLst>
      <p:ext uri="{BB962C8B-B14F-4D97-AF65-F5344CB8AC3E}">
        <p14:creationId xmlns:p14="http://schemas.microsoft.com/office/powerpoint/2010/main" val="605833567"/>
      </p:ext>
    </p:extLst>
  </p:cSld>
</p:sld>
</file>

<file path=ppt/slides/v6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46EAEE-2B0B-4D92-A24C-6A84D66B616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Навіщо розглядати різні залишки ресурсу?</a:t>
            </a:r>
          </a:p>
        </p:txBody>
      </p:sp>
      <p:sp>
        <p:nvSpPr>
          <p:cNvPr id="2" name="">
            <a:extLst xmlns:a="http://schemas.openxmlformats.org/drawingml/2006/main">
              <a:ext uri="{FF2B5EF4-FFF2-40B4-BE49-F238E27FC236}">
                <a16:creationId xmlns:a16="http://schemas.microsoft.com/office/drawing/2014/main" id="{E3B5C0A5-9B91-4946-B550-AC64D2A9870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Умовна рекомендація відповідає на запитання: що робити, якщо ми опинимося в цьому стані?</a:t>
            </a:r>
          </a:p>
        </p:txBody>
      </p:sp>
      <p:sp>
        <p:nvSpPr>
          <p:cNvPr id="3" name="">
            <a:extLst xmlns:a="http://schemas.openxmlformats.org/drawingml/2006/main">
              <a:ext uri="{FF2B5EF4-FFF2-40B4-BE49-F238E27FC236}">
                <a16:creationId xmlns:a16="http://schemas.microsoft.com/office/drawing/2014/main" id="{FA3E9FED-3E30-4050-B148-D6E286E530A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Перед вибором A ще невідомо, скільки GPU залишиться для B і C.</a:t>
            </a:r>
          </a:p>
        </p:txBody>
      </p:sp>
      <p:graphicFrame>
        <p:nvGraphicFramePr>
          <p:cNvPr id="4" name="">
            <a:extLst xmlns:a="http://schemas.openxmlformats.org/drawingml/2006/main">
              <a:ext uri="{FF2B5EF4-FFF2-40B4-BE49-F238E27FC236}">
                <a16:creationId xmlns:a16="http://schemas.microsoft.com/office/drawing/2014/main" id="{C381DC76-2D4B-447C-B740-1A25ED49DB35}"/>
              </a:ext>
            </a:extLst>
          </p:cNvPr>
          <p:cNvGraphicFramePr/>
          <p:nvPr/>
        </p:nvGraphicFramePr>
        <p:xfrm>
          <a:off xmlns:a="http://schemas.openxmlformats.org/drawingml/2006/main" x="685800" y="2667000"/>
          <a:ext xmlns:a="http://schemas.openxmlformats.org/drawingml/2006/main" cx="10820400" cy="2571750"/>
        </p:xfrm>
        <a:graphic xmlns:a="http://schemas.openxmlformats.org/drawingml/2006/main">
          <a:graphicData uri="http://schemas.openxmlformats.org/drawingml/2006/table">
            <a:tbl>
              <a:tblPr/>
              <a:tblGrid>
                <a:gridCol w="2857500"/>
                <a:gridCol w="3143250"/>
                <a:gridCol w="4819650"/>
              </a:tblGrid>
              <a:tr h="642938">
                <a:tc>
                  <a:txBody>
                    <a:bodyPr/>
                    <a:lstStyle/>
                    <a:p>
                      <a:r>
                        <a:rPr sz="1875" b="1">
                          <a:solidFill>
                            <a:srgbClr val="FFFFFF"/>
                          </a:solidFill>
                          <a:latin typeface="Arial"/>
                          <a:ea typeface="Arial"/>
                          <a:cs typeface="Arial"/>
                        </a:rPr>
                        <a:t>Якщо A отримає</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Для B і C залишиться</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Що треба підготувати</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42938">
                <a:tc>
                  <a:txBody>
                    <a:bodyPr/>
                    <a:lstStyle/>
                    <a:p>
                      <a:r>
                        <a:rPr sz="1875" b="0">
                          <a:solidFill>
                            <a:srgbClr val="193247"/>
                          </a:solidFill>
                          <a:latin typeface="Arial"/>
                          <a:ea typeface="Arial"/>
                          <a:cs typeface="Arial"/>
                        </a:rPr>
                        <a:t>0 GPU</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 GPU</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за 6 GPU</a:t>
                      </a:r>
                    </a:p>
                  </a:txBody>
                  <a:tcPr marL="91440" marR="91440" marT="45720" marB="45720">
                    <a:lnR w="9525">
                      <a:solidFill>
                        <a:srgbClr val="A8B7C0"/>
                      </a:solidFill>
                      <a:prstDash val="solid"/>
                    </a:lnR>
                    <a:lnB w="9525">
                      <a:solidFill>
                        <a:srgbClr val="A8B7C0"/>
                      </a:solidFill>
                      <a:prstDash val="solid"/>
                    </a:lnB>
                    <a:solidFill>
                      <a:srgbClr val="FFFFFF"/>
                    </a:solidFill>
                  </a:tcPr>
                </a:tc>
              </a:tr>
              <a:tr h="642938">
                <a:tc>
                  <a:txBody>
                    <a:bodyPr/>
                    <a:lstStyle/>
                    <a:p>
                      <a:r>
                        <a:rPr sz="1875" b="0">
                          <a:solidFill>
                            <a:srgbClr val="193247"/>
                          </a:solidFill>
                          <a:latin typeface="Arial"/>
                          <a:ea typeface="Arial"/>
                          <a:cs typeface="Arial"/>
                        </a:rPr>
                        <a:t>2 GPU</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4 GPU</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за 4 GPU</a:t>
                      </a:r>
                    </a:p>
                  </a:txBody>
                  <a:tcPr marL="91440" marR="91440" marT="45720" marB="45720">
                    <a:lnR w="9525">
                      <a:solidFill>
                        <a:srgbClr val="A8B7C0"/>
                      </a:solidFill>
                      <a:prstDash val="solid"/>
                    </a:lnR>
                    <a:lnB w="9525">
                      <a:solidFill>
                        <a:srgbClr val="A8B7C0"/>
                      </a:solidFill>
                      <a:prstDash val="solid"/>
                    </a:lnB>
                    <a:solidFill>
                      <a:srgbClr val="FFFFFF"/>
                    </a:solidFill>
                  </a:tcPr>
                </a:tc>
              </a:tr>
              <a:tr h="642938">
                <a:tc>
                  <a:txBody>
                    <a:bodyPr/>
                    <a:lstStyle/>
                    <a:p>
                      <a:r>
                        <a:rPr sz="1875" b="0">
                          <a:solidFill>
                            <a:srgbClr val="193247"/>
                          </a:solidFill>
                          <a:latin typeface="Arial"/>
                          <a:ea typeface="Arial"/>
                          <a:cs typeface="Arial"/>
                        </a:rPr>
                        <a:t>5 GPU</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 GPU</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Найкраще продовження за 1 GPU</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76F0B82-090E-4EB8-A71B-D18AD73D1F48}"/>
              </a:ext>
            </a:extLst>
          </p:cNvPr>
          <p:cNvSpPr>
            <a:spLocks xmlns:a="http://schemas.openxmlformats.org/drawingml/2006/main" noGrp="1"/>
          </p:cNvSpPr>
          <p:nvPr/>
        </p:nvSpPr>
        <p:spPr>
          <a:xfrm xmlns:a="http://schemas.openxmlformats.org/drawingml/2006/main">
            <a:off x="685800" y="53340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3247"/>
                </a:solidFill>
                <a:latin typeface="Arial"/>
                <a:ea typeface="Arial"/>
                <a:cs typeface="Arial"/>
              </a:defRPr>
            </a:defPPr>
          </a:lstStyle>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Спочатку готуємо рекомендації для можливих станів. Потім обираємо початкову дію та використовуємо потрібні рекомендації.</a:t>
            </a:r>
          </a:p>
        </p:txBody>
      </p:sp>
    </p:spTree>
    <p:extLst>
      <p:ext uri="{BB962C8B-B14F-4D97-AF65-F5344CB8AC3E}">
        <p14:creationId xmlns:p14="http://schemas.microsoft.com/office/powerpoint/2010/main" val="1932565659"/>
      </p:ext>
    </p:extLst>
  </p:cSld>
</p:sld>
</file>

<file path=ppt/slides/v6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4D755A-919C-48ED-B7A9-88C6DCD0B1C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Два проходи розв’язання задачі</a:t>
            </a:r>
          </a:p>
        </p:txBody>
      </p:sp>
      <p:sp>
        <p:nvSpPr>
          <p:cNvPr id="2" name="">
            <a:extLst xmlns:a="http://schemas.openxmlformats.org/drawingml/2006/main">
              <a:ext uri="{FF2B5EF4-FFF2-40B4-BE49-F238E27FC236}">
                <a16:creationId xmlns:a16="http://schemas.microsoft.com/office/drawing/2014/main" id="{8204F21D-FBAA-49E1-9DE6-6C760E9EFEF1}"/>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Назва «умовна» означає залежність рішення від стану перед поточним кроком.</a:t>
            </a:r>
          </a:p>
        </p:txBody>
      </p:sp>
      <p:sp>
        <p:nvSpPr>
          <p:cNvPr id="3" name="">
            <a:extLst xmlns:a="http://schemas.openxmlformats.org/drawingml/2006/main">
              <a:ext uri="{FF2B5EF4-FFF2-40B4-BE49-F238E27FC236}">
                <a16:creationId xmlns:a16="http://schemas.microsoft.com/office/drawing/2014/main" id="{E33525D9-9967-49C6-83B6-01C492B93C46}"/>
              </a:ext>
            </a:extLst>
          </p:cNvPr>
          <p:cNvSpPr>
            <a:spLocks xmlns:a="http://schemas.openxmlformats.org/drawingml/2006/main" noGrp="1"/>
          </p:cNvSpPr>
          <p:nvPr/>
        </p:nvSpPr>
        <p:spPr>
          <a:xfrm xmlns:a="http://schemas.openxmlformats.org/drawingml/2006/main">
            <a:off x="685800" y="157162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1. Умовна оптимізація</a:t>
            </a:r>
          </a:p>
        </p:txBody>
      </p:sp>
      <p:sp>
        <p:nvSpPr>
          <p:cNvPr id="4" name="">
            <a:extLst xmlns:a="http://schemas.openxmlformats.org/drawingml/2006/main">
              <a:ext uri="{FF2B5EF4-FFF2-40B4-BE49-F238E27FC236}">
                <a16:creationId xmlns:a16="http://schemas.microsoft.com/office/drawing/2014/main" id="{65B885C1-AB04-483F-93ED-8136B36BB2FF}"/>
              </a:ext>
            </a:extLst>
          </p:cNvPr>
          <p:cNvSpPr>
            <a:spLocks xmlns:a="http://schemas.openxmlformats.org/drawingml/2006/main" noGrp="1"/>
          </p:cNvSpPr>
          <p:nvPr/>
        </p:nvSpPr>
        <p:spPr>
          <a:xfrm xmlns:a="http://schemas.openxmlformats.org/drawingml/2006/main">
            <a:off x="685800" y="2333625"/>
            <a:ext cx="108204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Рухаємося від C до A. Для кожного залишку b зберігаємо:</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Vₖ(b) — найкращу користь до завершення;</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Pₖ(b) — дію, що дає цю користь.</a:t>
            </a:r>
          </a:p>
        </p:txBody>
      </p:sp>
      <p:sp>
        <p:nvSpPr>
          <p:cNvPr id="5" name="">
            <a:extLst xmlns:a="http://schemas.openxmlformats.org/drawingml/2006/main">
              <a:ext uri="{FF2B5EF4-FFF2-40B4-BE49-F238E27FC236}">
                <a16:creationId xmlns:a16="http://schemas.microsoft.com/office/drawing/2014/main" id="{DDBCF469-683F-41F9-B623-467F6FB8062E}"/>
              </a:ext>
            </a:extLst>
          </p:cNvPr>
          <p:cNvSpPr>
            <a:spLocks xmlns:a="http://schemas.openxmlformats.org/drawingml/2006/main" noGrp="1"/>
          </p:cNvSpPr>
          <p:nvPr/>
        </p:nvSpPr>
        <p:spPr>
          <a:xfrm xmlns:a="http://schemas.openxmlformats.org/drawingml/2006/main">
            <a:off x="685800" y="404812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B86B19"/>
                </a:solidFill>
                <a:latin typeface="Arial"/>
                <a:ea typeface="Arial"/>
                <a:cs typeface="Arial"/>
              </a:defRPr>
            </a:defPPr>
          </a:lstStyle>
          <a:p xmlns:a="http://schemas.openxmlformats.org/drawingml/2006/main">
            <a:pPr>
              <a:defRPr sz="2700" b="1">
                <a:solidFill>
                  <a:srgbClr val="B86B19"/>
                </a:solidFill>
                <a:latin typeface="Arial"/>
                <a:ea typeface="Arial"/>
                <a:cs typeface="Arial"/>
              </a:defRPr>
            </a:pPr>
            <a:r>
              <a:rPr sz="2700" b="1">
                <a:solidFill>
                  <a:srgbClr val="B86B19"/>
                </a:solidFill>
                <a:latin typeface="Arial"/>
                <a:ea typeface="Arial"/>
                <a:cs typeface="Arial"/>
              </a:rPr>
              <a:t>2. Безумовна оптимізація: відновлення плану</a:t>
            </a:r>
          </a:p>
        </p:txBody>
      </p:sp>
      <p:sp>
        <p:nvSpPr>
          <p:cNvPr id="6" name="">
            <a:extLst xmlns:a="http://schemas.openxmlformats.org/drawingml/2006/main">
              <a:ext uri="{FF2B5EF4-FFF2-40B4-BE49-F238E27FC236}">
                <a16:creationId xmlns:a16="http://schemas.microsoft.com/office/drawing/2014/main" id="{67C21EDA-5A2D-431C-9C7D-DADE891B4A7C}"/>
              </a:ext>
            </a:extLst>
          </p:cNvPr>
          <p:cNvSpPr>
            <a:spLocks xmlns:a="http://schemas.openxmlformats.org/drawingml/2006/main" noGrp="1"/>
          </p:cNvSpPr>
          <p:nvPr/>
        </p:nvSpPr>
        <p:spPr>
          <a:xfrm xmlns:a="http://schemas.openxmlformats.org/drawingml/2006/main">
            <a:off x="685800" y="4905375"/>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Починаємо з відомих 6 GPU. Йдемо від A до C,</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читаємо P та після кожного рішення зменшуємо залишок.</a:t>
            </a:r>
          </a:p>
        </p:txBody>
      </p:sp>
    </p:spTree>
    <p:extLst>
      <p:ext uri="{BB962C8B-B14F-4D97-AF65-F5344CB8AC3E}">
        <p14:creationId xmlns:p14="http://schemas.microsoft.com/office/powerpoint/2010/main" val="1039441209"/>
      </p:ext>
    </p:extLst>
  </p:cSld>
</p:sld>
</file>

<file path=ppt/slides/v6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5BFF77C-11AD-440D-ACBA-66983C33ACB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Приклад на графі: рекомендація для кожного вузла</a:t>
            </a:r>
          </a:p>
        </p:txBody>
      </p:sp>
      <p:sp>
        <p:nvSpPr>
          <p:cNvPr id="2" name="">
            <a:extLst xmlns:a="http://schemas.openxmlformats.org/drawingml/2006/main">
              <a:ext uri="{FF2B5EF4-FFF2-40B4-BE49-F238E27FC236}">
                <a16:creationId xmlns:a16="http://schemas.microsoft.com/office/drawing/2014/main" id="{07561BAD-2E13-44E4-8310-E262FCC22940}"/>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Число V у вузлі означає найменшу затримку решти шляху до T.</a:t>
            </a:r>
          </a:p>
        </p:txBody>
      </p:sp>
      <p:sp>
        <p:nvSpPr>
          <p:cNvPr id="3" name="">
            <a:extLst xmlns:a="http://schemas.openxmlformats.org/drawingml/2006/main">
              <a:ext uri="{FF2B5EF4-FFF2-40B4-BE49-F238E27FC236}">
                <a16:creationId xmlns:a16="http://schemas.microsoft.com/office/drawing/2014/main" id="{1D560CD6-C5EC-431B-B23E-62BC906E0AC5}"/>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Пакет іде від S до T. На ребрах задано затримки. У кінцевій точці V(T)=0.</a:t>
            </a:r>
          </a:p>
        </p:txBody>
      </p:sp>
      <p:sp>
        <p:nvSpPr>
          <p:cNvPr id="4" name="">
            <a:extLst xmlns:a="http://schemas.openxmlformats.org/drawingml/2006/main">
              <a:ext uri="{FF2B5EF4-FFF2-40B4-BE49-F238E27FC236}">
                <a16:creationId xmlns:a16="http://schemas.microsoft.com/office/drawing/2014/main" id="{BC70E413-7CFC-4F43-8B0D-78CDD2B4DB2E}"/>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9D18CDDC-941A-41D1-BC4A-19C672550BF5}"/>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9A18E4A-4B2D-44AA-AD81-06DEE65BF338}"/>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7" name="">
            <a:extLst xmlns:a="http://schemas.openxmlformats.org/drawingml/2006/main">
              <a:ext uri="{FF2B5EF4-FFF2-40B4-BE49-F238E27FC236}">
                <a16:creationId xmlns:a16="http://schemas.microsoft.com/office/drawing/2014/main" id="{A51EC455-702F-4CAD-AB8C-B7BFDA1B5419}"/>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F83C183E-4769-4F5D-A896-C6FD593CCF9A}"/>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9" name="">
            <a:extLst xmlns:a="http://schemas.openxmlformats.org/drawingml/2006/main">
              <a:ext uri="{FF2B5EF4-FFF2-40B4-BE49-F238E27FC236}">
                <a16:creationId xmlns:a16="http://schemas.microsoft.com/office/drawing/2014/main" id="{0B815724-23F7-4837-A2DB-815BBD5D5403}"/>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170D34C4-BCD8-4759-B3D9-149279AA4675}"/>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42571E12-4FAF-42A8-B3EE-D71EF5004732}"/>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FA93CC73-21E2-4089-9652-4EB5CDAD709A}"/>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3" name="">
            <a:extLst xmlns:a="http://schemas.openxmlformats.org/drawingml/2006/main">
              <a:ext uri="{FF2B5EF4-FFF2-40B4-BE49-F238E27FC236}">
                <a16:creationId xmlns:a16="http://schemas.microsoft.com/office/drawing/2014/main" id="{298A226C-CC6C-41F9-A54A-AB20C7544CE2}"/>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E2F8D66D-532F-413F-B079-A9B4ACACD786}"/>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23AE13D9-B204-4528-B79A-C2C71966A3CE}"/>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A017BD73-9653-435F-AC51-E045C097553A}"/>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7" name="">
            <a:extLst xmlns:a="http://schemas.openxmlformats.org/drawingml/2006/main">
              <a:ext uri="{FF2B5EF4-FFF2-40B4-BE49-F238E27FC236}">
                <a16:creationId xmlns:a16="http://schemas.microsoft.com/office/drawing/2014/main" id="{0C31EC38-4E34-46D3-A806-954DE375A728}"/>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023A6C76-F906-4F7C-8189-CFD874084D23}"/>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9" name="">
            <a:extLst xmlns:a="http://schemas.openxmlformats.org/drawingml/2006/main">
              <a:ext uri="{FF2B5EF4-FFF2-40B4-BE49-F238E27FC236}">
                <a16:creationId xmlns:a16="http://schemas.microsoft.com/office/drawing/2014/main" id="{D751981C-B83E-4447-A8DA-6F7AF7F3B48A}"/>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9C953698-04E7-4892-B2AB-9246DA809FC5}"/>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9A009DE0-EB68-4631-871C-EDBC843CD654}"/>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EF5A01F2-CAE2-405B-B6B7-0A64BE8F06D7}"/>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3" name="">
            <a:extLst xmlns:a="http://schemas.openxmlformats.org/drawingml/2006/main">
              <a:ext uri="{FF2B5EF4-FFF2-40B4-BE49-F238E27FC236}">
                <a16:creationId xmlns:a16="http://schemas.microsoft.com/office/drawing/2014/main" id="{12A76262-8813-4C4E-BAA0-71D6ECDD6A7B}"/>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2D28A473-93A6-48F0-ABDF-A9A543A27394}"/>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5" name="">
            <a:extLst xmlns:a="http://schemas.openxmlformats.org/drawingml/2006/main">
              <a:ext uri="{FF2B5EF4-FFF2-40B4-BE49-F238E27FC236}">
                <a16:creationId xmlns:a16="http://schemas.microsoft.com/office/drawing/2014/main" id="{9529F6A4-AFAF-444A-AD31-1D04EBC32127}"/>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83C7D2B3-8131-4041-B88F-45E0D2840378}"/>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7" name="">
            <a:extLst xmlns:a="http://schemas.openxmlformats.org/drawingml/2006/main">
              <a:ext uri="{FF2B5EF4-FFF2-40B4-BE49-F238E27FC236}">
                <a16:creationId xmlns:a16="http://schemas.microsoft.com/office/drawing/2014/main" id="{BEA294D3-38F7-458A-9D9E-AE8F2F177D79}"/>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28" name="">
            <a:extLst xmlns:a="http://schemas.openxmlformats.org/drawingml/2006/main">
              <a:ext uri="{FF2B5EF4-FFF2-40B4-BE49-F238E27FC236}">
                <a16:creationId xmlns:a16="http://schemas.microsoft.com/office/drawing/2014/main" id="{AFC0FE9A-2FFD-445C-BEAB-DD9F4B45EEFD}"/>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9" name="">
            <a:extLst xmlns:a="http://schemas.openxmlformats.org/drawingml/2006/main">
              <a:ext uri="{FF2B5EF4-FFF2-40B4-BE49-F238E27FC236}">
                <a16:creationId xmlns:a16="http://schemas.microsoft.com/office/drawing/2014/main" id="{E7ED35C8-62E7-4D0E-8839-FAE6EE57B476}"/>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0" name="">
            <a:extLst xmlns:a="http://schemas.openxmlformats.org/drawingml/2006/main">
              <a:ext uri="{FF2B5EF4-FFF2-40B4-BE49-F238E27FC236}">
                <a16:creationId xmlns:a16="http://schemas.microsoft.com/office/drawing/2014/main" id="{94A72228-8E3A-4C6A-9FF6-0AEA27B362CB}"/>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1" name="">
            <a:extLst xmlns:a="http://schemas.openxmlformats.org/drawingml/2006/main">
              <a:ext uri="{FF2B5EF4-FFF2-40B4-BE49-F238E27FC236}">
                <a16:creationId xmlns:a16="http://schemas.microsoft.com/office/drawing/2014/main" id="{270D65F3-84FE-4808-8FEC-8BEA4B00353C}"/>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2" name="">
            <a:extLst xmlns:a="http://schemas.openxmlformats.org/drawingml/2006/main">
              <a:ext uri="{FF2B5EF4-FFF2-40B4-BE49-F238E27FC236}">
                <a16:creationId xmlns:a16="http://schemas.microsoft.com/office/drawing/2014/main" id="{B7C21504-74E3-48CE-A84F-48E0DE273DF4}"/>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Tree>
    <p:extLst>
      <p:ext uri="{BB962C8B-B14F-4D97-AF65-F5344CB8AC3E}">
        <p14:creationId xmlns:p14="http://schemas.microsoft.com/office/powerpoint/2010/main" val="2103037743"/>
      </p:ext>
    </p:extLst>
  </p:cSld>
</p:sld>
</file>

<file path=ppt/slides/v6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BF98664-B168-491C-ABCE-0427C86C1A1E}"/>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Крок 1: останні переходи до T</a:t>
            </a:r>
          </a:p>
        </p:txBody>
      </p:sp>
      <p:sp>
        <p:nvSpPr>
          <p:cNvPr id="2" name="">
            <a:extLst xmlns:a="http://schemas.openxmlformats.org/drawingml/2006/main">
              <a:ext uri="{FF2B5EF4-FFF2-40B4-BE49-F238E27FC236}">
                <a16:creationId xmlns:a16="http://schemas.microsoft.com/office/drawing/2014/main" id="{3AFD937F-3A7C-4F9B-A79B-1308B68D7855}"/>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 останніх вузлів вибір вимушений: V(C)=1, V(D)=2.</a:t>
            </a:r>
          </a:p>
        </p:txBody>
      </p:sp>
      <p:sp>
        <p:nvSpPr>
          <p:cNvPr id="3" name="">
            <a:extLst xmlns:a="http://schemas.openxmlformats.org/drawingml/2006/main">
              <a:ext uri="{FF2B5EF4-FFF2-40B4-BE49-F238E27FC236}">
                <a16:creationId xmlns:a16="http://schemas.microsoft.com/office/drawing/2014/main" id="{764BE88E-5626-48AF-B102-F9302181D915}"/>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Починаємо з кінця: від C до T потрібно 1 мс, від D до T потрібно 2 мс.</a:t>
            </a:r>
          </a:p>
        </p:txBody>
      </p:sp>
      <p:sp>
        <p:nvSpPr>
          <p:cNvPr id="4" name="">
            <a:extLst xmlns:a="http://schemas.openxmlformats.org/drawingml/2006/main">
              <a:ext uri="{FF2B5EF4-FFF2-40B4-BE49-F238E27FC236}">
                <a16:creationId xmlns:a16="http://schemas.microsoft.com/office/drawing/2014/main" id="{639D1ADE-85E9-460E-8061-78AB161AEC55}"/>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D07F9FF6-93BF-4D11-B005-2B6D4897BD2F}"/>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80ABC8A-56A9-4615-B63A-D048733EE24E}"/>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7" name="">
            <a:extLst xmlns:a="http://schemas.openxmlformats.org/drawingml/2006/main">
              <a:ext uri="{FF2B5EF4-FFF2-40B4-BE49-F238E27FC236}">
                <a16:creationId xmlns:a16="http://schemas.microsoft.com/office/drawing/2014/main" id="{2193C5C9-D89A-4BAD-8361-803E98E1E290}"/>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A1790163-C931-4F8F-A418-3C10565D89BF}"/>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9" name="">
            <a:extLst xmlns:a="http://schemas.openxmlformats.org/drawingml/2006/main">
              <a:ext uri="{FF2B5EF4-FFF2-40B4-BE49-F238E27FC236}">
                <a16:creationId xmlns:a16="http://schemas.microsoft.com/office/drawing/2014/main" id="{29CE452C-2DEE-4F56-AF61-21B4A8AE610D}"/>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2906C236-45C6-4794-98A4-EB479CB90655}"/>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59601DC1-B59C-491C-82C7-5D4231AAD222}"/>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E4E25813-84A8-4C05-9AE6-8C1CADCCA2AF}"/>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3" name="">
            <a:extLst xmlns:a="http://schemas.openxmlformats.org/drawingml/2006/main">
              <a:ext uri="{FF2B5EF4-FFF2-40B4-BE49-F238E27FC236}">
                <a16:creationId xmlns:a16="http://schemas.microsoft.com/office/drawing/2014/main" id="{5FA205D9-8E67-4F71-A2E7-6C35C2B13EB8}"/>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F54B3109-3F18-4131-BD3F-96808011FDB7}"/>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1E7FE4B1-7666-4AB5-9FCB-F77017F173A5}"/>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496BE189-EF06-4385-B703-4A62B6774D61}"/>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7" name="">
            <a:extLst xmlns:a="http://schemas.openxmlformats.org/drawingml/2006/main">
              <a:ext uri="{FF2B5EF4-FFF2-40B4-BE49-F238E27FC236}">
                <a16:creationId xmlns:a16="http://schemas.microsoft.com/office/drawing/2014/main" id="{4C7C2741-9C36-4754-91E4-87C9D43BD9D6}"/>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620DA696-CAFC-40A1-B684-DB7E24A28956}"/>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9" name="">
            <a:extLst xmlns:a="http://schemas.openxmlformats.org/drawingml/2006/main">
              <a:ext uri="{FF2B5EF4-FFF2-40B4-BE49-F238E27FC236}">
                <a16:creationId xmlns:a16="http://schemas.microsoft.com/office/drawing/2014/main" id="{BDF5CD15-BFD6-416C-B775-EDD4F0A82452}"/>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BA240F14-EFEB-4C92-BAE9-BCCB89C554B8}"/>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D7CA4C78-E658-49C9-BCF8-ECB8C29CA056}"/>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CBD88650-0C3D-4E2E-8B6E-0D30DEBC5D59}"/>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3" name="">
            <a:extLst xmlns:a="http://schemas.openxmlformats.org/drawingml/2006/main">
              <a:ext uri="{FF2B5EF4-FFF2-40B4-BE49-F238E27FC236}">
                <a16:creationId xmlns:a16="http://schemas.microsoft.com/office/drawing/2014/main" id="{005A4BB3-F6A2-42EA-8DB1-19A41827A362}"/>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59C9C926-33B5-40D3-AA8E-8861D579CAFC}"/>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5" name="">
            <a:extLst xmlns:a="http://schemas.openxmlformats.org/drawingml/2006/main">
              <a:ext uri="{FF2B5EF4-FFF2-40B4-BE49-F238E27FC236}">
                <a16:creationId xmlns:a16="http://schemas.microsoft.com/office/drawing/2014/main" id="{B926F1A6-5613-4671-AD2D-BFFB71220005}"/>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428DAE37-B8BD-4C91-B304-4888B8350204}"/>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7" name="">
            <a:extLst xmlns:a="http://schemas.openxmlformats.org/drawingml/2006/main">
              <a:ext uri="{FF2B5EF4-FFF2-40B4-BE49-F238E27FC236}">
                <a16:creationId xmlns:a16="http://schemas.microsoft.com/office/drawing/2014/main" id="{B1C708E6-3597-4129-A346-9EA48C079C01}"/>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28" name="">
            <a:extLst xmlns:a="http://schemas.openxmlformats.org/drawingml/2006/main">
              <a:ext uri="{FF2B5EF4-FFF2-40B4-BE49-F238E27FC236}">
                <a16:creationId xmlns:a16="http://schemas.microsoft.com/office/drawing/2014/main" id="{05E01FE1-ED35-4126-A1B1-7328290DEAF6}"/>
              </a:ext>
            </a:extLst>
          </p:cNvPr>
          <p:cNvSpPr>
            <a:spLocks xmlns:a="http://schemas.openxmlformats.org/drawingml/2006/main" noGrp="1"/>
          </p:cNvSpPr>
          <p:nvPr/>
        </p:nvSpPr>
        <p:spPr>
          <a:xfrm xmlns:a="http://schemas.openxmlformats.org/drawingml/2006/main">
            <a:off x="6715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a:t>
            </a:r>
          </a:p>
        </p:txBody>
      </p:sp>
      <p:sp>
        <p:nvSpPr>
          <p:cNvPr id="29" name="">
            <a:extLst xmlns:a="http://schemas.openxmlformats.org/drawingml/2006/main">
              <a:ext uri="{FF2B5EF4-FFF2-40B4-BE49-F238E27FC236}">
                <a16:creationId xmlns:a16="http://schemas.microsoft.com/office/drawing/2014/main" id="{97251811-9A7D-4B96-87CC-E64F8B3EB4A1}"/>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0" name="">
            <a:extLst xmlns:a="http://schemas.openxmlformats.org/drawingml/2006/main">
              <a:ext uri="{FF2B5EF4-FFF2-40B4-BE49-F238E27FC236}">
                <a16:creationId xmlns:a16="http://schemas.microsoft.com/office/drawing/2014/main" id="{C000A4CA-378E-4236-8249-4C6C154E0757}"/>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1" name="">
            <a:extLst xmlns:a="http://schemas.openxmlformats.org/drawingml/2006/main">
              <a:ext uri="{FF2B5EF4-FFF2-40B4-BE49-F238E27FC236}">
                <a16:creationId xmlns:a16="http://schemas.microsoft.com/office/drawing/2014/main" id="{874F0FC3-C8FF-48FE-AB85-0D3DD16E505A}"/>
              </a:ext>
            </a:extLst>
          </p:cNvPr>
          <p:cNvSpPr>
            <a:spLocks xmlns:a="http://schemas.openxmlformats.org/drawingml/2006/main" noGrp="1"/>
          </p:cNvSpPr>
          <p:nvPr/>
        </p:nvSpPr>
        <p:spPr>
          <a:xfrm xmlns:a="http://schemas.openxmlformats.org/drawingml/2006/main">
            <a:off x="6715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32" name="">
            <a:extLst xmlns:a="http://schemas.openxmlformats.org/drawingml/2006/main">
              <a:ext uri="{FF2B5EF4-FFF2-40B4-BE49-F238E27FC236}">
                <a16:creationId xmlns:a16="http://schemas.microsoft.com/office/drawing/2014/main" id="{D71101A2-6BD6-41AA-AB26-ADF923A3B524}"/>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3" name="">
            <a:extLst xmlns:a="http://schemas.openxmlformats.org/drawingml/2006/main">
              <a:ext uri="{FF2B5EF4-FFF2-40B4-BE49-F238E27FC236}">
                <a16:creationId xmlns:a16="http://schemas.microsoft.com/office/drawing/2014/main" id="{7C1402D6-782E-49DD-9CCC-585FDC2407F6}"/>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4" name="">
            <a:extLst xmlns:a="http://schemas.openxmlformats.org/drawingml/2006/main">
              <a:ext uri="{FF2B5EF4-FFF2-40B4-BE49-F238E27FC236}">
                <a16:creationId xmlns:a16="http://schemas.microsoft.com/office/drawing/2014/main" id="{D3A52289-B440-4C3F-81B0-8484E8329402}"/>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Tree>
    <p:extLst>
      <p:ext uri="{BB962C8B-B14F-4D97-AF65-F5344CB8AC3E}">
        <p14:creationId xmlns:p14="http://schemas.microsoft.com/office/powerpoint/2010/main" val="512458545"/>
      </p:ext>
    </p:extLst>
  </p:cSld>
</p:sld>
</file>

<file path=ppt/slides/v6_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105B018-2456-4CE4-BA3E-5CB19F09143D}"/>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Крок 2: поточне ребро та готове продовження</a:t>
            </a:r>
          </a:p>
        </p:txBody>
      </p:sp>
      <p:sp>
        <p:nvSpPr>
          <p:cNvPr id="2" name="">
            <a:extLst xmlns:a="http://schemas.openxmlformats.org/drawingml/2006/main">
              <a:ext uri="{FF2B5EF4-FFF2-40B4-BE49-F238E27FC236}">
                <a16:creationId xmlns:a16="http://schemas.microsoft.com/office/drawing/2014/main" id="{69EF19F0-8DCC-4AB3-95D0-19FE766976A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З A обидва варіанти дають 10. З B краще йти до C.</a:t>
            </a:r>
          </a:p>
        </p:txBody>
      </p:sp>
      <p:sp>
        <p:nvSpPr>
          <p:cNvPr id="3" name="">
            <a:extLst xmlns:a="http://schemas.openxmlformats.org/drawingml/2006/main">
              <a:ext uri="{FF2B5EF4-FFF2-40B4-BE49-F238E27FC236}">
                <a16:creationId xmlns:a16="http://schemas.microsoft.com/office/drawing/2014/main" id="{E10F30CB-33EB-4364-9C9E-717E482C0AA9}"/>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V(A)=min(9+1, 8+2)=10.  V(B)=min(1+1, 5+2)=2.</a:t>
            </a:r>
          </a:p>
        </p:txBody>
      </p:sp>
      <p:sp>
        <p:nvSpPr>
          <p:cNvPr id="4" name="">
            <a:extLst xmlns:a="http://schemas.openxmlformats.org/drawingml/2006/main">
              <a:ext uri="{FF2B5EF4-FFF2-40B4-BE49-F238E27FC236}">
                <a16:creationId xmlns:a16="http://schemas.microsoft.com/office/drawing/2014/main" id="{4D9B5243-AF60-44F7-AA38-750113155688}"/>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C9937C87-9A2B-4CE3-804F-82671C5E4941}"/>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070FC89-4FB8-41C4-911D-CFC930CD37C5}"/>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7" name="">
            <a:extLst xmlns:a="http://schemas.openxmlformats.org/drawingml/2006/main">
              <a:ext uri="{FF2B5EF4-FFF2-40B4-BE49-F238E27FC236}">
                <a16:creationId xmlns:a16="http://schemas.microsoft.com/office/drawing/2014/main" id="{3AC1E95E-8C4B-4507-A4D5-1EC019E1DD84}"/>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79C1CA77-EAD2-41B7-A359-ADAB77634229}"/>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9" name="">
            <a:extLst xmlns:a="http://schemas.openxmlformats.org/drawingml/2006/main">
              <a:ext uri="{FF2B5EF4-FFF2-40B4-BE49-F238E27FC236}">
                <a16:creationId xmlns:a16="http://schemas.microsoft.com/office/drawing/2014/main" id="{13962D79-4D8E-4673-A4AA-0D040950726C}"/>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C6578B92-AFC4-4F8C-8252-0E6C29738D2C}"/>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DF2319FB-E76E-4D6A-AE4D-5D2C4D2705F9}"/>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EFCD3BF0-F06A-4B0E-AC01-995B3B28A582}"/>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3" name="">
            <a:extLst xmlns:a="http://schemas.openxmlformats.org/drawingml/2006/main">
              <a:ext uri="{FF2B5EF4-FFF2-40B4-BE49-F238E27FC236}">
                <a16:creationId xmlns:a16="http://schemas.microsoft.com/office/drawing/2014/main" id="{24C0D7FC-94DC-4871-AD61-D8E8A7270867}"/>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8E63F198-79E2-4493-B51D-393A73498917}"/>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DC4633B9-DE3A-49B6-8C0F-B9DFD436740F}"/>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B9A4D1EC-E4DE-4786-BDD4-984CCC54F870}"/>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7" name="">
            <a:extLst xmlns:a="http://schemas.openxmlformats.org/drawingml/2006/main">
              <a:ext uri="{FF2B5EF4-FFF2-40B4-BE49-F238E27FC236}">
                <a16:creationId xmlns:a16="http://schemas.microsoft.com/office/drawing/2014/main" id="{C9A7BD3B-9DE5-4F54-B5A1-0E5FA3780FB1}"/>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BC9ED42A-F4CA-4604-91D2-E130C6E569C7}"/>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9" name="">
            <a:extLst xmlns:a="http://schemas.openxmlformats.org/drawingml/2006/main">
              <a:ext uri="{FF2B5EF4-FFF2-40B4-BE49-F238E27FC236}">
                <a16:creationId xmlns:a16="http://schemas.microsoft.com/office/drawing/2014/main" id="{DB9BC30B-E32C-45CC-8C7B-12B6D9BF0368}"/>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6015DFE8-5C21-4994-B699-773D08B0DB0C}"/>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EDF4F8"/>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F1BF2A9B-72D1-4CD1-A5C8-3E7FF85603A0}"/>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7A2D68EA-A1D6-40D3-9728-40B783668395}"/>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3" name="">
            <a:extLst xmlns:a="http://schemas.openxmlformats.org/drawingml/2006/main">
              <a:ext uri="{FF2B5EF4-FFF2-40B4-BE49-F238E27FC236}">
                <a16:creationId xmlns:a16="http://schemas.microsoft.com/office/drawing/2014/main" id="{8AE46FE0-A140-435E-AA7A-BBB8CFB34F8A}"/>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54007DE1-628A-45FD-A443-68CB502E3FCC}"/>
              </a:ext>
            </a:extLst>
          </p:cNvPr>
          <p:cNvSpPr>
            <a:spLocks xmlns:a="http://schemas.openxmlformats.org/drawingml/2006/main" noGrp="1"/>
          </p:cNvSpPr>
          <p:nvPr/>
        </p:nvSpPr>
        <p:spPr>
          <a:xfrm xmlns:a="http://schemas.openxmlformats.org/drawingml/2006/main">
            <a:off x="3667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V=10</a:t>
            </a:r>
          </a:p>
        </p:txBody>
      </p:sp>
      <p:sp>
        <p:nvSpPr>
          <p:cNvPr id="25" name="">
            <a:extLst xmlns:a="http://schemas.openxmlformats.org/drawingml/2006/main">
              <a:ext uri="{FF2B5EF4-FFF2-40B4-BE49-F238E27FC236}">
                <a16:creationId xmlns:a16="http://schemas.microsoft.com/office/drawing/2014/main" id="{6D06331B-8B89-40F9-9C21-FD1760781C1B}"/>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6" name="">
            <a:extLst xmlns:a="http://schemas.openxmlformats.org/drawingml/2006/main">
              <a:ext uri="{FF2B5EF4-FFF2-40B4-BE49-F238E27FC236}">
                <a16:creationId xmlns:a16="http://schemas.microsoft.com/office/drawing/2014/main" id="{0283DC9B-3276-4C5B-B97E-7631ED679017}"/>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7" name="">
            <a:extLst xmlns:a="http://schemas.openxmlformats.org/drawingml/2006/main">
              <a:ext uri="{FF2B5EF4-FFF2-40B4-BE49-F238E27FC236}">
                <a16:creationId xmlns:a16="http://schemas.microsoft.com/office/drawing/2014/main" id="{849BE1B5-5DAC-48B0-A690-04104E260014}"/>
              </a:ext>
            </a:extLst>
          </p:cNvPr>
          <p:cNvSpPr>
            <a:spLocks xmlns:a="http://schemas.openxmlformats.org/drawingml/2006/main" noGrp="1"/>
          </p:cNvSpPr>
          <p:nvPr/>
        </p:nvSpPr>
        <p:spPr>
          <a:xfrm xmlns:a="http://schemas.openxmlformats.org/drawingml/2006/main">
            <a:off x="3667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28" name="">
            <a:extLst xmlns:a="http://schemas.openxmlformats.org/drawingml/2006/main">
              <a:ext uri="{FF2B5EF4-FFF2-40B4-BE49-F238E27FC236}">
                <a16:creationId xmlns:a16="http://schemas.microsoft.com/office/drawing/2014/main" id="{9E1A4774-A8DE-4171-B7D7-9ED74DA595EC}"/>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9" name="">
            <a:extLst xmlns:a="http://schemas.openxmlformats.org/drawingml/2006/main">
              <a:ext uri="{FF2B5EF4-FFF2-40B4-BE49-F238E27FC236}">
                <a16:creationId xmlns:a16="http://schemas.microsoft.com/office/drawing/2014/main" id="{A2262329-5209-4703-82B6-5125C51D6851}"/>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30" name="">
            <a:extLst xmlns:a="http://schemas.openxmlformats.org/drawingml/2006/main">
              <a:ext uri="{FF2B5EF4-FFF2-40B4-BE49-F238E27FC236}">
                <a16:creationId xmlns:a16="http://schemas.microsoft.com/office/drawing/2014/main" id="{A18BB12B-7F7D-48E2-9F4E-6440B9B4A89B}"/>
              </a:ext>
            </a:extLst>
          </p:cNvPr>
          <p:cNvSpPr>
            <a:spLocks xmlns:a="http://schemas.openxmlformats.org/drawingml/2006/main" noGrp="1"/>
          </p:cNvSpPr>
          <p:nvPr/>
        </p:nvSpPr>
        <p:spPr>
          <a:xfrm xmlns:a="http://schemas.openxmlformats.org/drawingml/2006/main">
            <a:off x="6715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a:t>
            </a:r>
          </a:p>
        </p:txBody>
      </p:sp>
      <p:sp>
        <p:nvSpPr>
          <p:cNvPr id="31" name="">
            <a:extLst xmlns:a="http://schemas.openxmlformats.org/drawingml/2006/main">
              <a:ext uri="{FF2B5EF4-FFF2-40B4-BE49-F238E27FC236}">
                <a16:creationId xmlns:a16="http://schemas.microsoft.com/office/drawing/2014/main" id="{DDEE889F-869E-42F2-B037-6D37214FE4AC}"/>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2" name="">
            <a:extLst xmlns:a="http://schemas.openxmlformats.org/drawingml/2006/main">
              <a:ext uri="{FF2B5EF4-FFF2-40B4-BE49-F238E27FC236}">
                <a16:creationId xmlns:a16="http://schemas.microsoft.com/office/drawing/2014/main" id="{CB3F2C78-A3A0-4B58-B45F-99289EA63187}"/>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3" name="">
            <a:extLst xmlns:a="http://schemas.openxmlformats.org/drawingml/2006/main">
              <a:ext uri="{FF2B5EF4-FFF2-40B4-BE49-F238E27FC236}">
                <a16:creationId xmlns:a16="http://schemas.microsoft.com/office/drawing/2014/main" id="{B4F773A7-FE76-4209-8DEF-2FCD2BC86152}"/>
              </a:ext>
            </a:extLst>
          </p:cNvPr>
          <p:cNvSpPr>
            <a:spLocks xmlns:a="http://schemas.openxmlformats.org/drawingml/2006/main" noGrp="1"/>
          </p:cNvSpPr>
          <p:nvPr/>
        </p:nvSpPr>
        <p:spPr>
          <a:xfrm xmlns:a="http://schemas.openxmlformats.org/drawingml/2006/main">
            <a:off x="6715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34" name="">
            <a:extLst xmlns:a="http://schemas.openxmlformats.org/drawingml/2006/main">
              <a:ext uri="{FF2B5EF4-FFF2-40B4-BE49-F238E27FC236}">
                <a16:creationId xmlns:a16="http://schemas.microsoft.com/office/drawing/2014/main" id="{C08958B2-C73A-402E-B98F-13E9969B207F}"/>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5" name="">
            <a:extLst xmlns:a="http://schemas.openxmlformats.org/drawingml/2006/main">
              <a:ext uri="{FF2B5EF4-FFF2-40B4-BE49-F238E27FC236}">
                <a16:creationId xmlns:a16="http://schemas.microsoft.com/office/drawing/2014/main" id="{9AE8D87D-12C1-49DE-AF5A-06FC40DF8EE4}"/>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6" name="">
            <a:extLst xmlns:a="http://schemas.openxmlformats.org/drawingml/2006/main">
              <a:ext uri="{FF2B5EF4-FFF2-40B4-BE49-F238E27FC236}">
                <a16:creationId xmlns:a16="http://schemas.microsoft.com/office/drawing/2014/main" id="{F63BE2E5-6810-4255-88C6-ECBB6CCAE36D}"/>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Tree>
    <p:extLst>
      <p:ext uri="{BB962C8B-B14F-4D97-AF65-F5344CB8AC3E}">
        <p14:creationId xmlns:p14="http://schemas.microsoft.com/office/powerpoint/2010/main" val="115063754"/>
      </p:ext>
    </p:extLst>
  </p:cSld>
</p:sld>
</file>

<file path=ppt/slides/v6_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459ED45-14BB-46F6-8094-4796D7C5D31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Крок 3: від початкового стану до готового маршруту</a:t>
            </a:r>
          </a:p>
        </p:txBody>
      </p:sp>
      <p:sp>
        <p:nvSpPr>
          <p:cNvPr id="2" name="">
            <a:extLst xmlns:a="http://schemas.openxmlformats.org/drawingml/2006/main">
              <a:ext uri="{FF2B5EF4-FFF2-40B4-BE49-F238E27FC236}">
                <a16:creationId xmlns:a16="http://schemas.microsoft.com/office/drawing/2014/main" id="{D9786C53-3D12-4562-A8D2-78BE7B26BAF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Відновлення: S, B, C, T. Затримка 3+1+1=5 мс.</a:t>
            </a:r>
          </a:p>
        </p:txBody>
      </p:sp>
      <p:sp>
        <p:nvSpPr>
          <p:cNvPr id="3" name="">
            <a:extLst xmlns:a="http://schemas.openxmlformats.org/drawingml/2006/main">
              <a:ext uri="{FF2B5EF4-FFF2-40B4-BE49-F238E27FC236}">
                <a16:creationId xmlns:a16="http://schemas.microsoft.com/office/drawing/2014/main" id="{AB673726-A1A2-4FFC-A454-D68667C201D6}"/>
              </a:ext>
            </a:extLst>
          </p:cNvPr>
          <p:cNvSpPr>
            <a:spLocks xmlns:a="http://schemas.openxmlformats.org/drawingml/2006/main" noGrp="1"/>
          </p:cNvSpPr>
          <p:nvPr/>
        </p:nvSpPr>
        <p:spPr>
          <a:xfrm xmlns:a="http://schemas.openxmlformats.org/drawingml/2006/main">
            <a:off x="685800" y="138112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V(S)=min(1+10, 3+2)=5. Тепер з S послідовно читаємо збережені стрілки.</a:t>
            </a:r>
          </a:p>
        </p:txBody>
      </p:sp>
      <p:sp>
        <p:nvSpPr>
          <p:cNvPr id="4" name="">
            <a:extLst xmlns:a="http://schemas.openxmlformats.org/drawingml/2006/main">
              <a:ext uri="{FF2B5EF4-FFF2-40B4-BE49-F238E27FC236}">
                <a16:creationId xmlns:a16="http://schemas.microsoft.com/office/drawing/2014/main" id="{5CA50CAC-04D5-435D-8E2C-C764F1F89379}"/>
              </a:ext>
            </a:extLst>
          </p:cNvPr>
          <p:cNvSpPr>
            <a:spLocks xmlns:a="http://schemas.openxmlformats.org/drawingml/2006/main" noGrp="1"/>
          </p:cNvSpPr>
          <p:nvPr/>
        </p:nvSpPr>
        <p:spPr>
          <a:xfrm xmlns:a="http://schemas.openxmlformats.org/drawingml/2006/main" rot="-1411941">
            <a:off x="1571054" y="2833688"/>
            <a:ext cx="2287141"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5" name="">
            <a:extLst xmlns:a="http://schemas.openxmlformats.org/drawingml/2006/main">
              <a:ext uri="{FF2B5EF4-FFF2-40B4-BE49-F238E27FC236}">
                <a16:creationId xmlns:a16="http://schemas.microsoft.com/office/drawing/2014/main" id="{7929D8D2-1B9C-4F5C-B78F-0DAE97628D22}"/>
              </a:ext>
            </a:extLst>
          </p:cNvPr>
          <p:cNvSpPr>
            <a:spLocks xmlns:a="http://schemas.openxmlformats.org/drawingml/2006/main" noGrp="1"/>
          </p:cNvSpPr>
          <p:nvPr/>
        </p:nvSpPr>
        <p:spPr>
          <a:xfrm xmlns:a="http://schemas.openxmlformats.org/drawingml/2006/main">
            <a:off x="25241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33E9612-38B8-4DBC-8ABD-E7AD51BB5BC6}"/>
              </a:ext>
            </a:extLst>
          </p:cNvPr>
          <p:cNvSpPr>
            <a:spLocks xmlns:a="http://schemas.openxmlformats.org/drawingml/2006/main" noGrp="1"/>
          </p:cNvSpPr>
          <p:nvPr/>
        </p:nvSpPr>
        <p:spPr>
          <a:xfrm xmlns:a="http://schemas.openxmlformats.org/drawingml/2006/main" rot="1411941">
            <a:off x="1571054" y="4119563"/>
            <a:ext cx="2287141"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7" name="">
            <a:extLst xmlns:a="http://schemas.openxmlformats.org/drawingml/2006/main">
              <a:ext uri="{FF2B5EF4-FFF2-40B4-BE49-F238E27FC236}">
                <a16:creationId xmlns:a16="http://schemas.microsoft.com/office/drawing/2014/main" id="{5D1580D3-9AF2-4217-ADE3-FECAA77CD49B}"/>
              </a:ext>
            </a:extLst>
          </p:cNvPr>
          <p:cNvSpPr>
            <a:spLocks xmlns:a="http://schemas.openxmlformats.org/drawingml/2006/main" noGrp="1"/>
          </p:cNvSpPr>
          <p:nvPr/>
        </p:nvSpPr>
        <p:spPr>
          <a:xfrm xmlns:a="http://schemas.openxmlformats.org/drawingml/2006/main">
            <a:off x="25241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A0077390-9630-4C86-8E16-40374E9DB635}"/>
              </a:ext>
            </a:extLst>
          </p:cNvPr>
          <p:cNvSpPr>
            <a:spLocks xmlns:a="http://schemas.openxmlformats.org/drawingml/2006/main" noGrp="1"/>
          </p:cNvSpPr>
          <p:nvPr/>
        </p:nvSpPr>
        <p:spPr>
          <a:xfrm xmlns:a="http://schemas.openxmlformats.org/drawingml/2006/main" rot="0">
            <a:off x="4657725" y="219075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9" name="">
            <a:extLst xmlns:a="http://schemas.openxmlformats.org/drawingml/2006/main">
              <a:ext uri="{FF2B5EF4-FFF2-40B4-BE49-F238E27FC236}">
                <a16:creationId xmlns:a16="http://schemas.microsoft.com/office/drawing/2014/main" id="{F30D81C6-DB1F-4F8D-9E29-C4FC575BCFCD}"/>
              </a:ext>
            </a:extLst>
          </p:cNvPr>
          <p:cNvSpPr>
            <a:spLocks xmlns:a="http://schemas.openxmlformats.org/drawingml/2006/main" noGrp="1"/>
          </p:cNvSpPr>
          <p:nvPr/>
        </p:nvSpPr>
        <p:spPr>
          <a:xfrm xmlns:a="http://schemas.openxmlformats.org/drawingml/2006/main">
            <a:off x="5619750" y="18573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58DB84D2-A469-4314-9F26-86754EE4CD32}"/>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1" name="">
            <a:extLst xmlns:a="http://schemas.openxmlformats.org/drawingml/2006/main">
              <a:ext uri="{FF2B5EF4-FFF2-40B4-BE49-F238E27FC236}">
                <a16:creationId xmlns:a16="http://schemas.microsoft.com/office/drawing/2014/main" id="{417047DE-7274-4FE3-B307-CB2E939744C9}"/>
              </a:ext>
            </a:extLst>
          </p:cNvPr>
          <p:cNvSpPr>
            <a:spLocks xmlns:a="http://schemas.openxmlformats.org/drawingml/2006/main" noGrp="1"/>
          </p:cNvSpPr>
          <p:nvPr/>
        </p:nvSpPr>
        <p:spPr>
          <a:xfrm xmlns:a="http://schemas.openxmlformats.org/drawingml/2006/main">
            <a:off x="4953000" y="3238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757ACA14-BE75-4B29-9394-9700FEEE75C0}"/>
              </a:ext>
            </a:extLst>
          </p:cNvPr>
          <p:cNvSpPr>
            <a:spLocks xmlns:a="http://schemas.openxmlformats.org/drawingml/2006/main" noGrp="1"/>
          </p:cNvSpPr>
          <p:nvPr/>
        </p:nvSpPr>
        <p:spPr>
          <a:xfrm xmlns:a="http://schemas.openxmlformats.org/drawingml/2006/main" rot="-2409360">
            <a:off x="4187721" y="3476625"/>
            <a:ext cx="3054557"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3" name="">
            <a:extLst xmlns:a="http://schemas.openxmlformats.org/drawingml/2006/main">
              <a:ext uri="{FF2B5EF4-FFF2-40B4-BE49-F238E27FC236}">
                <a16:creationId xmlns:a16="http://schemas.microsoft.com/office/drawing/2014/main" id="{B7C64303-E038-4774-A342-44856D0E6B3F}"/>
              </a:ext>
            </a:extLst>
          </p:cNvPr>
          <p:cNvSpPr>
            <a:spLocks xmlns:a="http://schemas.openxmlformats.org/drawingml/2006/main" noGrp="1"/>
          </p:cNvSpPr>
          <p:nvPr/>
        </p:nvSpPr>
        <p:spPr>
          <a:xfrm xmlns:a="http://schemas.openxmlformats.org/drawingml/2006/main">
            <a:off x="6191250" y="3476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6E7F9E35-0F89-4555-B5AF-FD06F35EE154}"/>
              </a:ext>
            </a:extLst>
          </p:cNvPr>
          <p:cNvSpPr>
            <a:spLocks xmlns:a="http://schemas.openxmlformats.org/drawingml/2006/main" noGrp="1"/>
          </p:cNvSpPr>
          <p:nvPr/>
        </p:nvSpPr>
        <p:spPr>
          <a:xfrm xmlns:a="http://schemas.openxmlformats.org/drawingml/2006/main" rot="0">
            <a:off x="4657725" y="4762500"/>
            <a:ext cx="2114550"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5" name="">
            <a:extLst xmlns:a="http://schemas.openxmlformats.org/drawingml/2006/main">
              <a:ext uri="{FF2B5EF4-FFF2-40B4-BE49-F238E27FC236}">
                <a16:creationId xmlns:a16="http://schemas.microsoft.com/office/drawing/2014/main" id="{0B2C68F5-74C3-4006-85C5-0CB7AF933E1D}"/>
              </a:ext>
            </a:extLst>
          </p:cNvPr>
          <p:cNvSpPr>
            <a:spLocks xmlns:a="http://schemas.openxmlformats.org/drawingml/2006/main" noGrp="1"/>
          </p:cNvSpPr>
          <p:nvPr/>
        </p:nvSpPr>
        <p:spPr>
          <a:xfrm xmlns:a="http://schemas.openxmlformats.org/drawingml/2006/main">
            <a:off x="5619750" y="509587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F70B6518-431B-4203-A914-0F9D975BB89B}"/>
              </a:ext>
            </a:extLst>
          </p:cNvPr>
          <p:cNvSpPr>
            <a:spLocks xmlns:a="http://schemas.openxmlformats.org/drawingml/2006/main" noGrp="1"/>
          </p:cNvSpPr>
          <p:nvPr/>
        </p:nvSpPr>
        <p:spPr>
          <a:xfrm xmlns:a="http://schemas.openxmlformats.org/drawingml/2006/main" rot="1372420">
            <a:off x="7575656" y="2833688"/>
            <a:ext cx="2374688" cy="95250"/>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7" name="">
            <a:extLst xmlns:a="http://schemas.openxmlformats.org/drawingml/2006/main">
              <a:ext uri="{FF2B5EF4-FFF2-40B4-BE49-F238E27FC236}">
                <a16:creationId xmlns:a16="http://schemas.microsoft.com/office/drawing/2014/main" id="{4ECF9A93-A217-4ED7-811B-9A5D003FD3B6}"/>
              </a:ext>
            </a:extLst>
          </p:cNvPr>
          <p:cNvSpPr>
            <a:spLocks xmlns:a="http://schemas.openxmlformats.org/drawingml/2006/main" noGrp="1"/>
          </p:cNvSpPr>
          <p:nvPr/>
        </p:nvSpPr>
        <p:spPr>
          <a:xfrm xmlns:a="http://schemas.openxmlformats.org/drawingml/2006/main">
            <a:off x="8810625" y="2476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C502A672-E25A-4846-97D1-F38F89AFB148}"/>
              </a:ext>
            </a:extLst>
          </p:cNvPr>
          <p:cNvSpPr>
            <a:spLocks xmlns:a="http://schemas.openxmlformats.org/drawingml/2006/main" noGrp="1"/>
          </p:cNvSpPr>
          <p:nvPr/>
        </p:nvSpPr>
        <p:spPr>
          <a:xfrm xmlns:a="http://schemas.openxmlformats.org/drawingml/2006/main" rot="-1372420">
            <a:off x="7575656" y="4119563"/>
            <a:ext cx="2374688" cy="95250"/>
          </a:xfrm>
          <a:prstGeom xmlns:a="http://schemas.openxmlformats.org/drawingml/2006/main" prst="rightArrow">
            <a:avLst/>
          </a:prstGeom>
          <a:solidFill xmlns:a="http://schemas.openxmlformats.org/drawingml/2006/main">
            <a:srgbClr val="B1BEC8"/>
          </a:solidFill>
          <a:ln xmlns:a="http://schemas.openxmlformats.org/drawingml/2006/main" w="9525">
            <a:solidFill>
              <a:srgbClr val="B1BEC8"/>
            </a:solidFill>
            <a:prstDash val="solid"/>
          </a:ln>
        </p:spPr>
      </p:sp>
      <p:sp>
        <p:nvSpPr>
          <p:cNvPr id="19" name="">
            <a:extLst xmlns:a="http://schemas.openxmlformats.org/drawingml/2006/main">
              <a:ext uri="{FF2B5EF4-FFF2-40B4-BE49-F238E27FC236}">
                <a16:creationId xmlns:a16="http://schemas.microsoft.com/office/drawing/2014/main" id="{1DCEDB90-8912-4A64-A2A5-9B539DE4DE08}"/>
              </a:ext>
            </a:extLst>
          </p:cNvPr>
          <p:cNvSpPr>
            <a:spLocks xmlns:a="http://schemas.openxmlformats.org/drawingml/2006/main" noGrp="1"/>
          </p:cNvSpPr>
          <p:nvPr/>
        </p:nvSpPr>
        <p:spPr>
          <a:xfrm xmlns:a="http://schemas.openxmlformats.org/drawingml/2006/main">
            <a:off x="8810625" y="43815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93247"/>
                </a:solidFill>
                <a:latin typeface="Arial"/>
                <a:ea typeface="Arial"/>
                <a:cs typeface="Arial"/>
              </a:defRPr>
            </a:defPPr>
          </a:lstStyle>
          <a:p xmlns:a="http://schemas.openxmlformats.org/drawingml/2006/main">
            <a:pPr>
              <a:defRPr sz="2025" b="1">
                <a:solidFill>
                  <a:srgbClr val="193247"/>
                </a:solidFill>
                <a:latin typeface="Arial"/>
                <a:ea typeface="Arial"/>
                <a:cs typeface="Arial"/>
              </a:defRPr>
            </a:pPr>
            <a:r>
              <a:rPr sz="2025" b="1">
                <a:solidFill>
                  <a:srgbClr val="193247"/>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2265DCA2-CA39-493E-8BAF-B099176C5B69}"/>
              </a:ext>
            </a:extLst>
          </p:cNvPr>
          <p:cNvSpPr>
            <a:spLocks xmlns:a="http://schemas.openxmlformats.org/drawingml/2006/main" noGrp="1"/>
          </p:cNvSpPr>
          <p:nvPr/>
        </p:nvSpPr>
        <p:spPr>
          <a:xfrm xmlns:a="http://schemas.openxmlformats.org/drawingml/2006/main">
            <a:off x="77152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1" name="">
            <a:extLst xmlns:a="http://schemas.openxmlformats.org/drawingml/2006/main">
              <a:ext uri="{FF2B5EF4-FFF2-40B4-BE49-F238E27FC236}">
                <a16:creationId xmlns:a16="http://schemas.microsoft.com/office/drawing/2014/main" id="{FD54F473-80B5-4496-8000-36FF55211EF7}"/>
              </a:ext>
            </a:extLst>
          </p:cNvPr>
          <p:cNvSpPr>
            <a:spLocks xmlns:a="http://schemas.openxmlformats.org/drawingml/2006/main" noGrp="1"/>
          </p:cNvSpPr>
          <p:nvPr/>
        </p:nvSpPr>
        <p:spPr>
          <a:xfrm xmlns:a="http://schemas.openxmlformats.org/drawingml/2006/main">
            <a:off x="104775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S</a:t>
            </a:r>
          </a:p>
        </p:txBody>
      </p:sp>
      <p:sp>
        <p:nvSpPr>
          <p:cNvPr id="22" name="">
            <a:extLst xmlns:a="http://schemas.openxmlformats.org/drawingml/2006/main">
              <a:ext uri="{FF2B5EF4-FFF2-40B4-BE49-F238E27FC236}">
                <a16:creationId xmlns:a16="http://schemas.microsoft.com/office/drawing/2014/main" id="{9BCE3402-EEE8-49A5-BABF-747CBD9A133F}"/>
              </a:ext>
            </a:extLst>
          </p:cNvPr>
          <p:cNvSpPr>
            <a:spLocks xmlns:a="http://schemas.openxmlformats.org/drawingml/2006/main" noGrp="1"/>
          </p:cNvSpPr>
          <p:nvPr/>
        </p:nvSpPr>
        <p:spPr>
          <a:xfrm xmlns:a="http://schemas.openxmlformats.org/drawingml/2006/main">
            <a:off x="71437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V=5</a:t>
            </a:r>
          </a:p>
        </p:txBody>
      </p:sp>
      <p:sp>
        <p:nvSpPr>
          <p:cNvPr id="23" name="">
            <a:extLst xmlns:a="http://schemas.openxmlformats.org/drawingml/2006/main">
              <a:ext uri="{FF2B5EF4-FFF2-40B4-BE49-F238E27FC236}">
                <a16:creationId xmlns:a16="http://schemas.microsoft.com/office/drawing/2014/main" id="{867602C3-4C3A-4D85-AF61-93BC4524ADB7}"/>
              </a:ext>
            </a:extLst>
          </p:cNvPr>
          <p:cNvSpPr>
            <a:spLocks xmlns:a="http://schemas.openxmlformats.org/drawingml/2006/main" noGrp="1"/>
          </p:cNvSpPr>
          <p:nvPr/>
        </p:nvSpPr>
        <p:spPr>
          <a:xfrm xmlns:a="http://schemas.openxmlformats.org/drawingml/2006/main">
            <a:off x="3724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4" name="">
            <a:extLst xmlns:a="http://schemas.openxmlformats.org/drawingml/2006/main">
              <a:ext uri="{FF2B5EF4-FFF2-40B4-BE49-F238E27FC236}">
                <a16:creationId xmlns:a16="http://schemas.microsoft.com/office/drawing/2014/main" id="{5A4D8406-EF41-4FCC-9D27-72D91F9CA9A1}"/>
              </a:ext>
            </a:extLst>
          </p:cNvPr>
          <p:cNvSpPr>
            <a:spLocks xmlns:a="http://schemas.openxmlformats.org/drawingml/2006/main" noGrp="1"/>
          </p:cNvSpPr>
          <p:nvPr/>
        </p:nvSpPr>
        <p:spPr>
          <a:xfrm xmlns:a="http://schemas.openxmlformats.org/drawingml/2006/main">
            <a:off x="4000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A</a:t>
            </a:r>
          </a:p>
        </p:txBody>
      </p:sp>
      <p:sp>
        <p:nvSpPr>
          <p:cNvPr id="25" name="">
            <a:extLst xmlns:a="http://schemas.openxmlformats.org/drawingml/2006/main">
              <a:ext uri="{FF2B5EF4-FFF2-40B4-BE49-F238E27FC236}">
                <a16:creationId xmlns:a16="http://schemas.microsoft.com/office/drawing/2014/main" id="{02B91DAC-1897-40C7-BAF4-373486CD55EE}"/>
              </a:ext>
            </a:extLst>
          </p:cNvPr>
          <p:cNvSpPr>
            <a:spLocks xmlns:a="http://schemas.openxmlformats.org/drawingml/2006/main" noGrp="1"/>
          </p:cNvSpPr>
          <p:nvPr/>
        </p:nvSpPr>
        <p:spPr>
          <a:xfrm xmlns:a="http://schemas.openxmlformats.org/drawingml/2006/main">
            <a:off x="3667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V=10</a:t>
            </a:r>
          </a:p>
        </p:txBody>
      </p:sp>
      <p:sp>
        <p:nvSpPr>
          <p:cNvPr id="26" name="">
            <a:extLst xmlns:a="http://schemas.openxmlformats.org/drawingml/2006/main">
              <a:ext uri="{FF2B5EF4-FFF2-40B4-BE49-F238E27FC236}">
                <a16:creationId xmlns:a16="http://schemas.microsoft.com/office/drawing/2014/main" id="{DFE3CE7D-17FD-4218-8646-AB67C192F905}"/>
              </a:ext>
            </a:extLst>
          </p:cNvPr>
          <p:cNvSpPr>
            <a:spLocks xmlns:a="http://schemas.openxmlformats.org/drawingml/2006/main" noGrp="1"/>
          </p:cNvSpPr>
          <p:nvPr/>
        </p:nvSpPr>
        <p:spPr>
          <a:xfrm xmlns:a="http://schemas.openxmlformats.org/drawingml/2006/main">
            <a:off x="3724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27" name="">
            <a:extLst xmlns:a="http://schemas.openxmlformats.org/drawingml/2006/main">
              <a:ext uri="{FF2B5EF4-FFF2-40B4-BE49-F238E27FC236}">
                <a16:creationId xmlns:a16="http://schemas.microsoft.com/office/drawing/2014/main" id="{0A83535D-D6D5-4666-B483-78A2D59A1CD8}"/>
              </a:ext>
            </a:extLst>
          </p:cNvPr>
          <p:cNvSpPr>
            <a:spLocks xmlns:a="http://schemas.openxmlformats.org/drawingml/2006/main" noGrp="1"/>
          </p:cNvSpPr>
          <p:nvPr/>
        </p:nvSpPr>
        <p:spPr>
          <a:xfrm xmlns:a="http://schemas.openxmlformats.org/drawingml/2006/main">
            <a:off x="4000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B</a:t>
            </a:r>
          </a:p>
        </p:txBody>
      </p:sp>
      <p:sp>
        <p:nvSpPr>
          <p:cNvPr id="28" name="">
            <a:extLst xmlns:a="http://schemas.openxmlformats.org/drawingml/2006/main">
              <a:ext uri="{FF2B5EF4-FFF2-40B4-BE49-F238E27FC236}">
                <a16:creationId xmlns:a16="http://schemas.microsoft.com/office/drawing/2014/main" id="{55BFC9C2-1A24-4714-98EE-376C3B63AD5F}"/>
              </a:ext>
            </a:extLst>
          </p:cNvPr>
          <p:cNvSpPr>
            <a:spLocks xmlns:a="http://schemas.openxmlformats.org/drawingml/2006/main" noGrp="1"/>
          </p:cNvSpPr>
          <p:nvPr/>
        </p:nvSpPr>
        <p:spPr>
          <a:xfrm xmlns:a="http://schemas.openxmlformats.org/drawingml/2006/main">
            <a:off x="3667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29" name="">
            <a:extLst xmlns:a="http://schemas.openxmlformats.org/drawingml/2006/main">
              <a:ext uri="{FF2B5EF4-FFF2-40B4-BE49-F238E27FC236}">
                <a16:creationId xmlns:a16="http://schemas.microsoft.com/office/drawing/2014/main" id="{5A618194-EA87-4373-B395-15CA8780FD24}"/>
              </a:ext>
            </a:extLst>
          </p:cNvPr>
          <p:cNvSpPr>
            <a:spLocks xmlns:a="http://schemas.openxmlformats.org/drawingml/2006/main" noGrp="1"/>
          </p:cNvSpPr>
          <p:nvPr/>
        </p:nvSpPr>
        <p:spPr>
          <a:xfrm xmlns:a="http://schemas.openxmlformats.org/drawingml/2006/main">
            <a:off x="6772275" y="187642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0" name="">
            <a:extLst xmlns:a="http://schemas.openxmlformats.org/drawingml/2006/main">
              <a:ext uri="{FF2B5EF4-FFF2-40B4-BE49-F238E27FC236}">
                <a16:creationId xmlns:a16="http://schemas.microsoft.com/office/drawing/2014/main" id="{41CD2150-3C8C-4BD0-AE95-64C0D1EB6787}"/>
              </a:ext>
            </a:extLst>
          </p:cNvPr>
          <p:cNvSpPr>
            <a:spLocks xmlns:a="http://schemas.openxmlformats.org/drawingml/2006/main" noGrp="1"/>
          </p:cNvSpPr>
          <p:nvPr/>
        </p:nvSpPr>
        <p:spPr>
          <a:xfrm xmlns:a="http://schemas.openxmlformats.org/drawingml/2006/main">
            <a:off x="7048500" y="20288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C</a:t>
            </a:r>
          </a:p>
        </p:txBody>
      </p:sp>
      <p:sp>
        <p:nvSpPr>
          <p:cNvPr id="31" name="">
            <a:extLst xmlns:a="http://schemas.openxmlformats.org/drawingml/2006/main">
              <a:ext uri="{FF2B5EF4-FFF2-40B4-BE49-F238E27FC236}">
                <a16:creationId xmlns:a16="http://schemas.microsoft.com/office/drawing/2014/main" id="{5D7ECC5F-216C-48DF-B566-EDE310911606}"/>
              </a:ext>
            </a:extLst>
          </p:cNvPr>
          <p:cNvSpPr>
            <a:spLocks xmlns:a="http://schemas.openxmlformats.org/drawingml/2006/main" noGrp="1"/>
          </p:cNvSpPr>
          <p:nvPr/>
        </p:nvSpPr>
        <p:spPr>
          <a:xfrm xmlns:a="http://schemas.openxmlformats.org/drawingml/2006/main">
            <a:off x="6715125" y="26670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V=1</a:t>
            </a:r>
          </a:p>
        </p:txBody>
      </p:sp>
      <p:sp>
        <p:nvSpPr>
          <p:cNvPr id="32" name="">
            <a:extLst xmlns:a="http://schemas.openxmlformats.org/drawingml/2006/main">
              <a:ext uri="{FF2B5EF4-FFF2-40B4-BE49-F238E27FC236}">
                <a16:creationId xmlns:a16="http://schemas.microsoft.com/office/drawing/2014/main" id="{967B3AC0-7175-4F74-ADED-8025691B89B3}"/>
              </a:ext>
            </a:extLst>
          </p:cNvPr>
          <p:cNvSpPr>
            <a:spLocks xmlns:a="http://schemas.openxmlformats.org/drawingml/2006/main" noGrp="1"/>
          </p:cNvSpPr>
          <p:nvPr/>
        </p:nvSpPr>
        <p:spPr>
          <a:xfrm xmlns:a="http://schemas.openxmlformats.org/drawingml/2006/main">
            <a:off x="6772275" y="4448175"/>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3" name="">
            <a:extLst xmlns:a="http://schemas.openxmlformats.org/drawingml/2006/main">
              <a:ext uri="{FF2B5EF4-FFF2-40B4-BE49-F238E27FC236}">
                <a16:creationId xmlns:a16="http://schemas.microsoft.com/office/drawing/2014/main" id="{5CA5C916-70B6-45C3-A4FA-FE9F8B964711}"/>
              </a:ext>
            </a:extLst>
          </p:cNvPr>
          <p:cNvSpPr>
            <a:spLocks xmlns:a="http://schemas.openxmlformats.org/drawingml/2006/main" noGrp="1"/>
          </p:cNvSpPr>
          <p:nvPr/>
        </p:nvSpPr>
        <p:spPr>
          <a:xfrm xmlns:a="http://schemas.openxmlformats.org/drawingml/2006/main">
            <a:off x="7048500" y="46005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D</a:t>
            </a:r>
          </a:p>
        </p:txBody>
      </p:sp>
      <p:sp>
        <p:nvSpPr>
          <p:cNvPr id="34" name="">
            <a:extLst xmlns:a="http://schemas.openxmlformats.org/drawingml/2006/main">
              <a:ext uri="{FF2B5EF4-FFF2-40B4-BE49-F238E27FC236}">
                <a16:creationId xmlns:a16="http://schemas.microsoft.com/office/drawing/2014/main" id="{F7DCE6B8-3A46-4490-A5D1-4514B4B6748A}"/>
              </a:ext>
            </a:extLst>
          </p:cNvPr>
          <p:cNvSpPr>
            <a:spLocks xmlns:a="http://schemas.openxmlformats.org/drawingml/2006/main" noGrp="1"/>
          </p:cNvSpPr>
          <p:nvPr/>
        </p:nvSpPr>
        <p:spPr>
          <a:xfrm xmlns:a="http://schemas.openxmlformats.org/drawingml/2006/main">
            <a:off x="6715125" y="5238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V=2</a:t>
            </a:r>
          </a:p>
        </p:txBody>
      </p:sp>
      <p:sp>
        <p:nvSpPr>
          <p:cNvPr id="35" name="">
            <a:extLst xmlns:a="http://schemas.openxmlformats.org/drawingml/2006/main">
              <a:ext uri="{FF2B5EF4-FFF2-40B4-BE49-F238E27FC236}">
                <a16:creationId xmlns:a16="http://schemas.microsoft.com/office/drawing/2014/main" id="{13B14028-187E-4D56-AF31-4263ADA22B05}"/>
              </a:ext>
            </a:extLst>
          </p:cNvPr>
          <p:cNvSpPr>
            <a:spLocks xmlns:a="http://schemas.openxmlformats.org/drawingml/2006/main" noGrp="1"/>
          </p:cNvSpPr>
          <p:nvPr/>
        </p:nvSpPr>
        <p:spPr>
          <a:xfrm xmlns:a="http://schemas.openxmlformats.org/drawingml/2006/main">
            <a:off x="9820275" y="3162300"/>
            <a:ext cx="933450" cy="723900"/>
          </a:xfrm>
          <a:prstGeom xmlns:a="http://schemas.openxmlformats.org/drawingml/2006/main" prst="ellipse">
            <a:avLst/>
          </a:prstGeom>
          <a:solidFill xmlns:a="http://schemas.openxmlformats.org/drawingml/2006/main">
            <a:srgbClr val="DEF3EC"/>
          </a:solidFill>
          <a:ln xmlns:a="http://schemas.openxmlformats.org/drawingml/2006/main" w="9525">
            <a:solidFill>
              <a:srgbClr val="B8CBD8"/>
            </a:solidFill>
            <a:prstDash val="solid"/>
          </a:ln>
        </p:spPr>
      </p:sp>
      <p:sp>
        <p:nvSpPr>
          <p:cNvPr id="36" name="">
            <a:extLst xmlns:a="http://schemas.openxmlformats.org/drawingml/2006/main">
              <a:ext uri="{FF2B5EF4-FFF2-40B4-BE49-F238E27FC236}">
                <a16:creationId xmlns:a16="http://schemas.microsoft.com/office/drawing/2014/main" id="{96FA12CC-F914-4153-8542-60DD92C781D9}"/>
              </a:ext>
            </a:extLst>
          </p:cNvPr>
          <p:cNvSpPr>
            <a:spLocks xmlns:a="http://schemas.openxmlformats.org/drawingml/2006/main" noGrp="1"/>
          </p:cNvSpPr>
          <p:nvPr/>
        </p:nvSpPr>
        <p:spPr>
          <a:xfrm xmlns:a="http://schemas.openxmlformats.org/drawingml/2006/main">
            <a:off x="10096500" y="3314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93247"/>
                </a:solidFill>
                <a:latin typeface="Arial"/>
                <a:ea typeface="Arial"/>
                <a:cs typeface="Arial"/>
              </a:defRPr>
            </a:defPPr>
          </a:lstStyle>
          <a:p xmlns:a="http://schemas.openxmlformats.org/drawingml/2006/main">
            <a:pPr>
              <a:defRPr sz="2250" b="1">
                <a:solidFill>
                  <a:srgbClr val="193247"/>
                </a:solidFill>
                <a:latin typeface="Arial"/>
                <a:ea typeface="Arial"/>
                <a:cs typeface="Arial"/>
              </a:defRPr>
            </a:pPr>
            <a:r>
              <a:rPr sz="2250" b="1">
                <a:solidFill>
                  <a:srgbClr val="193247"/>
                </a:solidFill>
                <a:latin typeface="Arial"/>
                <a:ea typeface="Arial"/>
                <a:cs typeface="Arial"/>
              </a:rPr>
              <a:t>T</a:t>
            </a:r>
          </a:p>
        </p:txBody>
      </p:sp>
      <p:sp>
        <p:nvSpPr>
          <p:cNvPr id="37" name="">
            <a:extLst xmlns:a="http://schemas.openxmlformats.org/drawingml/2006/main">
              <a:ext uri="{FF2B5EF4-FFF2-40B4-BE49-F238E27FC236}">
                <a16:creationId xmlns:a16="http://schemas.microsoft.com/office/drawing/2014/main" id="{3AFB1C3E-9C28-44DF-97AE-1EFD1A777C95}"/>
              </a:ext>
            </a:extLst>
          </p:cNvPr>
          <p:cNvSpPr>
            <a:spLocks xmlns:a="http://schemas.openxmlformats.org/drawingml/2006/main" noGrp="1"/>
          </p:cNvSpPr>
          <p:nvPr/>
        </p:nvSpPr>
        <p:spPr>
          <a:xfrm xmlns:a="http://schemas.openxmlformats.org/drawingml/2006/main">
            <a:off x="9763125" y="3952875"/>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08B85"/>
                </a:solidFill>
                <a:latin typeface="Arial"/>
                <a:ea typeface="Arial"/>
                <a:cs typeface="Arial"/>
              </a:defRPr>
            </a:defPPr>
          </a:lstStyle>
          <a:p xmlns:a="http://schemas.openxmlformats.org/drawingml/2006/main">
            <a:pPr>
              <a:defRPr sz="2025" b="1">
                <a:solidFill>
                  <a:srgbClr val="008B85"/>
                </a:solidFill>
                <a:latin typeface="Arial"/>
                <a:ea typeface="Arial"/>
                <a:cs typeface="Arial"/>
              </a:defRPr>
            </a:pPr>
            <a:r>
              <a:rPr sz="2025" b="1">
                <a:solidFill>
                  <a:srgbClr val="008B85"/>
                </a:solidFill>
                <a:latin typeface="Arial"/>
                <a:ea typeface="Arial"/>
                <a:cs typeface="Arial"/>
              </a:rPr>
              <a:t>V=0</a:t>
            </a:r>
          </a:p>
        </p:txBody>
      </p:sp>
    </p:spTree>
    <p:extLst>
      <p:ext uri="{BB962C8B-B14F-4D97-AF65-F5344CB8AC3E}">
        <p14:creationId xmlns:p14="http://schemas.microsoft.com/office/powerpoint/2010/main" val="1408347798"/>
      </p:ext>
    </p:extLst>
  </p:cSld>
</p:sld>
</file>

<file path=ppt/slides/v7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5E7BCE-CC69-4307-A049-F27EB737CAE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Мемоізація: одна підзадача для різних планів</a:t>
            </a:r>
          </a:p>
        </p:txBody>
      </p:sp>
      <p:sp>
        <p:nvSpPr>
          <p:cNvPr id="2" name="">
            <a:extLst xmlns:a="http://schemas.openxmlformats.org/drawingml/2006/main">
              <a:ext uri="{FF2B5EF4-FFF2-40B4-BE49-F238E27FC236}">
                <a16:creationId xmlns:a16="http://schemas.microsoft.com/office/drawing/2014/main" id="{424A7256-B3FB-4841-8BC3-7EF74E313AA4}"/>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Стан (k, b) зберігає майбутню підзадачу. Уже отримана користь додається окремо.</a:t>
            </a:r>
          </a:p>
        </p:txBody>
      </p:sp>
      <p:sp>
        <p:nvSpPr>
          <p:cNvPr id="3" name="">
            <a:extLst xmlns:a="http://schemas.openxmlformats.org/drawingml/2006/main">
              <a:ext uri="{FF2B5EF4-FFF2-40B4-BE49-F238E27FC236}">
                <a16:creationId xmlns:a16="http://schemas.microsoft.com/office/drawing/2014/main" id="{5063BC9E-3920-4C63-94AE-57F9D4763897}"/>
              </a:ext>
            </a:extLst>
          </p:cNvPr>
          <p:cNvSpPr>
            <a:spLocks xmlns:a="http://schemas.openxmlformats.org/drawingml/2006/main" noGrp="1"/>
          </p:cNvSpPr>
          <p:nvPr/>
        </p:nvSpPr>
        <p:spPr>
          <a:xfrm xmlns:a="http://schemas.openxmlformats.org/drawingml/2006/main">
            <a:off x="685800" y="1714500"/>
            <a:ext cx="3810000" cy="90487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A=0, B=3</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витрачено 3 GPU</a:t>
            </a:r>
          </a:p>
        </p:txBody>
      </p:sp>
      <p:sp>
        <p:nvSpPr>
          <p:cNvPr id="4" name="">
            <a:extLst xmlns:a="http://schemas.openxmlformats.org/drawingml/2006/main">
              <a:ext uri="{FF2B5EF4-FFF2-40B4-BE49-F238E27FC236}">
                <a16:creationId xmlns:a16="http://schemas.microsoft.com/office/drawing/2014/main" id="{26AB9984-C5F1-47A6-B0B5-5116886C863D}"/>
              </a:ext>
            </a:extLst>
          </p:cNvPr>
          <p:cNvSpPr>
            <a:spLocks xmlns:a="http://schemas.openxmlformats.org/drawingml/2006/main" noGrp="1"/>
          </p:cNvSpPr>
          <p:nvPr/>
        </p:nvSpPr>
        <p:spPr>
          <a:xfrm xmlns:a="http://schemas.openxmlformats.org/drawingml/2006/main">
            <a:off x="685800" y="3857625"/>
            <a:ext cx="3810000" cy="90487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A=1, B=2</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витрачено 3 GPU</a:t>
            </a:r>
          </a:p>
        </p:txBody>
      </p:sp>
      <p:sp>
        <p:nvSpPr>
          <p:cNvPr id="5" name="">
            <a:extLst xmlns:a="http://schemas.openxmlformats.org/drawingml/2006/main">
              <a:ext uri="{FF2B5EF4-FFF2-40B4-BE49-F238E27FC236}">
                <a16:creationId xmlns:a16="http://schemas.microsoft.com/office/drawing/2014/main" id="{B0EDE713-4CE0-46E2-969A-35C583C57801}"/>
              </a:ext>
            </a:extLst>
          </p:cNvPr>
          <p:cNvSpPr>
            <a:spLocks xmlns:a="http://schemas.openxmlformats.org/drawingml/2006/main" noGrp="1"/>
          </p:cNvSpPr>
          <p:nvPr/>
        </p:nvSpPr>
        <p:spPr>
          <a:xfrm xmlns:a="http://schemas.openxmlformats.org/drawingml/2006/main">
            <a:off x="4495800" y="2162175"/>
            <a:ext cx="1714500" cy="0"/>
          </a:xfrm>
          <a:prstGeom xmlns:a="http://schemas.openxmlformats.org/drawingml/2006/main" prst="line">
            <a:avLst/>
          </a:prstGeom>
          <a:ln xmlns:a="http://schemas.openxmlformats.org/drawingml/2006/main" w="28575">
            <a:solidFill>
              <a:srgbClr val="008B85"/>
            </a:solidFill>
            <a:prstDash val="solid"/>
          </a:ln>
        </p:spPr>
      </p:sp>
      <p:sp>
        <p:nvSpPr>
          <p:cNvPr id="6" name="">
            <a:extLst xmlns:a="http://schemas.openxmlformats.org/drawingml/2006/main">
              <a:ext uri="{FF2B5EF4-FFF2-40B4-BE49-F238E27FC236}">
                <a16:creationId xmlns:a16="http://schemas.microsoft.com/office/drawing/2014/main" id="{CDC764B6-6B23-43DE-B8B7-65F13799ECAA}"/>
              </a:ext>
            </a:extLst>
          </p:cNvPr>
          <p:cNvSpPr>
            <a:spLocks xmlns:a="http://schemas.openxmlformats.org/drawingml/2006/main" noGrp="1"/>
          </p:cNvSpPr>
          <p:nvPr/>
        </p:nvSpPr>
        <p:spPr>
          <a:xfrm xmlns:a="http://schemas.openxmlformats.org/drawingml/2006/main">
            <a:off x="6210300" y="2162175"/>
            <a:ext cx="0" cy="790575"/>
          </a:xfrm>
          <a:prstGeom xmlns:a="http://schemas.openxmlformats.org/drawingml/2006/main" prst="line">
            <a:avLst/>
          </a:prstGeom>
          <a:ln xmlns:a="http://schemas.openxmlformats.org/drawingml/2006/main" w="28575">
            <a:solidFill>
              <a:srgbClr val="008B85"/>
            </a:solidFill>
            <a:prstDash val="solid"/>
          </a:ln>
        </p:spPr>
      </p:sp>
      <p:sp>
        <p:nvSpPr>
          <p:cNvPr id="7" name="">
            <a:extLst xmlns:a="http://schemas.openxmlformats.org/drawingml/2006/main">
              <a:ext uri="{FF2B5EF4-FFF2-40B4-BE49-F238E27FC236}">
                <a16:creationId xmlns:a16="http://schemas.microsoft.com/office/drawing/2014/main" id="{D9B6B639-ABC7-4CE8-BBEE-6BD00F2D12D2}"/>
              </a:ext>
            </a:extLst>
          </p:cNvPr>
          <p:cNvSpPr>
            <a:spLocks xmlns:a="http://schemas.openxmlformats.org/drawingml/2006/main" noGrp="1"/>
          </p:cNvSpPr>
          <p:nvPr/>
        </p:nvSpPr>
        <p:spPr>
          <a:xfrm xmlns:a="http://schemas.openxmlformats.org/drawingml/2006/main">
            <a:off x="6210300" y="2952750"/>
            <a:ext cx="790575"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8" name="">
            <a:extLst xmlns:a="http://schemas.openxmlformats.org/drawingml/2006/main">
              <a:ext uri="{FF2B5EF4-FFF2-40B4-BE49-F238E27FC236}">
                <a16:creationId xmlns:a16="http://schemas.microsoft.com/office/drawing/2014/main" id="{38F0D21A-9FAF-4810-A816-4BE803506061}"/>
              </a:ext>
            </a:extLst>
          </p:cNvPr>
          <p:cNvSpPr>
            <a:spLocks xmlns:a="http://schemas.openxmlformats.org/drawingml/2006/main" noGrp="1"/>
          </p:cNvSpPr>
          <p:nvPr/>
        </p:nvSpPr>
        <p:spPr>
          <a:xfrm xmlns:a="http://schemas.openxmlformats.org/drawingml/2006/main">
            <a:off x="4495800" y="4305300"/>
            <a:ext cx="1714500" cy="0"/>
          </a:xfrm>
          <a:prstGeom xmlns:a="http://schemas.openxmlformats.org/drawingml/2006/main" prst="line">
            <a:avLst/>
          </a:prstGeom>
          <a:ln xmlns:a="http://schemas.openxmlformats.org/drawingml/2006/main" w="28575">
            <a:solidFill>
              <a:srgbClr val="008B85"/>
            </a:solidFill>
            <a:prstDash val="solid"/>
          </a:ln>
        </p:spPr>
      </p:sp>
      <p:sp>
        <p:nvSpPr>
          <p:cNvPr id="9" name="">
            <a:extLst xmlns:a="http://schemas.openxmlformats.org/drawingml/2006/main">
              <a:ext uri="{FF2B5EF4-FFF2-40B4-BE49-F238E27FC236}">
                <a16:creationId xmlns:a16="http://schemas.microsoft.com/office/drawing/2014/main" id="{AA914EAE-F047-4969-96C7-FCB665A1D2BB}"/>
              </a:ext>
            </a:extLst>
          </p:cNvPr>
          <p:cNvSpPr>
            <a:spLocks xmlns:a="http://schemas.openxmlformats.org/drawingml/2006/main" noGrp="1"/>
          </p:cNvSpPr>
          <p:nvPr/>
        </p:nvSpPr>
        <p:spPr>
          <a:xfrm xmlns:a="http://schemas.openxmlformats.org/drawingml/2006/main">
            <a:off x="6210300" y="3714750"/>
            <a:ext cx="0" cy="590550"/>
          </a:xfrm>
          <a:prstGeom xmlns:a="http://schemas.openxmlformats.org/drawingml/2006/main" prst="line">
            <a:avLst/>
          </a:prstGeom>
          <a:ln xmlns:a="http://schemas.openxmlformats.org/drawingml/2006/main" w="28575">
            <a:solidFill>
              <a:srgbClr val="008B85"/>
            </a:solidFill>
            <a:prstDash val="solid"/>
          </a:ln>
        </p:spPr>
      </p:sp>
      <p:sp>
        <p:nvSpPr>
          <p:cNvPr id="10" name="">
            <a:extLst xmlns:a="http://schemas.openxmlformats.org/drawingml/2006/main">
              <a:ext uri="{FF2B5EF4-FFF2-40B4-BE49-F238E27FC236}">
                <a16:creationId xmlns:a16="http://schemas.microsoft.com/office/drawing/2014/main" id="{211E933E-D7AD-48C8-AD5B-4BB68643B4DE}"/>
              </a:ext>
            </a:extLst>
          </p:cNvPr>
          <p:cNvSpPr>
            <a:spLocks xmlns:a="http://schemas.openxmlformats.org/drawingml/2006/main" noGrp="1"/>
          </p:cNvSpPr>
          <p:nvPr/>
        </p:nvSpPr>
        <p:spPr>
          <a:xfrm xmlns:a="http://schemas.openxmlformats.org/drawingml/2006/main">
            <a:off x="6210300" y="3714750"/>
            <a:ext cx="790575"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1" name="">
            <a:extLst xmlns:a="http://schemas.openxmlformats.org/drawingml/2006/main">
              <a:ext uri="{FF2B5EF4-FFF2-40B4-BE49-F238E27FC236}">
                <a16:creationId xmlns:a16="http://schemas.microsoft.com/office/drawing/2014/main" id="{CA9678C9-0059-460E-95FD-8058410C2BF0}"/>
              </a:ext>
            </a:extLst>
          </p:cNvPr>
          <p:cNvSpPr>
            <a:spLocks xmlns:a="http://schemas.openxmlformats.org/drawingml/2006/main" noGrp="1"/>
          </p:cNvSpPr>
          <p:nvPr/>
        </p:nvSpPr>
        <p:spPr>
          <a:xfrm xmlns:a="http://schemas.openxmlformats.org/drawingml/2006/main">
            <a:off x="7000875" y="2619375"/>
            <a:ext cx="4286250" cy="13811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Попереду C</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залишилося 3 GPU</a:t>
            </a:r>
          </a:p>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V₃(3) = 11</a:t>
            </a:r>
          </a:p>
        </p:txBody>
      </p:sp>
      <p:sp>
        <p:nvSpPr>
          <p:cNvPr id="12" name="">
            <a:extLst xmlns:a="http://schemas.openxmlformats.org/drawingml/2006/main">
              <a:ext uri="{FF2B5EF4-FFF2-40B4-BE49-F238E27FC236}">
                <a16:creationId xmlns:a16="http://schemas.microsoft.com/office/drawing/2014/main" id="{D457CB87-E230-4802-9C53-FF12053480D0}"/>
              </a:ext>
            </a:extLst>
          </p:cNvPr>
          <p:cNvSpPr>
            <a:spLocks xmlns:a="http://schemas.openxmlformats.org/drawingml/2006/main" noGrp="1"/>
          </p:cNvSpPr>
          <p:nvPr/>
        </p:nvSpPr>
        <p:spPr>
          <a:xfrm xmlns:a="http://schemas.openxmlformats.org/drawingml/2006/main">
            <a:off x="685800" y="52387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Користь минулих рішень різна.</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Найкраще продовження однакове, тому V₃(3) обчислюємо один раз.</a:t>
            </a:r>
          </a:p>
        </p:txBody>
      </p:sp>
    </p:spTree>
    <p:extLst>
      <p:ext uri="{BB962C8B-B14F-4D97-AF65-F5344CB8AC3E}">
        <p14:creationId xmlns:p14="http://schemas.microsoft.com/office/powerpoint/2010/main" val="842093263"/>
      </p:ext>
    </p:extLst>
  </p:cSld>
</p:sld>
</file>

<file path=ppt/slides/v7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C524E4D-C00A-4037-8A14-6BD5ACD58F0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Беллман–Форд: шари підзадач</a:t>
            </a:r>
          </a:p>
        </p:txBody>
      </p:sp>
      <p:sp>
        <p:nvSpPr>
          <p:cNvPr id="2" name="">
            <a:extLst xmlns:a="http://schemas.openxmlformats.org/drawingml/2006/main">
              <a:ext uri="{FF2B5EF4-FFF2-40B4-BE49-F238E27FC236}">
                <a16:creationId xmlns:a16="http://schemas.microsoft.com/office/drawing/2014/main" id="{A5FB74B4-7111-4080-AA84-32225F26C3B5}"/>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Це шлях залежностей обчислень. Шар k дозволяє не більше ніж k ребер.</a:t>
            </a:r>
          </a:p>
        </p:txBody>
      </p:sp>
      <p:sp>
        <p:nvSpPr>
          <p:cNvPr id="3" name="">
            <a:extLst xmlns:a="http://schemas.openxmlformats.org/drawingml/2006/main">
              <a:ext uri="{FF2B5EF4-FFF2-40B4-BE49-F238E27FC236}">
                <a16:creationId xmlns:a16="http://schemas.microsoft.com/office/drawing/2014/main" id="{A34E1E1C-0E57-48C2-BA23-7DFF142717FF}"/>
              </a:ext>
            </a:extLst>
          </p:cNvPr>
          <p:cNvSpPr>
            <a:spLocks xmlns:a="http://schemas.openxmlformats.org/drawingml/2006/main" noGrp="1"/>
          </p:cNvSpPr>
          <p:nvPr/>
        </p:nvSpPr>
        <p:spPr>
          <a:xfrm xmlns:a="http://schemas.openxmlformats.org/drawingml/2006/main">
            <a:off x="68580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0</a:t>
            </a:r>
          </a:p>
        </p:txBody>
      </p:sp>
      <p:sp>
        <p:nvSpPr>
          <p:cNvPr id="4" name="">
            <a:extLst xmlns:a="http://schemas.openxmlformats.org/drawingml/2006/main">
              <a:ext uri="{FF2B5EF4-FFF2-40B4-BE49-F238E27FC236}">
                <a16:creationId xmlns:a16="http://schemas.microsoft.com/office/drawing/2014/main" id="{6C54AB92-75F3-4128-8BEB-309FDA71D1FB}"/>
              </a:ext>
            </a:extLst>
          </p:cNvPr>
          <p:cNvSpPr>
            <a:spLocks xmlns:a="http://schemas.openxmlformats.org/drawingml/2006/main" noGrp="1"/>
          </p:cNvSpPr>
          <p:nvPr/>
        </p:nvSpPr>
        <p:spPr>
          <a:xfrm xmlns:a="http://schemas.openxmlformats.org/drawingml/2006/main">
            <a:off x="68580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S: 0</a:t>
            </a:r>
          </a:p>
        </p:txBody>
      </p:sp>
      <p:sp>
        <p:nvSpPr>
          <p:cNvPr id="5" name="">
            <a:extLst xmlns:a="http://schemas.openxmlformats.org/drawingml/2006/main">
              <a:ext uri="{FF2B5EF4-FFF2-40B4-BE49-F238E27FC236}">
                <a16:creationId xmlns:a16="http://schemas.microsoft.com/office/drawing/2014/main" id="{C1652AF3-820D-4F15-8F0C-1581B91A138C}"/>
              </a:ext>
            </a:extLst>
          </p:cNvPr>
          <p:cNvSpPr>
            <a:spLocks xmlns:a="http://schemas.openxmlformats.org/drawingml/2006/main" noGrp="1"/>
          </p:cNvSpPr>
          <p:nvPr/>
        </p:nvSpPr>
        <p:spPr>
          <a:xfrm xmlns:a="http://schemas.openxmlformats.org/drawingml/2006/main">
            <a:off x="259080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6" name="">
            <a:extLst xmlns:a="http://schemas.openxmlformats.org/drawingml/2006/main">
              <a:ext uri="{FF2B5EF4-FFF2-40B4-BE49-F238E27FC236}">
                <a16:creationId xmlns:a16="http://schemas.microsoft.com/office/drawing/2014/main" id="{EDF988D2-3AFA-4F72-A6BD-4DCECE0ADF59}"/>
              </a:ext>
            </a:extLst>
          </p:cNvPr>
          <p:cNvSpPr>
            <a:spLocks xmlns:a="http://schemas.openxmlformats.org/drawingml/2006/main" noGrp="1"/>
          </p:cNvSpPr>
          <p:nvPr/>
        </p:nvSpPr>
        <p:spPr>
          <a:xfrm xmlns:a="http://schemas.openxmlformats.org/drawingml/2006/main">
            <a:off x="287655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1</a:t>
            </a:r>
          </a:p>
        </p:txBody>
      </p:sp>
      <p:sp>
        <p:nvSpPr>
          <p:cNvPr id="7" name="">
            <a:extLst xmlns:a="http://schemas.openxmlformats.org/drawingml/2006/main">
              <a:ext uri="{FF2B5EF4-FFF2-40B4-BE49-F238E27FC236}">
                <a16:creationId xmlns:a16="http://schemas.microsoft.com/office/drawing/2014/main" id="{E07C8EC4-0ECF-4BC1-B720-3D7A2DCDF4C0}"/>
              </a:ext>
            </a:extLst>
          </p:cNvPr>
          <p:cNvSpPr>
            <a:spLocks xmlns:a="http://schemas.openxmlformats.org/drawingml/2006/main" noGrp="1"/>
          </p:cNvSpPr>
          <p:nvPr/>
        </p:nvSpPr>
        <p:spPr>
          <a:xfrm xmlns:a="http://schemas.openxmlformats.org/drawingml/2006/main">
            <a:off x="287655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 4</a:t>
            </a:r>
          </a:p>
        </p:txBody>
      </p:sp>
      <p:sp>
        <p:nvSpPr>
          <p:cNvPr id="8" name="">
            <a:extLst xmlns:a="http://schemas.openxmlformats.org/drawingml/2006/main">
              <a:ext uri="{FF2B5EF4-FFF2-40B4-BE49-F238E27FC236}">
                <a16:creationId xmlns:a16="http://schemas.microsoft.com/office/drawing/2014/main" id="{D95622AB-B996-490D-A8AE-4FD1E9B4088D}"/>
              </a:ext>
            </a:extLst>
          </p:cNvPr>
          <p:cNvSpPr>
            <a:spLocks xmlns:a="http://schemas.openxmlformats.org/drawingml/2006/main" noGrp="1"/>
          </p:cNvSpPr>
          <p:nvPr/>
        </p:nvSpPr>
        <p:spPr>
          <a:xfrm xmlns:a="http://schemas.openxmlformats.org/drawingml/2006/main">
            <a:off x="478155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9" name="">
            <a:extLst xmlns:a="http://schemas.openxmlformats.org/drawingml/2006/main">
              <a:ext uri="{FF2B5EF4-FFF2-40B4-BE49-F238E27FC236}">
                <a16:creationId xmlns:a16="http://schemas.microsoft.com/office/drawing/2014/main" id="{6CF4919A-29A5-4C3F-9686-CF71428B9D30}"/>
              </a:ext>
            </a:extLst>
          </p:cNvPr>
          <p:cNvSpPr>
            <a:spLocks xmlns:a="http://schemas.openxmlformats.org/drawingml/2006/main" noGrp="1"/>
          </p:cNvSpPr>
          <p:nvPr/>
        </p:nvSpPr>
        <p:spPr>
          <a:xfrm xmlns:a="http://schemas.openxmlformats.org/drawingml/2006/main">
            <a:off x="506730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2</a:t>
            </a:r>
          </a:p>
        </p:txBody>
      </p:sp>
      <p:sp>
        <p:nvSpPr>
          <p:cNvPr id="10" name="">
            <a:extLst xmlns:a="http://schemas.openxmlformats.org/drawingml/2006/main">
              <a:ext uri="{FF2B5EF4-FFF2-40B4-BE49-F238E27FC236}">
                <a16:creationId xmlns:a16="http://schemas.microsoft.com/office/drawing/2014/main" id="{9765429D-5975-4AAF-B985-676E21C32462}"/>
              </a:ext>
            </a:extLst>
          </p:cNvPr>
          <p:cNvSpPr>
            <a:spLocks xmlns:a="http://schemas.openxmlformats.org/drawingml/2006/main" noGrp="1"/>
          </p:cNvSpPr>
          <p:nvPr/>
        </p:nvSpPr>
        <p:spPr>
          <a:xfrm xmlns:a="http://schemas.openxmlformats.org/drawingml/2006/main">
            <a:off x="506730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B: 5</a:t>
            </a:r>
          </a:p>
        </p:txBody>
      </p:sp>
      <p:sp>
        <p:nvSpPr>
          <p:cNvPr id="11" name="">
            <a:extLst xmlns:a="http://schemas.openxmlformats.org/drawingml/2006/main">
              <a:ext uri="{FF2B5EF4-FFF2-40B4-BE49-F238E27FC236}">
                <a16:creationId xmlns:a16="http://schemas.microsoft.com/office/drawing/2014/main" id="{005D665E-8541-4606-AA9E-E3162D0D2C7A}"/>
              </a:ext>
            </a:extLst>
          </p:cNvPr>
          <p:cNvSpPr>
            <a:spLocks xmlns:a="http://schemas.openxmlformats.org/drawingml/2006/main" noGrp="1"/>
          </p:cNvSpPr>
          <p:nvPr/>
        </p:nvSpPr>
        <p:spPr>
          <a:xfrm xmlns:a="http://schemas.openxmlformats.org/drawingml/2006/main">
            <a:off x="697230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2" name="">
            <a:extLst xmlns:a="http://schemas.openxmlformats.org/drawingml/2006/main">
              <a:ext uri="{FF2B5EF4-FFF2-40B4-BE49-F238E27FC236}">
                <a16:creationId xmlns:a16="http://schemas.microsoft.com/office/drawing/2014/main" id="{BB47B2F1-C6B9-45F2-A429-A2AACDAF39DE}"/>
              </a:ext>
            </a:extLst>
          </p:cNvPr>
          <p:cNvSpPr>
            <a:spLocks xmlns:a="http://schemas.openxmlformats.org/drawingml/2006/main" noGrp="1"/>
          </p:cNvSpPr>
          <p:nvPr/>
        </p:nvSpPr>
        <p:spPr>
          <a:xfrm xmlns:a="http://schemas.openxmlformats.org/drawingml/2006/main">
            <a:off x="725805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3</a:t>
            </a:r>
          </a:p>
        </p:txBody>
      </p:sp>
      <p:sp>
        <p:nvSpPr>
          <p:cNvPr id="13" name="">
            <a:extLst xmlns:a="http://schemas.openxmlformats.org/drawingml/2006/main">
              <a:ext uri="{FF2B5EF4-FFF2-40B4-BE49-F238E27FC236}">
                <a16:creationId xmlns:a16="http://schemas.microsoft.com/office/drawing/2014/main" id="{32973462-AE08-45FB-B9B3-8AFB42DCB557}"/>
              </a:ext>
            </a:extLst>
          </p:cNvPr>
          <p:cNvSpPr>
            <a:spLocks xmlns:a="http://schemas.openxmlformats.org/drawingml/2006/main" noGrp="1"/>
          </p:cNvSpPr>
          <p:nvPr/>
        </p:nvSpPr>
        <p:spPr>
          <a:xfrm xmlns:a="http://schemas.openxmlformats.org/drawingml/2006/main">
            <a:off x="725805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C: 6</a:t>
            </a:r>
          </a:p>
        </p:txBody>
      </p:sp>
      <p:sp>
        <p:nvSpPr>
          <p:cNvPr id="14" name="">
            <a:extLst xmlns:a="http://schemas.openxmlformats.org/drawingml/2006/main">
              <a:ext uri="{FF2B5EF4-FFF2-40B4-BE49-F238E27FC236}">
                <a16:creationId xmlns:a16="http://schemas.microsoft.com/office/drawing/2014/main" id="{80FA7F6E-4BFD-4F6C-B1E3-9EC9EE3609FF}"/>
              </a:ext>
            </a:extLst>
          </p:cNvPr>
          <p:cNvSpPr>
            <a:spLocks xmlns:a="http://schemas.openxmlformats.org/drawingml/2006/main" noGrp="1"/>
          </p:cNvSpPr>
          <p:nvPr/>
        </p:nvSpPr>
        <p:spPr>
          <a:xfrm xmlns:a="http://schemas.openxmlformats.org/drawingml/2006/main">
            <a:off x="9163050" y="3048000"/>
            <a:ext cx="2857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5" name="">
            <a:extLst xmlns:a="http://schemas.openxmlformats.org/drawingml/2006/main">
              <a:ext uri="{FF2B5EF4-FFF2-40B4-BE49-F238E27FC236}">
                <a16:creationId xmlns:a16="http://schemas.microsoft.com/office/drawing/2014/main" id="{C928DC9A-ECCA-48C9-BC66-73C914A72F04}"/>
              </a:ext>
            </a:extLst>
          </p:cNvPr>
          <p:cNvSpPr>
            <a:spLocks xmlns:a="http://schemas.openxmlformats.org/drawingml/2006/main" noGrp="1"/>
          </p:cNvSpPr>
          <p:nvPr/>
        </p:nvSpPr>
        <p:spPr>
          <a:xfrm xmlns:a="http://schemas.openxmlformats.org/drawingml/2006/main">
            <a:off x="9448800" y="1619250"/>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556B80"/>
                </a:solidFill>
                <a:latin typeface="Arial"/>
                <a:ea typeface="Arial"/>
                <a:cs typeface="Arial"/>
              </a:defRPr>
            </a:defPPr>
          </a:lstStyle>
          <a:p xmlns:a="http://schemas.openxmlformats.org/drawingml/2006/main">
            <a:pPr>
              <a:defRPr sz="2175" b="1">
                <a:solidFill>
                  <a:srgbClr val="556B80"/>
                </a:solidFill>
                <a:latin typeface="Arial"/>
                <a:ea typeface="Arial"/>
                <a:cs typeface="Arial"/>
              </a:defRPr>
            </a:pPr>
            <a:r>
              <a:rPr sz="2175" b="1">
                <a:solidFill>
                  <a:srgbClr val="556B80"/>
                </a:solidFill>
                <a:latin typeface="Arial"/>
                <a:ea typeface="Arial"/>
                <a:cs typeface="Arial"/>
              </a:rPr>
              <a:t>k = 4</a:t>
            </a:r>
          </a:p>
        </p:txBody>
      </p:sp>
      <p:sp>
        <p:nvSpPr>
          <p:cNvPr id="16" name="">
            <a:extLst xmlns:a="http://schemas.openxmlformats.org/drawingml/2006/main">
              <a:ext uri="{FF2B5EF4-FFF2-40B4-BE49-F238E27FC236}">
                <a16:creationId xmlns:a16="http://schemas.microsoft.com/office/drawing/2014/main" id="{8F447215-BE27-4162-9AEA-450121225919}"/>
              </a:ext>
            </a:extLst>
          </p:cNvPr>
          <p:cNvSpPr>
            <a:spLocks xmlns:a="http://schemas.openxmlformats.org/drawingml/2006/main" noGrp="1"/>
          </p:cNvSpPr>
          <p:nvPr/>
        </p:nvSpPr>
        <p:spPr>
          <a:xfrm xmlns:a="http://schemas.openxmlformats.org/drawingml/2006/main">
            <a:off x="9448800" y="2714625"/>
            <a:ext cx="190500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T: 7</a:t>
            </a:r>
          </a:p>
        </p:txBody>
      </p:sp>
      <p:sp>
        <p:nvSpPr>
          <p:cNvPr id="17" name="">
            <a:extLst xmlns:a="http://schemas.openxmlformats.org/drawingml/2006/main">
              <a:ext uri="{FF2B5EF4-FFF2-40B4-BE49-F238E27FC236}">
                <a16:creationId xmlns:a16="http://schemas.microsoft.com/office/drawing/2014/main" id="{856107F9-1235-49A8-AF6E-98DA0891AD6B}"/>
              </a:ext>
            </a:extLst>
          </p:cNvPr>
          <p:cNvSpPr>
            <a:spLocks xmlns:a="http://schemas.openxmlformats.org/drawingml/2006/main" noGrp="1"/>
          </p:cNvSpPr>
          <p:nvPr/>
        </p:nvSpPr>
        <p:spPr>
          <a:xfrm xmlns:a="http://schemas.openxmlformats.org/drawingml/2006/main">
            <a:off x="685800" y="419100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75" b="0">
                <a:solidFill>
                  <a:srgbClr val="193247"/>
                </a:solidFill>
                <a:latin typeface="Arial"/>
                <a:ea typeface="Arial"/>
                <a:cs typeface="Arial"/>
              </a:defRPr>
            </a:defPPr>
          </a:lstStyle>
          <a:p xmlns:a="http://schemas.openxmlformats.org/drawingml/2006/main">
            <a:pPr>
              <a:defRPr sz="2475" b="0">
                <a:solidFill>
                  <a:srgbClr val="193247"/>
                </a:solidFill>
                <a:latin typeface="Arial"/>
                <a:ea typeface="Arial"/>
                <a:cs typeface="Arial"/>
              </a:defRPr>
            </a:pPr>
            <a:r>
              <a:rPr sz="2475" b="0">
                <a:solidFill>
                  <a:srgbClr val="193247"/>
                </a:solidFill>
                <a:latin typeface="Arial"/>
                <a:ea typeface="Arial"/>
                <a:cs typeface="Arial"/>
              </a:rPr>
              <a:t>Кожне нове значення використовує попередній шар.</a:t>
            </a:r>
          </a:p>
          <a:p xmlns:a="http://schemas.openxmlformats.org/drawingml/2006/main">
            <a:pPr>
              <a:defRPr sz="2475" b="0">
                <a:solidFill>
                  <a:srgbClr val="193247"/>
                </a:solidFill>
                <a:latin typeface="Arial"/>
                <a:ea typeface="Arial"/>
                <a:cs typeface="Arial"/>
              </a:defRPr>
            </a:pPr>
            <a:r>
              <a:rPr sz="2475" b="0">
                <a:solidFill>
                  <a:srgbClr val="193247"/>
                </a:solidFill>
                <a:latin typeface="Arial"/>
                <a:ea typeface="Arial"/>
                <a:cs typeface="Arial"/>
              </a:rPr>
              <a:t>Наприклад, d₃(C) = d₂(B) + 1 = 5 + 1 = 6.</a:t>
            </a:r>
          </a:p>
        </p:txBody>
      </p:sp>
      <p:sp>
        <p:nvSpPr>
          <p:cNvPr id="18" name="">
            <a:extLst xmlns:a="http://schemas.openxmlformats.org/drawingml/2006/main">
              <a:ext uri="{FF2B5EF4-FFF2-40B4-BE49-F238E27FC236}">
                <a16:creationId xmlns:a16="http://schemas.microsoft.com/office/drawing/2014/main" id="{1C3478F8-B8DC-47A8-870B-09EA99EFB4A8}"/>
              </a:ext>
            </a:extLst>
          </p:cNvPr>
          <p:cNvSpPr>
            <a:spLocks xmlns:a="http://schemas.openxmlformats.org/drawingml/2006/main" noGrp="1"/>
          </p:cNvSpPr>
          <p:nvPr/>
        </p:nvSpPr>
        <p:spPr>
          <a:xfrm xmlns:a="http://schemas.openxmlformats.org/drawingml/2006/main">
            <a:off x="685800" y="52863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56B80"/>
                </a:solidFill>
                <a:latin typeface="Arial"/>
                <a:ea typeface="Arial"/>
                <a:cs typeface="Arial"/>
              </a:defRPr>
            </a:defPPr>
          </a:lstStyle>
          <a:p xmlns:a="http://schemas.openxmlformats.org/drawingml/2006/main">
            <a:pPr>
              <a:defRPr sz="2025" b="0">
                <a:solidFill>
                  <a:srgbClr val="556B80"/>
                </a:solidFill>
                <a:latin typeface="Arial"/>
                <a:ea typeface="Arial"/>
                <a:cs typeface="Arial"/>
              </a:defRPr>
            </a:pPr>
            <a:r>
              <a:rPr sz="2025" b="0">
                <a:solidFill>
                  <a:srgbClr val="556B80"/>
                </a:solidFill>
                <a:latin typeface="Arial"/>
                <a:ea typeface="Arial"/>
                <a:cs typeface="Arial"/>
              </a:rPr>
              <a:t>Показано лише залежності оптимального маршруту. У повній таблиці є всі вершини кожного шару.</a:t>
            </a:r>
          </a:p>
        </p:txBody>
      </p:sp>
    </p:spTree>
    <p:extLst>
      <p:ext uri="{BB962C8B-B14F-4D97-AF65-F5344CB8AC3E}">
        <p14:creationId xmlns:p14="http://schemas.microsoft.com/office/powerpoint/2010/main" val="96756537"/>
      </p:ext>
    </p:extLst>
  </p:cSld>
</p:sld>
</file>

<file path=ppt/slides/v7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D1E923-5B3C-45DF-ACCC-526F5723266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рівняння Беллмана між маршрутизаторами</a:t>
            </a:r>
          </a:p>
        </p:txBody>
      </p:sp>
      <p:sp>
        <p:nvSpPr>
          <p:cNvPr id="2" name="">
            <a:extLst xmlns:a="http://schemas.openxmlformats.org/drawingml/2006/main">
              <a:ext uri="{FF2B5EF4-FFF2-40B4-BE49-F238E27FC236}">
                <a16:creationId xmlns:a16="http://schemas.microsoft.com/office/drawing/2014/main" id="{BD8983D0-C72C-4054-BD44-C5E4CDC59841}"/>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Маршрутизатор зберігає оцінку відстані та наступний вузол для кожної мережі.</a:t>
            </a:r>
          </a:p>
        </p:txBody>
      </p:sp>
      <p:sp>
        <p:nvSpPr>
          <p:cNvPr id="3" name="">
            <a:extLst xmlns:a="http://schemas.openxmlformats.org/drawingml/2006/main">
              <a:ext uri="{FF2B5EF4-FFF2-40B4-BE49-F238E27FC236}">
                <a16:creationId xmlns:a16="http://schemas.microsoft.com/office/drawing/2014/main" id="{2672C7F6-BDED-48D0-9C74-6ED1AA0E41D4}"/>
              </a:ext>
            </a:extLst>
          </p:cNvPr>
          <p:cNvSpPr>
            <a:spLocks xmlns:a="http://schemas.openxmlformats.org/drawingml/2006/main" noGrp="1"/>
          </p:cNvSpPr>
          <p:nvPr/>
        </p:nvSpPr>
        <p:spPr>
          <a:xfrm xmlns:a="http://schemas.openxmlformats.org/drawingml/2006/main">
            <a:off x="685800" y="171450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Задача: доставити пакет до мережі N через сусідні маршрутизатори.</a:t>
            </a:r>
          </a:p>
        </p:txBody>
      </p:sp>
      <p:graphicFrame>
        <p:nvGraphicFramePr>
          <p:cNvPr id="4" name="">
            <a:extLst xmlns:a="http://schemas.openxmlformats.org/drawingml/2006/main">
              <a:ext uri="{FF2B5EF4-FFF2-40B4-BE49-F238E27FC236}">
                <a16:creationId xmlns:a16="http://schemas.microsoft.com/office/drawing/2014/main" id="{EA43ACEB-1B81-4732-89AD-5864DC0C37E2}"/>
              </a:ext>
            </a:extLst>
          </p:cNvPr>
          <p:cNvGraphicFramePr/>
          <p:nvPr/>
        </p:nvGraphicFramePr>
        <p:xfrm>
          <a:off xmlns:a="http://schemas.openxmlformats.org/drawingml/2006/main" x="685800" y="2857500"/>
          <a:ext xmlns:a="http://schemas.openxmlformats.org/drawingml/2006/main" cx="10820400" cy="2714625"/>
        </p:xfrm>
        <a:graphic xmlns:a="http://schemas.openxmlformats.org/drawingml/2006/main">
          <a:graphicData uri="http://schemas.openxmlformats.org/drawingml/2006/table">
            <a:tbl>
              <a:tblPr/>
              <a:tblGrid>
                <a:gridCol w="4572000"/>
                <a:gridCol w="6248400"/>
              </a:tblGrid>
              <a:tr h="678656">
                <a:tc>
                  <a:txBody>
                    <a:bodyPr/>
                    <a:lstStyle/>
                    <a:p>
                      <a:r>
                        <a:rPr sz="2025" b="1">
                          <a:solidFill>
                            <a:srgbClr val="FFFFFF"/>
                          </a:solidFill>
                          <a:latin typeface="Arial"/>
                          <a:ea typeface="Arial"/>
                          <a:cs typeface="Arial"/>
                        </a:rPr>
                        <a:t>ДП у таблиці</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Розподілений розрахунок RIP</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78656">
                <a:tc>
                  <a:txBody>
                    <a:bodyPr/>
                    <a:lstStyle/>
                    <a:p>
                      <a:r>
                        <a:rPr sz="2025" b="0">
                          <a:solidFill>
                            <a:srgbClr val="193247"/>
                          </a:solidFill>
                          <a:latin typeface="Arial"/>
                          <a:ea typeface="Arial"/>
                          <a:cs typeface="Arial"/>
                        </a:rPr>
                        <a:t>Готова відповідь підзадачі</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Оголошена сусідом відстань до N</a:t>
                      </a:r>
                    </a:p>
                  </a:txBody>
                  <a:tcPr marL="91440" marR="91440" marT="45720" marB="45720">
                    <a:lnR w="9525">
                      <a:solidFill>
                        <a:srgbClr val="A8B7C0"/>
                      </a:solidFill>
                      <a:prstDash val="solid"/>
                    </a:lnR>
                    <a:lnB w="9525">
                      <a:solidFill>
                        <a:srgbClr val="A8B7C0"/>
                      </a:solidFill>
                      <a:prstDash val="solid"/>
                    </a:lnB>
                    <a:solidFill>
                      <a:srgbClr val="FFFFFF"/>
                    </a:solidFill>
                  </a:tcPr>
                </a:tc>
              </a:tr>
              <a:tr h="678656">
                <a:tc>
                  <a:txBody>
                    <a:bodyPr/>
                    <a:lstStyle/>
                    <a:p>
                      <a:r>
                        <a:rPr sz="2025" b="0">
                          <a:solidFill>
                            <a:srgbClr val="193247"/>
                          </a:solidFill>
                          <a:latin typeface="Arial"/>
                          <a:ea typeface="Arial"/>
                          <a:cs typeface="Arial"/>
                        </a:rPr>
                        <a:t>Перевірка варіантів</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Порівняння маршрутів через сусідів</a:t>
                      </a:r>
                    </a:p>
                  </a:txBody>
                  <a:tcPr marL="91440" marR="91440" marT="45720" marB="45720">
                    <a:lnR w="9525">
                      <a:solidFill>
                        <a:srgbClr val="A8B7C0"/>
                      </a:solidFill>
                      <a:prstDash val="solid"/>
                    </a:lnR>
                    <a:lnB w="9525">
                      <a:solidFill>
                        <a:srgbClr val="A8B7C0"/>
                      </a:solidFill>
                      <a:prstDash val="solid"/>
                    </a:lnB>
                    <a:solidFill>
                      <a:srgbClr val="FFFFFF"/>
                    </a:solidFill>
                  </a:tcPr>
                </a:tc>
              </a:tr>
              <a:tr h="678656">
                <a:tc>
                  <a:txBody>
                    <a:bodyPr/>
                    <a:lstStyle/>
                    <a:p>
                      <a:r>
                        <a:rPr sz="2025" b="0">
                          <a:solidFill>
                            <a:srgbClr val="193247"/>
                          </a:solidFill>
                          <a:latin typeface="Arial"/>
                          <a:ea typeface="Arial"/>
                          <a:cs typeface="Arial"/>
                        </a:rPr>
                        <a:t>Збережене рішення</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Наступний маршрутизатор (next hop)</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54664809"/>
      </p:ext>
    </p:extLst>
  </p:cSld>
</p:sld>
</file>

<file path=ppt/slides/v7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DC057FE-4514-4EFB-ADA3-20569C93A8CA}"/>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Приклад RIP: мережа N за маршрутизатором R4</a:t>
            </a:r>
          </a:p>
        </p:txBody>
      </p:sp>
      <p:sp>
        <p:nvSpPr>
          <p:cNvPr id="2" name="">
            <a:extLst xmlns:a="http://schemas.openxmlformats.org/drawingml/2006/main">
              <a:ext uri="{FF2B5EF4-FFF2-40B4-BE49-F238E27FC236}">
                <a16:creationId xmlns:a16="http://schemas.microsoft.com/office/drawing/2014/main" id="{50A61BCD-F089-4A1B-BF0A-C29324FD517C}"/>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Навчальна схема: вартість кожного переходу дорівнює 1.</a:t>
            </a:r>
          </a:p>
        </p:txBody>
      </p:sp>
      <p:sp>
        <p:nvSpPr>
          <p:cNvPr id="3" name="">
            <a:extLst xmlns:a="http://schemas.openxmlformats.org/drawingml/2006/main">
              <a:ext uri="{FF2B5EF4-FFF2-40B4-BE49-F238E27FC236}">
                <a16:creationId xmlns:a16="http://schemas.microsoft.com/office/drawing/2014/main" id="{8658B65D-798D-442F-8514-54A2FD26778A}"/>
              </a:ext>
            </a:extLst>
          </p:cNvPr>
          <p:cNvSpPr>
            <a:spLocks xmlns:a="http://schemas.openxmlformats.org/drawingml/2006/main" noGrp="1"/>
          </p:cNvSpPr>
          <p:nvPr/>
        </p:nvSpPr>
        <p:spPr>
          <a:xfrm xmlns:a="http://schemas.openxmlformats.org/drawingml/2006/main">
            <a:off x="685800" y="2524125"/>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R1</a:t>
            </a:r>
          </a:p>
        </p:txBody>
      </p:sp>
      <p:sp>
        <p:nvSpPr>
          <p:cNvPr id="4" name="">
            <a:extLst xmlns:a="http://schemas.openxmlformats.org/drawingml/2006/main">
              <a:ext uri="{FF2B5EF4-FFF2-40B4-BE49-F238E27FC236}">
                <a16:creationId xmlns:a16="http://schemas.microsoft.com/office/drawing/2014/main" id="{8DE98521-52C1-468C-9EAC-111F91AADC2E}"/>
              </a:ext>
            </a:extLst>
          </p:cNvPr>
          <p:cNvSpPr>
            <a:spLocks xmlns:a="http://schemas.openxmlformats.org/drawingml/2006/main" noGrp="1"/>
          </p:cNvSpPr>
          <p:nvPr/>
        </p:nvSpPr>
        <p:spPr>
          <a:xfrm xmlns:a="http://schemas.openxmlformats.org/drawingml/2006/main">
            <a:off x="2495550" y="2886075"/>
            <a:ext cx="857250" cy="142875"/>
          </a:xfrm>
          <a:prstGeom xmlns:a="http://schemas.openxmlformats.org/drawingml/2006/main" prst="leftRightArrow">
            <a:avLst/>
          </a:prstGeom>
          <a:solidFill xmlns:a="http://schemas.openxmlformats.org/drawingml/2006/main">
            <a:srgbClr val="008B85"/>
          </a:solidFill>
          <a:ln xmlns:a="http://schemas.openxmlformats.org/drawingml/2006/main" w="9525">
            <a:solidFill>
              <a:srgbClr val="008B85"/>
            </a:solidFill>
            <a:prstDash val="solid"/>
          </a:ln>
        </p:spPr>
      </p:sp>
      <p:sp>
        <p:nvSpPr>
          <p:cNvPr id="5" name="">
            <a:extLst xmlns:a="http://schemas.openxmlformats.org/drawingml/2006/main">
              <a:ext uri="{FF2B5EF4-FFF2-40B4-BE49-F238E27FC236}">
                <a16:creationId xmlns:a16="http://schemas.microsoft.com/office/drawing/2014/main" id="{B7A3CC37-4102-4BE0-9A29-E299E69AB08E}"/>
              </a:ext>
            </a:extLst>
          </p:cNvPr>
          <p:cNvSpPr>
            <a:spLocks xmlns:a="http://schemas.openxmlformats.org/drawingml/2006/main" noGrp="1"/>
          </p:cNvSpPr>
          <p:nvPr/>
        </p:nvSpPr>
        <p:spPr>
          <a:xfrm xmlns:a="http://schemas.openxmlformats.org/drawingml/2006/main">
            <a:off x="2781300" y="24288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08B85"/>
                </a:solidFill>
                <a:latin typeface="Arial"/>
                <a:ea typeface="Arial"/>
                <a:cs typeface="Arial"/>
              </a:defRPr>
            </a:defPPr>
          </a:lstStyle>
          <a:p xmlns:a="http://schemas.openxmlformats.org/drawingml/2006/main">
            <a:pPr>
              <a:defRPr sz="1875" b="1">
                <a:solidFill>
                  <a:srgbClr val="008B85"/>
                </a:solidFill>
                <a:latin typeface="Arial"/>
                <a:ea typeface="Arial"/>
                <a:cs typeface="Arial"/>
              </a:defRPr>
            </a:pPr>
            <a:r>
              <a:rPr sz="1875" b="1">
                <a:solidFill>
                  <a:srgbClr val="008B85"/>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BEE6C96-95D5-434E-A1A1-2188C84B9185}"/>
              </a:ext>
            </a:extLst>
          </p:cNvPr>
          <p:cNvSpPr>
            <a:spLocks xmlns:a="http://schemas.openxmlformats.org/drawingml/2006/main" noGrp="1"/>
          </p:cNvSpPr>
          <p:nvPr/>
        </p:nvSpPr>
        <p:spPr>
          <a:xfrm xmlns:a="http://schemas.openxmlformats.org/drawingml/2006/main">
            <a:off x="3352800" y="2524125"/>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R2</a:t>
            </a:r>
          </a:p>
        </p:txBody>
      </p:sp>
      <p:sp>
        <p:nvSpPr>
          <p:cNvPr id="7" name="">
            <a:extLst xmlns:a="http://schemas.openxmlformats.org/drawingml/2006/main">
              <a:ext uri="{FF2B5EF4-FFF2-40B4-BE49-F238E27FC236}">
                <a16:creationId xmlns:a16="http://schemas.microsoft.com/office/drawing/2014/main" id="{44BC1992-299B-47CD-AEA4-67FD3F24981D}"/>
              </a:ext>
            </a:extLst>
          </p:cNvPr>
          <p:cNvSpPr>
            <a:spLocks xmlns:a="http://schemas.openxmlformats.org/drawingml/2006/main" noGrp="1"/>
          </p:cNvSpPr>
          <p:nvPr/>
        </p:nvSpPr>
        <p:spPr>
          <a:xfrm xmlns:a="http://schemas.openxmlformats.org/drawingml/2006/main">
            <a:off x="5162550" y="2886075"/>
            <a:ext cx="857250" cy="142875"/>
          </a:xfrm>
          <a:prstGeom xmlns:a="http://schemas.openxmlformats.org/drawingml/2006/main" prst="leftRightArrow">
            <a:avLst/>
          </a:prstGeom>
          <a:solidFill xmlns:a="http://schemas.openxmlformats.org/drawingml/2006/main">
            <a:srgbClr val="008B85"/>
          </a:solidFill>
          <a:ln xmlns:a="http://schemas.openxmlformats.org/drawingml/2006/main" w="9525">
            <a:solidFill>
              <a:srgbClr val="008B85"/>
            </a:solidFill>
            <a:prstDash val="solid"/>
          </a:ln>
        </p:spPr>
      </p:sp>
      <p:sp>
        <p:nvSpPr>
          <p:cNvPr id="8" name="">
            <a:extLst xmlns:a="http://schemas.openxmlformats.org/drawingml/2006/main">
              <a:ext uri="{FF2B5EF4-FFF2-40B4-BE49-F238E27FC236}">
                <a16:creationId xmlns:a16="http://schemas.microsoft.com/office/drawing/2014/main" id="{FF1DF64C-FC78-49EE-8ECF-CC184D5F685F}"/>
              </a:ext>
            </a:extLst>
          </p:cNvPr>
          <p:cNvSpPr>
            <a:spLocks xmlns:a="http://schemas.openxmlformats.org/drawingml/2006/main" noGrp="1"/>
          </p:cNvSpPr>
          <p:nvPr/>
        </p:nvSpPr>
        <p:spPr>
          <a:xfrm xmlns:a="http://schemas.openxmlformats.org/drawingml/2006/main">
            <a:off x="5448300" y="24288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08B85"/>
                </a:solidFill>
                <a:latin typeface="Arial"/>
                <a:ea typeface="Arial"/>
                <a:cs typeface="Arial"/>
              </a:defRPr>
            </a:defPPr>
          </a:lstStyle>
          <a:p xmlns:a="http://schemas.openxmlformats.org/drawingml/2006/main">
            <a:pPr>
              <a:defRPr sz="1875" b="1">
                <a:solidFill>
                  <a:srgbClr val="008B85"/>
                </a:solidFill>
                <a:latin typeface="Arial"/>
                <a:ea typeface="Arial"/>
                <a:cs typeface="Arial"/>
              </a:defRPr>
            </a:pPr>
            <a:r>
              <a:rPr sz="1875" b="1">
                <a:solidFill>
                  <a:srgbClr val="008B85"/>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72CCB169-EB02-4618-8F67-216AF4FFADDA}"/>
              </a:ext>
            </a:extLst>
          </p:cNvPr>
          <p:cNvSpPr>
            <a:spLocks xmlns:a="http://schemas.openxmlformats.org/drawingml/2006/main" noGrp="1"/>
          </p:cNvSpPr>
          <p:nvPr/>
        </p:nvSpPr>
        <p:spPr>
          <a:xfrm xmlns:a="http://schemas.openxmlformats.org/drawingml/2006/main">
            <a:off x="6019800" y="2524125"/>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R3</a:t>
            </a:r>
          </a:p>
        </p:txBody>
      </p:sp>
      <p:sp>
        <p:nvSpPr>
          <p:cNvPr id="10" name="">
            <a:extLst xmlns:a="http://schemas.openxmlformats.org/drawingml/2006/main">
              <a:ext uri="{FF2B5EF4-FFF2-40B4-BE49-F238E27FC236}">
                <a16:creationId xmlns:a16="http://schemas.microsoft.com/office/drawing/2014/main" id="{77102429-0BF6-4A18-9D18-4668E456D24A}"/>
              </a:ext>
            </a:extLst>
          </p:cNvPr>
          <p:cNvSpPr>
            <a:spLocks xmlns:a="http://schemas.openxmlformats.org/drawingml/2006/main" noGrp="1"/>
          </p:cNvSpPr>
          <p:nvPr/>
        </p:nvSpPr>
        <p:spPr>
          <a:xfrm xmlns:a="http://schemas.openxmlformats.org/drawingml/2006/main">
            <a:off x="7829550" y="2886075"/>
            <a:ext cx="857250" cy="142875"/>
          </a:xfrm>
          <a:prstGeom xmlns:a="http://schemas.openxmlformats.org/drawingml/2006/main" prst="lef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1" name="">
            <a:extLst xmlns:a="http://schemas.openxmlformats.org/drawingml/2006/main">
              <a:ext uri="{FF2B5EF4-FFF2-40B4-BE49-F238E27FC236}">
                <a16:creationId xmlns:a16="http://schemas.microsoft.com/office/drawing/2014/main" id="{D99C3E45-A5AC-424B-8130-9396C7582D3D}"/>
              </a:ext>
            </a:extLst>
          </p:cNvPr>
          <p:cNvSpPr>
            <a:spLocks xmlns:a="http://schemas.openxmlformats.org/drawingml/2006/main" noGrp="1"/>
          </p:cNvSpPr>
          <p:nvPr/>
        </p:nvSpPr>
        <p:spPr>
          <a:xfrm xmlns:a="http://schemas.openxmlformats.org/drawingml/2006/main">
            <a:off x="8115300" y="24288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08B85"/>
                </a:solidFill>
                <a:latin typeface="Arial"/>
                <a:ea typeface="Arial"/>
                <a:cs typeface="Arial"/>
              </a:defRPr>
            </a:defPPr>
          </a:lstStyle>
          <a:p xmlns:a="http://schemas.openxmlformats.org/drawingml/2006/main">
            <a:pPr>
              <a:defRPr sz="1875" b="1">
                <a:solidFill>
                  <a:srgbClr val="008B85"/>
                </a:solidFill>
                <a:latin typeface="Arial"/>
                <a:ea typeface="Arial"/>
                <a:cs typeface="Arial"/>
              </a:defRPr>
            </a:pPr>
            <a:r>
              <a:rPr sz="1875" b="1">
                <a:solidFill>
                  <a:srgbClr val="008B85"/>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5B42CADF-F894-4FE7-904F-87ED072FC7D0}"/>
              </a:ext>
            </a:extLst>
          </p:cNvPr>
          <p:cNvSpPr>
            <a:spLocks xmlns:a="http://schemas.openxmlformats.org/drawingml/2006/main" noGrp="1"/>
          </p:cNvSpPr>
          <p:nvPr/>
        </p:nvSpPr>
        <p:spPr>
          <a:xfrm xmlns:a="http://schemas.openxmlformats.org/drawingml/2006/main">
            <a:off x="8686800" y="2524125"/>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R4</a:t>
            </a:r>
          </a:p>
        </p:txBody>
      </p:sp>
      <p:sp>
        <p:nvSpPr>
          <p:cNvPr id="13" name="">
            <a:extLst xmlns:a="http://schemas.openxmlformats.org/drawingml/2006/main">
              <a:ext uri="{FF2B5EF4-FFF2-40B4-BE49-F238E27FC236}">
                <a16:creationId xmlns:a16="http://schemas.microsoft.com/office/drawing/2014/main" id="{AFCA161F-947D-4858-A4CB-DFAE418719D3}"/>
              </a:ext>
            </a:extLst>
          </p:cNvPr>
          <p:cNvSpPr>
            <a:spLocks xmlns:a="http://schemas.openxmlformats.org/drawingml/2006/main" noGrp="1"/>
          </p:cNvSpPr>
          <p:nvPr/>
        </p:nvSpPr>
        <p:spPr>
          <a:xfrm xmlns:a="http://schemas.openxmlformats.org/drawingml/2006/main">
            <a:off x="9496425" y="3333750"/>
            <a:ext cx="190500" cy="809625"/>
          </a:xfrm>
          <a:prstGeom xmlns:a="http://schemas.openxmlformats.org/drawingml/2006/main" prst="downArrow">
            <a:avLst/>
          </a:prstGeom>
          <a:solidFill xmlns:a="http://schemas.openxmlformats.org/drawingml/2006/main">
            <a:srgbClr val="008B85"/>
          </a:solidFill>
          <a:ln xmlns:a="http://schemas.openxmlformats.org/drawingml/2006/main" w="9525">
            <a:solidFill>
              <a:srgbClr val="008B85"/>
            </a:solidFill>
            <a:prstDash val="solid"/>
          </a:ln>
        </p:spPr>
      </p:sp>
      <p:sp>
        <p:nvSpPr>
          <p:cNvPr id="14" name="">
            <a:extLst xmlns:a="http://schemas.openxmlformats.org/drawingml/2006/main">
              <a:ext uri="{FF2B5EF4-FFF2-40B4-BE49-F238E27FC236}">
                <a16:creationId xmlns:a16="http://schemas.microsoft.com/office/drawing/2014/main" id="{E9A0464D-7B13-4AAA-87EE-2D374100269F}"/>
              </a:ext>
            </a:extLst>
          </p:cNvPr>
          <p:cNvSpPr>
            <a:spLocks xmlns:a="http://schemas.openxmlformats.org/drawingml/2006/main" noGrp="1"/>
          </p:cNvSpPr>
          <p:nvPr/>
        </p:nvSpPr>
        <p:spPr>
          <a:xfrm xmlns:a="http://schemas.openxmlformats.org/drawingml/2006/main">
            <a:off x="9810750" y="3619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08B85"/>
                </a:solidFill>
                <a:latin typeface="Arial"/>
                <a:ea typeface="Arial"/>
                <a:cs typeface="Arial"/>
              </a:defRPr>
            </a:defPPr>
          </a:lstStyle>
          <a:p xmlns:a="http://schemas.openxmlformats.org/drawingml/2006/main">
            <a:pPr>
              <a:defRPr sz="1875" b="1">
                <a:solidFill>
                  <a:srgbClr val="008B85"/>
                </a:solidFill>
                <a:latin typeface="Arial"/>
                <a:ea typeface="Arial"/>
                <a:cs typeface="Arial"/>
              </a:defRPr>
            </a:pPr>
            <a:r>
              <a:rPr sz="1875" b="1">
                <a:solidFill>
                  <a:srgbClr val="008B85"/>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E9B45982-AF96-47CC-BDDC-88BA60A87D47}"/>
              </a:ext>
            </a:extLst>
          </p:cNvPr>
          <p:cNvSpPr>
            <a:spLocks xmlns:a="http://schemas.openxmlformats.org/drawingml/2006/main" noGrp="1"/>
          </p:cNvSpPr>
          <p:nvPr/>
        </p:nvSpPr>
        <p:spPr>
          <a:xfrm xmlns:a="http://schemas.openxmlformats.org/drawingml/2006/main">
            <a:off x="7429500" y="4143375"/>
            <a:ext cx="4000500" cy="762000"/>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008B85"/>
                </a:solidFill>
                <a:latin typeface="Arial"/>
                <a:ea typeface="Arial"/>
                <a:cs typeface="Arial"/>
              </a:defRPr>
            </a:defPPr>
          </a:lstStyle>
          <a:p xmlns:a="http://schemas.openxmlformats.org/drawingml/2006/main">
            <a:pPr algn="ctr">
              <a:defRPr sz="2175" b="1">
                <a:solidFill>
                  <a:srgbClr val="008B85"/>
                </a:solidFill>
                <a:latin typeface="Arial"/>
                <a:ea typeface="Arial"/>
                <a:cs typeface="Arial"/>
              </a:defRPr>
            </a:pPr>
            <a:r>
              <a:rPr sz="2175" b="1">
                <a:solidFill>
                  <a:srgbClr val="008B85"/>
                </a:solidFill>
                <a:latin typeface="Arial"/>
                <a:ea typeface="Arial"/>
                <a:cs typeface="Arial"/>
              </a:rPr>
              <a:t>N: 10.10.40.0/24</a:t>
            </a:r>
          </a:p>
        </p:txBody>
      </p:sp>
      <p:sp>
        <p:nvSpPr>
          <p:cNvPr id="16" name="">
            <a:extLst xmlns:a="http://schemas.openxmlformats.org/drawingml/2006/main">
              <a:ext uri="{FF2B5EF4-FFF2-40B4-BE49-F238E27FC236}">
                <a16:creationId xmlns:a16="http://schemas.microsoft.com/office/drawing/2014/main" id="{8A6D7701-8DEE-4B56-8826-5BCDE456C543}"/>
              </a:ext>
            </a:extLst>
          </p:cNvPr>
          <p:cNvSpPr>
            <a:spLocks xmlns:a="http://schemas.openxmlformats.org/drawingml/2006/main" noGrp="1"/>
          </p:cNvSpPr>
          <p:nvPr/>
        </p:nvSpPr>
        <p:spPr>
          <a:xfrm xmlns:a="http://schemas.openxmlformats.org/drawingml/2006/main">
            <a:off x="685800" y="514350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93247"/>
                </a:solidFill>
                <a:latin typeface="Arial"/>
                <a:ea typeface="Arial"/>
                <a:cs typeface="Arial"/>
              </a:defRPr>
            </a:defPPr>
          </a:lstStyle>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R4 знає N без обміну: метрика 1.</a:t>
            </a:r>
          </a:p>
          <a:p xmlns:a="http://schemas.openxmlformats.org/drawingml/2006/main">
            <a:pPr>
              <a:defRPr sz="2325" b="0">
                <a:solidFill>
                  <a:srgbClr val="193247"/>
                </a:solidFill>
                <a:latin typeface="Arial"/>
                <a:ea typeface="Arial"/>
                <a:cs typeface="Arial"/>
              </a:defRPr>
            </a:pPr>
            <a:r>
              <a:rPr sz="2325" b="0">
                <a:solidFill>
                  <a:srgbClr val="193247"/>
                </a:solidFill>
                <a:latin typeface="Arial"/>
                <a:ea typeface="Arial"/>
                <a:cs typeface="Arial"/>
              </a:rPr>
              <a:t>R1, R2 та R3 спочатку позначають N як недосяжну: 16.</a:t>
            </a:r>
          </a:p>
        </p:txBody>
      </p:sp>
    </p:spTree>
    <p:extLst>
      <p:ext uri="{BB962C8B-B14F-4D97-AF65-F5344CB8AC3E}">
        <p14:creationId xmlns:p14="http://schemas.microsoft.com/office/powerpoint/2010/main" val="743164757"/>
      </p:ext>
    </p:extLst>
  </p:cSld>
</p:sld>
</file>

<file path=ppt/slides/v7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C671E-87B2-485A-A9AD-4B23AAF8CEFD}"/>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як обробити повідомлення сусіда</a:t>
            </a:r>
          </a:p>
        </p:txBody>
      </p:sp>
      <p:sp>
        <p:nvSpPr>
          <p:cNvPr id="2" name="">
            <a:extLst xmlns:a="http://schemas.openxmlformats.org/drawingml/2006/main">
              <a:ext uri="{FF2B5EF4-FFF2-40B4-BE49-F238E27FC236}">
                <a16:creationId xmlns:a16="http://schemas.microsoft.com/office/drawing/2014/main" id="{3187F297-CA8A-4A31-8AF8-5FAEFB4AA9CB}"/>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RIP метрики 1…15 означають досяжний маршрут, 16 — недосяжність.</a:t>
            </a:r>
          </a:p>
        </p:txBody>
      </p:sp>
      <p:sp>
        <p:nvSpPr>
          <p:cNvPr id="3" name="">
            <a:extLst xmlns:a="http://schemas.openxmlformats.org/drawingml/2006/main">
              <a:ext uri="{FF2B5EF4-FFF2-40B4-BE49-F238E27FC236}">
                <a16:creationId xmlns:a16="http://schemas.microsoft.com/office/drawing/2014/main" id="{4307D6C9-B88F-45A5-9A40-9EC11DA229AE}"/>
              </a:ext>
            </a:extLst>
          </p:cNvPr>
          <p:cNvSpPr>
            <a:spLocks xmlns:a="http://schemas.openxmlformats.org/drawingml/2006/main" noGrp="1"/>
          </p:cNvSpPr>
          <p:nvPr/>
        </p:nvSpPr>
        <p:spPr>
          <a:xfrm xmlns:a="http://schemas.openxmlformats.org/drawingml/2006/main">
            <a:off x="685800" y="1666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R3 отримав від R4: «до мережі N моя метрика 1».</a:t>
            </a:r>
          </a:p>
        </p:txBody>
      </p:sp>
      <p:sp>
        <p:nvSpPr>
          <p:cNvPr id="4" name="">
            <a:extLst xmlns:a="http://schemas.openxmlformats.org/drawingml/2006/main">
              <a:ext uri="{FF2B5EF4-FFF2-40B4-BE49-F238E27FC236}">
                <a16:creationId xmlns:a16="http://schemas.microsoft.com/office/drawing/2014/main" id="{B6772E75-2335-4BDD-B948-1C5D29B8F21C}"/>
              </a:ext>
            </a:extLst>
          </p:cNvPr>
          <p:cNvSpPr>
            <a:spLocks xmlns:a="http://schemas.openxmlformats.org/drawingml/2006/main" noGrp="1"/>
          </p:cNvSpPr>
          <p:nvPr/>
        </p:nvSpPr>
        <p:spPr>
          <a:xfrm xmlns:a="http://schemas.openxmlformats.org/drawingml/2006/main">
            <a:off x="685800" y="26193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008B85"/>
                </a:solidFill>
                <a:latin typeface="Arial"/>
                <a:ea typeface="Arial"/>
                <a:cs typeface="Arial"/>
              </a:defRPr>
            </a:defPPr>
          </a:lstStyle>
          <a:p xmlns:a="http://schemas.openxmlformats.org/drawingml/2006/main">
            <a:pPr>
              <a:defRPr sz="3225" b="1">
                <a:solidFill>
                  <a:srgbClr val="008B85"/>
                </a:solidFill>
                <a:latin typeface="Arial"/>
                <a:ea typeface="Arial"/>
                <a:cs typeface="Arial"/>
              </a:defRPr>
            </a:pPr>
            <a:r>
              <a:rPr sz="3225" b="1">
                <a:solidFill>
                  <a:srgbClr val="008B85"/>
                </a:solidFill>
                <a:latin typeface="Arial"/>
                <a:ea typeface="Arial"/>
                <a:cs typeface="Arial"/>
              </a:rPr>
              <a:t>Кандидат R3: 1 + 1 = 2</a:t>
            </a:r>
          </a:p>
        </p:txBody>
      </p:sp>
      <p:graphicFrame>
        <p:nvGraphicFramePr>
          <p:cNvPr id="5" name="">
            <a:extLst xmlns:a="http://schemas.openxmlformats.org/drawingml/2006/main">
              <a:ext uri="{FF2B5EF4-FFF2-40B4-BE49-F238E27FC236}">
                <a16:creationId xmlns:a16="http://schemas.microsoft.com/office/drawing/2014/main" id="{8EC1B655-EF9E-4B57-97EA-FD5423A93302}"/>
              </a:ext>
            </a:extLst>
          </p:cNvPr>
          <p:cNvGraphicFramePr/>
          <p:nvPr/>
        </p:nvGraphicFramePr>
        <p:xfrm>
          <a:off xmlns:a="http://schemas.openxmlformats.org/drawingml/2006/main" x="685800" y="3714750"/>
          <a:ext xmlns:a="http://schemas.openxmlformats.org/drawingml/2006/main" cx="10820400" cy="1428750"/>
        </p:xfrm>
        <a:graphic xmlns:a="http://schemas.openxmlformats.org/drawingml/2006/main">
          <a:graphicData uri="http://schemas.openxmlformats.org/drawingml/2006/table">
            <a:tbl>
              <a:tblPr/>
              <a:tblGrid>
                <a:gridCol w="3333750"/>
                <a:gridCol w="4000500"/>
                <a:gridCol w="3486150"/>
              </a:tblGrid>
              <a:tr h="714375">
                <a:tc>
                  <a:txBody>
                    <a:bodyPr/>
                    <a:lstStyle/>
                    <a:p>
                      <a:r>
                        <a:rPr sz="2025" b="1">
                          <a:solidFill>
                            <a:srgbClr val="FFFFFF"/>
                          </a:solidFill>
                          <a:latin typeface="Arial"/>
                          <a:ea typeface="Arial"/>
                          <a:cs typeface="Arial"/>
                        </a:rPr>
                        <a:t>Було на R3</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Кандидат через R4</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Нове рішення</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714375">
                <a:tc>
                  <a:txBody>
                    <a:bodyPr/>
                    <a:lstStyle/>
                    <a:p>
                      <a:r>
                        <a:rPr sz="2025" b="0">
                          <a:solidFill>
                            <a:srgbClr val="193247"/>
                          </a:solidFill>
                          <a:latin typeface="Arial"/>
                          <a:ea typeface="Arial"/>
                          <a:cs typeface="Arial"/>
                        </a:rPr>
                        <a:t>N: 16, маршруту немає</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N: min(16, 1 + 1) = 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N: метрика 2, next hop R4</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179217C-09D0-4A31-B3C5-6F498F84D324}"/>
              </a:ext>
            </a:extLst>
          </p:cNvPr>
          <p:cNvSpPr>
            <a:spLocks xmlns:a="http://schemas.openxmlformats.org/drawingml/2006/main" noGrp="1"/>
          </p:cNvSpPr>
          <p:nvPr/>
        </p:nvSpPr>
        <p:spPr>
          <a:xfrm xmlns:a="http://schemas.openxmlformats.org/drawingml/2006/main">
            <a:off x="685800" y="53816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556B80"/>
                </a:solidFill>
                <a:latin typeface="Arial"/>
                <a:ea typeface="Arial"/>
                <a:cs typeface="Arial"/>
              </a:defRPr>
            </a:defPPr>
          </a:lstStyle>
          <a:p xmlns:a="http://schemas.openxmlformats.org/drawingml/2006/main">
            <a:pPr>
              <a:defRPr sz="2175" b="0">
                <a:solidFill>
                  <a:srgbClr val="556B80"/>
                </a:solidFill>
                <a:latin typeface="Arial"/>
                <a:ea typeface="Arial"/>
                <a:cs typeface="Arial"/>
              </a:defRPr>
            </a:pPr>
            <a:r>
              <a:rPr sz="2175" b="0">
                <a:solidFill>
                  <a:srgbClr val="556B80"/>
                </a:solidFill>
                <a:latin typeface="Arial"/>
                <a:ea typeface="Arial"/>
                <a:cs typeface="Arial"/>
              </a:rPr>
              <a:t>Зміст рівняння: вартість переходу до сусіда + його оцінка решти шляху.</a:t>
            </a:r>
          </a:p>
        </p:txBody>
      </p:sp>
    </p:spTree>
    <p:extLst>
      <p:ext uri="{BB962C8B-B14F-4D97-AF65-F5344CB8AC3E}">
        <p14:creationId xmlns:p14="http://schemas.microsoft.com/office/powerpoint/2010/main" val="1036326437"/>
      </p:ext>
    </p:extLst>
  </p:cSld>
</p:sld>
</file>

<file path=ppt/slides/v7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EC6B1F-DE8A-44C9-A68A-6CC743C0C534}"/>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поширення маршруту крок за кроком</a:t>
            </a:r>
          </a:p>
        </p:txBody>
      </p:sp>
      <p:sp>
        <p:nvSpPr>
          <p:cNvPr id="2" name="">
            <a:extLst xmlns:a="http://schemas.openxmlformats.org/drawingml/2006/main">
              <a:ext uri="{FF2B5EF4-FFF2-40B4-BE49-F238E27FC236}">
                <a16:creationId xmlns:a16="http://schemas.microsoft.com/office/drawing/2014/main" id="{8D708134-41F1-4D28-A705-511A2AE32EC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Синхронні раунди потрібні для пояснення. Реальний RIP обмінюється асинхронно.</a:t>
            </a:r>
          </a:p>
        </p:txBody>
      </p:sp>
      <p:graphicFrame>
        <p:nvGraphicFramePr>
          <p:cNvPr id="3" name="">
            <a:extLst xmlns:a="http://schemas.openxmlformats.org/drawingml/2006/main">
              <a:ext uri="{FF2B5EF4-FFF2-40B4-BE49-F238E27FC236}">
                <a16:creationId xmlns:a16="http://schemas.microsoft.com/office/drawing/2014/main" id="{2C84A8B7-D359-4A29-B5F4-54C061222697}"/>
              </a:ext>
            </a:extLst>
          </p:cNvPr>
          <p:cNvGraphicFramePr/>
          <p:nvPr/>
        </p:nvGraphicFramePr>
        <p:xfrm>
          <a:off xmlns:a="http://schemas.openxmlformats.org/drawingml/2006/main" x="685800" y="1714500"/>
          <a:ext xmlns:a="http://schemas.openxmlformats.org/drawingml/2006/main" cx="10820400" cy="3143250"/>
        </p:xfrm>
        <a:graphic xmlns:a="http://schemas.openxmlformats.org/drawingml/2006/main">
          <a:graphicData uri="http://schemas.openxmlformats.org/drawingml/2006/table">
            <a:tbl>
              <a:tblPr/>
              <a:tblGrid>
                <a:gridCol w="1905000"/>
                <a:gridCol w="2228850"/>
                <a:gridCol w="2228850"/>
                <a:gridCol w="2228850"/>
                <a:gridCol w="2228850"/>
              </a:tblGrid>
              <a:tr h="628650">
                <a:tc>
                  <a:txBody>
                    <a:bodyPr/>
                    <a:lstStyle/>
                    <a:p>
                      <a:r>
                        <a:rPr sz="2025" b="1">
                          <a:solidFill>
                            <a:srgbClr val="FFFFFF"/>
                          </a:solidFill>
                          <a:latin typeface="Arial"/>
                          <a:ea typeface="Arial"/>
                          <a:cs typeface="Arial"/>
                        </a:rPr>
                        <a:t>Раунд</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R1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R2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R3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R4 →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2025" b="0">
                          <a:solidFill>
                            <a:srgbClr val="193247"/>
                          </a:solidFill>
                          <a:latin typeface="Arial"/>
                          <a:ea typeface="Arial"/>
                          <a:cs typeface="Arial"/>
                        </a:rPr>
                        <a:t>0</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0649D2-9902-454A-800A-D6CDEEAAA88B}"/>
              </a:ext>
            </a:extLst>
          </p:cNvPr>
          <p:cNvSpPr>
            <a:spLocks xmlns:a="http://schemas.openxmlformats.org/drawingml/2006/main" noGrp="1"/>
          </p:cNvSpPr>
          <p:nvPr/>
        </p:nvSpPr>
        <p:spPr>
          <a:xfrm xmlns:a="http://schemas.openxmlformats.org/drawingml/2006/main">
            <a:off x="685800" y="5191125"/>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Раунд 1: R3 навчився від R4.</a:t>
            </a:r>
          </a:p>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Раунд 2: R2 навчився від R3. Раунд 3: R1 навчився від R2.</a:t>
            </a:r>
          </a:p>
        </p:txBody>
      </p:sp>
    </p:spTree>
    <p:extLst>
      <p:ext uri="{BB962C8B-B14F-4D97-AF65-F5344CB8AC3E}">
        <p14:creationId xmlns:p14="http://schemas.microsoft.com/office/powerpoint/2010/main" val="1151129769"/>
      </p:ext>
    </p:extLst>
  </p:cSld>
</p:sld>
</file>

<file path=ppt/slides/v7_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1DA786-F1E9-4077-A617-088EBA6091C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таблиця маршрутів після збіжності</a:t>
            </a:r>
          </a:p>
        </p:txBody>
      </p:sp>
      <p:sp>
        <p:nvSpPr>
          <p:cNvPr id="2" name="">
            <a:extLst xmlns:a="http://schemas.openxmlformats.org/drawingml/2006/main">
              <a:ext uri="{FF2B5EF4-FFF2-40B4-BE49-F238E27FC236}">
                <a16:creationId xmlns:a16="http://schemas.microsoft.com/office/drawing/2014/main" id="{4CAFD37B-685D-4646-8172-3695F3C50F65}"/>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Для пересилання пакета достатньо знати наступний вузол.</a:t>
            </a:r>
          </a:p>
        </p:txBody>
      </p:sp>
      <p:graphicFrame>
        <p:nvGraphicFramePr>
          <p:cNvPr id="3" name="">
            <a:extLst xmlns:a="http://schemas.openxmlformats.org/drawingml/2006/main">
              <a:ext uri="{FF2B5EF4-FFF2-40B4-BE49-F238E27FC236}">
                <a16:creationId xmlns:a16="http://schemas.microsoft.com/office/drawing/2014/main" id="{E0F03091-B4CC-4F52-BADC-ABFE6E593842}"/>
              </a:ext>
            </a:extLst>
          </p:cNvPr>
          <p:cNvGraphicFramePr/>
          <p:nvPr/>
        </p:nvGraphicFramePr>
        <p:xfrm>
          <a:off xmlns:a="http://schemas.openxmlformats.org/drawingml/2006/main" x="685800" y="1619250"/>
          <a:ext xmlns:a="http://schemas.openxmlformats.org/drawingml/2006/main" cx="10820400" cy="3333750"/>
        </p:xfrm>
        <a:graphic xmlns:a="http://schemas.openxmlformats.org/drawingml/2006/main">
          <a:graphicData uri="http://schemas.openxmlformats.org/drawingml/2006/table">
            <a:tbl>
              <a:tblPr/>
              <a:tblGrid>
                <a:gridCol w="2667000"/>
                <a:gridCol w="3333750"/>
                <a:gridCol w="1714500"/>
                <a:gridCol w="3105150"/>
              </a:tblGrid>
              <a:tr h="666750">
                <a:tc>
                  <a:txBody>
                    <a:bodyPr/>
                    <a:lstStyle/>
                    <a:p>
                      <a:r>
                        <a:rPr sz="2025" b="1">
                          <a:solidFill>
                            <a:srgbClr val="FFFFFF"/>
                          </a:solidFill>
                          <a:latin typeface="Arial"/>
                          <a:ea typeface="Arial"/>
                          <a:cs typeface="Arial"/>
                        </a:rPr>
                        <a:t>Маршрутизатор</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Мережа</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Метрика</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Наступний вузол</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66750">
                <a:tc>
                  <a:txBody>
                    <a:bodyPr/>
                    <a:lstStyle/>
                    <a:p>
                      <a:r>
                        <a:rPr sz="2025" b="0">
                          <a:solidFill>
                            <a:srgbClr val="193247"/>
                          </a:solidFill>
                          <a:latin typeface="Arial"/>
                          <a:ea typeface="Arial"/>
                          <a:cs typeface="Arial"/>
                        </a:rPr>
                        <a:t>R1</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R2</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R2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R3</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R3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R4</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R4</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10.10.40.0/24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підключена напряму</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3A7CF09-612A-4BE1-9FBD-B1F05214D48D}"/>
              </a:ext>
            </a:extLst>
          </p:cNvPr>
          <p:cNvSpPr>
            <a:spLocks xmlns:a="http://schemas.openxmlformats.org/drawingml/2006/main" noGrp="1"/>
          </p:cNvSpPr>
          <p:nvPr/>
        </p:nvSpPr>
        <p:spPr>
          <a:xfrm xmlns:a="http://schemas.openxmlformats.org/drawingml/2006/main">
            <a:off x="685800" y="523875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Шлях пакета: R1 → R2 → R3 → R4 → N.</a:t>
            </a:r>
          </a:p>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Метрика до N враховує і останній перехід у підключену мережу.</a:t>
            </a:r>
          </a:p>
        </p:txBody>
      </p:sp>
    </p:spTree>
    <p:extLst>
      <p:ext uri="{BB962C8B-B14F-4D97-AF65-F5344CB8AC3E}">
        <p14:creationId xmlns:p14="http://schemas.microsoft.com/office/powerpoint/2010/main" val="1692982330"/>
      </p:ext>
    </p:extLst>
  </p:cSld>
</p:sld>
</file>

<file path=ppt/slides/v7_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6EA32A-CD5C-481C-8371-46B3F64031B2}"/>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Python: початковий стан навчальної моделі</a:t>
            </a:r>
          </a:p>
        </p:txBody>
      </p:sp>
      <p:sp>
        <p:nvSpPr>
          <p:cNvPr id="2" name="">
            <a:extLst xmlns:a="http://schemas.openxmlformats.org/drawingml/2006/main">
              <a:ext uri="{FF2B5EF4-FFF2-40B4-BE49-F238E27FC236}">
                <a16:creationId xmlns:a16="http://schemas.microsoft.com/office/drawing/2014/main" id="{21E43A9A-0DA3-4F3B-8190-D1F91438DC4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Код моделює поширення відстані до однієї мережі. RIP-пакети він не надсилає.</a:t>
            </a:r>
          </a:p>
        </p:txBody>
      </p:sp>
      <p:sp>
        <p:nvSpPr>
          <p:cNvPr id="3" name="">
            <a:extLst xmlns:a="http://schemas.openxmlformats.org/drawingml/2006/main">
              <a:ext uri="{FF2B5EF4-FFF2-40B4-BE49-F238E27FC236}">
                <a16:creationId xmlns:a16="http://schemas.microsoft.com/office/drawing/2014/main" id="{968D1B80-1DE4-4E49-B079-CF5C0E169EDA}"/>
              </a:ext>
            </a:extLst>
          </p:cNvPr>
          <p:cNvSpPr>
            <a:spLocks xmlns:a="http://schemas.openxmlformats.org/drawingml/2006/main" noGrp="1"/>
          </p:cNvSpPr>
          <p:nvPr/>
        </p:nvSpPr>
        <p:spPr>
          <a:xfrm xmlns:a="http://schemas.openxmlformats.org/drawingml/2006/main">
            <a:off x="838200" y="1762125"/>
            <a:ext cx="10477500" cy="2180844"/>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3247"/>
                </a:solidFill>
                <a:latin typeface="Courier New"/>
                <a:ea typeface="Courier New"/>
                <a:cs typeface="Courier New"/>
              </a:defRPr>
            </a:defPPr>
          </a:lstStyle>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INF = 16</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neighbors = [[1], [0, 2], [1, 3], [2]]</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d = [INF, INF, INF, 1]  # R4 оголошує N з метрикою 1</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history = [d.copy()]</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print("round  R1 R2 R3 R4")</a:t>
            </a:r>
          </a:p>
          <a:p xmlns:a="http://schemas.openxmlformats.org/drawingml/2006/main">
            <a:pPr>
              <a:defRPr sz="2100" b="0">
                <a:solidFill>
                  <a:srgbClr val="193247"/>
                </a:solidFill>
                <a:latin typeface="Courier New"/>
                <a:ea typeface="Courier New"/>
                <a:cs typeface="Courier New"/>
              </a:defRPr>
            </a:pPr>
            <a:r>
              <a:rPr sz="2100" b="0">
                <a:solidFill>
                  <a:srgbClr val="193247"/>
                </a:solidFill>
                <a:latin typeface="Courier New"/>
                <a:ea typeface="Courier New"/>
                <a:cs typeface="Courier New"/>
              </a:rPr>
              <a:t>print(0, d)</a:t>
            </a:r>
          </a:p>
        </p:txBody>
      </p:sp>
      <p:sp>
        <p:nvSpPr>
          <p:cNvPr id="4" name="">
            <a:extLst xmlns:a="http://schemas.openxmlformats.org/drawingml/2006/main">
              <a:ext uri="{FF2B5EF4-FFF2-40B4-BE49-F238E27FC236}">
                <a16:creationId xmlns:a16="http://schemas.microsoft.com/office/drawing/2014/main" id="{83E0FEAB-9F3D-4B04-8BFB-C566B0A7C282}"/>
              </a:ext>
            </a:extLst>
          </p:cNvPr>
          <p:cNvSpPr>
            <a:spLocks xmlns:a="http://schemas.openxmlformats.org/drawingml/2006/main" noGrp="1"/>
          </p:cNvSpPr>
          <p:nvPr/>
        </p:nvSpPr>
        <p:spPr>
          <a:xfrm xmlns:a="http://schemas.openxmlformats.org/drawingml/2006/main">
            <a:off x="838200" y="4181094"/>
            <a:ext cx="10477500" cy="841248"/>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08B85"/>
                </a:solidFill>
                <a:latin typeface="Courier New"/>
                <a:ea typeface="Courier New"/>
                <a:cs typeface="Courier New"/>
              </a:defRPr>
            </a:defPPr>
          </a:lstStyle>
          <a:p xmlns:a="http://schemas.openxmlformats.org/drawingml/2006/main">
            <a:pPr>
              <a:defRPr sz="2100" b="1">
                <a:solidFill>
                  <a:srgbClr val="008B85"/>
                </a:solidFill>
                <a:latin typeface="Courier New"/>
                <a:ea typeface="Courier New"/>
                <a:cs typeface="Courier New"/>
              </a:defRPr>
            </a:pPr>
            <a:r>
              <a:rPr sz="2100" b="1">
                <a:solidFill>
                  <a:srgbClr val="008B85"/>
                </a:solidFill>
                <a:latin typeface="Courier New"/>
                <a:ea typeface="Courier New"/>
                <a:cs typeface="Courier New"/>
              </a:rPr>
              <a:t>round  R1 R2 R3 R4</a:t>
            </a:r>
          </a:p>
          <a:p xmlns:a="http://schemas.openxmlformats.org/drawingml/2006/main">
            <a:pPr>
              <a:defRPr sz="2100" b="1">
                <a:solidFill>
                  <a:srgbClr val="008B85"/>
                </a:solidFill>
                <a:latin typeface="Courier New"/>
                <a:ea typeface="Courier New"/>
                <a:cs typeface="Courier New"/>
              </a:defRPr>
            </a:pPr>
            <a:r>
              <a:rPr sz="2100" b="1">
                <a:solidFill>
                  <a:srgbClr val="008B85"/>
                </a:solidFill>
                <a:latin typeface="Courier New"/>
                <a:ea typeface="Courier New"/>
                <a:cs typeface="Courier New"/>
              </a:rPr>
              <a:t>0 [16, 16, 16, 1]</a:t>
            </a:r>
          </a:p>
        </p:txBody>
      </p:sp>
      <p:sp>
        <p:nvSpPr>
          <p:cNvPr id="5" name="">
            <a:extLst xmlns:a="http://schemas.openxmlformats.org/drawingml/2006/main">
              <a:ext uri="{FF2B5EF4-FFF2-40B4-BE49-F238E27FC236}">
                <a16:creationId xmlns:a16="http://schemas.microsoft.com/office/drawing/2014/main" id="{0B904363-860D-4BBD-B2FD-BB7DB95DC9B1}"/>
              </a:ext>
            </a:extLst>
          </p:cNvPr>
          <p:cNvSpPr>
            <a:spLocks xmlns:a="http://schemas.openxmlformats.org/drawingml/2006/main" noGrp="1"/>
          </p:cNvSpPr>
          <p:nvPr/>
        </p:nvSpPr>
        <p:spPr>
          <a:xfrm xmlns:a="http://schemas.openxmlformats.org/drawingml/2006/main">
            <a:off x="685800" y="523875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neighbors[0] = [1] означає: R1 має сусіда R2.</a:t>
            </a:r>
          </a:p>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Індекси Python 0…3 відповідають маршрутизаторам R1…R4.</a:t>
            </a:r>
          </a:p>
        </p:txBody>
      </p:sp>
    </p:spTree>
    <p:extLst>
      <p:ext uri="{BB962C8B-B14F-4D97-AF65-F5344CB8AC3E}">
        <p14:creationId xmlns:p14="http://schemas.microsoft.com/office/powerpoint/2010/main" val="2040684722"/>
      </p:ext>
    </p:extLst>
  </p:cSld>
</p:sld>
</file>

<file path=ppt/slides/v7_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59EF17-1B4B-4C31-A61C-99511FD6A9A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Python: обмін оцінками та результат</a:t>
            </a:r>
          </a:p>
        </p:txBody>
      </p:sp>
      <p:sp>
        <p:nvSpPr>
          <p:cNvPr id="2" name="">
            <a:extLst xmlns:a="http://schemas.openxmlformats.org/drawingml/2006/main">
              <a:ext uri="{FF2B5EF4-FFF2-40B4-BE49-F238E27FC236}">
                <a16:creationId xmlns:a16="http://schemas.microsoft.com/office/drawing/2014/main" id="{1788C7AE-CBDF-4C8B-9944-9E2F275331AA}"/>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prev — знімок оголошень. Оновлення поточного раунду не читаємо в тому самому раунді.</a:t>
            </a:r>
          </a:p>
        </p:txBody>
      </p:sp>
      <p:sp>
        <p:nvSpPr>
          <p:cNvPr id="3" name="">
            <a:extLst xmlns:a="http://schemas.openxmlformats.org/drawingml/2006/main">
              <a:ext uri="{FF2B5EF4-FFF2-40B4-BE49-F238E27FC236}">
                <a16:creationId xmlns:a16="http://schemas.microsoft.com/office/drawing/2014/main" id="{4359D0FB-1DA5-47CF-9FA2-3B3DA67F42B4}"/>
              </a:ext>
            </a:extLst>
          </p:cNvPr>
          <p:cNvSpPr>
            <a:spLocks xmlns:a="http://schemas.openxmlformats.org/drawingml/2006/main" noGrp="1"/>
          </p:cNvSpPr>
          <p:nvPr/>
        </p:nvSpPr>
        <p:spPr>
          <a:xfrm xmlns:a="http://schemas.openxmlformats.org/drawingml/2006/main">
            <a:off x="838200" y="1476375"/>
            <a:ext cx="10477500" cy="2645664"/>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193247"/>
                </a:solidFill>
                <a:latin typeface="Courier New"/>
                <a:ea typeface="Courier New"/>
                <a:cs typeface="Courier New"/>
              </a:defRPr>
            </a:defPPr>
          </a:lstStyle>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k in range(1, 4):</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prev = d.copy()</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for r in range(3):  # R4 зберігає пряму мережу</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d[r] = min(INF, min(1 + prev[v]</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for v in neighbors[r]))</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history.append(d.copy())</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print(k, d)</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assert d == [4, 3, 2, 1]</a:t>
            </a:r>
          </a:p>
        </p:txBody>
      </p:sp>
      <p:sp>
        <p:nvSpPr>
          <p:cNvPr id="4" name="">
            <a:extLst xmlns:a="http://schemas.openxmlformats.org/drawingml/2006/main">
              <a:ext uri="{FF2B5EF4-FFF2-40B4-BE49-F238E27FC236}">
                <a16:creationId xmlns:a16="http://schemas.microsoft.com/office/drawing/2014/main" id="{F8E2BB0F-F5C2-44BF-BA9E-9507357B5580}"/>
              </a:ext>
            </a:extLst>
          </p:cNvPr>
          <p:cNvSpPr>
            <a:spLocks xmlns:a="http://schemas.openxmlformats.org/drawingml/2006/main" noGrp="1"/>
          </p:cNvSpPr>
          <p:nvPr/>
        </p:nvSpPr>
        <p:spPr>
          <a:xfrm xmlns:a="http://schemas.openxmlformats.org/drawingml/2006/main">
            <a:off x="838200" y="4360164"/>
            <a:ext cx="10477500" cy="1096899"/>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Courier New"/>
                <a:ea typeface="Courier New"/>
                <a:cs typeface="Courier New"/>
              </a:defRPr>
            </a:defPPr>
          </a:lstStyle>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1 [16, 16, 2, 1]</a:t>
            </a:r>
          </a:p>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2 [16, 3, 2, 1]</a:t>
            </a:r>
          </a:p>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3 [4, 3, 2, 1]</a:t>
            </a:r>
          </a:p>
        </p:txBody>
      </p:sp>
    </p:spTree>
    <p:extLst>
      <p:ext uri="{BB962C8B-B14F-4D97-AF65-F5344CB8AC3E}">
        <p14:creationId xmlns:p14="http://schemas.microsoft.com/office/powerpoint/2010/main" val="1946470609"/>
      </p:ext>
    </p:extLst>
  </p:cSld>
</p:sld>
</file>

<file path=ppt/slides/v7_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A3FCAE-FAA6-4399-962D-5FD987602FA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Відмова каналу: чому простого min недостатньо</a:t>
            </a:r>
          </a:p>
        </p:txBody>
      </p:sp>
      <p:sp>
        <p:nvSpPr>
          <p:cNvPr id="2" name="">
            <a:extLst xmlns:a="http://schemas.openxmlformats.org/drawingml/2006/main">
              <a:ext uri="{FF2B5EF4-FFF2-40B4-BE49-F238E27FC236}">
                <a16:creationId xmlns:a16="http://schemas.microsoft.com/office/drawing/2014/main" id="{0DA53D2C-55E7-455E-A650-76ADA4DBD82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цьому контрприкладі захист від петель навмисно вимкнено.</a:t>
            </a:r>
          </a:p>
        </p:txBody>
      </p:sp>
      <p:sp>
        <p:nvSpPr>
          <p:cNvPr id="3" name="">
            <a:extLst xmlns:a="http://schemas.openxmlformats.org/drawingml/2006/main">
              <a:ext uri="{FF2B5EF4-FFF2-40B4-BE49-F238E27FC236}">
                <a16:creationId xmlns:a16="http://schemas.microsoft.com/office/drawing/2014/main" id="{2CD17536-1B97-421A-8F38-3CDF73F97FBD}"/>
              </a:ext>
            </a:extLst>
          </p:cNvPr>
          <p:cNvSpPr>
            <a:spLocks xmlns:a="http://schemas.openxmlformats.org/drawingml/2006/main" noGrp="1"/>
          </p:cNvSpPr>
          <p:nvPr/>
        </p:nvSpPr>
        <p:spPr>
          <a:xfrm xmlns:a="http://schemas.openxmlformats.org/drawingml/2006/main">
            <a:off x="685800" y="152400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Канал R3–R4 зник. R2 ще оголошує стару метрику 3 через R3.</a:t>
            </a:r>
          </a:p>
        </p:txBody>
      </p:sp>
      <p:graphicFrame>
        <p:nvGraphicFramePr>
          <p:cNvPr id="4" name="">
            <a:extLst xmlns:a="http://schemas.openxmlformats.org/drawingml/2006/main">
              <a:ext uri="{FF2B5EF4-FFF2-40B4-BE49-F238E27FC236}">
                <a16:creationId xmlns:a16="http://schemas.microsoft.com/office/drawing/2014/main" id="{9420F4EA-5FCC-44E9-A221-B9388C166006}"/>
              </a:ext>
            </a:extLst>
          </p:cNvPr>
          <p:cNvGraphicFramePr/>
          <p:nvPr/>
        </p:nvGraphicFramePr>
        <p:xfrm>
          <a:off xmlns:a="http://schemas.openxmlformats.org/drawingml/2006/main" x="685800" y="2524125"/>
          <a:ext xmlns:a="http://schemas.openxmlformats.org/drawingml/2006/main" cx="10820400" cy="2714625"/>
        </p:xfrm>
        <a:graphic xmlns:a="http://schemas.openxmlformats.org/drawingml/2006/main">
          <a:graphicData uri="http://schemas.openxmlformats.org/drawingml/2006/table">
            <a:tbl>
              <a:tblPr/>
              <a:tblGrid>
                <a:gridCol w="5905500"/>
                <a:gridCol w="2457450"/>
                <a:gridCol w="2457450"/>
              </a:tblGrid>
              <a:tr h="542925">
                <a:tc>
                  <a:txBody>
                    <a:bodyPr/>
                    <a:lstStyle/>
                    <a:p>
                      <a:r>
                        <a:rPr sz="2025" b="1">
                          <a:solidFill>
                            <a:srgbClr val="FFFFFF"/>
                          </a:solidFill>
                          <a:latin typeface="Arial"/>
                          <a:ea typeface="Arial"/>
                          <a:cs typeface="Arial"/>
                        </a:rPr>
                        <a:t>Подія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Оцінка R2</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Оцінка R3</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542925">
                <a:tc>
                  <a:txBody>
                    <a:bodyPr/>
                    <a:lstStyle/>
                    <a:p>
                      <a:r>
                        <a:rPr sz="2025" b="0">
                          <a:solidFill>
                            <a:srgbClr val="193247"/>
                          </a:solidFill>
                          <a:latin typeface="Arial"/>
                          <a:ea typeface="Arial"/>
                          <a:cs typeface="Arial"/>
                        </a:rPr>
                        <a:t>R3 помітив відмову</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 через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16</a:t>
                      </a:r>
                    </a:p>
                  </a:txBody>
                  <a:tcPr marL="91440" marR="91440" marT="45720" marB="45720">
                    <a:lnR w="9525">
                      <a:solidFill>
                        <a:srgbClr val="A8B7C0"/>
                      </a:solidFill>
                      <a:prstDash val="solid"/>
                    </a:lnR>
                    <a:lnB w="9525">
                      <a:solidFill>
                        <a:srgbClr val="A8B7C0"/>
                      </a:solidFill>
                      <a:prstDash val="solid"/>
                    </a:lnB>
                    <a:solidFill>
                      <a:srgbClr val="FFFFFF"/>
                    </a:solidFill>
                  </a:tcPr>
                </a:tc>
              </a:tr>
              <a:tr h="542925">
                <a:tc>
                  <a:txBody>
                    <a:bodyPr/>
                    <a:lstStyle/>
                    <a:p>
                      <a:r>
                        <a:rPr sz="2025" b="0">
                          <a:solidFill>
                            <a:srgbClr val="193247"/>
                          </a:solidFill>
                          <a:latin typeface="Arial"/>
                          <a:ea typeface="Arial"/>
                          <a:cs typeface="Arial"/>
                        </a:rPr>
                        <a:t>R3 повірив старому R2</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 через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4 через R2</a:t>
                      </a:r>
                    </a:p>
                  </a:txBody>
                  <a:tcPr marL="91440" marR="91440" marT="45720" marB="45720">
                    <a:lnR w="9525">
                      <a:solidFill>
                        <a:srgbClr val="A8B7C0"/>
                      </a:solidFill>
                      <a:prstDash val="solid"/>
                    </a:lnR>
                    <a:lnB w="9525">
                      <a:solidFill>
                        <a:srgbClr val="A8B7C0"/>
                      </a:solidFill>
                      <a:prstDash val="solid"/>
                    </a:lnB>
                    <a:solidFill>
                      <a:srgbClr val="FFFFFF"/>
                    </a:solidFill>
                  </a:tcPr>
                </a:tc>
              </a:tr>
              <a:tr h="542925">
                <a:tc>
                  <a:txBody>
                    <a:bodyPr/>
                    <a:lstStyle/>
                    <a:p>
                      <a:r>
                        <a:rPr sz="2025" b="0">
                          <a:solidFill>
                            <a:srgbClr val="193247"/>
                          </a:solidFill>
                          <a:latin typeface="Arial"/>
                          <a:ea typeface="Arial"/>
                          <a:cs typeface="Arial"/>
                        </a:rPr>
                        <a:t>R2 повірив R3</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5 через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4 через R2</a:t>
                      </a:r>
                    </a:p>
                  </a:txBody>
                  <a:tcPr marL="91440" marR="91440" marT="45720" marB="45720">
                    <a:lnR w="9525">
                      <a:solidFill>
                        <a:srgbClr val="A8B7C0"/>
                      </a:solidFill>
                      <a:prstDash val="solid"/>
                    </a:lnR>
                    <a:lnB w="9525">
                      <a:solidFill>
                        <a:srgbClr val="A8B7C0"/>
                      </a:solidFill>
                      <a:prstDash val="solid"/>
                    </a:lnB>
                    <a:solidFill>
                      <a:srgbClr val="FFFFFF"/>
                    </a:solidFill>
                  </a:tcPr>
                </a:tc>
              </a:tr>
              <a:tr h="542925">
                <a:tc>
                  <a:txBody>
                    <a:bodyPr/>
                    <a:lstStyle/>
                    <a:p>
                      <a:r>
                        <a:rPr sz="2025" b="0">
                          <a:solidFill>
                            <a:srgbClr val="193247"/>
                          </a:solidFill>
                          <a:latin typeface="Arial"/>
                          <a:ea typeface="Arial"/>
                          <a:cs typeface="Arial"/>
                        </a:rPr>
                        <a:t>Наступний обмін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5 через R3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6 через R2</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AF85307-2DE7-484A-818B-1B3D11D482F5}"/>
              </a:ext>
            </a:extLst>
          </p:cNvPr>
          <p:cNvSpPr>
            <a:spLocks xmlns:a="http://schemas.openxmlformats.org/drawingml/2006/main" noGrp="1"/>
          </p:cNvSpPr>
          <p:nvPr/>
        </p:nvSpPr>
        <p:spPr>
          <a:xfrm xmlns:a="http://schemas.openxmlformats.org/drawingml/2006/main">
            <a:off x="685800" y="552450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C64F45"/>
                </a:solidFill>
                <a:latin typeface="Arial"/>
                <a:ea typeface="Arial"/>
                <a:cs typeface="Arial"/>
              </a:defRPr>
            </a:defPPr>
          </a:lstStyle>
          <a:p xmlns:a="http://schemas.openxmlformats.org/drawingml/2006/main">
            <a:pPr>
              <a:defRPr sz="2175" b="1">
                <a:solidFill>
                  <a:srgbClr val="C64F45"/>
                </a:solidFill>
                <a:latin typeface="Arial"/>
                <a:ea typeface="Arial"/>
                <a:cs typeface="Arial"/>
              </a:defRPr>
            </a:pPr>
            <a:r>
              <a:rPr sz="2175" b="1">
                <a:solidFill>
                  <a:srgbClr val="C64F45"/>
                </a:solidFill>
                <a:latin typeface="Arial"/>
                <a:ea typeface="Arial"/>
                <a:cs typeface="Arial"/>
              </a:rPr>
              <a:t>Утворилася петля R2 ↔ R3. Метрики ростуть до 16 (count-to-infinity).</a:t>
            </a:r>
          </a:p>
        </p:txBody>
      </p:sp>
    </p:spTree>
    <p:extLst>
      <p:ext uri="{BB962C8B-B14F-4D97-AF65-F5344CB8AC3E}">
        <p14:creationId xmlns:p14="http://schemas.microsoft.com/office/powerpoint/2010/main" val="1269813899"/>
      </p:ext>
    </p:extLst>
  </p:cSld>
</p:sld>
</file>

<file path=ppt/slides/v7_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3F1B70-A8AC-4A85-98AD-237C09333B2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RIP: захист від застарілих маршрутів</a:t>
            </a:r>
          </a:p>
        </p:txBody>
      </p:sp>
      <p:sp>
        <p:nvSpPr>
          <p:cNvPr id="2" name="">
            <a:extLst xmlns:a="http://schemas.openxmlformats.org/drawingml/2006/main">
              <a:ext uri="{FF2B5EF4-FFF2-40B4-BE49-F238E27FC236}">
                <a16:creationId xmlns:a16="http://schemas.microsoft.com/office/drawing/2014/main" id="{CE480989-3432-4594-8C72-A48A2851B411}"/>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Poisoned reverse розриває петлю з двох вузлів. Для довших петель цього може бути замало.</a:t>
            </a:r>
          </a:p>
        </p:txBody>
      </p:sp>
      <p:graphicFrame>
        <p:nvGraphicFramePr>
          <p:cNvPr id="3" name="">
            <a:extLst xmlns:a="http://schemas.openxmlformats.org/drawingml/2006/main">
              <a:ext uri="{FF2B5EF4-FFF2-40B4-BE49-F238E27FC236}">
                <a16:creationId xmlns:a16="http://schemas.microsoft.com/office/drawing/2014/main" id="{A26CE0DB-9FCC-4E3C-A238-80D33114215C}"/>
              </a:ext>
            </a:extLst>
          </p:cNvPr>
          <p:cNvGraphicFramePr/>
          <p:nvPr/>
        </p:nvGraphicFramePr>
        <p:xfrm>
          <a:off xmlns:a="http://schemas.openxmlformats.org/drawingml/2006/main" x="685800" y="1714500"/>
          <a:ext xmlns:a="http://schemas.openxmlformats.org/drawingml/2006/main" cx="10820400" cy="3286125"/>
        </p:xfrm>
        <a:graphic xmlns:a="http://schemas.openxmlformats.org/drawingml/2006/main">
          <a:graphicData uri="http://schemas.openxmlformats.org/drawingml/2006/table">
            <a:tbl>
              <a:tblPr/>
              <a:tblGrid>
                <a:gridCol w="3143250"/>
                <a:gridCol w="7677150"/>
              </a:tblGrid>
              <a:tr h="657225">
                <a:tc>
                  <a:txBody>
                    <a:bodyPr/>
                    <a:lstStyle/>
                    <a:p>
                      <a:r>
                        <a:rPr sz="2025" b="1">
                          <a:solidFill>
                            <a:srgbClr val="FFFFFF"/>
                          </a:solidFill>
                          <a:latin typeface="Arial"/>
                          <a:ea typeface="Arial"/>
                          <a:cs typeface="Arial"/>
                        </a:rPr>
                        <a:t>Механізм</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Сенс</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57225">
                <a:tc>
                  <a:txBody>
                    <a:bodyPr/>
                    <a:lstStyle/>
                    <a:p>
                      <a:r>
                        <a:rPr sz="2025" b="0">
                          <a:solidFill>
                            <a:srgbClr val="193247"/>
                          </a:solidFill>
                          <a:latin typeface="Arial"/>
                          <a:ea typeface="Arial"/>
                          <a:cs typeface="Arial"/>
                        </a:rPr>
                        <a:t>Split horizon</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Не повертати вивчений маршрут тому самому сусіду</a:t>
                      </a:r>
                    </a:p>
                  </a:txBody>
                  <a:tcPr marL="91440" marR="91440" marT="45720" marB="45720">
                    <a:lnR w="9525">
                      <a:solidFill>
                        <a:srgbClr val="A8B7C0"/>
                      </a:solidFill>
                      <a:prstDash val="solid"/>
                    </a:lnR>
                    <a:lnB w="9525">
                      <a:solidFill>
                        <a:srgbClr val="A8B7C0"/>
                      </a:solidFill>
                      <a:prstDash val="solid"/>
                    </a:lnB>
                    <a:solidFill>
                      <a:srgbClr val="FFFFFF"/>
                    </a:solidFill>
                  </a:tcPr>
                </a:tc>
              </a:tr>
              <a:tr h="657225">
                <a:tc>
                  <a:txBody>
                    <a:bodyPr/>
                    <a:lstStyle/>
                    <a:p>
                      <a:r>
                        <a:rPr sz="2025" b="0">
                          <a:solidFill>
                            <a:srgbClr val="193247"/>
                          </a:solidFill>
                          <a:latin typeface="Arial"/>
                          <a:ea typeface="Arial"/>
                          <a:cs typeface="Arial"/>
                        </a:rPr>
                        <a:t>Poisoned reverse</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При поверненні до цього сусіда оголосити метрику 16</a:t>
                      </a:r>
                    </a:p>
                  </a:txBody>
                  <a:tcPr marL="91440" marR="91440" marT="45720" marB="45720">
                    <a:lnR w="9525">
                      <a:solidFill>
                        <a:srgbClr val="A8B7C0"/>
                      </a:solidFill>
                      <a:prstDash val="solid"/>
                    </a:lnR>
                    <a:lnB w="9525">
                      <a:solidFill>
                        <a:srgbClr val="A8B7C0"/>
                      </a:solidFill>
                      <a:prstDash val="solid"/>
                    </a:lnB>
                    <a:solidFill>
                      <a:srgbClr val="FFFFFF"/>
                    </a:solidFill>
                  </a:tcPr>
                </a:tc>
              </a:tr>
              <a:tr h="657225">
                <a:tc>
                  <a:txBody>
                    <a:bodyPr/>
                    <a:lstStyle/>
                    <a:p>
                      <a:r>
                        <a:rPr sz="2025" b="0">
                          <a:solidFill>
                            <a:srgbClr val="193247"/>
                          </a:solidFill>
                          <a:latin typeface="Arial"/>
                          <a:ea typeface="Arial"/>
                          <a:cs typeface="Arial"/>
                        </a:rPr>
                        <a:t>Triggered update</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Повідомити про зміну без очікування звичайного оновлення</a:t>
                      </a:r>
                    </a:p>
                  </a:txBody>
                  <a:tcPr marL="91440" marR="91440" marT="45720" marB="45720">
                    <a:lnR w="9525">
                      <a:solidFill>
                        <a:srgbClr val="A8B7C0"/>
                      </a:solidFill>
                      <a:prstDash val="solid"/>
                    </a:lnR>
                    <a:lnB w="9525">
                      <a:solidFill>
                        <a:srgbClr val="A8B7C0"/>
                      </a:solidFill>
                      <a:prstDash val="solid"/>
                    </a:lnB>
                    <a:solidFill>
                      <a:srgbClr val="FFFFFF"/>
                    </a:solidFill>
                  </a:tcPr>
                </a:tc>
              </a:tr>
              <a:tr h="657225">
                <a:tc>
                  <a:txBody>
                    <a:bodyPr/>
                    <a:lstStyle/>
                    <a:p>
                      <a:r>
                        <a:rPr sz="2025" b="0">
                          <a:solidFill>
                            <a:srgbClr val="193247"/>
                          </a:solidFill>
                          <a:latin typeface="Arial"/>
                          <a:ea typeface="Arial"/>
                          <a:cs typeface="Arial"/>
                        </a:rPr>
                        <a:t>Таймери</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Періодичні оновлення ≈30 с, timeout маршруту 180 с</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4FFB0A-7E02-428F-B835-9EE258247570}"/>
              </a:ext>
            </a:extLst>
          </p:cNvPr>
          <p:cNvSpPr>
            <a:spLocks xmlns:a="http://schemas.openxmlformats.org/drawingml/2006/main" noGrp="1"/>
          </p:cNvSpPr>
          <p:nvPr/>
        </p:nvSpPr>
        <p:spPr>
          <a:xfrm xmlns:a="http://schemas.openxmlformats.org/drawingml/2006/main">
            <a:off x="685800" y="52387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R2 використовує R3. Тому до R3 він оголошує N з метрикою 16.</a:t>
            </a:r>
          </a:p>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R3 не прийме власний старий маршрут назад як «альтернативу».</a:t>
            </a:r>
          </a:p>
        </p:txBody>
      </p:sp>
    </p:spTree>
    <p:extLst>
      <p:ext uri="{BB962C8B-B14F-4D97-AF65-F5344CB8AC3E}">
        <p14:creationId xmlns:p14="http://schemas.microsoft.com/office/powerpoint/2010/main" val="108314483"/>
      </p:ext>
    </p:extLst>
  </p:cSld>
</p:sld>
</file>

<file path=ppt/slides/v7_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495748-56F0-4F7C-BB86-0EE5F8C1E0B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Інші протоколи: де є та сама основа</a:t>
            </a:r>
          </a:p>
        </p:txBody>
      </p:sp>
      <p:sp>
        <p:nvSpPr>
          <p:cNvPr id="2" name="">
            <a:extLst xmlns:a="http://schemas.openxmlformats.org/drawingml/2006/main">
              <a:ext uri="{FF2B5EF4-FFF2-40B4-BE49-F238E27FC236}">
                <a16:creationId xmlns:a16="http://schemas.microsoft.com/office/drawing/2014/main" id="{54CFB862-FBE0-4552-BE72-4EBA3ECF0B36}"/>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RIPng і Babel використовують distance-vector / Bellman–Ford із протокольними механізмами.</a:t>
            </a:r>
          </a:p>
        </p:txBody>
      </p:sp>
      <p:graphicFrame>
        <p:nvGraphicFramePr>
          <p:cNvPr id="3" name="">
            <a:extLst xmlns:a="http://schemas.openxmlformats.org/drawingml/2006/main">
              <a:ext uri="{FF2B5EF4-FFF2-40B4-BE49-F238E27FC236}">
                <a16:creationId xmlns:a16="http://schemas.microsoft.com/office/drawing/2014/main" id="{51F77F64-F158-4591-9EAF-60FA0CFCE4E7}"/>
              </a:ext>
            </a:extLst>
          </p:cNvPr>
          <p:cNvGraphicFramePr/>
          <p:nvPr/>
        </p:nvGraphicFramePr>
        <p:xfrm>
          <a:off xmlns:a="http://schemas.openxmlformats.org/drawingml/2006/main" x="685800" y="1666875"/>
          <a:ext xmlns:a="http://schemas.openxmlformats.org/drawingml/2006/main" cx="10820400" cy="3143250"/>
        </p:xfrm>
        <a:graphic xmlns:a="http://schemas.openxmlformats.org/drawingml/2006/main">
          <a:graphicData uri="http://schemas.openxmlformats.org/drawingml/2006/table">
            <a:tbl>
              <a:tblPr/>
              <a:tblGrid>
                <a:gridCol w="2952750"/>
                <a:gridCol w="7867650"/>
              </a:tblGrid>
              <a:tr h="628650">
                <a:tc>
                  <a:txBody>
                    <a:bodyPr/>
                    <a:lstStyle/>
                    <a:p>
                      <a:r>
                        <a:rPr sz="2025" b="1">
                          <a:solidFill>
                            <a:srgbClr val="FFFFFF"/>
                          </a:solidFill>
                          <a:latin typeface="Arial"/>
                          <a:ea typeface="Arial"/>
                          <a:cs typeface="Arial"/>
                        </a:rPr>
                        <a:t>Протокол</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Зв’язок із розглянутим методом</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2025" b="0">
                          <a:solidFill>
                            <a:srgbClr val="193247"/>
                          </a:solidFill>
                          <a:latin typeface="Arial"/>
                          <a:ea typeface="Arial"/>
                          <a:cs typeface="Arial"/>
                        </a:rPr>
                        <a:t>RIPng (IPv6)</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Та сама distance-vector основа, інший формат і адресація</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Babel</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Bellman–Ford + умови допустимості для уникнення петель</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OSPF</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Link-state: карта області та алгоритм Дейкстри</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BGP</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Path-vector, AS_PATH і політики вибору маршрутів</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4ADF8B0-89E6-42CD-8D63-3BA2DE35ABA6}"/>
              </a:ext>
            </a:extLst>
          </p:cNvPr>
          <p:cNvSpPr>
            <a:spLocks xmlns:a="http://schemas.openxmlformats.org/drawingml/2006/main" noGrp="1"/>
          </p:cNvSpPr>
          <p:nvPr/>
        </p:nvSpPr>
        <p:spPr>
          <a:xfrm xmlns:a="http://schemas.openxmlformats.org/drawingml/2006/main">
            <a:off x="685800" y="514350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556B80"/>
                </a:solidFill>
                <a:latin typeface="Arial"/>
                <a:ea typeface="Arial"/>
                <a:cs typeface="Arial"/>
              </a:defRPr>
            </a:defPPr>
          </a:lstStyle>
          <a:p xmlns:a="http://schemas.openxmlformats.org/drawingml/2006/main">
            <a:pPr>
              <a:defRPr sz="2175" b="0">
                <a:solidFill>
                  <a:srgbClr val="556B80"/>
                </a:solidFill>
                <a:latin typeface="Arial"/>
                <a:ea typeface="Arial"/>
                <a:cs typeface="Arial"/>
              </a:defRPr>
            </a:pPr>
            <a:r>
              <a:rPr sz="2175" b="0">
                <a:solidFill>
                  <a:srgbClr val="556B80"/>
                </a:solidFill>
                <a:latin typeface="Arial"/>
                <a:ea typeface="Arial"/>
                <a:cs typeface="Arial"/>
              </a:rPr>
              <a:t>OSPF і BGP наведено для порівняння. Їхній розрахунок не слід ототожнювати з нашою таблицею RIP.</a:t>
            </a:r>
          </a:p>
        </p:txBody>
      </p:sp>
    </p:spTree>
    <p:extLst>
      <p:ext uri="{BB962C8B-B14F-4D97-AF65-F5344CB8AC3E}">
        <p14:creationId xmlns:p14="http://schemas.microsoft.com/office/powerpoint/2010/main" val="622411473"/>
      </p:ext>
    </p:extLst>
  </p:cSld>
</p:sld>
</file>

<file path=ppt/slides/v7_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529716-B3F3-4A8B-9D8A-1B0CB2903A20}"/>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Додаткові приклади ДП в ІТ</a:t>
            </a:r>
          </a:p>
        </p:txBody>
      </p:sp>
      <p:sp>
        <p:nvSpPr>
          <p:cNvPr id="2" name="">
            <a:extLst xmlns:a="http://schemas.openxmlformats.org/drawingml/2006/main">
              <a:ext uri="{FF2B5EF4-FFF2-40B4-BE49-F238E27FC236}">
                <a16:creationId xmlns:a16="http://schemas.microsoft.com/office/drawing/2014/main" id="{A19A0383-322F-43C0-A668-EEB4B7B13CB4}"/>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Матеріал для практикуму: стан, перехід і порядок обчислення в різних задачах.</a:t>
            </a:r>
          </a:p>
        </p:txBody>
      </p:sp>
      <p:graphicFrame>
        <p:nvGraphicFramePr>
          <p:cNvPr id="3" name="">
            <a:extLst xmlns:a="http://schemas.openxmlformats.org/drawingml/2006/main">
              <a:ext uri="{FF2B5EF4-FFF2-40B4-BE49-F238E27FC236}">
                <a16:creationId xmlns:a16="http://schemas.microsoft.com/office/drawing/2014/main" id="{FFF9C37F-6AF1-4630-80D0-DDDB13A23E4B}"/>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a:tblGrid>
                <a:gridCol w="6191250"/>
                <a:gridCol w="4629150"/>
              </a:tblGrid>
              <a:tr h="685800">
                <a:tc>
                  <a:txBody>
                    <a:bodyPr/>
                    <a:lstStyle/>
                    <a:p>
                      <a:r>
                        <a:rPr sz="2025" b="1">
                          <a:solidFill>
                            <a:srgbClr val="FFFFFF"/>
                          </a:solidFill>
                          <a:latin typeface="Arial"/>
                          <a:ea typeface="Arial"/>
                          <a:cs typeface="Arial"/>
                        </a:rPr>
                        <a:t>Задача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Що зберігаємо</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85800">
                <a:tc>
                  <a:txBody>
                    <a:bodyPr/>
                    <a:lstStyle/>
                    <a:p>
                      <a:r>
                        <a:rPr sz="2025" b="0">
                          <a:solidFill>
                            <a:srgbClr val="193247"/>
                          </a:solidFill>
                          <a:latin typeface="Arial"/>
                          <a:ea typeface="Arial"/>
                          <a:cs typeface="Arial"/>
                        </a:rPr>
                        <a:t>Порівняння рядків: Левенштейн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Вартість перетворення двох префіксів</a:t>
                      </a:r>
                    </a:p>
                  </a:txBody>
                  <a:tcPr marL="91440" marR="91440" marT="45720" marB="45720">
                    <a:lnR w="9525">
                      <a:solidFill>
                        <a:srgbClr val="A8B7C0"/>
                      </a:solidFill>
                      <a:prstDash val="solid"/>
                    </a:lnR>
                    <a:lnB w="9525">
                      <a:solidFill>
                        <a:srgbClr val="A8B7C0"/>
                      </a:solidFill>
                      <a:prstDash val="solid"/>
                    </a:lnB>
                    <a:solidFill>
                      <a:srgbClr val="FFFFFF"/>
                    </a:solidFill>
                  </a:tcPr>
                </a:tc>
              </a:tr>
              <a:tr h="685800">
                <a:tc>
                  <a:txBody>
                    <a:bodyPr/>
                    <a:lstStyle/>
                    <a:p>
                      <a:r>
                        <a:rPr sz="2025" b="0">
                          <a:solidFill>
                            <a:srgbClr val="193247"/>
                          </a:solidFill>
                          <a:latin typeface="Arial"/>
                          <a:ea typeface="Arial"/>
                          <a:cs typeface="Arial"/>
                        </a:rPr>
                        <a:t>Послідовність прихованих станів: Вітербі</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Найкращий шлях до стану на кроці t</a:t>
                      </a:r>
                    </a:p>
                  </a:txBody>
                  <a:tcPr marL="91440" marR="91440" marT="45720" marB="45720">
                    <a:lnR w="9525">
                      <a:solidFill>
                        <a:srgbClr val="A8B7C0"/>
                      </a:solidFill>
                      <a:prstDash val="solid"/>
                    </a:lnR>
                    <a:lnB w="9525">
                      <a:solidFill>
                        <a:srgbClr val="A8B7C0"/>
                      </a:solidFill>
                      <a:prstDash val="solid"/>
                    </a:lnB>
                    <a:solidFill>
                      <a:srgbClr val="FFFFFF"/>
                    </a:solidFill>
                  </a:tcPr>
                </a:tc>
              </a:tr>
              <a:tr h="685800">
                <a:tc>
                  <a:txBody>
                    <a:bodyPr/>
                    <a:lstStyle/>
                    <a:p>
                      <a:r>
                        <a:rPr sz="2025" b="0">
                          <a:solidFill>
                            <a:srgbClr val="193247"/>
                          </a:solidFill>
                          <a:latin typeface="Arial"/>
                          <a:ea typeface="Arial"/>
                          <a:cs typeface="Arial"/>
                        </a:rPr>
                        <a:t>Порядок множення матриць</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Найменшу вартість підланцюжка</a:t>
                      </a:r>
                    </a:p>
                  </a:txBody>
                  <a:tcPr marL="91440" marR="91440" marT="45720" marB="45720">
                    <a:lnR w="9525">
                      <a:solidFill>
                        <a:srgbClr val="A8B7C0"/>
                      </a:solidFill>
                      <a:prstDash val="solid"/>
                    </a:lnR>
                    <a:lnB w="9525">
                      <a:solidFill>
                        <a:srgbClr val="A8B7C0"/>
                      </a:solidFill>
                      <a:prstDash val="solid"/>
                    </a:lnB>
                    <a:solidFill>
                      <a:srgbClr val="FFFFFF"/>
                    </a:solidFill>
                  </a:tcPr>
                </a:tc>
              </a:tr>
              <a:tr h="685800">
                <a:tc>
                  <a:txBody>
                    <a:bodyPr/>
                    <a:lstStyle/>
                    <a:p>
                      <a:r>
                        <a:rPr sz="2025" b="0">
                          <a:solidFill>
                            <a:srgbClr val="193247"/>
                          </a:solidFill>
                          <a:latin typeface="Arial"/>
                          <a:ea typeface="Arial"/>
                          <a:cs typeface="Arial"/>
                        </a:rPr>
                        <a:t>Відстані всіх пар: Флойд–Воршелл</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Найкращий шлях із дозволеними проміжними вузлами</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Tree>
    <p:extLst>
      <p:ext uri="{BB962C8B-B14F-4D97-AF65-F5344CB8AC3E}">
        <p14:creationId xmlns:p14="http://schemas.microsoft.com/office/powerpoint/2010/main" val="1647320961"/>
      </p:ext>
    </p:extLst>
  </p:cSld>
</p:sld>
</file>

<file path=ppt/slides/v7_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BA28A3-C115-41C1-8E7D-5B590945F074}"/>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Відстань Левенштейна: порівняння рядків</a:t>
            </a:r>
          </a:p>
        </p:txBody>
      </p:sp>
      <p:sp>
        <p:nvSpPr>
          <p:cNvPr id="2" name="">
            <a:extLst xmlns:a="http://schemas.openxmlformats.org/drawingml/2006/main">
              <a:ext uri="{FF2B5EF4-FFF2-40B4-BE49-F238E27FC236}">
                <a16:creationId xmlns:a16="http://schemas.microsoft.com/office/drawing/2014/main" id="{DE87BFA7-DB42-47C3-B2D5-8D95DDE55EFA}"/>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Вартість вставлення, видалення або заміни символу = 1. Збіг символів = 0.</a:t>
            </a:r>
          </a:p>
        </p:txBody>
      </p:sp>
      <p:sp>
        <p:nvSpPr>
          <p:cNvPr id="3" name="">
            <a:extLst xmlns:a="http://schemas.openxmlformats.org/drawingml/2006/main">
              <a:ext uri="{FF2B5EF4-FFF2-40B4-BE49-F238E27FC236}">
                <a16:creationId xmlns:a16="http://schemas.microsoft.com/office/drawing/2014/main" id="{F1B0B169-900C-43B3-9380-E37A3123DBFB}"/>
              </a:ext>
            </a:extLst>
          </p:cNvPr>
          <p:cNvSpPr>
            <a:spLocks xmlns:a="http://schemas.openxmlformats.org/drawingml/2006/main" noGrp="1"/>
          </p:cNvSpPr>
          <p:nvPr/>
        </p:nvSpPr>
        <p:spPr>
          <a:xfrm xmlns:a="http://schemas.openxmlformats.org/drawingml/2006/main">
            <a:off x="685800" y="1666875"/>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193247"/>
                </a:solidFill>
                <a:latin typeface="Arial"/>
                <a:ea typeface="Arial"/>
                <a:cs typeface="Arial"/>
              </a:defRPr>
            </a:defPPr>
          </a:lstStyle>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Потрібно перетворити «cat» на «cut».</a:t>
            </a:r>
          </a:p>
          <a:p xmlns:a="http://schemas.openxmlformats.org/drawingml/2006/main">
            <a:pPr>
              <a:defRPr sz="2550" b="0">
                <a:solidFill>
                  <a:srgbClr val="193247"/>
                </a:solidFill>
                <a:latin typeface="Arial"/>
                <a:ea typeface="Arial"/>
                <a:cs typeface="Arial"/>
              </a:defRPr>
            </a:pPr>
            <a:r>
              <a:rPr sz="2550" b="0">
                <a:solidFill>
                  <a:srgbClr val="193247"/>
                </a:solidFill>
                <a:latin typeface="Arial"/>
                <a:ea typeface="Arial"/>
                <a:cs typeface="Arial"/>
              </a:rPr>
              <a:t>Можна вставити, видалити або замінити один символ.</a:t>
            </a:r>
          </a:p>
        </p:txBody>
      </p:sp>
      <p:sp>
        <p:nvSpPr>
          <p:cNvPr id="4" name="">
            <a:extLst xmlns:a="http://schemas.openxmlformats.org/drawingml/2006/main">
              <a:ext uri="{FF2B5EF4-FFF2-40B4-BE49-F238E27FC236}">
                <a16:creationId xmlns:a16="http://schemas.microsoft.com/office/drawing/2014/main" id="{694B4C2E-DA77-4B81-AB4F-BBD61F998889}"/>
              </a:ext>
            </a:extLst>
          </p:cNvPr>
          <p:cNvSpPr>
            <a:spLocks xmlns:a="http://schemas.openxmlformats.org/drawingml/2006/main" noGrp="1"/>
          </p:cNvSpPr>
          <p:nvPr/>
        </p:nvSpPr>
        <p:spPr>
          <a:xfrm xmlns:a="http://schemas.openxmlformats.org/drawingml/2006/main">
            <a:off x="685800" y="3095625"/>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Стан (i, j): уже розглянуті i символів першого рядка</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та j символів другого.</a:t>
            </a:r>
          </a:p>
        </p:txBody>
      </p:sp>
      <p:sp>
        <p:nvSpPr>
          <p:cNvPr id="5" name="">
            <a:extLst xmlns:a="http://schemas.openxmlformats.org/drawingml/2006/main">
              <a:ext uri="{FF2B5EF4-FFF2-40B4-BE49-F238E27FC236}">
                <a16:creationId xmlns:a16="http://schemas.microsoft.com/office/drawing/2014/main" id="{05D97510-39DF-41C8-84AF-BA47DDC82D03}"/>
              </a:ext>
            </a:extLst>
          </p:cNvPr>
          <p:cNvSpPr>
            <a:spLocks xmlns:a="http://schemas.openxmlformats.org/drawingml/2006/main" noGrp="1"/>
          </p:cNvSpPr>
          <p:nvPr/>
        </p:nvSpPr>
        <p:spPr>
          <a:xfrm xmlns:a="http://schemas.openxmlformats.org/drawingml/2006/main">
            <a:off x="685800" y="43338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D(i,j) = min(видалення, вставлення, заміна / збіг)</a:t>
            </a:r>
          </a:p>
        </p:txBody>
      </p:sp>
      <p:sp>
        <p:nvSpPr>
          <p:cNvPr id="6" name="">
            <a:extLst xmlns:a="http://schemas.openxmlformats.org/drawingml/2006/main">
              <a:ext uri="{FF2B5EF4-FFF2-40B4-BE49-F238E27FC236}">
                <a16:creationId xmlns:a16="http://schemas.microsoft.com/office/drawing/2014/main" id="{023CB0CC-7D10-4AD4-9062-02005F77E640}"/>
              </a:ext>
            </a:extLst>
          </p:cNvPr>
          <p:cNvSpPr>
            <a:spLocks xmlns:a="http://schemas.openxmlformats.org/drawingml/2006/main" noGrp="1"/>
          </p:cNvSpPr>
          <p:nvPr/>
        </p:nvSpPr>
        <p:spPr>
          <a:xfrm xmlns:a="http://schemas.openxmlformats.org/drawingml/2006/main">
            <a:off x="685800" y="533400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Для cat → cut достатньо замінити a на u. Відстань = 1.</a:t>
            </a:r>
          </a:p>
        </p:txBody>
      </p:sp>
    </p:spTree>
    <p:extLst>
      <p:ext uri="{BB962C8B-B14F-4D97-AF65-F5344CB8AC3E}">
        <p14:creationId xmlns:p14="http://schemas.microsoft.com/office/powerpoint/2010/main" val="407366846"/>
      </p:ext>
    </p:extLst>
  </p:cSld>
</p:sld>
</file>

<file path=ppt/slides/v7_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5DB9FD-BFF8-40CF-8FBA-79C7EFB9798D}"/>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Левенштейн: клітинка з трьох попередників</a:t>
            </a:r>
          </a:p>
        </p:txBody>
      </p:sp>
      <p:sp>
        <p:nvSpPr>
          <p:cNvPr id="2" name="">
            <a:extLst xmlns:a="http://schemas.openxmlformats.org/drawingml/2006/main">
              <a:ext uri="{FF2B5EF4-FFF2-40B4-BE49-F238E27FC236}">
                <a16:creationId xmlns:a16="http://schemas.microsoft.com/office/drawing/2014/main" id="{B1FC48CC-0F27-4264-9D11-333DC7D4F8EB}"/>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клітинці D(2,2) порівнюємо «ca» і «cu».</a:t>
            </a:r>
          </a:p>
        </p:txBody>
      </p:sp>
      <p:graphicFrame>
        <p:nvGraphicFramePr>
          <p:cNvPr id="3" name="">
            <a:extLst xmlns:a="http://schemas.openxmlformats.org/drawingml/2006/main">
              <a:ext uri="{FF2B5EF4-FFF2-40B4-BE49-F238E27FC236}">
                <a16:creationId xmlns:a16="http://schemas.microsoft.com/office/drawing/2014/main" id="{45000F8E-8598-4123-8524-55D397288A81}"/>
              </a:ext>
            </a:extLst>
          </p:cNvPr>
          <p:cNvGraphicFramePr/>
          <p:nvPr/>
        </p:nvGraphicFramePr>
        <p:xfrm>
          <a:off xmlns:a="http://schemas.openxmlformats.org/drawingml/2006/main" x="685800" y="1619250"/>
          <a:ext xmlns:a="http://schemas.openxmlformats.org/drawingml/2006/main" cx="10820400" cy="3143250"/>
        </p:xfrm>
        <a:graphic xmlns:a="http://schemas.openxmlformats.org/drawingml/2006/main">
          <a:graphicData uri="http://schemas.openxmlformats.org/drawingml/2006/table">
            <a:tbl>
              <a:tblPr/>
              <a:tblGrid>
                <a:gridCol w="2095500"/>
                <a:gridCol w="2181225"/>
                <a:gridCol w="2181225"/>
                <a:gridCol w="2181225"/>
                <a:gridCol w="2181225"/>
              </a:tblGrid>
              <a:tr h="628650">
                <a:tc>
                  <a:txBody>
                    <a:bodyPr/>
                    <a:lstStyle/>
                    <a:p>
                      <a:r>
                        <a:rPr sz="2025" b="1">
                          <a:solidFill>
                            <a:srgbClr val="FFFFFF"/>
                          </a:solidFill>
                          <a:latin typeface="Arial"/>
                          <a:ea typeface="Arial"/>
                          <a:cs typeface="Arial"/>
                        </a:rPr>
                        <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c</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u</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t</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28650">
                <a:tc>
                  <a:txBody>
                    <a:bodyPr/>
                    <a:lstStyle/>
                    <a:p>
                      <a:r>
                        <a:rPr sz="2025" b="0">
                          <a:solidFill>
                            <a:srgbClr val="193247"/>
                          </a:solidFill>
                          <a:latin typeface="Arial"/>
                          <a:ea typeface="Arial"/>
                          <a:cs typeface="Arial"/>
                        </a:rPr>
                        <a:t>∅</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EDF4F8"/>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EDF4F8"/>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a</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EDF4F8"/>
                    </a:solidFill>
                  </a:tcPr>
                </a:tc>
                <a:tc>
                  <a:txBody>
                    <a:bodyPr/>
                    <a:lstStyle/>
                    <a:p>
                      <a:r>
                        <a:rPr sz="2175" b="1">
                          <a:solidFill>
                            <a:srgbClr val="008B85"/>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DEF3EC"/>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r>
              <a:tr h="628650">
                <a:tc>
                  <a:txBody>
                    <a:bodyPr/>
                    <a:lstStyle/>
                    <a:p>
                      <a:r>
                        <a:rPr sz="2025" b="0">
                          <a:solidFill>
                            <a:srgbClr val="193247"/>
                          </a:solidFill>
                          <a:latin typeface="Arial"/>
                          <a:ea typeface="Arial"/>
                          <a:cs typeface="Arial"/>
                        </a:rPr>
                        <a:t>t</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175" b="1">
                          <a:solidFill>
                            <a:srgbClr val="008B85"/>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DEF3EC"/>
                    </a:solidFill>
                  </a:tcPr>
                </a:tc>
              </a:tr>
            </a:tbl>
          </a:graphicData>
        </a:graphic>
      </p:graphicFrame>
      <p:sp>
        <p:nvSpPr>
          <p:cNvPr id="4" name="">
            <a:extLst xmlns:a="http://schemas.openxmlformats.org/drawingml/2006/main">
              <a:ext uri="{FF2B5EF4-FFF2-40B4-BE49-F238E27FC236}">
                <a16:creationId xmlns:a16="http://schemas.microsoft.com/office/drawing/2014/main" id="{D8B81E23-E21B-41AE-A097-BF3AB8A18ED2}"/>
              </a:ext>
            </a:extLst>
          </p:cNvPr>
          <p:cNvSpPr>
            <a:spLocks xmlns:a="http://schemas.openxmlformats.org/drawingml/2006/main" noGrp="1"/>
          </p:cNvSpPr>
          <p:nvPr/>
        </p:nvSpPr>
        <p:spPr>
          <a:xfrm xmlns:a="http://schemas.openxmlformats.org/drawingml/2006/main">
            <a:off x="685800" y="514350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Видалення: 1+1=2. Вставлення: 1+1=2. Заміна: 0+1=1.</a:t>
            </a:r>
          </a:p>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Беремо 1 з діагонального попередника. Кінцева відповідь D(3,3)=1.</a:t>
            </a:r>
          </a:p>
        </p:txBody>
      </p:sp>
    </p:spTree>
    <p:extLst>
      <p:ext uri="{BB962C8B-B14F-4D97-AF65-F5344CB8AC3E}">
        <p14:creationId xmlns:p14="http://schemas.microsoft.com/office/powerpoint/2010/main" val="2082853387"/>
      </p:ext>
    </p:extLst>
  </p:cSld>
</p:sld>
</file>

<file path=ppt/slides/v7_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FA3A3A-5E2F-4E3A-B84D-FA5D8E516FDB}"/>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Левенштейн: повний приклад Python</a:t>
            </a:r>
          </a:p>
        </p:txBody>
      </p:sp>
      <p:sp>
        <p:nvSpPr>
          <p:cNvPr id="2" name="">
            <a:extLst xmlns:a="http://schemas.openxmlformats.org/drawingml/2006/main">
              <a:ext uri="{FF2B5EF4-FFF2-40B4-BE49-F238E27FC236}">
                <a16:creationId xmlns:a16="http://schemas.microsoft.com/office/drawing/2014/main" id="{8E39989D-2034-43E6-9E2B-2FC705612B8E}"/>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Усі залежності ведуть у вже заповнені клітинки. Час O(mn), пам’ять цієї версії O(mn).</a:t>
            </a:r>
          </a:p>
        </p:txBody>
      </p:sp>
      <p:sp>
        <p:nvSpPr>
          <p:cNvPr id="3" name="">
            <a:extLst xmlns:a="http://schemas.openxmlformats.org/drawingml/2006/main">
              <a:ext uri="{FF2B5EF4-FFF2-40B4-BE49-F238E27FC236}">
                <a16:creationId xmlns:a16="http://schemas.microsoft.com/office/drawing/2014/main" id="{5ADD7134-4F3B-43A1-A8C4-437EBB7BA39C}"/>
              </a:ext>
            </a:extLst>
          </p:cNvPr>
          <p:cNvSpPr>
            <a:spLocks xmlns:a="http://schemas.openxmlformats.org/drawingml/2006/main" noGrp="1"/>
          </p:cNvSpPr>
          <p:nvPr/>
        </p:nvSpPr>
        <p:spPr>
          <a:xfrm xmlns:a="http://schemas.openxmlformats.org/drawingml/2006/main">
            <a:off x="838200" y="1619250"/>
            <a:ext cx="10477500" cy="2947797"/>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193247"/>
                </a:solidFill>
                <a:latin typeface="Courier New"/>
                <a:ea typeface="Courier New"/>
                <a:cs typeface="Courier New"/>
              </a:defRPr>
            </a:defPPr>
          </a:lstStyle>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a, b = "cat", "cut"</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D = [[0]*(len(b)+1) for _ in range(len(a)+1)]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i in range(len(a)+1): D[i][0] = i</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j in range(len(b)+1): D[0][j] = j</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for i in range(1, len(a)+1):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for j in range(1, len(b)+1):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D[i][j] = min(D[i-1][j]+1, D[i][j-1]+1,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                      D[i-1][j-1]+(a[i-1] != b[j-1]))</a:t>
            </a:r>
          </a:p>
          <a:p xmlns:a="http://schemas.openxmlformats.org/drawingml/2006/main">
            <a:pPr>
              <a:defRPr sz="1950" b="0">
                <a:solidFill>
                  <a:srgbClr val="193247"/>
                </a:solidFill>
                <a:latin typeface="Courier New"/>
                <a:ea typeface="Courier New"/>
                <a:cs typeface="Courier New"/>
              </a:defRPr>
            </a:pPr>
            <a:r>
              <a:rPr sz="1950" b="0">
                <a:solidFill>
                  <a:srgbClr val="193247"/>
                </a:solidFill>
                <a:latin typeface="Courier New"/>
                <a:ea typeface="Courier New"/>
                <a:cs typeface="Courier New"/>
              </a:rPr>
              <a:t>print("distance =", D[-1][-1])</a:t>
            </a:r>
          </a:p>
        </p:txBody>
      </p:sp>
      <p:sp>
        <p:nvSpPr>
          <p:cNvPr id="4" name="">
            <a:extLst xmlns:a="http://schemas.openxmlformats.org/drawingml/2006/main">
              <a:ext uri="{FF2B5EF4-FFF2-40B4-BE49-F238E27FC236}">
                <a16:creationId xmlns:a16="http://schemas.microsoft.com/office/drawing/2014/main" id="{97AFAD48-9880-458B-ACA6-A993C30A3F0B}"/>
              </a:ext>
            </a:extLst>
          </p:cNvPr>
          <p:cNvSpPr>
            <a:spLocks xmlns:a="http://schemas.openxmlformats.org/drawingml/2006/main" noGrp="1"/>
          </p:cNvSpPr>
          <p:nvPr/>
        </p:nvSpPr>
        <p:spPr>
          <a:xfrm xmlns:a="http://schemas.openxmlformats.org/drawingml/2006/main">
            <a:off x="838200" y="4805172"/>
            <a:ext cx="10477500" cy="666750"/>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Courier New"/>
                <a:ea typeface="Courier New"/>
                <a:cs typeface="Courier New"/>
              </a:defRPr>
            </a:defPPr>
          </a:lstStyle>
          <a:p xmlns:a="http://schemas.openxmlformats.org/drawingml/2006/main">
            <a:pPr>
              <a:defRPr sz="1950" b="1">
                <a:solidFill>
                  <a:srgbClr val="008B85"/>
                </a:solidFill>
                <a:latin typeface="Courier New"/>
                <a:ea typeface="Courier New"/>
                <a:cs typeface="Courier New"/>
              </a:defRPr>
            </a:pPr>
            <a:r>
              <a:rPr sz="1950" b="1">
                <a:solidFill>
                  <a:srgbClr val="008B85"/>
                </a:solidFill>
                <a:latin typeface="Courier New"/>
                <a:ea typeface="Courier New"/>
                <a:cs typeface="Courier New"/>
              </a:rPr>
              <a:t>distance = 1</a:t>
            </a:r>
          </a:p>
        </p:txBody>
      </p:sp>
    </p:spTree>
    <p:extLst>
      <p:ext uri="{BB962C8B-B14F-4D97-AF65-F5344CB8AC3E}">
        <p14:creationId xmlns:p14="http://schemas.microsoft.com/office/powerpoint/2010/main" val="366648476"/>
      </p:ext>
    </p:extLst>
  </p:cSld>
</p:sld>
</file>

<file path=ppt/slides/v7_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C8D672-89FC-4BC2-A6CE-E4A0DD7D8F39}"/>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Вітербі: найімовірніша послідовність станів</a:t>
            </a:r>
          </a:p>
        </p:txBody>
      </p:sp>
      <p:sp>
        <p:nvSpPr>
          <p:cNvPr id="2" name="">
            <a:extLst xmlns:a="http://schemas.openxmlformats.org/drawingml/2006/main">
              <a:ext uri="{FF2B5EF4-FFF2-40B4-BE49-F238E27FC236}">
                <a16:creationId xmlns:a16="http://schemas.microsoft.com/office/drawing/2014/main" id="{DF88C5F6-76A0-4971-B415-3853607EF80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Дані умовні. Стан сервісу прихований, а спостереження доступні.</a:t>
            </a:r>
          </a:p>
        </p:txBody>
      </p:sp>
      <p:sp>
        <p:nvSpPr>
          <p:cNvPr id="3" name="">
            <a:extLst xmlns:a="http://schemas.openxmlformats.org/drawingml/2006/main">
              <a:ext uri="{FF2B5EF4-FFF2-40B4-BE49-F238E27FC236}">
                <a16:creationId xmlns:a16="http://schemas.microsoft.com/office/drawing/2014/main" id="{4EE48AA9-6179-46B2-A4EF-43A551A0C23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Стани: N — норма, F — збій. Спостереження: low, high, high.</a:t>
            </a:r>
          </a:p>
        </p:txBody>
      </p:sp>
      <p:graphicFrame>
        <p:nvGraphicFramePr>
          <p:cNvPr id="4" name="">
            <a:extLst xmlns:a="http://schemas.openxmlformats.org/drawingml/2006/main">
              <a:ext uri="{FF2B5EF4-FFF2-40B4-BE49-F238E27FC236}">
                <a16:creationId xmlns:a16="http://schemas.microsoft.com/office/drawing/2014/main" id="{C33A491E-3031-4D25-9F8D-1DCB69EC1D3F}"/>
              </a:ext>
            </a:extLst>
          </p:cNvPr>
          <p:cNvGraphicFramePr/>
          <p:nvPr/>
        </p:nvGraphicFramePr>
        <p:xfrm>
          <a:off xmlns:a="http://schemas.openxmlformats.org/drawingml/2006/main" x="685800" y="2476500"/>
          <a:ext xmlns:a="http://schemas.openxmlformats.org/drawingml/2006/main" cx="10820400" cy="2762250"/>
        </p:xfrm>
        <a:graphic xmlns:a="http://schemas.openxmlformats.org/drawingml/2006/main">
          <a:graphicData uri="http://schemas.openxmlformats.org/drawingml/2006/table">
            <a:tbl>
              <a:tblPr/>
              <a:tblGrid>
                <a:gridCol w="5905500"/>
                <a:gridCol w="2457450"/>
                <a:gridCol w="2457450"/>
              </a:tblGrid>
              <a:tr h="460375">
                <a:tc>
                  <a:txBody>
                    <a:bodyPr/>
                    <a:lstStyle/>
                    <a:p>
                      <a:r>
                        <a:rPr sz="2025" b="1">
                          <a:solidFill>
                            <a:srgbClr val="FFFFFF"/>
                          </a:solidFill>
                          <a:latin typeface="Arial"/>
                          <a:ea typeface="Arial"/>
                          <a:cs typeface="Arial"/>
                        </a:rPr>
                        <a:t>Параметр</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F</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60375">
                <a:tc>
                  <a:txBody>
                    <a:bodyPr/>
                    <a:lstStyle/>
                    <a:p>
                      <a:r>
                        <a:rPr sz="2025" b="0">
                          <a:solidFill>
                            <a:srgbClr val="193247"/>
                          </a:solidFill>
                          <a:latin typeface="Arial"/>
                          <a:ea typeface="Arial"/>
                          <a:cs typeface="Arial"/>
                        </a:rPr>
                        <a:t>Початкові ймовірності</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Перехід з N</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0.8</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0.2</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Перехід з F</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0.7</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P(low | стан)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0.9</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0.2</a:t>
                      </a:r>
                    </a:p>
                  </a:txBody>
                  <a:tcPr marL="91440" marR="91440" marT="45720" marB="45720">
                    <a:lnR w="9525">
                      <a:solidFill>
                        <a:srgbClr val="A8B7C0"/>
                      </a:solidFill>
                      <a:prstDash val="solid"/>
                    </a:lnR>
                    <a:lnB w="9525">
                      <a:solidFill>
                        <a:srgbClr val="A8B7C0"/>
                      </a:solidFill>
                      <a:prstDash val="solid"/>
                    </a:lnB>
                    <a:solidFill>
                      <a:srgbClr val="FFFFFF"/>
                    </a:solidFill>
                  </a:tcPr>
                </a:tc>
              </a:tr>
              <a:tr h="460375">
                <a:tc>
                  <a:txBody>
                    <a:bodyPr/>
                    <a:lstStyle/>
                    <a:p>
                      <a:r>
                        <a:rPr sz="2025" b="0">
                          <a:solidFill>
                            <a:srgbClr val="193247"/>
                          </a:solidFill>
                          <a:latin typeface="Arial"/>
                          <a:ea typeface="Arial"/>
                          <a:cs typeface="Arial"/>
                        </a:rPr>
                        <a:t>P(high | стан)</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0.8</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970A4B6-DAFD-4786-8FFE-381F1D9D6DAB}"/>
              </a:ext>
            </a:extLst>
          </p:cNvPr>
          <p:cNvSpPr>
            <a:spLocks xmlns:a="http://schemas.openxmlformats.org/drawingml/2006/main" noGrp="1"/>
          </p:cNvSpPr>
          <p:nvPr/>
        </p:nvSpPr>
        <p:spPr>
          <a:xfrm xmlns:a="http://schemas.openxmlformats.org/drawingml/2006/main">
            <a:off x="685800" y="538162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08B85"/>
                </a:solidFill>
                <a:latin typeface="Arial"/>
                <a:ea typeface="Arial"/>
                <a:cs typeface="Arial"/>
              </a:defRPr>
            </a:defPPr>
          </a:lstStyle>
          <a:p xmlns:a="http://schemas.openxmlformats.org/drawingml/2006/main">
            <a:pPr>
              <a:defRPr sz="2175" b="1">
                <a:solidFill>
                  <a:srgbClr val="008B85"/>
                </a:solidFill>
                <a:latin typeface="Arial"/>
                <a:ea typeface="Arial"/>
                <a:cs typeface="Arial"/>
              </a:defRPr>
            </a:pPr>
            <a:r>
              <a:rPr sz="2175" b="1">
                <a:solidFill>
                  <a:srgbClr val="008B85"/>
                </a:solidFill>
                <a:latin typeface="Arial"/>
                <a:ea typeface="Arial"/>
                <a:cs typeface="Arial"/>
              </a:rPr>
              <a:t>Для кожного стану залишаємо найімовірніший шлях до нього. Потім відновлюємо послідовність за попередниками.</a:t>
            </a:r>
          </a:p>
        </p:txBody>
      </p:sp>
    </p:spTree>
    <p:extLst>
      <p:ext uri="{BB962C8B-B14F-4D97-AF65-F5344CB8AC3E}">
        <p14:creationId xmlns:p14="http://schemas.microsoft.com/office/powerpoint/2010/main" val="138475617"/>
      </p:ext>
    </p:extLst>
  </p:cSld>
</p:sld>
</file>

<file path=ppt/slides/v7_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3BA1AC-5F33-400C-BD51-62AE4BD95B42}"/>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Вітербі: три кроки та відновлення</a:t>
            </a:r>
          </a:p>
        </p:txBody>
      </p:sp>
      <p:sp>
        <p:nvSpPr>
          <p:cNvPr id="2" name="">
            <a:extLst xmlns:a="http://schemas.openxmlformats.org/drawingml/2006/main">
              <a:ext uri="{FF2B5EF4-FFF2-40B4-BE49-F238E27FC236}">
                <a16:creationId xmlns:a16="http://schemas.microsoft.com/office/drawing/2014/main" id="{83A53F51-F39C-49BE-8D32-2347AAB42A5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Це ймовірності найкращих спільних шляхів, а не нормовані ймовірності станів.</a:t>
            </a:r>
          </a:p>
        </p:txBody>
      </p:sp>
      <p:graphicFrame>
        <p:nvGraphicFramePr>
          <p:cNvPr id="3" name="">
            <a:extLst xmlns:a="http://schemas.openxmlformats.org/drawingml/2006/main">
              <a:ext uri="{FF2B5EF4-FFF2-40B4-BE49-F238E27FC236}">
                <a16:creationId xmlns:a16="http://schemas.microsoft.com/office/drawing/2014/main" id="{CC4C683D-9BC9-427D-B0F1-8CEA5B699DCE}"/>
              </a:ext>
            </a:extLst>
          </p:cNvPr>
          <p:cNvGraphicFramePr/>
          <p:nvPr/>
        </p:nvGraphicFramePr>
        <p:xfrm>
          <a:off xmlns:a="http://schemas.openxmlformats.org/drawingml/2006/main" x="685800" y="1714500"/>
          <a:ext xmlns:a="http://schemas.openxmlformats.org/drawingml/2006/main" cx="10820400" cy="2619375"/>
        </p:xfrm>
        <a:graphic xmlns:a="http://schemas.openxmlformats.org/drawingml/2006/main">
          <a:graphicData uri="http://schemas.openxmlformats.org/drawingml/2006/table">
            <a:tbl>
              <a:tblPr/>
              <a:tblGrid>
                <a:gridCol w="3238500"/>
                <a:gridCol w="3790950"/>
                <a:gridCol w="3790950"/>
              </a:tblGrid>
              <a:tr h="654844">
                <a:tc>
                  <a:txBody>
                    <a:bodyPr/>
                    <a:lstStyle/>
                    <a:p>
                      <a:r>
                        <a:rPr sz="2025" b="1">
                          <a:solidFill>
                            <a:srgbClr val="FFFFFF"/>
                          </a:solidFill>
                          <a:latin typeface="Arial"/>
                          <a:ea typeface="Arial"/>
                          <a:cs typeface="Arial"/>
                        </a:rPr>
                        <a:t>t / спостереження</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Найкращий шлях до N</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Найкращий шлях до F</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54844">
                <a:tc>
                  <a:txBody>
                    <a:bodyPr/>
                    <a:lstStyle/>
                    <a:p>
                      <a:r>
                        <a:rPr sz="2025" b="0">
                          <a:solidFill>
                            <a:srgbClr val="193247"/>
                          </a:solidFill>
                          <a:latin typeface="Arial"/>
                          <a:ea typeface="Arial"/>
                          <a:cs typeface="Arial"/>
                        </a:rPr>
                        <a:t>1 / low</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0.9·0.9 = 0.81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0.1·0.2 = 0.02</a:t>
                      </a:r>
                    </a:p>
                  </a:txBody>
                  <a:tcPr marL="91440" marR="91440" marT="45720" marB="45720">
                    <a:lnR w="9525">
                      <a:solidFill>
                        <a:srgbClr val="A8B7C0"/>
                      </a:solidFill>
                      <a:prstDash val="solid"/>
                    </a:lnR>
                    <a:lnB w="9525">
                      <a:solidFill>
                        <a:srgbClr val="A8B7C0"/>
                      </a:solidFill>
                      <a:prstDash val="solid"/>
                    </a:lnB>
                    <a:solidFill>
                      <a:srgbClr val="FFFFFF"/>
                    </a:solidFill>
                  </a:tcPr>
                </a:tc>
              </a:tr>
              <a:tr h="654844">
                <a:tc>
                  <a:txBody>
                    <a:bodyPr/>
                    <a:lstStyle/>
                    <a:p>
                      <a:r>
                        <a:rPr sz="2025" b="0">
                          <a:solidFill>
                            <a:srgbClr val="193247"/>
                          </a:solidFill>
                          <a:latin typeface="Arial"/>
                          <a:ea typeface="Arial"/>
                          <a:cs typeface="Arial"/>
                        </a:rPr>
                        <a:t>2 / high</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0.0648</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0.1296</a:t>
                      </a:r>
                    </a:p>
                  </a:txBody>
                  <a:tcPr marL="91440" marR="91440" marT="45720" marB="45720">
                    <a:lnR w="9525">
                      <a:solidFill>
                        <a:srgbClr val="A8B7C0"/>
                      </a:solidFill>
                      <a:prstDash val="solid"/>
                    </a:lnR>
                    <a:lnB w="9525">
                      <a:solidFill>
                        <a:srgbClr val="A8B7C0"/>
                      </a:solidFill>
                      <a:prstDash val="solid"/>
                    </a:lnB>
                    <a:solidFill>
                      <a:srgbClr val="FFFFFF"/>
                    </a:solidFill>
                  </a:tcPr>
                </a:tc>
              </a:tr>
              <a:tr h="654844">
                <a:tc>
                  <a:txBody>
                    <a:bodyPr/>
                    <a:lstStyle/>
                    <a:p>
                      <a:r>
                        <a:rPr sz="2025" b="0">
                          <a:solidFill>
                            <a:srgbClr val="193247"/>
                          </a:solidFill>
                          <a:latin typeface="Arial"/>
                          <a:ea typeface="Arial"/>
                          <a:cs typeface="Arial"/>
                        </a:rPr>
                        <a:t>3 / high</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0.005184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0.072576</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42B58CD-D0D2-448A-AD20-528E39177DD2}"/>
              </a:ext>
            </a:extLst>
          </p:cNvPr>
          <p:cNvSpPr>
            <a:spLocks xmlns:a="http://schemas.openxmlformats.org/drawingml/2006/main" noGrp="1"/>
          </p:cNvSpPr>
          <p:nvPr/>
        </p:nvSpPr>
        <p:spPr>
          <a:xfrm xmlns:a="http://schemas.openxmlformats.org/drawingml/2006/main">
            <a:off x="685800" y="4619625"/>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Приклад для F на кроці 2:</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max(0.81·0.2, 0.02·0.7)·0.8 = 0.1296.</a:t>
            </a:r>
          </a:p>
        </p:txBody>
      </p:sp>
      <p:sp>
        <p:nvSpPr>
          <p:cNvPr id="5" name="">
            <a:extLst xmlns:a="http://schemas.openxmlformats.org/drawingml/2006/main">
              <a:ext uri="{FF2B5EF4-FFF2-40B4-BE49-F238E27FC236}">
                <a16:creationId xmlns:a16="http://schemas.microsoft.com/office/drawing/2014/main" id="{7E8D4D46-D705-49A5-B806-439DED433F71}"/>
              </a:ext>
            </a:extLst>
          </p:cNvPr>
          <p:cNvSpPr>
            <a:spLocks xmlns:a="http://schemas.openxmlformats.org/drawingml/2006/main" noGrp="1"/>
          </p:cNvSpPr>
          <p:nvPr/>
        </p:nvSpPr>
        <p:spPr>
          <a:xfrm xmlns:a="http://schemas.openxmlformats.org/drawingml/2006/main">
            <a:off x="685800" y="552450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Найкраща послідовність: N → F → F. Спільна ймовірність = 0.072576.</a:t>
            </a:r>
          </a:p>
        </p:txBody>
      </p:sp>
    </p:spTree>
    <p:extLst>
      <p:ext uri="{BB962C8B-B14F-4D97-AF65-F5344CB8AC3E}">
        <p14:creationId xmlns:p14="http://schemas.microsoft.com/office/powerpoint/2010/main" val="31856952"/>
      </p:ext>
    </p:extLst>
  </p:cSld>
</p:sld>
</file>

<file path=ppt/slides/v7_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A3ED9D-D1ED-458D-B52E-8DE2A51BB79F}"/>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ДП для порядку множення матриць</a:t>
            </a:r>
          </a:p>
        </p:txBody>
      </p:sp>
      <p:sp>
        <p:nvSpPr>
          <p:cNvPr id="2" name="">
            <a:extLst xmlns:a="http://schemas.openxmlformats.org/drawingml/2006/main">
              <a:ext uri="{FF2B5EF4-FFF2-40B4-BE49-F238E27FC236}">
                <a16:creationId xmlns:a16="http://schemas.microsoft.com/office/drawing/2014/main" id="{CE5D71AE-9FCE-47A5-B3D7-812E80BB821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Результат добутку однаковий. Кількість арифметичних операцій залежить від дужок.</a:t>
            </a:r>
          </a:p>
        </p:txBody>
      </p:sp>
      <p:sp>
        <p:nvSpPr>
          <p:cNvPr id="3" name="">
            <a:extLst xmlns:a="http://schemas.openxmlformats.org/drawingml/2006/main">
              <a:ext uri="{FF2B5EF4-FFF2-40B4-BE49-F238E27FC236}">
                <a16:creationId xmlns:a16="http://schemas.microsoft.com/office/drawing/2014/main" id="{9FC2A828-5C57-4100-8B0B-CD0BDE08DE6F}"/>
              </a:ext>
            </a:extLst>
          </p:cNvPr>
          <p:cNvSpPr>
            <a:spLocks xmlns:a="http://schemas.openxmlformats.org/drawingml/2006/main" noGrp="1"/>
          </p:cNvSpPr>
          <p:nvPr/>
        </p:nvSpPr>
        <p:spPr>
          <a:xfrm xmlns:a="http://schemas.openxmlformats.org/drawingml/2006/main">
            <a:off x="685800" y="17145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0">
                <a:solidFill>
                  <a:srgbClr val="193247"/>
                </a:solidFill>
                <a:latin typeface="Arial"/>
                <a:ea typeface="Arial"/>
                <a:cs typeface="Arial"/>
              </a:defRPr>
            </a:defPPr>
          </a:lstStyle>
          <a:p xmlns:a="http://schemas.openxmlformats.org/drawingml/2006/main">
            <a:pPr>
              <a:defRPr sz="2850" b="0">
                <a:solidFill>
                  <a:srgbClr val="193247"/>
                </a:solidFill>
                <a:latin typeface="Arial"/>
                <a:ea typeface="Arial"/>
                <a:cs typeface="Arial"/>
              </a:defRPr>
            </a:pPr>
            <a:r>
              <a:rPr sz="2850" b="0">
                <a:solidFill>
                  <a:srgbClr val="193247"/>
                </a:solidFill>
                <a:latin typeface="Arial"/>
                <a:ea typeface="Arial"/>
                <a:cs typeface="Arial"/>
              </a:rPr>
              <a:t>A: 10×100, B: 100×5, C: 5×50</a:t>
            </a:r>
          </a:p>
        </p:txBody>
      </p:sp>
      <p:graphicFrame>
        <p:nvGraphicFramePr>
          <p:cNvPr id="4" name="">
            <a:extLst xmlns:a="http://schemas.openxmlformats.org/drawingml/2006/main">
              <a:ext uri="{FF2B5EF4-FFF2-40B4-BE49-F238E27FC236}">
                <a16:creationId xmlns:a16="http://schemas.microsoft.com/office/drawing/2014/main" id="{ABD39971-AB27-44FF-BD03-500162A96361}"/>
              </a:ext>
            </a:extLst>
          </p:cNvPr>
          <p:cNvGraphicFramePr/>
          <p:nvPr/>
        </p:nvGraphicFramePr>
        <p:xfrm>
          <a:off xmlns:a="http://schemas.openxmlformats.org/drawingml/2006/main" x="685800" y="2857500"/>
          <a:ext xmlns:a="http://schemas.openxmlformats.org/drawingml/2006/main" cx="10820400" cy="2000250"/>
        </p:xfrm>
        <a:graphic xmlns:a="http://schemas.openxmlformats.org/drawingml/2006/main">
          <a:graphicData uri="http://schemas.openxmlformats.org/drawingml/2006/table">
            <a:tbl>
              <a:tblPr/>
              <a:tblGrid>
                <a:gridCol w="3429000"/>
                <a:gridCol w="7391400"/>
              </a:tblGrid>
              <a:tr h="666750">
                <a:tc>
                  <a:txBody>
                    <a:bodyPr/>
                    <a:lstStyle/>
                    <a:p>
                      <a:r>
                        <a:rPr sz="2025" b="1">
                          <a:solidFill>
                            <a:srgbClr val="FFFFFF"/>
                          </a:solidFill>
                          <a:latin typeface="Arial"/>
                          <a:ea typeface="Arial"/>
                          <a:cs typeface="Arial"/>
                        </a:rPr>
                        <a:t>Порядок</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2025" b="1">
                          <a:solidFill>
                            <a:srgbClr val="FFFFFF"/>
                          </a:solidFill>
                          <a:latin typeface="Arial"/>
                          <a:ea typeface="Arial"/>
                          <a:cs typeface="Arial"/>
                        </a:rPr>
                        <a:t>Кількість скалярних множень</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666750">
                <a:tc>
                  <a:txBody>
                    <a:bodyPr/>
                    <a:lstStyle/>
                    <a:p>
                      <a:r>
                        <a:rPr sz="2025" b="0">
                          <a:solidFill>
                            <a:srgbClr val="193247"/>
                          </a:solidFill>
                          <a:latin typeface="Arial"/>
                          <a:ea typeface="Arial"/>
                          <a:cs typeface="Arial"/>
                        </a:rPr>
                        <a:t>(AB)C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10·100·5 + 10·5·50 = 7 500</a:t>
                      </a:r>
                    </a:p>
                  </a:txBody>
                  <a:tcPr marL="91440" marR="91440" marT="45720" marB="45720">
                    <a:lnR w="9525">
                      <a:solidFill>
                        <a:srgbClr val="A8B7C0"/>
                      </a:solidFill>
                      <a:prstDash val="solid"/>
                    </a:lnR>
                    <a:lnB w="9525">
                      <a:solidFill>
                        <a:srgbClr val="A8B7C0"/>
                      </a:solidFill>
                      <a:prstDash val="solid"/>
                    </a:lnB>
                    <a:solidFill>
                      <a:srgbClr val="FFFFFF"/>
                    </a:solidFill>
                  </a:tcPr>
                </a:tc>
              </a:tr>
              <a:tr h="666750">
                <a:tc>
                  <a:txBody>
                    <a:bodyPr/>
                    <a:lstStyle/>
                    <a:p>
                      <a:r>
                        <a:rPr sz="2025" b="0">
                          <a:solidFill>
                            <a:srgbClr val="193247"/>
                          </a:solidFill>
                          <a:latin typeface="Arial"/>
                          <a:ea typeface="Arial"/>
                          <a:cs typeface="Arial"/>
                        </a:rPr>
                        <a:t>A(BC)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2025" b="0">
                          <a:solidFill>
                            <a:srgbClr val="193247"/>
                          </a:solidFill>
                          <a:latin typeface="Arial"/>
                          <a:ea typeface="Arial"/>
                          <a:cs typeface="Arial"/>
                        </a:rPr>
                        <a:t>100·5·50 + 10·100·50 = 75 000</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5CDB697-94C8-45AA-98F9-AADF9386C431}"/>
              </a:ext>
            </a:extLst>
          </p:cNvPr>
          <p:cNvSpPr>
            <a:spLocks xmlns:a="http://schemas.openxmlformats.org/drawingml/2006/main" noGrp="1"/>
          </p:cNvSpPr>
          <p:nvPr/>
        </p:nvSpPr>
        <p:spPr>
          <a:xfrm xmlns:a="http://schemas.openxmlformats.org/drawingml/2006/main">
            <a:off x="685800" y="5238750"/>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Стан (i,j): підланцюжок матриць. Дія: місце розбиття.</a:t>
            </a:r>
          </a:p>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ДП зберігає найменшу вартість і найкраще розбиття.</a:t>
            </a:r>
          </a:p>
        </p:txBody>
      </p:sp>
    </p:spTree>
    <p:extLst>
      <p:ext uri="{BB962C8B-B14F-4D97-AF65-F5344CB8AC3E}">
        <p14:creationId xmlns:p14="http://schemas.microsoft.com/office/powerpoint/2010/main" val="1089631378"/>
      </p:ext>
    </p:extLst>
  </p:cSld>
</p:sld>
</file>

<file path=ppt/slides/v7_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70FC42-813E-43CC-9BFA-DC2800E30AC7}"/>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Флойд–Воршелл: найкоротші шляхи всіх пар</a:t>
            </a:r>
          </a:p>
        </p:txBody>
      </p:sp>
      <p:sp>
        <p:nvSpPr>
          <p:cNvPr id="2" name="">
            <a:extLst xmlns:a="http://schemas.openxmlformats.org/drawingml/2006/main">
              <a:ext uri="{FF2B5EF4-FFF2-40B4-BE49-F238E27FC236}">
                <a16:creationId xmlns:a16="http://schemas.microsoft.com/office/drawing/2014/main" id="{238D0FD5-8A8B-4ECF-9FAF-6E94A6021368}"/>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ДП розширює множину дозволених проміжних вершин.</a:t>
            </a:r>
          </a:p>
        </p:txBody>
      </p:sp>
      <p:sp>
        <p:nvSpPr>
          <p:cNvPr id="3" name="">
            <a:extLst xmlns:a="http://schemas.openxmlformats.org/drawingml/2006/main">
              <a:ext uri="{FF2B5EF4-FFF2-40B4-BE49-F238E27FC236}">
                <a16:creationId xmlns:a16="http://schemas.microsoft.com/office/drawing/2014/main" id="{425C0E59-35FA-4617-A5F4-A1AC633953D1}"/>
              </a:ext>
            </a:extLst>
          </p:cNvPr>
          <p:cNvSpPr>
            <a:spLocks xmlns:a="http://schemas.openxmlformats.org/drawingml/2006/main" noGrp="1"/>
          </p:cNvSpPr>
          <p:nvPr/>
        </p:nvSpPr>
        <p:spPr>
          <a:xfrm xmlns:a="http://schemas.openxmlformats.org/drawingml/2006/main">
            <a:off x="685800" y="17145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0">
                <a:solidFill>
                  <a:srgbClr val="193247"/>
                </a:solidFill>
                <a:latin typeface="Arial"/>
                <a:ea typeface="Arial"/>
                <a:cs typeface="Arial"/>
              </a:defRPr>
            </a:defPPr>
          </a:lstStyle>
          <a:p xmlns:a="http://schemas.openxmlformats.org/drawingml/2006/main">
            <a:pPr>
              <a:defRPr sz="2850" b="0">
                <a:solidFill>
                  <a:srgbClr val="193247"/>
                </a:solidFill>
                <a:latin typeface="Arial"/>
                <a:ea typeface="Arial"/>
                <a:cs typeface="Arial"/>
              </a:defRPr>
            </a:pPr>
            <a:r>
              <a:rPr sz="2850" b="0">
                <a:solidFill>
                  <a:srgbClr val="193247"/>
                </a:solidFill>
                <a:latin typeface="Arial"/>
                <a:ea typeface="Arial"/>
                <a:cs typeface="Arial"/>
              </a:rPr>
              <a:t>Прямо A → C: 10. Через B: 4 + 3 = 7.</a:t>
            </a:r>
          </a:p>
        </p:txBody>
      </p:sp>
      <p:sp>
        <p:nvSpPr>
          <p:cNvPr id="4" name="">
            <a:extLst xmlns:a="http://schemas.openxmlformats.org/drawingml/2006/main">
              <a:ext uri="{FF2B5EF4-FFF2-40B4-BE49-F238E27FC236}">
                <a16:creationId xmlns:a16="http://schemas.microsoft.com/office/drawing/2014/main" id="{8BA4CA06-98C0-4EA3-9C37-F2127302080F}"/>
              </a:ext>
            </a:extLst>
          </p:cNvPr>
          <p:cNvSpPr>
            <a:spLocks xmlns:a="http://schemas.openxmlformats.org/drawingml/2006/main" noGrp="1"/>
          </p:cNvSpPr>
          <p:nvPr/>
        </p:nvSpPr>
        <p:spPr>
          <a:xfrm xmlns:a="http://schemas.openxmlformats.org/drawingml/2006/main">
            <a:off x="952500" y="2952750"/>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A</a:t>
            </a:r>
          </a:p>
        </p:txBody>
      </p:sp>
      <p:sp>
        <p:nvSpPr>
          <p:cNvPr id="5" name="">
            <a:extLst xmlns:a="http://schemas.openxmlformats.org/drawingml/2006/main">
              <a:ext uri="{FF2B5EF4-FFF2-40B4-BE49-F238E27FC236}">
                <a16:creationId xmlns:a16="http://schemas.microsoft.com/office/drawing/2014/main" id="{900AE5CF-FEAB-41B8-8AB7-CD4122AB0B9F}"/>
              </a:ext>
            </a:extLst>
          </p:cNvPr>
          <p:cNvSpPr>
            <a:spLocks xmlns:a="http://schemas.openxmlformats.org/drawingml/2006/main" noGrp="1"/>
          </p:cNvSpPr>
          <p:nvPr/>
        </p:nvSpPr>
        <p:spPr>
          <a:xfrm xmlns:a="http://schemas.openxmlformats.org/drawingml/2006/main">
            <a:off x="5143500" y="2952750"/>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B</a:t>
            </a:r>
          </a:p>
        </p:txBody>
      </p:sp>
      <p:sp>
        <p:nvSpPr>
          <p:cNvPr id="6" name="">
            <a:extLst xmlns:a="http://schemas.openxmlformats.org/drawingml/2006/main">
              <a:ext uri="{FF2B5EF4-FFF2-40B4-BE49-F238E27FC236}">
                <a16:creationId xmlns:a16="http://schemas.microsoft.com/office/drawing/2014/main" id="{7AA81C35-28C1-44B8-A771-3BCD8F7C69C3}"/>
              </a:ext>
            </a:extLst>
          </p:cNvPr>
          <p:cNvSpPr>
            <a:spLocks xmlns:a="http://schemas.openxmlformats.org/drawingml/2006/main" noGrp="1"/>
          </p:cNvSpPr>
          <p:nvPr/>
        </p:nvSpPr>
        <p:spPr>
          <a:xfrm xmlns:a="http://schemas.openxmlformats.org/drawingml/2006/main">
            <a:off x="9334500" y="2952750"/>
            <a:ext cx="1809750" cy="809625"/>
          </a:xfrm>
          <a:prstGeom xmlns:a="http://schemas.openxmlformats.org/drawingml/2006/main" prst="rect">
            <a:avLst/>
          </a:prstGeom>
          <a:solidFill xmlns:a="http://schemas.openxmlformats.org/drawingml/2006/main">
            <a:srgbClr val="EDF4F8"/>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93247"/>
                </a:solidFill>
                <a:latin typeface="Arial"/>
                <a:ea typeface="Arial"/>
                <a:cs typeface="Arial"/>
              </a:defRPr>
            </a:defPPr>
          </a:lstStyle>
          <a:p xmlns:a="http://schemas.openxmlformats.org/drawingml/2006/main">
            <a:pPr algn="ctr">
              <a:defRPr sz="2175" b="1">
                <a:solidFill>
                  <a:srgbClr val="193247"/>
                </a:solidFill>
                <a:latin typeface="Arial"/>
                <a:ea typeface="Arial"/>
                <a:cs typeface="Arial"/>
              </a:defRPr>
            </a:pPr>
            <a:r>
              <a:rPr sz="2175" b="1">
                <a:solidFill>
                  <a:srgbClr val="193247"/>
                </a:solidFill>
                <a:latin typeface="Arial"/>
                <a:ea typeface="Arial"/>
                <a:cs typeface="Arial"/>
              </a:rPr>
              <a:t>C</a:t>
            </a:r>
          </a:p>
        </p:txBody>
      </p:sp>
      <p:sp>
        <p:nvSpPr>
          <p:cNvPr id="7" name="">
            <a:extLst xmlns:a="http://schemas.openxmlformats.org/drawingml/2006/main">
              <a:ext uri="{FF2B5EF4-FFF2-40B4-BE49-F238E27FC236}">
                <a16:creationId xmlns:a16="http://schemas.microsoft.com/office/drawing/2014/main" id="{4C82C263-07AE-406F-A47F-4EF50A053F07}"/>
              </a:ext>
            </a:extLst>
          </p:cNvPr>
          <p:cNvSpPr>
            <a:spLocks xmlns:a="http://schemas.openxmlformats.org/drawingml/2006/main" noGrp="1"/>
          </p:cNvSpPr>
          <p:nvPr/>
        </p:nvSpPr>
        <p:spPr>
          <a:xfrm xmlns:a="http://schemas.openxmlformats.org/drawingml/2006/main">
            <a:off x="2762250" y="3333750"/>
            <a:ext cx="23812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8" name="">
            <a:extLst xmlns:a="http://schemas.openxmlformats.org/drawingml/2006/main">
              <a:ext uri="{FF2B5EF4-FFF2-40B4-BE49-F238E27FC236}">
                <a16:creationId xmlns:a16="http://schemas.microsoft.com/office/drawing/2014/main" id="{3FCD6BD6-A4CB-47AA-B39D-C4EEA1EE5882}"/>
              </a:ext>
            </a:extLst>
          </p:cNvPr>
          <p:cNvSpPr>
            <a:spLocks xmlns:a="http://schemas.openxmlformats.org/drawingml/2006/main" noGrp="1"/>
          </p:cNvSpPr>
          <p:nvPr/>
        </p:nvSpPr>
        <p:spPr>
          <a:xfrm xmlns:a="http://schemas.openxmlformats.org/drawingml/2006/main">
            <a:off x="2762250" y="2971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4</a:t>
            </a:r>
          </a:p>
        </p:txBody>
      </p:sp>
      <p:sp>
        <p:nvSpPr>
          <p:cNvPr id="9" name="">
            <a:extLst xmlns:a="http://schemas.openxmlformats.org/drawingml/2006/main">
              <a:ext uri="{FF2B5EF4-FFF2-40B4-BE49-F238E27FC236}">
                <a16:creationId xmlns:a16="http://schemas.microsoft.com/office/drawing/2014/main" id="{F9A59BD7-C816-450E-9FFE-63C8DE8B615B}"/>
              </a:ext>
            </a:extLst>
          </p:cNvPr>
          <p:cNvSpPr>
            <a:spLocks xmlns:a="http://schemas.openxmlformats.org/drawingml/2006/main" noGrp="1"/>
          </p:cNvSpPr>
          <p:nvPr/>
        </p:nvSpPr>
        <p:spPr>
          <a:xfrm xmlns:a="http://schemas.openxmlformats.org/drawingml/2006/main">
            <a:off x="6953250" y="3333750"/>
            <a:ext cx="2381250" cy="142875"/>
          </a:xfrm>
          <a:prstGeom xmlns:a="http://schemas.openxmlformats.org/drawingml/2006/main" prst="rightArrow">
            <a:avLst/>
          </a:prstGeom>
          <a:solidFill xmlns:a="http://schemas.openxmlformats.org/drawingml/2006/main">
            <a:srgbClr val="008B85"/>
          </a:solidFill>
          <a:ln xmlns:a="http://schemas.openxmlformats.org/drawingml/2006/main" w="9525">
            <a:solidFill>
              <a:srgbClr val="008B85"/>
            </a:solidFill>
            <a:prstDash val="solid"/>
          </a:ln>
        </p:spPr>
      </p:sp>
      <p:sp>
        <p:nvSpPr>
          <p:cNvPr id="10" name="">
            <a:extLst xmlns:a="http://schemas.openxmlformats.org/drawingml/2006/main">
              <a:ext uri="{FF2B5EF4-FFF2-40B4-BE49-F238E27FC236}">
                <a16:creationId xmlns:a16="http://schemas.microsoft.com/office/drawing/2014/main" id="{D4D50033-191C-4BBC-A4DA-0E6A1A385E7D}"/>
              </a:ext>
            </a:extLst>
          </p:cNvPr>
          <p:cNvSpPr>
            <a:spLocks xmlns:a="http://schemas.openxmlformats.org/drawingml/2006/main" noGrp="1"/>
          </p:cNvSpPr>
          <p:nvPr/>
        </p:nvSpPr>
        <p:spPr>
          <a:xfrm xmlns:a="http://schemas.openxmlformats.org/drawingml/2006/main">
            <a:off x="6953250" y="2971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008B85"/>
                </a:solidFill>
                <a:latin typeface="Arial"/>
                <a:ea typeface="Arial"/>
                <a:cs typeface="Arial"/>
              </a:defRPr>
            </a:defPPr>
          </a:lstStyle>
          <a:p xmlns:a="http://schemas.openxmlformats.org/drawingml/2006/main">
            <a:pPr>
              <a:defRPr sz="1800" b="1">
                <a:solidFill>
                  <a:srgbClr val="008B85"/>
                </a:solidFill>
                <a:latin typeface="Arial"/>
                <a:ea typeface="Arial"/>
                <a:cs typeface="Arial"/>
              </a:defRPr>
            </a:pPr>
            <a:r>
              <a:rPr sz="1800" b="1">
                <a:solidFill>
                  <a:srgbClr val="008B85"/>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E38AA6D-6178-45C5-B89E-4064C9C4F606}"/>
              </a:ext>
            </a:extLst>
          </p:cNvPr>
          <p:cNvSpPr>
            <a:spLocks xmlns:a="http://schemas.openxmlformats.org/drawingml/2006/main" noGrp="1"/>
          </p:cNvSpPr>
          <p:nvPr/>
        </p:nvSpPr>
        <p:spPr>
          <a:xfrm xmlns:a="http://schemas.openxmlformats.org/drawingml/2006/main">
            <a:off x="685800" y="433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008B85"/>
                </a:solidFill>
                <a:latin typeface="Arial"/>
                <a:ea typeface="Arial"/>
                <a:cs typeface="Arial"/>
              </a:defRPr>
            </a:defPPr>
          </a:lstStyle>
          <a:p xmlns:a="http://schemas.openxmlformats.org/drawingml/2006/main">
            <a:pPr>
              <a:defRPr sz="2700" b="1">
                <a:solidFill>
                  <a:srgbClr val="008B85"/>
                </a:solidFill>
                <a:latin typeface="Arial"/>
                <a:ea typeface="Arial"/>
                <a:cs typeface="Arial"/>
              </a:defRPr>
            </a:pPr>
            <a:r>
              <a:rPr sz="2700" b="1">
                <a:solidFill>
                  <a:srgbClr val="008B85"/>
                </a:solidFill>
                <a:latin typeface="Arial"/>
                <a:ea typeface="Arial"/>
                <a:cs typeface="Arial"/>
              </a:rPr>
              <a:t>D(A,C) = min(10, D(A,B) + D(B,C)) = 7</a:t>
            </a:r>
          </a:p>
        </p:txBody>
      </p:sp>
      <p:sp>
        <p:nvSpPr>
          <p:cNvPr id="12" name="">
            <a:extLst xmlns:a="http://schemas.openxmlformats.org/drawingml/2006/main">
              <a:ext uri="{FF2B5EF4-FFF2-40B4-BE49-F238E27FC236}">
                <a16:creationId xmlns:a16="http://schemas.microsoft.com/office/drawing/2014/main" id="{B8B44B3A-6786-4C56-8BE1-834B8D5AB7F1}"/>
              </a:ext>
            </a:extLst>
          </p:cNvPr>
          <p:cNvSpPr>
            <a:spLocks xmlns:a="http://schemas.openxmlformats.org/drawingml/2006/main" noGrp="1"/>
          </p:cNvSpPr>
          <p:nvPr/>
        </p:nvSpPr>
        <p:spPr>
          <a:xfrm xmlns:a="http://schemas.openxmlformats.org/drawingml/2006/main">
            <a:off x="685800" y="52387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Стан: пара вершин та дозволені посередники.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Для n вершин повний алгоритм має час O(n³).</a:t>
            </a:r>
          </a:p>
        </p:txBody>
      </p:sp>
    </p:spTree>
    <p:extLst>
      <p:ext uri="{BB962C8B-B14F-4D97-AF65-F5344CB8AC3E}">
        <p14:creationId xmlns:p14="http://schemas.microsoft.com/office/powerpoint/2010/main" val="280202659"/>
      </p:ext>
    </p:extLst>
  </p:cSld>
</p:sld>
</file>

<file path=ppt/slides/v8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ADCFFF-F727-4FCA-BD09-BFB7ABFD29C5}"/>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маршрут по прямокутній сітці</a:t>
            </a:r>
          </a:p>
        </p:txBody>
      </p:sp>
      <p:sp>
        <p:nvSpPr>
          <p:cNvPr id="2" name="">
            <a:extLst xmlns:a="http://schemas.openxmlformats.org/drawingml/2006/main">
              <a:ext uri="{FF2B5EF4-FFF2-40B4-BE49-F238E27FC236}">
                <a16:creationId xmlns:a16="http://schemas.microsoft.com/office/drawing/2014/main" id="{F6990386-E827-4275-8FA4-E8A67B48E390}"/>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Обчислення починаються з останнього переходу.</a:t>
            </a:r>
          </a:p>
        </p:txBody>
      </p:sp>
      <p:pic>
        <p:nvPicPr>
          <p:cNvPr id="3" name="">
            <a:extLst xmlns:a="http://schemas.openxmlformats.org/drawingml/2006/main">
              <a:ext uri="{FF2B5EF4-FFF2-40B4-BE49-F238E27FC236}">
                <a16:creationId xmlns:a16="http://schemas.microsoft.com/office/drawing/2014/main" id="{34575268-2275-4351-A100-758D0D161BBC}"/>
              </a:ext>
            </a:extLst>
          </p:cNvPr>
          <p:cNvPicPr>
            <a:picLocks xmlns:a="http://schemas.openxmlformats.org/drawingml/2006/main" noChangeAspect="1"/>
          </p:cNvPicPr>
          <p:nvPr/>
        </p:nvPicPr>
        <p:blipFill>
          <a:blip xmlns:r="http://schemas.openxmlformats.org/officeDocument/2006/relationships" xmlns:a="http://schemas.openxmlformats.org/drawingml/2006/main" r:embed="R57f3f22801dd4c6f"/>
          <a:stretch xmlns:a="http://schemas.openxmlformats.org/drawingml/2006/main"/>
        </p:blipFill>
        <p:spPr>
          <a:xfrm xmlns:a="http://schemas.openxmlformats.org/drawingml/2006/main">
            <a:off x="1012496" y="2238375"/>
            <a:ext cx="2680358" cy="3095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944CA3E-F9B6-431B-A662-1515880B052C}"/>
              </a:ext>
            </a:extLst>
          </p:cNvPr>
          <p:cNvSpPr>
            <a:spLocks xmlns:a="http://schemas.openxmlformats.org/drawingml/2006/main" noGrp="1"/>
          </p:cNvSpPr>
          <p:nvPr/>
        </p:nvSpPr>
        <p:spPr>
          <a:xfrm xmlns:a="http://schemas.openxmlformats.org/drawingml/2006/main">
            <a:off x="4476750" y="1571625"/>
            <a:ext cx="695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Потрібно дістатися з A до B:</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7 кроків на схід і 5 на північ.</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Мета: найменша сума вартостей.</a:t>
            </a:r>
          </a:p>
        </p:txBody>
      </p:sp>
      <p:sp>
        <p:nvSpPr>
          <p:cNvPr id="5" name="">
            <a:extLst xmlns:a="http://schemas.openxmlformats.org/drawingml/2006/main">
              <a:ext uri="{FF2B5EF4-FFF2-40B4-BE49-F238E27FC236}">
                <a16:creationId xmlns:a16="http://schemas.microsoft.com/office/drawing/2014/main" id="{1CB521CE-622A-4B2C-B9DE-9A1D7A15AE2C}"/>
              </a:ext>
            </a:extLst>
          </p:cNvPr>
          <p:cNvSpPr>
            <a:spLocks xmlns:a="http://schemas.openxmlformats.org/drawingml/2006/main" noGrp="1"/>
          </p:cNvSpPr>
          <p:nvPr/>
        </p:nvSpPr>
        <p:spPr>
          <a:xfrm xmlns:a="http://schemas.openxmlformats.org/drawingml/2006/main">
            <a:off x="4476750" y="3143250"/>
            <a:ext cx="695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У точці B залишилося витратити 0.</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 B₁ є один перехід: 10 + 0 = 10.</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 B₂ є один перехід: 14 + 0 = 14.</a:t>
            </a:r>
          </a:p>
        </p:txBody>
      </p:sp>
      <p:sp>
        <p:nvSpPr>
          <p:cNvPr id="6" name="">
            <a:extLst xmlns:a="http://schemas.openxmlformats.org/drawingml/2006/main">
              <a:ext uri="{FF2B5EF4-FFF2-40B4-BE49-F238E27FC236}">
                <a16:creationId xmlns:a16="http://schemas.microsoft.com/office/drawing/2014/main" id="{CF19C817-1E75-4558-8A3A-78558FB20228}"/>
              </a:ext>
            </a:extLst>
          </p:cNvPr>
          <p:cNvSpPr>
            <a:spLocks xmlns:a="http://schemas.openxmlformats.org/drawingml/2006/main" noGrp="1"/>
          </p:cNvSpPr>
          <p:nvPr/>
        </p:nvSpPr>
        <p:spPr>
          <a:xfrm xmlns:a="http://schemas.openxmlformats.org/drawingml/2006/main">
            <a:off x="4476750" y="4857750"/>
            <a:ext cx="695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Число в кружку: вартість усього</a:t>
            </a:r>
          </a:p>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найкращого продовження.</a:t>
            </a:r>
          </a:p>
        </p:txBody>
      </p:sp>
      <p:sp>
        <p:nvSpPr>
          <p:cNvPr id="7" name="">
            <a:extLst xmlns:a="http://schemas.openxmlformats.org/drawingml/2006/main">
              <a:ext uri="{FF2B5EF4-FFF2-40B4-BE49-F238E27FC236}">
                <a16:creationId xmlns:a16="http://schemas.microsoft.com/office/drawing/2014/main" id="{95AEFD40-06D3-45AA-AE73-5EFB3C0F4436}"/>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Вентцель, §13, рис. 13.3, с. 95. Оригінальна ілюстрація</a:t>
            </a:r>
          </a:p>
        </p:txBody>
      </p:sp>
    </p:spTree>
    <p:extLst>
      <p:ext uri="{BB962C8B-B14F-4D97-AF65-F5344CB8AC3E}">
        <p14:creationId xmlns:p14="http://schemas.microsoft.com/office/powerpoint/2010/main" val="1387447951"/>
      </p:ext>
    </p:extLst>
  </p:cSld>
</p:sld>
</file>

<file path=ppt/slides/v8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25B688-35BA-42C5-865C-07495FFE93A6}"/>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вибір у точці C₂</a:t>
            </a:r>
          </a:p>
        </p:txBody>
      </p:sp>
      <p:sp>
        <p:nvSpPr>
          <p:cNvPr id="2" name="">
            <a:extLst xmlns:a="http://schemas.openxmlformats.org/drawingml/2006/main">
              <a:ext uri="{FF2B5EF4-FFF2-40B4-BE49-F238E27FC236}">
                <a16:creationId xmlns:a16="http://schemas.microsoft.com/office/drawing/2014/main" id="{19CED61E-E26D-4A4C-BD14-C20AD36A9C99}"/>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Вибір враховує поточну вартість і вже обчислену решту шляху.</a:t>
            </a:r>
          </a:p>
        </p:txBody>
      </p:sp>
      <p:pic>
        <p:nvPicPr>
          <p:cNvPr id="3" name="">
            <a:extLst xmlns:a="http://schemas.openxmlformats.org/drawingml/2006/main">
              <a:ext uri="{FF2B5EF4-FFF2-40B4-BE49-F238E27FC236}">
                <a16:creationId xmlns:a16="http://schemas.microsoft.com/office/drawing/2014/main" id="{B31CA2AB-E358-46F5-B9F1-8D16CE86ABE4}"/>
              </a:ext>
            </a:extLst>
          </p:cNvPr>
          <p:cNvPicPr>
            <a:picLocks xmlns:a="http://schemas.openxmlformats.org/drawingml/2006/main" noChangeAspect="1"/>
          </p:cNvPicPr>
          <p:nvPr/>
        </p:nvPicPr>
        <p:blipFill>
          <a:blip xmlns:r="http://schemas.openxmlformats.org/officeDocument/2006/relationships" xmlns:a="http://schemas.openxmlformats.org/drawingml/2006/main" r:embed="R85f7c64ea12f4a0e"/>
          <a:stretch xmlns:a="http://schemas.openxmlformats.org/drawingml/2006/main"/>
        </p:blipFill>
        <p:spPr>
          <a:xfrm xmlns:a="http://schemas.openxmlformats.org/drawingml/2006/main">
            <a:off x="884905" y="1619250"/>
            <a:ext cx="3792791"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FFEFD07-4E16-4F03-953D-CBD304995FF9}"/>
              </a:ext>
            </a:extLst>
          </p:cNvPr>
          <p:cNvSpPr>
            <a:spLocks xmlns:a="http://schemas.openxmlformats.org/drawingml/2006/main" noGrp="1"/>
          </p:cNvSpPr>
          <p:nvPr/>
        </p:nvSpPr>
        <p:spPr>
          <a:xfrm xmlns:a="http://schemas.openxmlformats.org/drawingml/2006/main">
            <a:off x="5429250" y="1809750"/>
            <a:ext cx="6000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3247"/>
                </a:solidFill>
                <a:latin typeface="Arial"/>
                <a:ea typeface="Arial"/>
                <a:cs typeface="Arial"/>
              </a:defRPr>
            </a:defPPr>
          </a:lstStyle>
          <a:p xmlns:a="http://schemas.openxmlformats.org/drawingml/2006/main">
            <a:pPr>
              <a:defRPr sz="2700" b="0">
                <a:solidFill>
                  <a:srgbClr val="193247"/>
                </a:solidFill>
                <a:latin typeface="Arial"/>
                <a:ea typeface="Arial"/>
                <a:cs typeface="Arial"/>
              </a:defRPr>
            </a:pPr>
            <a:r>
              <a:rPr sz="2700" b="0">
                <a:solidFill>
                  <a:srgbClr val="193247"/>
                </a:solidFill>
                <a:latin typeface="Arial"/>
                <a:ea typeface="Arial"/>
                <a:cs typeface="Arial"/>
              </a:rPr>
              <a:t>На схід: 14 + 14 = 28</a:t>
            </a:r>
          </a:p>
          <a:p xmlns:a="http://schemas.openxmlformats.org/drawingml/2006/main">
            <a:pPr>
              <a:defRPr sz="2700" b="0">
                <a:solidFill>
                  <a:srgbClr val="193247"/>
                </a:solidFill>
                <a:latin typeface="Arial"/>
                <a:ea typeface="Arial"/>
                <a:cs typeface="Arial"/>
              </a:defRPr>
            </a:pPr>
            <a:r>
              <a:rPr sz="2700" b="0">
                <a:solidFill>
                  <a:srgbClr val="193247"/>
                </a:solidFill>
                <a:latin typeface="Arial"/>
                <a:ea typeface="Arial"/>
                <a:cs typeface="Arial"/>
              </a:rPr>
              <a:t>На північ: 13 + 10 = 23</a:t>
            </a:r>
          </a:p>
        </p:txBody>
      </p:sp>
      <p:sp>
        <p:nvSpPr>
          <p:cNvPr id="5" name="">
            <a:extLst xmlns:a="http://schemas.openxmlformats.org/drawingml/2006/main">
              <a:ext uri="{FF2B5EF4-FFF2-40B4-BE49-F238E27FC236}">
                <a16:creationId xmlns:a16="http://schemas.microsoft.com/office/drawing/2014/main" id="{8E9ADCEC-20D9-4CE3-8440-8310B186CE77}"/>
              </a:ext>
            </a:extLst>
          </p:cNvPr>
          <p:cNvSpPr>
            <a:spLocks xmlns:a="http://schemas.openxmlformats.org/drawingml/2006/main" noGrp="1"/>
          </p:cNvSpPr>
          <p:nvPr/>
        </p:nvSpPr>
        <p:spPr>
          <a:xfrm xmlns:a="http://schemas.openxmlformats.org/drawingml/2006/main">
            <a:off x="5429250" y="3333750"/>
            <a:ext cx="600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08B85"/>
                </a:solidFill>
                <a:latin typeface="Arial"/>
                <a:ea typeface="Arial"/>
                <a:cs typeface="Arial"/>
              </a:defRPr>
            </a:defPPr>
          </a:lstStyle>
          <a:p xmlns:a="http://schemas.openxmlformats.org/drawingml/2006/main">
            <a:pPr>
              <a:defRPr sz="2550" b="1">
                <a:solidFill>
                  <a:srgbClr val="008B85"/>
                </a:solidFill>
                <a:latin typeface="Arial"/>
                <a:ea typeface="Arial"/>
                <a:cs typeface="Arial"/>
              </a:defRPr>
            </a:pPr>
            <a:r>
              <a:rPr sz="2550" b="1">
                <a:solidFill>
                  <a:srgbClr val="008B85"/>
                </a:solidFill>
                <a:latin typeface="Arial"/>
                <a:ea typeface="Arial"/>
                <a:cs typeface="Arial"/>
              </a:rPr>
              <a:t>V(C₂) = min(28, 23) = 23</a:t>
            </a:r>
          </a:p>
        </p:txBody>
      </p:sp>
      <p:sp>
        <p:nvSpPr>
          <p:cNvPr id="6" name="">
            <a:extLst xmlns:a="http://schemas.openxmlformats.org/drawingml/2006/main">
              <a:ext uri="{FF2B5EF4-FFF2-40B4-BE49-F238E27FC236}">
                <a16:creationId xmlns:a16="http://schemas.microsoft.com/office/drawing/2014/main" id="{F1EDE976-A1B5-4F76-86EE-840C4391146D}"/>
              </a:ext>
            </a:extLst>
          </p:cNvPr>
          <p:cNvSpPr>
            <a:spLocks xmlns:a="http://schemas.openxmlformats.org/drawingml/2006/main" noGrp="1"/>
          </p:cNvSpPr>
          <p:nvPr/>
        </p:nvSpPr>
        <p:spPr>
          <a:xfrm xmlns:a="http://schemas.openxmlformats.org/drawingml/2006/main">
            <a:off x="5429250" y="4333875"/>
            <a:ext cx="6000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3247"/>
                </a:solidFill>
                <a:latin typeface="Arial"/>
                <a:ea typeface="Arial"/>
                <a:cs typeface="Arial"/>
              </a:defRPr>
            </a:defPPr>
          </a:lstStyle>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Записуємо 23 у кружок.</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Зберігаємо дію: на північ.</a:t>
            </a:r>
          </a:p>
          <a:p xmlns:a="http://schemas.openxmlformats.org/drawingml/2006/main">
            <a:pPr>
              <a:defRPr sz="2400" b="0">
                <a:solidFill>
                  <a:srgbClr val="193247"/>
                </a:solidFill>
                <a:latin typeface="Arial"/>
                <a:ea typeface="Arial"/>
                <a:cs typeface="Arial"/>
              </a:defRPr>
            </a:pPr>
            <a:r>
              <a:rPr sz="2400" b="0">
                <a:solidFill>
                  <a:srgbClr val="193247"/>
                </a:solidFill>
                <a:latin typeface="Arial"/>
                <a:ea typeface="Arial"/>
                <a:cs typeface="Arial"/>
              </a:rPr>
              <a:t>Далі так само рухаємося до A.</a:t>
            </a:r>
          </a:p>
        </p:txBody>
      </p:sp>
      <p:sp>
        <p:nvSpPr>
          <p:cNvPr id="7" name="">
            <a:extLst xmlns:a="http://schemas.openxmlformats.org/drawingml/2006/main">
              <a:ext uri="{FF2B5EF4-FFF2-40B4-BE49-F238E27FC236}">
                <a16:creationId xmlns:a16="http://schemas.microsoft.com/office/drawing/2014/main" id="{5BBE448A-FB26-4F33-85E8-EBC41A05BFD5}"/>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Вентцель, §13, рис. 13.4, с. 95–96. Оригінальна ілюстрація</a:t>
            </a:r>
          </a:p>
        </p:txBody>
      </p:sp>
    </p:spTree>
    <p:extLst>
      <p:ext uri="{BB962C8B-B14F-4D97-AF65-F5344CB8AC3E}">
        <p14:creationId xmlns:p14="http://schemas.microsoft.com/office/powerpoint/2010/main" val="1672196889"/>
      </p:ext>
    </p:extLst>
  </p:cSld>
</p:sld>
</file>

<file path=ppt/slides/v8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E17726-CD96-4601-B469-F6256CF0CB98}"/>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Вентцель: готові значення та оптимальний шлях</a:t>
            </a:r>
          </a:p>
        </p:txBody>
      </p:sp>
      <p:sp>
        <p:nvSpPr>
          <p:cNvPr id="2" name="">
            <a:extLst xmlns:a="http://schemas.openxmlformats.org/drawingml/2006/main">
              <a:ext uri="{FF2B5EF4-FFF2-40B4-BE49-F238E27FC236}">
                <a16:creationId xmlns:a16="http://schemas.microsoft.com/office/drawing/2014/main" id="{B28BB9EC-94D3-4F2B-B813-75D77C577E6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нашій GPU-задачі роль кружків виконує V, а роль стрілок виконує P.</a:t>
            </a:r>
          </a:p>
        </p:txBody>
      </p:sp>
      <p:pic>
        <p:nvPicPr>
          <p:cNvPr id="3" name="">
            <a:extLst xmlns:a="http://schemas.openxmlformats.org/drawingml/2006/main">
              <a:ext uri="{FF2B5EF4-FFF2-40B4-BE49-F238E27FC236}">
                <a16:creationId xmlns:a16="http://schemas.microsoft.com/office/drawing/2014/main" id="{A922B345-88BC-41E3-B180-B5C9F3BF408D}"/>
              </a:ext>
            </a:extLst>
          </p:cNvPr>
          <p:cNvPicPr>
            <a:picLocks xmlns:a="http://schemas.openxmlformats.org/drawingml/2006/main" noChangeAspect="1"/>
          </p:cNvPicPr>
          <p:nvPr/>
        </p:nvPicPr>
        <p:blipFill>
          <a:blip xmlns:r="http://schemas.openxmlformats.org/officeDocument/2006/relationships" xmlns:a="http://schemas.openxmlformats.org/drawingml/2006/main" r:embed="R8d3b436191fe44e7"/>
          <a:stretch xmlns:a="http://schemas.openxmlformats.org/drawingml/2006/main"/>
        </p:blipFill>
        <p:spPr>
          <a:xfrm xmlns:a="http://schemas.openxmlformats.org/drawingml/2006/main">
            <a:off x="978877" y="1428750"/>
            <a:ext cx="5319346"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9BA5CF-786A-466F-9E1B-13351E171D6B}"/>
              </a:ext>
            </a:extLst>
          </p:cNvPr>
          <p:cNvSpPr>
            <a:spLocks xmlns:a="http://schemas.openxmlformats.org/drawingml/2006/main" noGrp="1"/>
          </p:cNvSpPr>
          <p:nvPr/>
        </p:nvSpPr>
        <p:spPr>
          <a:xfrm xmlns:a="http://schemas.openxmlformats.org/drawingml/2006/main">
            <a:off x="7000875" y="157162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Кружки: мінімальні витрати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від кожної точки до B.</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Стрілки: найкраща дія.</a:t>
            </a:r>
          </a:p>
        </p:txBody>
      </p:sp>
      <p:sp>
        <p:nvSpPr>
          <p:cNvPr id="5" name="">
            <a:extLst xmlns:a="http://schemas.openxmlformats.org/drawingml/2006/main">
              <a:ext uri="{FF2B5EF4-FFF2-40B4-BE49-F238E27FC236}">
                <a16:creationId xmlns:a16="http://schemas.microsoft.com/office/drawing/2014/main" id="{F946D8D5-3156-4AA7-B011-0EE0F84D6516}"/>
              </a:ext>
            </a:extLst>
          </p:cNvPr>
          <p:cNvSpPr>
            <a:spLocks xmlns:a="http://schemas.openxmlformats.org/drawingml/2006/main" noGrp="1"/>
          </p:cNvSpPr>
          <p:nvPr/>
        </p:nvSpPr>
        <p:spPr>
          <a:xfrm xmlns:a="http://schemas.openxmlformats.org/drawingml/2006/main">
            <a:off x="7000875" y="3143250"/>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Початок A: 118</a:t>
            </a:r>
          </a:p>
        </p:txBody>
      </p:sp>
      <p:sp>
        <p:nvSpPr>
          <p:cNvPr id="6" name="">
            <a:extLst xmlns:a="http://schemas.openxmlformats.org/drawingml/2006/main">
              <a:ext uri="{FF2B5EF4-FFF2-40B4-BE49-F238E27FC236}">
                <a16:creationId xmlns:a16="http://schemas.microsoft.com/office/drawing/2014/main" id="{EC7ED9BE-2130-48B8-B9CC-5686EA8FEE72}"/>
              </a:ext>
            </a:extLst>
          </p:cNvPr>
          <p:cNvSpPr>
            <a:spLocks xmlns:a="http://schemas.openxmlformats.org/drawingml/2006/main" noGrp="1"/>
          </p:cNvSpPr>
          <p:nvPr/>
        </p:nvSpPr>
        <p:spPr>
          <a:xfrm xmlns:a="http://schemas.openxmlformats.org/drawingml/2006/main">
            <a:off x="7000875" y="4000500"/>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93247"/>
                </a:solidFill>
                <a:latin typeface="Arial"/>
                <a:ea typeface="Arial"/>
                <a:cs typeface="Arial"/>
              </a:defRPr>
            </a:defPPr>
          </a:lstStyle>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Ідемо з A за стрілками.</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Подвійні кружки позначають</a:t>
            </a:r>
          </a:p>
          <a:p xmlns:a="http://schemas.openxmlformats.org/drawingml/2006/main">
            <a:pPr>
              <a:defRPr sz="2250" b="0">
                <a:solidFill>
                  <a:srgbClr val="193247"/>
                </a:solidFill>
                <a:latin typeface="Arial"/>
                <a:ea typeface="Arial"/>
                <a:cs typeface="Arial"/>
              </a:defRPr>
            </a:pPr>
            <a:r>
              <a:rPr sz="2250" b="0">
                <a:solidFill>
                  <a:srgbClr val="193247"/>
                </a:solidFill>
                <a:latin typeface="Arial"/>
                <a:ea typeface="Arial"/>
                <a:cs typeface="Arial"/>
              </a:rPr>
              <a:t>один оптимальний маршрут.</a:t>
            </a:r>
          </a:p>
        </p:txBody>
      </p:sp>
      <p:sp>
        <p:nvSpPr>
          <p:cNvPr id="7" name="">
            <a:extLst xmlns:a="http://schemas.openxmlformats.org/drawingml/2006/main">
              <a:ext uri="{FF2B5EF4-FFF2-40B4-BE49-F238E27FC236}">
                <a16:creationId xmlns:a16="http://schemas.microsoft.com/office/drawing/2014/main" id="{4CABFB8B-244D-4549-81DB-42755DD834BF}"/>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Вентцель, §13, рис. 13.5, с. 96–97. Оригінальна ілюстрація</a:t>
            </a:r>
          </a:p>
        </p:txBody>
      </p:sp>
    </p:spTree>
    <p:extLst>
      <p:ext uri="{BB962C8B-B14F-4D97-AF65-F5344CB8AC3E}">
        <p14:creationId xmlns:p14="http://schemas.microsoft.com/office/powerpoint/2010/main" val="1052465182"/>
      </p:ext>
    </p:extLst>
  </p:cSld>
</p:sld>
</file>

<file path=ppt/slides/v8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8FBAAF-32A7-4B6E-91BD-B144A9D87225}"/>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Ериксон: повторні підзадачі в дереві рекурсії</a:t>
            </a:r>
          </a:p>
        </p:txBody>
      </p:sp>
      <p:sp>
        <p:nvSpPr>
          <p:cNvPr id="2" name="">
            <a:extLst xmlns:a="http://schemas.openxmlformats.org/drawingml/2006/main">
              <a:ext uri="{FF2B5EF4-FFF2-40B4-BE49-F238E27FC236}">
                <a16:creationId xmlns:a16="http://schemas.microsoft.com/office/drawing/2014/main" id="{0D8AACF5-4688-4E19-BB11-289F412A162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Сірі гілки показують обчислення, яких мемоізація дозволяє уникнути.</a:t>
            </a:r>
          </a:p>
        </p:txBody>
      </p:sp>
      <p:pic>
        <p:nvPicPr>
          <p:cNvPr id="3" name="">
            <a:extLst xmlns:a="http://schemas.openxmlformats.org/drawingml/2006/main">
              <a:ext uri="{FF2B5EF4-FFF2-40B4-BE49-F238E27FC236}">
                <a16:creationId xmlns:a16="http://schemas.microsoft.com/office/drawing/2014/main" id="{5EFE28F5-BDA8-4795-BE0F-23202F1C7F26}"/>
              </a:ext>
            </a:extLst>
          </p:cNvPr>
          <p:cNvPicPr>
            <a:picLocks xmlns:a="http://schemas.openxmlformats.org/drawingml/2006/main" noChangeAspect="1"/>
          </p:cNvPicPr>
          <p:nvPr/>
        </p:nvPicPr>
        <p:blipFill>
          <a:blip xmlns:r="http://schemas.openxmlformats.org/officeDocument/2006/relationships" xmlns:a="http://schemas.openxmlformats.org/drawingml/2006/main" r:embed="Refe7037f61044ae6"/>
          <a:stretch xmlns:a="http://schemas.openxmlformats.org/drawingml/2006/main"/>
        </p:blipFill>
        <p:spPr>
          <a:xfrm xmlns:a="http://schemas.openxmlformats.org/drawingml/2006/main">
            <a:off x="956886" y="1524000"/>
            <a:ext cx="6839703"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0FA61D-ECBA-4B41-8880-B87DF6028E15}"/>
              </a:ext>
            </a:extLst>
          </p:cNvPr>
          <p:cNvSpPr>
            <a:spLocks xmlns:a="http://schemas.openxmlformats.org/drawingml/2006/main" noGrp="1"/>
          </p:cNvSpPr>
          <p:nvPr/>
        </p:nvSpPr>
        <p:spPr>
          <a:xfrm xmlns:a="http://schemas.openxmlformats.org/drawingml/2006/main">
            <a:off x="8524875" y="16192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08B85"/>
                </a:solidFill>
                <a:latin typeface="Arial"/>
                <a:ea typeface="Arial"/>
                <a:cs typeface="Arial"/>
              </a:defRPr>
            </a:defPPr>
          </a:lstStyle>
          <a:p xmlns:a="http://schemas.openxmlformats.org/drawingml/2006/main">
            <a:pPr>
              <a:defRPr sz="2250" b="1">
                <a:solidFill>
                  <a:srgbClr val="008B85"/>
                </a:solidFill>
                <a:latin typeface="Arial"/>
                <a:ea typeface="Arial"/>
                <a:cs typeface="Arial"/>
              </a:defRPr>
            </a:pPr>
            <a:r>
              <a:rPr sz="2250" b="1">
                <a:solidFill>
                  <a:srgbClr val="008B85"/>
                </a:solidFill>
                <a:latin typeface="Arial"/>
                <a:ea typeface="Arial"/>
                <a:cs typeface="Arial"/>
              </a:rPr>
              <a:t>F₇ = F₆ + F₅</a:t>
            </a:r>
          </a:p>
        </p:txBody>
      </p:sp>
      <p:sp>
        <p:nvSpPr>
          <p:cNvPr id="5" name="">
            <a:extLst xmlns:a="http://schemas.openxmlformats.org/drawingml/2006/main">
              <a:ext uri="{FF2B5EF4-FFF2-40B4-BE49-F238E27FC236}">
                <a16:creationId xmlns:a16="http://schemas.microsoft.com/office/drawing/2014/main" id="{B33034D6-5B6E-430C-8C2E-F5D34D91A3A6}"/>
              </a:ext>
            </a:extLst>
          </p:cNvPr>
          <p:cNvSpPr>
            <a:spLocks xmlns:a="http://schemas.openxmlformats.org/drawingml/2006/main" noGrp="1"/>
          </p:cNvSpPr>
          <p:nvPr/>
        </p:nvSpPr>
        <p:spPr>
          <a:xfrm xmlns:a="http://schemas.openxmlformats.org/drawingml/2006/main">
            <a:off x="8524875" y="2524125"/>
            <a:ext cx="2952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3247"/>
                </a:solidFill>
                <a:latin typeface="Arial"/>
                <a:ea typeface="Arial"/>
                <a:cs typeface="Arial"/>
              </a:defRPr>
            </a:defPPr>
          </a:lstStyle>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Зелений:</a:t>
            </a:r>
          </a:p>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запис у кеш.</a:t>
            </a:r>
          </a:p>
          <a:p xmlns:a="http://schemas.openxmlformats.org/drawingml/2006/main">
            <a:r>
              <a:t/>
            </a:r>
          </a:p>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Червоний:</a:t>
            </a:r>
          </a:p>
          <a:p xmlns:a="http://schemas.openxmlformats.org/drawingml/2006/main">
            <a:pPr>
              <a:defRPr sz="2100" b="0">
                <a:solidFill>
                  <a:srgbClr val="193247"/>
                </a:solidFill>
                <a:latin typeface="Arial"/>
                <a:ea typeface="Arial"/>
                <a:cs typeface="Arial"/>
              </a:defRPr>
            </a:pPr>
            <a:r>
              <a:rPr sz="2100" b="0">
                <a:solidFill>
                  <a:srgbClr val="193247"/>
                </a:solidFill>
                <a:latin typeface="Arial"/>
                <a:ea typeface="Arial"/>
                <a:cs typeface="Arial"/>
              </a:rPr>
              <a:t>читання з кешу.</a:t>
            </a:r>
          </a:p>
        </p:txBody>
      </p:sp>
      <p:sp>
        <p:nvSpPr>
          <p:cNvPr id="6" name="">
            <a:extLst xmlns:a="http://schemas.openxmlformats.org/drawingml/2006/main">
              <a:ext uri="{FF2B5EF4-FFF2-40B4-BE49-F238E27FC236}">
                <a16:creationId xmlns:a16="http://schemas.microsoft.com/office/drawing/2014/main" id="{E3CE55D2-540D-4B47-BCF5-4CD8A953504B}"/>
              </a:ext>
            </a:extLst>
          </p:cNvPr>
          <p:cNvSpPr>
            <a:spLocks xmlns:a="http://schemas.openxmlformats.org/drawingml/2006/main" noGrp="1"/>
          </p:cNvSpPr>
          <p:nvPr/>
        </p:nvSpPr>
        <p:spPr>
          <a:xfrm xmlns:a="http://schemas.openxmlformats.org/drawingml/2006/main">
            <a:off x="8524875" y="490537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008B85"/>
                </a:solidFill>
                <a:latin typeface="Arial"/>
                <a:ea typeface="Arial"/>
                <a:cs typeface="Arial"/>
              </a:defRPr>
            </a:defPPr>
          </a:lstStyle>
          <a:p xmlns:a="http://schemas.openxmlformats.org/drawingml/2006/main">
            <a:pPr>
              <a:defRPr sz="2850" b="1">
                <a:solidFill>
                  <a:srgbClr val="008B85"/>
                </a:solidFill>
                <a:latin typeface="Arial"/>
                <a:ea typeface="Arial"/>
                <a:cs typeface="Arial"/>
              </a:defRPr>
            </a:pPr>
            <a:r>
              <a:rPr sz="2850" b="1">
                <a:solidFill>
                  <a:srgbClr val="008B85"/>
                </a:solidFill>
                <a:latin typeface="Arial"/>
                <a:ea typeface="Arial"/>
                <a:cs typeface="Arial"/>
              </a:rPr>
              <a:t>F₇ = 13</a:t>
            </a:r>
          </a:p>
        </p:txBody>
      </p:sp>
      <p:sp>
        <p:nvSpPr>
          <p:cNvPr id="7" name="">
            <a:extLst xmlns:a="http://schemas.openxmlformats.org/drawingml/2006/main">
              <a:ext uri="{FF2B5EF4-FFF2-40B4-BE49-F238E27FC236}">
                <a16:creationId xmlns:a16="http://schemas.microsoft.com/office/drawing/2014/main" id="{F9F19C78-A55B-46F1-96F4-4CE1AC8C7551}"/>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Erickson, Algorithms, рис. 3.2, с. 101. CC BY 4.0</a:t>
            </a:r>
          </a:p>
        </p:txBody>
      </p:sp>
    </p:spTree>
    <p:extLst>
      <p:ext uri="{BB962C8B-B14F-4D97-AF65-F5344CB8AC3E}">
        <p14:creationId xmlns:p14="http://schemas.microsoft.com/office/powerpoint/2010/main" val="555913464"/>
      </p:ext>
    </p:extLst>
  </p:cSld>
</p:sld>
</file>

<file path=ppt/slides/v8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E25A1B-838D-4EC6-B4F6-F25F7DA2ED71}"/>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Мемоізація: той самий приклад у Python</a:t>
            </a:r>
          </a:p>
        </p:txBody>
      </p:sp>
      <p:sp>
        <p:nvSpPr>
          <p:cNvPr id="2" name="">
            <a:extLst xmlns:a="http://schemas.openxmlformats.org/drawingml/2006/main">
              <a:ext uri="{FF2B5EF4-FFF2-40B4-BE49-F238E27FC236}">
                <a16:creationId xmlns:a16="http://schemas.microsoft.com/office/drawing/2014/main" id="{E6D81C1E-C45D-45D2-910F-21E795B10B9D}"/>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У GPU-задачі ключ кешу має два компоненти: номер етапу k і залишок b.</a:t>
            </a:r>
          </a:p>
        </p:txBody>
      </p:sp>
      <p:sp>
        <p:nvSpPr>
          <p:cNvPr id="3" name="">
            <a:extLst xmlns:a="http://schemas.openxmlformats.org/drawingml/2006/main">
              <a:ext uri="{FF2B5EF4-FFF2-40B4-BE49-F238E27FC236}">
                <a16:creationId xmlns:a16="http://schemas.microsoft.com/office/drawing/2014/main" id="{68CACBF1-DBEC-4044-B1D2-3FA05BBED558}"/>
              </a:ext>
            </a:extLst>
          </p:cNvPr>
          <p:cNvSpPr>
            <a:spLocks xmlns:a="http://schemas.openxmlformats.org/drawingml/2006/main" noGrp="1"/>
          </p:cNvSpPr>
          <p:nvPr/>
        </p:nvSpPr>
        <p:spPr>
          <a:xfrm xmlns:a="http://schemas.openxmlformats.org/drawingml/2006/main">
            <a:off x="838200" y="1428750"/>
            <a:ext cx="10477500" cy="3133725"/>
          </a:xfrm>
          <a:prstGeom xmlns:a="http://schemas.openxmlformats.org/drawingml/2006/main" prst="rect">
            <a:avLst/>
          </a:prstGeom>
          <a:solidFill xmlns:a="http://schemas.openxmlformats.org/drawingml/2006/main">
            <a:srgbClr val="F0F5F9"/>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93247"/>
                </a:solidFill>
                <a:latin typeface="Courier New"/>
                <a:ea typeface="Courier New"/>
                <a:cs typeface="Courier New"/>
              </a:defRPr>
            </a:defPPr>
          </a:lstStyle>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from functools import cache</a:t>
            </a:r>
          </a:p>
          <a:p xmlns:a="http://schemas.openxmlformats.org/drawingml/2006/main">
            <a:r>
              <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@cache                       # зберігає відповідь для n</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def fib(n):</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    if n &lt; 2:</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        return n</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    return fib(n - 1) + fib(n - 2)</a:t>
            </a:r>
          </a:p>
          <a:p xmlns:a="http://schemas.openxmlformats.org/drawingml/2006/main">
            <a:r>
              <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print(fib(7))</a:t>
            </a:r>
          </a:p>
          <a:p xmlns:a="http://schemas.openxmlformats.org/drawingml/2006/main">
            <a:pPr>
              <a:defRPr sz="1875" b="0">
                <a:solidFill>
                  <a:srgbClr val="193247"/>
                </a:solidFill>
                <a:latin typeface="Courier New"/>
                <a:ea typeface="Courier New"/>
                <a:cs typeface="Courier New"/>
              </a:defRPr>
            </a:pPr>
            <a:r>
              <a:rPr sz="1875" b="0">
                <a:solidFill>
                  <a:srgbClr val="193247"/>
                </a:solidFill>
                <a:latin typeface="Courier New"/>
                <a:ea typeface="Courier New"/>
                <a:cs typeface="Courier New"/>
              </a:rPr>
              <a:t>print(fib.cache_info())</a:t>
            </a:r>
          </a:p>
        </p:txBody>
      </p:sp>
      <p:sp>
        <p:nvSpPr>
          <p:cNvPr id="4" name="">
            <a:extLst xmlns:a="http://schemas.openxmlformats.org/drawingml/2006/main">
              <a:ext uri="{FF2B5EF4-FFF2-40B4-BE49-F238E27FC236}">
                <a16:creationId xmlns:a16="http://schemas.microsoft.com/office/drawing/2014/main" id="{F3916161-22C6-4CC5-A1EC-A0B555342820}"/>
              </a:ext>
            </a:extLst>
          </p:cNvPr>
          <p:cNvSpPr>
            <a:spLocks xmlns:a="http://schemas.openxmlformats.org/drawingml/2006/main" noGrp="1"/>
          </p:cNvSpPr>
          <p:nvPr/>
        </p:nvSpPr>
        <p:spPr>
          <a:xfrm xmlns:a="http://schemas.openxmlformats.org/drawingml/2006/main">
            <a:off x="838200" y="4800600"/>
            <a:ext cx="10477500" cy="771525"/>
          </a:xfrm>
          <a:prstGeom xmlns:a="http://schemas.openxmlformats.org/drawingml/2006/main" prst="rect">
            <a:avLst/>
          </a:prstGeom>
          <a:solidFill xmlns:a="http://schemas.openxmlformats.org/drawingml/2006/main">
            <a:srgbClr val="DEF3EC"/>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08B85"/>
                </a:solidFill>
                <a:latin typeface="Courier New"/>
                <a:ea typeface="Courier New"/>
                <a:cs typeface="Courier New"/>
              </a:defRPr>
            </a:defPPr>
          </a:lstStyle>
          <a:p xmlns:a="http://schemas.openxmlformats.org/drawingml/2006/main">
            <a:pPr>
              <a:defRPr sz="1875" b="1">
                <a:solidFill>
                  <a:srgbClr val="008B85"/>
                </a:solidFill>
                <a:latin typeface="Courier New"/>
                <a:ea typeface="Courier New"/>
                <a:cs typeface="Courier New"/>
              </a:defRPr>
            </a:pPr>
            <a:r>
              <a:rPr sz="1875" b="1">
                <a:solidFill>
                  <a:srgbClr val="008B85"/>
                </a:solidFill>
                <a:latin typeface="Courier New"/>
                <a:ea typeface="Courier New"/>
                <a:cs typeface="Courier New"/>
              </a:rPr>
              <a:t>13</a:t>
            </a:r>
          </a:p>
          <a:p xmlns:a="http://schemas.openxmlformats.org/drawingml/2006/main">
            <a:pPr>
              <a:defRPr sz="1875" b="1">
                <a:solidFill>
                  <a:srgbClr val="008B85"/>
                </a:solidFill>
                <a:latin typeface="Courier New"/>
                <a:ea typeface="Courier New"/>
                <a:cs typeface="Courier New"/>
              </a:defRPr>
            </a:pPr>
            <a:r>
              <a:rPr sz="1875" b="1">
                <a:solidFill>
                  <a:srgbClr val="008B85"/>
                </a:solidFill>
                <a:latin typeface="Courier New"/>
                <a:ea typeface="Courier New"/>
                <a:cs typeface="Courier New"/>
              </a:rPr>
              <a:t>CacheInfo(hits=5, misses=8, maxsize=None, currsize=8)</a:t>
            </a:r>
          </a:p>
        </p:txBody>
      </p:sp>
      <p:sp>
        <p:nvSpPr>
          <p:cNvPr id="5" name="">
            <a:extLst xmlns:a="http://schemas.openxmlformats.org/drawingml/2006/main">
              <a:ext uri="{FF2B5EF4-FFF2-40B4-BE49-F238E27FC236}">
                <a16:creationId xmlns:a16="http://schemas.microsoft.com/office/drawing/2014/main" id="{015D5252-75B9-4B93-9E52-08BE3EEA384E}"/>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Приклад Erickson, §3.1. Код і пояснення адаптовано для Python</a:t>
            </a:r>
          </a:p>
        </p:txBody>
      </p:sp>
    </p:spTree>
    <p:extLst>
      <p:ext uri="{BB962C8B-B14F-4D97-AF65-F5344CB8AC3E}">
        <p14:creationId xmlns:p14="http://schemas.microsoft.com/office/powerpoint/2010/main" val="1117822393"/>
      </p:ext>
    </p:extLst>
  </p:cSld>
</p:sld>
</file>

<file path=ppt/slides/v8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27107D-3DBE-4512-A6CB-EFFCEF357A1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Дасгупта та співавтори: порядок підзадач</a:t>
            </a:r>
          </a:p>
        </p:txBody>
      </p:sp>
      <p:sp>
        <p:nvSpPr>
          <p:cNvPr id="2" name="">
            <a:extLst xmlns:a="http://schemas.openxmlformats.org/drawingml/2006/main">
              <a:ext uri="{FF2B5EF4-FFF2-40B4-BE49-F238E27FC236}">
                <a16:creationId xmlns:a16="http://schemas.microsoft.com/office/drawing/2014/main" id="{11C225B9-31BE-44E8-9661-407280696BC7}"/>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Кожну вершину обчислюємо після всіх вершин, від яких залежить її відповідь.</a:t>
            </a:r>
          </a:p>
        </p:txBody>
      </p:sp>
      <p:pic>
        <p:nvPicPr>
          <p:cNvPr id="3" name="">
            <a:extLst xmlns:a="http://schemas.openxmlformats.org/drawingml/2006/main">
              <a:ext uri="{FF2B5EF4-FFF2-40B4-BE49-F238E27FC236}">
                <a16:creationId xmlns:a16="http://schemas.microsoft.com/office/drawing/2014/main" id="{A9A1C6CB-B669-41ED-AEA8-2FFAA7D557EE}"/>
              </a:ext>
            </a:extLst>
          </p:cNvPr>
          <p:cNvPicPr>
            <a:picLocks xmlns:a="http://schemas.openxmlformats.org/drawingml/2006/main" noChangeAspect="1"/>
          </p:cNvPicPr>
          <p:nvPr/>
        </p:nvPicPr>
        <p:blipFill>
          <a:blip xmlns:r="http://schemas.openxmlformats.org/officeDocument/2006/relationships" xmlns:a="http://schemas.openxmlformats.org/drawingml/2006/main" r:embed="Rebd1736d018c4e23"/>
          <a:stretch xmlns:a="http://schemas.openxmlformats.org/drawingml/2006/main"/>
        </p:blipFill>
        <p:spPr>
          <a:xfrm xmlns:a="http://schemas.openxmlformats.org/drawingml/2006/main">
            <a:off x="685800" y="1802188"/>
            <a:ext cx="10820400" cy="253924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30B744-D63C-474D-B5C1-4FDC61041D71}"/>
              </a:ext>
            </a:extLst>
          </p:cNvPr>
          <p:cNvSpPr>
            <a:spLocks xmlns:a="http://schemas.openxmlformats.org/drawingml/2006/main" noGrp="1"/>
          </p:cNvSpPr>
          <p:nvPr/>
        </p:nvSpPr>
        <p:spPr>
          <a:xfrm xmlns:a="http://schemas.openxmlformats.org/drawingml/2006/main">
            <a:off x="685800" y="4667250"/>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008B85"/>
                </a:solidFill>
                <a:latin typeface="Arial"/>
                <a:ea typeface="Arial"/>
                <a:cs typeface="Arial"/>
              </a:defRPr>
            </a:defPPr>
          </a:lstStyle>
          <a:p xmlns:a="http://schemas.openxmlformats.org/drawingml/2006/main">
            <a:pPr>
              <a:defRPr sz="2625" b="1">
                <a:solidFill>
                  <a:srgbClr val="008B85"/>
                </a:solidFill>
                <a:latin typeface="Arial"/>
                <a:ea typeface="Arial"/>
                <a:cs typeface="Arial"/>
              </a:defRPr>
            </a:pPr>
            <a:r>
              <a:rPr sz="2625" b="1">
                <a:solidFill>
                  <a:srgbClr val="008B85"/>
                </a:solidFill>
                <a:latin typeface="Arial"/>
                <a:ea typeface="Arial"/>
                <a:cs typeface="Arial"/>
              </a:rPr>
              <a:t>Топологічний порядок: S, C, A, B, D, E</a:t>
            </a:r>
          </a:p>
        </p:txBody>
      </p:sp>
      <p:sp>
        <p:nvSpPr>
          <p:cNvPr id="5" name="">
            <a:extLst xmlns:a="http://schemas.openxmlformats.org/drawingml/2006/main">
              <a:ext uri="{FF2B5EF4-FFF2-40B4-BE49-F238E27FC236}">
                <a16:creationId xmlns:a16="http://schemas.microsoft.com/office/drawing/2014/main" id="{3B11109D-67FA-4721-845C-57D37B7D9A0E}"/>
              </a:ext>
            </a:extLst>
          </p:cNvPr>
          <p:cNvSpPr>
            <a:spLocks xmlns:a="http://schemas.openxmlformats.org/drawingml/2006/main" noGrp="1"/>
          </p:cNvSpPr>
          <p:nvPr/>
        </p:nvSpPr>
        <p:spPr>
          <a:xfrm xmlns:a="http://schemas.openxmlformats.org/drawingml/2006/main">
            <a:off x="685800" y="5286375"/>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193247"/>
                </a:solidFill>
                <a:latin typeface="Arial"/>
                <a:ea typeface="Arial"/>
                <a:cs typeface="Arial"/>
              </a:defRPr>
            </a:defPPr>
          </a:lstStyle>
          <a:p xmlns:a="http://schemas.openxmlformats.org/drawingml/2006/main">
            <a:pPr>
              <a:defRPr sz="2175" b="0">
                <a:solidFill>
                  <a:srgbClr val="193247"/>
                </a:solidFill>
                <a:latin typeface="Arial"/>
                <a:ea typeface="Arial"/>
                <a:cs typeface="Arial"/>
              </a:defRPr>
            </a:pPr>
            <a:r>
              <a:rPr sz="2175" b="0">
                <a:solidFill>
                  <a:srgbClr val="193247"/>
                </a:solidFill>
                <a:latin typeface="Arial"/>
                <a:ea typeface="Arial"/>
                <a:cs typeface="Arial"/>
              </a:rPr>
              <a:t>Усі ребра правої схеми спрямовані зліва направо.</a:t>
            </a:r>
          </a:p>
        </p:txBody>
      </p:sp>
      <p:sp>
        <p:nvSpPr>
          <p:cNvPr id="6" name="">
            <a:extLst xmlns:a="http://schemas.openxmlformats.org/drawingml/2006/main">
              <a:ext uri="{FF2B5EF4-FFF2-40B4-BE49-F238E27FC236}">
                <a16:creationId xmlns:a16="http://schemas.microsoft.com/office/drawing/2014/main" id="{5CE3C935-3AEF-42B9-A3D2-B6709D17B37B}"/>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Dasgupta, Papadimitriou, Vazirani, Algorithms, рис. 6.1, с. 169</a:t>
            </a:r>
          </a:p>
        </p:txBody>
      </p:sp>
    </p:spTree>
    <p:extLst>
      <p:ext uri="{BB962C8B-B14F-4D97-AF65-F5344CB8AC3E}">
        <p14:creationId xmlns:p14="http://schemas.microsoft.com/office/powerpoint/2010/main" val="1972274219"/>
      </p:ext>
    </p:extLst>
  </p:cSld>
</p:sld>
</file>

<file path=ppt/slides/v8_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EF92E-7FFA-48CC-9AEF-9137259D97D3}"/>
              </a:ext>
            </a:extLst>
          </p:cNvPr>
          <p:cNvSpPr>
            <a:spLocks xmlns:a="http://schemas.openxmlformats.org/drawingml/2006/main" noGrp="1"/>
          </p:cNvSpPr>
          <p:nvPr/>
        </p:nvSpPr>
        <p:spPr>
          <a:xfrm xmlns:a="http://schemas.openxmlformats.org/drawingml/2006/main">
            <a:off x="685800" y="5524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93247"/>
                </a:solidFill>
                <a:latin typeface="Arial"/>
                <a:ea typeface="Arial"/>
                <a:cs typeface="Arial"/>
              </a:defRPr>
            </a:defPPr>
          </a:lstStyle>
          <a:p xmlns:a="http://schemas.openxmlformats.org/drawingml/2006/main">
            <a:pPr>
              <a:defRPr sz="3150" b="1">
                <a:solidFill>
                  <a:srgbClr val="193247"/>
                </a:solidFill>
                <a:latin typeface="Arial"/>
                <a:ea typeface="Arial"/>
                <a:cs typeface="Arial"/>
              </a:defRPr>
            </a:pPr>
            <a:r>
              <a:rPr sz="3150" b="1">
                <a:solidFill>
                  <a:srgbClr val="193247"/>
                </a:solidFill>
                <a:latin typeface="Arial"/>
                <a:ea typeface="Arial"/>
                <a:cs typeface="Arial"/>
              </a:rPr>
              <a:t>Найкоротший шлях: один прохід по графу</a:t>
            </a:r>
          </a:p>
        </p:txBody>
      </p:sp>
      <p:sp>
        <p:nvSpPr>
          <p:cNvPr id="2" name="">
            <a:extLst xmlns:a="http://schemas.openxmlformats.org/drawingml/2006/main">
              <a:ext uri="{FF2B5EF4-FFF2-40B4-BE49-F238E27FC236}">
                <a16:creationId xmlns:a16="http://schemas.microsoft.com/office/drawing/2014/main" id="{E982ADB1-3497-4842-BD69-68D781593B6B}"/>
              </a:ext>
            </a:extLst>
          </p:cNvPr>
          <p:cNvSpPr>
            <a:spLocks xmlns:a="http://schemas.openxmlformats.org/drawingml/2006/main" noGrp="1"/>
          </p:cNvSpPr>
          <p:nvPr/>
        </p:nvSpPr>
        <p:spPr>
          <a:xfrm xmlns:a="http://schemas.openxmlformats.org/drawingml/2006/main">
            <a:off x="685800" y="61150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08B85"/>
                </a:solidFill>
                <a:latin typeface="Arial"/>
                <a:ea typeface="Arial"/>
                <a:cs typeface="Arial"/>
              </a:defRPr>
            </a:defPPr>
          </a:lstStyle>
          <a:p xmlns:a="http://schemas.openxmlformats.org/drawingml/2006/main">
            <a:pPr>
              <a:defRPr sz="1950" b="1">
                <a:solidFill>
                  <a:srgbClr val="008B85"/>
                </a:solidFill>
                <a:latin typeface="Arial"/>
                <a:ea typeface="Arial"/>
                <a:cs typeface="Arial"/>
              </a:defRPr>
            </a:pPr>
            <a:r>
              <a:rPr sz="1950" b="1">
                <a:solidFill>
                  <a:srgbClr val="008B85"/>
                </a:solidFill>
                <a:latin typeface="Arial"/>
                <a:ea typeface="Arial"/>
                <a:cs typeface="Arial"/>
              </a:rPr>
              <a:t>dist(v) означає відстань від S до v. Для D обираємо продовження через C.</a:t>
            </a:r>
          </a:p>
        </p:txBody>
      </p:sp>
      <p:graphicFrame>
        <p:nvGraphicFramePr>
          <p:cNvPr id="3" name="">
            <a:extLst xmlns:a="http://schemas.openxmlformats.org/drawingml/2006/main">
              <a:ext uri="{FF2B5EF4-FFF2-40B4-BE49-F238E27FC236}">
                <a16:creationId xmlns:a16="http://schemas.microsoft.com/office/drawing/2014/main" id="{4CADDE4D-9DAD-4A7E-9967-64D972FFEE50}"/>
              </a:ext>
            </a:extLst>
          </p:cNvPr>
          <p:cNvGraphicFramePr/>
          <p:nvPr/>
        </p:nvGraphicFramePr>
        <p:xfrm>
          <a:off xmlns:a="http://schemas.openxmlformats.org/drawingml/2006/main" x="685800" y="1571625"/>
          <a:ext xmlns:a="http://schemas.openxmlformats.org/drawingml/2006/main" cx="10820400" cy="3476625"/>
        </p:xfrm>
        <a:graphic xmlns:a="http://schemas.openxmlformats.org/drawingml/2006/main">
          <a:graphicData uri="http://schemas.openxmlformats.org/drawingml/2006/table">
            <a:tbl>
              <a:tblPr/>
              <a:tblGrid>
                <a:gridCol w="1809750"/>
                <a:gridCol w="6953250"/>
                <a:gridCol w="2057400"/>
              </a:tblGrid>
              <a:tr h="496661">
                <a:tc>
                  <a:txBody>
                    <a:bodyPr/>
                    <a:lstStyle/>
                    <a:p>
                      <a:r>
                        <a:rPr sz="1875" b="1">
                          <a:solidFill>
                            <a:srgbClr val="FFFFFF"/>
                          </a:solidFill>
                          <a:latin typeface="Arial"/>
                          <a:ea typeface="Arial"/>
                          <a:cs typeface="Arial"/>
                        </a:rPr>
                        <a:t>Вершина</a:t>
                      </a:r>
                    </a:p>
                  </a:txBody>
                  <a:tcPr marL="91440" marR="91440" marT="45720" marB="45720">
                    <a:lnL w="9525">
                      <a:solidFill>
                        <a:srgbClr val="A8B7C0"/>
                      </a:solidFill>
                      <a:prstDash val="solid"/>
                    </a:lnL>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Розрахунок відстані від S</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c>
                  <a:txBody>
                    <a:bodyPr/>
                    <a:lstStyle/>
                    <a:p>
                      <a:r>
                        <a:rPr sz="1875" b="1">
                          <a:solidFill>
                            <a:srgbClr val="FFFFFF"/>
                          </a:solidFill>
                          <a:latin typeface="Arial"/>
                          <a:ea typeface="Arial"/>
                          <a:cs typeface="Arial"/>
                        </a:rPr>
                        <a:t>dist</a:t>
                      </a:r>
                    </a:p>
                  </a:txBody>
                  <a:tcPr marL="91440" marR="91440" marT="45720" marB="45720">
                    <a:lnR w="9525">
                      <a:solidFill>
                        <a:srgbClr val="A8B7C0"/>
                      </a:solidFill>
                      <a:prstDash val="solid"/>
                    </a:lnR>
                    <a:lnT w="9525">
                      <a:solidFill>
                        <a:srgbClr val="A8B7C0"/>
                      </a:solidFill>
                      <a:prstDash val="solid"/>
                    </a:lnT>
                    <a:lnB w="9525">
                      <a:solidFill>
                        <a:srgbClr val="A8B7C0"/>
                      </a:solidFill>
                      <a:prstDash val="solid"/>
                    </a:lnB>
                    <a:solidFill>
                      <a:srgbClr val="193247"/>
                    </a:solidFill>
                  </a:tcPr>
                </a:tc>
              </a:tr>
              <a:tr h="496661">
                <a:tc>
                  <a:txBody>
                    <a:bodyPr/>
                    <a:lstStyle/>
                    <a:p>
                      <a:r>
                        <a:rPr sz="1875" b="0">
                          <a:solidFill>
                            <a:srgbClr val="193247"/>
                          </a:solidFill>
                          <a:latin typeface="Arial"/>
                          <a:ea typeface="Arial"/>
                          <a:cs typeface="Arial"/>
                        </a:rPr>
                        <a:t>S</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Початковий стан</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C</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0 + 2</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2</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A</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min(0 + 1, 2 + 4)</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B</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1 + 6</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7</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D</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min(7 + 1, 2 + 3)</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5</a:t>
                      </a:r>
                    </a:p>
                  </a:txBody>
                  <a:tcPr marL="91440" marR="91440" marT="45720" marB="45720">
                    <a:lnR w="9525">
                      <a:solidFill>
                        <a:srgbClr val="A8B7C0"/>
                      </a:solidFill>
                      <a:prstDash val="solid"/>
                    </a:lnR>
                    <a:lnB w="9525">
                      <a:solidFill>
                        <a:srgbClr val="A8B7C0"/>
                      </a:solidFill>
                      <a:prstDash val="solid"/>
                    </a:lnB>
                    <a:solidFill>
                      <a:srgbClr val="FFFFFF"/>
                    </a:solidFill>
                  </a:tcPr>
                </a:tc>
              </a:tr>
              <a:tr h="496661">
                <a:tc>
                  <a:txBody>
                    <a:bodyPr/>
                    <a:lstStyle/>
                    <a:p>
                      <a:r>
                        <a:rPr sz="1875" b="0">
                          <a:solidFill>
                            <a:srgbClr val="193247"/>
                          </a:solidFill>
                          <a:latin typeface="Arial"/>
                          <a:ea typeface="Arial"/>
                          <a:cs typeface="Arial"/>
                        </a:rPr>
                        <a:t>E</a:t>
                      </a:r>
                    </a:p>
                  </a:txBody>
                  <a:tcPr marL="91440" marR="91440" marT="45720" marB="45720">
                    <a:lnL w="9525">
                      <a:solidFill>
                        <a:srgbClr val="A8B7C0"/>
                      </a:solidFill>
                      <a:prstDash val="solid"/>
                    </a:lnL>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min(7 + 2, 5 + 1)</a:t>
                      </a:r>
                    </a:p>
                  </a:txBody>
                  <a:tcPr marL="91440" marR="91440" marT="45720" marB="45720">
                    <a:lnR w="9525">
                      <a:solidFill>
                        <a:srgbClr val="A8B7C0"/>
                      </a:solidFill>
                      <a:prstDash val="solid"/>
                    </a:lnR>
                    <a:lnB w="9525">
                      <a:solidFill>
                        <a:srgbClr val="A8B7C0"/>
                      </a:solidFill>
                      <a:prstDash val="solid"/>
                    </a:lnB>
                    <a:solidFill>
                      <a:srgbClr val="FFFFFF"/>
                    </a:solidFill>
                  </a:tcPr>
                </a:tc>
                <a:tc>
                  <a:txBody>
                    <a:bodyPr/>
                    <a:lstStyle/>
                    <a:p>
                      <a:r>
                        <a:rPr sz="1875" b="0">
                          <a:solidFill>
                            <a:srgbClr val="193247"/>
                          </a:solidFill>
                          <a:latin typeface="Arial"/>
                          <a:ea typeface="Arial"/>
                          <a:cs typeface="Arial"/>
                        </a:rPr>
                        <a:t>6</a:t>
                      </a:r>
                    </a:p>
                  </a:txBody>
                  <a:tcPr marL="91440" marR="91440" marT="45720" marB="45720">
                    <a:lnR w="9525">
                      <a:solidFill>
                        <a:srgbClr val="A8B7C0"/>
                      </a:solidFill>
                      <a:prstDash val="solid"/>
                    </a:lnR>
                    <a:lnB w="9525">
                      <a:solidFill>
                        <a:srgbClr val="A8B7C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ED8576-4BD1-465B-B897-1E68709C272C}"/>
              </a:ext>
            </a:extLst>
          </p:cNvPr>
          <p:cNvSpPr>
            <a:spLocks xmlns:a="http://schemas.openxmlformats.org/drawingml/2006/main" noGrp="1"/>
          </p:cNvSpPr>
          <p:nvPr/>
        </p:nvSpPr>
        <p:spPr>
          <a:xfrm xmlns:a="http://schemas.openxmlformats.org/drawingml/2006/main">
            <a:off x="685800" y="52863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08B85"/>
                </a:solidFill>
                <a:latin typeface="Arial"/>
                <a:ea typeface="Arial"/>
                <a:cs typeface="Arial"/>
              </a:defRPr>
            </a:defPPr>
          </a:lstStyle>
          <a:p xmlns:a="http://schemas.openxmlformats.org/drawingml/2006/main">
            <a:pPr>
              <a:defRPr sz="2400" b="1">
                <a:solidFill>
                  <a:srgbClr val="008B85"/>
                </a:solidFill>
                <a:latin typeface="Arial"/>
                <a:ea typeface="Arial"/>
                <a:cs typeface="Arial"/>
              </a:defRPr>
            </a:pPr>
            <a:r>
              <a:rPr sz="2400" b="1">
                <a:solidFill>
                  <a:srgbClr val="008B85"/>
                </a:solidFill>
                <a:latin typeface="Arial"/>
                <a:ea typeface="Arial"/>
                <a:cs typeface="Arial"/>
              </a:rPr>
              <a:t>До E найкраще: S, C, D, E. Сума 2 + 3 + 1 = 6.</a:t>
            </a:r>
          </a:p>
        </p:txBody>
      </p:sp>
      <p:sp>
        <p:nvSpPr>
          <p:cNvPr id="5" name="">
            <a:extLst xmlns:a="http://schemas.openxmlformats.org/drawingml/2006/main">
              <a:ext uri="{FF2B5EF4-FFF2-40B4-BE49-F238E27FC236}">
                <a16:creationId xmlns:a16="http://schemas.microsoft.com/office/drawing/2014/main" id="{7472E42B-5E6A-4CF8-855F-21887E898175}"/>
              </a:ext>
            </a:extLst>
          </p:cNvPr>
          <p:cNvSpPr>
            <a:spLocks xmlns:a="http://schemas.openxmlformats.org/drawingml/2006/main" noGrp="1"/>
          </p:cNvSpPr>
          <p:nvPr/>
        </p:nvSpPr>
        <p:spPr>
          <a:xfrm xmlns:a="http://schemas.openxmlformats.org/drawingml/2006/main">
            <a:off x="685800" y="57150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556B80"/>
                </a:solidFill>
                <a:latin typeface="Arial"/>
                <a:ea typeface="Arial"/>
                <a:cs typeface="Arial"/>
              </a:defRPr>
            </a:defPPr>
          </a:lstStyle>
          <a:p xmlns:a="http://schemas.openxmlformats.org/drawingml/2006/main">
            <a:pPr>
              <a:defRPr sz="1575" b="0">
                <a:solidFill>
                  <a:srgbClr val="556B80"/>
                </a:solidFill>
                <a:latin typeface="Arial"/>
                <a:ea typeface="Arial"/>
                <a:cs typeface="Arial"/>
              </a:defRPr>
            </a:pPr>
            <a:r>
              <a:rPr sz="1575" b="0">
                <a:solidFill>
                  <a:srgbClr val="556B80"/>
                </a:solidFill>
                <a:latin typeface="Arial"/>
                <a:ea typeface="Arial"/>
                <a:cs typeface="Arial"/>
              </a:rPr>
              <a:t>Розрахунок за оригінальним прикладом Algorithms, §6.1, с. 169–170</a:t>
            </a:r>
          </a:p>
        </p:txBody>
      </p:sp>
    </p:spTree>
    <p:extLst>
      <p:ext uri="{BB962C8B-B14F-4D97-AF65-F5344CB8AC3E}">
        <p14:creationId xmlns:p14="http://schemas.microsoft.com/office/powerpoint/2010/main" val="1776711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2026-10-05T17:52:55.8870000Z</dcterms:created>
  <dcterms:modified xsi:type="dcterms:W3CDTF">2026-10-05T17:52:55.8870000Z</dcterms:modified>
</coreProperties>
</file>