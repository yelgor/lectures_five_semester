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f0f4968bcc4826" /><Relationship Type="http://schemas.openxmlformats.org/officeDocument/2006/relationships/extended-properties" Target="/docProps/app.xml" Id="Ra8b0ea63550c4fde" /><Relationship Type="http://schemas.openxmlformats.org/officeDocument/2006/relationships/officeDocument" Target="/ppt/presentation.xml" Id="R7c10429b6d7b4a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17b756742946c0"/>
  </p:sldMasterIdLst>
  <p:notesMasterIdLst>
    <p:notesMasterId xmlns:r="http://schemas.openxmlformats.org/officeDocument/2006/relationships" r:id="R028545fb2ff04e9e"/>
  </p:notesMasterIdLst>
  <p:sldIdLst>
    <p:sldId xmlns:r="http://schemas.openxmlformats.org/officeDocument/2006/relationships" id="256" r:id="R620cb87b4ee441e2"/>
    <p:sldId xmlns:r="http://schemas.openxmlformats.org/officeDocument/2006/relationships" id="257" r:id="R429289f0ed5c4bdb"/>
    <p:sldId xmlns:r="http://schemas.openxmlformats.org/officeDocument/2006/relationships" id="258" r:id="Reaba4b189e904a18"/>
    <p:sldId xmlns:r="http://schemas.openxmlformats.org/officeDocument/2006/relationships" id="259" r:id="Refc4646bcfa34564"/>
    <p:sldId xmlns:r="http://schemas.openxmlformats.org/officeDocument/2006/relationships" id="260" r:id="R65bacdac98b64ae0"/>
    <p:sldId xmlns:r="http://schemas.openxmlformats.org/officeDocument/2006/relationships" id="261" r:id="Rb8a3bb7e54a64e06"/>
    <p:sldId xmlns:r="http://schemas.openxmlformats.org/officeDocument/2006/relationships" id="262" r:id="R48bc011af74842f9"/>
    <p:sldId xmlns:r="http://schemas.openxmlformats.org/officeDocument/2006/relationships" id="263" r:id="R2cbe83c90be940b0"/>
    <p:sldId xmlns:r="http://schemas.openxmlformats.org/officeDocument/2006/relationships" id="264" r:id="R474246dd594a402f"/>
    <p:sldId xmlns:r="http://schemas.openxmlformats.org/officeDocument/2006/relationships" id="265" r:id="R64624d25d85c42e7"/>
    <p:sldId xmlns:r="http://schemas.openxmlformats.org/officeDocument/2006/relationships" id="266" r:id="Rcd96fb5ca42d44e6"/>
    <p:sldId xmlns:r="http://schemas.openxmlformats.org/officeDocument/2006/relationships" id="267" r:id="Rcf52223a54e543b6"/>
    <p:sldId xmlns:r="http://schemas.openxmlformats.org/officeDocument/2006/relationships" id="268" r:id="R8c24389399424381"/>
    <p:sldId xmlns:r="http://schemas.openxmlformats.org/officeDocument/2006/relationships" id="269" r:id="Rd819ffc1ef7449eb"/>
    <p:sldId xmlns:r="http://schemas.openxmlformats.org/officeDocument/2006/relationships" id="270" r:id="Rf7145ee366a54968"/>
    <p:sldId xmlns:r="http://schemas.openxmlformats.org/officeDocument/2006/relationships" id="271" r:id="Rc25af8ebd73d4171"/>
    <p:sldId xmlns:r="http://schemas.openxmlformats.org/officeDocument/2006/relationships" id="272" r:id="R4f9e6ce2800e4506"/>
    <p:sldId xmlns:r="http://schemas.openxmlformats.org/officeDocument/2006/relationships" id="273" r:id="R97bdb193315c463a"/>
    <p:sldId xmlns:r="http://schemas.openxmlformats.org/officeDocument/2006/relationships" id="274" r:id="R51ef6c7895284b35"/>
    <p:sldId xmlns:r="http://schemas.openxmlformats.org/officeDocument/2006/relationships" id="275" r:id="R7bb4c355e3214f72"/>
    <p:sldId xmlns:r="http://schemas.openxmlformats.org/officeDocument/2006/relationships" id="276" r:id="Rd5f713449bd24762"/>
    <p:sldId xmlns:r="http://schemas.openxmlformats.org/officeDocument/2006/relationships" id="277" r:id="R2a3cd2c15dab4256"/>
    <p:sldId xmlns:r="http://schemas.openxmlformats.org/officeDocument/2006/relationships" id="278" r:id="Re7959f411b034bd2"/>
    <p:sldId xmlns:r="http://schemas.openxmlformats.org/officeDocument/2006/relationships" id="279" r:id="R171c92d37f264e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44f3272e7f4964" /><Relationship Type="http://schemas.openxmlformats.org/officeDocument/2006/relationships/slideMaster" Target="/ppt/slideMasters/slideMaster1.xml" Id="R2117b756742946c0" /><Relationship Type="http://schemas.openxmlformats.org/officeDocument/2006/relationships/notesMaster" Target="/ppt/notesMasters/notesMaster1.xml" Id="R028545fb2ff04e9e" /><Relationship Type="http://schemas.openxmlformats.org/officeDocument/2006/relationships/presProps" Target="/ppt/presProps.xml" Id="R94b15eb4f23c474f" /><Relationship Type="http://schemas.openxmlformats.org/officeDocument/2006/relationships/tableStyles" Target="/ppt/tableStyles.xml" Id="R39a5251566414e91" /><Relationship Type="http://schemas.openxmlformats.org/officeDocument/2006/relationships/slide" Target="/ppt/slides/slide1.xml" Id="R620cb87b4ee441e2" /><Relationship Type="http://schemas.openxmlformats.org/officeDocument/2006/relationships/slide" Target="/ppt/slides/slide2.xml" Id="R429289f0ed5c4bdb" /><Relationship Type="http://schemas.openxmlformats.org/officeDocument/2006/relationships/slide" Target="/ppt/slides/slide3.xml" Id="Reaba4b189e904a18" /><Relationship Type="http://schemas.openxmlformats.org/officeDocument/2006/relationships/slide" Target="/ppt/slides/slide4.xml" Id="Refc4646bcfa34564" /><Relationship Type="http://schemas.openxmlformats.org/officeDocument/2006/relationships/slide" Target="/ppt/slides/slide5.xml" Id="R65bacdac98b64ae0" /><Relationship Type="http://schemas.openxmlformats.org/officeDocument/2006/relationships/slide" Target="/ppt/slides/slide6.xml" Id="Rb8a3bb7e54a64e06" /><Relationship Type="http://schemas.openxmlformats.org/officeDocument/2006/relationships/slide" Target="/ppt/slides/slide7.xml" Id="R48bc011af74842f9" /><Relationship Type="http://schemas.openxmlformats.org/officeDocument/2006/relationships/slide" Target="/ppt/slides/slide8.xml" Id="R2cbe83c90be940b0" /><Relationship Type="http://schemas.openxmlformats.org/officeDocument/2006/relationships/slide" Target="/ppt/slides/slide9.xml" Id="R474246dd594a402f" /><Relationship Type="http://schemas.openxmlformats.org/officeDocument/2006/relationships/slide" Target="/ppt/slides/slide10.xml" Id="R64624d25d85c42e7" /><Relationship Type="http://schemas.openxmlformats.org/officeDocument/2006/relationships/slide" Target="/ppt/slides/slide11.xml" Id="Rcd96fb5ca42d44e6" /><Relationship Type="http://schemas.openxmlformats.org/officeDocument/2006/relationships/slide" Target="/ppt/slides/slide12.xml" Id="Rcf52223a54e543b6" /><Relationship Type="http://schemas.openxmlformats.org/officeDocument/2006/relationships/slide" Target="/ppt/slides/slide13.xml" Id="R8c24389399424381" /><Relationship Type="http://schemas.openxmlformats.org/officeDocument/2006/relationships/slide" Target="/ppt/slides/slide14.xml" Id="Rd819ffc1ef7449eb" /><Relationship Type="http://schemas.openxmlformats.org/officeDocument/2006/relationships/slide" Target="/ppt/slides/slide15.xml" Id="Rf7145ee366a54968" /><Relationship Type="http://schemas.openxmlformats.org/officeDocument/2006/relationships/slide" Target="/ppt/slides/slide16.xml" Id="Rc25af8ebd73d4171" /><Relationship Type="http://schemas.openxmlformats.org/officeDocument/2006/relationships/slide" Target="/ppt/slides/slide17.xml" Id="R4f9e6ce2800e4506" /><Relationship Type="http://schemas.openxmlformats.org/officeDocument/2006/relationships/slide" Target="/ppt/slides/slide18.xml" Id="R97bdb193315c463a" /><Relationship Type="http://schemas.openxmlformats.org/officeDocument/2006/relationships/slide" Target="/ppt/slides/slide19.xml" Id="R51ef6c7895284b35" /><Relationship Type="http://schemas.openxmlformats.org/officeDocument/2006/relationships/slide" Target="/ppt/slides/slide20.xml" Id="R7bb4c355e3214f72" /><Relationship Type="http://schemas.openxmlformats.org/officeDocument/2006/relationships/slide" Target="/ppt/slides/slide21.xml" Id="Rd5f713449bd24762" /><Relationship Type="http://schemas.openxmlformats.org/officeDocument/2006/relationships/slide" Target="/ppt/slides/slide22.xml" Id="R2a3cd2c15dab4256" /><Relationship Type="http://schemas.openxmlformats.org/officeDocument/2006/relationships/slide" Target="/ppt/slides/slide23.xml" Id="Re7959f411b034bd2" /><Relationship Type="http://schemas.openxmlformats.org/officeDocument/2006/relationships/slide" Target="/ppt/slides/slide24.xml" Id="R171c92d37f264e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f7e53da5a341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21807a5b624504" /><Relationship Type="http://schemas.openxmlformats.org/officeDocument/2006/relationships/notesMaster" Target="/ppt/notesMasters/notesMaster1.xml" Id="R021680aa5e3a46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3d9bcac49340a0" /><Relationship Type="http://schemas.openxmlformats.org/officeDocument/2006/relationships/notesMaster" Target="/ppt/notesMasters/notesMaster1.xml" Id="Rd524b8fd05a141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633934278f4c4a" /><Relationship Type="http://schemas.openxmlformats.org/officeDocument/2006/relationships/notesMaster" Target="/ppt/notesMasters/notesMaster1.xml" Id="R24e4c25e9eb945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4f854e2e6d4ad5" /><Relationship Type="http://schemas.openxmlformats.org/officeDocument/2006/relationships/notesMaster" Target="/ppt/notesMasters/notesMaster1.xml" Id="R8c626045512140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ecfae0469d4e47" /><Relationship Type="http://schemas.openxmlformats.org/officeDocument/2006/relationships/notesMaster" Target="/ppt/notesMasters/notesMaster1.xml" Id="R22588f0e2e864e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45753590884083" /><Relationship Type="http://schemas.openxmlformats.org/officeDocument/2006/relationships/notesMaster" Target="/ppt/notesMasters/notesMaster1.xml" Id="Rc09fa84ab0c048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71367bee7a470e" /><Relationship Type="http://schemas.openxmlformats.org/officeDocument/2006/relationships/notesMaster" Target="/ppt/notesMasters/notesMaster1.xml" Id="R7c9ed4b1531245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5a4b897f4946c4" /><Relationship Type="http://schemas.openxmlformats.org/officeDocument/2006/relationships/notesMaster" Target="/ppt/notesMasters/notesMaster1.xml" Id="R117a6f988d8e45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60da591f244ba9" /><Relationship Type="http://schemas.openxmlformats.org/officeDocument/2006/relationships/notesMaster" Target="/ppt/notesMasters/notesMaster1.xml" Id="R4e61f788e73442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b0457dfb484b60" /><Relationship Type="http://schemas.openxmlformats.org/officeDocument/2006/relationships/notesMaster" Target="/ppt/notesMasters/notesMaster1.xml" Id="R375803924a3f4e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53f82ae3914787" /><Relationship Type="http://schemas.openxmlformats.org/officeDocument/2006/relationships/notesMaster" Target="/ppt/notesMasters/notesMaster1.xml" Id="Rb26f34f64ac74d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12b90146db44ae" /><Relationship Type="http://schemas.openxmlformats.org/officeDocument/2006/relationships/notesMaster" Target="/ppt/notesMasters/notesMaster1.xml" Id="R3c88ce8e4ff94d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eb19a1f2834a03" /><Relationship Type="http://schemas.openxmlformats.org/officeDocument/2006/relationships/notesMaster" Target="/ppt/notesMasters/notesMaster1.xml" Id="Ra65615701fbc4c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d412e169894641" /><Relationship Type="http://schemas.openxmlformats.org/officeDocument/2006/relationships/notesMaster" Target="/ppt/notesMasters/notesMaster1.xml" Id="R6062ffa2d48d47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4222cf2b764053" /><Relationship Type="http://schemas.openxmlformats.org/officeDocument/2006/relationships/notesMaster" Target="/ppt/notesMasters/notesMaster1.xml" Id="R9c29506c81064c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e616ed7edf4ff0" /><Relationship Type="http://schemas.openxmlformats.org/officeDocument/2006/relationships/notesMaster" Target="/ppt/notesMasters/notesMaster1.xml" Id="Ra6b808722b7c426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c9d6d3f28ae45a5" /><Relationship Type="http://schemas.openxmlformats.org/officeDocument/2006/relationships/notesMaster" Target="/ppt/notesMasters/notesMaster1.xml" Id="Rff085b1460dd4ff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4805153815e48cd" /><Relationship Type="http://schemas.openxmlformats.org/officeDocument/2006/relationships/notesMaster" Target="/ppt/notesMasters/notesMaster1.xml" Id="Re9cef0a934b0401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6f24a3123ac406c" /><Relationship Type="http://schemas.openxmlformats.org/officeDocument/2006/relationships/notesMaster" Target="/ppt/notesMasters/notesMaster1.xml" Id="R6a36095057c349e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34fb09743d4a83" /><Relationship Type="http://schemas.openxmlformats.org/officeDocument/2006/relationships/notesMaster" Target="/ppt/notesMasters/notesMaster1.xml" Id="R61487463b0fc4f0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0cd53ba543e4d74" /><Relationship Type="http://schemas.openxmlformats.org/officeDocument/2006/relationships/notesMaster" Target="/ppt/notesMasters/notesMaster1.xml" Id="R5bc8c13d992f49c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592e8db26424d78" /><Relationship Type="http://schemas.openxmlformats.org/officeDocument/2006/relationships/notesMaster" Target="/ppt/notesMasters/notesMaster1.xml" Id="R4e7adc09593d489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e3c45120de2477b" /><Relationship Type="http://schemas.openxmlformats.org/officeDocument/2006/relationships/notesMaster" Target="/ppt/notesMasters/notesMaster1.xml" Id="R0cb10fdd33b2490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e79616bbd454f8a" /><Relationship Type="http://schemas.openxmlformats.org/officeDocument/2006/relationships/notesMaster" Target="/ppt/notesMasters/notesMaster1.xml" Id="Rac802482ec1741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Поясніть зв’язок теми з попередніми лекціями. Усі числові приклади є навчальними, а не вимірюваннями реальної інфраструктури.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Демонструйте, що один відтворюваний seed потрібний для повторення, але не замінює статистичної перевірки на кількох незалежних потоках.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кожна імітація є незалежною вибіркою спостережень. У черзі сусідні часи очікування залежні, тому повтори прогонів мають особливе значення.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 статичний експеримент стану двох реплік. Тут не моделюємо час відмов та ремонту. Спільне живлення або мережа можуть порушити незалежність.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тут є стандартною похибкою частки для незалежних випробувань. Для дуже рідкісних подій нормальне наближення може бути неточним.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Попросіть студентів пояснити розбіжність із точним результатом. Це статистична похибка, якщо код і припущення задані правильно.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Оцінювання події з імовірністю 10⁻⁶ звичайним Монте-Карло потребує дуже багатьох випробувань. Для таких задач існують методи зменшення дисперсії.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50 000 і 5 000 є навчальними параметрами, не універсальним правилом. Далі перевіримо чутливість до довжини прогріву й прогону.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Типова помилка збільшує час між запитами при зростанні λ. Перевірте середнє згенерованих інтервалів на великій вибірці.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Траса детермінована для пояснення алгоритму й не є результатом seed. Після двох перших запитів канали звільняються о 0,30 та 0,25. Запит 3 завершується о 0,35, тому запит 4 починається о 0,30.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однакових каналів і FCFS це еквівалентно подієвій симуляції. heapq дає мінімальний час звільнення за логарифмічну складність.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Початкова порожня система може занизити стаціонарну затримку. Ми відкидаємо початкові спостереження, але достатність прогріву перевіряємо окремо. Дочікуємося початку кожного з n запитів, тому праве цензурування не виникає.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t-інтервал є наближеним: середні прогонів мають бути приблизно нормальними. Часи очікування всередині одного прогону корельовані, тому їх не видаємо за незалежні повтори.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Довірчий інтервал не є інтервалом, у який потрапляють 95% індивідуальних запитів. Seed-потоки тут відтворювані, але бібліотечні версії також зберігаємо.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Аналітична і симуляційна моделі мають однакові припущення. Потрапляння в інтервал є очікуваною перевіркою, а не доведенням адекватності реальному сервісу.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Усі точки є середніми після прогріву, а не окремими запитами. Візуалізація показує, чому один seed не дає достатнього уявлення про похибку.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майже насиченій черзі перехідні ефекти й кореляція сильніші. Прогрів потрібно перевіряти для найскладніших сценаріїв.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Порівняння є діагностикою для цього прикладу, а не доказом універсальної достатності 5 000 запитів. SD описує розкид середніх прогонів, не стандартну похибку.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run_queue однаковий seed відтворює ті самі масиви arrivals і service незалежно від c. Це зменшує внесок різного випадкового навантаження, хоча виграш у дисперсії треба перевірити.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обчислюйте p99 за двадцятьма середніми прогонів і не називайте його p99 запитів. Це інший розподіл.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Псевдовипадковий генератор детермінований. Відтворюваність залежить також від версій, алгоритму й порядку викликів.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Попросіть явно зазначити синтетичне походження навантаження. Для реальної валідації потрібні незалежні дані про роботу системи.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Один seed дає одну реалізацію. Сусідні запити успадковують стан черги. ДІ характеризує точність оцінки середнього, процентиль характеризує розподіл індивідуальних значень.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Посилання ведуть до першоджерел та офіційної документації. Формулювання і числові приклади адаптовано для ІТ-контексту. Для повторення запустіть відповідний файл lecture_NN.py. Версії пакетів наведено у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https://numpy.org/doc/stable/reference/random/index.html</a:t>
            </a:r>
          </a:p>
          <a:p xmlns:a="http://schemas.openxmlformats.org/drawingml/2006/main">
            <a:r>
              <a:t>https://www.itl.nist.gov/div898/software/dataplot/refman1/auxillar/conflimi.htm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https://ocw.mit.edu/courses/1-203j-logistical-and-transportation-planning-methods-fall-2006/pages/lecture-notes/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d66ded860647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a1f453bdcd48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d109c73f140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7aab5e033c48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37b1f7b1841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d0d35facc44f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F855EA-1496-4DAF-9F4C-351A3F70A5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03EECB-DDC0-4686-AE3E-5B8EAD5759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CCB545-B474-4A66-9E4E-700EC08425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95D5A4-D73C-4DF9-820F-292BAC2983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5164D1C-FED1-47E0-B52A-2C1E54EE4A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BE80BA-7319-43BE-9357-380F09D4A1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AE4020-016A-4184-9960-171261D13F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3D1A188-49FE-411B-83DF-75CC208F00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9481E0-760A-4FCB-ACEE-CC7047625D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90D5FD-992A-4E7C-8ED8-51FB3AD546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62940241b74ec2" /><Relationship Type="http://schemas.openxmlformats.org/officeDocument/2006/relationships/slideLayout" Target="/ppt/slideLayouts/slideLayout1.xml" Id="R11d9b528eb3a44e9" /><Relationship Type="http://schemas.openxmlformats.org/officeDocument/2006/relationships/slideLayout" Target="/ppt/slideLayouts/slideLayout2.xml" Id="Rb01d886e37ea4174" /><Relationship Type="http://schemas.openxmlformats.org/officeDocument/2006/relationships/slideLayout" Target="/ppt/slideLayouts/slideLayout3.xml" Id="Rd71442766c484b19" /><Relationship Type="http://schemas.openxmlformats.org/officeDocument/2006/relationships/slideLayout" Target="/ppt/slideLayouts/slideLayout4.xml" Id="R62988bd794d04d44" /><Relationship Type="http://schemas.openxmlformats.org/officeDocument/2006/relationships/slideLayout" Target="/ppt/slideLayouts/slideLayout5.xml" Id="R09e6f788ba9e412a" /><Relationship Type="http://schemas.openxmlformats.org/officeDocument/2006/relationships/slideLayout" Target="/ppt/slideLayouts/slideLayout6.xml" Id="Rda1e05be97124d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d9b528eb3a44e9"/>
    <p:sldLayoutId xmlns:r="http://schemas.openxmlformats.org/officeDocument/2006/relationships" id="2147483650" r:id="Rb01d886e37ea4174"/>
    <p:sldLayoutId xmlns:r="http://schemas.openxmlformats.org/officeDocument/2006/relationships" id="2147483651" r:id="Rd71442766c484b19"/>
    <p:sldLayoutId xmlns:r="http://schemas.openxmlformats.org/officeDocument/2006/relationships" id="2147483652" r:id="R62988bd794d04d44"/>
    <p:sldLayoutId xmlns:r="http://schemas.openxmlformats.org/officeDocument/2006/relationships" id="2147483653" r:id="R09e6f788ba9e412a"/>
    <p:sldLayoutId xmlns:r="http://schemas.openxmlformats.org/officeDocument/2006/relationships" id="2147483654" r:id="Rda1e05be97124d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c359f0d33e4340" /><Relationship Type="http://schemas.openxmlformats.org/officeDocument/2006/relationships/notesSlide" Target="/ppt/notesSlides/notesSlide1.xml" Id="Re311671218e64a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b6ba7acb3e462a" /><Relationship Type="http://schemas.openxmlformats.org/officeDocument/2006/relationships/notesSlide" Target="/ppt/notesSlides/notesSlide2.xml" Id="Rff87083876e14d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8359328076403f" /><Relationship Type="http://schemas.openxmlformats.org/officeDocument/2006/relationships/notesSlide" Target="/ppt/notesSlides/notesSlide3.xml" Id="Rfa522ea8fdc94a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8b844e52714d09" /><Relationship Type="http://schemas.openxmlformats.org/officeDocument/2006/relationships/notesSlide" Target="/ppt/notesSlides/notesSlide4.xml" Id="R57fe76bd061b44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3affa297c74361" /><Relationship Type="http://schemas.openxmlformats.org/officeDocument/2006/relationships/notesSlide" Target="/ppt/notesSlides/notesSlide5.xml" Id="Rfdddfd6064b04c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798eeb43f41f9" /><Relationship Type="http://schemas.openxmlformats.org/officeDocument/2006/relationships/notesSlide" Target="/ppt/notesSlides/notesSlide6.xml" Id="Ref1b230473b844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ca6651d239467d" /><Relationship Type="http://schemas.openxmlformats.org/officeDocument/2006/relationships/notesSlide" Target="/ppt/notesSlides/notesSlide7.xml" Id="R340b16873ea544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c1dec1a6474b4c" /><Relationship Type="http://schemas.openxmlformats.org/officeDocument/2006/relationships/notesSlide" Target="/ppt/notesSlides/notesSlide8.xml" Id="R21542c4f9ceb4a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1f0e4794424bf2" /><Relationship Type="http://schemas.openxmlformats.org/officeDocument/2006/relationships/notesSlide" Target="/ppt/notesSlides/notesSlide9.xml" Id="R1b80140be94240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550217c8bb4ce1" /><Relationship Type="http://schemas.openxmlformats.org/officeDocument/2006/relationships/notesSlide" Target="/ppt/notesSlides/notesSlide10.xml" Id="Ra784c0976f8a48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48c65e09964b31" /><Relationship Type="http://schemas.openxmlformats.org/officeDocument/2006/relationships/notesSlide" Target="/ppt/notesSlides/notesSlide11.xml" Id="R1f4fd13895cf47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9ab37e2c45454e" /><Relationship Type="http://schemas.openxmlformats.org/officeDocument/2006/relationships/notesSlide" Target="/ppt/notesSlides/notesSlide12.xml" Id="R004ca9a2920045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b3789733714c5b" /><Relationship Type="http://schemas.openxmlformats.org/officeDocument/2006/relationships/notesSlide" Target="/ppt/notesSlides/notesSlide13.xml" Id="R4242cf4d450443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c3662344fc4bd3" /><Relationship Type="http://schemas.openxmlformats.org/officeDocument/2006/relationships/notesSlide" Target="/ppt/notesSlides/notesSlide14.xml" Id="Ra3b55260babf4c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c34574c89b4c89" /><Relationship Type="http://schemas.openxmlformats.org/officeDocument/2006/relationships/notesSlide" Target="/ppt/notesSlides/notesSlide15.xml" Id="Rcf37fe43263e44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452927637f4c5c" /><Relationship Type="http://schemas.openxmlformats.org/officeDocument/2006/relationships/chart" Target="/ppt/slides/charts/chart1.xml" Id="R9458136e447241f5" /><Relationship Type="http://schemas.openxmlformats.org/officeDocument/2006/relationships/notesSlide" Target="/ppt/notesSlides/notesSlide16.xml" Id="Rd36e2ff2a6ff4e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bcbfdc4efe41db" /><Relationship Type="http://schemas.openxmlformats.org/officeDocument/2006/relationships/notesSlide" Target="/ppt/notesSlides/notesSlide17.xml" Id="R918ed052dd0e415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abe80e262747f1" /><Relationship Type="http://schemas.openxmlformats.org/officeDocument/2006/relationships/notesSlide" Target="/ppt/notesSlides/notesSlide18.xml" Id="Re692039a95354ba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62a6ca73534674" /><Relationship Type="http://schemas.openxmlformats.org/officeDocument/2006/relationships/notesSlide" Target="/ppt/notesSlides/notesSlide19.xml" Id="R4bfcd335364b40f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7f4c7bf54e4e40" /><Relationship Type="http://schemas.openxmlformats.org/officeDocument/2006/relationships/notesSlide" Target="/ppt/notesSlides/notesSlide20.xml" Id="Rd6fdb6807a06484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85516004414d43" /><Relationship Type="http://schemas.openxmlformats.org/officeDocument/2006/relationships/notesSlide" Target="/ppt/notesSlides/notesSlide21.xml" Id="R231e4e388f94438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f17ea8419b4a9b" /><Relationship Type="http://schemas.openxmlformats.org/officeDocument/2006/relationships/notesSlide" Target="/ppt/notesSlides/notesSlide22.xml" Id="R8fb615d05410473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b4487e0c7e4d2b" /><Relationship Type="http://schemas.openxmlformats.org/officeDocument/2006/relationships/notesSlide" Target="/ppt/notesSlides/notesSlide23.xml" Id="R7d70661b4091431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193ac669f24a25" /><Relationship Type="http://schemas.openxmlformats.org/officeDocument/2006/relationships/hyperlink" Target="https://numpy.org/doc/stable/reference/random/index.html" TargetMode="External" Id="Rbd99a8ed62bb4dec" /><Relationship Type="http://schemas.openxmlformats.org/officeDocument/2006/relationships/hyperlink" Target="https://www.itl.nist.gov/div898/software/dataplot/refman1/auxillar/conflimi.htm" TargetMode="External" Id="R596eee127b4744c2" /><Relationship Type="http://schemas.openxmlformats.org/officeDocument/2006/relationships/hyperlink" Target="https://www.ocw.mit.edu/courses/2-854-introduction-to-manufacturing-systems-fall-2016/resources/mit2_854f16_mm1queue/" TargetMode="External" Id="R612a51d233184d3a" /><Relationship Type="http://schemas.openxmlformats.org/officeDocument/2006/relationships/hyperlink" Target="https://ocw.mit.edu/courses/1-203j-logistical-and-transportation-planning-methods-fall-2006/pages/lecture-notes/" TargetMode="External" Id="Rdc5819420a9d43b3" /><Relationship Type="http://schemas.openxmlformats.org/officeDocument/2006/relationships/notesSlide" Target="/ppt/notesSlides/notesSlide24.xml" Id="R882757758f9a4cd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Симуляція, мс</c:v>
          </c:tx>
          <c:spPr>
            <a:solidFill xmlns:a="http://schemas.openxmlformats.org/drawingml/2006/main">
              <a:srgbClr val="007F82"/>
            </a:solidFill>
            <a:ln xmlns:a="http://schemas.openxmlformats.org/drawingml/2006/main" w="28575">
              <a:solidFill>
                <a:srgbClr val="007F82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07F82"/>
              </a:solidFill>
            </c:spPr>
          </c:marker>
          <c:xVal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Data'!$B$2:$B$21</c:f>
              <c:numCache>
                <c:formatCode>0.0</c:formatCode>
                <c:ptCount val="20"/>
                <c:pt idx="0">
                  <c:v>27.4183157724</c:v>
                </c:pt>
                <c:pt idx="1">
                  <c:v>30.5597332578</c:v>
                </c:pt>
                <c:pt idx="2">
                  <c:v>31.1766968894</c:v>
                </c:pt>
                <c:pt idx="3">
                  <c:v>29.5666066154</c:v>
                </c:pt>
                <c:pt idx="4">
                  <c:v>28.2387572905</c:v>
                </c:pt>
                <c:pt idx="5">
                  <c:v>29.331459645</c:v>
                </c:pt>
                <c:pt idx="6">
                  <c:v>28.3198768263</c:v>
                </c:pt>
                <c:pt idx="7">
                  <c:v>28.3413087252</c:v>
                </c:pt>
                <c:pt idx="8">
                  <c:v>31.6876875317</c:v>
                </c:pt>
                <c:pt idx="9">
                  <c:v>26.6982495267</c:v>
                </c:pt>
                <c:pt idx="10">
                  <c:v>31.9739689213</c:v>
                </c:pt>
                <c:pt idx="11">
                  <c:v>32.3725865267</c:v>
                </c:pt>
                <c:pt idx="12">
                  <c:v>30.451606312</c:v>
                </c:pt>
                <c:pt idx="13">
                  <c:v>29.5115323934</c:v>
                </c:pt>
                <c:pt idx="14">
                  <c:v>29.8347563465</c:v>
                </c:pt>
                <c:pt idx="15">
                  <c:v>28.6790869476</c:v>
                </c:pt>
                <c:pt idx="16">
                  <c:v>27.4065286471</c:v>
                </c:pt>
                <c:pt idx="17">
                  <c:v>29.7698557409</c:v>
                </c:pt>
                <c:pt idx="18">
                  <c:v>30.3926269796</c:v>
                </c:pt>
                <c:pt idx="19">
                  <c:v>31.311923134</c:v>
                </c:pt>
              </c:numCache>
            </c:numRef>
          </c:yVal>
        </c:ser>
        <c:ser>
          <c:idx val="1"/>
          <c:order val="1"/>
          <c:tx>
            <c:v>Еталон, мс</c:v>
          </c:tx>
          <c:spPr>
            <a:solidFill xmlns:a="http://schemas.openxmlformats.org/drawingml/2006/main">
              <a:srgbClr val="D06B25"/>
            </a:solidFill>
            <a:ln xmlns:a="http://schemas.openxmlformats.org/drawingml/2006/main" w="28575">
              <a:solidFill>
                <a:srgbClr val="D06B2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D06B25"/>
              </a:solidFill>
            </c:spPr>
          </c:marker>
          <c:xVal>
            <c:numRef>
              <c:f>'Chart Data'!$C$2:$C$21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Data'!$D$2:$D$21</c:f>
              <c:numCache>
                <c:formatCode>0.0</c:formatCode>
                <c:ptCount val="20"/>
                <c:pt idx="0">
                  <c:v>29.5620437956</c:v>
                </c:pt>
                <c:pt idx="1">
                  <c:v>29.5620437956</c:v>
                </c:pt>
                <c:pt idx="2">
                  <c:v>29.5620437956</c:v>
                </c:pt>
                <c:pt idx="3">
                  <c:v>29.5620437956</c:v>
                </c:pt>
                <c:pt idx="4">
                  <c:v>29.5620437956</c:v>
                </c:pt>
                <c:pt idx="5">
                  <c:v>29.5620437956</c:v>
                </c:pt>
                <c:pt idx="6">
                  <c:v>29.5620437956</c:v>
                </c:pt>
                <c:pt idx="7">
                  <c:v>29.5620437956</c:v>
                </c:pt>
                <c:pt idx="8">
                  <c:v>29.5620437956</c:v>
                </c:pt>
                <c:pt idx="9">
                  <c:v>29.5620437956</c:v>
                </c:pt>
                <c:pt idx="10">
                  <c:v>29.5620437956</c:v>
                </c:pt>
                <c:pt idx="11">
                  <c:v>29.5620437956</c:v>
                </c:pt>
                <c:pt idx="12">
                  <c:v>29.5620437956</c:v>
                </c:pt>
                <c:pt idx="13">
                  <c:v>29.5620437956</c:v>
                </c:pt>
                <c:pt idx="14">
                  <c:v>29.5620437956</c:v>
                </c:pt>
                <c:pt idx="15">
                  <c:v>29.5620437956</c:v>
                </c:pt>
                <c:pt idx="16">
                  <c:v>29.5620437956</c:v>
                </c:pt>
                <c:pt idx="17">
                  <c:v>29.5620437956</c:v>
                </c:pt>
                <c:pt idx="18">
                  <c:v>29.5620437956</c:v>
                </c:pt>
                <c:pt idx="19">
                  <c:v>29.5620437956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Середній Wq, мс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0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Номер прогону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CFD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CFDFE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lecture">
            <a:extLst xmlns:a="http://schemas.openxmlformats.org/drawingml/2006/main">
              <a:ext uri="{FF2B5EF4-FFF2-40B4-BE49-F238E27FC236}">
                <a16:creationId xmlns:a16="http://schemas.microsoft.com/office/drawing/2014/main" id="{DBD5A863-F5CA-4B5A-9528-41679751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1D8CF"/>
                </a:solidFill>
                <a:latin typeface="Arial"/>
                <a:ea typeface="Arial"/>
                <a:cs typeface="Arial"/>
              </a:rPr>
              <a:t>ЛЕКЦІЯ 12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38F3D46-D615-4123-9DA4-1CB187CE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Метод Монте-Карло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 імітаційне моделювання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80CCAD5-0E67-4EFA-8C62-ECF391BA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6E6EF"/>
                </a:solidFill>
                <a:latin typeface="Arial"/>
                <a:ea typeface="Arial"/>
                <a:cs typeface="Arial"/>
              </a:rPr>
              <a:t>Випадкові випробування, точність і перевірка моделі черги</a:t>
            </a:r>
          </a:p>
        </p:txBody>
      </p:sp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E2D78356-DB1C-4646-82C8-0A2D9BAC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007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1D5E1"/>
                </a:solidFill>
                <a:latin typeface="Arial"/>
                <a:ea typeface="Arial"/>
                <a:cs typeface="Arial"/>
              </a:rPr>
              <a:t>Математичне моделювання та методи дослідження операцій</a:t>
            </a:r>
          </a:p>
        </p:txBody>
      </p:sp>
    </p:spTree>
    <p:extLst>
      <p:ext uri="{BB962C8B-B14F-4D97-AF65-F5344CB8AC3E}">
        <p14:creationId xmlns:p14="http://schemas.microsoft.com/office/powerpoint/2010/main" val="967277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3F398E70-9B58-4B50-AE3F-F4450377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План і результат навчання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513DD1A3-604C-46A5-AFB0-0421865F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1FC9D686-082B-4EFC-8572-47427697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Побудувати випадковий експеримент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55728782-4E86-439A-81ED-B5FE4A3A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09FD7044-D889-40FD-9634-91E5C0B8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Відрізнити один прогін від незалежних повторів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8D7BDCBD-751E-4618-BED5-5B0A9CC8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61AEB359-424C-4B1F-B0D4-54FC0562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Оцінити середнє та довірчий інтервал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B94B0B3E-1EF8-4333-BDA7-58A94732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E1F27F0E-3AC9-4414-BE82-FF4747A9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Порівняти симуляцію з аналітичним еталоном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1C91B654-36B2-43E9-B92B-B46F436D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Результат: числова оцінка з описом її невизначеності.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3461BEF-A47D-413E-A242-B56E9F43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874499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2F228F4D-FD22-4847-ADB7-F8A5121C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Монте-Карло: головна ідея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82EBBB46-746A-4719-9B99-06E21207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49F45C60-5B36-45C9-BA7D-A77A5AB2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Згенерувати багато реалізацій випадкової ситуації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7DBB91FD-8B86-4DAF-87AC-31DE5CDA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D9D35D9F-17D0-4D2E-9344-6BEF1ACF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Обчислити метрику для кожної реалізації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998C2868-657A-46A7-917D-A6579DEA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CBC3126A-C257-4ADC-9492-C27BA802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Узагальнити результати та оцінити розкид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B30D4ACE-1BF3-4312-A68D-DC88199C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3E1B6EA4-E6C8-469F-B14A-DA5CA943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Порівняти з вимогою або аналітичною моделлю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770FD96A-F29F-4A92-8C25-3F0B5E02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Випадковість стає інструментом обчислення.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F2EB9F8-F67A-44C5-B649-AFA0FE88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285984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FE85F367-671B-45CA-9F5F-B0496F35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Перший приклад: доступність двох реплік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D74D83D5-EB5E-4E89-B5BF-4207B75E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04BCF537-3983-4440-B4CC-28E7AF9A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Кожна репліка недоступна з імовірністю 0,1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E4AECA17-AF98-4E3E-83E6-0AE441E7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1CA7819C-6120-4B52-9C77-D9EC91C4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Відмови реплік у цьому прикладі незалежні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94BD6271-D725-40E4-A9BA-139D7D34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D95CF5C4-90FE-45B5-BA64-B355ADE0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Сервіс доступний, якщо працює хоча б одна репліка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733FA75E-5272-45AC-A716-8A906210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9B6C4BCB-74AA-4BA4-98AB-3D75A1D0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Аналітичний еталон: 1−0,1² = 0,99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B949F3A4-E123-4D6A-9654-3E635B23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Незалежність відмов є ключовим припущенням.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7225F91-4197-4F76-BD44-26EA2E60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185472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CE3D50C-0DE6-489A-99D0-91C9E616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випадкові стани реплік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83AD37BC-DAA8-42E1-84E8-B639A660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import numpy as np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rng = np.random.default_rng(2026)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down = rng.random((100000,2)) &lt; .1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up = ~down.all(axis=1)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estimate = up.mean()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se = np.sqrt(estimate*(1-estimate)/len(up))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print(f"Доступність: {estimate:.5f}")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print(f"SE: {se:.5f}")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9E1099D9-205B-4AC4-B4EA-D9021545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Кожен рядок масиву є незалежним випробуванням двох реплік.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7BB729A-F09F-4321-AE3E-303ACE2D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660649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DCB873F-F6B1-43C7-A514-19ABDEF3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Фактичний вивід першого експерименту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6B276E11-3D6F-48E4-B6F7-B7E2ACFF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Доступність: 0.98993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SE: 0.00032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EDD3CC9C-278C-4FCC-AAF7-53BAA296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Оцінка наближається до 0,99, але не зобов’язана дорівнювати їй.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A0078AB-EE65-490D-B000-8B08BCB0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393344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8E2B6332-34CA-4E6B-BF84-D5267A28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Точність і число випробувань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7E5D0889-E0D9-4B1B-8FFB-294D5937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4B7DA459-1E7E-419B-8D4F-174392F0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Типова похибка зменшується як 1/√N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6C7ECA3B-EC48-41AE-8A98-5DEEDAB4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20FA34C1-CB9E-4762-9707-BE93FC75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У 4 рази більше випробувань дає приблизно вдвічі меншу похибку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A2C5B13F-404F-4EEF-9525-84F264CE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815CF980-00C2-41F1-814D-2426B011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Рідкісні події потребують значно більшого N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2F75A0F3-8F49-4072-8E23-F085731C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519AE736-3E15-4CEB-8466-66F863B8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Нуль спостережених відмов не доводить нульовий ризик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2EEF7FE5-79AB-4FCA-A2D2-A1A5325F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Збільшення N має вимірювану обчислювальну ціну.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E9E2183-7545-4F8F-A6CB-1D51AE71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51192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DB14441-B6CA-4E7A-92A9-CC00993E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План перевірки черги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6552E-E908-4F1C-A73A-19A134CD491A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33800"/>
                <a:gridCol w="6934200"/>
              </a:tblGrid>
              <a:tr h="598714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Елемент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Значення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598714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Модель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M/M/3, спільна FCFS-черга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598714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λ та 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18 і 10 запитів/с на канал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Розмір прогону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50 000 прибуттів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598714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Прогрів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Перші 5 000 прибуттів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Повтори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20 окремих seed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598714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Метрика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Середній Wq після прогріву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7A168332-C40C-4482-9A72-35505216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Дизайн експерименту задаємо до перегляду результатів.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F0F9D00-6857-4F79-8025-C7149D3F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530403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2ABD2BB-CD72-4D73-B3F8-BB4A0DAD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Міжприхідний час і час обслуговування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A0620B26-8240-449F-A9C5-4B6844DF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0876C152-3F28-4B9C-8801-51211434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Міжприхідний час: Exp зі середнім 1/λ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A150CCE6-2599-411E-90B8-21459B61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CFC43D7D-9E51-4CE5-9A54-91442EE7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Час обслуговування: Exp зі середнім 1/μ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C8ADDDE4-BE7B-4D35-9815-ACB18292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D6B1F15F-8ACF-44C2-A2D4-1C1E513A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У NumPy exponential(scale) отримує середній час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D4B62073-B15D-435B-A735-386E6128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0DE7A96D-CAE6-4CCD-B1FA-EC35C678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Не передаємо λ замість 1/λ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856D970E-B80E-4FC9-8BF3-83A07ECF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Аргумент scale має одиницю часу.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BCC248A-73BB-4BB6-86D4-D631DA08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606159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B2BB26C-C351-4AAE-A9AD-F1B7E82F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Ручна траса для двох каналів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673B1-893D-4FA5-A757-DFE5EA838A32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  <a:gridCol w="2133600"/>
                <a:gridCol w="213360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Запит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Прибуття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Тривалість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Початок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Wq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0,25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0,15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0,28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0,02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F287D41C-8FC3-4AD2-A43B-5CB79362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Новий запит чекає найближчого звільнення каналу.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CB284C7-BEEC-4F46-9F6C-D917BC3C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121870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525A3363-C925-4EC5-8F0E-311F9C3B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Алгоритм симуляції спільної черги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02F4766E-9B1E-4083-8C74-F6AD5A5C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2854DF0B-CA96-4BCF-BCC7-9234D581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Знайти найраніший час звільнення каналу f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0B10956A-0639-46AF-980E-01947FC1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14429FD7-7265-4B3E-A2F7-7B29D7AA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Початок = max(час прибуття, f)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06854374-A07B-4958-A184-A8D37A81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F3643258-EFB4-4BC4-B733-EAD49383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Очікування = початок − час прибуття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D7E3B582-9490-4883-884A-98B4BB68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33A1E0AF-8D8B-48AC-8E96-BB1AB410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Новий час звільнення = початок + обслуговування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A9291400-2720-445D-850E-CA872D5A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Обробляємо запити у порядку прибуття, підтримуючи часи каналів.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5047396-8514-43CD-9469-F6BFD495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080181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42D3403-1D2A-4115-978A-66A01F26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один прогін спільної черги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A19B4151-94DC-42D3-85C3-596702B7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import numpy as np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import heapq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def run_queue(seed, c=3, n=50000, warm=5000):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rng = np.random.default_rng(seed)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arrivals = np.cumsum(rng.exponential(1/18,n))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service = rng.exponential(1/10,n)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free = [0.]*c  # час звільнення каналів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waits = np.zeros(n)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for i,(a,s) in enumerate(zip(arrivals,service)):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    start = max(a,heapq.heappop(free))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    waits[i] = start-a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    heapq.heappush(free,start+s)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return waits[warm:].mean()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8BD28FB8-EB5C-4EEA-AA7B-6E1587D0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Функція повертає середній Wq після прогріву.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957A41D-5C58-4958-997B-E85F6D7E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884822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83000CE-9A0F-42BA-9C40-4A210D3E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повтори та довірчий інтервал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5BE3B293-FA22-4E8E-A71B-6F5C29B7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from scipy.stats import t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y = np.array([run_queue(seed) for seed in range(20)])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mean = y.mean()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se = y.std(ddof=1)/np.sqrt(len(y))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half = t.ppf(.975,len(y)-1)*se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print(f"Wq = {mean:.6f} с")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print(f"95% ДІ: [{mean-half:.6f}; {mean+half:.6f}]")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print("Повторів:", len(y))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9AA9A26F-AB3C-48E5-A5F0-1F4A693E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ДІ обчислюємо за середніми незалежних прогонів.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97294B8-086E-4A5A-B167-A64225AE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927303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83E1E16-4828-4A15-A45A-2B2000D5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Фактичний результат 20 прогонів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56422A27-AACD-4C89-AAE0-88F18284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Wq = 0.029652 с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95% ДІ: [0.028898; 0.030407]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Повторів: 20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C04CA394-3587-4D9E-8E74-5CAEACC7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Інтервал описує невизначеність оцінки середнього Wq.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188168B-F25E-446D-B32E-28DC44B6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942161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FC30592-5708-480A-9E8D-1FAEBFA2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Аналітичний результат і симуляція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02FDB-808E-4D9A-A40D-A59C9C1736E0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0"/>
                <a:gridCol w="381000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Метод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Wq, 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Ерланг 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0.029562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Симуляція: середнє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0.029652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Нижня межа ДІ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0.028898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Верхня межа ДІ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0.030407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19AECE7B-9F5D-4436-9FF3-115C15BF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Порівняння має враховувати статистичну похибку.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50D7C0F-EBB5-45F6-BF63-09FD61B5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2088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6AED0CF-B298-41C6-BAB2-26C2031A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Розкид середніх незалежних прогонів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79415D9E-57AD-4691-8238-6CAE8BFC2F7C}"/>
              </a:ext>
            </a:extLst>
          </p:cNvPr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668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58136e447241f5"/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71907DA6-1D6F-42AC-AA5E-184A820F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Відмінності між прогонами є нормальною частиною експерименту.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41ED591-9798-4C36-832F-B25CC01B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932547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E9375EB0-D8F9-4D17-9D25-EA955876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Прогрів і тривалість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E500DDBC-6340-4943-8435-BE5B9300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4EFABEA6-883F-4604-9695-A025124C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Порожній старт має перехідний режим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C6FBC30D-AAA1-4763-82AD-42D1A627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49968B7B-36D6-491D-8D0C-AA929D3F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Порівнюємо кілька довжин прогріву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08DA62B1-5540-4624-8B42-D6415D43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0A141EBD-54A2-4118-B4F5-DD14E0D6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Збільшуємо довжину прогону й перевіряємо стабільність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33719FA5-7DCE-4B27-BEBF-02BDCF16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E53F690B-02E2-4917-BEEB-FA793BD4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Усі рішення про зупинку документуємо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D3D685AE-14A1-4EEA-A4AA-ED6ECD9A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Довгий прогін не виправляє неправильний алгоритм.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E73CBC4-87D6-46CC-867E-4B27EA6D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844639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BC2AB8F-8CB2-4068-B068-742B34A8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Фактична перевірка прогріву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097A7-C030-43A3-B0EC-791768171376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7120"/>
                <a:gridCol w="2773680"/>
                <a:gridCol w="426720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Відкинуто запитів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Середнє Wq, 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SD середніх прогонів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0.029321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0.001072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1000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0.029345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0.001089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5000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0.029119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0.001280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10000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0.028938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0.001464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0ED25EF8-0496-4C30-816B-737475BF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Тут використано 8 повторів на кожну довжину прогріву.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78BC637-465B-48AB-9ED0-3DEB67F0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017236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8F5720FB-3ED2-47A7-BAED-6A298AF3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Спільні випадкові числа для порівняння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646DD2F7-7832-4B5C-AE48-A8CC5658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6B843FFB-0517-4AA3-A8FB-F4488F17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Ті самі прибуття й тривалості подаємо конфігураціям c=3 і c=4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87606A5F-3A8E-4914-AD5F-3617D499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642C2F4C-4180-492D-A09D-F4958E67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Для кожного seed отримуємо парну різницю метрик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0B44CD1B-4CCB-4578-95E0-73C35EDE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2C5B634D-2E62-4EF4-88A5-2631AABA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Оцінюємо розкид різниць між незалежними seed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D908B0AF-AF22-4944-86BC-4726CC97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E33474E0-ADA2-4113-83BF-FD3080C6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Не змішуємо парний і незалежний аналіз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652E2E22-EA0D-4462-A4DA-2ECCDF33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Узгоджений випадковий вхід робить порівняння зрозумілішим.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A86E8D1-460C-4D5F-AAE5-19158FFE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610647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7939BAC-2082-4A39-9933-B4EBC22B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Рідкісні події й процентилі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B9A97C27-88AC-443A-8A88-1DF3B19C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33FECB1D-FE18-457E-9B57-A9D1837A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Середній Wq може оцінюватися стабільно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1828B994-C7FF-4721-A3EC-0E30166A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6D423DD5-010B-4843-BAAE-E7BF973D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Високі процентилі потребують більше спостережень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0FAA9646-31A5-41C1-B841-485A86FF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51047707-AB0E-45EF-8428-D23995D7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Для ймовірності порушення SLA потрібні самі часи запитів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4F0EB82D-0E21-43EB-8AE6-28FCFC4C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F0ECD9AA-659E-414B-8C22-A706BFEE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Функцію слід розширити, щоб повертати потрібні метрики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B6BE6000-B9CE-4BED-973C-BC52D0B3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Функція, яка повертає лише середнє, не дає p99.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10DE697-929B-42BA-B9FF-F8E41426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193280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913C99B2-AD71-4D3D-91C3-51CF6876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Відтворюваність експерименту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24BBBD4D-30B5-4509-9603-C172DCA9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6F0608EA-5E1B-4D88-8437-AE1FF4FB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Зафіксувати seed або SeedSequence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ACCA8174-58C9-4F8E-BA3F-A8F80080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3683E084-3BE2-4D22-94CF-CEB69C46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Зберегти λ, μ, c, n та warm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A52A302C-8708-48CD-B6C4-B29ADF55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3CCB3654-7E3C-4C0C-A288-841DD3F4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Зберегти версії Python, NumPy, SciPy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CBEDCCC3-E8C4-4B86-92C7-EC6D0CC9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E8B86569-0799-4282-A30B-998E7AE8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Відокремити дані, розрахунок і побудову графіків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A573D497-2688-433B-B087-65342431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Повторюваний запуск має відновити числа в таблицях.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DB1E9AD-8501-42DE-9ED5-E72C8822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144380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B0F37E02-248D-4C6D-A7FF-B9EEFFF7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Завдання для ДЗ №5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628903A8-C9C3-42F1-AC09-71F3697E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2341F57E-C20E-4D0E-9E27-1DBD7D9B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Перевірити обрану конфігурацію M/M/c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B0F1147B-0CBB-4A4B-A2F9-B2C2A1DD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4E47B445-B57F-484E-B649-D358526F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Порівняти аналітичне середнє й оцінку симуляції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5D2E936B-8B9F-4701-A1C5-25BB5510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4104E17E-C88E-48A9-98BE-AD674F09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Показати невизначеність за повторними прогонами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FF605F6A-AA0A-4F2B-A080-98C9E004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94BF8948-2B8D-4B0F-9C97-17582C1E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Пояснити, які припущення симуляція ще не перевіряє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0A64FBD5-8048-44E4-805C-7C5C03A7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Імітація завершує перевірку наскрізної моделі черги.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A5E2D71-130E-4445-91C0-4DC496FA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9095807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23F87BC4-8C92-4B71-95E2-89BC8A24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Самоперевірка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2A046E2F-C63E-45B3-B4AD-219F7F1E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BECA28C1-0D71-47AD-963F-843361A9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Чому один seed не є статистичним доказом?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4AD4A06B-8EAB-4A37-9D8C-FE97CEB3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7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1017BE3F-5142-4158-AF61-373F64B0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30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Чому не можна вважати всі Wq незалежними?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596633C9-73BF-4A80-809C-E7FA569D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4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214D029B-B6AE-438B-A19C-B0491134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27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Чим ДІ середнього відрізняється від 95-го процентиля?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3F825A67-8F0D-4B2A-9E9D-4B286ED0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Спочатку дайте відповідь словами, потім перевірте обчислення.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55FCD67-4228-4BAE-AF6F-1044D5C1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52327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86B06FC-6B8E-43C3-BDFB-3F0423D9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Джерела та відтворення</a:t>
            </a:r>
          </a:p>
        </p:txBody>
      </p:sp>
      <p:sp>
        <p:nvSpPr>
          <p:cNvPr id="2" name="source-numpy">
            <a:extLst xmlns:a="http://schemas.openxmlformats.org/drawingml/2006/main">
              <a:ext uri="{FF2B5EF4-FFF2-40B4-BE49-F238E27FC236}">
                <a16:creationId xmlns:a16="http://schemas.microsoft.com/office/drawing/2014/main" id="{BD362B9C-8A69-4F67-A0A5-5F76C005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bd99a8ed62bb4dec"/>
              </a:rPr>
              <a:t>NumPy · генерація випадкових чисел</a:t>
            </a:r>
          </a:p>
        </p:txBody>
      </p:sp>
      <p:sp>
        <p:nvSpPr>
          <p:cNvPr id="3" name="source-ci">
            <a:extLst xmlns:a="http://schemas.openxmlformats.org/drawingml/2006/main">
              <a:ext uri="{FF2B5EF4-FFF2-40B4-BE49-F238E27FC236}">
                <a16:creationId xmlns:a16="http://schemas.microsoft.com/office/drawing/2014/main" id="{73B21D04-DE97-434D-BB50-1DED1587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596eee127b4744c2"/>
              </a:rPr>
              <a:t>NIST · довірчі інтервали середнього</a:t>
            </a:r>
          </a:p>
        </p:txBody>
      </p:sp>
      <p:sp>
        <p:nvSpPr>
          <p:cNvPr id="4" name="source-queue">
            <a:extLst xmlns:a="http://schemas.openxmlformats.org/drawingml/2006/main">
              <a:ext uri="{FF2B5EF4-FFF2-40B4-BE49-F238E27FC236}">
                <a16:creationId xmlns:a16="http://schemas.microsoft.com/office/drawing/2014/main" id="{1C2499FF-7976-4123-B9D8-AF372769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612a51d233184d3a"/>
              </a:rPr>
              <a:t>MIT · модель M/M/1</a:t>
            </a:r>
          </a:p>
        </p:txBody>
      </p:sp>
      <p:sp>
        <p:nvSpPr>
          <p:cNvPr id="5" name="source-multi">
            <a:extLst xmlns:a="http://schemas.openxmlformats.org/drawingml/2006/main">
              <a:ext uri="{FF2B5EF4-FFF2-40B4-BE49-F238E27FC236}">
                <a16:creationId xmlns:a16="http://schemas.microsoft.com/office/drawing/2014/main" id="{D8829528-E432-45AB-9152-CEE48F0F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dc5819420a9d43b3"/>
              </a:rPr>
              <a:t>MIT · системи черг і багатоканальні моделі</a:t>
            </a: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9F9D0CC-5603-45F0-83CB-F7637F3A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Навчальні дані синтетичні. Усі показані програми виконано.</a:t>
            </a:r>
          </a:p>
        </p:txBody>
      </p:sp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82706883-DF71-4AF5-8E38-A7424696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Навчальні дані та код прикладів додано до комплекту.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04FB4BE-0CA3-4D0E-A24A-BF970025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85690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2026-10-19T09:24:53.2460000Z</dcterms:created>
  <dcterms:modified xsi:type="dcterms:W3CDTF">2026-10-19T09:24:53.2460000Z</dcterms:modified>
</coreProperties>
</file>